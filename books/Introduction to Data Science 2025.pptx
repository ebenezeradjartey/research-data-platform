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slides/slide856.xml" ContentType="application/vnd.openxmlformats-officedocument.presentationml.slide+xml"/>
  <Override PartName="/ppt/slides/slide857.xml" ContentType="application/vnd.openxmlformats-officedocument.presentationml.slide+xml"/>
  <Override PartName="/ppt/slides/slide858.xml" ContentType="application/vnd.openxmlformats-officedocument.presentationml.slide+xml"/>
  <Override PartName="/ppt/slides/slide859.xml" ContentType="application/vnd.openxmlformats-officedocument.presentationml.slide+xml"/>
  <Override PartName="/ppt/slides/slide860.xml" ContentType="application/vnd.openxmlformats-officedocument.presentationml.slide+xml"/>
  <Override PartName="/ppt/slides/slide861.xml" ContentType="application/vnd.openxmlformats-officedocument.presentationml.slide+xml"/>
  <Override PartName="/ppt/slides/slide862.xml" ContentType="application/vnd.openxmlformats-officedocument.presentationml.slide+xml"/>
  <Override PartName="/ppt/slides/slide863.xml" ContentType="application/vnd.openxmlformats-officedocument.presentationml.slide+xml"/>
  <Override PartName="/ppt/slides/slide864.xml" ContentType="application/vnd.openxmlformats-officedocument.presentationml.slide+xml"/>
  <Override PartName="/ppt/slides/slide865.xml" ContentType="application/vnd.openxmlformats-officedocument.presentationml.slide+xml"/>
  <Override PartName="/ppt/slides/slide866.xml" ContentType="application/vnd.openxmlformats-officedocument.presentationml.slide+xml"/>
  <Override PartName="/ppt/slides/slide867.xml" ContentType="application/vnd.openxmlformats-officedocument.presentationml.slide+xml"/>
  <Override PartName="/ppt/slides/slide868.xml" ContentType="application/vnd.openxmlformats-officedocument.presentationml.slide+xml"/>
  <Override PartName="/ppt/slides/slide869.xml" ContentType="application/vnd.openxmlformats-officedocument.presentationml.slide+xml"/>
  <Override PartName="/ppt/slides/slide870.xml" ContentType="application/vnd.openxmlformats-officedocument.presentationml.slide+xml"/>
  <Override PartName="/ppt/slides/slide871.xml" ContentType="application/vnd.openxmlformats-officedocument.presentationml.slide+xml"/>
  <Override PartName="/ppt/slides/slide872.xml" ContentType="application/vnd.openxmlformats-officedocument.presentationml.slide+xml"/>
  <Override PartName="/ppt/slides/slide873.xml" ContentType="application/vnd.openxmlformats-officedocument.presentationml.slide+xml"/>
  <Override PartName="/ppt/slides/slide874.xml" ContentType="application/vnd.openxmlformats-officedocument.presentationml.slide+xml"/>
  <Override PartName="/ppt/slides/slide875.xml" ContentType="application/vnd.openxmlformats-officedocument.presentationml.slide+xml"/>
  <Override PartName="/ppt/slides/slide876.xml" ContentType="application/vnd.openxmlformats-officedocument.presentationml.slide+xml"/>
  <Override PartName="/ppt/slides/slide877.xml" ContentType="application/vnd.openxmlformats-officedocument.presentationml.slide+xml"/>
  <Override PartName="/ppt/slides/slide878.xml" ContentType="application/vnd.openxmlformats-officedocument.presentationml.slide+xml"/>
  <Override PartName="/ppt/slides/slide879.xml" ContentType="application/vnd.openxmlformats-officedocument.presentationml.slide+xml"/>
  <Override PartName="/ppt/slides/slide880.xml" ContentType="application/vnd.openxmlformats-officedocument.presentationml.slide+xml"/>
  <Override PartName="/ppt/slides/slide881.xml" ContentType="application/vnd.openxmlformats-officedocument.presentationml.slide+xml"/>
  <Override PartName="/ppt/slides/slide882.xml" ContentType="application/vnd.openxmlformats-officedocument.presentationml.slide+xml"/>
  <Override PartName="/ppt/slides/slide883.xml" ContentType="application/vnd.openxmlformats-officedocument.presentationml.slide+xml"/>
  <Override PartName="/ppt/slides/slide884.xml" ContentType="application/vnd.openxmlformats-officedocument.presentationml.slide+xml"/>
  <Override PartName="/ppt/slides/slide885.xml" ContentType="application/vnd.openxmlformats-officedocument.presentationml.slide+xml"/>
  <Override PartName="/ppt/slides/slide886.xml" ContentType="application/vnd.openxmlformats-officedocument.presentationml.slide+xml"/>
  <Override PartName="/ppt/slides/slide887.xml" ContentType="application/vnd.openxmlformats-officedocument.presentationml.slide+xml"/>
  <Override PartName="/ppt/slides/slide888.xml" ContentType="application/vnd.openxmlformats-officedocument.presentationml.slide+xml"/>
  <Override PartName="/ppt/slides/slide889.xml" ContentType="application/vnd.openxmlformats-officedocument.presentationml.slide+xml"/>
  <Override PartName="/ppt/slides/slide890.xml" ContentType="application/vnd.openxmlformats-officedocument.presentationml.slide+xml"/>
  <Override PartName="/ppt/slides/slide891.xml" ContentType="application/vnd.openxmlformats-officedocument.presentationml.slide+xml"/>
  <Override PartName="/ppt/slides/slide892.xml" ContentType="application/vnd.openxmlformats-officedocument.presentationml.slide+xml"/>
  <Override PartName="/ppt/slides/slide893.xml" ContentType="application/vnd.openxmlformats-officedocument.presentationml.slide+xml"/>
  <Override PartName="/ppt/slides/slide894.xml" ContentType="application/vnd.openxmlformats-officedocument.presentationml.slide+xml"/>
  <Override PartName="/ppt/slides/slide895.xml" ContentType="application/vnd.openxmlformats-officedocument.presentationml.slide+xml"/>
  <Override PartName="/ppt/slides/slide896.xml" ContentType="application/vnd.openxmlformats-officedocument.presentationml.slide+xml"/>
  <Override PartName="/ppt/slides/slide897.xml" ContentType="application/vnd.openxmlformats-officedocument.presentationml.slide+xml"/>
  <Override PartName="/ppt/slides/slide898.xml" ContentType="application/vnd.openxmlformats-officedocument.presentationml.slide+xml"/>
  <Override PartName="/ppt/slides/slide899.xml" ContentType="application/vnd.openxmlformats-officedocument.presentationml.slide+xml"/>
  <Override PartName="/ppt/slides/slide900.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slides/slide904.xml" ContentType="application/vnd.openxmlformats-officedocument.presentationml.slide+xml"/>
  <Override PartName="/ppt/slides/slide905.xml" ContentType="application/vnd.openxmlformats-officedocument.presentationml.slide+xml"/>
  <Override PartName="/ppt/slides/slide906.xml" ContentType="application/vnd.openxmlformats-officedocument.presentationml.slide+xml"/>
  <Override PartName="/ppt/slides/slide907.xml" ContentType="application/vnd.openxmlformats-officedocument.presentationml.slide+xml"/>
  <Override PartName="/ppt/slides/slide908.xml" ContentType="application/vnd.openxmlformats-officedocument.presentationml.slide+xml"/>
  <Override PartName="/ppt/slides/slide90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11"/>
  </p:notesMasterIdLst>
  <p:sldIdLst>
    <p:sldId id="256" r:id="rId2"/>
    <p:sldId id="263" r:id="rId3"/>
    <p:sldId id="257" r:id="rId4"/>
    <p:sldId id="291" r:id="rId5"/>
    <p:sldId id="262" r:id="rId6"/>
    <p:sldId id="632" r:id="rId7"/>
    <p:sldId id="259" r:id="rId8"/>
    <p:sldId id="260" r:id="rId9"/>
    <p:sldId id="258" r:id="rId10"/>
    <p:sldId id="261" r:id="rId11"/>
    <p:sldId id="264" r:id="rId12"/>
    <p:sldId id="1290" r:id="rId13"/>
    <p:sldId id="277" r:id="rId14"/>
    <p:sldId id="265" r:id="rId15"/>
    <p:sldId id="266" r:id="rId16"/>
    <p:sldId id="268" r:id="rId17"/>
    <p:sldId id="288" r:id="rId18"/>
    <p:sldId id="289" r:id="rId19"/>
    <p:sldId id="633" r:id="rId20"/>
    <p:sldId id="1239" r:id="rId21"/>
    <p:sldId id="1240" r:id="rId22"/>
    <p:sldId id="290" r:id="rId23"/>
    <p:sldId id="292" r:id="rId24"/>
    <p:sldId id="634" r:id="rId25"/>
    <p:sldId id="278" r:id="rId26"/>
    <p:sldId id="269" r:id="rId27"/>
    <p:sldId id="276" r:id="rId28"/>
    <p:sldId id="270" r:id="rId29"/>
    <p:sldId id="271" r:id="rId30"/>
    <p:sldId id="693" r:id="rId31"/>
    <p:sldId id="272" r:id="rId32"/>
    <p:sldId id="273" r:id="rId33"/>
    <p:sldId id="274" r:id="rId34"/>
    <p:sldId id="275" r:id="rId35"/>
    <p:sldId id="279" r:id="rId36"/>
    <p:sldId id="280" r:id="rId37"/>
    <p:sldId id="281" r:id="rId38"/>
    <p:sldId id="612" r:id="rId39"/>
    <p:sldId id="733" r:id="rId40"/>
    <p:sldId id="1291" r:id="rId41"/>
    <p:sldId id="283" r:id="rId42"/>
    <p:sldId id="284" r:id="rId43"/>
    <p:sldId id="285" r:id="rId44"/>
    <p:sldId id="294" r:id="rId45"/>
    <p:sldId id="295" r:id="rId46"/>
    <p:sldId id="510" r:id="rId47"/>
    <p:sldId id="310" r:id="rId48"/>
    <p:sldId id="311" r:id="rId49"/>
    <p:sldId id="351" r:id="rId50"/>
    <p:sldId id="623" r:id="rId51"/>
    <p:sldId id="624" r:id="rId52"/>
    <p:sldId id="625" r:id="rId53"/>
    <p:sldId id="626" r:id="rId54"/>
    <p:sldId id="627" r:id="rId55"/>
    <p:sldId id="628" r:id="rId56"/>
    <p:sldId id="629" r:id="rId57"/>
    <p:sldId id="630" r:id="rId58"/>
    <p:sldId id="631" r:id="rId59"/>
    <p:sldId id="635" r:id="rId60"/>
    <p:sldId id="636" r:id="rId61"/>
    <p:sldId id="637" r:id="rId62"/>
    <p:sldId id="638" r:id="rId63"/>
    <p:sldId id="639" r:id="rId64"/>
    <p:sldId id="640" r:id="rId65"/>
    <p:sldId id="641" r:id="rId66"/>
    <p:sldId id="642" r:id="rId67"/>
    <p:sldId id="643" r:id="rId68"/>
    <p:sldId id="644" r:id="rId69"/>
    <p:sldId id="645" r:id="rId70"/>
    <p:sldId id="646" r:id="rId71"/>
    <p:sldId id="1292" r:id="rId72"/>
    <p:sldId id="1293" r:id="rId73"/>
    <p:sldId id="1294" r:id="rId74"/>
    <p:sldId id="647" r:id="rId75"/>
    <p:sldId id="648" r:id="rId76"/>
    <p:sldId id="1295" r:id="rId77"/>
    <p:sldId id="1296" r:id="rId78"/>
    <p:sldId id="649" r:id="rId79"/>
    <p:sldId id="650" r:id="rId80"/>
    <p:sldId id="651" r:id="rId81"/>
    <p:sldId id="652" r:id="rId82"/>
    <p:sldId id="653" r:id="rId83"/>
    <p:sldId id="654" r:id="rId84"/>
    <p:sldId id="655" r:id="rId85"/>
    <p:sldId id="656" r:id="rId86"/>
    <p:sldId id="657" r:id="rId87"/>
    <p:sldId id="1297" r:id="rId88"/>
    <p:sldId id="1298" r:id="rId89"/>
    <p:sldId id="658" r:id="rId90"/>
    <p:sldId id="659" r:id="rId91"/>
    <p:sldId id="660" r:id="rId92"/>
    <p:sldId id="661" r:id="rId93"/>
    <p:sldId id="662" r:id="rId94"/>
    <p:sldId id="663" r:id="rId95"/>
    <p:sldId id="664" r:id="rId96"/>
    <p:sldId id="665" r:id="rId97"/>
    <p:sldId id="666" r:id="rId98"/>
    <p:sldId id="667" r:id="rId99"/>
    <p:sldId id="668" r:id="rId100"/>
    <p:sldId id="669" r:id="rId101"/>
    <p:sldId id="670" r:id="rId102"/>
    <p:sldId id="671" r:id="rId103"/>
    <p:sldId id="672" r:id="rId104"/>
    <p:sldId id="673" r:id="rId105"/>
    <p:sldId id="674" r:id="rId106"/>
    <p:sldId id="675" r:id="rId107"/>
    <p:sldId id="676" r:id="rId108"/>
    <p:sldId id="677" r:id="rId109"/>
    <p:sldId id="678" r:id="rId110"/>
    <p:sldId id="679" r:id="rId111"/>
    <p:sldId id="680" r:id="rId112"/>
    <p:sldId id="681" r:id="rId113"/>
    <p:sldId id="683" r:id="rId114"/>
    <p:sldId id="684" r:id="rId115"/>
    <p:sldId id="685" r:id="rId116"/>
    <p:sldId id="686" r:id="rId117"/>
    <p:sldId id="687" r:id="rId118"/>
    <p:sldId id="688" r:id="rId119"/>
    <p:sldId id="689" r:id="rId120"/>
    <p:sldId id="690" r:id="rId121"/>
    <p:sldId id="691" r:id="rId122"/>
    <p:sldId id="692" r:id="rId123"/>
    <p:sldId id="297" r:id="rId124"/>
    <p:sldId id="296" r:id="rId125"/>
    <p:sldId id="1302" r:id="rId126"/>
    <p:sldId id="1303" r:id="rId127"/>
    <p:sldId id="286" r:id="rId128"/>
    <p:sldId id="287" r:id="rId129"/>
    <p:sldId id="694" r:id="rId130"/>
    <p:sldId id="695" r:id="rId131"/>
    <p:sldId id="696" r:id="rId132"/>
    <p:sldId id="697" r:id="rId133"/>
    <p:sldId id="698" r:id="rId134"/>
    <p:sldId id="699" r:id="rId135"/>
    <p:sldId id="700" r:id="rId136"/>
    <p:sldId id="701" r:id="rId137"/>
    <p:sldId id="702" r:id="rId138"/>
    <p:sldId id="703" r:id="rId139"/>
    <p:sldId id="704" r:id="rId140"/>
    <p:sldId id="705" r:id="rId141"/>
    <p:sldId id="706" r:id="rId142"/>
    <p:sldId id="707" r:id="rId143"/>
    <p:sldId id="708" r:id="rId144"/>
    <p:sldId id="709" r:id="rId145"/>
    <p:sldId id="710" r:id="rId146"/>
    <p:sldId id="711" r:id="rId147"/>
    <p:sldId id="712" r:id="rId148"/>
    <p:sldId id="713" r:id="rId149"/>
    <p:sldId id="714" r:id="rId150"/>
    <p:sldId id="715" r:id="rId151"/>
    <p:sldId id="716" r:id="rId152"/>
    <p:sldId id="717" r:id="rId153"/>
    <p:sldId id="718" r:id="rId154"/>
    <p:sldId id="719" r:id="rId155"/>
    <p:sldId id="720" r:id="rId156"/>
    <p:sldId id="721" r:id="rId157"/>
    <p:sldId id="722" r:id="rId158"/>
    <p:sldId id="723" r:id="rId159"/>
    <p:sldId id="724" r:id="rId160"/>
    <p:sldId id="725" r:id="rId161"/>
    <p:sldId id="726" r:id="rId162"/>
    <p:sldId id="727" r:id="rId163"/>
    <p:sldId id="728" r:id="rId164"/>
    <p:sldId id="729" r:id="rId165"/>
    <p:sldId id="730" r:id="rId166"/>
    <p:sldId id="731" r:id="rId167"/>
    <p:sldId id="732" r:id="rId168"/>
    <p:sldId id="734" r:id="rId169"/>
    <p:sldId id="1299" r:id="rId170"/>
    <p:sldId id="735" r:id="rId171"/>
    <p:sldId id="736" r:id="rId172"/>
    <p:sldId id="737" r:id="rId173"/>
    <p:sldId id="738" r:id="rId174"/>
    <p:sldId id="739" r:id="rId175"/>
    <p:sldId id="740" r:id="rId176"/>
    <p:sldId id="741" r:id="rId177"/>
    <p:sldId id="742" r:id="rId178"/>
    <p:sldId id="743" r:id="rId179"/>
    <p:sldId id="744" r:id="rId180"/>
    <p:sldId id="745" r:id="rId181"/>
    <p:sldId id="746" r:id="rId182"/>
    <p:sldId id="747" r:id="rId183"/>
    <p:sldId id="748" r:id="rId184"/>
    <p:sldId id="749" r:id="rId185"/>
    <p:sldId id="750" r:id="rId186"/>
    <p:sldId id="751" r:id="rId187"/>
    <p:sldId id="752" r:id="rId188"/>
    <p:sldId id="753" r:id="rId189"/>
    <p:sldId id="754" r:id="rId190"/>
    <p:sldId id="1300" r:id="rId191"/>
    <p:sldId id="1241" r:id="rId192"/>
    <p:sldId id="1301" r:id="rId193"/>
    <p:sldId id="1242" r:id="rId194"/>
    <p:sldId id="1243" r:id="rId195"/>
    <p:sldId id="1244" r:id="rId196"/>
    <p:sldId id="1245" r:id="rId197"/>
    <p:sldId id="1246" r:id="rId198"/>
    <p:sldId id="1247" r:id="rId199"/>
    <p:sldId id="1248" r:id="rId200"/>
    <p:sldId id="1249" r:id="rId201"/>
    <p:sldId id="1250" r:id="rId202"/>
    <p:sldId id="1251" r:id="rId203"/>
    <p:sldId id="1252" r:id="rId204"/>
    <p:sldId id="1253" r:id="rId205"/>
    <p:sldId id="1254" r:id="rId206"/>
    <p:sldId id="1255" r:id="rId207"/>
    <p:sldId id="1256" r:id="rId208"/>
    <p:sldId id="1257" r:id="rId209"/>
    <p:sldId id="1258" r:id="rId210"/>
    <p:sldId id="1259" r:id="rId211"/>
    <p:sldId id="1260" r:id="rId212"/>
    <p:sldId id="1261" r:id="rId213"/>
    <p:sldId id="1262" r:id="rId214"/>
    <p:sldId id="1263" r:id="rId215"/>
    <p:sldId id="1264" r:id="rId216"/>
    <p:sldId id="1265" r:id="rId217"/>
    <p:sldId id="1266" r:id="rId218"/>
    <p:sldId id="1267" r:id="rId219"/>
    <p:sldId id="1268" r:id="rId220"/>
    <p:sldId id="1269" r:id="rId221"/>
    <p:sldId id="1270" r:id="rId222"/>
    <p:sldId id="1271" r:id="rId223"/>
    <p:sldId id="1272" r:id="rId224"/>
    <p:sldId id="1273" r:id="rId225"/>
    <p:sldId id="1274" r:id="rId226"/>
    <p:sldId id="1275" r:id="rId227"/>
    <p:sldId id="1276" r:id="rId228"/>
    <p:sldId id="1277" r:id="rId229"/>
    <p:sldId id="1278" r:id="rId230"/>
    <p:sldId id="1279" r:id="rId231"/>
    <p:sldId id="1280" r:id="rId232"/>
    <p:sldId id="1281" r:id="rId233"/>
    <p:sldId id="1282" r:id="rId234"/>
    <p:sldId id="1283" r:id="rId235"/>
    <p:sldId id="1284" r:id="rId236"/>
    <p:sldId id="1285" r:id="rId237"/>
    <p:sldId id="1286" r:id="rId238"/>
    <p:sldId id="1287" r:id="rId239"/>
    <p:sldId id="1288" r:id="rId240"/>
    <p:sldId id="1289" r:id="rId241"/>
    <p:sldId id="1304" r:id="rId242"/>
    <p:sldId id="1305" r:id="rId243"/>
    <p:sldId id="1306" r:id="rId244"/>
    <p:sldId id="1307" r:id="rId245"/>
    <p:sldId id="1308" r:id="rId246"/>
    <p:sldId id="1309" r:id="rId247"/>
    <p:sldId id="1310" r:id="rId248"/>
    <p:sldId id="1311" r:id="rId249"/>
    <p:sldId id="1312" r:id="rId250"/>
    <p:sldId id="1313" r:id="rId251"/>
    <p:sldId id="1314" r:id="rId252"/>
    <p:sldId id="1315" r:id="rId253"/>
    <p:sldId id="1316" r:id="rId254"/>
    <p:sldId id="1317" r:id="rId255"/>
    <p:sldId id="1318" r:id="rId256"/>
    <p:sldId id="1319" r:id="rId257"/>
    <p:sldId id="1320" r:id="rId258"/>
    <p:sldId id="1321" r:id="rId259"/>
    <p:sldId id="1322" r:id="rId260"/>
    <p:sldId id="1323" r:id="rId261"/>
    <p:sldId id="1324" r:id="rId262"/>
    <p:sldId id="1325" r:id="rId263"/>
    <p:sldId id="1326" r:id="rId264"/>
    <p:sldId id="1327" r:id="rId265"/>
    <p:sldId id="1328" r:id="rId266"/>
    <p:sldId id="1329" r:id="rId267"/>
    <p:sldId id="1331" r:id="rId268"/>
    <p:sldId id="1330" r:id="rId269"/>
    <p:sldId id="1332" r:id="rId270"/>
    <p:sldId id="1333" r:id="rId271"/>
    <p:sldId id="1334" r:id="rId272"/>
    <p:sldId id="1335" r:id="rId273"/>
    <p:sldId id="1336" r:id="rId274"/>
    <p:sldId id="1337" r:id="rId275"/>
    <p:sldId id="1338" r:id="rId276"/>
    <p:sldId id="1339" r:id="rId277"/>
    <p:sldId id="1340" r:id="rId278"/>
    <p:sldId id="1341" r:id="rId279"/>
    <p:sldId id="1342" r:id="rId280"/>
    <p:sldId id="1343" r:id="rId281"/>
    <p:sldId id="1344" r:id="rId282"/>
    <p:sldId id="1345" r:id="rId283"/>
    <p:sldId id="1346" r:id="rId284"/>
    <p:sldId id="1347" r:id="rId285"/>
    <p:sldId id="1348" r:id="rId286"/>
    <p:sldId id="1349" r:id="rId287"/>
    <p:sldId id="1350" r:id="rId288"/>
    <p:sldId id="1351" r:id="rId289"/>
    <p:sldId id="1352" r:id="rId290"/>
    <p:sldId id="1353" r:id="rId291"/>
    <p:sldId id="1354" r:id="rId292"/>
    <p:sldId id="1355" r:id="rId293"/>
    <p:sldId id="1356" r:id="rId294"/>
    <p:sldId id="1357" r:id="rId295"/>
    <p:sldId id="1358" r:id="rId296"/>
    <p:sldId id="1359" r:id="rId297"/>
    <p:sldId id="1360" r:id="rId298"/>
    <p:sldId id="1361" r:id="rId299"/>
    <p:sldId id="1362" r:id="rId300"/>
    <p:sldId id="1363" r:id="rId301"/>
    <p:sldId id="1364" r:id="rId302"/>
    <p:sldId id="1365" r:id="rId303"/>
    <p:sldId id="1366" r:id="rId304"/>
    <p:sldId id="1367" r:id="rId305"/>
    <p:sldId id="1369" r:id="rId306"/>
    <p:sldId id="1370" r:id="rId307"/>
    <p:sldId id="1368" r:id="rId308"/>
    <p:sldId id="1371" r:id="rId309"/>
    <p:sldId id="1372" r:id="rId310"/>
    <p:sldId id="1373" r:id="rId311"/>
    <p:sldId id="1374" r:id="rId312"/>
    <p:sldId id="1375" r:id="rId313"/>
    <p:sldId id="1376" r:id="rId314"/>
    <p:sldId id="1377" r:id="rId315"/>
    <p:sldId id="1378" r:id="rId316"/>
    <p:sldId id="1379" r:id="rId317"/>
    <p:sldId id="1380" r:id="rId318"/>
    <p:sldId id="1381" r:id="rId319"/>
    <p:sldId id="1382" r:id="rId320"/>
    <p:sldId id="1383" r:id="rId321"/>
    <p:sldId id="1384" r:id="rId322"/>
    <p:sldId id="1385" r:id="rId323"/>
    <p:sldId id="1386" r:id="rId324"/>
    <p:sldId id="1387" r:id="rId325"/>
    <p:sldId id="1388" r:id="rId326"/>
    <p:sldId id="1389" r:id="rId327"/>
    <p:sldId id="1390" r:id="rId328"/>
    <p:sldId id="1391" r:id="rId329"/>
    <p:sldId id="1392" r:id="rId330"/>
    <p:sldId id="1393" r:id="rId331"/>
    <p:sldId id="1394" r:id="rId332"/>
    <p:sldId id="1395" r:id="rId333"/>
    <p:sldId id="1396" r:id="rId334"/>
    <p:sldId id="1397" r:id="rId335"/>
    <p:sldId id="1398" r:id="rId336"/>
    <p:sldId id="1399" r:id="rId337"/>
    <p:sldId id="1400" r:id="rId338"/>
    <p:sldId id="1401" r:id="rId339"/>
    <p:sldId id="1402" r:id="rId340"/>
    <p:sldId id="1403" r:id="rId341"/>
    <p:sldId id="1404" r:id="rId342"/>
    <p:sldId id="1405" r:id="rId343"/>
    <p:sldId id="1406" r:id="rId344"/>
    <p:sldId id="1407" r:id="rId345"/>
    <p:sldId id="1408" r:id="rId346"/>
    <p:sldId id="1409" r:id="rId347"/>
    <p:sldId id="1410" r:id="rId348"/>
    <p:sldId id="1411" r:id="rId349"/>
    <p:sldId id="1412" r:id="rId350"/>
    <p:sldId id="1413" r:id="rId351"/>
    <p:sldId id="1414" r:id="rId352"/>
    <p:sldId id="1415" r:id="rId353"/>
    <p:sldId id="1416" r:id="rId354"/>
    <p:sldId id="1417" r:id="rId355"/>
    <p:sldId id="1418" r:id="rId356"/>
    <p:sldId id="1419" r:id="rId357"/>
    <p:sldId id="1420" r:id="rId358"/>
    <p:sldId id="1421" r:id="rId359"/>
    <p:sldId id="1422" r:id="rId360"/>
    <p:sldId id="1423" r:id="rId361"/>
    <p:sldId id="1427" r:id="rId362"/>
    <p:sldId id="1428" r:id="rId363"/>
    <p:sldId id="1429" r:id="rId364"/>
    <p:sldId id="1424" r:id="rId365"/>
    <p:sldId id="1425" r:id="rId366"/>
    <p:sldId id="1426" r:id="rId367"/>
    <p:sldId id="1430" r:id="rId368"/>
    <p:sldId id="1431" r:id="rId369"/>
    <p:sldId id="1432" r:id="rId370"/>
    <p:sldId id="1433" r:id="rId371"/>
    <p:sldId id="1434" r:id="rId372"/>
    <p:sldId id="1435" r:id="rId373"/>
    <p:sldId id="1436" r:id="rId374"/>
    <p:sldId id="1437" r:id="rId375"/>
    <p:sldId id="1438" r:id="rId376"/>
    <p:sldId id="1439" r:id="rId377"/>
    <p:sldId id="1440" r:id="rId378"/>
    <p:sldId id="1442" r:id="rId379"/>
    <p:sldId id="1441" r:id="rId380"/>
    <p:sldId id="1443" r:id="rId381"/>
    <p:sldId id="1444" r:id="rId382"/>
    <p:sldId id="1445" r:id="rId383"/>
    <p:sldId id="1446" r:id="rId384"/>
    <p:sldId id="1447" r:id="rId385"/>
    <p:sldId id="1448" r:id="rId386"/>
    <p:sldId id="1449" r:id="rId387"/>
    <p:sldId id="1451" r:id="rId388"/>
    <p:sldId id="1450" r:id="rId389"/>
    <p:sldId id="1452" r:id="rId390"/>
    <p:sldId id="1453" r:id="rId391"/>
    <p:sldId id="1454" r:id="rId392"/>
    <p:sldId id="1455" r:id="rId393"/>
    <p:sldId id="1456" r:id="rId394"/>
    <p:sldId id="1457" r:id="rId395"/>
    <p:sldId id="1458" r:id="rId396"/>
    <p:sldId id="1459" r:id="rId397"/>
    <p:sldId id="1460" r:id="rId398"/>
    <p:sldId id="1461" r:id="rId399"/>
    <p:sldId id="1462" r:id="rId400"/>
    <p:sldId id="1463" r:id="rId401"/>
    <p:sldId id="1464" r:id="rId402"/>
    <p:sldId id="1465" r:id="rId403"/>
    <p:sldId id="1466" r:id="rId404"/>
    <p:sldId id="1467" r:id="rId405"/>
    <p:sldId id="1468" r:id="rId406"/>
    <p:sldId id="1469" r:id="rId407"/>
    <p:sldId id="1470" r:id="rId408"/>
    <p:sldId id="1471" r:id="rId409"/>
    <p:sldId id="1472" r:id="rId410"/>
    <p:sldId id="1473" r:id="rId411"/>
    <p:sldId id="1474" r:id="rId412"/>
    <p:sldId id="1475" r:id="rId413"/>
    <p:sldId id="1476" r:id="rId414"/>
    <p:sldId id="1477" r:id="rId415"/>
    <p:sldId id="1478" r:id="rId416"/>
    <p:sldId id="1479" r:id="rId417"/>
    <p:sldId id="1480" r:id="rId418"/>
    <p:sldId id="1481" r:id="rId419"/>
    <p:sldId id="1515" r:id="rId420"/>
    <p:sldId id="1482" r:id="rId421"/>
    <p:sldId id="1483" r:id="rId422"/>
    <p:sldId id="1484" r:id="rId423"/>
    <p:sldId id="1485" r:id="rId424"/>
    <p:sldId id="1486" r:id="rId425"/>
    <p:sldId id="1487" r:id="rId426"/>
    <p:sldId id="1488" r:id="rId427"/>
    <p:sldId id="1489" r:id="rId428"/>
    <p:sldId id="1490" r:id="rId429"/>
    <p:sldId id="1491" r:id="rId430"/>
    <p:sldId id="1492" r:id="rId431"/>
    <p:sldId id="1493" r:id="rId432"/>
    <p:sldId id="1494" r:id="rId433"/>
    <p:sldId id="1495" r:id="rId434"/>
    <p:sldId id="1496" r:id="rId435"/>
    <p:sldId id="1497" r:id="rId436"/>
    <p:sldId id="1505" r:id="rId437"/>
    <p:sldId id="1498" r:id="rId438"/>
    <p:sldId id="1499" r:id="rId439"/>
    <p:sldId id="1500" r:id="rId440"/>
    <p:sldId id="1501" r:id="rId441"/>
    <p:sldId id="1502" r:id="rId442"/>
    <p:sldId id="1503" r:id="rId443"/>
    <p:sldId id="1516" r:id="rId444"/>
    <p:sldId id="1517" r:id="rId445"/>
    <p:sldId id="1518" r:id="rId446"/>
    <p:sldId id="1504" r:id="rId447"/>
    <p:sldId id="1506" r:id="rId448"/>
    <p:sldId id="1507" r:id="rId449"/>
    <p:sldId id="1508" r:id="rId450"/>
    <p:sldId id="1509" r:id="rId451"/>
    <p:sldId id="1510" r:id="rId452"/>
    <p:sldId id="1511" r:id="rId453"/>
    <p:sldId id="1512" r:id="rId454"/>
    <p:sldId id="1513" r:id="rId455"/>
    <p:sldId id="1514" r:id="rId456"/>
    <p:sldId id="1519" r:id="rId457"/>
    <p:sldId id="1520" r:id="rId458"/>
    <p:sldId id="1521" r:id="rId459"/>
    <p:sldId id="1522" r:id="rId460"/>
    <p:sldId id="1523" r:id="rId461"/>
    <p:sldId id="1524" r:id="rId462"/>
    <p:sldId id="1539" r:id="rId463"/>
    <p:sldId id="1525" r:id="rId464"/>
    <p:sldId id="1526" r:id="rId465"/>
    <p:sldId id="1527" r:id="rId466"/>
    <p:sldId id="1528" r:id="rId467"/>
    <p:sldId id="1529" r:id="rId468"/>
    <p:sldId id="1530" r:id="rId469"/>
    <p:sldId id="1531" r:id="rId470"/>
    <p:sldId id="1532" r:id="rId471"/>
    <p:sldId id="1533" r:id="rId472"/>
    <p:sldId id="1534" r:id="rId473"/>
    <p:sldId id="1535" r:id="rId474"/>
    <p:sldId id="1536" r:id="rId475"/>
    <p:sldId id="1537" r:id="rId476"/>
    <p:sldId id="1538" r:id="rId477"/>
    <p:sldId id="755" r:id="rId478"/>
    <p:sldId id="756" r:id="rId479"/>
    <p:sldId id="757" r:id="rId480"/>
    <p:sldId id="758" r:id="rId481"/>
    <p:sldId id="759" r:id="rId482"/>
    <p:sldId id="760" r:id="rId483"/>
    <p:sldId id="761" r:id="rId484"/>
    <p:sldId id="762" r:id="rId485"/>
    <p:sldId id="763" r:id="rId486"/>
    <p:sldId id="764" r:id="rId487"/>
    <p:sldId id="765" r:id="rId488"/>
    <p:sldId id="767" r:id="rId489"/>
    <p:sldId id="768" r:id="rId490"/>
    <p:sldId id="769" r:id="rId491"/>
    <p:sldId id="770" r:id="rId492"/>
    <p:sldId id="771" r:id="rId493"/>
    <p:sldId id="772" r:id="rId494"/>
    <p:sldId id="773" r:id="rId495"/>
    <p:sldId id="774" r:id="rId496"/>
    <p:sldId id="775" r:id="rId497"/>
    <p:sldId id="776" r:id="rId498"/>
    <p:sldId id="777" r:id="rId499"/>
    <p:sldId id="778" r:id="rId500"/>
    <p:sldId id="779" r:id="rId501"/>
    <p:sldId id="780" r:id="rId502"/>
    <p:sldId id="781" r:id="rId503"/>
    <p:sldId id="782" r:id="rId504"/>
    <p:sldId id="783" r:id="rId505"/>
    <p:sldId id="784" r:id="rId506"/>
    <p:sldId id="785" r:id="rId507"/>
    <p:sldId id="786" r:id="rId508"/>
    <p:sldId id="787" r:id="rId509"/>
    <p:sldId id="788" r:id="rId510"/>
    <p:sldId id="789" r:id="rId511"/>
    <p:sldId id="790" r:id="rId512"/>
    <p:sldId id="791" r:id="rId513"/>
    <p:sldId id="792" r:id="rId514"/>
    <p:sldId id="793" r:id="rId515"/>
    <p:sldId id="794" r:id="rId516"/>
    <p:sldId id="795" r:id="rId517"/>
    <p:sldId id="796" r:id="rId518"/>
    <p:sldId id="766" r:id="rId519"/>
    <p:sldId id="797" r:id="rId520"/>
    <p:sldId id="798" r:id="rId521"/>
    <p:sldId id="799" r:id="rId522"/>
    <p:sldId id="800" r:id="rId523"/>
    <p:sldId id="801" r:id="rId524"/>
    <p:sldId id="802" r:id="rId525"/>
    <p:sldId id="803" r:id="rId526"/>
    <p:sldId id="804" r:id="rId527"/>
    <p:sldId id="805" r:id="rId528"/>
    <p:sldId id="806" r:id="rId529"/>
    <p:sldId id="807" r:id="rId530"/>
    <p:sldId id="808" r:id="rId531"/>
    <p:sldId id="809" r:id="rId532"/>
    <p:sldId id="810" r:id="rId533"/>
    <p:sldId id="811" r:id="rId534"/>
    <p:sldId id="812" r:id="rId535"/>
    <p:sldId id="813" r:id="rId536"/>
    <p:sldId id="814" r:id="rId537"/>
    <p:sldId id="815" r:id="rId538"/>
    <p:sldId id="816" r:id="rId539"/>
    <p:sldId id="817" r:id="rId540"/>
    <p:sldId id="818" r:id="rId541"/>
    <p:sldId id="819" r:id="rId542"/>
    <p:sldId id="820" r:id="rId543"/>
    <p:sldId id="821" r:id="rId544"/>
    <p:sldId id="822" r:id="rId545"/>
    <p:sldId id="823" r:id="rId546"/>
    <p:sldId id="824" r:id="rId547"/>
    <p:sldId id="825" r:id="rId548"/>
    <p:sldId id="826" r:id="rId549"/>
    <p:sldId id="827" r:id="rId550"/>
    <p:sldId id="828" r:id="rId551"/>
    <p:sldId id="829" r:id="rId552"/>
    <p:sldId id="830" r:id="rId553"/>
    <p:sldId id="831" r:id="rId554"/>
    <p:sldId id="832" r:id="rId555"/>
    <p:sldId id="833" r:id="rId556"/>
    <p:sldId id="834" r:id="rId557"/>
    <p:sldId id="835" r:id="rId558"/>
    <p:sldId id="836" r:id="rId559"/>
    <p:sldId id="837" r:id="rId560"/>
    <p:sldId id="838" r:id="rId561"/>
    <p:sldId id="839" r:id="rId562"/>
    <p:sldId id="840" r:id="rId563"/>
    <p:sldId id="841" r:id="rId564"/>
    <p:sldId id="842" r:id="rId565"/>
    <p:sldId id="843" r:id="rId566"/>
    <p:sldId id="844" r:id="rId567"/>
    <p:sldId id="845" r:id="rId568"/>
    <p:sldId id="846" r:id="rId569"/>
    <p:sldId id="847" r:id="rId570"/>
    <p:sldId id="848" r:id="rId571"/>
    <p:sldId id="849" r:id="rId572"/>
    <p:sldId id="850" r:id="rId573"/>
    <p:sldId id="851" r:id="rId574"/>
    <p:sldId id="856" r:id="rId575"/>
    <p:sldId id="852" r:id="rId576"/>
    <p:sldId id="853" r:id="rId577"/>
    <p:sldId id="854" r:id="rId578"/>
    <p:sldId id="855" r:id="rId579"/>
    <p:sldId id="857" r:id="rId580"/>
    <p:sldId id="858" r:id="rId581"/>
    <p:sldId id="859" r:id="rId582"/>
    <p:sldId id="860" r:id="rId583"/>
    <p:sldId id="861" r:id="rId584"/>
    <p:sldId id="862" r:id="rId585"/>
    <p:sldId id="863" r:id="rId586"/>
    <p:sldId id="864" r:id="rId587"/>
    <p:sldId id="865" r:id="rId588"/>
    <p:sldId id="866" r:id="rId589"/>
    <p:sldId id="867" r:id="rId590"/>
    <p:sldId id="868" r:id="rId591"/>
    <p:sldId id="869" r:id="rId592"/>
    <p:sldId id="870" r:id="rId593"/>
    <p:sldId id="871" r:id="rId594"/>
    <p:sldId id="872" r:id="rId595"/>
    <p:sldId id="873" r:id="rId596"/>
    <p:sldId id="874" r:id="rId597"/>
    <p:sldId id="875" r:id="rId598"/>
    <p:sldId id="902" r:id="rId599"/>
    <p:sldId id="903" r:id="rId600"/>
    <p:sldId id="901" r:id="rId601"/>
    <p:sldId id="904" r:id="rId602"/>
    <p:sldId id="905" r:id="rId603"/>
    <p:sldId id="876" r:id="rId604"/>
    <p:sldId id="877" r:id="rId605"/>
    <p:sldId id="878" r:id="rId606"/>
    <p:sldId id="879" r:id="rId607"/>
    <p:sldId id="880" r:id="rId608"/>
    <p:sldId id="881" r:id="rId609"/>
    <p:sldId id="882" r:id="rId610"/>
    <p:sldId id="891" r:id="rId611"/>
    <p:sldId id="892" r:id="rId612"/>
    <p:sldId id="893" r:id="rId613"/>
    <p:sldId id="894" r:id="rId614"/>
    <p:sldId id="895" r:id="rId615"/>
    <p:sldId id="896" r:id="rId616"/>
    <p:sldId id="897" r:id="rId617"/>
    <p:sldId id="898" r:id="rId618"/>
    <p:sldId id="899" r:id="rId619"/>
    <p:sldId id="900" r:id="rId620"/>
    <p:sldId id="984" r:id="rId621"/>
    <p:sldId id="985" r:id="rId622"/>
    <p:sldId id="986" r:id="rId623"/>
    <p:sldId id="883" r:id="rId624"/>
    <p:sldId id="884" r:id="rId625"/>
    <p:sldId id="885" r:id="rId626"/>
    <p:sldId id="886" r:id="rId627"/>
    <p:sldId id="887" r:id="rId628"/>
    <p:sldId id="888" r:id="rId629"/>
    <p:sldId id="889" r:id="rId630"/>
    <p:sldId id="890" r:id="rId631"/>
    <p:sldId id="906" r:id="rId632"/>
    <p:sldId id="907" r:id="rId633"/>
    <p:sldId id="908" r:id="rId634"/>
    <p:sldId id="909" r:id="rId635"/>
    <p:sldId id="910" r:id="rId636"/>
    <p:sldId id="911" r:id="rId637"/>
    <p:sldId id="912" r:id="rId638"/>
    <p:sldId id="913" r:id="rId639"/>
    <p:sldId id="914" r:id="rId640"/>
    <p:sldId id="915" r:id="rId641"/>
    <p:sldId id="916" r:id="rId642"/>
    <p:sldId id="917" r:id="rId643"/>
    <p:sldId id="918" r:id="rId644"/>
    <p:sldId id="934" r:id="rId645"/>
    <p:sldId id="922" r:id="rId646"/>
    <p:sldId id="923" r:id="rId647"/>
    <p:sldId id="924" r:id="rId648"/>
    <p:sldId id="925" r:id="rId649"/>
    <p:sldId id="926" r:id="rId650"/>
    <p:sldId id="927" r:id="rId651"/>
    <p:sldId id="928" r:id="rId652"/>
    <p:sldId id="971" r:id="rId653"/>
    <p:sldId id="972" r:id="rId654"/>
    <p:sldId id="973" r:id="rId655"/>
    <p:sldId id="974" r:id="rId656"/>
    <p:sldId id="975" r:id="rId657"/>
    <p:sldId id="976" r:id="rId658"/>
    <p:sldId id="977" r:id="rId659"/>
    <p:sldId id="978" r:id="rId660"/>
    <p:sldId id="979" r:id="rId661"/>
    <p:sldId id="980" r:id="rId662"/>
    <p:sldId id="981" r:id="rId663"/>
    <p:sldId id="982" r:id="rId664"/>
    <p:sldId id="983" r:id="rId665"/>
    <p:sldId id="935" r:id="rId666"/>
    <p:sldId id="936" r:id="rId667"/>
    <p:sldId id="937" r:id="rId668"/>
    <p:sldId id="1052" r:id="rId669"/>
    <p:sldId id="938" r:id="rId670"/>
    <p:sldId id="939" r:id="rId671"/>
    <p:sldId id="940" r:id="rId672"/>
    <p:sldId id="941" r:id="rId673"/>
    <p:sldId id="942" r:id="rId674"/>
    <p:sldId id="929" r:id="rId675"/>
    <p:sldId id="930" r:id="rId676"/>
    <p:sldId id="931" r:id="rId677"/>
    <p:sldId id="932" r:id="rId678"/>
    <p:sldId id="933" r:id="rId679"/>
    <p:sldId id="943" r:id="rId680"/>
    <p:sldId id="944" r:id="rId681"/>
    <p:sldId id="945" r:id="rId682"/>
    <p:sldId id="946" r:id="rId683"/>
    <p:sldId id="947" r:id="rId684"/>
    <p:sldId id="948" r:id="rId685"/>
    <p:sldId id="955" r:id="rId686"/>
    <p:sldId id="949" r:id="rId687"/>
    <p:sldId id="950" r:id="rId688"/>
    <p:sldId id="951" r:id="rId689"/>
    <p:sldId id="952" r:id="rId690"/>
    <p:sldId id="953" r:id="rId691"/>
    <p:sldId id="954" r:id="rId692"/>
    <p:sldId id="956" r:id="rId693"/>
    <p:sldId id="957" r:id="rId694"/>
    <p:sldId id="958" r:id="rId695"/>
    <p:sldId id="959" r:id="rId696"/>
    <p:sldId id="960" r:id="rId697"/>
    <p:sldId id="961" r:id="rId698"/>
    <p:sldId id="962" r:id="rId699"/>
    <p:sldId id="963" r:id="rId700"/>
    <p:sldId id="964" r:id="rId701"/>
    <p:sldId id="965" r:id="rId702"/>
    <p:sldId id="966" r:id="rId703"/>
    <p:sldId id="967" r:id="rId704"/>
    <p:sldId id="968" r:id="rId705"/>
    <p:sldId id="969" r:id="rId706"/>
    <p:sldId id="970" r:id="rId707"/>
    <p:sldId id="987" r:id="rId708"/>
    <p:sldId id="988" r:id="rId709"/>
    <p:sldId id="989" r:id="rId710"/>
    <p:sldId id="990" r:id="rId711"/>
    <p:sldId id="991" r:id="rId712"/>
    <p:sldId id="992" r:id="rId713"/>
    <p:sldId id="993" r:id="rId714"/>
    <p:sldId id="994" r:id="rId715"/>
    <p:sldId id="995" r:id="rId716"/>
    <p:sldId id="996" r:id="rId717"/>
    <p:sldId id="997" r:id="rId718"/>
    <p:sldId id="998" r:id="rId719"/>
    <p:sldId id="999" r:id="rId720"/>
    <p:sldId id="1000" r:id="rId721"/>
    <p:sldId id="1001" r:id="rId722"/>
    <p:sldId id="1002" r:id="rId723"/>
    <p:sldId id="1003" r:id="rId724"/>
    <p:sldId id="1004" r:id="rId725"/>
    <p:sldId id="1005" r:id="rId726"/>
    <p:sldId id="1006" r:id="rId727"/>
    <p:sldId id="1007" r:id="rId728"/>
    <p:sldId id="1008" r:id="rId729"/>
    <p:sldId id="1009" r:id="rId730"/>
    <p:sldId id="1010" r:id="rId731"/>
    <p:sldId id="1011" r:id="rId732"/>
    <p:sldId id="1012" r:id="rId733"/>
    <p:sldId id="1013" r:id="rId734"/>
    <p:sldId id="1014" r:id="rId735"/>
    <p:sldId id="1015" r:id="rId736"/>
    <p:sldId id="1016" r:id="rId737"/>
    <p:sldId id="1040" r:id="rId738"/>
    <p:sldId id="1088" r:id="rId739"/>
    <p:sldId id="1041" r:id="rId740"/>
    <p:sldId id="1042" r:id="rId741"/>
    <p:sldId id="1043" r:id="rId742"/>
    <p:sldId id="1044" r:id="rId743"/>
    <p:sldId id="1045" r:id="rId744"/>
    <p:sldId id="1046" r:id="rId745"/>
    <p:sldId id="1089" r:id="rId746"/>
    <p:sldId id="1090" r:id="rId747"/>
    <p:sldId id="1091" r:id="rId748"/>
    <p:sldId id="1092" r:id="rId749"/>
    <p:sldId id="1093" r:id="rId750"/>
    <p:sldId id="1094" r:id="rId751"/>
    <p:sldId id="1095" r:id="rId752"/>
    <p:sldId id="1096" r:id="rId753"/>
    <p:sldId id="1097" r:id="rId754"/>
    <p:sldId id="1054" r:id="rId755"/>
    <p:sldId id="1055" r:id="rId756"/>
    <p:sldId id="1056" r:id="rId757"/>
    <p:sldId id="1098" r:id="rId758"/>
    <p:sldId id="1057" r:id="rId759"/>
    <p:sldId id="1058" r:id="rId760"/>
    <p:sldId id="1059" r:id="rId761"/>
    <p:sldId id="1060" r:id="rId762"/>
    <p:sldId id="1061" r:id="rId763"/>
    <p:sldId id="1099" r:id="rId764"/>
    <p:sldId id="1062" r:id="rId765"/>
    <p:sldId id="1063" r:id="rId766"/>
    <p:sldId id="1064" r:id="rId767"/>
    <p:sldId id="1065" r:id="rId768"/>
    <p:sldId id="1066" r:id="rId769"/>
    <p:sldId id="1067" r:id="rId770"/>
    <p:sldId id="1068" r:id="rId771"/>
    <p:sldId id="1069" r:id="rId772"/>
    <p:sldId id="1070" r:id="rId773"/>
    <p:sldId id="1071" r:id="rId774"/>
    <p:sldId id="1072" r:id="rId775"/>
    <p:sldId id="1073" r:id="rId776"/>
    <p:sldId id="1074" r:id="rId777"/>
    <p:sldId id="1075" r:id="rId778"/>
    <p:sldId id="1100" r:id="rId779"/>
    <p:sldId id="1076" r:id="rId780"/>
    <p:sldId id="1077" r:id="rId781"/>
    <p:sldId id="1078" r:id="rId782"/>
    <p:sldId id="1079" r:id="rId783"/>
    <p:sldId id="1080" r:id="rId784"/>
    <p:sldId id="1081" r:id="rId785"/>
    <p:sldId id="1082" r:id="rId786"/>
    <p:sldId id="1083" r:id="rId787"/>
    <p:sldId id="1084" r:id="rId788"/>
    <p:sldId id="1085" r:id="rId789"/>
    <p:sldId id="1087" r:id="rId790"/>
    <p:sldId id="1019" r:id="rId791"/>
    <p:sldId id="1020" r:id="rId792"/>
    <p:sldId id="1021" r:id="rId793"/>
    <p:sldId id="1022" r:id="rId794"/>
    <p:sldId id="1023" r:id="rId795"/>
    <p:sldId id="1024" r:id="rId796"/>
    <p:sldId id="1025" r:id="rId797"/>
    <p:sldId id="1026" r:id="rId798"/>
    <p:sldId id="1027" r:id="rId799"/>
    <p:sldId id="1028" r:id="rId800"/>
    <p:sldId id="1029" r:id="rId801"/>
    <p:sldId id="1030" r:id="rId802"/>
    <p:sldId id="1031" r:id="rId803"/>
    <p:sldId id="1032" r:id="rId804"/>
    <p:sldId id="1033" r:id="rId805"/>
    <p:sldId id="1034" r:id="rId806"/>
    <p:sldId id="1035" r:id="rId807"/>
    <p:sldId id="1036" r:id="rId808"/>
    <p:sldId id="1037" r:id="rId809"/>
    <p:sldId id="1038" r:id="rId810"/>
    <p:sldId id="1039" r:id="rId811"/>
    <p:sldId id="1101" r:id="rId812"/>
    <p:sldId id="1102" r:id="rId813"/>
    <p:sldId id="1103" r:id="rId814"/>
    <p:sldId id="1104" r:id="rId815"/>
    <p:sldId id="1105" r:id="rId816"/>
    <p:sldId id="1106" r:id="rId817"/>
    <p:sldId id="1107" r:id="rId818"/>
    <p:sldId id="1108" r:id="rId819"/>
    <p:sldId id="1111" r:id="rId820"/>
    <p:sldId id="1172" r:id="rId821"/>
    <p:sldId id="1109" r:id="rId822"/>
    <p:sldId id="1110" r:id="rId823"/>
    <p:sldId id="1112" r:id="rId824"/>
    <p:sldId id="1113" r:id="rId825"/>
    <p:sldId id="1114" r:id="rId826"/>
    <p:sldId id="1115" r:id="rId827"/>
    <p:sldId id="1116" r:id="rId828"/>
    <p:sldId id="1173" r:id="rId829"/>
    <p:sldId id="1117" r:id="rId830"/>
    <p:sldId id="1118" r:id="rId831"/>
    <p:sldId id="1119" r:id="rId832"/>
    <p:sldId id="1120" r:id="rId833"/>
    <p:sldId id="1121" r:id="rId834"/>
    <p:sldId id="1122" r:id="rId835"/>
    <p:sldId id="1123" r:id="rId836"/>
    <p:sldId id="1124" r:id="rId837"/>
    <p:sldId id="1125" r:id="rId838"/>
    <p:sldId id="1126" r:id="rId839"/>
    <p:sldId id="1127" r:id="rId840"/>
    <p:sldId id="1128" r:id="rId841"/>
    <p:sldId id="1129" r:id="rId842"/>
    <p:sldId id="1130" r:id="rId843"/>
    <p:sldId id="1132" r:id="rId844"/>
    <p:sldId id="1133" r:id="rId845"/>
    <p:sldId id="1174" r:id="rId846"/>
    <p:sldId id="1175" r:id="rId847"/>
    <p:sldId id="1176" r:id="rId848"/>
    <p:sldId id="1177" r:id="rId849"/>
    <p:sldId id="1178" r:id="rId850"/>
    <p:sldId id="1179" r:id="rId851"/>
    <p:sldId id="1180" r:id="rId852"/>
    <p:sldId id="1181" r:id="rId853"/>
    <p:sldId id="1182" r:id="rId854"/>
    <p:sldId id="1183" r:id="rId855"/>
    <p:sldId id="1184" r:id="rId856"/>
    <p:sldId id="1185" r:id="rId857"/>
    <p:sldId id="1186" r:id="rId858"/>
    <p:sldId id="1187" r:id="rId859"/>
    <p:sldId id="1188" r:id="rId860"/>
    <p:sldId id="1189" r:id="rId861"/>
    <p:sldId id="1190" r:id="rId862"/>
    <p:sldId id="1191" r:id="rId863"/>
    <p:sldId id="1192" r:id="rId864"/>
    <p:sldId id="1193" r:id="rId865"/>
    <p:sldId id="1194" r:id="rId866"/>
    <p:sldId id="1195" r:id="rId867"/>
    <p:sldId id="1196" r:id="rId868"/>
    <p:sldId id="1197" r:id="rId869"/>
    <p:sldId id="1198" r:id="rId870"/>
    <p:sldId id="1199" r:id="rId871"/>
    <p:sldId id="1200" r:id="rId872"/>
    <p:sldId id="1201" r:id="rId873"/>
    <p:sldId id="1202" r:id="rId874"/>
    <p:sldId id="1203" r:id="rId875"/>
    <p:sldId id="1204" r:id="rId876"/>
    <p:sldId id="1205" r:id="rId877"/>
    <p:sldId id="1206" r:id="rId878"/>
    <p:sldId id="1214" r:id="rId879"/>
    <p:sldId id="1207" r:id="rId880"/>
    <p:sldId id="1208" r:id="rId881"/>
    <p:sldId id="1209" r:id="rId882"/>
    <p:sldId id="1210" r:id="rId883"/>
    <p:sldId id="1211" r:id="rId884"/>
    <p:sldId id="1212" r:id="rId885"/>
    <p:sldId id="1213" r:id="rId886"/>
    <p:sldId id="1215" r:id="rId887"/>
    <p:sldId id="1216" r:id="rId888"/>
    <p:sldId id="1217" r:id="rId889"/>
    <p:sldId id="1218" r:id="rId890"/>
    <p:sldId id="1219" r:id="rId891"/>
    <p:sldId id="1220" r:id="rId892"/>
    <p:sldId id="1221" r:id="rId893"/>
    <p:sldId id="1223" r:id="rId894"/>
    <p:sldId id="1224" r:id="rId895"/>
    <p:sldId id="1222" r:id="rId896"/>
    <p:sldId id="1225" r:id="rId897"/>
    <p:sldId id="1226" r:id="rId898"/>
    <p:sldId id="1228" r:id="rId899"/>
    <p:sldId id="1229" r:id="rId900"/>
    <p:sldId id="1230" r:id="rId901"/>
    <p:sldId id="1231" r:id="rId902"/>
    <p:sldId id="1232" r:id="rId903"/>
    <p:sldId id="1233" r:id="rId904"/>
    <p:sldId id="1234" r:id="rId905"/>
    <p:sldId id="1227" r:id="rId906"/>
    <p:sldId id="1238" r:id="rId907"/>
    <p:sldId id="1235" r:id="rId908"/>
    <p:sldId id="1236" r:id="rId909"/>
    <p:sldId id="1237" r:id="rId9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rl" initials="C" lastIdx="1" clrIdx="0">
    <p:extLst>
      <p:ext uri="{19B8F6BF-5375-455C-9EA6-DF929625EA0E}">
        <p15:presenceInfo xmlns:p15="http://schemas.microsoft.com/office/powerpoint/2012/main" userId="b9c552f8ffb8085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7" autoAdjust="0"/>
    <p:restoredTop sz="94660"/>
  </p:normalViewPr>
  <p:slideViewPr>
    <p:cSldViewPr snapToGrid="0">
      <p:cViewPr>
        <p:scale>
          <a:sx n="50" d="100"/>
          <a:sy n="50" d="100"/>
        </p:scale>
        <p:origin x="403" y="2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671" Type="http://schemas.openxmlformats.org/officeDocument/2006/relationships/slide" Target="slides/slide670.xml"/><Relationship Id="rId769" Type="http://schemas.openxmlformats.org/officeDocument/2006/relationships/slide" Target="slides/slide768.xml"/><Relationship Id="rId21" Type="http://schemas.openxmlformats.org/officeDocument/2006/relationships/slide" Target="slides/slide20.xml"/><Relationship Id="rId324" Type="http://schemas.openxmlformats.org/officeDocument/2006/relationships/slide" Target="slides/slide323.xml"/><Relationship Id="rId531" Type="http://schemas.openxmlformats.org/officeDocument/2006/relationships/slide" Target="slides/slide530.xml"/><Relationship Id="rId629" Type="http://schemas.openxmlformats.org/officeDocument/2006/relationships/slide" Target="slides/slide628.xml"/><Relationship Id="rId170" Type="http://schemas.openxmlformats.org/officeDocument/2006/relationships/slide" Target="slides/slide169.xml"/><Relationship Id="rId836" Type="http://schemas.openxmlformats.org/officeDocument/2006/relationships/slide" Target="slides/slide835.xml"/><Relationship Id="rId268" Type="http://schemas.openxmlformats.org/officeDocument/2006/relationships/slide" Target="slides/slide267.xml"/><Relationship Id="rId475" Type="http://schemas.openxmlformats.org/officeDocument/2006/relationships/slide" Target="slides/slide474.xml"/><Relationship Id="rId682" Type="http://schemas.openxmlformats.org/officeDocument/2006/relationships/slide" Target="slides/slide681.xml"/><Relationship Id="rId903" Type="http://schemas.openxmlformats.org/officeDocument/2006/relationships/slide" Target="slides/slide902.xml"/><Relationship Id="rId32" Type="http://schemas.openxmlformats.org/officeDocument/2006/relationships/slide" Target="slides/slide31.xml"/><Relationship Id="rId128" Type="http://schemas.openxmlformats.org/officeDocument/2006/relationships/slide" Target="slides/slide127.xml"/><Relationship Id="rId335" Type="http://schemas.openxmlformats.org/officeDocument/2006/relationships/slide" Target="slides/slide334.xml"/><Relationship Id="rId542" Type="http://schemas.openxmlformats.org/officeDocument/2006/relationships/slide" Target="slides/slide541.xml"/><Relationship Id="rId181" Type="http://schemas.openxmlformats.org/officeDocument/2006/relationships/slide" Target="slides/slide180.xml"/><Relationship Id="rId402" Type="http://schemas.openxmlformats.org/officeDocument/2006/relationships/slide" Target="slides/slide401.xml"/><Relationship Id="rId847" Type="http://schemas.openxmlformats.org/officeDocument/2006/relationships/slide" Target="slides/slide846.xml"/><Relationship Id="rId279" Type="http://schemas.openxmlformats.org/officeDocument/2006/relationships/slide" Target="slides/slide278.xml"/><Relationship Id="rId486" Type="http://schemas.openxmlformats.org/officeDocument/2006/relationships/slide" Target="slides/slide485.xml"/><Relationship Id="rId693" Type="http://schemas.openxmlformats.org/officeDocument/2006/relationships/slide" Target="slides/slide692.xml"/><Relationship Id="rId707" Type="http://schemas.openxmlformats.org/officeDocument/2006/relationships/slide" Target="slides/slide706.xml"/><Relationship Id="rId914" Type="http://schemas.openxmlformats.org/officeDocument/2006/relationships/viewProps" Target="viewProps.xml"/><Relationship Id="rId43" Type="http://schemas.openxmlformats.org/officeDocument/2006/relationships/slide" Target="slides/slide42.xml"/><Relationship Id="rId139" Type="http://schemas.openxmlformats.org/officeDocument/2006/relationships/slide" Target="slides/slide138.xml"/><Relationship Id="rId346" Type="http://schemas.openxmlformats.org/officeDocument/2006/relationships/slide" Target="slides/slide345.xml"/><Relationship Id="rId553" Type="http://schemas.openxmlformats.org/officeDocument/2006/relationships/slide" Target="slides/slide552.xml"/><Relationship Id="rId760" Type="http://schemas.openxmlformats.org/officeDocument/2006/relationships/slide" Target="slides/slide75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858" Type="http://schemas.openxmlformats.org/officeDocument/2006/relationships/slide" Target="slides/slide857.xml"/><Relationship Id="rId497" Type="http://schemas.openxmlformats.org/officeDocument/2006/relationships/slide" Target="slides/slide496.xml"/><Relationship Id="rId620" Type="http://schemas.openxmlformats.org/officeDocument/2006/relationships/slide" Target="slides/slide619.xml"/><Relationship Id="rId718" Type="http://schemas.openxmlformats.org/officeDocument/2006/relationships/slide" Target="slides/slide717.xml"/><Relationship Id="rId357" Type="http://schemas.openxmlformats.org/officeDocument/2006/relationships/slide" Target="slides/slide356.xml"/><Relationship Id="rId54" Type="http://schemas.openxmlformats.org/officeDocument/2006/relationships/slide" Target="slides/slide53.xml"/><Relationship Id="rId217" Type="http://schemas.openxmlformats.org/officeDocument/2006/relationships/slide" Target="slides/slide216.xml"/><Relationship Id="rId564" Type="http://schemas.openxmlformats.org/officeDocument/2006/relationships/slide" Target="slides/slide563.xml"/><Relationship Id="rId771" Type="http://schemas.openxmlformats.org/officeDocument/2006/relationships/slide" Target="slides/slide770.xml"/><Relationship Id="rId869" Type="http://schemas.openxmlformats.org/officeDocument/2006/relationships/slide" Target="slides/slide868.xml"/><Relationship Id="rId424" Type="http://schemas.openxmlformats.org/officeDocument/2006/relationships/slide" Target="slides/slide423.xml"/><Relationship Id="rId631" Type="http://schemas.openxmlformats.org/officeDocument/2006/relationships/slide" Target="slides/slide630.xml"/><Relationship Id="rId729" Type="http://schemas.openxmlformats.org/officeDocument/2006/relationships/slide" Target="slides/slide72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575" Type="http://schemas.openxmlformats.org/officeDocument/2006/relationships/slide" Target="slides/slide574.xml"/><Relationship Id="rId782" Type="http://schemas.openxmlformats.org/officeDocument/2006/relationships/slide" Target="slides/slide781.xml"/><Relationship Id="rId228" Type="http://schemas.openxmlformats.org/officeDocument/2006/relationships/slide" Target="slides/slide227.xml"/><Relationship Id="rId435" Type="http://schemas.openxmlformats.org/officeDocument/2006/relationships/slide" Target="slides/slide434.xml"/><Relationship Id="rId642" Type="http://schemas.openxmlformats.org/officeDocument/2006/relationships/slide" Target="slides/slide641.xml"/><Relationship Id="rId281" Type="http://schemas.openxmlformats.org/officeDocument/2006/relationships/slide" Target="slides/slide280.xml"/><Relationship Id="rId502" Type="http://schemas.openxmlformats.org/officeDocument/2006/relationships/slide" Target="slides/slide501.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586" Type="http://schemas.openxmlformats.org/officeDocument/2006/relationships/slide" Target="slides/slide585.xml"/><Relationship Id="rId793" Type="http://schemas.openxmlformats.org/officeDocument/2006/relationships/slide" Target="slides/slide792.xml"/><Relationship Id="rId807" Type="http://schemas.openxmlformats.org/officeDocument/2006/relationships/slide" Target="slides/slide806.xml"/><Relationship Id="rId7" Type="http://schemas.openxmlformats.org/officeDocument/2006/relationships/slide" Target="slides/slide6.xml"/><Relationship Id="rId239" Type="http://schemas.openxmlformats.org/officeDocument/2006/relationships/slide" Target="slides/slide238.xml"/><Relationship Id="rId446" Type="http://schemas.openxmlformats.org/officeDocument/2006/relationships/slide" Target="slides/slide445.xml"/><Relationship Id="rId653" Type="http://schemas.openxmlformats.org/officeDocument/2006/relationships/slide" Target="slides/slide652.xml"/><Relationship Id="rId292" Type="http://schemas.openxmlformats.org/officeDocument/2006/relationships/slide" Target="slides/slide291.xml"/><Relationship Id="rId306" Type="http://schemas.openxmlformats.org/officeDocument/2006/relationships/slide" Target="slides/slide305.xml"/><Relationship Id="rId860" Type="http://schemas.openxmlformats.org/officeDocument/2006/relationships/slide" Target="slides/slide859.xml"/><Relationship Id="rId87" Type="http://schemas.openxmlformats.org/officeDocument/2006/relationships/slide" Target="slides/slide86.xml"/><Relationship Id="rId513" Type="http://schemas.openxmlformats.org/officeDocument/2006/relationships/slide" Target="slides/slide512.xml"/><Relationship Id="rId597" Type="http://schemas.openxmlformats.org/officeDocument/2006/relationships/slide" Target="slides/slide596.xml"/><Relationship Id="rId720" Type="http://schemas.openxmlformats.org/officeDocument/2006/relationships/slide" Target="slides/slide719.xml"/><Relationship Id="rId818" Type="http://schemas.openxmlformats.org/officeDocument/2006/relationships/slide" Target="slides/slide817.xml"/><Relationship Id="rId152" Type="http://schemas.openxmlformats.org/officeDocument/2006/relationships/slide" Target="slides/slide151.xml"/><Relationship Id="rId457" Type="http://schemas.openxmlformats.org/officeDocument/2006/relationships/slide" Target="slides/slide456.xml"/><Relationship Id="rId664" Type="http://schemas.openxmlformats.org/officeDocument/2006/relationships/slide" Target="slides/slide663.xml"/><Relationship Id="rId871" Type="http://schemas.openxmlformats.org/officeDocument/2006/relationships/slide" Target="slides/slide870.xml"/><Relationship Id="rId14" Type="http://schemas.openxmlformats.org/officeDocument/2006/relationships/slide" Target="slides/slide13.xml"/><Relationship Id="rId317" Type="http://schemas.openxmlformats.org/officeDocument/2006/relationships/slide" Target="slides/slide316.xml"/><Relationship Id="rId524" Type="http://schemas.openxmlformats.org/officeDocument/2006/relationships/slide" Target="slides/slide523.xml"/><Relationship Id="rId731" Type="http://schemas.openxmlformats.org/officeDocument/2006/relationships/slide" Target="slides/slide730.xml"/><Relationship Id="rId98" Type="http://schemas.openxmlformats.org/officeDocument/2006/relationships/slide" Target="slides/slide97.xml"/><Relationship Id="rId163" Type="http://schemas.openxmlformats.org/officeDocument/2006/relationships/slide" Target="slides/slide162.xml"/><Relationship Id="rId370" Type="http://schemas.openxmlformats.org/officeDocument/2006/relationships/slide" Target="slides/slide369.xml"/><Relationship Id="rId829" Type="http://schemas.openxmlformats.org/officeDocument/2006/relationships/slide" Target="slides/slide828.xml"/><Relationship Id="rId230" Type="http://schemas.openxmlformats.org/officeDocument/2006/relationships/slide" Target="slides/slide229.xml"/><Relationship Id="rId468" Type="http://schemas.openxmlformats.org/officeDocument/2006/relationships/slide" Target="slides/slide467.xml"/><Relationship Id="rId675" Type="http://schemas.openxmlformats.org/officeDocument/2006/relationships/slide" Target="slides/slide674.xml"/><Relationship Id="rId882" Type="http://schemas.openxmlformats.org/officeDocument/2006/relationships/slide" Target="slides/slide881.xml"/><Relationship Id="rId25" Type="http://schemas.openxmlformats.org/officeDocument/2006/relationships/slide" Target="slides/slide24.xml"/><Relationship Id="rId328" Type="http://schemas.openxmlformats.org/officeDocument/2006/relationships/slide" Target="slides/slide327.xml"/><Relationship Id="rId535" Type="http://schemas.openxmlformats.org/officeDocument/2006/relationships/slide" Target="slides/slide534.xml"/><Relationship Id="rId742" Type="http://schemas.openxmlformats.org/officeDocument/2006/relationships/slide" Target="slides/slide741.xml"/><Relationship Id="rId174" Type="http://schemas.openxmlformats.org/officeDocument/2006/relationships/slide" Target="slides/slide173.xml"/><Relationship Id="rId381" Type="http://schemas.openxmlformats.org/officeDocument/2006/relationships/slide" Target="slides/slide380.xml"/><Relationship Id="rId602" Type="http://schemas.openxmlformats.org/officeDocument/2006/relationships/slide" Target="slides/slide601.xml"/><Relationship Id="rId241" Type="http://schemas.openxmlformats.org/officeDocument/2006/relationships/slide" Target="slides/slide240.xml"/><Relationship Id="rId479" Type="http://schemas.openxmlformats.org/officeDocument/2006/relationships/slide" Target="slides/slide478.xml"/><Relationship Id="rId686" Type="http://schemas.openxmlformats.org/officeDocument/2006/relationships/slide" Target="slides/slide685.xml"/><Relationship Id="rId893" Type="http://schemas.openxmlformats.org/officeDocument/2006/relationships/slide" Target="slides/slide892.xml"/><Relationship Id="rId907" Type="http://schemas.openxmlformats.org/officeDocument/2006/relationships/slide" Target="slides/slide906.xml"/><Relationship Id="rId36" Type="http://schemas.openxmlformats.org/officeDocument/2006/relationships/slide" Target="slides/slide35.xml"/><Relationship Id="rId339" Type="http://schemas.openxmlformats.org/officeDocument/2006/relationships/slide" Target="slides/slide338.xml"/><Relationship Id="rId546" Type="http://schemas.openxmlformats.org/officeDocument/2006/relationships/slide" Target="slides/slide545.xml"/><Relationship Id="rId753" Type="http://schemas.openxmlformats.org/officeDocument/2006/relationships/slide" Target="slides/slide752.xml"/><Relationship Id="rId101" Type="http://schemas.openxmlformats.org/officeDocument/2006/relationships/slide" Target="slides/slide100.xml"/><Relationship Id="rId185" Type="http://schemas.openxmlformats.org/officeDocument/2006/relationships/slide" Target="slides/slide184.xml"/><Relationship Id="rId406" Type="http://schemas.openxmlformats.org/officeDocument/2006/relationships/slide" Target="slides/slide405.xml"/><Relationship Id="rId392" Type="http://schemas.openxmlformats.org/officeDocument/2006/relationships/slide" Target="slides/slide391.xml"/><Relationship Id="rId613" Type="http://schemas.openxmlformats.org/officeDocument/2006/relationships/slide" Target="slides/slide612.xml"/><Relationship Id="rId697" Type="http://schemas.openxmlformats.org/officeDocument/2006/relationships/slide" Target="slides/slide696.xml"/><Relationship Id="rId820" Type="http://schemas.openxmlformats.org/officeDocument/2006/relationships/slide" Target="slides/slide819.xml"/><Relationship Id="rId252" Type="http://schemas.openxmlformats.org/officeDocument/2006/relationships/slide" Target="slides/slide251.xml"/><Relationship Id="rId47" Type="http://schemas.openxmlformats.org/officeDocument/2006/relationships/slide" Target="slides/slide46.xml"/><Relationship Id="rId112" Type="http://schemas.openxmlformats.org/officeDocument/2006/relationships/slide" Target="slides/slide111.xml"/><Relationship Id="rId557" Type="http://schemas.openxmlformats.org/officeDocument/2006/relationships/slide" Target="slides/slide556.xml"/><Relationship Id="rId764" Type="http://schemas.openxmlformats.org/officeDocument/2006/relationships/slide" Target="slides/slide763.xml"/><Relationship Id="rId196" Type="http://schemas.openxmlformats.org/officeDocument/2006/relationships/slide" Target="slides/slide195.xml"/><Relationship Id="rId417" Type="http://schemas.openxmlformats.org/officeDocument/2006/relationships/slide" Target="slides/slide416.xml"/><Relationship Id="rId624" Type="http://schemas.openxmlformats.org/officeDocument/2006/relationships/slide" Target="slides/slide623.xml"/><Relationship Id="rId831" Type="http://schemas.openxmlformats.org/officeDocument/2006/relationships/slide" Target="slides/slide830.xml"/><Relationship Id="rId263" Type="http://schemas.openxmlformats.org/officeDocument/2006/relationships/slide" Target="slides/slide262.xml"/><Relationship Id="rId470" Type="http://schemas.openxmlformats.org/officeDocument/2006/relationships/slide" Target="slides/slide469.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568" Type="http://schemas.openxmlformats.org/officeDocument/2006/relationships/slide" Target="slides/slide567.xml"/><Relationship Id="rId775" Type="http://schemas.openxmlformats.org/officeDocument/2006/relationships/slide" Target="slides/slide774.xml"/><Relationship Id="rId428" Type="http://schemas.openxmlformats.org/officeDocument/2006/relationships/slide" Target="slides/slide427.xml"/><Relationship Id="rId635" Type="http://schemas.openxmlformats.org/officeDocument/2006/relationships/slide" Target="slides/slide634.xml"/><Relationship Id="rId842" Type="http://schemas.openxmlformats.org/officeDocument/2006/relationships/slide" Target="slides/slide841.xml"/><Relationship Id="rId274" Type="http://schemas.openxmlformats.org/officeDocument/2006/relationships/slide" Target="slides/slide273.xml"/><Relationship Id="rId481" Type="http://schemas.openxmlformats.org/officeDocument/2006/relationships/slide" Target="slides/slide480.xml"/><Relationship Id="rId702" Type="http://schemas.openxmlformats.org/officeDocument/2006/relationships/slide" Target="slides/slide701.xml"/><Relationship Id="rId69" Type="http://schemas.openxmlformats.org/officeDocument/2006/relationships/slide" Target="slides/slide68.xml"/><Relationship Id="rId134" Type="http://schemas.openxmlformats.org/officeDocument/2006/relationships/slide" Target="slides/slide133.xml"/><Relationship Id="rId579" Type="http://schemas.openxmlformats.org/officeDocument/2006/relationships/slide" Target="slides/slide578.xml"/><Relationship Id="rId786" Type="http://schemas.openxmlformats.org/officeDocument/2006/relationships/slide" Target="slides/slide785.xml"/><Relationship Id="rId341" Type="http://schemas.openxmlformats.org/officeDocument/2006/relationships/slide" Target="slides/slide340.xml"/><Relationship Id="rId439" Type="http://schemas.openxmlformats.org/officeDocument/2006/relationships/slide" Target="slides/slide438.xml"/><Relationship Id="rId646" Type="http://schemas.openxmlformats.org/officeDocument/2006/relationships/slide" Target="slides/slide645.xml"/><Relationship Id="rId201" Type="http://schemas.openxmlformats.org/officeDocument/2006/relationships/slide" Target="slides/slide200.xml"/><Relationship Id="rId285" Type="http://schemas.openxmlformats.org/officeDocument/2006/relationships/slide" Target="slides/slide284.xml"/><Relationship Id="rId506" Type="http://schemas.openxmlformats.org/officeDocument/2006/relationships/slide" Target="slides/slide505.xml"/><Relationship Id="rId853" Type="http://schemas.openxmlformats.org/officeDocument/2006/relationships/slide" Target="slides/slide852.xml"/><Relationship Id="rId492" Type="http://schemas.openxmlformats.org/officeDocument/2006/relationships/slide" Target="slides/slide491.xml"/><Relationship Id="rId713" Type="http://schemas.openxmlformats.org/officeDocument/2006/relationships/slide" Target="slides/slide712.xml"/><Relationship Id="rId797" Type="http://schemas.openxmlformats.org/officeDocument/2006/relationships/slide" Target="slides/slide796.xml"/><Relationship Id="rId145" Type="http://schemas.openxmlformats.org/officeDocument/2006/relationships/slide" Target="slides/slide144.xml"/><Relationship Id="rId352" Type="http://schemas.openxmlformats.org/officeDocument/2006/relationships/slide" Target="slides/slide351.xml"/><Relationship Id="rId212" Type="http://schemas.openxmlformats.org/officeDocument/2006/relationships/slide" Target="slides/slide211.xml"/><Relationship Id="rId657" Type="http://schemas.openxmlformats.org/officeDocument/2006/relationships/slide" Target="slides/slide656.xml"/><Relationship Id="rId864" Type="http://schemas.openxmlformats.org/officeDocument/2006/relationships/slide" Target="slides/slide863.xml"/><Relationship Id="rId296" Type="http://schemas.openxmlformats.org/officeDocument/2006/relationships/slide" Target="slides/slide295.xml"/><Relationship Id="rId517" Type="http://schemas.openxmlformats.org/officeDocument/2006/relationships/slide" Target="slides/slide516.xml"/><Relationship Id="rId724" Type="http://schemas.openxmlformats.org/officeDocument/2006/relationships/slide" Target="slides/slide723.xml"/><Relationship Id="rId60" Type="http://schemas.openxmlformats.org/officeDocument/2006/relationships/slide" Target="slides/slide59.xml"/><Relationship Id="rId156" Type="http://schemas.openxmlformats.org/officeDocument/2006/relationships/slide" Target="slides/slide155.xml"/><Relationship Id="rId363" Type="http://schemas.openxmlformats.org/officeDocument/2006/relationships/slide" Target="slides/slide362.xml"/><Relationship Id="rId570" Type="http://schemas.openxmlformats.org/officeDocument/2006/relationships/slide" Target="slides/slide569.xml"/><Relationship Id="rId223" Type="http://schemas.openxmlformats.org/officeDocument/2006/relationships/slide" Target="slides/slide222.xml"/><Relationship Id="rId430" Type="http://schemas.openxmlformats.org/officeDocument/2006/relationships/slide" Target="slides/slide429.xml"/><Relationship Id="rId668" Type="http://schemas.openxmlformats.org/officeDocument/2006/relationships/slide" Target="slides/slide667.xml"/><Relationship Id="rId875" Type="http://schemas.openxmlformats.org/officeDocument/2006/relationships/slide" Target="slides/slide874.xml"/><Relationship Id="rId18" Type="http://schemas.openxmlformats.org/officeDocument/2006/relationships/slide" Target="slides/slide17.xml"/><Relationship Id="rId528" Type="http://schemas.openxmlformats.org/officeDocument/2006/relationships/slide" Target="slides/slide527.xml"/><Relationship Id="rId735" Type="http://schemas.openxmlformats.org/officeDocument/2006/relationships/slide" Target="slides/slide734.xml"/><Relationship Id="rId167" Type="http://schemas.openxmlformats.org/officeDocument/2006/relationships/slide" Target="slides/slide166.xml"/><Relationship Id="rId374" Type="http://schemas.openxmlformats.org/officeDocument/2006/relationships/slide" Target="slides/slide373.xml"/><Relationship Id="rId581" Type="http://schemas.openxmlformats.org/officeDocument/2006/relationships/slide" Target="slides/slide580.xml"/><Relationship Id="rId71" Type="http://schemas.openxmlformats.org/officeDocument/2006/relationships/slide" Target="slides/slide70.xml"/><Relationship Id="rId234" Type="http://schemas.openxmlformats.org/officeDocument/2006/relationships/slide" Target="slides/slide233.xml"/><Relationship Id="rId679" Type="http://schemas.openxmlformats.org/officeDocument/2006/relationships/slide" Target="slides/slide678.xml"/><Relationship Id="rId802" Type="http://schemas.openxmlformats.org/officeDocument/2006/relationships/slide" Target="slides/slide801.xml"/><Relationship Id="rId886" Type="http://schemas.openxmlformats.org/officeDocument/2006/relationships/slide" Target="slides/slide885.xml"/><Relationship Id="rId2" Type="http://schemas.openxmlformats.org/officeDocument/2006/relationships/slide" Target="slides/slide1.xml"/><Relationship Id="rId29" Type="http://schemas.openxmlformats.org/officeDocument/2006/relationships/slide" Target="slides/slide28.xml"/><Relationship Id="rId441" Type="http://schemas.openxmlformats.org/officeDocument/2006/relationships/slide" Target="slides/slide440.xml"/><Relationship Id="rId539" Type="http://schemas.openxmlformats.org/officeDocument/2006/relationships/slide" Target="slides/slide538.xml"/><Relationship Id="rId746" Type="http://schemas.openxmlformats.org/officeDocument/2006/relationships/slide" Target="slides/slide745.xml"/><Relationship Id="rId178" Type="http://schemas.openxmlformats.org/officeDocument/2006/relationships/slide" Target="slides/slide177.xml"/><Relationship Id="rId301" Type="http://schemas.openxmlformats.org/officeDocument/2006/relationships/slide" Target="slides/slide300.xml"/><Relationship Id="rId82" Type="http://schemas.openxmlformats.org/officeDocument/2006/relationships/slide" Target="slides/slide81.xml"/><Relationship Id="rId385" Type="http://schemas.openxmlformats.org/officeDocument/2006/relationships/slide" Target="slides/slide384.xml"/><Relationship Id="rId592" Type="http://schemas.openxmlformats.org/officeDocument/2006/relationships/slide" Target="slides/slide591.xml"/><Relationship Id="rId606" Type="http://schemas.openxmlformats.org/officeDocument/2006/relationships/slide" Target="slides/slide605.xml"/><Relationship Id="rId813" Type="http://schemas.openxmlformats.org/officeDocument/2006/relationships/slide" Target="slides/slide812.xml"/><Relationship Id="rId245" Type="http://schemas.openxmlformats.org/officeDocument/2006/relationships/slide" Target="slides/slide244.xml"/><Relationship Id="rId452" Type="http://schemas.openxmlformats.org/officeDocument/2006/relationships/slide" Target="slides/slide451.xml"/><Relationship Id="rId897" Type="http://schemas.openxmlformats.org/officeDocument/2006/relationships/slide" Target="slides/slide896.xml"/><Relationship Id="rId105" Type="http://schemas.openxmlformats.org/officeDocument/2006/relationships/slide" Target="slides/slide104.xml"/><Relationship Id="rId312" Type="http://schemas.openxmlformats.org/officeDocument/2006/relationships/slide" Target="slides/slide311.xml"/><Relationship Id="rId757" Type="http://schemas.openxmlformats.org/officeDocument/2006/relationships/slide" Target="slides/slide756.xml"/><Relationship Id="rId93" Type="http://schemas.openxmlformats.org/officeDocument/2006/relationships/slide" Target="slides/slide92.xml"/><Relationship Id="rId189" Type="http://schemas.openxmlformats.org/officeDocument/2006/relationships/slide" Target="slides/slide188.xml"/><Relationship Id="rId396" Type="http://schemas.openxmlformats.org/officeDocument/2006/relationships/slide" Target="slides/slide395.xml"/><Relationship Id="rId617" Type="http://schemas.openxmlformats.org/officeDocument/2006/relationships/slide" Target="slides/slide616.xml"/><Relationship Id="rId824" Type="http://schemas.openxmlformats.org/officeDocument/2006/relationships/slide" Target="slides/slide823.xml"/><Relationship Id="rId256" Type="http://schemas.openxmlformats.org/officeDocument/2006/relationships/slide" Target="slides/slide255.xml"/><Relationship Id="rId463" Type="http://schemas.openxmlformats.org/officeDocument/2006/relationships/slide" Target="slides/slide462.xml"/><Relationship Id="rId670" Type="http://schemas.openxmlformats.org/officeDocument/2006/relationships/slide" Target="slides/slide669.xml"/><Relationship Id="rId116" Type="http://schemas.openxmlformats.org/officeDocument/2006/relationships/slide" Target="slides/slide115.xml"/><Relationship Id="rId323" Type="http://schemas.openxmlformats.org/officeDocument/2006/relationships/slide" Target="slides/slide322.xml"/><Relationship Id="rId530" Type="http://schemas.openxmlformats.org/officeDocument/2006/relationships/slide" Target="slides/slide529.xml"/><Relationship Id="rId768" Type="http://schemas.openxmlformats.org/officeDocument/2006/relationships/slide" Target="slides/slide767.xml"/><Relationship Id="rId20" Type="http://schemas.openxmlformats.org/officeDocument/2006/relationships/slide" Target="slides/slide19.xml"/><Relationship Id="rId628" Type="http://schemas.openxmlformats.org/officeDocument/2006/relationships/slide" Target="slides/slide627.xml"/><Relationship Id="rId835" Type="http://schemas.openxmlformats.org/officeDocument/2006/relationships/slide" Target="slides/slide834.xml"/><Relationship Id="rId267" Type="http://schemas.openxmlformats.org/officeDocument/2006/relationships/slide" Target="slides/slide266.xml"/><Relationship Id="rId474" Type="http://schemas.openxmlformats.org/officeDocument/2006/relationships/slide" Target="slides/slide473.xml"/><Relationship Id="rId127" Type="http://schemas.openxmlformats.org/officeDocument/2006/relationships/slide" Target="slides/slide126.xml"/><Relationship Id="rId681" Type="http://schemas.openxmlformats.org/officeDocument/2006/relationships/slide" Target="slides/slide680.xml"/><Relationship Id="rId779" Type="http://schemas.openxmlformats.org/officeDocument/2006/relationships/slide" Target="slides/slide778.xml"/><Relationship Id="rId902" Type="http://schemas.openxmlformats.org/officeDocument/2006/relationships/slide" Target="slides/slide901.xml"/><Relationship Id="rId31" Type="http://schemas.openxmlformats.org/officeDocument/2006/relationships/slide" Target="slides/slide30.xml"/><Relationship Id="rId334" Type="http://schemas.openxmlformats.org/officeDocument/2006/relationships/slide" Target="slides/slide333.xml"/><Relationship Id="rId541" Type="http://schemas.openxmlformats.org/officeDocument/2006/relationships/slide" Target="slides/slide540.xml"/><Relationship Id="rId639" Type="http://schemas.openxmlformats.org/officeDocument/2006/relationships/slide" Target="slides/slide638.xml"/><Relationship Id="rId180" Type="http://schemas.openxmlformats.org/officeDocument/2006/relationships/slide" Target="slides/slide179.xml"/><Relationship Id="rId278" Type="http://schemas.openxmlformats.org/officeDocument/2006/relationships/slide" Target="slides/slide277.xml"/><Relationship Id="rId401" Type="http://schemas.openxmlformats.org/officeDocument/2006/relationships/slide" Target="slides/slide400.xml"/><Relationship Id="rId846" Type="http://schemas.openxmlformats.org/officeDocument/2006/relationships/slide" Target="slides/slide845.xml"/><Relationship Id="rId485" Type="http://schemas.openxmlformats.org/officeDocument/2006/relationships/slide" Target="slides/slide484.xml"/><Relationship Id="rId692" Type="http://schemas.openxmlformats.org/officeDocument/2006/relationships/slide" Target="slides/slide691.xml"/><Relationship Id="rId706" Type="http://schemas.openxmlformats.org/officeDocument/2006/relationships/slide" Target="slides/slide705.xml"/><Relationship Id="rId913" Type="http://schemas.openxmlformats.org/officeDocument/2006/relationships/presProps" Target="presProps.xml"/><Relationship Id="rId42" Type="http://schemas.openxmlformats.org/officeDocument/2006/relationships/slide" Target="slides/slide41.xml"/><Relationship Id="rId138" Type="http://schemas.openxmlformats.org/officeDocument/2006/relationships/slide" Target="slides/slide137.xml"/><Relationship Id="rId345" Type="http://schemas.openxmlformats.org/officeDocument/2006/relationships/slide" Target="slides/slide344.xml"/><Relationship Id="rId552" Type="http://schemas.openxmlformats.org/officeDocument/2006/relationships/slide" Target="slides/slide551.xml"/><Relationship Id="rId191" Type="http://schemas.openxmlformats.org/officeDocument/2006/relationships/slide" Target="slides/slide190.xml"/><Relationship Id="rId205" Type="http://schemas.openxmlformats.org/officeDocument/2006/relationships/slide" Target="slides/slide204.xml"/><Relationship Id="rId412" Type="http://schemas.openxmlformats.org/officeDocument/2006/relationships/slide" Target="slides/slide411.xml"/><Relationship Id="rId857" Type="http://schemas.openxmlformats.org/officeDocument/2006/relationships/slide" Target="slides/slide856.xml"/><Relationship Id="rId289" Type="http://schemas.openxmlformats.org/officeDocument/2006/relationships/slide" Target="slides/slide288.xml"/><Relationship Id="rId496" Type="http://schemas.openxmlformats.org/officeDocument/2006/relationships/slide" Target="slides/slide495.xml"/><Relationship Id="rId717" Type="http://schemas.openxmlformats.org/officeDocument/2006/relationships/slide" Target="slides/slide716.xml"/><Relationship Id="rId53" Type="http://schemas.openxmlformats.org/officeDocument/2006/relationships/slide" Target="slides/slide52.xml"/><Relationship Id="rId149" Type="http://schemas.openxmlformats.org/officeDocument/2006/relationships/slide" Target="slides/slide148.xml"/><Relationship Id="rId356" Type="http://schemas.openxmlformats.org/officeDocument/2006/relationships/slide" Target="slides/slide355.xml"/><Relationship Id="rId563" Type="http://schemas.openxmlformats.org/officeDocument/2006/relationships/slide" Target="slides/slide562.xml"/><Relationship Id="rId770" Type="http://schemas.openxmlformats.org/officeDocument/2006/relationships/slide" Target="slides/slide769.xml"/><Relationship Id="rId216" Type="http://schemas.openxmlformats.org/officeDocument/2006/relationships/slide" Target="slides/slide215.xml"/><Relationship Id="rId423" Type="http://schemas.openxmlformats.org/officeDocument/2006/relationships/slide" Target="slides/slide422.xml"/><Relationship Id="rId868" Type="http://schemas.openxmlformats.org/officeDocument/2006/relationships/slide" Target="slides/slide867.xml"/><Relationship Id="rId630" Type="http://schemas.openxmlformats.org/officeDocument/2006/relationships/slide" Target="slides/slide629.xml"/><Relationship Id="rId728" Type="http://schemas.openxmlformats.org/officeDocument/2006/relationships/slide" Target="slides/slide727.xml"/><Relationship Id="rId64" Type="http://schemas.openxmlformats.org/officeDocument/2006/relationships/slide" Target="slides/slide63.xml"/><Relationship Id="rId367" Type="http://schemas.openxmlformats.org/officeDocument/2006/relationships/slide" Target="slides/slide366.xml"/><Relationship Id="rId574" Type="http://schemas.openxmlformats.org/officeDocument/2006/relationships/slide" Target="slides/slide573.xml"/><Relationship Id="rId227" Type="http://schemas.openxmlformats.org/officeDocument/2006/relationships/slide" Target="slides/slide226.xml"/><Relationship Id="rId781" Type="http://schemas.openxmlformats.org/officeDocument/2006/relationships/slide" Target="slides/slide780.xml"/><Relationship Id="rId879" Type="http://schemas.openxmlformats.org/officeDocument/2006/relationships/slide" Target="slides/slide878.xml"/><Relationship Id="rId434" Type="http://schemas.openxmlformats.org/officeDocument/2006/relationships/slide" Target="slides/slide433.xml"/><Relationship Id="rId641" Type="http://schemas.openxmlformats.org/officeDocument/2006/relationships/slide" Target="slides/slide640.xml"/><Relationship Id="rId739" Type="http://schemas.openxmlformats.org/officeDocument/2006/relationships/slide" Target="slides/slide738.xml"/><Relationship Id="rId280" Type="http://schemas.openxmlformats.org/officeDocument/2006/relationships/slide" Target="slides/slide279.xml"/><Relationship Id="rId501" Type="http://schemas.openxmlformats.org/officeDocument/2006/relationships/slide" Target="slides/slide500.xml"/><Relationship Id="rId75" Type="http://schemas.openxmlformats.org/officeDocument/2006/relationships/slide" Target="slides/slide74.xml"/><Relationship Id="rId140" Type="http://schemas.openxmlformats.org/officeDocument/2006/relationships/slide" Target="slides/slide139.xml"/><Relationship Id="rId378" Type="http://schemas.openxmlformats.org/officeDocument/2006/relationships/slide" Target="slides/slide377.xml"/><Relationship Id="rId585" Type="http://schemas.openxmlformats.org/officeDocument/2006/relationships/slide" Target="slides/slide584.xml"/><Relationship Id="rId792" Type="http://schemas.openxmlformats.org/officeDocument/2006/relationships/slide" Target="slides/slide791.xml"/><Relationship Id="rId806" Type="http://schemas.openxmlformats.org/officeDocument/2006/relationships/slide" Target="slides/slide805.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652" Type="http://schemas.openxmlformats.org/officeDocument/2006/relationships/slide" Target="slides/slide651.xml"/><Relationship Id="rId291" Type="http://schemas.openxmlformats.org/officeDocument/2006/relationships/slide" Target="slides/slide290.xml"/><Relationship Id="rId305" Type="http://schemas.openxmlformats.org/officeDocument/2006/relationships/slide" Target="slides/slide304.xml"/><Relationship Id="rId512" Type="http://schemas.openxmlformats.org/officeDocument/2006/relationships/slide" Target="slides/slide511.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596" Type="http://schemas.openxmlformats.org/officeDocument/2006/relationships/slide" Target="slides/slide595.xml"/><Relationship Id="rId817" Type="http://schemas.openxmlformats.org/officeDocument/2006/relationships/slide" Target="slides/slide816.xml"/><Relationship Id="rId249" Type="http://schemas.openxmlformats.org/officeDocument/2006/relationships/slide" Target="slides/slide248.xml"/><Relationship Id="rId456" Type="http://schemas.openxmlformats.org/officeDocument/2006/relationships/slide" Target="slides/slide455.xml"/><Relationship Id="rId663" Type="http://schemas.openxmlformats.org/officeDocument/2006/relationships/slide" Target="slides/slide662.xml"/><Relationship Id="rId870" Type="http://schemas.openxmlformats.org/officeDocument/2006/relationships/slide" Target="slides/slide869.xml"/><Relationship Id="rId13" Type="http://schemas.openxmlformats.org/officeDocument/2006/relationships/slide" Target="slides/slide12.xml"/><Relationship Id="rId109" Type="http://schemas.openxmlformats.org/officeDocument/2006/relationships/slide" Target="slides/slide108.xml"/><Relationship Id="rId316" Type="http://schemas.openxmlformats.org/officeDocument/2006/relationships/slide" Target="slides/slide315.xml"/><Relationship Id="rId523" Type="http://schemas.openxmlformats.org/officeDocument/2006/relationships/slide" Target="slides/slide522.xml"/><Relationship Id="rId97" Type="http://schemas.openxmlformats.org/officeDocument/2006/relationships/slide" Target="slides/slide96.xml"/><Relationship Id="rId730" Type="http://schemas.openxmlformats.org/officeDocument/2006/relationships/slide" Target="slides/slide729.xml"/><Relationship Id="rId828" Type="http://schemas.openxmlformats.org/officeDocument/2006/relationships/slide" Target="slides/slide827.xml"/><Relationship Id="rId162" Type="http://schemas.openxmlformats.org/officeDocument/2006/relationships/slide" Target="slides/slide161.xml"/><Relationship Id="rId467" Type="http://schemas.openxmlformats.org/officeDocument/2006/relationships/slide" Target="slides/slide466.xml"/><Relationship Id="rId674" Type="http://schemas.openxmlformats.org/officeDocument/2006/relationships/slide" Target="slides/slide673.xml"/><Relationship Id="rId881" Type="http://schemas.openxmlformats.org/officeDocument/2006/relationships/slide" Target="slides/slide880.xml"/><Relationship Id="rId24" Type="http://schemas.openxmlformats.org/officeDocument/2006/relationships/slide" Target="slides/slide23.xml"/><Relationship Id="rId327" Type="http://schemas.openxmlformats.org/officeDocument/2006/relationships/slide" Target="slides/slide326.xml"/><Relationship Id="rId534" Type="http://schemas.openxmlformats.org/officeDocument/2006/relationships/slide" Target="slides/slide533.xml"/><Relationship Id="rId741" Type="http://schemas.openxmlformats.org/officeDocument/2006/relationships/slide" Target="slides/slide740.xml"/><Relationship Id="rId839" Type="http://schemas.openxmlformats.org/officeDocument/2006/relationships/slide" Target="slides/slide838.xml"/><Relationship Id="rId173" Type="http://schemas.openxmlformats.org/officeDocument/2006/relationships/slide" Target="slides/slide172.xml"/><Relationship Id="rId380" Type="http://schemas.openxmlformats.org/officeDocument/2006/relationships/slide" Target="slides/slide379.xml"/><Relationship Id="rId601" Type="http://schemas.openxmlformats.org/officeDocument/2006/relationships/slide" Target="slides/slide600.xml"/><Relationship Id="rId240" Type="http://schemas.openxmlformats.org/officeDocument/2006/relationships/slide" Target="slides/slide239.xml"/><Relationship Id="rId478" Type="http://schemas.openxmlformats.org/officeDocument/2006/relationships/slide" Target="slides/slide477.xml"/><Relationship Id="rId685" Type="http://schemas.openxmlformats.org/officeDocument/2006/relationships/slide" Target="slides/slide684.xml"/><Relationship Id="rId892" Type="http://schemas.openxmlformats.org/officeDocument/2006/relationships/slide" Target="slides/slide891.xml"/><Relationship Id="rId906" Type="http://schemas.openxmlformats.org/officeDocument/2006/relationships/slide" Target="slides/slide905.xml"/><Relationship Id="rId35" Type="http://schemas.openxmlformats.org/officeDocument/2006/relationships/slide" Target="slides/slide34.xml"/><Relationship Id="rId100" Type="http://schemas.openxmlformats.org/officeDocument/2006/relationships/slide" Target="slides/slide99.xml"/><Relationship Id="rId338" Type="http://schemas.openxmlformats.org/officeDocument/2006/relationships/slide" Target="slides/slide337.xml"/><Relationship Id="rId545" Type="http://schemas.openxmlformats.org/officeDocument/2006/relationships/slide" Target="slides/slide544.xml"/><Relationship Id="rId752" Type="http://schemas.openxmlformats.org/officeDocument/2006/relationships/slide" Target="slides/slide75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612" Type="http://schemas.openxmlformats.org/officeDocument/2006/relationships/slide" Target="slides/slide611.xml"/><Relationship Id="rId251" Type="http://schemas.openxmlformats.org/officeDocument/2006/relationships/slide" Target="slides/slide250.xml"/><Relationship Id="rId489" Type="http://schemas.openxmlformats.org/officeDocument/2006/relationships/slide" Target="slides/slide488.xml"/><Relationship Id="rId696" Type="http://schemas.openxmlformats.org/officeDocument/2006/relationships/slide" Target="slides/slide695.xml"/><Relationship Id="rId46" Type="http://schemas.openxmlformats.org/officeDocument/2006/relationships/slide" Target="slides/slide45.xml"/><Relationship Id="rId349" Type="http://schemas.openxmlformats.org/officeDocument/2006/relationships/slide" Target="slides/slide348.xml"/><Relationship Id="rId556" Type="http://schemas.openxmlformats.org/officeDocument/2006/relationships/slide" Target="slides/slide555.xml"/><Relationship Id="rId763" Type="http://schemas.openxmlformats.org/officeDocument/2006/relationships/slide" Target="slides/slide762.xml"/><Relationship Id="rId111" Type="http://schemas.openxmlformats.org/officeDocument/2006/relationships/slide" Target="slides/slide110.xml"/><Relationship Id="rId195" Type="http://schemas.openxmlformats.org/officeDocument/2006/relationships/slide" Target="slides/slide194.xml"/><Relationship Id="rId209" Type="http://schemas.openxmlformats.org/officeDocument/2006/relationships/slide" Target="slides/slide208.xml"/><Relationship Id="rId416" Type="http://schemas.openxmlformats.org/officeDocument/2006/relationships/slide" Target="slides/slide415.xml"/><Relationship Id="rId623" Type="http://schemas.openxmlformats.org/officeDocument/2006/relationships/slide" Target="slides/slide622.xml"/><Relationship Id="rId830" Type="http://schemas.openxmlformats.org/officeDocument/2006/relationships/slide" Target="slides/slide829.xml"/><Relationship Id="rId57" Type="http://schemas.openxmlformats.org/officeDocument/2006/relationships/slide" Target="slides/slide56.xml"/><Relationship Id="rId262" Type="http://schemas.openxmlformats.org/officeDocument/2006/relationships/slide" Target="slides/slide261.xml"/><Relationship Id="rId567" Type="http://schemas.openxmlformats.org/officeDocument/2006/relationships/slide" Target="slides/slide566.xml"/><Relationship Id="rId122" Type="http://schemas.openxmlformats.org/officeDocument/2006/relationships/slide" Target="slides/slide121.xml"/><Relationship Id="rId774" Type="http://schemas.openxmlformats.org/officeDocument/2006/relationships/slide" Target="slides/slide773.xml"/><Relationship Id="rId427" Type="http://schemas.openxmlformats.org/officeDocument/2006/relationships/slide" Target="slides/slide426.xml"/><Relationship Id="rId634" Type="http://schemas.openxmlformats.org/officeDocument/2006/relationships/slide" Target="slides/slide633.xml"/><Relationship Id="rId841" Type="http://schemas.openxmlformats.org/officeDocument/2006/relationships/slide" Target="slides/slide840.xml"/><Relationship Id="rId273" Type="http://schemas.openxmlformats.org/officeDocument/2006/relationships/slide" Target="slides/slide272.xml"/><Relationship Id="rId480" Type="http://schemas.openxmlformats.org/officeDocument/2006/relationships/slide" Target="slides/slide479.xml"/><Relationship Id="rId701" Type="http://schemas.openxmlformats.org/officeDocument/2006/relationships/slide" Target="slides/slide700.xml"/><Relationship Id="rId68" Type="http://schemas.openxmlformats.org/officeDocument/2006/relationships/slide" Target="slides/slide67.xml"/><Relationship Id="rId133" Type="http://schemas.openxmlformats.org/officeDocument/2006/relationships/slide" Target="slides/slide132.xml"/><Relationship Id="rId340" Type="http://schemas.openxmlformats.org/officeDocument/2006/relationships/slide" Target="slides/slide339.xml"/><Relationship Id="rId578" Type="http://schemas.openxmlformats.org/officeDocument/2006/relationships/slide" Target="slides/slide577.xml"/><Relationship Id="rId785" Type="http://schemas.openxmlformats.org/officeDocument/2006/relationships/slide" Target="slides/slide784.xml"/><Relationship Id="rId200" Type="http://schemas.openxmlformats.org/officeDocument/2006/relationships/slide" Target="slides/slide199.xml"/><Relationship Id="rId438" Type="http://schemas.openxmlformats.org/officeDocument/2006/relationships/slide" Target="slides/slide437.xml"/><Relationship Id="rId645" Type="http://schemas.openxmlformats.org/officeDocument/2006/relationships/slide" Target="slides/slide644.xml"/><Relationship Id="rId852" Type="http://schemas.openxmlformats.org/officeDocument/2006/relationships/slide" Target="slides/slide851.xml"/><Relationship Id="rId284" Type="http://schemas.openxmlformats.org/officeDocument/2006/relationships/slide" Target="slides/slide283.xml"/><Relationship Id="rId491" Type="http://schemas.openxmlformats.org/officeDocument/2006/relationships/slide" Target="slides/slide490.xml"/><Relationship Id="rId505" Type="http://schemas.openxmlformats.org/officeDocument/2006/relationships/slide" Target="slides/slide504.xml"/><Relationship Id="rId712" Type="http://schemas.openxmlformats.org/officeDocument/2006/relationships/slide" Target="slides/slide711.xml"/><Relationship Id="rId79" Type="http://schemas.openxmlformats.org/officeDocument/2006/relationships/slide" Target="slides/slide78.xml"/><Relationship Id="rId144" Type="http://schemas.openxmlformats.org/officeDocument/2006/relationships/slide" Target="slides/slide143.xml"/><Relationship Id="rId589" Type="http://schemas.openxmlformats.org/officeDocument/2006/relationships/slide" Target="slides/slide588.xml"/><Relationship Id="rId796" Type="http://schemas.openxmlformats.org/officeDocument/2006/relationships/slide" Target="slides/slide795.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449" Type="http://schemas.openxmlformats.org/officeDocument/2006/relationships/slide" Target="slides/slide448.xml"/><Relationship Id="rId614" Type="http://schemas.openxmlformats.org/officeDocument/2006/relationships/slide" Target="slides/slide613.xml"/><Relationship Id="rId656" Type="http://schemas.openxmlformats.org/officeDocument/2006/relationships/slide" Target="slides/slide655.xml"/><Relationship Id="rId821" Type="http://schemas.openxmlformats.org/officeDocument/2006/relationships/slide" Target="slides/slide820.xml"/><Relationship Id="rId863" Type="http://schemas.openxmlformats.org/officeDocument/2006/relationships/slide" Target="slides/slide862.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516" Type="http://schemas.openxmlformats.org/officeDocument/2006/relationships/slide" Target="slides/slide515.xml"/><Relationship Id="rId698" Type="http://schemas.openxmlformats.org/officeDocument/2006/relationships/slide" Target="slides/slide697.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558" Type="http://schemas.openxmlformats.org/officeDocument/2006/relationships/slide" Target="slides/slide557.xml"/><Relationship Id="rId723" Type="http://schemas.openxmlformats.org/officeDocument/2006/relationships/slide" Target="slides/slide722.xml"/><Relationship Id="rId765" Type="http://schemas.openxmlformats.org/officeDocument/2006/relationships/slide" Target="slides/slide764.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625" Type="http://schemas.openxmlformats.org/officeDocument/2006/relationships/slide" Target="slides/slide624.xml"/><Relationship Id="rId832" Type="http://schemas.openxmlformats.org/officeDocument/2006/relationships/slide" Target="slides/slide831.xml"/><Relationship Id="rId222" Type="http://schemas.openxmlformats.org/officeDocument/2006/relationships/slide" Target="slides/slide221.xml"/><Relationship Id="rId264" Type="http://schemas.openxmlformats.org/officeDocument/2006/relationships/slide" Target="slides/slide263.xml"/><Relationship Id="rId471" Type="http://schemas.openxmlformats.org/officeDocument/2006/relationships/slide" Target="slides/slide470.xml"/><Relationship Id="rId667" Type="http://schemas.openxmlformats.org/officeDocument/2006/relationships/slide" Target="slides/slide666.xml"/><Relationship Id="rId874" Type="http://schemas.openxmlformats.org/officeDocument/2006/relationships/slide" Target="slides/slide873.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527" Type="http://schemas.openxmlformats.org/officeDocument/2006/relationships/slide" Target="slides/slide526.xml"/><Relationship Id="rId569" Type="http://schemas.openxmlformats.org/officeDocument/2006/relationships/slide" Target="slides/slide568.xml"/><Relationship Id="rId734" Type="http://schemas.openxmlformats.org/officeDocument/2006/relationships/slide" Target="slides/slide733.xml"/><Relationship Id="rId776" Type="http://schemas.openxmlformats.org/officeDocument/2006/relationships/slide" Target="slides/slide775.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580" Type="http://schemas.openxmlformats.org/officeDocument/2006/relationships/slide" Target="slides/slide579.xml"/><Relationship Id="rId636" Type="http://schemas.openxmlformats.org/officeDocument/2006/relationships/slide" Target="slides/slide635.xml"/><Relationship Id="rId801" Type="http://schemas.openxmlformats.org/officeDocument/2006/relationships/slide" Target="slides/slide800.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slide" Target="slides/slide439.xml"/><Relationship Id="rId678" Type="http://schemas.openxmlformats.org/officeDocument/2006/relationships/slide" Target="slides/slide677.xml"/><Relationship Id="rId843" Type="http://schemas.openxmlformats.org/officeDocument/2006/relationships/slide" Target="slides/slide842.xml"/><Relationship Id="rId885" Type="http://schemas.openxmlformats.org/officeDocument/2006/relationships/slide" Target="slides/slide884.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482" Type="http://schemas.openxmlformats.org/officeDocument/2006/relationships/slide" Target="slides/slide481.xml"/><Relationship Id="rId538" Type="http://schemas.openxmlformats.org/officeDocument/2006/relationships/slide" Target="slides/slide537.xml"/><Relationship Id="rId703" Type="http://schemas.openxmlformats.org/officeDocument/2006/relationships/slide" Target="slides/slide702.xml"/><Relationship Id="rId745" Type="http://schemas.openxmlformats.org/officeDocument/2006/relationships/slide" Target="slides/slide744.xml"/><Relationship Id="rId910" Type="http://schemas.openxmlformats.org/officeDocument/2006/relationships/slide" Target="slides/slide909.xml"/><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 Id="rId591" Type="http://schemas.openxmlformats.org/officeDocument/2006/relationships/slide" Target="slides/slide590.xml"/><Relationship Id="rId605" Type="http://schemas.openxmlformats.org/officeDocument/2006/relationships/slide" Target="slides/slide604.xml"/><Relationship Id="rId787" Type="http://schemas.openxmlformats.org/officeDocument/2006/relationships/slide" Target="slides/slide786.xml"/><Relationship Id="rId812" Type="http://schemas.openxmlformats.org/officeDocument/2006/relationships/slide" Target="slides/slide811.xml"/><Relationship Id="rId202" Type="http://schemas.openxmlformats.org/officeDocument/2006/relationships/slide" Target="slides/slide201.xml"/><Relationship Id="rId244" Type="http://schemas.openxmlformats.org/officeDocument/2006/relationships/slide" Target="slides/slide243.xml"/><Relationship Id="rId647" Type="http://schemas.openxmlformats.org/officeDocument/2006/relationships/slide" Target="slides/slide646.xml"/><Relationship Id="rId689" Type="http://schemas.openxmlformats.org/officeDocument/2006/relationships/slide" Target="slides/slide688.xml"/><Relationship Id="rId854" Type="http://schemas.openxmlformats.org/officeDocument/2006/relationships/slide" Target="slides/slide853.xml"/><Relationship Id="rId896" Type="http://schemas.openxmlformats.org/officeDocument/2006/relationships/slide" Target="slides/slide895.xml"/><Relationship Id="rId39" Type="http://schemas.openxmlformats.org/officeDocument/2006/relationships/slide" Target="slides/slide38.xml"/><Relationship Id="rId286" Type="http://schemas.openxmlformats.org/officeDocument/2006/relationships/slide" Target="slides/slide285.xml"/><Relationship Id="rId451" Type="http://schemas.openxmlformats.org/officeDocument/2006/relationships/slide" Target="slides/slide450.xml"/><Relationship Id="rId493" Type="http://schemas.openxmlformats.org/officeDocument/2006/relationships/slide" Target="slides/slide492.xml"/><Relationship Id="rId507" Type="http://schemas.openxmlformats.org/officeDocument/2006/relationships/slide" Target="slides/slide506.xml"/><Relationship Id="rId549" Type="http://schemas.openxmlformats.org/officeDocument/2006/relationships/slide" Target="slides/slide548.xml"/><Relationship Id="rId714" Type="http://schemas.openxmlformats.org/officeDocument/2006/relationships/slide" Target="slides/slide713.xml"/><Relationship Id="rId756" Type="http://schemas.openxmlformats.org/officeDocument/2006/relationships/slide" Target="slides/slide755.xml"/><Relationship Id="rId50" Type="http://schemas.openxmlformats.org/officeDocument/2006/relationships/slide" Target="slides/slide49.xml"/><Relationship Id="rId104" Type="http://schemas.openxmlformats.org/officeDocument/2006/relationships/slide" Target="slides/slide103.xml"/><Relationship Id="rId146" Type="http://schemas.openxmlformats.org/officeDocument/2006/relationships/slide" Target="slides/slide145.xml"/><Relationship Id="rId188" Type="http://schemas.openxmlformats.org/officeDocument/2006/relationships/slide" Target="slides/slide187.xml"/><Relationship Id="rId311" Type="http://schemas.openxmlformats.org/officeDocument/2006/relationships/slide" Target="slides/slide310.xml"/><Relationship Id="rId353" Type="http://schemas.openxmlformats.org/officeDocument/2006/relationships/slide" Target="slides/slide352.xml"/><Relationship Id="rId395" Type="http://schemas.openxmlformats.org/officeDocument/2006/relationships/slide" Target="slides/slide394.xml"/><Relationship Id="rId409" Type="http://schemas.openxmlformats.org/officeDocument/2006/relationships/slide" Target="slides/slide408.xml"/><Relationship Id="rId560" Type="http://schemas.openxmlformats.org/officeDocument/2006/relationships/slide" Target="slides/slide559.xml"/><Relationship Id="rId798" Type="http://schemas.openxmlformats.org/officeDocument/2006/relationships/slide" Target="slides/slide797.xml"/><Relationship Id="rId92" Type="http://schemas.openxmlformats.org/officeDocument/2006/relationships/slide" Target="slides/slide91.xml"/><Relationship Id="rId213" Type="http://schemas.openxmlformats.org/officeDocument/2006/relationships/slide" Target="slides/slide212.xml"/><Relationship Id="rId420" Type="http://schemas.openxmlformats.org/officeDocument/2006/relationships/slide" Target="slides/slide419.xml"/><Relationship Id="rId616" Type="http://schemas.openxmlformats.org/officeDocument/2006/relationships/slide" Target="slides/slide615.xml"/><Relationship Id="rId658" Type="http://schemas.openxmlformats.org/officeDocument/2006/relationships/slide" Target="slides/slide657.xml"/><Relationship Id="rId823" Type="http://schemas.openxmlformats.org/officeDocument/2006/relationships/slide" Target="slides/slide822.xml"/><Relationship Id="rId865" Type="http://schemas.openxmlformats.org/officeDocument/2006/relationships/slide" Target="slides/slide864.xml"/><Relationship Id="rId255" Type="http://schemas.openxmlformats.org/officeDocument/2006/relationships/slide" Target="slides/slide254.xml"/><Relationship Id="rId297" Type="http://schemas.openxmlformats.org/officeDocument/2006/relationships/slide" Target="slides/slide296.xml"/><Relationship Id="rId462" Type="http://schemas.openxmlformats.org/officeDocument/2006/relationships/slide" Target="slides/slide461.xml"/><Relationship Id="rId518" Type="http://schemas.openxmlformats.org/officeDocument/2006/relationships/slide" Target="slides/slide517.xml"/><Relationship Id="rId725" Type="http://schemas.openxmlformats.org/officeDocument/2006/relationships/slide" Target="slides/slide724.xml"/><Relationship Id="rId115" Type="http://schemas.openxmlformats.org/officeDocument/2006/relationships/slide" Target="slides/slide114.xml"/><Relationship Id="rId157" Type="http://schemas.openxmlformats.org/officeDocument/2006/relationships/slide" Target="slides/slide156.xml"/><Relationship Id="rId322" Type="http://schemas.openxmlformats.org/officeDocument/2006/relationships/slide" Target="slides/slide321.xml"/><Relationship Id="rId364" Type="http://schemas.openxmlformats.org/officeDocument/2006/relationships/slide" Target="slides/slide363.xml"/><Relationship Id="rId767" Type="http://schemas.openxmlformats.org/officeDocument/2006/relationships/slide" Target="slides/slide766.xml"/><Relationship Id="rId61" Type="http://schemas.openxmlformats.org/officeDocument/2006/relationships/slide" Target="slides/slide60.xml"/><Relationship Id="rId199" Type="http://schemas.openxmlformats.org/officeDocument/2006/relationships/slide" Target="slides/slide198.xml"/><Relationship Id="rId571" Type="http://schemas.openxmlformats.org/officeDocument/2006/relationships/slide" Target="slides/slide570.xml"/><Relationship Id="rId627" Type="http://schemas.openxmlformats.org/officeDocument/2006/relationships/slide" Target="slides/slide626.xml"/><Relationship Id="rId669" Type="http://schemas.openxmlformats.org/officeDocument/2006/relationships/slide" Target="slides/slide668.xml"/><Relationship Id="rId834" Type="http://schemas.openxmlformats.org/officeDocument/2006/relationships/slide" Target="slides/slide833.xml"/><Relationship Id="rId876" Type="http://schemas.openxmlformats.org/officeDocument/2006/relationships/slide" Target="slides/slide875.xml"/><Relationship Id="rId19" Type="http://schemas.openxmlformats.org/officeDocument/2006/relationships/slide" Target="slides/slide18.xml"/><Relationship Id="rId224" Type="http://schemas.openxmlformats.org/officeDocument/2006/relationships/slide" Target="slides/slide223.xml"/><Relationship Id="rId266" Type="http://schemas.openxmlformats.org/officeDocument/2006/relationships/slide" Target="slides/slide265.xml"/><Relationship Id="rId431" Type="http://schemas.openxmlformats.org/officeDocument/2006/relationships/slide" Target="slides/slide430.xml"/><Relationship Id="rId473" Type="http://schemas.openxmlformats.org/officeDocument/2006/relationships/slide" Target="slides/slide472.xml"/><Relationship Id="rId529" Type="http://schemas.openxmlformats.org/officeDocument/2006/relationships/slide" Target="slides/slide528.xml"/><Relationship Id="rId680" Type="http://schemas.openxmlformats.org/officeDocument/2006/relationships/slide" Target="slides/slide679.xml"/><Relationship Id="rId736" Type="http://schemas.openxmlformats.org/officeDocument/2006/relationships/slide" Target="slides/slide735.xml"/><Relationship Id="rId901" Type="http://schemas.openxmlformats.org/officeDocument/2006/relationships/slide" Target="slides/slide900.xml"/><Relationship Id="rId30" Type="http://schemas.openxmlformats.org/officeDocument/2006/relationships/slide" Target="slides/slide29.xml"/><Relationship Id="rId126" Type="http://schemas.openxmlformats.org/officeDocument/2006/relationships/slide" Target="slides/slide125.xml"/><Relationship Id="rId168" Type="http://schemas.openxmlformats.org/officeDocument/2006/relationships/slide" Target="slides/slide167.xml"/><Relationship Id="rId333" Type="http://schemas.openxmlformats.org/officeDocument/2006/relationships/slide" Target="slides/slide332.xml"/><Relationship Id="rId540" Type="http://schemas.openxmlformats.org/officeDocument/2006/relationships/slide" Target="slides/slide539.xml"/><Relationship Id="rId778" Type="http://schemas.openxmlformats.org/officeDocument/2006/relationships/slide" Target="slides/slide777.xml"/><Relationship Id="rId72" Type="http://schemas.openxmlformats.org/officeDocument/2006/relationships/slide" Target="slides/slide71.xml"/><Relationship Id="rId375" Type="http://schemas.openxmlformats.org/officeDocument/2006/relationships/slide" Target="slides/slide374.xml"/><Relationship Id="rId582" Type="http://schemas.openxmlformats.org/officeDocument/2006/relationships/slide" Target="slides/slide581.xml"/><Relationship Id="rId638" Type="http://schemas.openxmlformats.org/officeDocument/2006/relationships/slide" Target="slides/slide637.xml"/><Relationship Id="rId803" Type="http://schemas.openxmlformats.org/officeDocument/2006/relationships/slide" Target="slides/slide802.xml"/><Relationship Id="rId845" Type="http://schemas.openxmlformats.org/officeDocument/2006/relationships/slide" Target="slides/slide844.xml"/><Relationship Id="rId3" Type="http://schemas.openxmlformats.org/officeDocument/2006/relationships/slide" Target="slides/slide2.xml"/><Relationship Id="rId235" Type="http://schemas.openxmlformats.org/officeDocument/2006/relationships/slide" Target="slides/slide234.xml"/><Relationship Id="rId277" Type="http://schemas.openxmlformats.org/officeDocument/2006/relationships/slide" Target="slides/slide276.xml"/><Relationship Id="rId400" Type="http://schemas.openxmlformats.org/officeDocument/2006/relationships/slide" Target="slides/slide399.xml"/><Relationship Id="rId442" Type="http://schemas.openxmlformats.org/officeDocument/2006/relationships/slide" Target="slides/slide441.xml"/><Relationship Id="rId484" Type="http://schemas.openxmlformats.org/officeDocument/2006/relationships/slide" Target="slides/slide483.xml"/><Relationship Id="rId705" Type="http://schemas.openxmlformats.org/officeDocument/2006/relationships/slide" Target="slides/slide704.xml"/><Relationship Id="rId887" Type="http://schemas.openxmlformats.org/officeDocument/2006/relationships/slide" Target="slides/slide886.xml"/><Relationship Id="rId137" Type="http://schemas.openxmlformats.org/officeDocument/2006/relationships/slide" Target="slides/slide136.xml"/><Relationship Id="rId302" Type="http://schemas.openxmlformats.org/officeDocument/2006/relationships/slide" Target="slides/slide301.xml"/><Relationship Id="rId344" Type="http://schemas.openxmlformats.org/officeDocument/2006/relationships/slide" Target="slides/slide343.xml"/><Relationship Id="rId691" Type="http://schemas.openxmlformats.org/officeDocument/2006/relationships/slide" Target="slides/slide690.xml"/><Relationship Id="rId747" Type="http://schemas.openxmlformats.org/officeDocument/2006/relationships/slide" Target="slides/slide746.xml"/><Relationship Id="rId789" Type="http://schemas.openxmlformats.org/officeDocument/2006/relationships/slide" Target="slides/slide788.xml"/><Relationship Id="rId912" Type="http://schemas.openxmlformats.org/officeDocument/2006/relationships/commentAuthors" Target="commentAuthors.xml"/><Relationship Id="rId41" Type="http://schemas.openxmlformats.org/officeDocument/2006/relationships/slide" Target="slides/slide40.xml"/><Relationship Id="rId83" Type="http://schemas.openxmlformats.org/officeDocument/2006/relationships/slide" Target="slides/slide82.xml"/><Relationship Id="rId179" Type="http://schemas.openxmlformats.org/officeDocument/2006/relationships/slide" Target="slides/slide178.xml"/><Relationship Id="rId386" Type="http://schemas.openxmlformats.org/officeDocument/2006/relationships/slide" Target="slides/slide385.xml"/><Relationship Id="rId551" Type="http://schemas.openxmlformats.org/officeDocument/2006/relationships/slide" Target="slides/slide550.xml"/><Relationship Id="rId593" Type="http://schemas.openxmlformats.org/officeDocument/2006/relationships/slide" Target="slides/slide592.xml"/><Relationship Id="rId607" Type="http://schemas.openxmlformats.org/officeDocument/2006/relationships/slide" Target="slides/slide606.xml"/><Relationship Id="rId649" Type="http://schemas.openxmlformats.org/officeDocument/2006/relationships/slide" Target="slides/slide648.xml"/><Relationship Id="rId814" Type="http://schemas.openxmlformats.org/officeDocument/2006/relationships/slide" Target="slides/slide813.xml"/><Relationship Id="rId856" Type="http://schemas.openxmlformats.org/officeDocument/2006/relationships/slide" Target="slides/slide855.xml"/><Relationship Id="rId190" Type="http://schemas.openxmlformats.org/officeDocument/2006/relationships/slide" Target="slides/slide189.xml"/><Relationship Id="rId204" Type="http://schemas.openxmlformats.org/officeDocument/2006/relationships/slide" Target="slides/slide203.xml"/><Relationship Id="rId246" Type="http://schemas.openxmlformats.org/officeDocument/2006/relationships/slide" Target="slides/slide245.xml"/><Relationship Id="rId288" Type="http://schemas.openxmlformats.org/officeDocument/2006/relationships/slide" Target="slides/slide287.xml"/><Relationship Id="rId411" Type="http://schemas.openxmlformats.org/officeDocument/2006/relationships/slide" Target="slides/slide410.xml"/><Relationship Id="rId453" Type="http://schemas.openxmlformats.org/officeDocument/2006/relationships/slide" Target="slides/slide452.xml"/><Relationship Id="rId509" Type="http://schemas.openxmlformats.org/officeDocument/2006/relationships/slide" Target="slides/slide508.xml"/><Relationship Id="rId660" Type="http://schemas.openxmlformats.org/officeDocument/2006/relationships/slide" Target="slides/slide659.xml"/><Relationship Id="rId898" Type="http://schemas.openxmlformats.org/officeDocument/2006/relationships/slide" Target="slides/slide897.xml"/><Relationship Id="rId106" Type="http://schemas.openxmlformats.org/officeDocument/2006/relationships/slide" Target="slides/slide105.xml"/><Relationship Id="rId313" Type="http://schemas.openxmlformats.org/officeDocument/2006/relationships/slide" Target="slides/slide312.xml"/><Relationship Id="rId495" Type="http://schemas.openxmlformats.org/officeDocument/2006/relationships/slide" Target="slides/slide494.xml"/><Relationship Id="rId716" Type="http://schemas.openxmlformats.org/officeDocument/2006/relationships/slide" Target="slides/slide715.xml"/><Relationship Id="rId758" Type="http://schemas.openxmlformats.org/officeDocument/2006/relationships/slide" Target="slides/slide757.xml"/><Relationship Id="rId10" Type="http://schemas.openxmlformats.org/officeDocument/2006/relationships/slide" Target="slides/slide9.xml"/><Relationship Id="rId52" Type="http://schemas.openxmlformats.org/officeDocument/2006/relationships/slide" Target="slides/slide51.xml"/><Relationship Id="rId94" Type="http://schemas.openxmlformats.org/officeDocument/2006/relationships/slide" Target="slides/slide93.xml"/><Relationship Id="rId148" Type="http://schemas.openxmlformats.org/officeDocument/2006/relationships/slide" Target="slides/slide147.xml"/><Relationship Id="rId355" Type="http://schemas.openxmlformats.org/officeDocument/2006/relationships/slide" Target="slides/slide354.xml"/><Relationship Id="rId397" Type="http://schemas.openxmlformats.org/officeDocument/2006/relationships/slide" Target="slides/slide396.xml"/><Relationship Id="rId520" Type="http://schemas.openxmlformats.org/officeDocument/2006/relationships/slide" Target="slides/slide519.xml"/><Relationship Id="rId562" Type="http://schemas.openxmlformats.org/officeDocument/2006/relationships/slide" Target="slides/slide561.xml"/><Relationship Id="rId618" Type="http://schemas.openxmlformats.org/officeDocument/2006/relationships/slide" Target="slides/slide617.xml"/><Relationship Id="rId825" Type="http://schemas.openxmlformats.org/officeDocument/2006/relationships/slide" Target="slides/slide824.xml"/><Relationship Id="rId215" Type="http://schemas.openxmlformats.org/officeDocument/2006/relationships/slide" Target="slides/slide214.xml"/><Relationship Id="rId257" Type="http://schemas.openxmlformats.org/officeDocument/2006/relationships/slide" Target="slides/slide256.xml"/><Relationship Id="rId422" Type="http://schemas.openxmlformats.org/officeDocument/2006/relationships/slide" Target="slides/slide421.xml"/><Relationship Id="rId464" Type="http://schemas.openxmlformats.org/officeDocument/2006/relationships/slide" Target="slides/slide463.xml"/><Relationship Id="rId867" Type="http://schemas.openxmlformats.org/officeDocument/2006/relationships/slide" Target="slides/slide866.xml"/><Relationship Id="rId299" Type="http://schemas.openxmlformats.org/officeDocument/2006/relationships/slide" Target="slides/slide298.xml"/><Relationship Id="rId727" Type="http://schemas.openxmlformats.org/officeDocument/2006/relationships/slide" Target="slides/slide726.xml"/><Relationship Id="rId63" Type="http://schemas.openxmlformats.org/officeDocument/2006/relationships/slide" Target="slides/slide62.xml"/><Relationship Id="rId159" Type="http://schemas.openxmlformats.org/officeDocument/2006/relationships/slide" Target="slides/slide158.xml"/><Relationship Id="rId366" Type="http://schemas.openxmlformats.org/officeDocument/2006/relationships/slide" Target="slides/slide365.xml"/><Relationship Id="rId573" Type="http://schemas.openxmlformats.org/officeDocument/2006/relationships/slide" Target="slides/slide572.xml"/><Relationship Id="rId780" Type="http://schemas.openxmlformats.org/officeDocument/2006/relationships/slide" Target="slides/slide779.xml"/><Relationship Id="rId226" Type="http://schemas.openxmlformats.org/officeDocument/2006/relationships/slide" Target="slides/slide225.xml"/><Relationship Id="rId433" Type="http://schemas.openxmlformats.org/officeDocument/2006/relationships/slide" Target="slides/slide432.xml"/><Relationship Id="rId878" Type="http://schemas.openxmlformats.org/officeDocument/2006/relationships/slide" Target="slides/slide877.xml"/><Relationship Id="rId640" Type="http://schemas.openxmlformats.org/officeDocument/2006/relationships/slide" Target="slides/slide639.xml"/><Relationship Id="rId738" Type="http://schemas.openxmlformats.org/officeDocument/2006/relationships/slide" Target="slides/slide737.xml"/><Relationship Id="rId74" Type="http://schemas.openxmlformats.org/officeDocument/2006/relationships/slide" Target="slides/slide73.xml"/><Relationship Id="rId377" Type="http://schemas.openxmlformats.org/officeDocument/2006/relationships/slide" Target="slides/slide376.xml"/><Relationship Id="rId500" Type="http://schemas.openxmlformats.org/officeDocument/2006/relationships/slide" Target="slides/slide499.xml"/><Relationship Id="rId584" Type="http://schemas.openxmlformats.org/officeDocument/2006/relationships/slide" Target="slides/slide583.xml"/><Relationship Id="rId805" Type="http://schemas.openxmlformats.org/officeDocument/2006/relationships/slide" Target="slides/slide804.xml"/><Relationship Id="rId5" Type="http://schemas.openxmlformats.org/officeDocument/2006/relationships/slide" Target="slides/slide4.xml"/><Relationship Id="rId237" Type="http://schemas.openxmlformats.org/officeDocument/2006/relationships/slide" Target="slides/slide236.xml"/><Relationship Id="rId791" Type="http://schemas.openxmlformats.org/officeDocument/2006/relationships/slide" Target="slides/slide790.xml"/><Relationship Id="rId889" Type="http://schemas.openxmlformats.org/officeDocument/2006/relationships/slide" Target="slides/slide888.xml"/><Relationship Id="rId444" Type="http://schemas.openxmlformats.org/officeDocument/2006/relationships/slide" Target="slides/slide443.xml"/><Relationship Id="rId651" Type="http://schemas.openxmlformats.org/officeDocument/2006/relationships/slide" Target="slides/slide650.xml"/><Relationship Id="rId749" Type="http://schemas.openxmlformats.org/officeDocument/2006/relationships/slide" Target="slides/slide748.xml"/><Relationship Id="rId290" Type="http://schemas.openxmlformats.org/officeDocument/2006/relationships/slide" Target="slides/slide289.xml"/><Relationship Id="rId304" Type="http://schemas.openxmlformats.org/officeDocument/2006/relationships/slide" Target="slides/slide303.xml"/><Relationship Id="rId388" Type="http://schemas.openxmlformats.org/officeDocument/2006/relationships/slide" Target="slides/slide387.xml"/><Relationship Id="rId511" Type="http://schemas.openxmlformats.org/officeDocument/2006/relationships/slide" Target="slides/slide510.xml"/><Relationship Id="rId609" Type="http://schemas.openxmlformats.org/officeDocument/2006/relationships/slide" Target="slides/slide608.xml"/><Relationship Id="rId85" Type="http://schemas.openxmlformats.org/officeDocument/2006/relationships/slide" Target="slides/slide84.xml"/><Relationship Id="rId150" Type="http://schemas.openxmlformats.org/officeDocument/2006/relationships/slide" Target="slides/slide149.xml"/><Relationship Id="rId595" Type="http://schemas.openxmlformats.org/officeDocument/2006/relationships/slide" Target="slides/slide594.xml"/><Relationship Id="rId816" Type="http://schemas.openxmlformats.org/officeDocument/2006/relationships/slide" Target="slides/slide815.xml"/><Relationship Id="rId248" Type="http://schemas.openxmlformats.org/officeDocument/2006/relationships/slide" Target="slides/slide247.xml"/><Relationship Id="rId455" Type="http://schemas.openxmlformats.org/officeDocument/2006/relationships/slide" Target="slides/slide454.xml"/><Relationship Id="rId662" Type="http://schemas.openxmlformats.org/officeDocument/2006/relationships/slide" Target="slides/slide661.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22" Type="http://schemas.openxmlformats.org/officeDocument/2006/relationships/slide" Target="slides/slide521.xml"/><Relationship Id="rId96" Type="http://schemas.openxmlformats.org/officeDocument/2006/relationships/slide" Target="slides/slide95.xml"/><Relationship Id="rId161" Type="http://schemas.openxmlformats.org/officeDocument/2006/relationships/slide" Target="slides/slide160.xml"/><Relationship Id="rId399" Type="http://schemas.openxmlformats.org/officeDocument/2006/relationships/slide" Target="slides/slide398.xml"/><Relationship Id="rId827" Type="http://schemas.openxmlformats.org/officeDocument/2006/relationships/slide" Target="slides/slide826.xml"/><Relationship Id="rId259" Type="http://schemas.openxmlformats.org/officeDocument/2006/relationships/slide" Target="slides/slide258.xml"/><Relationship Id="rId466" Type="http://schemas.openxmlformats.org/officeDocument/2006/relationships/slide" Target="slides/slide465.xml"/><Relationship Id="rId673" Type="http://schemas.openxmlformats.org/officeDocument/2006/relationships/slide" Target="slides/slide672.xml"/><Relationship Id="rId880" Type="http://schemas.openxmlformats.org/officeDocument/2006/relationships/slide" Target="slides/slide879.xml"/><Relationship Id="rId23" Type="http://schemas.openxmlformats.org/officeDocument/2006/relationships/slide" Target="slides/slide22.xml"/><Relationship Id="rId119" Type="http://schemas.openxmlformats.org/officeDocument/2006/relationships/slide" Target="slides/slide118.xml"/><Relationship Id="rId326" Type="http://schemas.openxmlformats.org/officeDocument/2006/relationships/slide" Target="slides/slide325.xml"/><Relationship Id="rId533" Type="http://schemas.openxmlformats.org/officeDocument/2006/relationships/slide" Target="slides/slide532.xml"/><Relationship Id="rId740" Type="http://schemas.openxmlformats.org/officeDocument/2006/relationships/slide" Target="slides/slide739.xml"/><Relationship Id="rId838" Type="http://schemas.openxmlformats.org/officeDocument/2006/relationships/slide" Target="slides/slide837.xml"/><Relationship Id="rId172" Type="http://schemas.openxmlformats.org/officeDocument/2006/relationships/slide" Target="slides/slide171.xml"/><Relationship Id="rId477" Type="http://schemas.openxmlformats.org/officeDocument/2006/relationships/slide" Target="slides/slide476.xml"/><Relationship Id="rId600" Type="http://schemas.openxmlformats.org/officeDocument/2006/relationships/slide" Target="slides/slide599.xml"/><Relationship Id="rId684" Type="http://schemas.openxmlformats.org/officeDocument/2006/relationships/slide" Target="slides/slide683.xml"/><Relationship Id="rId337" Type="http://schemas.openxmlformats.org/officeDocument/2006/relationships/slide" Target="slides/slide336.xml"/><Relationship Id="rId891" Type="http://schemas.openxmlformats.org/officeDocument/2006/relationships/slide" Target="slides/slide890.xml"/><Relationship Id="rId905" Type="http://schemas.openxmlformats.org/officeDocument/2006/relationships/slide" Target="slides/slide904.xml"/><Relationship Id="rId34" Type="http://schemas.openxmlformats.org/officeDocument/2006/relationships/slide" Target="slides/slide33.xml"/><Relationship Id="rId544" Type="http://schemas.openxmlformats.org/officeDocument/2006/relationships/slide" Target="slides/slide543.xml"/><Relationship Id="rId751" Type="http://schemas.openxmlformats.org/officeDocument/2006/relationships/slide" Target="slides/slide750.xml"/><Relationship Id="rId849" Type="http://schemas.openxmlformats.org/officeDocument/2006/relationships/slide" Target="slides/slide848.xml"/><Relationship Id="rId183" Type="http://schemas.openxmlformats.org/officeDocument/2006/relationships/slide" Target="slides/slide182.xml"/><Relationship Id="rId390" Type="http://schemas.openxmlformats.org/officeDocument/2006/relationships/slide" Target="slides/slide389.xml"/><Relationship Id="rId404" Type="http://schemas.openxmlformats.org/officeDocument/2006/relationships/slide" Target="slides/slide403.xml"/><Relationship Id="rId611" Type="http://schemas.openxmlformats.org/officeDocument/2006/relationships/slide" Target="slides/slide610.xml"/><Relationship Id="rId250" Type="http://schemas.openxmlformats.org/officeDocument/2006/relationships/slide" Target="slides/slide249.xml"/><Relationship Id="rId488" Type="http://schemas.openxmlformats.org/officeDocument/2006/relationships/slide" Target="slides/slide487.xml"/><Relationship Id="rId695" Type="http://schemas.openxmlformats.org/officeDocument/2006/relationships/slide" Target="slides/slide694.xml"/><Relationship Id="rId709" Type="http://schemas.openxmlformats.org/officeDocument/2006/relationships/slide" Target="slides/slide708.xml"/><Relationship Id="rId916" Type="http://schemas.openxmlformats.org/officeDocument/2006/relationships/tableStyles" Target="tableStyles.xml"/><Relationship Id="rId45" Type="http://schemas.openxmlformats.org/officeDocument/2006/relationships/slide" Target="slides/slide44.xml"/><Relationship Id="rId110" Type="http://schemas.openxmlformats.org/officeDocument/2006/relationships/slide" Target="slides/slide109.xml"/><Relationship Id="rId348" Type="http://schemas.openxmlformats.org/officeDocument/2006/relationships/slide" Target="slides/slide347.xml"/><Relationship Id="rId555" Type="http://schemas.openxmlformats.org/officeDocument/2006/relationships/slide" Target="slides/slide554.xml"/><Relationship Id="rId762" Type="http://schemas.openxmlformats.org/officeDocument/2006/relationships/slide" Target="slides/slide76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622" Type="http://schemas.openxmlformats.org/officeDocument/2006/relationships/slide" Target="slides/slide621.xml"/><Relationship Id="rId261" Type="http://schemas.openxmlformats.org/officeDocument/2006/relationships/slide" Target="slides/slide260.xml"/><Relationship Id="rId499" Type="http://schemas.openxmlformats.org/officeDocument/2006/relationships/slide" Target="slides/slide498.xml"/><Relationship Id="rId56" Type="http://schemas.openxmlformats.org/officeDocument/2006/relationships/slide" Target="slides/slide55.xml"/><Relationship Id="rId359" Type="http://schemas.openxmlformats.org/officeDocument/2006/relationships/slide" Target="slides/slide358.xml"/><Relationship Id="rId566" Type="http://schemas.openxmlformats.org/officeDocument/2006/relationships/slide" Target="slides/slide565.xml"/><Relationship Id="rId773" Type="http://schemas.openxmlformats.org/officeDocument/2006/relationships/slide" Target="slides/slide772.xml"/><Relationship Id="rId121" Type="http://schemas.openxmlformats.org/officeDocument/2006/relationships/slide" Target="slides/slide120.xml"/><Relationship Id="rId219" Type="http://schemas.openxmlformats.org/officeDocument/2006/relationships/slide" Target="slides/slide218.xml"/><Relationship Id="rId426" Type="http://schemas.openxmlformats.org/officeDocument/2006/relationships/slide" Target="slides/slide425.xml"/><Relationship Id="rId633" Type="http://schemas.openxmlformats.org/officeDocument/2006/relationships/slide" Target="slides/slide632.xml"/><Relationship Id="rId840" Type="http://schemas.openxmlformats.org/officeDocument/2006/relationships/slide" Target="slides/slide839.xml"/><Relationship Id="rId67" Type="http://schemas.openxmlformats.org/officeDocument/2006/relationships/slide" Target="slides/slide66.xml"/><Relationship Id="rId272" Type="http://schemas.openxmlformats.org/officeDocument/2006/relationships/slide" Target="slides/slide271.xml"/><Relationship Id="rId577" Type="http://schemas.openxmlformats.org/officeDocument/2006/relationships/slide" Target="slides/slide576.xml"/><Relationship Id="rId700" Type="http://schemas.openxmlformats.org/officeDocument/2006/relationships/slide" Target="slides/slide699.xml"/><Relationship Id="rId132" Type="http://schemas.openxmlformats.org/officeDocument/2006/relationships/slide" Target="slides/slide131.xml"/><Relationship Id="rId784" Type="http://schemas.openxmlformats.org/officeDocument/2006/relationships/slide" Target="slides/slide783.xml"/><Relationship Id="rId437" Type="http://schemas.openxmlformats.org/officeDocument/2006/relationships/slide" Target="slides/slide436.xml"/><Relationship Id="rId644" Type="http://schemas.openxmlformats.org/officeDocument/2006/relationships/slide" Target="slides/slide643.xml"/><Relationship Id="rId851" Type="http://schemas.openxmlformats.org/officeDocument/2006/relationships/slide" Target="slides/slide850.xml"/><Relationship Id="rId283" Type="http://schemas.openxmlformats.org/officeDocument/2006/relationships/slide" Target="slides/slide282.xml"/><Relationship Id="rId490" Type="http://schemas.openxmlformats.org/officeDocument/2006/relationships/slide" Target="slides/slide489.xml"/><Relationship Id="rId504" Type="http://schemas.openxmlformats.org/officeDocument/2006/relationships/slide" Target="slides/slide503.xml"/><Relationship Id="rId711" Type="http://schemas.openxmlformats.org/officeDocument/2006/relationships/slide" Target="slides/slide710.xml"/><Relationship Id="rId78" Type="http://schemas.openxmlformats.org/officeDocument/2006/relationships/slide" Target="slides/slide77.xml"/><Relationship Id="rId143" Type="http://schemas.openxmlformats.org/officeDocument/2006/relationships/slide" Target="slides/slide142.xml"/><Relationship Id="rId350" Type="http://schemas.openxmlformats.org/officeDocument/2006/relationships/slide" Target="slides/slide349.xml"/><Relationship Id="rId588" Type="http://schemas.openxmlformats.org/officeDocument/2006/relationships/slide" Target="slides/slide587.xml"/><Relationship Id="rId795" Type="http://schemas.openxmlformats.org/officeDocument/2006/relationships/slide" Target="slides/slide794.xml"/><Relationship Id="rId809" Type="http://schemas.openxmlformats.org/officeDocument/2006/relationships/slide" Target="slides/slide808.xml"/><Relationship Id="rId9" Type="http://schemas.openxmlformats.org/officeDocument/2006/relationships/slide" Target="slides/slide8.xml"/><Relationship Id="rId210" Type="http://schemas.openxmlformats.org/officeDocument/2006/relationships/slide" Target="slides/slide209.xml"/><Relationship Id="rId448" Type="http://schemas.openxmlformats.org/officeDocument/2006/relationships/slide" Target="slides/slide447.xml"/><Relationship Id="rId655" Type="http://schemas.openxmlformats.org/officeDocument/2006/relationships/slide" Target="slides/slide654.xml"/><Relationship Id="rId862" Type="http://schemas.openxmlformats.org/officeDocument/2006/relationships/slide" Target="slides/slide861.xml"/><Relationship Id="rId294" Type="http://schemas.openxmlformats.org/officeDocument/2006/relationships/slide" Target="slides/slide293.xml"/><Relationship Id="rId308" Type="http://schemas.openxmlformats.org/officeDocument/2006/relationships/slide" Target="slides/slide307.xml"/><Relationship Id="rId515" Type="http://schemas.openxmlformats.org/officeDocument/2006/relationships/slide" Target="slides/slide514.xml"/><Relationship Id="rId722" Type="http://schemas.openxmlformats.org/officeDocument/2006/relationships/slide" Target="slides/slide721.xml"/><Relationship Id="rId89" Type="http://schemas.openxmlformats.org/officeDocument/2006/relationships/slide" Target="slides/slide88.xml"/><Relationship Id="rId154" Type="http://schemas.openxmlformats.org/officeDocument/2006/relationships/slide" Target="slides/slide153.xml"/><Relationship Id="rId361" Type="http://schemas.openxmlformats.org/officeDocument/2006/relationships/slide" Target="slides/slide360.xml"/><Relationship Id="rId599" Type="http://schemas.openxmlformats.org/officeDocument/2006/relationships/slide" Target="slides/slide598.xml"/><Relationship Id="rId459" Type="http://schemas.openxmlformats.org/officeDocument/2006/relationships/slide" Target="slides/slide458.xml"/><Relationship Id="rId666" Type="http://schemas.openxmlformats.org/officeDocument/2006/relationships/slide" Target="slides/slide665.xml"/><Relationship Id="rId873" Type="http://schemas.openxmlformats.org/officeDocument/2006/relationships/slide" Target="slides/slide872.xml"/><Relationship Id="rId16" Type="http://schemas.openxmlformats.org/officeDocument/2006/relationships/slide" Target="slides/slide15.xml"/><Relationship Id="rId221" Type="http://schemas.openxmlformats.org/officeDocument/2006/relationships/slide" Target="slides/slide220.xml"/><Relationship Id="rId319" Type="http://schemas.openxmlformats.org/officeDocument/2006/relationships/slide" Target="slides/slide318.xml"/><Relationship Id="rId526" Type="http://schemas.openxmlformats.org/officeDocument/2006/relationships/slide" Target="slides/slide525.xml"/><Relationship Id="rId733" Type="http://schemas.openxmlformats.org/officeDocument/2006/relationships/slide" Target="slides/slide732.xml"/><Relationship Id="rId165" Type="http://schemas.openxmlformats.org/officeDocument/2006/relationships/slide" Target="slides/slide164.xml"/><Relationship Id="rId372" Type="http://schemas.openxmlformats.org/officeDocument/2006/relationships/slide" Target="slides/slide371.xml"/><Relationship Id="rId677" Type="http://schemas.openxmlformats.org/officeDocument/2006/relationships/slide" Target="slides/slide676.xml"/><Relationship Id="rId800" Type="http://schemas.openxmlformats.org/officeDocument/2006/relationships/slide" Target="slides/slide799.xml"/><Relationship Id="rId232" Type="http://schemas.openxmlformats.org/officeDocument/2006/relationships/slide" Target="slides/slide231.xml"/><Relationship Id="rId884" Type="http://schemas.openxmlformats.org/officeDocument/2006/relationships/slide" Target="slides/slide883.xml"/><Relationship Id="rId27" Type="http://schemas.openxmlformats.org/officeDocument/2006/relationships/slide" Target="slides/slide26.xml"/><Relationship Id="rId537" Type="http://schemas.openxmlformats.org/officeDocument/2006/relationships/slide" Target="slides/slide536.xml"/><Relationship Id="rId744" Type="http://schemas.openxmlformats.org/officeDocument/2006/relationships/slide" Target="slides/slide743.xml"/><Relationship Id="rId80" Type="http://schemas.openxmlformats.org/officeDocument/2006/relationships/slide" Target="slides/slide79.xml"/><Relationship Id="rId176" Type="http://schemas.openxmlformats.org/officeDocument/2006/relationships/slide" Target="slides/slide175.xml"/><Relationship Id="rId383" Type="http://schemas.openxmlformats.org/officeDocument/2006/relationships/slide" Target="slides/slide382.xml"/><Relationship Id="rId590" Type="http://schemas.openxmlformats.org/officeDocument/2006/relationships/slide" Target="slides/slide589.xml"/><Relationship Id="rId604" Type="http://schemas.openxmlformats.org/officeDocument/2006/relationships/slide" Target="slides/slide603.xml"/><Relationship Id="rId811" Type="http://schemas.openxmlformats.org/officeDocument/2006/relationships/slide" Target="slides/slide810.xml"/><Relationship Id="rId243" Type="http://schemas.openxmlformats.org/officeDocument/2006/relationships/slide" Target="slides/slide242.xml"/><Relationship Id="rId450" Type="http://schemas.openxmlformats.org/officeDocument/2006/relationships/slide" Target="slides/slide449.xml"/><Relationship Id="rId688" Type="http://schemas.openxmlformats.org/officeDocument/2006/relationships/slide" Target="slides/slide687.xml"/><Relationship Id="rId895" Type="http://schemas.openxmlformats.org/officeDocument/2006/relationships/slide" Target="slides/slide894.xml"/><Relationship Id="rId909" Type="http://schemas.openxmlformats.org/officeDocument/2006/relationships/slide" Target="slides/slide908.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548" Type="http://schemas.openxmlformats.org/officeDocument/2006/relationships/slide" Target="slides/slide547.xml"/><Relationship Id="rId755" Type="http://schemas.openxmlformats.org/officeDocument/2006/relationships/slide" Target="slides/slide754.xml"/><Relationship Id="rId91" Type="http://schemas.openxmlformats.org/officeDocument/2006/relationships/slide" Target="slides/slide90.xml"/><Relationship Id="rId187" Type="http://schemas.openxmlformats.org/officeDocument/2006/relationships/slide" Target="slides/slide186.xml"/><Relationship Id="rId394" Type="http://schemas.openxmlformats.org/officeDocument/2006/relationships/slide" Target="slides/slide393.xml"/><Relationship Id="rId408" Type="http://schemas.openxmlformats.org/officeDocument/2006/relationships/slide" Target="slides/slide407.xml"/><Relationship Id="rId615" Type="http://schemas.openxmlformats.org/officeDocument/2006/relationships/slide" Target="slides/slide614.xml"/><Relationship Id="rId822" Type="http://schemas.openxmlformats.org/officeDocument/2006/relationships/slide" Target="slides/slide821.xml"/><Relationship Id="rId254" Type="http://schemas.openxmlformats.org/officeDocument/2006/relationships/slide" Target="slides/slide253.xml"/><Relationship Id="rId699" Type="http://schemas.openxmlformats.org/officeDocument/2006/relationships/slide" Target="slides/slide698.xml"/><Relationship Id="rId49" Type="http://schemas.openxmlformats.org/officeDocument/2006/relationships/slide" Target="slides/slide48.xml"/><Relationship Id="rId114" Type="http://schemas.openxmlformats.org/officeDocument/2006/relationships/slide" Target="slides/slide113.xml"/><Relationship Id="rId461" Type="http://schemas.openxmlformats.org/officeDocument/2006/relationships/slide" Target="slides/slide460.xml"/><Relationship Id="rId559" Type="http://schemas.openxmlformats.org/officeDocument/2006/relationships/slide" Target="slides/slide558.xml"/><Relationship Id="rId766" Type="http://schemas.openxmlformats.org/officeDocument/2006/relationships/slide" Target="slides/slide765.xml"/><Relationship Id="rId198" Type="http://schemas.openxmlformats.org/officeDocument/2006/relationships/slide" Target="slides/slide197.xml"/><Relationship Id="rId321" Type="http://schemas.openxmlformats.org/officeDocument/2006/relationships/slide" Target="slides/slide320.xml"/><Relationship Id="rId419" Type="http://schemas.openxmlformats.org/officeDocument/2006/relationships/slide" Target="slides/slide418.xml"/><Relationship Id="rId626" Type="http://schemas.openxmlformats.org/officeDocument/2006/relationships/slide" Target="slides/slide625.xml"/><Relationship Id="rId833" Type="http://schemas.openxmlformats.org/officeDocument/2006/relationships/slide" Target="slides/slide832.xml"/><Relationship Id="rId265" Type="http://schemas.openxmlformats.org/officeDocument/2006/relationships/slide" Target="slides/slide264.xml"/><Relationship Id="rId472" Type="http://schemas.openxmlformats.org/officeDocument/2006/relationships/slide" Target="slides/slide471.xml"/><Relationship Id="rId900" Type="http://schemas.openxmlformats.org/officeDocument/2006/relationships/slide" Target="slides/slide899.xml"/><Relationship Id="rId125" Type="http://schemas.openxmlformats.org/officeDocument/2006/relationships/slide" Target="slides/slide124.xml"/><Relationship Id="rId332" Type="http://schemas.openxmlformats.org/officeDocument/2006/relationships/slide" Target="slides/slide331.xml"/><Relationship Id="rId777" Type="http://schemas.openxmlformats.org/officeDocument/2006/relationships/slide" Target="slides/slide776.xml"/><Relationship Id="rId637" Type="http://schemas.openxmlformats.org/officeDocument/2006/relationships/slide" Target="slides/slide636.xml"/><Relationship Id="rId844" Type="http://schemas.openxmlformats.org/officeDocument/2006/relationships/slide" Target="slides/slide843.xml"/><Relationship Id="rId276" Type="http://schemas.openxmlformats.org/officeDocument/2006/relationships/slide" Target="slides/slide275.xml"/><Relationship Id="rId483" Type="http://schemas.openxmlformats.org/officeDocument/2006/relationships/slide" Target="slides/slide482.xml"/><Relationship Id="rId690" Type="http://schemas.openxmlformats.org/officeDocument/2006/relationships/slide" Target="slides/slide689.xml"/><Relationship Id="rId704" Type="http://schemas.openxmlformats.org/officeDocument/2006/relationships/slide" Target="slides/slide703.xml"/><Relationship Id="rId911" Type="http://schemas.openxmlformats.org/officeDocument/2006/relationships/notesMaster" Target="notesMasters/notesMaster1.xml"/><Relationship Id="rId40" Type="http://schemas.openxmlformats.org/officeDocument/2006/relationships/slide" Target="slides/slide39.xml"/><Relationship Id="rId136" Type="http://schemas.openxmlformats.org/officeDocument/2006/relationships/slide" Target="slides/slide135.xml"/><Relationship Id="rId343" Type="http://schemas.openxmlformats.org/officeDocument/2006/relationships/slide" Target="slides/slide342.xml"/><Relationship Id="rId550" Type="http://schemas.openxmlformats.org/officeDocument/2006/relationships/slide" Target="slides/slide549.xml"/><Relationship Id="rId788" Type="http://schemas.openxmlformats.org/officeDocument/2006/relationships/slide" Target="slides/slide787.xml"/><Relationship Id="rId203" Type="http://schemas.openxmlformats.org/officeDocument/2006/relationships/slide" Target="slides/slide202.xml"/><Relationship Id="rId648" Type="http://schemas.openxmlformats.org/officeDocument/2006/relationships/slide" Target="slides/slide647.xml"/><Relationship Id="rId855" Type="http://schemas.openxmlformats.org/officeDocument/2006/relationships/slide" Target="slides/slide854.xml"/><Relationship Id="rId287" Type="http://schemas.openxmlformats.org/officeDocument/2006/relationships/slide" Target="slides/slide286.xml"/><Relationship Id="rId410" Type="http://schemas.openxmlformats.org/officeDocument/2006/relationships/slide" Target="slides/slide409.xml"/><Relationship Id="rId494" Type="http://schemas.openxmlformats.org/officeDocument/2006/relationships/slide" Target="slides/slide493.xml"/><Relationship Id="rId508" Type="http://schemas.openxmlformats.org/officeDocument/2006/relationships/slide" Target="slides/slide507.xml"/><Relationship Id="rId715" Type="http://schemas.openxmlformats.org/officeDocument/2006/relationships/slide" Target="slides/slide714.xml"/><Relationship Id="rId147" Type="http://schemas.openxmlformats.org/officeDocument/2006/relationships/slide" Target="slides/slide146.xml"/><Relationship Id="rId354" Type="http://schemas.openxmlformats.org/officeDocument/2006/relationships/slide" Target="slides/slide353.xml"/><Relationship Id="rId799" Type="http://schemas.openxmlformats.org/officeDocument/2006/relationships/slide" Target="slides/slide798.xml"/><Relationship Id="rId51" Type="http://schemas.openxmlformats.org/officeDocument/2006/relationships/slide" Target="slides/slide50.xml"/><Relationship Id="rId561" Type="http://schemas.openxmlformats.org/officeDocument/2006/relationships/slide" Target="slides/slide560.xml"/><Relationship Id="rId659" Type="http://schemas.openxmlformats.org/officeDocument/2006/relationships/slide" Target="slides/slide658.xml"/><Relationship Id="rId866" Type="http://schemas.openxmlformats.org/officeDocument/2006/relationships/slide" Target="slides/slide865.xml"/><Relationship Id="rId214" Type="http://schemas.openxmlformats.org/officeDocument/2006/relationships/slide" Target="slides/slide213.xml"/><Relationship Id="rId298" Type="http://schemas.openxmlformats.org/officeDocument/2006/relationships/slide" Target="slides/slide297.xml"/><Relationship Id="rId421" Type="http://schemas.openxmlformats.org/officeDocument/2006/relationships/slide" Target="slides/slide420.xml"/><Relationship Id="rId519" Type="http://schemas.openxmlformats.org/officeDocument/2006/relationships/slide" Target="slides/slide518.xml"/><Relationship Id="rId158" Type="http://schemas.openxmlformats.org/officeDocument/2006/relationships/slide" Target="slides/slide157.xml"/><Relationship Id="rId726" Type="http://schemas.openxmlformats.org/officeDocument/2006/relationships/slide" Target="slides/slide725.xml"/><Relationship Id="rId62" Type="http://schemas.openxmlformats.org/officeDocument/2006/relationships/slide" Target="slides/slide61.xml"/><Relationship Id="rId365" Type="http://schemas.openxmlformats.org/officeDocument/2006/relationships/slide" Target="slides/slide364.xml"/><Relationship Id="rId572" Type="http://schemas.openxmlformats.org/officeDocument/2006/relationships/slide" Target="slides/slide571.xml"/><Relationship Id="rId225" Type="http://schemas.openxmlformats.org/officeDocument/2006/relationships/slide" Target="slides/slide224.xml"/><Relationship Id="rId432" Type="http://schemas.openxmlformats.org/officeDocument/2006/relationships/slide" Target="slides/slide431.xml"/><Relationship Id="rId877" Type="http://schemas.openxmlformats.org/officeDocument/2006/relationships/slide" Target="slides/slide876.xml"/><Relationship Id="rId737" Type="http://schemas.openxmlformats.org/officeDocument/2006/relationships/slide" Target="slides/slide736.xml"/><Relationship Id="rId73" Type="http://schemas.openxmlformats.org/officeDocument/2006/relationships/slide" Target="slides/slide72.xml"/><Relationship Id="rId169" Type="http://schemas.openxmlformats.org/officeDocument/2006/relationships/slide" Target="slides/slide168.xml"/><Relationship Id="rId376" Type="http://schemas.openxmlformats.org/officeDocument/2006/relationships/slide" Target="slides/slide375.xml"/><Relationship Id="rId583" Type="http://schemas.openxmlformats.org/officeDocument/2006/relationships/slide" Target="slides/slide582.xml"/><Relationship Id="rId790" Type="http://schemas.openxmlformats.org/officeDocument/2006/relationships/slide" Target="slides/slide789.xml"/><Relationship Id="rId804" Type="http://schemas.openxmlformats.org/officeDocument/2006/relationships/slide" Target="slides/slide803.xml"/><Relationship Id="rId4" Type="http://schemas.openxmlformats.org/officeDocument/2006/relationships/slide" Target="slides/slide3.xml"/><Relationship Id="rId236" Type="http://schemas.openxmlformats.org/officeDocument/2006/relationships/slide" Target="slides/slide235.xml"/><Relationship Id="rId443" Type="http://schemas.openxmlformats.org/officeDocument/2006/relationships/slide" Target="slides/slide442.xml"/><Relationship Id="rId650" Type="http://schemas.openxmlformats.org/officeDocument/2006/relationships/slide" Target="slides/slide649.xml"/><Relationship Id="rId888" Type="http://schemas.openxmlformats.org/officeDocument/2006/relationships/slide" Target="slides/slide887.xml"/><Relationship Id="rId303" Type="http://schemas.openxmlformats.org/officeDocument/2006/relationships/slide" Target="slides/slide302.xml"/><Relationship Id="rId748" Type="http://schemas.openxmlformats.org/officeDocument/2006/relationships/slide" Target="slides/slide747.xml"/><Relationship Id="rId84" Type="http://schemas.openxmlformats.org/officeDocument/2006/relationships/slide" Target="slides/slide83.xml"/><Relationship Id="rId387" Type="http://schemas.openxmlformats.org/officeDocument/2006/relationships/slide" Target="slides/slide386.xml"/><Relationship Id="rId510" Type="http://schemas.openxmlformats.org/officeDocument/2006/relationships/slide" Target="slides/slide509.xml"/><Relationship Id="rId594" Type="http://schemas.openxmlformats.org/officeDocument/2006/relationships/slide" Target="slides/slide593.xml"/><Relationship Id="rId608" Type="http://schemas.openxmlformats.org/officeDocument/2006/relationships/slide" Target="slides/slide607.xml"/><Relationship Id="rId815" Type="http://schemas.openxmlformats.org/officeDocument/2006/relationships/slide" Target="slides/slide814.xml"/><Relationship Id="rId247" Type="http://schemas.openxmlformats.org/officeDocument/2006/relationships/slide" Target="slides/slide246.xml"/><Relationship Id="rId899" Type="http://schemas.openxmlformats.org/officeDocument/2006/relationships/slide" Target="slides/slide898.xml"/><Relationship Id="rId107" Type="http://schemas.openxmlformats.org/officeDocument/2006/relationships/slide" Target="slides/slide106.xml"/><Relationship Id="rId454" Type="http://schemas.openxmlformats.org/officeDocument/2006/relationships/slide" Target="slides/slide453.xml"/><Relationship Id="rId661" Type="http://schemas.openxmlformats.org/officeDocument/2006/relationships/slide" Target="slides/slide660.xml"/><Relationship Id="rId759" Type="http://schemas.openxmlformats.org/officeDocument/2006/relationships/slide" Target="slides/slide758.xml"/><Relationship Id="rId11" Type="http://schemas.openxmlformats.org/officeDocument/2006/relationships/slide" Target="slides/slide10.xml"/><Relationship Id="rId314" Type="http://schemas.openxmlformats.org/officeDocument/2006/relationships/slide" Target="slides/slide313.xml"/><Relationship Id="rId398" Type="http://schemas.openxmlformats.org/officeDocument/2006/relationships/slide" Target="slides/slide397.xml"/><Relationship Id="rId521" Type="http://schemas.openxmlformats.org/officeDocument/2006/relationships/slide" Target="slides/slide520.xml"/><Relationship Id="rId619" Type="http://schemas.openxmlformats.org/officeDocument/2006/relationships/slide" Target="slides/slide618.xml"/><Relationship Id="rId95" Type="http://schemas.openxmlformats.org/officeDocument/2006/relationships/slide" Target="slides/slide94.xml"/><Relationship Id="rId160" Type="http://schemas.openxmlformats.org/officeDocument/2006/relationships/slide" Target="slides/slide159.xml"/><Relationship Id="rId826" Type="http://schemas.openxmlformats.org/officeDocument/2006/relationships/slide" Target="slides/slide825.xml"/><Relationship Id="rId258" Type="http://schemas.openxmlformats.org/officeDocument/2006/relationships/slide" Target="slides/slide257.xml"/><Relationship Id="rId465" Type="http://schemas.openxmlformats.org/officeDocument/2006/relationships/slide" Target="slides/slide464.xml"/><Relationship Id="rId672" Type="http://schemas.openxmlformats.org/officeDocument/2006/relationships/slide" Target="slides/slide671.xml"/><Relationship Id="rId22" Type="http://schemas.openxmlformats.org/officeDocument/2006/relationships/slide" Target="slides/slide21.xml"/><Relationship Id="rId118" Type="http://schemas.openxmlformats.org/officeDocument/2006/relationships/slide" Target="slides/slide117.xml"/><Relationship Id="rId325" Type="http://schemas.openxmlformats.org/officeDocument/2006/relationships/slide" Target="slides/slide324.xml"/><Relationship Id="rId532" Type="http://schemas.openxmlformats.org/officeDocument/2006/relationships/slide" Target="slides/slide531.xml"/><Relationship Id="rId171" Type="http://schemas.openxmlformats.org/officeDocument/2006/relationships/slide" Target="slides/slide170.xml"/><Relationship Id="rId837" Type="http://schemas.openxmlformats.org/officeDocument/2006/relationships/slide" Target="slides/slide836.xml"/><Relationship Id="rId269" Type="http://schemas.openxmlformats.org/officeDocument/2006/relationships/slide" Target="slides/slide268.xml"/><Relationship Id="rId476" Type="http://schemas.openxmlformats.org/officeDocument/2006/relationships/slide" Target="slides/slide475.xml"/><Relationship Id="rId683" Type="http://schemas.openxmlformats.org/officeDocument/2006/relationships/slide" Target="slides/slide682.xml"/><Relationship Id="rId890" Type="http://schemas.openxmlformats.org/officeDocument/2006/relationships/slide" Target="slides/slide889.xml"/><Relationship Id="rId904" Type="http://schemas.openxmlformats.org/officeDocument/2006/relationships/slide" Target="slides/slide903.xml"/><Relationship Id="rId33" Type="http://schemas.openxmlformats.org/officeDocument/2006/relationships/slide" Target="slides/slide32.xml"/><Relationship Id="rId129" Type="http://schemas.openxmlformats.org/officeDocument/2006/relationships/slide" Target="slides/slide128.xml"/><Relationship Id="rId336" Type="http://schemas.openxmlformats.org/officeDocument/2006/relationships/slide" Target="slides/slide335.xml"/><Relationship Id="rId543" Type="http://schemas.openxmlformats.org/officeDocument/2006/relationships/slide" Target="slides/slide542.xml"/><Relationship Id="rId182" Type="http://schemas.openxmlformats.org/officeDocument/2006/relationships/slide" Target="slides/slide181.xml"/><Relationship Id="rId403" Type="http://schemas.openxmlformats.org/officeDocument/2006/relationships/slide" Target="slides/slide402.xml"/><Relationship Id="rId750" Type="http://schemas.openxmlformats.org/officeDocument/2006/relationships/slide" Target="slides/slide749.xml"/><Relationship Id="rId848" Type="http://schemas.openxmlformats.org/officeDocument/2006/relationships/slide" Target="slides/slide847.xml"/><Relationship Id="rId487" Type="http://schemas.openxmlformats.org/officeDocument/2006/relationships/slide" Target="slides/slide486.xml"/><Relationship Id="rId610" Type="http://schemas.openxmlformats.org/officeDocument/2006/relationships/slide" Target="slides/slide609.xml"/><Relationship Id="rId694" Type="http://schemas.openxmlformats.org/officeDocument/2006/relationships/slide" Target="slides/slide693.xml"/><Relationship Id="rId708" Type="http://schemas.openxmlformats.org/officeDocument/2006/relationships/slide" Target="slides/slide707.xml"/><Relationship Id="rId915" Type="http://schemas.openxmlformats.org/officeDocument/2006/relationships/theme" Target="theme/theme1.xml"/><Relationship Id="rId347" Type="http://schemas.openxmlformats.org/officeDocument/2006/relationships/slide" Target="slides/slide346.xml"/><Relationship Id="rId44" Type="http://schemas.openxmlformats.org/officeDocument/2006/relationships/slide" Target="slides/slide43.xml"/><Relationship Id="rId554" Type="http://schemas.openxmlformats.org/officeDocument/2006/relationships/slide" Target="slides/slide553.xml"/><Relationship Id="rId761" Type="http://schemas.openxmlformats.org/officeDocument/2006/relationships/slide" Target="slides/slide760.xml"/><Relationship Id="rId859" Type="http://schemas.openxmlformats.org/officeDocument/2006/relationships/slide" Target="slides/slide858.xml"/><Relationship Id="rId193" Type="http://schemas.openxmlformats.org/officeDocument/2006/relationships/slide" Target="slides/slide192.xml"/><Relationship Id="rId207" Type="http://schemas.openxmlformats.org/officeDocument/2006/relationships/slide" Target="slides/slide206.xml"/><Relationship Id="rId414" Type="http://schemas.openxmlformats.org/officeDocument/2006/relationships/slide" Target="slides/slide413.xml"/><Relationship Id="rId498" Type="http://schemas.openxmlformats.org/officeDocument/2006/relationships/slide" Target="slides/slide497.xml"/><Relationship Id="rId621" Type="http://schemas.openxmlformats.org/officeDocument/2006/relationships/slide" Target="slides/slide620.xml"/><Relationship Id="rId260" Type="http://schemas.openxmlformats.org/officeDocument/2006/relationships/slide" Target="slides/slide259.xml"/><Relationship Id="rId719" Type="http://schemas.openxmlformats.org/officeDocument/2006/relationships/slide" Target="slides/slide718.xml"/><Relationship Id="rId55" Type="http://schemas.openxmlformats.org/officeDocument/2006/relationships/slide" Target="slides/slide54.xml"/><Relationship Id="rId120" Type="http://schemas.openxmlformats.org/officeDocument/2006/relationships/slide" Target="slides/slide119.xml"/><Relationship Id="rId358" Type="http://schemas.openxmlformats.org/officeDocument/2006/relationships/slide" Target="slides/slide357.xml"/><Relationship Id="rId565" Type="http://schemas.openxmlformats.org/officeDocument/2006/relationships/slide" Target="slides/slide564.xml"/><Relationship Id="rId772" Type="http://schemas.openxmlformats.org/officeDocument/2006/relationships/slide" Target="slides/slide771.xml"/><Relationship Id="rId218" Type="http://schemas.openxmlformats.org/officeDocument/2006/relationships/slide" Target="slides/slide217.xml"/><Relationship Id="rId425" Type="http://schemas.openxmlformats.org/officeDocument/2006/relationships/slide" Target="slides/slide424.xml"/><Relationship Id="rId632" Type="http://schemas.openxmlformats.org/officeDocument/2006/relationships/slide" Target="slides/slide631.xml"/><Relationship Id="rId271" Type="http://schemas.openxmlformats.org/officeDocument/2006/relationships/slide" Target="slides/slide270.xml"/><Relationship Id="rId66" Type="http://schemas.openxmlformats.org/officeDocument/2006/relationships/slide" Target="slides/slide65.xml"/><Relationship Id="rId131" Type="http://schemas.openxmlformats.org/officeDocument/2006/relationships/slide" Target="slides/slide130.xml"/><Relationship Id="rId369" Type="http://schemas.openxmlformats.org/officeDocument/2006/relationships/slide" Target="slides/slide368.xml"/><Relationship Id="rId576" Type="http://schemas.openxmlformats.org/officeDocument/2006/relationships/slide" Target="slides/slide575.xml"/><Relationship Id="rId783" Type="http://schemas.openxmlformats.org/officeDocument/2006/relationships/slide" Target="slides/slide782.xml"/><Relationship Id="rId229" Type="http://schemas.openxmlformats.org/officeDocument/2006/relationships/slide" Target="slides/slide228.xml"/><Relationship Id="rId436" Type="http://schemas.openxmlformats.org/officeDocument/2006/relationships/slide" Target="slides/slide435.xml"/><Relationship Id="rId643" Type="http://schemas.openxmlformats.org/officeDocument/2006/relationships/slide" Target="slides/slide642.xml"/><Relationship Id="rId850" Type="http://schemas.openxmlformats.org/officeDocument/2006/relationships/slide" Target="slides/slide849.xml"/><Relationship Id="rId77" Type="http://schemas.openxmlformats.org/officeDocument/2006/relationships/slide" Target="slides/slide76.xml"/><Relationship Id="rId282" Type="http://schemas.openxmlformats.org/officeDocument/2006/relationships/slide" Target="slides/slide281.xml"/><Relationship Id="rId503" Type="http://schemas.openxmlformats.org/officeDocument/2006/relationships/slide" Target="slides/slide502.xml"/><Relationship Id="rId587" Type="http://schemas.openxmlformats.org/officeDocument/2006/relationships/slide" Target="slides/slide586.xml"/><Relationship Id="rId710" Type="http://schemas.openxmlformats.org/officeDocument/2006/relationships/slide" Target="slides/slide709.xml"/><Relationship Id="rId808" Type="http://schemas.openxmlformats.org/officeDocument/2006/relationships/slide" Target="slides/slide807.xml"/><Relationship Id="rId8" Type="http://schemas.openxmlformats.org/officeDocument/2006/relationships/slide" Target="slides/slide7.xml"/><Relationship Id="rId142" Type="http://schemas.openxmlformats.org/officeDocument/2006/relationships/slide" Target="slides/slide141.xml"/><Relationship Id="rId447" Type="http://schemas.openxmlformats.org/officeDocument/2006/relationships/slide" Target="slides/slide446.xml"/><Relationship Id="rId794" Type="http://schemas.openxmlformats.org/officeDocument/2006/relationships/slide" Target="slides/slide793.xml"/><Relationship Id="rId654" Type="http://schemas.openxmlformats.org/officeDocument/2006/relationships/slide" Target="slides/slide653.xml"/><Relationship Id="rId861" Type="http://schemas.openxmlformats.org/officeDocument/2006/relationships/slide" Target="slides/slide860.xml"/><Relationship Id="rId293" Type="http://schemas.openxmlformats.org/officeDocument/2006/relationships/slide" Target="slides/slide292.xml"/><Relationship Id="rId307" Type="http://schemas.openxmlformats.org/officeDocument/2006/relationships/slide" Target="slides/slide306.xml"/><Relationship Id="rId514" Type="http://schemas.openxmlformats.org/officeDocument/2006/relationships/slide" Target="slides/slide513.xml"/><Relationship Id="rId721" Type="http://schemas.openxmlformats.org/officeDocument/2006/relationships/slide" Target="slides/slide720.xml"/><Relationship Id="rId88" Type="http://schemas.openxmlformats.org/officeDocument/2006/relationships/slide" Target="slides/slide87.xml"/><Relationship Id="rId153" Type="http://schemas.openxmlformats.org/officeDocument/2006/relationships/slide" Target="slides/slide152.xml"/><Relationship Id="rId360" Type="http://schemas.openxmlformats.org/officeDocument/2006/relationships/slide" Target="slides/slide359.xml"/><Relationship Id="rId598" Type="http://schemas.openxmlformats.org/officeDocument/2006/relationships/slide" Target="slides/slide597.xml"/><Relationship Id="rId819" Type="http://schemas.openxmlformats.org/officeDocument/2006/relationships/slide" Target="slides/slide818.xml"/><Relationship Id="rId220" Type="http://schemas.openxmlformats.org/officeDocument/2006/relationships/slide" Target="slides/slide219.xml"/><Relationship Id="rId458" Type="http://schemas.openxmlformats.org/officeDocument/2006/relationships/slide" Target="slides/slide457.xml"/><Relationship Id="rId665" Type="http://schemas.openxmlformats.org/officeDocument/2006/relationships/slide" Target="slides/slide664.xml"/><Relationship Id="rId872" Type="http://schemas.openxmlformats.org/officeDocument/2006/relationships/slide" Target="slides/slide871.xml"/><Relationship Id="rId15" Type="http://schemas.openxmlformats.org/officeDocument/2006/relationships/slide" Target="slides/slide14.xml"/><Relationship Id="rId318" Type="http://schemas.openxmlformats.org/officeDocument/2006/relationships/slide" Target="slides/slide317.xml"/><Relationship Id="rId525" Type="http://schemas.openxmlformats.org/officeDocument/2006/relationships/slide" Target="slides/slide524.xml"/><Relationship Id="rId732" Type="http://schemas.openxmlformats.org/officeDocument/2006/relationships/slide" Target="slides/slide731.xml"/><Relationship Id="rId99" Type="http://schemas.openxmlformats.org/officeDocument/2006/relationships/slide" Target="slides/slide98.xml"/><Relationship Id="rId164" Type="http://schemas.openxmlformats.org/officeDocument/2006/relationships/slide" Target="slides/slide163.xml"/><Relationship Id="rId371" Type="http://schemas.openxmlformats.org/officeDocument/2006/relationships/slide" Target="slides/slide370.xml"/><Relationship Id="rId469" Type="http://schemas.openxmlformats.org/officeDocument/2006/relationships/slide" Target="slides/slide468.xml"/><Relationship Id="rId676" Type="http://schemas.openxmlformats.org/officeDocument/2006/relationships/slide" Target="slides/slide675.xml"/><Relationship Id="rId883" Type="http://schemas.openxmlformats.org/officeDocument/2006/relationships/slide" Target="slides/slide882.xml"/><Relationship Id="rId26" Type="http://schemas.openxmlformats.org/officeDocument/2006/relationships/slide" Target="slides/slide25.xml"/><Relationship Id="rId231" Type="http://schemas.openxmlformats.org/officeDocument/2006/relationships/slide" Target="slides/slide230.xml"/><Relationship Id="rId329" Type="http://schemas.openxmlformats.org/officeDocument/2006/relationships/slide" Target="slides/slide328.xml"/><Relationship Id="rId536" Type="http://schemas.openxmlformats.org/officeDocument/2006/relationships/slide" Target="slides/slide535.xml"/><Relationship Id="rId175" Type="http://schemas.openxmlformats.org/officeDocument/2006/relationships/slide" Target="slides/slide174.xml"/><Relationship Id="rId743" Type="http://schemas.openxmlformats.org/officeDocument/2006/relationships/slide" Target="slides/slide742.xml"/><Relationship Id="rId382" Type="http://schemas.openxmlformats.org/officeDocument/2006/relationships/slide" Target="slides/slide381.xml"/><Relationship Id="rId603" Type="http://schemas.openxmlformats.org/officeDocument/2006/relationships/slide" Target="slides/slide602.xml"/><Relationship Id="rId687" Type="http://schemas.openxmlformats.org/officeDocument/2006/relationships/slide" Target="slides/slide686.xml"/><Relationship Id="rId810" Type="http://schemas.openxmlformats.org/officeDocument/2006/relationships/slide" Target="slides/slide809.xml"/><Relationship Id="rId908" Type="http://schemas.openxmlformats.org/officeDocument/2006/relationships/slide" Target="slides/slide907.xml"/><Relationship Id="rId242" Type="http://schemas.openxmlformats.org/officeDocument/2006/relationships/slide" Target="slides/slide241.xml"/><Relationship Id="rId894" Type="http://schemas.openxmlformats.org/officeDocument/2006/relationships/slide" Target="slides/slide893.xml"/><Relationship Id="rId37" Type="http://schemas.openxmlformats.org/officeDocument/2006/relationships/slide" Target="slides/slide36.xml"/><Relationship Id="rId102" Type="http://schemas.openxmlformats.org/officeDocument/2006/relationships/slide" Target="slides/slide101.xml"/><Relationship Id="rId547" Type="http://schemas.openxmlformats.org/officeDocument/2006/relationships/slide" Target="slides/slide546.xml"/><Relationship Id="rId754" Type="http://schemas.openxmlformats.org/officeDocument/2006/relationships/slide" Target="slides/slide75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0-08T14:44:37.465" idx="1">
    <p:pos x="1605" y="1746"/>
    <p:text>Evaluate to True or False</p:text>
    <p:extLst>
      <p:ext uri="{C676402C-5697-4E1C-873F-D02D1690AC5C}">
        <p15:threadingInfo xmlns:p15="http://schemas.microsoft.com/office/powerpoint/2012/main" timeZoneBias="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556698-5B10-46FD-B9F9-475752C0DFA6}" type="datetimeFigureOut">
              <a:rPr lang="en-US" smtClean="0"/>
              <a:t>10/12/2025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C7026-4122-4BCD-A35B-BFFF4F0CBB6B}" type="slidenum">
              <a:rPr lang="en-US" smtClean="0"/>
              <a:t>‹#›</a:t>
            </a:fld>
            <a:endParaRPr lang="en-US"/>
          </a:p>
        </p:txBody>
      </p:sp>
    </p:spTree>
    <p:extLst>
      <p:ext uri="{BB962C8B-B14F-4D97-AF65-F5344CB8AC3E}">
        <p14:creationId xmlns:p14="http://schemas.microsoft.com/office/powerpoint/2010/main" val="423412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5A850-7264-4E87-BCB7-0A873F9898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C79449-3A9A-4587-B225-46CD7200BF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4EE281-1447-4491-B264-E5B8F6E23408}"/>
              </a:ext>
            </a:extLst>
          </p:cNvPr>
          <p:cNvSpPr>
            <a:spLocks noGrp="1"/>
          </p:cNvSpPr>
          <p:nvPr>
            <p:ph type="dt" sz="half" idx="10"/>
          </p:nvPr>
        </p:nvSpPr>
        <p:spPr/>
        <p:txBody>
          <a:bodyPr/>
          <a:lstStyle/>
          <a:p>
            <a:fld id="{79A2D9B2-1089-4A9C-8253-69E9B726706E}" type="datetime1">
              <a:rPr lang="en-US" smtClean="0"/>
              <a:t>10/12/2025</a:t>
            </a:fld>
            <a:endParaRPr lang="en-US"/>
          </a:p>
        </p:txBody>
      </p:sp>
      <p:sp>
        <p:nvSpPr>
          <p:cNvPr id="5" name="Footer Placeholder 4">
            <a:extLst>
              <a:ext uri="{FF2B5EF4-FFF2-40B4-BE49-F238E27FC236}">
                <a16:creationId xmlns:a16="http://schemas.microsoft.com/office/drawing/2014/main" id="{CF8B8C21-2AD7-4050-89B5-47FAFC754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D95DF5-6A50-4B45-B540-AB8A32DB9853}"/>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2239320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FD563-8070-4B28-9F6C-83C1070EC9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70392F-ABFE-46BF-92CF-ACA2223959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C0F4B3-2274-4275-AE58-2D0297018E07}"/>
              </a:ext>
            </a:extLst>
          </p:cNvPr>
          <p:cNvSpPr>
            <a:spLocks noGrp="1"/>
          </p:cNvSpPr>
          <p:nvPr>
            <p:ph type="dt" sz="half" idx="10"/>
          </p:nvPr>
        </p:nvSpPr>
        <p:spPr/>
        <p:txBody>
          <a:bodyPr/>
          <a:lstStyle/>
          <a:p>
            <a:fld id="{D4808BE6-52F2-477D-B242-0AE44081EC14}" type="datetime1">
              <a:rPr lang="en-US" smtClean="0"/>
              <a:t>10/12/2025</a:t>
            </a:fld>
            <a:endParaRPr lang="en-US"/>
          </a:p>
        </p:txBody>
      </p:sp>
      <p:sp>
        <p:nvSpPr>
          <p:cNvPr id="5" name="Footer Placeholder 4">
            <a:extLst>
              <a:ext uri="{FF2B5EF4-FFF2-40B4-BE49-F238E27FC236}">
                <a16:creationId xmlns:a16="http://schemas.microsoft.com/office/drawing/2014/main" id="{373112F7-EE2F-4274-9A33-7A3F5BC937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848744-84BA-4E8A-8548-C6539AA43F06}"/>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589641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AC3C1-D259-4F4F-88AB-924C6E19A9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C8929A-7F14-487E-9F64-D40A412C32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7F6A3A-ABBE-45DE-B163-0C6BC11C2FF2}"/>
              </a:ext>
            </a:extLst>
          </p:cNvPr>
          <p:cNvSpPr>
            <a:spLocks noGrp="1"/>
          </p:cNvSpPr>
          <p:nvPr>
            <p:ph type="dt" sz="half" idx="10"/>
          </p:nvPr>
        </p:nvSpPr>
        <p:spPr/>
        <p:txBody>
          <a:bodyPr/>
          <a:lstStyle/>
          <a:p>
            <a:fld id="{E6997B63-A7D6-4F0D-85A1-612707935ED1}" type="datetime1">
              <a:rPr lang="en-US" smtClean="0"/>
              <a:t>10/12/2025</a:t>
            </a:fld>
            <a:endParaRPr lang="en-US"/>
          </a:p>
        </p:txBody>
      </p:sp>
      <p:sp>
        <p:nvSpPr>
          <p:cNvPr id="5" name="Footer Placeholder 4">
            <a:extLst>
              <a:ext uri="{FF2B5EF4-FFF2-40B4-BE49-F238E27FC236}">
                <a16:creationId xmlns:a16="http://schemas.microsoft.com/office/drawing/2014/main" id="{0D672C4D-7C77-47EC-AC0F-05FBFA94BD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157A3F-3EAB-43AA-AAFE-91BFF6695F01}"/>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3789000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4F43E-FE0F-4849-83CE-C33A2CE837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5E6802-CB98-4564-8CB5-9052920104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B07CFA-2D97-47FB-B084-F05DCEE332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5497CD-39AB-4D67-A963-D2D07EC9F0D1}"/>
              </a:ext>
            </a:extLst>
          </p:cNvPr>
          <p:cNvSpPr>
            <a:spLocks noGrp="1"/>
          </p:cNvSpPr>
          <p:nvPr>
            <p:ph type="dt" sz="half" idx="10"/>
          </p:nvPr>
        </p:nvSpPr>
        <p:spPr/>
        <p:txBody>
          <a:bodyPr/>
          <a:lstStyle/>
          <a:p>
            <a:fld id="{AAD9D5E1-463C-49BD-B36A-8F86ED4FF748}" type="datetime1">
              <a:rPr lang="en-US" smtClean="0"/>
              <a:t>10/12/2025</a:t>
            </a:fld>
            <a:endParaRPr lang="en-US"/>
          </a:p>
        </p:txBody>
      </p:sp>
      <p:sp>
        <p:nvSpPr>
          <p:cNvPr id="6" name="Footer Placeholder 5">
            <a:extLst>
              <a:ext uri="{FF2B5EF4-FFF2-40B4-BE49-F238E27FC236}">
                <a16:creationId xmlns:a16="http://schemas.microsoft.com/office/drawing/2014/main" id="{E78DAC65-056D-433C-B6A0-D83ADB5182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CE7E65-F345-4B17-8FD9-FF1B460756DD}"/>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1322603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E7EF6-B1A9-4237-99DB-4DCB38AB3F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82A846-87CC-4A2D-A447-D60C11C88A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72DFF6-D963-455A-91A1-E3B4847D08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138A4D-C61B-4D3B-8309-9E636AF280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8BF13E-B70D-41D6-99B1-B09C5A4C5A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1F9E70-C856-43C5-86AA-69A276B36D93}"/>
              </a:ext>
            </a:extLst>
          </p:cNvPr>
          <p:cNvSpPr>
            <a:spLocks noGrp="1"/>
          </p:cNvSpPr>
          <p:nvPr>
            <p:ph type="dt" sz="half" idx="10"/>
          </p:nvPr>
        </p:nvSpPr>
        <p:spPr/>
        <p:txBody>
          <a:bodyPr/>
          <a:lstStyle/>
          <a:p>
            <a:fld id="{0403249E-4A62-40F4-A606-A3998CFFABEF}" type="datetime1">
              <a:rPr lang="en-US" smtClean="0"/>
              <a:t>10/12/2025</a:t>
            </a:fld>
            <a:endParaRPr lang="en-US"/>
          </a:p>
        </p:txBody>
      </p:sp>
      <p:sp>
        <p:nvSpPr>
          <p:cNvPr id="8" name="Footer Placeholder 7">
            <a:extLst>
              <a:ext uri="{FF2B5EF4-FFF2-40B4-BE49-F238E27FC236}">
                <a16:creationId xmlns:a16="http://schemas.microsoft.com/office/drawing/2014/main" id="{C13BE472-EB09-4B23-83A0-FC6DC7A209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E44612-8CE3-4430-BF96-7731F59EF1F7}"/>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2974775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A425F-0402-4F33-A9E5-AA361D30A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FA04B2-CC35-4723-8AE3-AF910949FD4A}"/>
              </a:ext>
            </a:extLst>
          </p:cNvPr>
          <p:cNvSpPr>
            <a:spLocks noGrp="1"/>
          </p:cNvSpPr>
          <p:nvPr>
            <p:ph type="dt" sz="half" idx="10"/>
          </p:nvPr>
        </p:nvSpPr>
        <p:spPr/>
        <p:txBody>
          <a:bodyPr/>
          <a:lstStyle/>
          <a:p>
            <a:fld id="{4521D428-34D7-4F30-960E-F8EFA90FA2E9}" type="datetime1">
              <a:rPr lang="en-US" smtClean="0"/>
              <a:t>10/12/2025</a:t>
            </a:fld>
            <a:endParaRPr lang="en-US"/>
          </a:p>
        </p:txBody>
      </p:sp>
      <p:sp>
        <p:nvSpPr>
          <p:cNvPr id="4" name="Footer Placeholder 3">
            <a:extLst>
              <a:ext uri="{FF2B5EF4-FFF2-40B4-BE49-F238E27FC236}">
                <a16:creationId xmlns:a16="http://schemas.microsoft.com/office/drawing/2014/main" id="{2F4F70FC-00B4-43C2-AA08-50A0AE4D78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3309AA-F69A-4D52-BE08-2E48F2BDC1C6}"/>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691576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32582C-232E-4486-A6CE-B81232415324}"/>
              </a:ext>
            </a:extLst>
          </p:cNvPr>
          <p:cNvSpPr>
            <a:spLocks noGrp="1"/>
          </p:cNvSpPr>
          <p:nvPr>
            <p:ph type="dt" sz="half" idx="10"/>
          </p:nvPr>
        </p:nvSpPr>
        <p:spPr/>
        <p:txBody>
          <a:bodyPr/>
          <a:lstStyle/>
          <a:p>
            <a:fld id="{46C1558D-8EB1-4404-AD02-A2E8CC9B0D4F}" type="datetime1">
              <a:rPr lang="en-US" smtClean="0"/>
              <a:t>10/12/2025</a:t>
            </a:fld>
            <a:endParaRPr lang="en-US"/>
          </a:p>
        </p:txBody>
      </p:sp>
      <p:sp>
        <p:nvSpPr>
          <p:cNvPr id="3" name="Footer Placeholder 2">
            <a:extLst>
              <a:ext uri="{FF2B5EF4-FFF2-40B4-BE49-F238E27FC236}">
                <a16:creationId xmlns:a16="http://schemas.microsoft.com/office/drawing/2014/main" id="{F57EC2EC-A619-4D43-95C5-F9657E2431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0B7D11-05CB-422A-94D8-0E6823FC1F94}"/>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2071394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762AC-680C-4A16-94A6-045FB1E79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F26CBA-D761-4E71-AD02-81AE03B8A3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418427-21E0-4DA5-B203-C0C6ECC847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5795C8-577D-4B86-BC49-D9D0CB8AF245}"/>
              </a:ext>
            </a:extLst>
          </p:cNvPr>
          <p:cNvSpPr>
            <a:spLocks noGrp="1"/>
          </p:cNvSpPr>
          <p:nvPr>
            <p:ph type="dt" sz="half" idx="10"/>
          </p:nvPr>
        </p:nvSpPr>
        <p:spPr/>
        <p:txBody>
          <a:bodyPr/>
          <a:lstStyle/>
          <a:p>
            <a:fld id="{2E337714-BEF1-4954-AFB8-F86BE817E1D7}" type="datetime1">
              <a:rPr lang="en-US" smtClean="0"/>
              <a:t>10/12/2025</a:t>
            </a:fld>
            <a:endParaRPr lang="en-US"/>
          </a:p>
        </p:txBody>
      </p:sp>
      <p:sp>
        <p:nvSpPr>
          <p:cNvPr id="6" name="Footer Placeholder 5">
            <a:extLst>
              <a:ext uri="{FF2B5EF4-FFF2-40B4-BE49-F238E27FC236}">
                <a16:creationId xmlns:a16="http://schemas.microsoft.com/office/drawing/2014/main" id="{44FD56B9-6635-43EA-A2DA-4344519E8F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C714C7-33F0-440F-AFE2-AE1C5D3581F5}"/>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1267218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ABF58-C0EB-4F60-BA8F-9F1C24A50F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930AD8-652B-452A-93BC-CEE27CA789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7E4582-EB63-4F35-A781-022994F57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FDE9D3-28F5-4D98-917A-D3B1702983C0}"/>
              </a:ext>
            </a:extLst>
          </p:cNvPr>
          <p:cNvSpPr>
            <a:spLocks noGrp="1"/>
          </p:cNvSpPr>
          <p:nvPr>
            <p:ph type="dt" sz="half" idx="10"/>
          </p:nvPr>
        </p:nvSpPr>
        <p:spPr/>
        <p:txBody>
          <a:bodyPr/>
          <a:lstStyle/>
          <a:p>
            <a:fld id="{7D812D15-0A08-4001-97D7-92086CF32968}" type="datetime1">
              <a:rPr lang="en-US" smtClean="0"/>
              <a:t>10/12/2025</a:t>
            </a:fld>
            <a:endParaRPr lang="en-US"/>
          </a:p>
        </p:txBody>
      </p:sp>
      <p:sp>
        <p:nvSpPr>
          <p:cNvPr id="6" name="Footer Placeholder 5">
            <a:extLst>
              <a:ext uri="{FF2B5EF4-FFF2-40B4-BE49-F238E27FC236}">
                <a16:creationId xmlns:a16="http://schemas.microsoft.com/office/drawing/2014/main" id="{FEFEA4E9-21D2-4525-9FC7-E709BEA1F8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74E92F-D77F-4A42-B77A-190F1EFB1009}"/>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4158606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DD4BD-B3D3-480F-BF49-500E7A5E56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7FC415-EEFD-44F5-9254-99315E75CC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446B2B-3C46-415A-8C76-CBDCC3D13424}"/>
              </a:ext>
            </a:extLst>
          </p:cNvPr>
          <p:cNvSpPr>
            <a:spLocks noGrp="1"/>
          </p:cNvSpPr>
          <p:nvPr>
            <p:ph type="dt" sz="half" idx="10"/>
          </p:nvPr>
        </p:nvSpPr>
        <p:spPr/>
        <p:txBody>
          <a:bodyPr/>
          <a:lstStyle/>
          <a:p>
            <a:fld id="{DDA83E40-2018-43A5-87D5-68341A3D0D2A}" type="datetime1">
              <a:rPr lang="en-US" smtClean="0"/>
              <a:t>10/12/2025</a:t>
            </a:fld>
            <a:endParaRPr lang="en-US"/>
          </a:p>
        </p:txBody>
      </p:sp>
      <p:sp>
        <p:nvSpPr>
          <p:cNvPr id="5" name="Footer Placeholder 4">
            <a:extLst>
              <a:ext uri="{FF2B5EF4-FFF2-40B4-BE49-F238E27FC236}">
                <a16:creationId xmlns:a16="http://schemas.microsoft.com/office/drawing/2014/main" id="{B8A0EDEC-2855-4E92-914E-369273840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3F6B59-2815-443E-BA8E-866F522EFF6F}"/>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167472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5945A2-91A5-4C1B-82DB-0F751F371B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0F14A2-D8AE-4C3E-A78C-4536823960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80ED76-0339-428D-80CD-831EFC839DDC}"/>
              </a:ext>
            </a:extLst>
          </p:cNvPr>
          <p:cNvSpPr>
            <a:spLocks noGrp="1"/>
          </p:cNvSpPr>
          <p:nvPr>
            <p:ph type="dt" sz="half" idx="10"/>
          </p:nvPr>
        </p:nvSpPr>
        <p:spPr/>
        <p:txBody>
          <a:bodyPr/>
          <a:lstStyle/>
          <a:p>
            <a:fld id="{8C1318D4-39DA-44D1-A66A-F1A28FE41C12}" type="datetime1">
              <a:rPr lang="en-US" smtClean="0"/>
              <a:t>10/12/2025</a:t>
            </a:fld>
            <a:endParaRPr lang="en-US"/>
          </a:p>
        </p:txBody>
      </p:sp>
      <p:sp>
        <p:nvSpPr>
          <p:cNvPr id="5" name="Footer Placeholder 4">
            <a:extLst>
              <a:ext uri="{FF2B5EF4-FFF2-40B4-BE49-F238E27FC236}">
                <a16:creationId xmlns:a16="http://schemas.microsoft.com/office/drawing/2014/main" id="{C163DAF4-C5E7-487E-9CA9-BC166C7A83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23A864-71CD-4086-8C29-87C9B4386603}"/>
              </a:ext>
            </a:extLst>
          </p:cNvPr>
          <p:cNvSpPr>
            <a:spLocks noGrp="1"/>
          </p:cNvSpPr>
          <p:nvPr>
            <p:ph type="sldNum" sz="quarter" idx="12"/>
          </p:nvPr>
        </p:nvSpPr>
        <p:spPr/>
        <p:txBody>
          <a:bodyPr/>
          <a:lstStyle/>
          <a:p>
            <a:fld id="{6B97D948-30E8-43F7-AE10-F6E2D9F2BBB1}" type="slidenum">
              <a:rPr lang="en-US" smtClean="0"/>
              <a:t>‹#›</a:t>
            </a:fld>
            <a:endParaRPr lang="en-US"/>
          </a:p>
        </p:txBody>
      </p:sp>
    </p:spTree>
    <p:extLst>
      <p:ext uri="{BB962C8B-B14F-4D97-AF65-F5344CB8AC3E}">
        <p14:creationId xmlns:p14="http://schemas.microsoft.com/office/powerpoint/2010/main" val="1575389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AD3551-6E3D-4480-A4A0-0FAF860838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DE86F1-2F9D-4CED-AEAE-9EB969549E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2F2782-9777-4F52-81E2-77D8D30CD6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E3B399-35F3-48F8-B550-EA411D8E7434}" type="datetime1">
              <a:rPr lang="en-US" smtClean="0"/>
              <a:t>10/12/2025</a:t>
            </a:fld>
            <a:endParaRPr lang="en-US"/>
          </a:p>
        </p:txBody>
      </p:sp>
      <p:sp>
        <p:nvSpPr>
          <p:cNvPr id="5" name="Footer Placeholder 4">
            <a:extLst>
              <a:ext uri="{FF2B5EF4-FFF2-40B4-BE49-F238E27FC236}">
                <a16:creationId xmlns:a16="http://schemas.microsoft.com/office/drawing/2014/main" id="{41F97E97-F388-4D0F-BDD4-CCF6B4B6D7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8934EC-157E-4B82-B920-28EA48647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97D948-30E8-43F7-AE10-F6E2D9F2BBB1}" type="slidenum">
              <a:rPr lang="en-US" smtClean="0"/>
              <a:t>‹#›</a:t>
            </a:fld>
            <a:endParaRPr lang="en-US"/>
          </a:p>
        </p:txBody>
      </p:sp>
    </p:spTree>
    <p:extLst>
      <p:ext uri="{BB962C8B-B14F-4D97-AF65-F5344CB8AC3E}">
        <p14:creationId xmlns:p14="http://schemas.microsoft.com/office/powerpoint/2010/main" val="680912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sv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archive.ics.uci.edu/dataset/20/census+income"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7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7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4.xml"/><Relationship Id="rId5" Type="http://schemas.openxmlformats.org/officeDocument/2006/relationships/image" Target="../media/image64.svg"/><Relationship Id="rId4" Type="http://schemas.openxmlformats.org/officeDocument/2006/relationships/image" Target="../media/image63.png"/></Relationships>
</file>

<file path=ppt/slides/_rels/slide44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51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6.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8.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3.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7.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590.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591.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59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59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1.xml.rels><?xml version="1.0" encoding="UTF-8" standalone="yes"?>
<Relationships xmlns="http://schemas.openxmlformats.org/package/2006/relationships"><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60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603.xml.rels><?xml version="1.0" encoding="UTF-8" standalone="yes"?>
<Relationships xmlns="http://schemas.openxmlformats.org/package/2006/relationships"><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604.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605.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606.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60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9.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2.xml"/></Relationships>
</file>

<file path=ppt/slides/_rels/slide610.xml.rels><?xml version="1.0" encoding="UTF-8" standalone="yes"?>
<Relationships xmlns="http://schemas.openxmlformats.org/package/2006/relationships"><Relationship Id="rId2" Type="http://schemas.openxmlformats.org/officeDocument/2006/relationships/image" Target="../media/image630.png"/><Relationship Id="rId1" Type="http://schemas.openxmlformats.org/officeDocument/2006/relationships/slideLayout" Target="../slideLayouts/slideLayout2.xml"/></Relationships>
</file>

<file path=ppt/slides/_rels/slide61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12.xml.rels><?xml version="1.0" encoding="UTF-8" standalone="yes"?>
<Relationships xmlns="http://schemas.openxmlformats.org/package/2006/relationships"><Relationship Id="rId2" Type="http://schemas.openxmlformats.org/officeDocument/2006/relationships/image" Target="../media/image650.png"/><Relationship Id="rId1" Type="http://schemas.openxmlformats.org/officeDocument/2006/relationships/slideLayout" Target="../slideLayouts/slideLayout2.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4.xml.rels><?xml version="1.0" encoding="UTF-8" standalone="yes"?>
<Relationships xmlns="http://schemas.openxmlformats.org/package/2006/relationships"><Relationship Id="rId2" Type="http://schemas.openxmlformats.org/officeDocument/2006/relationships/image" Target="../media/image660.png"/><Relationship Id="rId1" Type="http://schemas.openxmlformats.org/officeDocument/2006/relationships/slideLayout" Target="../slideLayouts/slideLayout2.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8.xml.rels><?xml version="1.0" encoding="UTF-8" standalone="yes"?>
<Relationships xmlns="http://schemas.openxmlformats.org/package/2006/relationships"><Relationship Id="rId2" Type="http://schemas.openxmlformats.org/officeDocument/2006/relationships/image" Target="../media/image670.png"/><Relationship Id="rId1" Type="http://schemas.openxmlformats.org/officeDocument/2006/relationships/slideLayout" Target="../slideLayouts/slideLayout2.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62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62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623.xml.rels><?xml version="1.0" encoding="UTF-8" standalone="yes"?>
<Relationships xmlns="http://schemas.openxmlformats.org/package/2006/relationships"><Relationship Id="rId2" Type="http://schemas.openxmlformats.org/officeDocument/2006/relationships/image" Target="../media/image720.png"/><Relationship Id="rId1" Type="http://schemas.openxmlformats.org/officeDocument/2006/relationships/slideLayout" Target="../slideLayouts/slideLayout2.xml"/></Relationships>
</file>

<file path=ppt/slides/_rels/slide624.xml.rels><?xml version="1.0" encoding="UTF-8" standalone="yes"?>
<Relationships xmlns="http://schemas.openxmlformats.org/package/2006/relationships"><Relationship Id="rId2" Type="http://schemas.openxmlformats.org/officeDocument/2006/relationships/image" Target="../media/image730.png"/><Relationship Id="rId1" Type="http://schemas.openxmlformats.org/officeDocument/2006/relationships/slideLayout" Target="../slideLayouts/slideLayout2.xml"/></Relationships>
</file>

<file path=ppt/slides/_rels/slide62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740.png"/><Relationship Id="rId1" Type="http://schemas.openxmlformats.org/officeDocument/2006/relationships/slideLayout" Target="../slideLayouts/slideLayout2.xml"/></Relationships>
</file>

<file path=ppt/slides/_rels/slide626.xml.rels><?xml version="1.0" encoding="UTF-8" standalone="yes"?>
<Relationships xmlns="http://schemas.openxmlformats.org/package/2006/relationships"><Relationship Id="rId2" Type="http://schemas.openxmlformats.org/officeDocument/2006/relationships/image" Target="../media/image760.png"/><Relationship Id="rId1" Type="http://schemas.openxmlformats.org/officeDocument/2006/relationships/slideLayout" Target="../slideLayouts/slideLayout2.xml"/></Relationships>
</file>

<file path=ppt/slides/_rels/slide627.xml.rels><?xml version="1.0" encoding="UTF-8" standalone="yes"?>
<Relationships xmlns="http://schemas.openxmlformats.org/package/2006/relationships"><Relationship Id="rId2" Type="http://schemas.openxmlformats.org/officeDocument/2006/relationships/image" Target="../media/image770.png"/><Relationship Id="rId1" Type="http://schemas.openxmlformats.org/officeDocument/2006/relationships/slideLayout" Target="../slideLayouts/slideLayout2.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780.png"/><Relationship Id="rId1" Type="http://schemas.openxmlformats.org/officeDocument/2006/relationships/slideLayout" Target="../slideLayouts/slideLayout2.xml"/></Relationships>
</file>

<file path=ppt/slides/_rels/slide63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800.png"/><Relationship Id="rId1" Type="http://schemas.openxmlformats.org/officeDocument/2006/relationships/slideLayout" Target="../slideLayouts/slideLayout2.xml"/></Relationships>
</file>

<file path=ppt/slides/_rels/slide632.xml.rels><?xml version="1.0" encoding="UTF-8" standalone="yes"?>
<Relationships xmlns="http://schemas.openxmlformats.org/package/2006/relationships"><Relationship Id="rId2" Type="http://schemas.openxmlformats.org/officeDocument/2006/relationships/image" Target="../media/image820.png"/><Relationship Id="rId1" Type="http://schemas.openxmlformats.org/officeDocument/2006/relationships/slideLayout" Target="../slideLayouts/slideLayout2.xml"/></Relationships>
</file>

<file path=ppt/slides/_rels/slide63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63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840.png"/><Relationship Id="rId1" Type="http://schemas.openxmlformats.org/officeDocument/2006/relationships/slideLayout" Target="../slideLayouts/slideLayout2.xml"/></Relationships>
</file>

<file path=ppt/slides/_rels/slide63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63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870.png"/><Relationship Id="rId1" Type="http://schemas.openxmlformats.org/officeDocument/2006/relationships/slideLayout" Target="../slideLayouts/slideLayout2.xml"/></Relationships>
</file>

<file path=ppt/slides/_rels/slide63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890.png"/><Relationship Id="rId1" Type="http://schemas.openxmlformats.org/officeDocument/2006/relationships/slideLayout" Target="../slideLayouts/slideLayout2.xml"/></Relationships>
</file>

<file path=ppt/slides/_rels/slide63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910.png"/><Relationship Id="rId1" Type="http://schemas.openxmlformats.org/officeDocument/2006/relationships/slideLayout" Target="../slideLayouts/slideLayout2.xml"/></Relationships>
</file>

<file path=ppt/slides/_rels/slide639.xml.rels><?xml version="1.0" encoding="UTF-8" standalone="yes"?>
<Relationships xmlns="http://schemas.openxmlformats.org/package/2006/relationships"><Relationship Id="rId2" Type="http://schemas.openxmlformats.org/officeDocument/2006/relationships/image" Target="../media/image930.png"/><Relationship Id="rId1" Type="http://schemas.openxmlformats.org/officeDocument/2006/relationships/slideLayout" Target="../slideLayouts/slideLayout2.xml"/></Relationships>
</file>

<file path=ppt/slides/_rels/slide640.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641.xml.rels><?xml version="1.0" encoding="UTF-8" standalone="yes"?>
<Relationships xmlns="http://schemas.openxmlformats.org/package/2006/relationships"><Relationship Id="rId3" Type="http://schemas.openxmlformats.org/officeDocument/2006/relationships/image" Target="../media/image960.png"/><Relationship Id="rId2" Type="http://schemas.openxmlformats.org/officeDocument/2006/relationships/image" Target="../media/image950.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2.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6.xml.rels><?xml version="1.0" encoding="UTF-8" standalone="yes"?>
<Relationships xmlns="http://schemas.openxmlformats.org/package/2006/relationships"><Relationship Id="rId2" Type="http://schemas.openxmlformats.org/officeDocument/2006/relationships/image" Target="../media/image1010.png"/><Relationship Id="rId1" Type="http://schemas.openxmlformats.org/officeDocument/2006/relationships/slideLayout" Target="../slideLayouts/slideLayout2.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9.xml.rels><?xml version="1.0" encoding="UTF-8" standalone="yes"?>
<Relationships xmlns="http://schemas.openxmlformats.org/package/2006/relationships"><Relationship Id="rId2" Type="http://schemas.openxmlformats.org/officeDocument/2006/relationships/image" Target="../media/image1020.png"/><Relationship Id="rId1" Type="http://schemas.openxmlformats.org/officeDocument/2006/relationships/slideLayout" Target="../slideLayouts/slideLayout2.xml"/></Relationships>
</file>

<file path=ppt/slides/_rels/slide670.xml.rels><?xml version="1.0" encoding="UTF-8" standalone="yes"?>
<Relationships xmlns="http://schemas.openxmlformats.org/package/2006/relationships"><Relationship Id="rId2" Type="http://schemas.openxmlformats.org/officeDocument/2006/relationships/image" Target="../media/image1030.png"/><Relationship Id="rId1" Type="http://schemas.openxmlformats.org/officeDocument/2006/relationships/slideLayout" Target="../slideLayouts/slideLayout2.xml"/></Relationships>
</file>

<file path=ppt/slides/_rels/slide67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672.xml.rels><?xml version="1.0" encoding="UTF-8" standalone="yes"?>
<Relationships xmlns="http://schemas.openxmlformats.org/package/2006/relationships"><Relationship Id="rId2" Type="http://schemas.openxmlformats.org/officeDocument/2006/relationships/image" Target="../media/image1050.png"/><Relationship Id="rId1" Type="http://schemas.openxmlformats.org/officeDocument/2006/relationships/slideLayout" Target="../slideLayouts/slideLayout2.xml"/></Relationships>
</file>

<file path=ppt/slides/_rels/slide673.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060.png"/><Relationship Id="rId1" Type="http://schemas.openxmlformats.org/officeDocument/2006/relationships/slideLayout" Target="../slideLayouts/slideLayout2.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5.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686.xml.rels><?xml version="1.0" encoding="UTF-8" standalone="yes"?>
<Relationships xmlns="http://schemas.openxmlformats.org/package/2006/relationships"><Relationship Id="rId2" Type="http://schemas.openxmlformats.org/officeDocument/2006/relationships/image" Target="../media/image1090.png"/><Relationship Id="rId1" Type="http://schemas.openxmlformats.org/officeDocument/2006/relationships/slideLayout" Target="../slideLayouts/slideLayout2.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9.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692.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4.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7.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9.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2.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2.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4.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6.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8.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1.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732.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733.xml.rels><?xml version="1.0" encoding="UTF-8" standalone="yes"?>
<Relationships xmlns="http://schemas.openxmlformats.org/package/2006/relationships"><Relationship Id="rId2" Type="http://schemas.openxmlformats.org/officeDocument/2006/relationships/image" Target="../media/image1230.png"/><Relationship Id="rId1" Type="http://schemas.openxmlformats.org/officeDocument/2006/relationships/slideLayout" Target="../slideLayouts/slideLayout2.xml"/></Relationships>
</file>

<file path=ppt/slides/_rels/slide73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240.png"/><Relationship Id="rId1" Type="http://schemas.openxmlformats.org/officeDocument/2006/relationships/slideLayout" Target="../slideLayouts/slideLayout2.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6.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3.xml.rels><?xml version="1.0" encoding="UTF-8" standalone="yes"?>
<Relationships xmlns="http://schemas.openxmlformats.org/package/2006/relationships"><Relationship Id="rId2" Type="http://schemas.openxmlformats.org/officeDocument/2006/relationships/image" Target="../media/image1270.png"/><Relationship Id="rId1" Type="http://schemas.openxmlformats.org/officeDocument/2006/relationships/slideLayout" Target="../slideLayouts/slideLayout2.xml"/></Relationships>
</file>

<file path=ppt/slides/_rels/slide744.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745.xml.rels><?xml version="1.0" encoding="UTF-8" standalone="yes"?>
<Relationships xmlns="http://schemas.openxmlformats.org/package/2006/relationships"><Relationship Id="rId2" Type="http://schemas.openxmlformats.org/officeDocument/2006/relationships/image" Target="../media/image1290.png"/><Relationship Id="rId1" Type="http://schemas.openxmlformats.org/officeDocument/2006/relationships/slideLayout" Target="../slideLayouts/slideLayout2.xml"/></Relationships>
</file>

<file path=ppt/slides/_rels/slide746.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1.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5.xml.rels><?xml version="1.0" encoding="UTF-8" standalone="yes"?>
<Relationships xmlns="http://schemas.openxmlformats.org/package/2006/relationships"><Relationship Id="rId2" Type="http://schemas.openxmlformats.org/officeDocument/2006/relationships/image" Target="../media/image1320.png"/><Relationship Id="rId1" Type="http://schemas.openxmlformats.org/officeDocument/2006/relationships/slideLayout" Target="../slideLayouts/slideLayout2.xml"/></Relationships>
</file>

<file path=ppt/slides/_rels/slide756.xml.rels><?xml version="1.0" encoding="UTF-8" standalone="yes"?>
<Relationships xmlns="http://schemas.openxmlformats.org/package/2006/relationships"><Relationship Id="rId2" Type="http://schemas.openxmlformats.org/officeDocument/2006/relationships/image" Target="../media/image1330.png"/><Relationship Id="rId1" Type="http://schemas.openxmlformats.org/officeDocument/2006/relationships/slideLayout" Target="../slideLayouts/slideLayout2.xml"/></Relationships>
</file>

<file path=ppt/slides/_rels/slide757.xml.rels><?xml version="1.0" encoding="UTF-8" standalone="yes"?>
<Relationships xmlns="http://schemas.openxmlformats.org/package/2006/relationships"><Relationship Id="rId2" Type="http://schemas.openxmlformats.org/officeDocument/2006/relationships/image" Target="../media/image1340.png"/><Relationship Id="rId1" Type="http://schemas.openxmlformats.org/officeDocument/2006/relationships/slideLayout" Target="../slideLayouts/slideLayout2.xml"/></Relationships>
</file>

<file path=ppt/slides/_rels/slide75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350.png"/><Relationship Id="rId1" Type="http://schemas.openxmlformats.org/officeDocument/2006/relationships/slideLayout" Target="../slideLayouts/slideLayout2.xml"/></Relationships>
</file>

<file path=ppt/slides/_rels/slide759.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760.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7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3.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7.xml.rels><?xml version="1.0" encoding="UTF-8" standalone="yes"?>
<Relationships xmlns="http://schemas.openxmlformats.org/package/2006/relationships"><Relationship Id="rId2" Type="http://schemas.openxmlformats.org/officeDocument/2006/relationships/image" Target="../media/image1410.png"/><Relationship Id="rId1" Type="http://schemas.openxmlformats.org/officeDocument/2006/relationships/slideLayout" Target="../slideLayouts/slideLayout2.xml"/></Relationships>
</file>

<file path=ppt/slides/_rels/slide778.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779.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2.xml.rels><?xml version="1.0" encoding="UTF-8" standalone="yes"?>
<Relationships xmlns="http://schemas.openxmlformats.org/package/2006/relationships"><Relationship Id="rId2" Type="http://schemas.openxmlformats.org/officeDocument/2006/relationships/image" Target="../media/image1440.png"/><Relationship Id="rId1" Type="http://schemas.openxmlformats.org/officeDocument/2006/relationships/slideLayout" Target="../slideLayouts/slideLayout2.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4.xml.rels><?xml version="1.0" encoding="UTF-8" standalone="yes"?>
<Relationships xmlns="http://schemas.openxmlformats.org/package/2006/relationships"><Relationship Id="rId2" Type="http://schemas.openxmlformats.org/officeDocument/2006/relationships/image" Target="../media/image1450.png"/><Relationship Id="rId1" Type="http://schemas.openxmlformats.org/officeDocument/2006/relationships/slideLayout" Target="../slideLayouts/slideLayout2.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0.xml.rels><?xml version="1.0" encoding="UTF-8" standalone="yes"?>
<Relationships xmlns="http://schemas.openxmlformats.org/package/2006/relationships"><Relationship Id="rId2" Type="http://schemas.openxmlformats.org/officeDocument/2006/relationships/image" Target="../media/image1460.png"/><Relationship Id="rId1" Type="http://schemas.openxmlformats.org/officeDocument/2006/relationships/slideLayout" Target="../slideLayouts/slideLayout2.xml"/></Relationships>
</file>

<file path=ppt/slides/_rels/slide801.xml.rels><?xml version="1.0" encoding="UTF-8" standalone="yes"?>
<Relationships xmlns="http://schemas.openxmlformats.org/package/2006/relationships"><Relationship Id="rId2" Type="http://schemas.openxmlformats.org/officeDocument/2006/relationships/image" Target="../media/image1470.png"/><Relationship Id="rId1" Type="http://schemas.openxmlformats.org/officeDocument/2006/relationships/slideLayout" Target="../slideLayouts/slideLayout2.xml"/></Relationships>
</file>

<file path=ppt/slides/_rels/slide802.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803.xml.rels><?xml version="1.0" encoding="UTF-8" standalone="yes"?>
<Relationships xmlns="http://schemas.openxmlformats.org/package/2006/relationships"><Relationship Id="rId2" Type="http://schemas.openxmlformats.org/officeDocument/2006/relationships/image" Target="../media/image1490.png"/><Relationship Id="rId1" Type="http://schemas.openxmlformats.org/officeDocument/2006/relationships/slideLayout" Target="../slideLayouts/slideLayout2.xml"/></Relationships>
</file>

<file path=ppt/slides/_rels/slide804.xml.rels><?xml version="1.0" encoding="UTF-8" standalone="yes"?>
<Relationships xmlns="http://schemas.openxmlformats.org/package/2006/relationships"><Relationship Id="rId2" Type="http://schemas.openxmlformats.org/officeDocument/2006/relationships/image" Target="../media/image1500.png"/><Relationship Id="rId1" Type="http://schemas.openxmlformats.org/officeDocument/2006/relationships/slideLayout" Target="../slideLayouts/slideLayout2.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6.xml.rels><?xml version="1.0" encoding="UTF-8" standalone="yes"?>
<Relationships xmlns="http://schemas.openxmlformats.org/package/2006/relationships"><Relationship Id="rId2" Type="http://schemas.openxmlformats.org/officeDocument/2006/relationships/image" Target="../media/image1510.png"/><Relationship Id="rId1" Type="http://schemas.openxmlformats.org/officeDocument/2006/relationships/slideLayout" Target="../slideLayouts/slideLayout2.xml"/></Relationships>
</file>

<file path=ppt/slides/_rels/slide817.xml.rels><?xml version="1.0" encoding="UTF-8" standalone="yes"?>
<Relationships xmlns="http://schemas.openxmlformats.org/package/2006/relationships"><Relationship Id="rId2" Type="http://schemas.openxmlformats.org/officeDocument/2006/relationships/image" Target="../media/image1520.png"/><Relationship Id="rId1" Type="http://schemas.openxmlformats.org/officeDocument/2006/relationships/slideLayout" Target="../slideLayouts/slideLayout2.xml"/></Relationships>
</file>

<file path=ppt/slides/_rels/slide818.xml.rels><?xml version="1.0" encoding="UTF-8" standalone="yes"?>
<Relationships xmlns="http://schemas.openxmlformats.org/package/2006/relationships"><Relationship Id="rId2" Type="http://schemas.openxmlformats.org/officeDocument/2006/relationships/image" Target="../media/image1530.png"/><Relationship Id="rId1" Type="http://schemas.openxmlformats.org/officeDocument/2006/relationships/slideLayout" Target="../slideLayouts/slideLayout2.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5.xml.rels><?xml version="1.0" encoding="UTF-8" standalone="yes"?>
<Relationships xmlns="http://schemas.openxmlformats.org/package/2006/relationships"><Relationship Id="rId2" Type="http://schemas.openxmlformats.org/officeDocument/2006/relationships/image" Target="../media/image1540.png"/><Relationship Id="rId1" Type="http://schemas.openxmlformats.org/officeDocument/2006/relationships/slideLayout" Target="../slideLayouts/slideLayout2.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7.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828.xml.rels><?xml version="1.0" encoding="UTF-8" standalone="yes"?>
<Relationships xmlns="http://schemas.openxmlformats.org/package/2006/relationships"><Relationship Id="rId2" Type="http://schemas.openxmlformats.org/officeDocument/2006/relationships/image" Target="../media/image1560.png"/><Relationship Id="rId1" Type="http://schemas.openxmlformats.org/officeDocument/2006/relationships/slideLayout" Target="../slideLayouts/slideLayout2.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2.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4.xml.rels><?xml version="1.0" encoding="UTF-8" standalone="yes"?>
<Relationships xmlns="http://schemas.openxmlformats.org/package/2006/relationships"><Relationship Id="rId2" Type="http://schemas.openxmlformats.org/officeDocument/2006/relationships/image" Target="../media/image1590.png"/><Relationship Id="rId1" Type="http://schemas.openxmlformats.org/officeDocument/2006/relationships/slideLayout" Target="../slideLayouts/slideLayout2.xml"/></Relationships>
</file>

<file path=ppt/slides/_rels/slide855.xml.rels><?xml version="1.0" encoding="UTF-8" standalone="yes"?>
<Relationships xmlns="http://schemas.openxmlformats.org/package/2006/relationships"><Relationship Id="rId2" Type="http://schemas.openxmlformats.org/officeDocument/2006/relationships/image" Target="../media/image1600.png"/><Relationship Id="rId1" Type="http://schemas.openxmlformats.org/officeDocument/2006/relationships/slideLayout" Target="../slideLayouts/slideLayout2.xml"/></Relationships>
</file>

<file path=ppt/slides/_rels/slide8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1.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862.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863.xml.rels><?xml version="1.0" encoding="UTF-8" standalone="yes"?>
<Relationships xmlns="http://schemas.openxmlformats.org/package/2006/relationships"><Relationship Id="rId3" Type="http://schemas.openxmlformats.org/officeDocument/2006/relationships/hyperlink" Target="https://scikit-learn.org/stable/modules/generated/sklearn.linear_model.LassoCV.html" TargetMode="External"/><Relationship Id="rId2" Type="http://schemas.openxmlformats.org/officeDocument/2006/relationships/image" Target="../media/image163.png"/><Relationship Id="rId1" Type="http://schemas.openxmlformats.org/officeDocument/2006/relationships/slideLayout" Target="../slideLayouts/slideLayout2.xml"/><Relationship Id="rId4" Type="http://schemas.openxmlformats.org/officeDocument/2006/relationships/image" Target="../media/image164.png"/></Relationships>
</file>

<file path=ppt/slides/_rels/slide8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0.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8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3.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8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6.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8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7.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888.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8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3DAE-AFA6-402D-8E70-99CA22CC916B}"/>
              </a:ext>
            </a:extLst>
          </p:cNvPr>
          <p:cNvSpPr>
            <a:spLocks noGrp="1"/>
          </p:cNvSpPr>
          <p:nvPr>
            <p:ph type="ctrTitle"/>
          </p:nvPr>
        </p:nvSpPr>
        <p:spPr>
          <a:xfrm>
            <a:off x="1524000" y="1122363"/>
            <a:ext cx="9144000" cy="1655762"/>
          </a:xfrm>
        </p:spPr>
        <p:txBody>
          <a:bodyPr/>
          <a:lstStyle/>
          <a:p>
            <a:r>
              <a:rPr lang="en-US" dirty="0"/>
              <a:t>Introduction to Data Science</a:t>
            </a:r>
          </a:p>
        </p:txBody>
      </p:sp>
      <p:sp>
        <p:nvSpPr>
          <p:cNvPr id="3" name="Subtitle 2">
            <a:extLst>
              <a:ext uri="{FF2B5EF4-FFF2-40B4-BE49-F238E27FC236}">
                <a16:creationId xmlns:a16="http://schemas.microsoft.com/office/drawing/2014/main" id="{8BBBD4A2-EDF6-4F97-AE0C-118EB5B76A8F}"/>
              </a:ext>
            </a:extLst>
          </p:cNvPr>
          <p:cNvSpPr>
            <a:spLocks noGrp="1"/>
          </p:cNvSpPr>
          <p:nvPr>
            <p:ph type="subTitle" idx="1"/>
          </p:nvPr>
        </p:nvSpPr>
        <p:spPr/>
        <p:txBody>
          <a:bodyPr>
            <a:normAutofit lnSpcReduction="10000"/>
          </a:bodyPr>
          <a:lstStyle/>
          <a:p>
            <a:r>
              <a:rPr lang="en-US" dirty="0"/>
              <a:t>Carl Hope Korkpoe, PhD</a:t>
            </a:r>
          </a:p>
          <a:p>
            <a:r>
              <a:rPr lang="en-US" dirty="0"/>
              <a:t>Academic City University College </a:t>
            </a:r>
          </a:p>
          <a:p>
            <a:r>
              <a:rPr lang="en-US" dirty="0"/>
              <a:t>Accra, Ghana</a:t>
            </a:r>
          </a:p>
          <a:p>
            <a:r>
              <a:rPr lang="en-US" dirty="0"/>
              <a:t>carl.korkpoe@acity.edu.gh</a:t>
            </a:r>
          </a:p>
        </p:txBody>
      </p:sp>
    </p:spTree>
    <p:extLst>
      <p:ext uri="{BB962C8B-B14F-4D97-AF65-F5344CB8AC3E}">
        <p14:creationId xmlns:p14="http://schemas.microsoft.com/office/powerpoint/2010/main" val="4149139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5270-AD62-41FE-9882-AB052896EF96}"/>
              </a:ext>
            </a:extLst>
          </p:cNvPr>
          <p:cNvSpPr>
            <a:spLocks noGrp="1"/>
          </p:cNvSpPr>
          <p:nvPr>
            <p:ph type="title"/>
          </p:nvPr>
        </p:nvSpPr>
        <p:spPr>
          <a:xfrm>
            <a:off x="838200" y="365125"/>
            <a:ext cx="10515600" cy="697193"/>
          </a:xfrm>
        </p:spPr>
        <p:txBody>
          <a:bodyPr/>
          <a:lstStyle/>
          <a:p>
            <a:r>
              <a:rPr lang="en-US" dirty="0"/>
              <a:t>Introducing Data Science</a:t>
            </a:r>
          </a:p>
        </p:txBody>
      </p:sp>
      <p:pic>
        <p:nvPicPr>
          <p:cNvPr id="5" name="Picture 4">
            <a:extLst>
              <a:ext uri="{FF2B5EF4-FFF2-40B4-BE49-F238E27FC236}">
                <a16:creationId xmlns:a16="http://schemas.microsoft.com/office/drawing/2014/main" id="{57D2C348-28FA-49A7-80EC-09C2937B8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0791" y="1264024"/>
            <a:ext cx="4975413" cy="4975413"/>
          </a:xfrm>
          <a:prstGeom prst="rect">
            <a:avLst/>
          </a:prstGeom>
        </p:spPr>
      </p:pic>
      <p:sp>
        <p:nvSpPr>
          <p:cNvPr id="4" name="Slide Number Placeholder 3">
            <a:extLst>
              <a:ext uri="{FF2B5EF4-FFF2-40B4-BE49-F238E27FC236}">
                <a16:creationId xmlns:a16="http://schemas.microsoft.com/office/drawing/2014/main" id="{02369A56-1634-4185-A335-B03291E32D39}"/>
              </a:ext>
            </a:extLst>
          </p:cNvPr>
          <p:cNvSpPr>
            <a:spLocks noGrp="1"/>
          </p:cNvSpPr>
          <p:nvPr>
            <p:ph type="sldNum" sz="quarter" idx="12"/>
          </p:nvPr>
        </p:nvSpPr>
        <p:spPr/>
        <p:txBody>
          <a:bodyPr/>
          <a:lstStyle/>
          <a:p>
            <a:fld id="{6B97D948-30E8-43F7-AE10-F6E2D9F2BBB1}" type="slidenum">
              <a:rPr lang="en-US" smtClean="0"/>
              <a:t>2</a:t>
            </a:fld>
            <a:endParaRPr lang="en-US"/>
          </a:p>
        </p:txBody>
      </p:sp>
    </p:spTree>
    <p:extLst>
      <p:ext uri="{BB962C8B-B14F-4D97-AF65-F5344CB8AC3E}">
        <p14:creationId xmlns:p14="http://schemas.microsoft.com/office/powerpoint/2010/main" val="49767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0E518-0C27-48FD-A3D8-BD80708E8EF5}"/>
              </a:ext>
            </a:extLst>
          </p:cNvPr>
          <p:cNvSpPr>
            <a:spLocks noGrp="1"/>
          </p:cNvSpPr>
          <p:nvPr>
            <p:ph type="title"/>
          </p:nvPr>
        </p:nvSpPr>
        <p:spPr>
          <a:xfrm>
            <a:off x="838200" y="365126"/>
            <a:ext cx="10515600" cy="691318"/>
          </a:xfrm>
        </p:spPr>
        <p:txBody>
          <a:bodyPr>
            <a:normAutofit fontScale="90000"/>
          </a:bodyPr>
          <a:lstStyle/>
          <a:p>
            <a:r>
              <a:rPr lang="en-US" dirty="0"/>
              <a:t>What is Data Science?</a:t>
            </a:r>
          </a:p>
        </p:txBody>
      </p:sp>
      <p:sp>
        <p:nvSpPr>
          <p:cNvPr id="3" name="Content Placeholder 2">
            <a:extLst>
              <a:ext uri="{FF2B5EF4-FFF2-40B4-BE49-F238E27FC236}">
                <a16:creationId xmlns:a16="http://schemas.microsoft.com/office/drawing/2014/main" id="{926F014A-F91B-4AEA-9E9D-E71959A9D8EC}"/>
              </a:ext>
            </a:extLst>
          </p:cNvPr>
          <p:cNvSpPr>
            <a:spLocks noGrp="1"/>
          </p:cNvSpPr>
          <p:nvPr>
            <p:ph idx="1"/>
          </p:nvPr>
        </p:nvSpPr>
        <p:spPr>
          <a:xfrm>
            <a:off x="838200" y="1056444"/>
            <a:ext cx="10515600" cy="5120519"/>
          </a:xfrm>
        </p:spPr>
        <p:txBody>
          <a:bodyPr>
            <a:normAutofit/>
          </a:bodyPr>
          <a:lstStyle/>
          <a:p>
            <a:pPr algn="just"/>
            <a:r>
              <a:rPr lang="en-US" i="1" dirty="0"/>
              <a:t>Data Science is about drawing useful conclusions from large and diverse data sets through exploration, prediction, and inference. </a:t>
            </a:r>
          </a:p>
          <a:p>
            <a:pPr algn="just"/>
            <a:endParaRPr lang="en-US" dirty="0">
              <a:solidFill>
                <a:srgbClr val="FF0000"/>
              </a:solidFill>
            </a:endParaRPr>
          </a:p>
          <a:p>
            <a:pPr algn="just"/>
            <a:r>
              <a:rPr lang="en-US" dirty="0">
                <a:solidFill>
                  <a:srgbClr val="FF0000"/>
                </a:solidFill>
              </a:rPr>
              <a:t>Exploration</a:t>
            </a:r>
            <a:r>
              <a:rPr lang="en-US" dirty="0"/>
              <a:t> involves identifying patterns in information. </a:t>
            </a:r>
          </a:p>
          <a:p>
            <a:pPr algn="just"/>
            <a:endParaRPr lang="en-US" dirty="0">
              <a:solidFill>
                <a:srgbClr val="FF0000"/>
              </a:solidFill>
            </a:endParaRPr>
          </a:p>
          <a:p>
            <a:pPr algn="just"/>
            <a:r>
              <a:rPr lang="en-US" dirty="0">
                <a:solidFill>
                  <a:srgbClr val="FF0000"/>
                </a:solidFill>
              </a:rPr>
              <a:t>Prediction</a:t>
            </a:r>
            <a:r>
              <a:rPr lang="en-US" dirty="0"/>
              <a:t> involves using information we know to make informed guesses about values we wish we knew. </a:t>
            </a:r>
          </a:p>
          <a:p>
            <a:pPr algn="just"/>
            <a:endParaRPr lang="en-US" dirty="0">
              <a:solidFill>
                <a:srgbClr val="FF0000"/>
              </a:solidFill>
            </a:endParaRPr>
          </a:p>
          <a:p>
            <a:pPr algn="just"/>
            <a:r>
              <a:rPr lang="en-US" dirty="0">
                <a:solidFill>
                  <a:srgbClr val="FF0000"/>
                </a:solidFill>
              </a:rPr>
              <a:t>Inference</a:t>
            </a:r>
            <a:r>
              <a:rPr lang="en-US" dirty="0"/>
              <a:t> involves quantifying our degree of certainty: will the patterns that we found in our data also appear in new observations? How accurate are our predictions? </a:t>
            </a:r>
          </a:p>
        </p:txBody>
      </p:sp>
      <p:sp>
        <p:nvSpPr>
          <p:cNvPr id="5" name="Slide Number Placeholder 4">
            <a:extLst>
              <a:ext uri="{FF2B5EF4-FFF2-40B4-BE49-F238E27FC236}">
                <a16:creationId xmlns:a16="http://schemas.microsoft.com/office/drawing/2014/main" id="{6564E19C-6C42-48A8-B849-11FA310D0CB2}"/>
              </a:ext>
            </a:extLst>
          </p:cNvPr>
          <p:cNvSpPr>
            <a:spLocks noGrp="1"/>
          </p:cNvSpPr>
          <p:nvPr>
            <p:ph type="sldNum" sz="quarter" idx="12"/>
          </p:nvPr>
        </p:nvSpPr>
        <p:spPr/>
        <p:txBody>
          <a:bodyPr/>
          <a:lstStyle/>
          <a:p>
            <a:fld id="{6B97D948-30E8-43F7-AE10-F6E2D9F2BBB1}" type="slidenum">
              <a:rPr lang="en-US" smtClean="0"/>
              <a:t>3</a:t>
            </a:fld>
            <a:endParaRPr lang="en-US"/>
          </a:p>
        </p:txBody>
      </p:sp>
    </p:spTree>
    <p:extLst>
      <p:ext uri="{BB962C8B-B14F-4D97-AF65-F5344CB8AC3E}">
        <p14:creationId xmlns:p14="http://schemas.microsoft.com/office/powerpoint/2010/main" val="2212648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B8B6-982B-46CD-8337-B427FAB588FB}"/>
              </a:ext>
            </a:extLst>
          </p:cNvPr>
          <p:cNvSpPr>
            <a:spLocks noGrp="1"/>
          </p:cNvSpPr>
          <p:nvPr>
            <p:ph type="title"/>
          </p:nvPr>
        </p:nvSpPr>
        <p:spPr>
          <a:xfrm>
            <a:off x="838200" y="365125"/>
            <a:ext cx="10515600" cy="656851"/>
          </a:xfrm>
        </p:spPr>
        <p:txBody>
          <a:bodyPr>
            <a:normAutofit fontScale="90000"/>
          </a:bodyPr>
          <a:lstStyle/>
          <a:p>
            <a:r>
              <a:rPr lang="en-US" dirty="0"/>
              <a:t>What Skills do Data Scientists Need?</a:t>
            </a:r>
          </a:p>
        </p:txBody>
      </p:sp>
      <p:sp>
        <p:nvSpPr>
          <p:cNvPr id="3" name="Content Placeholder 2">
            <a:extLst>
              <a:ext uri="{FF2B5EF4-FFF2-40B4-BE49-F238E27FC236}">
                <a16:creationId xmlns:a16="http://schemas.microsoft.com/office/drawing/2014/main" id="{C98274D7-3E6A-4153-81A5-E0F920D38E29}"/>
              </a:ext>
            </a:extLst>
          </p:cNvPr>
          <p:cNvSpPr>
            <a:spLocks noGrp="1"/>
          </p:cNvSpPr>
          <p:nvPr>
            <p:ph idx="1"/>
          </p:nvPr>
        </p:nvSpPr>
        <p:spPr>
          <a:xfrm>
            <a:off x="838200" y="1021976"/>
            <a:ext cx="10515600" cy="5154987"/>
          </a:xfrm>
        </p:spPr>
        <p:txBody>
          <a:bodyPr>
            <a:normAutofit/>
          </a:bodyPr>
          <a:lstStyle/>
          <a:p>
            <a:pPr algn="just"/>
            <a:r>
              <a:rPr lang="en-US" dirty="0"/>
              <a:t>The required skill sets for data scientists are often broken down into three key areas:</a:t>
            </a:r>
          </a:p>
          <a:p>
            <a:pPr algn="just"/>
            <a:r>
              <a:rPr lang="en-US" dirty="0">
                <a:solidFill>
                  <a:srgbClr val="0070C0"/>
                </a:solidFill>
              </a:rPr>
              <a:t>Mathematics/statistics</a:t>
            </a:r>
            <a:r>
              <a:rPr lang="en-US" dirty="0"/>
              <a:t> to understand what types of analysis is possible and the techniques involved.</a:t>
            </a:r>
          </a:p>
          <a:p>
            <a:pPr algn="just"/>
            <a:r>
              <a:rPr lang="en-US" dirty="0">
                <a:solidFill>
                  <a:srgbClr val="0070C0"/>
                </a:solidFill>
              </a:rPr>
              <a:t>Databases/programming</a:t>
            </a:r>
            <a:r>
              <a:rPr lang="en-US" dirty="0"/>
              <a:t> to write code that produces the algorithms that do the work.</a:t>
            </a:r>
          </a:p>
          <a:p>
            <a:pPr algn="just"/>
            <a:r>
              <a:rPr lang="en-US" dirty="0">
                <a:solidFill>
                  <a:srgbClr val="0070C0"/>
                </a:solidFill>
              </a:rPr>
              <a:t>Domain knowledge/business understanding</a:t>
            </a:r>
            <a:r>
              <a:rPr lang="en-US" dirty="0"/>
              <a:t> to optimize the technical work referenced above to the unique conditions of the organization you are working for and the business domain you are operating in.</a:t>
            </a:r>
          </a:p>
          <a:p>
            <a:pPr algn="just"/>
            <a:endParaRPr lang="en-US" dirty="0"/>
          </a:p>
        </p:txBody>
      </p:sp>
      <p:sp>
        <p:nvSpPr>
          <p:cNvPr id="5" name="Slide Number Placeholder 4">
            <a:extLst>
              <a:ext uri="{FF2B5EF4-FFF2-40B4-BE49-F238E27FC236}">
                <a16:creationId xmlns:a16="http://schemas.microsoft.com/office/drawing/2014/main" id="{86E5B558-01A2-4A22-BD4A-2E4A038B4423}"/>
              </a:ext>
            </a:extLst>
          </p:cNvPr>
          <p:cNvSpPr>
            <a:spLocks noGrp="1"/>
          </p:cNvSpPr>
          <p:nvPr>
            <p:ph type="sldNum" sz="quarter" idx="12"/>
          </p:nvPr>
        </p:nvSpPr>
        <p:spPr/>
        <p:txBody>
          <a:bodyPr/>
          <a:lstStyle/>
          <a:p>
            <a:fld id="{6B97D948-30E8-43F7-AE10-F6E2D9F2BBB1}" type="slidenum">
              <a:rPr lang="en-US" smtClean="0"/>
              <a:t>4</a:t>
            </a:fld>
            <a:endParaRPr lang="en-US"/>
          </a:p>
        </p:txBody>
      </p:sp>
    </p:spTree>
    <p:extLst>
      <p:ext uri="{BB962C8B-B14F-4D97-AF65-F5344CB8AC3E}">
        <p14:creationId xmlns:p14="http://schemas.microsoft.com/office/powerpoint/2010/main" val="3242694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56322B7-4FA9-4856-B40C-FBAD70ABFC8A}"/>
              </a:ext>
            </a:extLst>
          </p:cNvPr>
          <p:cNvPicPr>
            <a:picLocks noGrp="1" noChangeAspect="1"/>
          </p:cNvPicPr>
          <p:nvPr>
            <p:ph idx="1"/>
          </p:nvPr>
        </p:nvPicPr>
        <p:blipFill>
          <a:blip r:embed="rId2"/>
          <a:stretch>
            <a:fillRect/>
          </a:stretch>
        </p:blipFill>
        <p:spPr>
          <a:xfrm>
            <a:off x="2991775" y="1092611"/>
            <a:ext cx="5426157" cy="5084352"/>
          </a:xfrm>
          <a:prstGeom prst="rect">
            <a:avLst/>
          </a:prstGeom>
        </p:spPr>
      </p:pic>
      <p:sp>
        <p:nvSpPr>
          <p:cNvPr id="3" name="Slide Number Placeholder 2">
            <a:extLst>
              <a:ext uri="{FF2B5EF4-FFF2-40B4-BE49-F238E27FC236}">
                <a16:creationId xmlns:a16="http://schemas.microsoft.com/office/drawing/2014/main" id="{BD52CDCD-AFC8-46C2-ABFA-2DCBC373BB79}"/>
              </a:ext>
            </a:extLst>
          </p:cNvPr>
          <p:cNvSpPr>
            <a:spLocks noGrp="1"/>
          </p:cNvSpPr>
          <p:nvPr>
            <p:ph type="sldNum" sz="quarter" idx="12"/>
          </p:nvPr>
        </p:nvSpPr>
        <p:spPr/>
        <p:txBody>
          <a:bodyPr/>
          <a:lstStyle/>
          <a:p>
            <a:fld id="{6B97D948-30E8-43F7-AE10-F6E2D9F2BBB1}" type="slidenum">
              <a:rPr lang="en-US" smtClean="0"/>
              <a:t>5</a:t>
            </a:fld>
            <a:endParaRPr lang="en-US"/>
          </a:p>
        </p:txBody>
      </p:sp>
    </p:spTree>
    <p:extLst>
      <p:ext uri="{BB962C8B-B14F-4D97-AF65-F5344CB8AC3E}">
        <p14:creationId xmlns:p14="http://schemas.microsoft.com/office/powerpoint/2010/main" val="846250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618FEF-2D96-43BE-8FC9-9CA3C72533E9}"/>
              </a:ext>
            </a:extLst>
          </p:cNvPr>
          <p:cNvPicPr>
            <a:picLocks noGrp="1" noChangeAspect="1"/>
          </p:cNvPicPr>
          <p:nvPr>
            <p:ph idx="1"/>
          </p:nvPr>
        </p:nvPicPr>
        <p:blipFill>
          <a:blip r:embed="rId2"/>
          <a:stretch>
            <a:fillRect/>
          </a:stretch>
        </p:blipFill>
        <p:spPr>
          <a:xfrm>
            <a:off x="2796986" y="580440"/>
            <a:ext cx="5827399" cy="5448568"/>
          </a:xfrm>
        </p:spPr>
      </p:pic>
      <p:sp>
        <p:nvSpPr>
          <p:cNvPr id="3" name="Slide Number Placeholder 2">
            <a:extLst>
              <a:ext uri="{FF2B5EF4-FFF2-40B4-BE49-F238E27FC236}">
                <a16:creationId xmlns:a16="http://schemas.microsoft.com/office/drawing/2014/main" id="{0F096626-3297-402D-97A3-7CB05CC46AAF}"/>
              </a:ext>
            </a:extLst>
          </p:cNvPr>
          <p:cNvSpPr>
            <a:spLocks noGrp="1"/>
          </p:cNvSpPr>
          <p:nvPr>
            <p:ph type="sldNum" sz="quarter" idx="12"/>
          </p:nvPr>
        </p:nvSpPr>
        <p:spPr/>
        <p:txBody>
          <a:bodyPr/>
          <a:lstStyle/>
          <a:p>
            <a:fld id="{6B97D948-30E8-43F7-AE10-F6E2D9F2BBB1}" type="slidenum">
              <a:rPr lang="en-US" smtClean="0"/>
              <a:t>6</a:t>
            </a:fld>
            <a:endParaRPr lang="en-US"/>
          </a:p>
        </p:txBody>
      </p:sp>
    </p:spTree>
    <p:extLst>
      <p:ext uri="{BB962C8B-B14F-4D97-AF65-F5344CB8AC3E}">
        <p14:creationId xmlns:p14="http://schemas.microsoft.com/office/powerpoint/2010/main" val="3310129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8E8FB-3E8C-476E-A2E6-84BFD4DC87FC}"/>
              </a:ext>
            </a:extLst>
          </p:cNvPr>
          <p:cNvSpPr>
            <a:spLocks noGrp="1"/>
          </p:cNvSpPr>
          <p:nvPr>
            <p:ph type="title"/>
          </p:nvPr>
        </p:nvSpPr>
        <p:spPr>
          <a:xfrm>
            <a:off x="838200" y="365126"/>
            <a:ext cx="10515600" cy="673562"/>
          </a:xfrm>
        </p:spPr>
        <p:txBody>
          <a:bodyPr>
            <a:normAutofit fontScale="90000"/>
          </a:bodyPr>
          <a:lstStyle/>
          <a:p>
            <a:r>
              <a:rPr lang="en-US" dirty="0"/>
              <a:t>Tools for Data Science</a:t>
            </a:r>
          </a:p>
        </p:txBody>
      </p:sp>
      <p:sp>
        <p:nvSpPr>
          <p:cNvPr id="3" name="Content Placeholder 2">
            <a:extLst>
              <a:ext uri="{FF2B5EF4-FFF2-40B4-BE49-F238E27FC236}">
                <a16:creationId xmlns:a16="http://schemas.microsoft.com/office/drawing/2014/main" id="{C51822E9-3DD8-4346-B6F4-55C0D55B0386}"/>
              </a:ext>
            </a:extLst>
          </p:cNvPr>
          <p:cNvSpPr>
            <a:spLocks noGrp="1"/>
          </p:cNvSpPr>
          <p:nvPr>
            <p:ph idx="1"/>
          </p:nvPr>
        </p:nvSpPr>
        <p:spPr>
          <a:xfrm>
            <a:off x="838200" y="1038688"/>
            <a:ext cx="10515600" cy="5138275"/>
          </a:xfrm>
        </p:spPr>
        <p:txBody>
          <a:bodyPr>
            <a:normAutofit/>
          </a:bodyPr>
          <a:lstStyle/>
          <a:p>
            <a:pPr algn="just"/>
            <a:r>
              <a:rPr lang="en-US" dirty="0"/>
              <a:t>Our primary tools for </a:t>
            </a:r>
            <a:r>
              <a:rPr lang="en-US" dirty="0">
                <a:solidFill>
                  <a:srgbClr val="FF0000"/>
                </a:solidFill>
              </a:rPr>
              <a:t>exploration</a:t>
            </a:r>
            <a:r>
              <a:rPr lang="en-US" dirty="0"/>
              <a:t> are visualizations and descriptive statistics, for </a:t>
            </a:r>
            <a:r>
              <a:rPr lang="en-US" dirty="0">
                <a:solidFill>
                  <a:srgbClr val="FF0000"/>
                </a:solidFill>
              </a:rPr>
              <a:t>prediction</a:t>
            </a:r>
            <a:r>
              <a:rPr lang="en-US" dirty="0"/>
              <a:t> are machine learning and optimization, and for inference are statistical tests and models.</a:t>
            </a:r>
          </a:p>
          <a:p>
            <a:pPr algn="just"/>
            <a:r>
              <a:rPr lang="en-US" dirty="0"/>
              <a:t>Statistics is a central component of data science because statistics studies how to make robust conclusions based on incomplete information. </a:t>
            </a:r>
          </a:p>
          <a:p>
            <a:endParaRPr lang="en-US" dirty="0"/>
          </a:p>
        </p:txBody>
      </p:sp>
      <p:sp>
        <p:nvSpPr>
          <p:cNvPr id="5" name="Slide Number Placeholder 4">
            <a:extLst>
              <a:ext uri="{FF2B5EF4-FFF2-40B4-BE49-F238E27FC236}">
                <a16:creationId xmlns:a16="http://schemas.microsoft.com/office/drawing/2014/main" id="{A23E5566-FA26-4F02-A5D5-9E771472B28A}"/>
              </a:ext>
            </a:extLst>
          </p:cNvPr>
          <p:cNvSpPr>
            <a:spLocks noGrp="1"/>
          </p:cNvSpPr>
          <p:nvPr>
            <p:ph type="sldNum" sz="quarter" idx="12"/>
          </p:nvPr>
        </p:nvSpPr>
        <p:spPr/>
        <p:txBody>
          <a:bodyPr/>
          <a:lstStyle/>
          <a:p>
            <a:fld id="{6B97D948-30E8-43F7-AE10-F6E2D9F2BBB1}" type="slidenum">
              <a:rPr lang="en-US" smtClean="0"/>
              <a:t>7</a:t>
            </a:fld>
            <a:endParaRPr lang="en-US"/>
          </a:p>
        </p:txBody>
      </p:sp>
    </p:spTree>
    <p:extLst>
      <p:ext uri="{BB962C8B-B14F-4D97-AF65-F5344CB8AC3E}">
        <p14:creationId xmlns:p14="http://schemas.microsoft.com/office/powerpoint/2010/main" val="3703870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F5884-4AAD-4B1D-BDAF-64820751E306}"/>
              </a:ext>
            </a:extLst>
          </p:cNvPr>
          <p:cNvSpPr>
            <a:spLocks noGrp="1"/>
          </p:cNvSpPr>
          <p:nvPr>
            <p:ph type="title"/>
          </p:nvPr>
        </p:nvSpPr>
        <p:spPr>
          <a:xfrm>
            <a:off x="838200" y="365126"/>
            <a:ext cx="10515600" cy="620296"/>
          </a:xfrm>
        </p:spPr>
        <p:txBody>
          <a:bodyPr>
            <a:normAutofit fontScale="90000"/>
          </a:bodyPr>
          <a:lstStyle/>
          <a:p>
            <a:r>
              <a:rPr lang="en-US" dirty="0"/>
              <a:t>Computing</a:t>
            </a:r>
          </a:p>
        </p:txBody>
      </p:sp>
      <p:sp>
        <p:nvSpPr>
          <p:cNvPr id="3" name="Content Placeholder 2">
            <a:extLst>
              <a:ext uri="{FF2B5EF4-FFF2-40B4-BE49-F238E27FC236}">
                <a16:creationId xmlns:a16="http://schemas.microsoft.com/office/drawing/2014/main" id="{A1D89B63-FCF7-46EA-A6A9-C5FD95F8AFEE}"/>
              </a:ext>
            </a:extLst>
          </p:cNvPr>
          <p:cNvSpPr>
            <a:spLocks noGrp="1"/>
          </p:cNvSpPr>
          <p:nvPr>
            <p:ph idx="1"/>
          </p:nvPr>
        </p:nvSpPr>
        <p:spPr>
          <a:xfrm>
            <a:off x="838200" y="985422"/>
            <a:ext cx="10515600" cy="5191541"/>
          </a:xfrm>
        </p:spPr>
        <p:txBody>
          <a:bodyPr>
            <a:normAutofit lnSpcReduction="10000"/>
          </a:bodyPr>
          <a:lstStyle/>
          <a:p>
            <a:pPr algn="just"/>
            <a:r>
              <a:rPr lang="en-US" dirty="0"/>
              <a:t>Computing is a central component because programming allows us to apply analysis techniques to the large and diverse data sets that arise in real-world applications.</a:t>
            </a:r>
          </a:p>
          <a:p>
            <a:pPr algn="just"/>
            <a:r>
              <a:rPr lang="en-US" dirty="0"/>
              <a:t>Our data will include numbers, text, images, videos, and sensor readings. </a:t>
            </a:r>
          </a:p>
          <a:p>
            <a:pPr algn="just"/>
            <a:endParaRPr lang="en-US" dirty="0"/>
          </a:p>
          <a:p>
            <a:pPr algn="just"/>
            <a:r>
              <a:rPr lang="en-US" dirty="0"/>
              <a:t>Data science is all these things, but it is more than the sum of its parts because of the applications. </a:t>
            </a:r>
          </a:p>
          <a:p>
            <a:pPr algn="just"/>
            <a:endParaRPr lang="en-US" dirty="0"/>
          </a:p>
          <a:p>
            <a:pPr algn="just"/>
            <a:r>
              <a:rPr lang="en-US" dirty="0"/>
              <a:t>Through understanding a particular domain, data scientists learn to ask appropriate questions about their data and correctly interpret the answers provided by our inferential and computational tools.</a:t>
            </a:r>
          </a:p>
          <a:p>
            <a:pPr algn="just"/>
            <a:endParaRPr lang="en-US" dirty="0"/>
          </a:p>
        </p:txBody>
      </p:sp>
      <p:sp>
        <p:nvSpPr>
          <p:cNvPr id="5" name="Slide Number Placeholder 4">
            <a:extLst>
              <a:ext uri="{FF2B5EF4-FFF2-40B4-BE49-F238E27FC236}">
                <a16:creationId xmlns:a16="http://schemas.microsoft.com/office/drawing/2014/main" id="{A3D6A3EC-0324-496A-9E0D-FC4F67560D60}"/>
              </a:ext>
            </a:extLst>
          </p:cNvPr>
          <p:cNvSpPr>
            <a:spLocks noGrp="1"/>
          </p:cNvSpPr>
          <p:nvPr>
            <p:ph type="sldNum" sz="quarter" idx="12"/>
          </p:nvPr>
        </p:nvSpPr>
        <p:spPr/>
        <p:txBody>
          <a:bodyPr/>
          <a:lstStyle/>
          <a:p>
            <a:fld id="{6B97D948-30E8-43F7-AE10-F6E2D9F2BBB1}" type="slidenum">
              <a:rPr lang="en-US" smtClean="0"/>
              <a:t>8</a:t>
            </a:fld>
            <a:endParaRPr lang="en-US"/>
          </a:p>
        </p:txBody>
      </p:sp>
    </p:spTree>
    <p:extLst>
      <p:ext uri="{BB962C8B-B14F-4D97-AF65-F5344CB8AC3E}">
        <p14:creationId xmlns:p14="http://schemas.microsoft.com/office/powerpoint/2010/main" val="2243947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3B018-44DC-4ED2-9971-9989BE19EC9E}"/>
              </a:ext>
            </a:extLst>
          </p:cNvPr>
          <p:cNvSpPr>
            <a:spLocks noGrp="1"/>
          </p:cNvSpPr>
          <p:nvPr>
            <p:ph type="title"/>
          </p:nvPr>
        </p:nvSpPr>
        <p:spPr>
          <a:xfrm>
            <a:off x="838200" y="365125"/>
            <a:ext cx="10515600" cy="815605"/>
          </a:xfrm>
        </p:spPr>
        <p:txBody>
          <a:bodyPr/>
          <a:lstStyle/>
          <a:p>
            <a:r>
              <a:rPr lang="en-US" dirty="0"/>
              <a:t>Nature of Programming</a:t>
            </a:r>
          </a:p>
        </p:txBody>
      </p:sp>
      <p:pic>
        <p:nvPicPr>
          <p:cNvPr id="4" name="Content Placeholder 3">
            <a:extLst>
              <a:ext uri="{FF2B5EF4-FFF2-40B4-BE49-F238E27FC236}">
                <a16:creationId xmlns:a16="http://schemas.microsoft.com/office/drawing/2014/main" id="{84ED5DD6-8769-457C-928E-8F986A8ABBA7}"/>
              </a:ext>
            </a:extLst>
          </p:cNvPr>
          <p:cNvPicPr>
            <a:picLocks noGrp="1" noChangeAspect="1"/>
          </p:cNvPicPr>
          <p:nvPr>
            <p:ph idx="1"/>
          </p:nvPr>
        </p:nvPicPr>
        <p:blipFill>
          <a:blip r:embed="rId2"/>
          <a:stretch>
            <a:fillRect/>
          </a:stretch>
        </p:blipFill>
        <p:spPr>
          <a:xfrm>
            <a:off x="989096" y="1473694"/>
            <a:ext cx="9366154" cy="4427838"/>
          </a:xfrm>
          <a:prstGeom prst="rect">
            <a:avLst/>
          </a:prstGeom>
        </p:spPr>
      </p:pic>
      <p:sp>
        <p:nvSpPr>
          <p:cNvPr id="5" name="Slide Number Placeholder 4">
            <a:extLst>
              <a:ext uri="{FF2B5EF4-FFF2-40B4-BE49-F238E27FC236}">
                <a16:creationId xmlns:a16="http://schemas.microsoft.com/office/drawing/2014/main" id="{B95D4B9A-3A99-446B-A916-DDB9A691CCEA}"/>
              </a:ext>
            </a:extLst>
          </p:cNvPr>
          <p:cNvSpPr>
            <a:spLocks noGrp="1"/>
          </p:cNvSpPr>
          <p:nvPr>
            <p:ph type="sldNum" sz="quarter" idx="12"/>
          </p:nvPr>
        </p:nvSpPr>
        <p:spPr/>
        <p:txBody>
          <a:bodyPr/>
          <a:lstStyle/>
          <a:p>
            <a:fld id="{6B97D948-30E8-43F7-AE10-F6E2D9F2BBB1}" type="slidenum">
              <a:rPr lang="en-US" smtClean="0"/>
              <a:t>9</a:t>
            </a:fld>
            <a:endParaRPr lang="en-US"/>
          </a:p>
        </p:txBody>
      </p:sp>
    </p:spTree>
    <p:extLst>
      <p:ext uri="{BB962C8B-B14F-4D97-AF65-F5344CB8AC3E}">
        <p14:creationId xmlns:p14="http://schemas.microsoft.com/office/powerpoint/2010/main" val="990380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F81F3-3225-4E2F-87AD-EFF7E3F1904A}"/>
              </a:ext>
            </a:extLst>
          </p:cNvPr>
          <p:cNvSpPr>
            <a:spLocks noGrp="1"/>
          </p:cNvSpPr>
          <p:nvPr>
            <p:ph type="title"/>
          </p:nvPr>
        </p:nvSpPr>
        <p:spPr>
          <a:xfrm>
            <a:off x="838200" y="365125"/>
            <a:ext cx="10515600" cy="646929"/>
          </a:xfrm>
        </p:spPr>
        <p:txBody>
          <a:bodyPr>
            <a:normAutofit fontScale="90000"/>
          </a:bodyPr>
          <a:lstStyle/>
          <a:p>
            <a:r>
              <a:rPr lang="en-US" dirty="0"/>
              <a:t>Defining Data </a:t>
            </a:r>
          </a:p>
        </p:txBody>
      </p:sp>
      <p:sp>
        <p:nvSpPr>
          <p:cNvPr id="3" name="Content Placeholder 2">
            <a:extLst>
              <a:ext uri="{FF2B5EF4-FFF2-40B4-BE49-F238E27FC236}">
                <a16:creationId xmlns:a16="http://schemas.microsoft.com/office/drawing/2014/main" id="{49C33006-FB30-4E3C-8DE6-C4BFB183E29F}"/>
              </a:ext>
            </a:extLst>
          </p:cNvPr>
          <p:cNvSpPr>
            <a:spLocks noGrp="1"/>
          </p:cNvSpPr>
          <p:nvPr>
            <p:ph idx="1"/>
          </p:nvPr>
        </p:nvSpPr>
        <p:spPr>
          <a:xfrm>
            <a:off x="838200" y="1012054"/>
            <a:ext cx="10515600" cy="5164909"/>
          </a:xfrm>
        </p:spPr>
        <p:txBody>
          <a:bodyPr>
            <a:normAutofit/>
          </a:bodyPr>
          <a:lstStyle/>
          <a:p>
            <a:pPr algn="just"/>
            <a:r>
              <a:rPr lang="en-US" dirty="0"/>
              <a:t>Data are descriptions of the world around us, collected through observation and stored on computers. </a:t>
            </a:r>
          </a:p>
          <a:p>
            <a:pPr algn="just"/>
            <a:endParaRPr lang="en-US" dirty="0"/>
          </a:p>
          <a:p>
            <a:pPr algn="just"/>
            <a:endParaRPr lang="en-US" dirty="0"/>
          </a:p>
          <a:p>
            <a:pPr algn="just"/>
            <a:r>
              <a:rPr lang="en-US" dirty="0"/>
              <a:t>Data is information that can be interpreted by computers and used by humans in decision-making. </a:t>
            </a:r>
          </a:p>
          <a:p>
            <a:pPr algn="just"/>
            <a:endParaRPr lang="en-US" dirty="0"/>
          </a:p>
          <a:p>
            <a:pPr algn="just"/>
            <a:r>
              <a:rPr lang="en-US" dirty="0"/>
              <a:t>It is a collection of facts, such as numbers, words, measurements, observations or even just descriptions of things. </a:t>
            </a:r>
          </a:p>
        </p:txBody>
      </p:sp>
      <p:sp>
        <p:nvSpPr>
          <p:cNvPr id="5" name="Slide Number Placeholder 4">
            <a:extLst>
              <a:ext uri="{FF2B5EF4-FFF2-40B4-BE49-F238E27FC236}">
                <a16:creationId xmlns:a16="http://schemas.microsoft.com/office/drawing/2014/main" id="{6010474F-0A20-4AD9-A69A-BD84EEFF44D6}"/>
              </a:ext>
            </a:extLst>
          </p:cNvPr>
          <p:cNvSpPr>
            <a:spLocks noGrp="1"/>
          </p:cNvSpPr>
          <p:nvPr>
            <p:ph type="sldNum" sz="quarter" idx="12"/>
          </p:nvPr>
        </p:nvSpPr>
        <p:spPr/>
        <p:txBody>
          <a:bodyPr/>
          <a:lstStyle/>
          <a:p>
            <a:fld id="{6B97D948-30E8-43F7-AE10-F6E2D9F2BBB1}" type="slidenum">
              <a:rPr lang="en-US" smtClean="0"/>
              <a:t>10</a:t>
            </a:fld>
            <a:endParaRPr lang="en-US"/>
          </a:p>
        </p:txBody>
      </p:sp>
    </p:spTree>
    <p:extLst>
      <p:ext uri="{BB962C8B-B14F-4D97-AF65-F5344CB8AC3E}">
        <p14:creationId xmlns:p14="http://schemas.microsoft.com/office/powerpoint/2010/main" val="235778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E54FAE-044E-412C-97B7-6C830796E9C3}"/>
              </a:ext>
            </a:extLst>
          </p:cNvPr>
          <p:cNvSpPr>
            <a:spLocks noGrp="1"/>
          </p:cNvSpPr>
          <p:nvPr>
            <p:ph type="title"/>
          </p:nvPr>
        </p:nvSpPr>
        <p:spPr>
          <a:xfrm>
            <a:off x="838200" y="365126"/>
            <a:ext cx="10515600" cy="513764"/>
          </a:xfrm>
        </p:spPr>
        <p:txBody>
          <a:bodyPr>
            <a:normAutofit fontScale="90000"/>
          </a:bodyPr>
          <a:lstStyle/>
          <a:p>
            <a:r>
              <a:rPr lang="en-US" dirty="0"/>
              <a:t>Sources of Data</a:t>
            </a:r>
          </a:p>
        </p:txBody>
      </p:sp>
      <p:sp>
        <p:nvSpPr>
          <p:cNvPr id="3" name="Content Placeholder 2">
            <a:extLst>
              <a:ext uri="{FF2B5EF4-FFF2-40B4-BE49-F238E27FC236}">
                <a16:creationId xmlns:a16="http://schemas.microsoft.com/office/drawing/2014/main" id="{55786255-1151-4D71-893F-B006ECEA4A6C}"/>
              </a:ext>
            </a:extLst>
          </p:cNvPr>
          <p:cNvSpPr>
            <a:spLocks noGrp="1"/>
          </p:cNvSpPr>
          <p:nvPr>
            <p:ph idx="1"/>
          </p:nvPr>
        </p:nvSpPr>
        <p:spPr>
          <a:xfrm>
            <a:off x="838200" y="949911"/>
            <a:ext cx="10515600" cy="5227052"/>
          </a:xfrm>
        </p:spPr>
        <p:txBody>
          <a:bodyPr/>
          <a:lstStyle/>
          <a:p>
            <a:pPr algn="just"/>
            <a:r>
              <a:rPr lang="en-US" dirty="0"/>
              <a:t>In computing, data is typically stored electronically in the form of files or databases. </a:t>
            </a:r>
          </a:p>
          <a:p>
            <a:pPr algn="just"/>
            <a:endParaRPr lang="en-US" dirty="0"/>
          </a:p>
          <a:p>
            <a:pPr algn="just"/>
            <a:r>
              <a:rPr lang="en-US" dirty="0"/>
              <a:t>Data can come from many sources including user input (typed words or images), sensors (temperature readings.) or algorithms (calculations). . . </a:t>
            </a:r>
          </a:p>
          <a:p>
            <a:pPr algn="just"/>
            <a:endParaRPr lang="en-US" dirty="0"/>
          </a:p>
          <a:p>
            <a:pPr algn="just"/>
            <a:r>
              <a:rPr lang="en-US" dirty="0"/>
              <a:t>Computers enable us to infer properties of the world from these descriptions. </a:t>
            </a:r>
          </a:p>
          <a:p>
            <a:pPr algn="just"/>
            <a:r>
              <a:rPr lang="en-US" dirty="0"/>
              <a:t>GIGO</a:t>
            </a:r>
          </a:p>
          <a:p>
            <a:pPr algn="just"/>
            <a:endParaRPr lang="en-US" dirty="0"/>
          </a:p>
          <a:p>
            <a:endParaRPr lang="en-US" dirty="0"/>
          </a:p>
        </p:txBody>
      </p:sp>
      <p:sp>
        <p:nvSpPr>
          <p:cNvPr id="5" name="Slide Number Placeholder 4">
            <a:extLst>
              <a:ext uri="{FF2B5EF4-FFF2-40B4-BE49-F238E27FC236}">
                <a16:creationId xmlns:a16="http://schemas.microsoft.com/office/drawing/2014/main" id="{10EA806E-5CD4-40D2-A852-F74B5D5664D8}"/>
              </a:ext>
            </a:extLst>
          </p:cNvPr>
          <p:cNvSpPr>
            <a:spLocks noGrp="1"/>
          </p:cNvSpPr>
          <p:nvPr>
            <p:ph type="sldNum" sz="quarter" idx="12"/>
          </p:nvPr>
        </p:nvSpPr>
        <p:spPr/>
        <p:txBody>
          <a:bodyPr/>
          <a:lstStyle/>
          <a:p>
            <a:fld id="{6B97D948-30E8-43F7-AE10-F6E2D9F2BBB1}" type="slidenum">
              <a:rPr lang="en-US" smtClean="0"/>
              <a:t>11</a:t>
            </a:fld>
            <a:endParaRPr lang="en-US"/>
          </a:p>
        </p:txBody>
      </p:sp>
    </p:spTree>
    <p:extLst>
      <p:ext uri="{BB962C8B-B14F-4D97-AF65-F5344CB8AC3E}">
        <p14:creationId xmlns:p14="http://schemas.microsoft.com/office/powerpoint/2010/main" val="3810466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0C3AD-0D3A-49D4-AD31-6AC9DE3BF3AC}"/>
              </a:ext>
            </a:extLst>
          </p:cNvPr>
          <p:cNvSpPr>
            <a:spLocks noGrp="1"/>
          </p:cNvSpPr>
          <p:nvPr>
            <p:ph type="title"/>
          </p:nvPr>
        </p:nvSpPr>
        <p:spPr>
          <a:xfrm>
            <a:off x="838200" y="365125"/>
            <a:ext cx="10515600" cy="717951"/>
          </a:xfrm>
        </p:spPr>
        <p:txBody>
          <a:bodyPr/>
          <a:lstStyle/>
          <a:p>
            <a:r>
              <a:rPr lang="en-US" dirty="0"/>
              <a:t>Data Science formally. . . </a:t>
            </a:r>
          </a:p>
        </p:txBody>
      </p:sp>
      <p:sp>
        <p:nvSpPr>
          <p:cNvPr id="3" name="Content Placeholder 2">
            <a:extLst>
              <a:ext uri="{FF2B5EF4-FFF2-40B4-BE49-F238E27FC236}">
                <a16:creationId xmlns:a16="http://schemas.microsoft.com/office/drawing/2014/main" id="{35CA9217-E3E8-493E-8028-372E84895F2C}"/>
              </a:ext>
            </a:extLst>
          </p:cNvPr>
          <p:cNvSpPr>
            <a:spLocks noGrp="1"/>
          </p:cNvSpPr>
          <p:nvPr>
            <p:ph idx="1"/>
          </p:nvPr>
        </p:nvSpPr>
        <p:spPr>
          <a:xfrm>
            <a:off x="838200" y="1083076"/>
            <a:ext cx="10515600" cy="5093887"/>
          </a:xfrm>
        </p:spPr>
        <p:txBody>
          <a:bodyPr/>
          <a:lstStyle/>
          <a:p>
            <a:pPr algn="just"/>
            <a:r>
              <a:rPr lang="en-US" dirty="0"/>
              <a:t>Data science is a </a:t>
            </a:r>
            <a:r>
              <a:rPr lang="en-US" i="1" dirty="0">
                <a:solidFill>
                  <a:srgbClr val="FF0000"/>
                </a:solidFill>
              </a:rPr>
              <a:t>transdisciplinary</a:t>
            </a:r>
            <a:r>
              <a:rPr lang="en-US" dirty="0"/>
              <a:t> field that tries to </a:t>
            </a:r>
            <a:r>
              <a:rPr lang="en-US" i="1" dirty="0">
                <a:solidFill>
                  <a:srgbClr val="FF0000"/>
                </a:solidFill>
              </a:rPr>
              <a:t>extract intelligence and conclusions</a:t>
            </a:r>
            <a:r>
              <a:rPr lang="en-US" dirty="0"/>
              <a:t> from data using </a:t>
            </a:r>
            <a:r>
              <a:rPr lang="en-US" i="1" dirty="0">
                <a:solidFill>
                  <a:srgbClr val="FF0000"/>
                </a:solidFill>
              </a:rPr>
              <a:t>different techniques and models</a:t>
            </a:r>
            <a:r>
              <a:rPr lang="en-US" dirty="0"/>
              <a:t>, be they simple or complex.</a:t>
            </a:r>
          </a:p>
          <a:p>
            <a:pPr algn="just"/>
            <a:endParaRPr lang="en-US" dirty="0"/>
          </a:p>
          <a:p>
            <a:pPr algn="just"/>
            <a:r>
              <a:rPr lang="en-US" dirty="0"/>
              <a:t>Data science comprises a range of mathematical and statistical concepts and requires a deep understanding of machine learning algorithms.</a:t>
            </a:r>
          </a:p>
          <a:p>
            <a:pPr algn="just"/>
            <a:endParaRPr lang="en-US" dirty="0"/>
          </a:p>
          <a:p>
            <a:pPr algn="just"/>
            <a:r>
              <a:rPr lang="en-US" dirty="0"/>
              <a:t>The data science process is composed of many steps besides just analyzing data.</a:t>
            </a:r>
          </a:p>
        </p:txBody>
      </p:sp>
      <p:sp>
        <p:nvSpPr>
          <p:cNvPr id="4" name="Slide Number Placeholder 3">
            <a:extLst>
              <a:ext uri="{FF2B5EF4-FFF2-40B4-BE49-F238E27FC236}">
                <a16:creationId xmlns:a16="http://schemas.microsoft.com/office/drawing/2014/main" id="{DC94D4A2-43F9-4D50-A4EE-75EBE6B2203E}"/>
              </a:ext>
            </a:extLst>
          </p:cNvPr>
          <p:cNvSpPr>
            <a:spLocks noGrp="1"/>
          </p:cNvSpPr>
          <p:nvPr>
            <p:ph type="sldNum" sz="quarter" idx="12"/>
          </p:nvPr>
        </p:nvSpPr>
        <p:spPr/>
        <p:txBody>
          <a:bodyPr/>
          <a:lstStyle/>
          <a:p>
            <a:fld id="{6B97D948-30E8-43F7-AE10-F6E2D9F2BBB1}" type="slidenum">
              <a:rPr lang="en-US" smtClean="0"/>
              <a:t>12</a:t>
            </a:fld>
            <a:endParaRPr lang="en-US"/>
          </a:p>
        </p:txBody>
      </p:sp>
    </p:spTree>
    <p:extLst>
      <p:ext uri="{BB962C8B-B14F-4D97-AF65-F5344CB8AC3E}">
        <p14:creationId xmlns:p14="http://schemas.microsoft.com/office/powerpoint/2010/main" val="2761399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6D60-8AC1-4AD0-86E9-1FAE2BAF2CB3}"/>
              </a:ext>
            </a:extLst>
          </p:cNvPr>
          <p:cNvSpPr>
            <a:spLocks noGrp="1"/>
          </p:cNvSpPr>
          <p:nvPr>
            <p:ph type="title"/>
          </p:nvPr>
        </p:nvSpPr>
        <p:spPr>
          <a:xfrm>
            <a:off x="838200" y="365126"/>
            <a:ext cx="10515600" cy="895504"/>
          </a:xfrm>
        </p:spPr>
        <p:txBody>
          <a:bodyPr/>
          <a:lstStyle/>
          <a:p>
            <a:r>
              <a:rPr lang="en-US" dirty="0"/>
              <a:t>Data Science Pipeline</a:t>
            </a:r>
          </a:p>
        </p:txBody>
      </p:sp>
      <p:pic>
        <p:nvPicPr>
          <p:cNvPr id="13" name="Content Placeholder 12">
            <a:extLst>
              <a:ext uri="{FF2B5EF4-FFF2-40B4-BE49-F238E27FC236}">
                <a16:creationId xmlns:a16="http://schemas.microsoft.com/office/drawing/2014/main" id="{1977144B-D447-4B2D-98D0-D25202D2F768}"/>
              </a:ext>
            </a:extLst>
          </p:cNvPr>
          <p:cNvPicPr>
            <a:picLocks noGrp="1" noChangeAspect="1"/>
          </p:cNvPicPr>
          <p:nvPr>
            <p:ph sz="half"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544" y="2098522"/>
            <a:ext cx="11664799" cy="895503"/>
          </a:xfrm>
        </p:spPr>
      </p:pic>
      <p:pic>
        <p:nvPicPr>
          <p:cNvPr id="15" name="Content Placeholder 14">
            <a:extLst>
              <a:ext uri="{FF2B5EF4-FFF2-40B4-BE49-F238E27FC236}">
                <a16:creationId xmlns:a16="http://schemas.microsoft.com/office/drawing/2014/main" id="{0C635E7D-7E9A-4A35-991D-03B5981EFE88}"/>
              </a:ext>
            </a:extLst>
          </p:cNvPr>
          <p:cNvPicPr>
            <a:picLocks noGrp="1" noChangeAspect="1"/>
          </p:cNvPicPr>
          <p:nvPr>
            <p:ph sz="half" idx="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5929" y="3691467"/>
            <a:ext cx="11146414" cy="2099733"/>
          </a:xfrm>
        </p:spPr>
      </p:pic>
      <p:sp>
        <p:nvSpPr>
          <p:cNvPr id="4" name="Slide Number Placeholder 3">
            <a:extLst>
              <a:ext uri="{FF2B5EF4-FFF2-40B4-BE49-F238E27FC236}">
                <a16:creationId xmlns:a16="http://schemas.microsoft.com/office/drawing/2014/main" id="{B72364BA-94AF-4FA3-96DC-E44EF08EFFDB}"/>
              </a:ext>
            </a:extLst>
          </p:cNvPr>
          <p:cNvSpPr>
            <a:spLocks noGrp="1"/>
          </p:cNvSpPr>
          <p:nvPr>
            <p:ph type="sldNum" sz="quarter" idx="12"/>
          </p:nvPr>
        </p:nvSpPr>
        <p:spPr/>
        <p:txBody>
          <a:bodyPr/>
          <a:lstStyle/>
          <a:p>
            <a:fld id="{6B97D948-30E8-43F7-AE10-F6E2D9F2BBB1}" type="slidenum">
              <a:rPr lang="en-US" smtClean="0"/>
              <a:t>13</a:t>
            </a:fld>
            <a:endParaRPr lang="en-US"/>
          </a:p>
        </p:txBody>
      </p:sp>
    </p:spTree>
    <p:extLst>
      <p:ext uri="{BB962C8B-B14F-4D97-AF65-F5344CB8AC3E}">
        <p14:creationId xmlns:p14="http://schemas.microsoft.com/office/powerpoint/2010/main" val="3784676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AFBB8-274A-4A40-99E2-50868F479CD1}"/>
              </a:ext>
            </a:extLst>
          </p:cNvPr>
          <p:cNvSpPr>
            <a:spLocks noGrp="1"/>
          </p:cNvSpPr>
          <p:nvPr>
            <p:ph type="title"/>
          </p:nvPr>
        </p:nvSpPr>
        <p:spPr>
          <a:xfrm>
            <a:off x="838200" y="365125"/>
            <a:ext cx="10515600" cy="602541"/>
          </a:xfrm>
        </p:spPr>
        <p:txBody>
          <a:bodyPr>
            <a:normAutofit fontScale="90000"/>
          </a:bodyPr>
          <a:lstStyle/>
          <a:p>
            <a:r>
              <a:rPr lang="en-US" dirty="0"/>
              <a:t>Challenges in Data Science</a:t>
            </a:r>
          </a:p>
        </p:txBody>
      </p:sp>
      <p:sp>
        <p:nvSpPr>
          <p:cNvPr id="3" name="Content Placeholder 2">
            <a:extLst>
              <a:ext uri="{FF2B5EF4-FFF2-40B4-BE49-F238E27FC236}">
                <a16:creationId xmlns:a16="http://schemas.microsoft.com/office/drawing/2014/main" id="{DC3821EB-0F9D-4D1B-8541-029572DE137A}"/>
              </a:ext>
            </a:extLst>
          </p:cNvPr>
          <p:cNvSpPr>
            <a:spLocks noGrp="1"/>
          </p:cNvSpPr>
          <p:nvPr>
            <p:ph idx="1"/>
          </p:nvPr>
        </p:nvSpPr>
        <p:spPr>
          <a:xfrm>
            <a:off x="838200" y="967666"/>
            <a:ext cx="10515600" cy="5209297"/>
          </a:xfrm>
        </p:spPr>
        <p:txBody>
          <a:bodyPr/>
          <a:lstStyle/>
          <a:p>
            <a:pPr algn="just"/>
            <a:r>
              <a:rPr lang="en-US" dirty="0"/>
              <a:t>For whatever aspect of the world we wish to study—whether it’s the Earth’s weather, the world’s markets, political polls, or the human mind—data </a:t>
            </a:r>
            <a:r>
              <a:rPr lang="en-US" i="1" dirty="0">
                <a:solidFill>
                  <a:srgbClr val="0070C0"/>
                </a:solidFill>
              </a:rPr>
              <a:t>we collect typically offer an incomplete description of the subject at hand</a:t>
            </a:r>
            <a:r>
              <a:rPr lang="en-US" dirty="0"/>
              <a:t>. </a:t>
            </a:r>
          </a:p>
          <a:p>
            <a:pPr algn="just"/>
            <a:endParaRPr lang="en-US" dirty="0"/>
          </a:p>
          <a:p>
            <a:pPr algn="just"/>
            <a:r>
              <a:rPr lang="en-US" dirty="0"/>
              <a:t>A central challenge of data science is to make </a:t>
            </a:r>
            <a:r>
              <a:rPr lang="en-US" dirty="0">
                <a:solidFill>
                  <a:srgbClr val="FF0000"/>
                </a:solidFill>
              </a:rPr>
              <a:t>reliable conclusions using this partial information</a:t>
            </a:r>
            <a:r>
              <a:rPr lang="en-US" dirty="0"/>
              <a:t>.</a:t>
            </a:r>
          </a:p>
        </p:txBody>
      </p:sp>
      <p:sp>
        <p:nvSpPr>
          <p:cNvPr id="5" name="Slide Number Placeholder 4">
            <a:extLst>
              <a:ext uri="{FF2B5EF4-FFF2-40B4-BE49-F238E27FC236}">
                <a16:creationId xmlns:a16="http://schemas.microsoft.com/office/drawing/2014/main" id="{014C9B79-2923-43C9-84A9-E9C0E23B7B83}"/>
              </a:ext>
            </a:extLst>
          </p:cNvPr>
          <p:cNvSpPr>
            <a:spLocks noGrp="1"/>
          </p:cNvSpPr>
          <p:nvPr>
            <p:ph type="sldNum" sz="quarter" idx="12"/>
          </p:nvPr>
        </p:nvSpPr>
        <p:spPr/>
        <p:txBody>
          <a:bodyPr/>
          <a:lstStyle/>
          <a:p>
            <a:fld id="{6B97D948-30E8-43F7-AE10-F6E2D9F2BBB1}" type="slidenum">
              <a:rPr lang="en-US" smtClean="0"/>
              <a:t>14</a:t>
            </a:fld>
            <a:endParaRPr lang="en-US"/>
          </a:p>
        </p:txBody>
      </p:sp>
    </p:spTree>
    <p:extLst>
      <p:ext uri="{BB962C8B-B14F-4D97-AF65-F5344CB8AC3E}">
        <p14:creationId xmlns:p14="http://schemas.microsoft.com/office/powerpoint/2010/main" val="3519839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134D1-3ABA-4E13-8B6C-477D9FCFB821}"/>
              </a:ext>
            </a:extLst>
          </p:cNvPr>
          <p:cNvSpPr>
            <a:spLocks noGrp="1"/>
          </p:cNvSpPr>
          <p:nvPr>
            <p:ph type="title"/>
          </p:nvPr>
        </p:nvSpPr>
        <p:spPr>
          <a:xfrm>
            <a:off x="838200" y="365125"/>
            <a:ext cx="10515600" cy="451621"/>
          </a:xfrm>
        </p:spPr>
        <p:txBody>
          <a:bodyPr>
            <a:normAutofit fontScale="90000"/>
          </a:bodyPr>
          <a:lstStyle/>
          <a:p>
            <a:r>
              <a:rPr lang="en-US" dirty="0"/>
              <a:t>Statistical Techniques</a:t>
            </a:r>
          </a:p>
        </p:txBody>
      </p:sp>
      <p:sp>
        <p:nvSpPr>
          <p:cNvPr id="3" name="Content Placeholder 2">
            <a:extLst>
              <a:ext uri="{FF2B5EF4-FFF2-40B4-BE49-F238E27FC236}">
                <a16:creationId xmlns:a16="http://schemas.microsoft.com/office/drawing/2014/main" id="{7EADBBD8-9AA6-4E85-84DD-287633FB3E81}"/>
              </a:ext>
            </a:extLst>
          </p:cNvPr>
          <p:cNvSpPr>
            <a:spLocks noGrp="1"/>
          </p:cNvSpPr>
          <p:nvPr>
            <p:ph idx="1"/>
          </p:nvPr>
        </p:nvSpPr>
        <p:spPr>
          <a:xfrm>
            <a:off x="838200" y="914400"/>
            <a:ext cx="10515600" cy="5262563"/>
          </a:xfrm>
        </p:spPr>
        <p:txBody>
          <a:bodyPr>
            <a:normAutofit fontScale="92500" lnSpcReduction="10000"/>
          </a:bodyPr>
          <a:lstStyle/>
          <a:p>
            <a:pPr algn="just"/>
            <a:r>
              <a:rPr lang="en-US" dirty="0"/>
              <a:t>The discipline of statistics has long addressed the same fundamental challenge as data science: </a:t>
            </a:r>
            <a:r>
              <a:rPr lang="en-US" i="1" dirty="0">
                <a:solidFill>
                  <a:srgbClr val="0070C0"/>
                </a:solidFill>
              </a:rPr>
              <a:t>how to draw robust conclusions about the world using incomplete information</a:t>
            </a:r>
            <a:r>
              <a:rPr lang="en-US" dirty="0"/>
              <a:t>. </a:t>
            </a:r>
          </a:p>
          <a:p>
            <a:pPr algn="just"/>
            <a:endParaRPr lang="en-US" dirty="0"/>
          </a:p>
          <a:p>
            <a:pPr algn="just"/>
            <a:r>
              <a:rPr lang="en-US" dirty="0"/>
              <a:t>One of the most important contributions of statistics is a consistent and precise vocabulary for describing the relationship between observations and conclusions.  </a:t>
            </a:r>
          </a:p>
          <a:p>
            <a:pPr algn="just"/>
            <a:r>
              <a:rPr lang="en-US" dirty="0"/>
              <a:t>Data science extends the field of statistics by taking full advantage of </a:t>
            </a:r>
            <a:r>
              <a:rPr lang="en-US" dirty="0">
                <a:solidFill>
                  <a:srgbClr val="FF0000"/>
                </a:solidFill>
              </a:rPr>
              <a:t>computing, data visualization, machine learning, optimization, and access to information</a:t>
            </a:r>
            <a:r>
              <a:rPr lang="en-US" dirty="0"/>
              <a:t>. </a:t>
            </a:r>
          </a:p>
          <a:p>
            <a:pPr algn="just"/>
            <a:r>
              <a:rPr lang="en-US" dirty="0"/>
              <a:t>The combination of fast computers and the Internet gives us the ability to access and analyze vast datasets: </a:t>
            </a:r>
            <a:r>
              <a:rPr lang="en-US" dirty="0">
                <a:solidFill>
                  <a:srgbClr val="FF0000"/>
                </a:solidFill>
              </a:rPr>
              <a:t>millions of news articles, full encyclopedias, databases for any domain, and massive repositories of music, photos, and video.</a:t>
            </a:r>
          </a:p>
        </p:txBody>
      </p:sp>
      <p:sp>
        <p:nvSpPr>
          <p:cNvPr id="5" name="Slide Number Placeholder 4">
            <a:extLst>
              <a:ext uri="{FF2B5EF4-FFF2-40B4-BE49-F238E27FC236}">
                <a16:creationId xmlns:a16="http://schemas.microsoft.com/office/drawing/2014/main" id="{0F0016ED-80DF-46FC-861D-7C96C1BF62E6}"/>
              </a:ext>
            </a:extLst>
          </p:cNvPr>
          <p:cNvSpPr>
            <a:spLocks noGrp="1"/>
          </p:cNvSpPr>
          <p:nvPr>
            <p:ph type="sldNum" sz="quarter" idx="12"/>
          </p:nvPr>
        </p:nvSpPr>
        <p:spPr/>
        <p:txBody>
          <a:bodyPr/>
          <a:lstStyle/>
          <a:p>
            <a:fld id="{6B97D948-30E8-43F7-AE10-F6E2D9F2BBB1}" type="slidenum">
              <a:rPr lang="en-US" smtClean="0"/>
              <a:t>15</a:t>
            </a:fld>
            <a:endParaRPr lang="en-US"/>
          </a:p>
        </p:txBody>
      </p:sp>
    </p:spTree>
    <p:extLst>
      <p:ext uri="{BB962C8B-B14F-4D97-AF65-F5344CB8AC3E}">
        <p14:creationId xmlns:p14="http://schemas.microsoft.com/office/powerpoint/2010/main" val="4080339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EDBEF-1726-4DB3-969B-094F08D79487}"/>
              </a:ext>
            </a:extLst>
          </p:cNvPr>
          <p:cNvSpPr>
            <a:spLocks noGrp="1"/>
          </p:cNvSpPr>
          <p:nvPr>
            <p:ph type="title"/>
          </p:nvPr>
        </p:nvSpPr>
        <p:spPr>
          <a:xfrm>
            <a:off x="838200" y="365125"/>
            <a:ext cx="10515600" cy="664685"/>
          </a:xfrm>
        </p:spPr>
        <p:txBody>
          <a:bodyPr>
            <a:normAutofit fontScale="90000"/>
          </a:bodyPr>
          <a:lstStyle/>
          <a:p>
            <a:r>
              <a:rPr lang="en-US" dirty="0"/>
              <a:t>Why Data Science?</a:t>
            </a:r>
          </a:p>
        </p:txBody>
      </p:sp>
      <p:sp>
        <p:nvSpPr>
          <p:cNvPr id="3" name="Content Placeholder 2">
            <a:extLst>
              <a:ext uri="{FF2B5EF4-FFF2-40B4-BE49-F238E27FC236}">
                <a16:creationId xmlns:a16="http://schemas.microsoft.com/office/drawing/2014/main" id="{E75A9ED9-939C-4409-91FF-E5B06E8A8B35}"/>
              </a:ext>
            </a:extLst>
          </p:cNvPr>
          <p:cNvSpPr>
            <a:spLocks noGrp="1"/>
          </p:cNvSpPr>
          <p:nvPr>
            <p:ph idx="1"/>
          </p:nvPr>
        </p:nvSpPr>
        <p:spPr>
          <a:xfrm>
            <a:off x="838200" y="1029810"/>
            <a:ext cx="10515600" cy="5147153"/>
          </a:xfrm>
        </p:spPr>
        <p:txBody>
          <a:bodyPr/>
          <a:lstStyle/>
          <a:p>
            <a:pPr algn="just"/>
            <a:r>
              <a:rPr lang="en-US" dirty="0"/>
              <a:t>Most important decisions are made with only </a:t>
            </a:r>
            <a:r>
              <a:rPr lang="en-US" i="1" dirty="0">
                <a:solidFill>
                  <a:srgbClr val="FF0000"/>
                </a:solidFill>
              </a:rPr>
              <a:t>partial information and uncertain outcomes</a:t>
            </a:r>
            <a:r>
              <a:rPr lang="en-US" dirty="0"/>
              <a:t>. </a:t>
            </a:r>
          </a:p>
          <a:p>
            <a:pPr algn="just"/>
            <a:r>
              <a:rPr lang="en-US" dirty="0"/>
              <a:t>However, the </a:t>
            </a:r>
            <a:r>
              <a:rPr lang="en-US" i="1" dirty="0"/>
              <a:t>degree of uncertainty for many decisions can be reduced sharply by access to large data sets and the computational tools required to analyze them effectively</a:t>
            </a:r>
            <a:r>
              <a:rPr lang="en-US" dirty="0"/>
              <a:t>. </a:t>
            </a:r>
          </a:p>
          <a:p>
            <a:pPr algn="just"/>
            <a:r>
              <a:rPr lang="en-US" dirty="0"/>
              <a:t>Data-driven decision making has already transformed a tremendous breadth of industries, including finance, advertising, manufacturing, and real estate. </a:t>
            </a:r>
          </a:p>
          <a:p>
            <a:pPr algn="just"/>
            <a:r>
              <a:rPr lang="en-US" dirty="0"/>
              <a:t>At the same time, a wide range of academic disciplines are evolving rapidly to incorporate large-scale data analysis into their theory and practice.</a:t>
            </a:r>
          </a:p>
        </p:txBody>
      </p:sp>
      <p:sp>
        <p:nvSpPr>
          <p:cNvPr id="5" name="Slide Number Placeholder 4">
            <a:extLst>
              <a:ext uri="{FF2B5EF4-FFF2-40B4-BE49-F238E27FC236}">
                <a16:creationId xmlns:a16="http://schemas.microsoft.com/office/drawing/2014/main" id="{8252A295-A14C-4AF0-8835-4A26C23DAEA7}"/>
              </a:ext>
            </a:extLst>
          </p:cNvPr>
          <p:cNvSpPr>
            <a:spLocks noGrp="1"/>
          </p:cNvSpPr>
          <p:nvPr>
            <p:ph type="sldNum" sz="quarter" idx="12"/>
          </p:nvPr>
        </p:nvSpPr>
        <p:spPr/>
        <p:txBody>
          <a:bodyPr/>
          <a:lstStyle/>
          <a:p>
            <a:fld id="{6B97D948-30E8-43F7-AE10-F6E2D9F2BBB1}" type="slidenum">
              <a:rPr lang="en-US" smtClean="0"/>
              <a:t>16</a:t>
            </a:fld>
            <a:endParaRPr lang="en-US"/>
          </a:p>
        </p:txBody>
      </p:sp>
    </p:spTree>
    <p:extLst>
      <p:ext uri="{BB962C8B-B14F-4D97-AF65-F5344CB8AC3E}">
        <p14:creationId xmlns:p14="http://schemas.microsoft.com/office/powerpoint/2010/main" val="1559850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248DD-033D-462D-9B3F-9ACB89798ABD}"/>
              </a:ext>
            </a:extLst>
          </p:cNvPr>
          <p:cNvSpPr>
            <a:spLocks noGrp="1"/>
          </p:cNvSpPr>
          <p:nvPr>
            <p:ph type="title"/>
          </p:nvPr>
        </p:nvSpPr>
        <p:spPr>
          <a:xfrm>
            <a:off x="838200" y="365126"/>
            <a:ext cx="10515600" cy="764428"/>
          </a:xfrm>
        </p:spPr>
        <p:txBody>
          <a:bodyPr/>
          <a:lstStyle/>
          <a:p>
            <a:r>
              <a:rPr lang="en-US" dirty="0"/>
              <a:t>Data Science Terminology</a:t>
            </a:r>
          </a:p>
        </p:txBody>
      </p:sp>
      <p:sp>
        <p:nvSpPr>
          <p:cNvPr id="3" name="Content Placeholder 2">
            <a:extLst>
              <a:ext uri="{FF2B5EF4-FFF2-40B4-BE49-F238E27FC236}">
                <a16:creationId xmlns:a16="http://schemas.microsoft.com/office/drawing/2014/main" id="{6C82F4FE-1868-4CE4-9402-5C582E9E5E11}"/>
              </a:ext>
            </a:extLst>
          </p:cNvPr>
          <p:cNvSpPr>
            <a:spLocks noGrp="1"/>
          </p:cNvSpPr>
          <p:nvPr>
            <p:ph idx="1"/>
          </p:nvPr>
        </p:nvSpPr>
        <p:spPr>
          <a:xfrm>
            <a:off x="838200" y="1129554"/>
            <a:ext cx="10515600" cy="5047409"/>
          </a:xfrm>
        </p:spPr>
        <p:txBody>
          <a:bodyPr>
            <a:normAutofit fontScale="92500" lnSpcReduction="10000"/>
          </a:bodyPr>
          <a:lstStyle/>
          <a:p>
            <a:pPr algn="just"/>
            <a:r>
              <a:rPr lang="en-US" dirty="0"/>
              <a:t>The following terms will have recurrent use throughout the course:</a:t>
            </a:r>
          </a:p>
          <a:p>
            <a:pPr algn="just"/>
            <a:r>
              <a:rPr lang="en-US" dirty="0">
                <a:solidFill>
                  <a:srgbClr val="FF0000"/>
                </a:solidFill>
              </a:rPr>
              <a:t>Data Mining</a:t>
            </a:r>
            <a:r>
              <a:rPr lang="en-US" dirty="0"/>
              <a:t>: Data mining is the process of identifying patterns and learning information from huge datasets.</a:t>
            </a:r>
          </a:p>
          <a:p>
            <a:pPr algn="just"/>
            <a:r>
              <a:rPr lang="en-US" dirty="0">
                <a:solidFill>
                  <a:srgbClr val="FF0000"/>
                </a:solidFill>
              </a:rPr>
              <a:t>Machine</a:t>
            </a:r>
            <a:r>
              <a:rPr lang="en-US" dirty="0"/>
              <a:t> </a:t>
            </a:r>
            <a:r>
              <a:rPr lang="en-US" dirty="0">
                <a:solidFill>
                  <a:srgbClr val="FF0000"/>
                </a:solidFill>
              </a:rPr>
              <a:t>Learning</a:t>
            </a:r>
            <a:r>
              <a:rPr lang="en-US" dirty="0"/>
              <a:t>: Machine learning is a branch of artificial intelligence that gives computers the ability to learn and predict things without having to be explicitly programmed.</a:t>
            </a:r>
          </a:p>
          <a:p>
            <a:pPr algn="just"/>
            <a:r>
              <a:rPr lang="en-US" dirty="0">
                <a:solidFill>
                  <a:srgbClr val="FF0000"/>
                </a:solidFill>
              </a:rPr>
              <a:t>Predictive</a:t>
            </a:r>
            <a:r>
              <a:rPr lang="en-US" dirty="0"/>
              <a:t> </a:t>
            </a:r>
            <a:r>
              <a:rPr lang="en-US" dirty="0">
                <a:solidFill>
                  <a:srgbClr val="FF0000"/>
                </a:solidFill>
              </a:rPr>
              <a:t>Modeling</a:t>
            </a:r>
            <a:r>
              <a:rPr lang="en-US" dirty="0"/>
              <a:t>: Developing a mathematical model to forecast future results using data from the past is known as predictive modeling.</a:t>
            </a:r>
          </a:p>
          <a:p>
            <a:pPr algn="just"/>
            <a:r>
              <a:rPr lang="en-US" dirty="0"/>
              <a:t> </a:t>
            </a:r>
            <a:r>
              <a:rPr lang="en-US" dirty="0">
                <a:solidFill>
                  <a:srgbClr val="FF0000"/>
                </a:solidFill>
              </a:rPr>
              <a:t>Big</a:t>
            </a:r>
            <a:r>
              <a:rPr lang="en-US" dirty="0"/>
              <a:t> </a:t>
            </a:r>
            <a:r>
              <a:rPr lang="en-US" dirty="0">
                <a:solidFill>
                  <a:srgbClr val="FF0000"/>
                </a:solidFill>
              </a:rPr>
              <a:t>Data</a:t>
            </a:r>
            <a:r>
              <a:rPr lang="en-US" dirty="0"/>
              <a:t>: The term used to describe extraordinarily massive and complicated datasets that are difficult to handle or analyze using conventional techniques.</a:t>
            </a:r>
          </a:p>
          <a:p>
            <a:pPr algn="just"/>
            <a:r>
              <a:rPr lang="en-US" dirty="0"/>
              <a:t> </a:t>
            </a:r>
            <a:r>
              <a:rPr lang="en-US" dirty="0">
                <a:solidFill>
                  <a:srgbClr val="FF0000"/>
                </a:solidFill>
              </a:rPr>
              <a:t>Data</a:t>
            </a:r>
            <a:r>
              <a:rPr lang="en-US" dirty="0"/>
              <a:t> </a:t>
            </a:r>
            <a:r>
              <a:rPr lang="en-US" dirty="0">
                <a:solidFill>
                  <a:srgbClr val="FF0000"/>
                </a:solidFill>
              </a:rPr>
              <a:t>visualization</a:t>
            </a:r>
            <a:r>
              <a:rPr lang="en-US" dirty="0"/>
              <a:t>: The graphic representation of data to improve comprehension and effectively share insights.</a:t>
            </a:r>
          </a:p>
        </p:txBody>
      </p:sp>
      <p:sp>
        <p:nvSpPr>
          <p:cNvPr id="5" name="Slide Number Placeholder 4">
            <a:extLst>
              <a:ext uri="{FF2B5EF4-FFF2-40B4-BE49-F238E27FC236}">
                <a16:creationId xmlns:a16="http://schemas.microsoft.com/office/drawing/2014/main" id="{08735F0B-511B-42AE-A52D-4A61E67E6910}"/>
              </a:ext>
            </a:extLst>
          </p:cNvPr>
          <p:cNvSpPr>
            <a:spLocks noGrp="1"/>
          </p:cNvSpPr>
          <p:nvPr>
            <p:ph type="sldNum" sz="quarter" idx="12"/>
          </p:nvPr>
        </p:nvSpPr>
        <p:spPr/>
        <p:txBody>
          <a:bodyPr/>
          <a:lstStyle/>
          <a:p>
            <a:fld id="{6B97D948-30E8-43F7-AE10-F6E2D9F2BBB1}" type="slidenum">
              <a:rPr lang="en-US" smtClean="0"/>
              <a:t>17</a:t>
            </a:fld>
            <a:endParaRPr lang="en-US"/>
          </a:p>
        </p:txBody>
      </p:sp>
    </p:spTree>
    <p:extLst>
      <p:ext uri="{BB962C8B-B14F-4D97-AF65-F5344CB8AC3E}">
        <p14:creationId xmlns:p14="http://schemas.microsoft.com/office/powerpoint/2010/main" val="4226755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910A2-46B4-49B0-8F4E-82E5C83AD286}"/>
              </a:ext>
            </a:extLst>
          </p:cNvPr>
          <p:cNvSpPr>
            <a:spLocks noGrp="1"/>
          </p:cNvSpPr>
          <p:nvPr>
            <p:ph type="title"/>
          </p:nvPr>
        </p:nvSpPr>
        <p:spPr>
          <a:xfrm>
            <a:off x="838200" y="365125"/>
            <a:ext cx="10515600" cy="697193"/>
          </a:xfrm>
        </p:spPr>
        <p:txBody>
          <a:bodyPr/>
          <a:lstStyle/>
          <a:p>
            <a:r>
              <a:rPr lang="en-US" dirty="0"/>
              <a:t>Technical Tools for Data Science</a:t>
            </a:r>
          </a:p>
        </p:txBody>
      </p:sp>
      <p:sp>
        <p:nvSpPr>
          <p:cNvPr id="3" name="Content Placeholder 2">
            <a:extLst>
              <a:ext uri="{FF2B5EF4-FFF2-40B4-BE49-F238E27FC236}">
                <a16:creationId xmlns:a16="http://schemas.microsoft.com/office/drawing/2014/main" id="{D312C58C-738C-4953-824F-1986790824D0}"/>
              </a:ext>
            </a:extLst>
          </p:cNvPr>
          <p:cNvSpPr>
            <a:spLocks noGrp="1"/>
          </p:cNvSpPr>
          <p:nvPr>
            <p:ph idx="1"/>
          </p:nvPr>
        </p:nvSpPr>
        <p:spPr>
          <a:xfrm>
            <a:off x="838200" y="1062318"/>
            <a:ext cx="10515600" cy="5114645"/>
          </a:xfrm>
        </p:spPr>
        <p:txBody>
          <a:bodyPr/>
          <a:lstStyle/>
          <a:p>
            <a:pPr algn="just"/>
            <a:r>
              <a:rPr lang="en-US" dirty="0"/>
              <a:t>Data science uses various tools to gather, examine, and understand data. </a:t>
            </a:r>
          </a:p>
          <a:p>
            <a:pPr algn="just"/>
            <a:r>
              <a:rPr lang="en-US" dirty="0"/>
              <a:t>Some of these are:</a:t>
            </a:r>
          </a:p>
          <a:p>
            <a:pPr algn="just"/>
            <a:r>
              <a:rPr lang="en-US" dirty="0"/>
              <a:t>Python: Data processing, analysis, and modeling are all common uses for Python. Scikit-learn, Pandas, and NumPy are all well-liked libraries.</a:t>
            </a:r>
          </a:p>
          <a:p>
            <a:pPr algn="just"/>
            <a:r>
              <a:rPr lang="en-US" dirty="0"/>
              <a:t>R: R is mostly used for data visualization and statistical analysis. provides a variety of packages for data science projects.</a:t>
            </a:r>
          </a:p>
          <a:p>
            <a:pPr algn="just"/>
            <a:r>
              <a:rPr lang="en-US" dirty="0"/>
              <a:t>Julia: About the latest open-sources languages available for data science. Used mainly by scientists and engineering.</a:t>
            </a:r>
          </a:p>
        </p:txBody>
      </p:sp>
      <p:sp>
        <p:nvSpPr>
          <p:cNvPr id="5" name="Slide Number Placeholder 4">
            <a:extLst>
              <a:ext uri="{FF2B5EF4-FFF2-40B4-BE49-F238E27FC236}">
                <a16:creationId xmlns:a16="http://schemas.microsoft.com/office/drawing/2014/main" id="{E63033CC-67C2-48A9-91AD-AEBFF7727B5F}"/>
              </a:ext>
            </a:extLst>
          </p:cNvPr>
          <p:cNvSpPr>
            <a:spLocks noGrp="1"/>
          </p:cNvSpPr>
          <p:nvPr>
            <p:ph type="sldNum" sz="quarter" idx="12"/>
          </p:nvPr>
        </p:nvSpPr>
        <p:spPr/>
        <p:txBody>
          <a:bodyPr/>
          <a:lstStyle/>
          <a:p>
            <a:fld id="{6B97D948-30E8-43F7-AE10-F6E2D9F2BBB1}" type="slidenum">
              <a:rPr lang="en-US" smtClean="0"/>
              <a:t>18</a:t>
            </a:fld>
            <a:endParaRPr lang="en-US"/>
          </a:p>
        </p:txBody>
      </p:sp>
    </p:spTree>
    <p:extLst>
      <p:ext uri="{BB962C8B-B14F-4D97-AF65-F5344CB8AC3E}">
        <p14:creationId xmlns:p14="http://schemas.microsoft.com/office/powerpoint/2010/main" val="2599166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6EBA3B9-01DA-4030-BF95-65091FFEEB38}"/>
              </a:ext>
            </a:extLst>
          </p:cNvPr>
          <p:cNvPicPr>
            <a:picLocks noGrp="1" noChangeAspect="1"/>
          </p:cNvPicPr>
          <p:nvPr>
            <p:ph idx="1"/>
          </p:nvPr>
        </p:nvPicPr>
        <p:blipFill>
          <a:blip r:embed="rId2"/>
          <a:stretch>
            <a:fillRect/>
          </a:stretch>
        </p:blipFill>
        <p:spPr>
          <a:xfrm>
            <a:off x="2433915" y="594404"/>
            <a:ext cx="7726833" cy="5586409"/>
          </a:xfrm>
        </p:spPr>
      </p:pic>
      <p:sp>
        <p:nvSpPr>
          <p:cNvPr id="3" name="Slide Number Placeholder 2">
            <a:extLst>
              <a:ext uri="{FF2B5EF4-FFF2-40B4-BE49-F238E27FC236}">
                <a16:creationId xmlns:a16="http://schemas.microsoft.com/office/drawing/2014/main" id="{171B0859-2F37-4FCF-9C95-BDF0ABB496F2}"/>
              </a:ext>
            </a:extLst>
          </p:cNvPr>
          <p:cNvSpPr>
            <a:spLocks noGrp="1"/>
          </p:cNvSpPr>
          <p:nvPr>
            <p:ph type="sldNum" sz="quarter" idx="12"/>
          </p:nvPr>
        </p:nvSpPr>
        <p:spPr/>
        <p:txBody>
          <a:bodyPr/>
          <a:lstStyle/>
          <a:p>
            <a:fld id="{6B97D948-30E8-43F7-AE10-F6E2D9F2BBB1}" type="slidenum">
              <a:rPr lang="en-US" smtClean="0"/>
              <a:t>19</a:t>
            </a:fld>
            <a:endParaRPr lang="en-US"/>
          </a:p>
        </p:txBody>
      </p:sp>
    </p:spTree>
    <p:extLst>
      <p:ext uri="{BB962C8B-B14F-4D97-AF65-F5344CB8AC3E}">
        <p14:creationId xmlns:p14="http://schemas.microsoft.com/office/powerpoint/2010/main" val="3710740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7EFDE-A851-4AB0-951C-8A424FCE826C}"/>
              </a:ext>
            </a:extLst>
          </p:cNvPr>
          <p:cNvSpPr>
            <a:spLocks noGrp="1"/>
          </p:cNvSpPr>
          <p:nvPr>
            <p:ph type="title"/>
          </p:nvPr>
        </p:nvSpPr>
        <p:spPr>
          <a:xfrm>
            <a:off x="838200" y="365125"/>
            <a:ext cx="10515600" cy="650875"/>
          </a:xfrm>
        </p:spPr>
        <p:txBody>
          <a:bodyPr>
            <a:normAutofit fontScale="90000"/>
          </a:bodyPr>
          <a:lstStyle/>
          <a:p>
            <a:r>
              <a:rPr lang="en-US" dirty="0"/>
              <a:t>Data Science Processes</a:t>
            </a:r>
          </a:p>
        </p:txBody>
      </p:sp>
      <p:sp>
        <p:nvSpPr>
          <p:cNvPr id="3" name="Content Placeholder 2">
            <a:extLst>
              <a:ext uri="{FF2B5EF4-FFF2-40B4-BE49-F238E27FC236}">
                <a16:creationId xmlns:a16="http://schemas.microsoft.com/office/drawing/2014/main" id="{F6201BAF-1E10-41C8-934A-9675967F5851}"/>
              </a:ext>
            </a:extLst>
          </p:cNvPr>
          <p:cNvSpPr>
            <a:spLocks noGrp="1"/>
          </p:cNvSpPr>
          <p:nvPr>
            <p:ph idx="1"/>
          </p:nvPr>
        </p:nvSpPr>
        <p:spPr>
          <a:xfrm>
            <a:off x="838200" y="1016000"/>
            <a:ext cx="10515600" cy="5160963"/>
          </a:xfrm>
        </p:spPr>
        <p:txBody>
          <a:bodyPr/>
          <a:lstStyle/>
          <a:p>
            <a:pPr algn="just"/>
            <a:r>
              <a:rPr lang="en-US" dirty="0"/>
              <a:t>Data science processes aim at </a:t>
            </a:r>
            <a:r>
              <a:rPr lang="en-US" i="1" dirty="0"/>
              <a:t>turning a problem into a solution by exploiting data, computational techniques and infrastructures, and analysis techniques</a:t>
            </a:r>
            <a:r>
              <a:rPr lang="en-US" dirty="0"/>
              <a:t>. </a:t>
            </a:r>
          </a:p>
          <a:p>
            <a:pPr algn="just"/>
            <a:r>
              <a:rPr lang="en-US" dirty="0"/>
              <a:t>A data science process includes a set of steps as follows:</a:t>
            </a:r>
          </a:p>
          <a:p>
            <a:pPr marL="0" indent="0" algn="just">
              <a:buNone/>
            </a:pPr>
            <a:r>
              <a:rPr lang="en-US" dirty="0"/>
              <a:t>(1) Framing the problem;</a:t>
            </a:r>
          </a:p>
          <a:p>
            <a:pPr marL="0" indent="0" algn="just">
              <a:buNone/>
            </a:pPr>
            <a:r>
              <a:rPr lang="en-US" dirty="0"/>
              <a:t>(2) Collecting the needed data;</a:t>
            </a:r>
          </a:p>
          <a:p>
            <a:pPr marL="0" indent="0" algn="just">
              <a:buNone/>
            </a:pPr>
            <a:r>
              <a:rPr lang="en-US" dirty="0"/>
              <a:t>(3) Processing the data for analysis;</a:t>
            </a:r>
          </a:p>
          <a:p>
            <a:pPr marL="0" indent="0" algn="just">
              <a:buNone/>
            </a:pPr>
            <a:r>
              <a:rPr lang="en-US" dirty="0"/>
              <a:t>(4) Exploring the data;</a:t>
            </a:r>
          </a:p>
          <a:p>
            <a:pPr marL="0" indent="0" algn="just">
              <a:buNone/>
            </a:pPr>
            <a:r>
              <a:rPr lang="en-US" dirty="0"/>
              <a:t>(5) Performing in-depth analysis;</a:t>
            </a:r>
          </a:p>
          <a:p>
            <a:pPr marL="0" indent="0" algn="just">
              <a:buNone/>
            </a:pPr>
            <a:r>
              <a:rPr lang="en-US" dirty="0"/>
              <a:t>(6) Communicating the results of the analysis.</a:t>
            </a:r>
          </a:p>
        </p:txBody>
      </p:sp>
      <p:sp>
        <p:nvSpPr>
          <p:cNvPr id="4" name="Slide Number Placeholder 3">
            <a:extLst>
              <a:ext uri="{FF2B5EF4-FFF2-40B4-BE49-F238E27FC236}">
                <a16:creationId xmlns:a16="http://schemas.microsoft.com/office/drawing/2014/main" id="{FFFF6536-FFB1-423F-8110-E861B6A6701D}"/>
              </a:ext>
            </a:extLst>
          </p:cNvPr>
          <p:cNvSpPr>
            <a:spLocks noGrp="1"/>
          </p:cNvSpPr>
          <p:nvPr>
            <p:ph type="sldNum" sz="quarter" idx="12"/>
          </p:nvPr>
        </p:nvSpPr>
        <p:spPr/>
        <p:txBody>
          <a:bodyPr/>
          <a:lstStyle/>
          <a:p>
            <a:fld id="{6B97D948-30E8-43F7-AE10-F6E2D9F2BBB1}" type="slidenum">
              <a:rPr lang="en-US" smtClean="0"/>
              <a:t>20</a:t>
            </a:fld>
            <a:endParaRPr lang="en-US"/>
          </a:p>
        </p:txBody>
      </p:sp>
    </p:spTree>
    <p:extLst>
      <p:ext uri="{BB962C8B-B14F-4D97-AF65-F5344CB8AC3E}">
        <p14:creationId xmlns:p14="http://schemas.microsoft.com/office/powerpoint/2010/main" val="4050157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341A-A7D4-41EC-9500-BA92796A93BD}"/>
              </a:ext>
            </a:extLst>
          </p:cNvPr>
          <p:cNvSpPr>
            <a:spLocks noGrp="1"/>
          </p:cNvSpPr>
          <p:nvPr>
            <p:ph type="title"/>
          </p:nvPr>
        </p:nvSpPr>
        <p:spPr>
          <a:xfrm>
            <a:off x="838200" y="365125"/>
            <a:ext cx="10515600" cy="650875"/>
          </a:xfrm>
        </p:spPr>
        <p:txBody>
          <a:bodyPr>
            <a:normAutofit fontScale="90000"/>
          </a:bodyPr>
          <a:lstStyle/>
          <a:p>
            <a:r>
              <a:rPr lang="en-US" dirty="0"/>
              <a:t>Data Science Skills</a:t>
            </a:r>
          </a:p>
        </p:txBody>
      </p:sp>
      <p:sp>
        <p:nvSpPr>
          <p:cNvPr id="3" name="Content Placeholder 2">
            <a:extLst>
              <a:ext uri="{FF2B5EF4-FFF2-40B4-BE49-F238E27FC236}">
                <a16:creationId xmlns:a16="http://schemas.microsoft.com/office/drawing/2014/main" id="{631278AE-5220-479C-A5E2-BB1FB434E979}"/>
              </a:ext>
            </a:extLst>
          </p:cNvPr>
          <p:cNvSpPr>
            <a:spLocks noGrp="1"/>
          </p:cNvSpPr>
          <p:nvPr>
            <p:ph idx="1"/>
          </p:nvPr>
        </p:nvSpPr>
        <p:spPr>
          <a:xfrm>
            <a:off x="838200" y="1016000"/>
            <a:ext cx="10515600" cy="5160963"/>
          </a:xfrm>
        </p:spPr>
        <p:txBody>
          <a:bodyPr>
            <a:normAutofit fontScale="92500" lnSpcReduction="10000"/>
          </a:bodyPr>
          <a:lstStyle/>
          <a:p>
            <a:pPr algn="just"/>
            <a:r>
              <a:rPr lang="en-US" dirty="0"/>
              <a:t>Data science connects strongly with areas such as databases and computer science. </a:t>
            </a:r>
          </a:p>
          <a:p>
            <a:pPr algn="just"/>
            <a:r>
              <a:rPr lang="en-US" dirty="0"/>
              <a:t>Several different kinds of skills are needed, including non-mathematical ones. </a:t>
            </a:r>
          </a:p>
          <a:p>
            <a:pPr algn="just"/>
            <a:r>
              <a:rPr lang="en-US" dirty="0"/>
              <a:t>The most relevant are:</a:t>
            </a:r>
          </a:p>
          <a:p>
            <a:pPr algn="just"/>
            <a:r>
              <a:rPr lang="en-US" dirty="0"/>
              <a:t>learning the application domain;</a:t>
            </a:r>
          </a:p>
          <a:p>
            <a:pPr algn="just"/>
            <a:r>
              <a:rPr lang="en-US" dirty="0"/>
              <a:t>communicating with data owners/users;</a:t>
            </a:r>
          </a:p>
          <a:p>
            <a:pPr algn="just"/>
            <a:r>
              <a:rPr lang="en-US" dirty="0"/>
              <a:t>paying attention to data quality;</a:t>
            </a:r>
          </a:p>
          <a:p>
            <a:pPr algn="just"/>
            <a:r>
              <a:rPr lang="en-US" dirty="0"/>
              <a:t>knowing how data can be represented;</a:t>
            </a:r>
          </a:p>
          <a:p>
            <a:pPr algn="just"/>
            <a:r>
              <a:rPr lang="en-US" dirty="0"/>
              <a:t>managing data transformation and analysis;</a:t>
            </a:r>
          </a:p>
          <a:p>
            <a:pPr algn="just"/>
            <a:r>
              <a:rPr lang="en-US" dirty="0"/>
              <a:t>knowing data visualization and presentation;</a:t>
            </a:r>
          </a:p>
          <a:p>
            <a:pPr algn="just"/>
            <a:r>
              <a:rPr lang="en-US" dirty="0">
                <a:solidFill>
                  <a:srgbClr val="FF0000"/>
                </a:solidFill>
              </a:rPr>
              <a:t>considering ethical issues</a:t>
            </a:r>
            <a:r>
              <a:rPr lang="en-US" dirty="0"/>
              <a:t>.</a:t>
            </a:r>
          </a:p>
        </p:txBody>
      </p:sp>
      <p:sp>
        <p:nvSpPr>
          <p:cNvPr id="4" name="Slide Number Placeholder 3">
            <a:extLst>
              <a:ext uri="{FF2B5EF4-FFF2-40B4-BE49-F238E27FC236}">
                <a16:creationId xmlns:a16="http://schemas.microsoft.com/office/drawing/2014/main" id="{73978B4F-4B86-423C-A539-3B9B7421A565}"/>
              </a:ext>
            </a:extLst>
          </p:cNvPr>
          <p:cNvSpPr>
            <a:spLocks noGrp="1"/>
          </p:cNvSpPr>
          <p:nvPr>
            <p:ph type="sldNum" sz="quarter" idx="12"/>
          </p:nvPr>
        </p:nvSpPr>
        <p:spPr/>
        <p:txBody>
          <a:bodyPr/>
          <a:lstStyle/>
          <a:p>
            <a:fld id="{6B97D948-30E8-43F7-AE10-F6E2D9F2BBB1}" type="slidenum">
              <a:rPr lang="en-US" smtClean="0"/>
              <a:t>21</a:t>
            </a:fld>
            <a:endParaRPr lang="en-US"/>
          </a:p>
        </p:txBody>
      </p:sp>
    </p:spTree>
    <p:extLst>
      <p:ext uri="{BB962C8B-B14F-4D97-AF65-F5344CB8AC3E}">
        <p14:creationId xmlns:p14="http://schemas.microsoft.com/office/powerpoint/2010/main" val="2781081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A9139-94B9-4DA8-87A4-B0CC7CB8DBD8}"/>
              </a:ext>
            </a:extLst>
          </p:cNvPr>
          <p:cNvSpPr>
            <a:spLocks noGrp="1"/>
          </p:cNvSpPr>
          <p:nvPr>
            <p:ph type="title"/>
          </p:nvPr>
        </p:nvSpPr>
        <p:spPr>
          <a:xfrm>
            <a:off x="838200" y="365125"/>
            <a:ext cx="10515600" cy="656851"/>
          </a:xfrm>
        </p:spPr>
        <p:txBody>
          <a:bodyPr>
            <a:normAutofit fontScale="90000"/>
          </a:bodyPr>
          <a:lstStyle/>
          <a:p>
            <a:r>
              <a:rPr lang="en-US" dirty="0"/>
              <a:t>Applications of Data Science</a:t>
            </a:r>
          </a:p>
        </p:txBody>
      </p:sp>
      <p:sp>
        <p:nvSpPr>
          <p:cNvPr id="3" name="Content Placeholder 2">
            <a:extLst>
              <a:ext uri="{FF2B5EF4-FFF2-40B4-BE49-F238E27FC236}">
                <a16:creationId xmlns:a16="http://schemas.microsoft.com/office/drawing/2014/main" id="{5FB9D972-46FB-428E-B271-506E51FA8D85}"/>
              </a:ext>
            </a:extLst>
          </p:cNvPr>
          <p:cNvSpPr>
            <a:spLocks noGrp="1"/>
          </p:cNvSpPr>
          <p:nvPr>
            <p:ph idx="1"/>
          </p:nvPr>
        </p:nvSpPr>
        <p:spPr>
          <a:xfrm>
            <a:off x="838200" y="1021976"/>
            <a:ext cx="10515600" cy="5154987"/>
          </a:xfrm>
        </p:spPr>
        <p:txBody>
          <a:bodyPr>
            <a:normAutofit lnSpcReduction="10000"/>
          </a:bodyPr>
          <a:lstStyle/>
          <a:p>
            <a:pPr algn="just"/>
            <a:r>
              <a:rPr lang="en-US" dirty="0"/>
              <a:t>Data science has many uses in a wide range of businesses. </a:t>
            </a:r>
          </a:p>
          <a:p>
            <a:pPr algn="just"/>
            <a:r>
              <a:rPr lang="en-US" dirty="0"/>
              <a:t>Some examples:</a:t>
            </a:r>
          </a:p>
          <a:p>
            <a:pPr algn="just"/>
            <a:r>
              <a:rPr lang="en-US" dirty="0"/>
              <a:t>Healthcare: Patient data are analyzed using data science, and prediction models are created to help with disease diagnosis and treatment.</a:t>
            </a:r>
          </a:p>
          <a:p>
            <a:pPr algn="just"/>
            <a:r>
              <a:rPr lang="en-US" dirty="0"/>
              <a:t>Finance: Data science enables financial firms to manage risks, spot fraud, and make wise investment choices.</a:t>
            </a:r>
          </a:p>
          <a:p>
            <a:pPr algn="just"/>
            <a:r>
              <a:rPr lang="en-US" dirty="0"/>
              <a:t>Marketing: Data science gives marketers the ability to examine consumer behavior, customize marketing initiatives, and enhance pricing tactics.</a:t>
            </a:r>
          </a:p>
          <a:p>
            <a:pPr algn="just"/>
            <a:r>
              <a:rPr lang="en-US" dirty="0"/>
              <a:t>Cybersecurity: Data science is used to analyze network data and spot patterns of harmful behavior to detect and stop cyber threats.</a:t>
            </a:r>
          </a:p>
        </p:txBody>
      </p:sp>
      <p:sp>
        <p:nvSpPr>
          <p:cNvPr id="5" name="Slide Number Placeholder 4">
            <a:extLst>
              <a:ext uri="{FF2B5EF4-FFF2-40B4-BE49-F238E27FC236}">
                <a16:creationId xmlns:a16="http://schemas.microsoft.com/office/drawing/2014/main" id="{7457E785-4516-4C6C-8856-EDE071D52E3D}"/>
              </a:ext>
            </a:extLst>
          </p:cNvPr>
          <p:cNvSpPr>
            <a:spLocks noGrp="1"/>
          </p:cNvSpPr>
          <p:nvPr>
            <p:ph type="sldNum" sz="quarter" idx="12"/>
          </p:nvPr>
        </p:nvSpPr>
        <p:spPr/>
        <p:txBody>
          <a:bodyPr/>
          <a:lstStyle/>
          <a:p>
            <a:fld id="{6B97D948-30E8-43F7-AE10-F6E2D9F2BBB1}" type="slidenum">
              <a:rPr lang="en-US" smtClean="0"/>
              <a:t>22</a:t>
            </a:fld>
            <a:endParaRPr lang="en-US"/>
          </a:p>
        </p:txBody>
      </p:sp>
    </p:spTree>
    <p:extLst>
      <p:ext uri="{BB962C8B-B14F-4D97-AF65-F5344CB8AC3E}">
        <p14:creationId xmlns:p14="http://schemas.microsoft.com/office/powerpoint/2010/main" val="49806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BDA12-19AD-46F3-92F0-C87882631218}"/>
              </a:ext>
            </a:extLst>
          </p:cNvPr>
          <p:cNvSpPr>
            <a:spLocks noGrp="1"/>
          </p:cNvSpPr>
          <p:nvPr>
            <p:ph type="title"/>
          </p:nvPr>
        </p:nvSpPr>
        <p:spPr>
          <a:xfrm>
            <a:off x="838200" y="365126"/>
            <a:ext cx="10515600" cy="683746"/>
          </a:xfrm>
        </p:spPr>
        <p:txBody>
          <a:bodyPr>
            <a:normAutofit fontScale="90000"/>
          </a:bodyPr>
          <a:lstStyle/>
          <a:p>
            <a:r>
              <a:rPr lang="en-US" dirty="0"/>
              <a:t>Doing Data Science Ethically</a:t>
            </a:r>
          </a:p>
        </p:txBody>
      </p:sp>
      <p:sp>
        <p:nvSpPr>
          <p:cNvPr id="3" name="Content Placeholder 2">
            <a:extLst>
              <a:ext uri="{FF2B5EF4-FFF2-40B4-BE49-F238E27FC236}">
                <a16:creationId xmlns:a16="http://schemas.microsoft.com/office/drawing/2014/main" id="{04F82E3B-0E0E-44B6-A56F-347E606D6F76}"/>
              </a:ext>
            </a:extLst>
          </p:cNvPr>
          <p:cNvSpPr>
            <a:spLocks noGrp="1"/>
          </p:cNvSpPr>
          <p:nvPr>
            <p:ph idx="1"/>
          </p:nvPr>
        </p:nvSpPr>
        <p:spPr>
          <a:xfrm>
            <a:off x="838200" y="1048872"/>
            <a:ext cx="10515600" cy="5128091"/>
          </a:xfrm>
        </p:spPr>
        <p:txBody>
          <a:bodyPr/>
          <a:lstStyle/>
          <a:p>
            <a:pPr algn="just"/>
            <a:r>
              <a:rPr lang="en-US" dirty="0"/>
              <a:t>As with any discipline, there is always the potential for unethical behavior and abuse. </a:t>
            </a:r>
          </a:p>
          <a:p>
            <a:pPr algn="just"/>
            <a:endParaRPr lang="en-US" dirty="0"/>
          </a:p>
          <a:p>
            <a:pPr algn="just"/>
            <a:r>
              <a:rPr lang="en-US" dirty="0"/>
              <a:t>Data and the use of it is also at risk of such behaviour and misuse.</a:t>
            </a:r>
          </a:p>
          <a:p>
            <a:pPr algn="just"/>
            <a:endParaRPr lang="en-US" dirty="0"/>
          </a:p>
          <a:p>
            <a:pPr algn="just"/>
            <a:r>
              <a:rPr lang="en-US" dirty="0"/>
              <a:t>This is the reason data science ethics are so important. </a:t>
            </a:r>
          </a:p>
          <a:p>
            <a:pPr algn="just"/>
            <a:endParaRPr lang="en-US" dirty="0"/>
          </a:p>
          <a:p>
            <a:pPr algn="just"/>
            <a:r>
              <a:rPr lang="en-US" dirty="0"/>
              <a:t>There are several basic ethical guidelines for data science to keep in mind.</a:t>
            </a:r>
          </a:p>
        </p:txBody>
      </p:sp>
      <p:sp>
        <p:nvSpPr>
          <p:cNvPr id="5" name="Slide Number Placeholder 4">
            <a:extLst>
              <a:ext uri="{FF2B5EF4-FFF2-40B4-BE49-F238E27FC236}">
                <a16:creationId xmlns:a16="http://schemas.microsoft.com/office/drawing/2014/main" id="{E51F55BC-C913-4943-B61D-820180CABB99}"/>
              </a:ext>
            </a:extLst>
          </p:cNvPr>
          <p:cNvSpPr>
            <a:spLocks noGrp="1"/>
          </p:cNvSpPr>
          <p:nvPr>
            <p:ph type="sldNum" sz="quarter" idx="12"/>
          </p:nvPr>
        </p:nvSpPr>
        <p:spPr/>
        <p:txBody>
          <a:bodyPr/>
          <a:lstStyle/>
          <a:p>
            <a:fld id="{6B97D948-30E8-43F7-AE10-F6E2D9F2BBB1}" type="slidenum">
              <a:rPr lang="en-US" smtClean="0"/>
              <a:t>23</a:t>
            </a:fld>
            <a:endParaRPr lang="en-US"/>
          </a:p>
        </p:txBody>
      </p:sp>
    </p:spTree>
    <p:extLst>
      <p:ext uri="{BB962C8B-B14F-4D97-AF65-F5344CB8AC3E}">
        <p14:creationId xmlns:p14="http://schemas.microsoft.com/office/powerpoint/2010/main" val="3059918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DF909A-D752-43BB-B7B2-72BAE2579DE1}"/>
              </a:ext>
            </a:extLst>
          </p:cNvPr>
          <p:cNvSpPr>
            <a:spLocks noGrp="1"/>
          </p:cNvSpPr>
          <p:nvPr>
            <p:ph idx="1"/>
          </p:nvPr>
        </p:nvSpPr>
        <p:spPr>
          <a:xfrm>
            <a:off x="838200" y="440267"/>
            <a:ext cx="10515600" cy="5736696"/>
          </a:xfrm>
        </p:spPr>
        <p:txBody>
          <a:bodyPr/>
          <a:lstStyle/>
          <a:p>
            <a:r>
              <a:rPr lang="en-US" dirty="0"/>
              <a:t>Entities should aim to collect the data they need, but not more. </a:t>
            </a:r>
          </a:p>
          <a:p>
            <a:endParaRPr lang="en-US" dirty="0"/>
          </a:p>
          <a:p>
            <a:pPr algn="just"/>
            <a:r>
              <a:rPr lang="en-US" dirty="0"/>
              <a:t>They should protect relevant data with the best available technologies. </a:t>
            </a:r>
          </a:p>
          <a:p>
            <a:endParaRPr lang="en-US" dirty="0"/>
          </a:p>
          <a:p>
            <a:pPr algn="just"/>
            <a:r>
              <a:rPr lang="en-US" dirty="0"/>
              <a:t>Furthermore, companies should also promote transparency and guard privacy by keeping data aggregated.</a:t>
            </a:r>
          </a:p>
          <a:p>
            <a:endParaRPr lang="en-US" dirty="0"/>
          </a:p>
        </p:txBody>
      </p:sp>
      <p:sp>
        <p:nvSpPr>
          <p:cNvPr id="4" name="Slide Number Placeholder 3">
            <a:extLst>
              <a:ext uri="{FF2B5EF4-FFF2-40B4-BE49-F238E27FC236}">
                <a16:creationId xmlns:a16="http://schemas.microsoft.com/office/drawing/2014/main" id="{C893F943-E3AF-454D-88DE-EB214D6A6EB7}"/>
              </a:ext>
            </a:extLst>
          </p:cNvPr>
          <p:cNvSpPr>
            <a:spLocks noGrp="1"/>
          </p:cNvSpPr>
          <p:nvPr>
            <p:ph type="sldNum" sz="quarter" idx="12"/>
          </p:nvPr>
        </p:nvSpPr>
        <p:spPr/>
        <p:txBody>
          <a:bodyPr/>
          <a:lstStyle/>
          <a:p>
            <a:fld id="{6B97D948-30E8-43F7-AE10-F6E2D9F2BBB1}" type="slidenum">
              <a:rPr lang="en-US" smtClean="0"/>
              <a:t>24</a:t>
            </a:fld>
            <a:endParaRPr lang="en-US"/>
          </a:p>
        </p:txBody>
      </p:sp>
    </p:spTree>
    <p:extLst>
      <p:ext uri="{BB962C8B-B14F-4D97-AF65-F5344CB8AC3E}">
        <p14:creationId xmlns:p14="http://schemas.microsoft.com/office/powerpoint/2010/main" val="3516450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EDB09-4758-4905-B51E-80AC1B6ED349}"/>
              </a:ext>
            </a:extLst>
          </p:cNvPr>
          <p:cNvSpPr>
            <a:spLocks noGrp="1"/>
          </p:cNvSpPr>
          <p:nvPr>
            <p:ph type="title"/>
          </p:nvPr>
        </p:nvSpPr>
        <p:spPr/>
        <p:txBody>
          <a:bodyPr/>
          <a:lstStyle/>
          <a:p>
            <a:r>
              <a:rPr lang="en-US" dirty="0"/>
              <a:t>Going into data science. . . </a:t>
            </a:r>
          </a:p>
        </p:txBody>
      </p:sp>
      <p:pic>
        <p:nvPicPr>
          <p:cNvPr id="4" name="Content Placeholder 3">
            <a:extLst>
              <a:ext uri="{FF2B5EF4-FFF2-40B4-BE49-F238E27FC236}">
                <a16:creationId xmlns:a16="http://schemas.microsoft.com/office/drawing/2014/main" id="{377CADCF-F5C2-4353-A193-F7100EDB4405}"/>
              </a:ext>
            </a:extLst>
          </p:cNvPr>
          <p:cNvPicPr>
            <a:picLocks noGrp="1" noChangeAspect="1"/>
          </p:cNvPicPr>
          <p:nvPr>
            <p:ph idx="1"/>
          </p:nvPr>
        </p:nvPicPr>
        <p:blipFill>
          <a:blip r:embed="rId2"/>
          <a:stretch>
            <a:fillRect/>
          </a:stretch>
        </p:blipFill>
        <p:spPr>
          <a:xfrm>
            <a:off x="1900067" y="1825625"/>
            <a:ext cx="8391866" cy="4351338"/>
          </a:xfrm>
          <a:prstGeom prst="rect">
            <a:avLst/>
          </a:prstGeom>
        </p:spPr>
      </p:pic>
      <p:sp>
        <p:nvSpPr>
          <p:cNvPr id="5" name="Slide Number Placeholder 4">
            <a:extLst>
              <a:ext uri="{FF2B5EF4-FFF2-40B4-BE49-F238E27FC236}">
                <a16:creationId xmlns:a16="http://schemas.microsoft.com/office/drawing/2014/main" id="{912B2A61-0CAD-49C1-AAEA-3054A996C9F1}"/>
              </a:ext>
            </a:extLst>
          </p:cNvPr>
          <p:cNvSpPr>
            <a:spLocks noGrp="1"/>
          </p:cNvSpPr>
          <p:nvPr>
            <p:ph type="sldNum" sz="quarter" idx="12"/>
          </p:nvPr>
        </p:nvSpPr>
        <p:spPr/>
        <p:txBody>
          <a:bodyPr/>
          <a:lstStyle/>
          <a:p>
            <a:fld id="{6B97D948-30E8-43F7-AE10-F6E2D9F2BBB1}" type="slidenum">
              <a:rPr lang="en-US" smtClean="0"/>
              <a:t>25</a:t>
            </a:fld>
            <a:endParaRPr lang="en-US"/>
          </a:p>
        </p:txBody>
      </p:sp>
    </p:spTree>
    <p:extLst>
      <p:ext uri="{BB962C8B-B14F-4D97-AF65-F5344CB8AC3E}">
        <p14:creationId xmlns:p14="http://schemas.microsoft.com/office/powerpoint/2010/main" val="4053128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7C4F5-E761-4E1A-A0E1-A39E79F875C5}"/>
              </a:ext>
            </a:extLst>
          </p:cNvPr>
          <p:cNvSpPr>
            <a:spLocks noGrp="1"/>
          </p:cNvSpPr>
          <p:nvPr>
            <p:ph type="title"/>
          </p:nvPr>
        </p:nvSpPr>
        <p:spPr>
          <a:xfrm>
            <a:off x="838200" y="365126"/>
            <a:ext cx="10515600" cy="584786"/>
          </a:xfrm>
        </p:spPr>
        <p:txBody>
          <a:bodyPr>
            <a:normAutofit fontScale="90000"/>
          </a:bodyPr>
          <a:lstStyle/>
          <a:p>
            <a:r>
              <a:rPr lang="en-US" dirty="0"/>
              <a:t>Data Forms</a:t>
            </a:r>
          </a:p>
        </p:txBody>
      </p:sp>
      <p:sp>
        <p:nvSpPr>
          <p:cNvPr id="3" name="Content Placeholder 2">
            <a:extLst>
              <a:ext uri="{FF2B5EF4-FFF2-40B4-BE49-F238E27FC236}">
                <a16:creationId xmlns:a16="http://schemas.microsoft.com/office/drawing/2014/main" id="{12F96D35-1D49-4178-A7F1-0B5422429585}"/>
              </a:ext>
            </a:extLst>
          </p:cNvPr>
          <p:cNvSpPr>
            <a:spLocks noGrp="1"/>
          </p:cNvSpPr>
          <p:nvPr>
            <p:ph idx="1"/>
          </p:nvPr>
        </p:nvSpPr>
        <p:spPr>
          <a:xfrm>
            <a:off x="838200" y="949912"/>
            <a:ext cx="10515600" cy="5227051"/>
          </a:xfrm>
        </p:spPr>
        <p:txBody>
          <a:bodyPr/>
          <a:lstStyle/>
          <a:p>
            <a:r>
              <a:rPr lang="en-US" dirty="0"/>
              <a:t>We can identify three basic forms of data.</a:t>
            </a:r>
          </a:p>
          <a:p>
            <a:endParaRPr lang="en-US" dirty="0"/>
          </a:p>
          <a:p>
            <a:r>
              <a:rPr lang="en-US" dirty="0"/>
              <a:t>Structured</a:t>
            </a:r>
          </a:p>
          <a:p>
            <a:endParaRPr lang="en-US" dirty="0"/>
          </a:p>
          <a:p>
            <a:r>
              <a:rPr lang="en-US" dirty="0"/>
              <a:t>Unstructured </a:t>
            </a:r>
          </a:p>
          <a:p>
            <a:endParaRPr lang="en-US" dirty="0"/>
          </a:p>
          <a:p>
            <a:r>
              <a:rPr lang="en-US" dirty="0"/>
              <a:t>Semi-structured</a:t>
            </a:r>
          </a:p>
        </p:txBody>
      </p:sp>
      <p:sp>
        <p:nvSpPr>
          <p:cNvPr id="5" name="Slide Number Placeholder 4">
            <a:extLst>
              <a:ext uri="{FF2B5EF4-FFF2-40B4-BE49-F238E27FC236}">
                <a16:creationId xmlns:a16="http://schemas.microsoft.com/office/drawing/2014/main" id="{916BE337-9D92-4983-9F4D-FC99B3A9441C}"/>
              </a:ext>
            </a:extLst>
          </p:cNvPr>
          <p:cNvSpPr>
            <a:spLocks noGrp="1"/>
          </p:cNvSpPr>
          <p:nvPr>
            <p:ph type="sldNum" sz="quarter" idx="12"/>
          </p:nvPr>
        </p:nvSpPr>
        <p:spPr/>
        <p:txBody>
          <a:bodyPr/>
          <a:lstStyle/>
          <a:p>
            <a:fld id="{6B97D948-30E8-43F7-AE10-F6E2D9F2BBB1}" type="slidenum">
              <a:rPr lang="en-US" smtClean="0"/>
              <a:t>26</a:t>
            </a:fld>
            <a:endParaRPr lang="en-US"/>
          </a:p>
        </p:txBody>
      </p:sp>
    </p:spTree>
    <p:extLst>
      <p:ext uri="{BB962C8B-B14F-4D97-AF65-F5344CB8AC3E}">
        <p14:creationId xmlns:p14="http://schemas.microsoft.com/office/powerpoint/2010/main" val="183247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4623-56BE-4D50-A302-973AFB8DE877}"/>
              </a:ext>
            </a:extLst>
          </p:cNvPr>
          <p:cNvSpPr>
            <a:spLocks noGrp="1"/>
          </p:cNvSpPr>
          <p:nvPr>
            <p:ph type="title"/>
          </p:nvPr>
        </p:nvSpPr>
        <p:spPr>
          <a:xfrm>
            <a:off x="838200" y="365125"/>
            <a:ext cx="10515600" cy="824483"/>
          </a:xfrm>
        </p:spPr>
        <p:txBody>
          <a:bodyPr/>
          <a:lstStyle/>
          <a:p>
            <a:r>
              <a:rPr lang="en-US" dirty="0"/>
              <a:t>Structured Data</a:t>
            </a:r>
          </a:p>
        </p:txBody>
      </p:sp>
      <p:sp>
        <p:nvSpPr>
          <p:cNvPr id="3" name="Content Placeholder 2">
            <a:extLst>
              <a:ext uri="{FF2B5EF4-FFF2-40B4-BE49-F238E27FC236}">
                <a16:creationId xmlns:a16="http://schemas.microsoft.com/office/drawing/2014/main" id="{56B20998-011C-4E1A-96C8-E276391EEBA5}"/>
              </a:ext>
            </a:extLst>
          </p:cNvPr>
          <p:cNvSpPr>
            <a:spLocks noGrp="1"/>
          </p:cNvSpPr>
          <p:nvPr>
            <p:ph idx="1"/>
          </p:nvPr>
        </p:nvSpPr>
        <p:spPr>
          <a:xfrm>
            <a:off x="838200" y="1083076"/>
            <a:ext cx="10515600" cy="5093887"/>
          </a:xfrm>
        </p:spPr>
        <p:txBody>
          <a:bodyPr>
            <a:normAutofit/>
          </a:bodyPr>
          <a:lstStyle/>
          <a:p>
            <a:pPr algn="just"/>
            <a:r>
              <a:rPr lang="en-US" dirty="0"/>
              <a:t>Structured data is organized into rows and columns, where each row will have the same set of columns. </a:t>
            </a:r>
          </a:p>
          <a:p>
            <a:pPr algn="just"/>
            <a:r>
              <a:rPr lang="en-US" dirty="0"/>
              <a:t>Columns will often have a specific set of rules or restrictions on the values, to ensure that the values accurately represent the column. </a:t>
            </a:r>
          </a:p>
          <a:p>
            <a:pPr algn="just"/>
            <a:r>
              <a:rPr lang="en-US" dirty="0"/>
              <a:t>For example imagine a spreadsheet of customers where each row must have a phone number and the phone numbers never contain alphabetical characters. </a:t>
            </a:r>
          </a:p>
          <a:p>
            <a:pPr algn="just"/>
            <a:r>
              <a:rPr lang="en-US" dirty="0"/>
              <a:t> Rules may be applied to the phone number column to ensure it is never empty and only contains numbers.</a:t>
            </a:r>
          </a:p>
          <a:p>
            <a:pPr algn="just"/>
            <a:r>
              <a:rPr lang="en-US" dirty="0"/>
              <a:t>Examples of structured data: spreadsheets, relational databases, phone numbers, bank statements</a:t>
            </a:r>
          </a:p>
        </p:txBody>
      </p:sp>
      <p:sp>
        <p:nvSpPr>
          <p:cNvPr id="5" name="Slide Number Placeholder 4">
            <a:extLst>
              <a:ext uri="{FF2B5EF4-FFF2-40B4-BE49-F238E27FC236}">
                <a16:creationId xmlns:a16="http://schemas.microsoft.com/office/drawing/2014/main" id="{FAF10D1B-B57A-4156-8625-83BBFC83EC2C}"/>
              </a:ext>
            </a:extLst>
          </p:cNvPr>
          <p:cNvSpPr>
            <a:spLocks noGrp="1"/>
          </p:cNvSpPr>
          <p:nvPr>
            <p:ph type="sldNum" sz="quarter" idx="12"/>
          </p:nvPr>
        </p:nvSpPr>
        <p:spPr/>
        <p:txBody>
          <a:bodyPr/>
          <a:lstStyle/>
          <a:p>
            <a:fld id="{6B97D948-30E8-43F7-AE10-F6E2D9F2BBB1}" type="slidenum">
              <a:rPr lang="en-US" smtClean="0"/>
              <a:t>27</a:t>
            </a:fld>
            <a:endParaRPr lang="en-US"/>
          </a:p>
        </p:txBody>
      </p:sp>
    </p:spTree>
    <p:extLst>
      <p:ext uri="{BB962C8B-B14F-4D97-AF65-F5344CB8AC3E}">
        <p14:creationId xmlns:p14="http://schemas.microsoft.com/office/powerpoint/2010/main" val="10542896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9ACE1-1E0E-41DF-9A2E-F450F04D0260}"/>
              </a:ext>
            </a:extLst>
          </p:cNvPr>
          <p:cNvSpPr>
            <a:spLocks noGrp="1"/>
          </p:cNvSpPr>
          <p:nvPr>
            <p:ph type="title"/>
          </p:nvPr>
        </p:nvSpPr>
        <p:spPr>
          <a:xfrm>
            <a:off x="838200" y="365125"/>
            <a:ext cx="10515600" cy="656851"/>
          </a:xfrm>
        </p:spPr>
        <p:txBody>
          <a:bodyPr>
            <a:normAutofit fontScale="90000"/>
          </a:bodyPr>
          <a:lstStyle/>
          <a:p>
            <a:r>
              <a:rPr lang="en-US" dirty="0"/>
              <a:t>Unstructured Data</a:t>
            </a:r>
          </a:p>
        </p:txBody>
      </p:sp>
      <p:sp>
        <p:nvSpPr>
          <p:cNvPr id="3" name="Content Placeholder 2">
            <a:extLst>
              <a:ext uri="{FF2B5EF4-FFF2-40B4-BE49-F238E27FC236}">
                <a16:creationId xmlns:a16="http://schemas.microsoft.com/office/drawing/2014/main" id="{0CD418A1-4CF1-46C6-A36A-108B7575B4AA}"/>
              </a:ext>
            </a:extLst>
          </p:cNvPr>
          <p:cNvSpPr>
            <a:spLocks noGrp="1"/>
          </p:cNvSpPr>
          <p:nvPr>
            <p:ph idx="1"/>
          </p:nvPr>
        </p:nvSpPr>
        <p:spPr>
          <a:xfrm>
            <a:off x="838200" y="1021976"/>
            <a:ext cx="10515600" cy="5154987"/>
          </a:xfrm>
        </p:spPr>
        <p:txBody>
          <a:bodyPr>
            <a:normAutofit/>
          </a:bodyPr>
          <a:lstStyle/>
          <a:p>
            <a:pPr algn="just"/>
            <a:r>
              <a:rPr lang="en-US" dirty="0"/>
              <a:t>This type cannot be categorized into rows or columns and doesn't contain a format or set of rules to follow. </a:t>
            </a:r>
          </a:p>
          <a:p>
            <a:pPr algn="just"/>
            <a:r>
              <a:rPr lang="en-US" dirty="0"/>
              <a:t>Because unstructured data has less restrictions on its structure it's easier to add new information in comparison to a structured dataset. </a:t>
            </a:r>
          </a:p>
          <a:p>
            <a:pPr algn="just"/>
            <a:r>
              <a:rPr lang="en-US" dirty="0"/>
              <a:t>If a sensor capturing data on barometric pressure every 2 minutes has received an update allowing it to measure and record temperature, it doesn't require altering the existing data if it's unstructured. </a:t>
            </a:r>
          </a:p>
          <a:p>
            <a:pPr algn="just"/>
            <a:r>
              <a:rPr lang="en-US" dirty="0"/>
              <a:t>However, this may make analyzing or investigating this type of data challenging. </a:t>
            </a:r>
          </a:p>
          <a:p>
            <a:r>
              <a:rPr lang="en-US" dirty="0"/>
              <a:t>Examples of unstructured data: text files, text messages, video files</a:t>
            </a:r>
          </a:p>
        </p:txBody>
      </p:sp>
      <p:sp>
        <p:nvSpPr>
          <p:cNvPr id="5" name="Slide Number Placeholder 4">
            <a:extLst>
              <a:ext uri="{FF2B5EF4-FFF2-40B4-BE49-F238E27FC236}">
                <a16:creationId xmlns:a16="http://schemas.microsoft.com/office/drawing/2014/main" id="{00785B39-B4FA-41BF-A279-2028ED1A461D}"/>
              </a:ext>
            </a:extLst>
          </p:cNvPr>
          <p:cNvSpPr>
            <a:spLocks noGrp="1"/>
          </p:cNvSpPr>
          <p:nvPr>
            <p:ph type="sldNum" sz="quarter" idx="12"/>
          </p:nvPr>
        </p:nvSpPr>
        <p:spPr/>
        <p:txBody>
          <a:bodyPr/>
          <a:lstStyle/>
          <a:p>
            <a:fld id="{6B97D948-30E8-43F7-AE10-F6E2D9F2BBB1}" type="slidenum">
              <a:rPr lang="en-US" smtClean="0"/>
              <a:t>28</a:t>
            </a:fld>
            <a:endParaRPr lang="en-US"/>
          </a:p>
        </p:txBody>
      </p:sp>
    </p:spTree>
    <p:extLst>
      <p:ext uri="{BB962C8B-B14F-4D97-AF65-F5344CB8AC3E}">
        <p14:creationId xmlns:p14="http://schemas.microsoft.com/office/powerpoint/2010/main" val="2013400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8EE6-2DAA-4137-A0B6-B48BE8155701}"/>
              </a:ext>
            </a:extLst>
          </p:cNvPr>
          <p:cNvSpPr>
            <a:spLocks noGrp="1"/>
          </p:cNvSpPr>
          <p:nvPr>
            <p:ph type="title"/>
          </p:nvPr>
        </p:nvSpPr>
        <p:spPr>
          <a:xfrm>
            <a:off x="838200" y="365126"/>
            <a:ext cx="10515600" cy="643404"/>
          </a:xfrm>
        </p:spPr>
        <p:txBody>
          <a:bodyPr>
            <a:normAutofit fontScale="90000"/>
          </a:bodyPr>
          <a:lstStyle/>
          <a:p>
            <a:r>
              <a:rPr lang="en-US" dirty="0"/>
              <a:t>Semi-structured</a:t>
            </a:r>
          </a:p>
        </p:txBody>
      </p:sp>
      <p:sp>
        <p:nvSpPr>
          <p:cNvPr id="3" name="Content Placeholder 2">
            <a:extLst>
              <a:ext uri="{FF2B5EF4-FFF2-40B4-BE49-F238E27FC236}">
                <a16:creationId xmlns:a16="http://schemas.microsoft.com/office/drawing/2014/main" id="{9B9454F9-E072-4DDC-8C08-ADDDCA0B2F4A}"/>
              </a:ext>
            </a:extLst>
          </p:cNvPr>
          <p:cNvSpPr>
            <a:spLocks noGrp="1"/>
          </p:cNvSpPr>
          <p:nvPr>
            <p:ph idx="1"/>
          </p:nvPr>
        </p:nvSpPr>
        <p:spPr>
          <a:xfrm>
            <a:off x="838200" y="1008530"/>
            <a:ext cx="10515600" cy="5168433"/>
          </a:xfrm>
        </p:spPr>
        <p:txBody>
          <a:bodyPr>
            <a:normAutofit fontScale="85000" lnSpcReduction="20000"/>
          </a:bodyPr>
          <a:lstStyle/>
          <a:p>
            <a:pPr algn="just"/>
            <a:r>
              <a:rPr lang="en-US" dirty="0"/>
              <a:t>Semi-structured data has features that make it a combination of structured and unstructured data. </a:t>
            </a:r>
          </a:p>
          <a:p>
            <a:pPr algn="just"/>
            <a:endParaRPr lang="en-US" dirty="0"/>
          </a:p>
          <a:p>
            <a:pPr algn="just"/>
            <a:r>
              <a:rPr lang="en-US" dirty="0"/>
              <a:t>It doesn't typically conform to a format of rows and columns but is organized in a way that is considered structured and may follow a fixed format or set of rules. </a:t>
            </a:r>
          </a:p>
          <a:p>
            <a:pPr algn="just"/>
            <a:r>
              <a:rPr lang="en-US" dirty="0"/>
              <a:t>The structure will vary between sources, such as a well defined hierarchy to something more flexible that allows for easy integration of new information. </a:t>
            </a:r>
          </a:p>
          <a:p>
            <a:pPr algn="just"/>
            <a:r>
              <a:rPr lang="en-US" dirty="0">
                <a:solidFill>
                  <a:srgbClr val="FF0000"/>
                </a:solidFill>
              </a:rPr>
              <a:t>Metadata</a:t>
            </a:r>
            <a:r>
              <a:rPr lang="en-US" dirty="0"/>
              <a:t> are indicators of how data is organized and stored and will have various names, based on the type of data. </a:t>
            </a:r>
          </a:p>
          <a:p>
            <a:pPr algn="just"/>
            <a:r>
              <a:rPr lang="en-US" dirty="0"/>
              <a:t>Some common names for metadata are </a:t>
            </a:r>
            <a:r>
              <a:rPr lang="en-US" dirty="0">
                <a:solidFill>
                  <a:srgbClr val="FF0000"/>
                </a:solidFill>
              </a:rPr>
              <a:t>tags</a:t>
            </a:r>
            <a:r>
              <a:rPr lang="en-US" dirty="0"/>
              <a:t>, </a:t>
            </a:r>
            <a:r>
              <a:rPr lang="en-US" dirty="0">
                <a:solidFill>
                  <a:srgbClr val="FF0000"/>
                </a:solidFill>
              </a:rPr>
              <a:t>elements</a:t>
            </a:r>
            <a:r>
              <a:rPr lang="en-US" dirty="0"/>
              <a:t>, </a:t>
            </a:r>
            <a:r>
              <a:rPr lang="en-US" dirty="0">
                <a:solidFill>
                  <a:srgbClr val="FF0000"/>
                </a:solidFill>
              </a:rPr>
              <a:t>entities</a:t>
            </a:r>
            <a:r>
              <a:rPr lang="en-US" dirty="0"/>
              <a:t> and </a:t>
            </a:r>
            <a:r>
              <a:rPr lang="en-US" dirty="0">
                <a:solidFill>
                  <a:srgbClr val="FF0000"/>
                </a:solidFill>
              </a:rPr>
              <a:t>attributes</a:t>
            </a:r>
            <a:r>
              <a:rPr lang="en-US" dirty="0"/>
              <a:t>. </a:t>
            </a:r>
          </a:p>
          <a:p>
            <a:pPr algn="just"/>
            <a:r>
              <a:rPr lang="en-US" dirty="0"/>
              <a:t>For example, a typical email message will have a subject, body and a set of recipients and can be organized by whom or when it was sent.</a:t>
            </a:r>
          </a:p>
          <a:p>
            <a:endParaRPr lang="en-US" dirty="0"/>
          </a:p>
          <a:p>
            <a:r>
              <a:rPr lang="en-US" dirty="0"/>
              <a:t>Examples of semi-structured data: HTML, CSV files, JavaScript Object Notation (JSON)</a:t>
            </a:r>
          </a:p>
        </p:txBody>
      </p:sp>
      <p:sp>
        <p:nvSpPr>
          <p:cNvPr id="5" name="Slide Number Placeholder 4">
            <a:extLst>
              <a:ext uri="{FF2B5EF4-FFF2-40B4-BE49-F238E27FC236}">
                <a16:creationId xmlns:a16="http://schemas.microsoft.com/office/drawing/2014/main" id="{69E0575B-CABC-433A-88FD-BB86008682E2}"/>
              </a:ext>
            </a:extLst>
          </p:cNvPr>
          <p:cNvSpPr>
            <a:spLocks noGrp="1"/>
          </p:cNvSpPr>
          <p:nvPr>
            <p:ph type="sldNum" sz="quarter" idx="12"/>
          </p:nvPr>
        </p:nvSpPr>
        <p:spPr/>
        <p:txBody>
          <a:bodyPr/>
          <a:lstStyle/>
          <a:p>
            <a:fld id="{6B97D948-30E8-43F7-AE10-F6E2D9F2BBB1}" type="slidenum">
              <a:rPr lang="en-US" smtClean="0"/>
              <a:t>29</a:t>
            </a:fld>
            <a:endParaRPr lang="en-US"/>
          </a:p>
        </p:txBody>
      </p:sp>
    </p:spTree>
    <p:extLst>
      <p:ext uri="{BB962C8B-B14F-4D97-AF65-F5344CB8AC3E}">
        <p14:creationId xmlns:p14="http://schemas.microsoft.com/office/powerpoint/2010/main" val="312695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1BA07-BAB8-411D-A00E-326A60F4AF6C}"/>
              </a:ext>
            </a:extLst>
          </p:cNvPr>
          <p:cNvSpPr>
            <a:spLocks noGrp="1"/>
          </p:cNvSpPr>
          <p:nvPr>
            <p:ph type="title"/>
          </p:nvPr>
        </p:nvSpPr>
        <p:spPr/>
        <p:txBody>
          <a:bodyPr/>
          <a:lstStyle/>
          <a:p>
            <a:r>
              <a:rPr lang="en-US" dirty="0"/>
              <a:t>Variables</a:t>
            </a:r>
          </a:p>
        </p:txBody>
      </p:sp>
      <p:pic>
        <p:nvPicPr>
          <p:cNvPr id="4" name="Content Placeholder 3">
            <a:extLst>
              <a:ext uri="{FF2B5EF4-FFF2-40B4-BE49-F238E27FC236}">
                <a16:creationId xmlns:a16="http://schemas.microsoft.com/office/drawing/2014/main" id="{6FDECF69-14D0-4F6F-B103-88F8ADC2AED7}"/>
              </a:ext>
            </a:extLst>
          </p:cNvPr>
          <p:cNvPicPr>
            <a:picLocks noGrp="1" noChangeAspect="1"/>
          </p:cNvPicPr>
          <p:nvPr>
            <p:ph idx="1"/>
          </p:nvPr>
        </p:nvPicPr>
        <p:blipFill>
          <a:blip r:embed="rId2"/>
          <a:stretch>
            <a:fillRect/>
          </a:stretch>
        </p:blipFill>
        <p:spPr>
          <a:xfrm>
            <a:off x="838200" y="2405176"/>
            <a:ext cx="10515600" cy="3192235"/>
          </a:xfrm>
          <a:prstGeom prst="rect">
            <a:avLst/>
          </a:prstGeom>
        </p:spPr>
      </p:pic>
      <p:sp>
        <p:nvSpPr>
          <p:cNvPr id="5" name="Slide Number Placeholder 4">
            <a:extLst>
              <a:ext uri="{FF2B5EF4-FFF2-40B4-BE49-F238E27FC236}">
                <a16:creationId xmlns:a16="http://schemas.microsoft.com/office/drawing/2014/main" id="{162A1AF4-C083-4736-BAF0-62D374FD84B2}"/>
              </a:ext>
            </a:extLst>
          </p:cNvPr>
          <p:cNvSpPr>
            <a:spLocks noGrp="1"/>
          </p:cNvSpPr>
          <p:nvPr>
            <p:ph type="sldNum" sz="quarter" idx="12"/>
          </p:nvPr>
        </p:nvSpPr>
        <p:spPr/>
        <p:txBody>
          <a:bodyPr/>
          <a:lstStyle/>
          <a:p>
            <a:fld id="{6B97D948-30E8-43F7-AE10-F6E2D9F2BBB1}" type="slidenum">
              <a:rPr lang="en-US" smtClean="0"/>
              <a:t>30</a:t>
            </a:fld>
            <a:endParaRPr lang="en-US"/>
          </a:p>
        </p:txBody>
      </p:sp>
    </p:spTree>
    <p:extLst>
      <p:ext uri="{BB962C8B-B14F-4D97-AF65-F5344CB8AC3E}">
        <p14:creationId xmlns:p14="http://schemas.microsoft.com/office/powerpoint/2010/main" val="28191139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1C1A7-B4B4-4EAF-BB75-1027E8515E75}"/>
              </a:ext>
            </a:extLst>
          </p:cNvPr>
          <p:cNvSpPr>
            <a:spLocks noGrp="1"/>
          </p:cNvSpPr>
          <p:nvPr>
            <p:ph type="title"/>
          </p:nvPr>
        </p:nvSpPr>
        <p:spPr>
          <a:xfrm>
            <a:off x="838200" y="365125"/>
            <a:ext cx="10515600" cy="804769"/>
          </a:xfrm>
        </p:spPr>
        <p:txBody>
          <a:bodyPr/>
          <a:lstStyle/>
          <a:p>
            <a:r>
              <a:rPr lang="en-US" dirty="0"/>
              <a:t>Quantitative Data</a:t>
            </a:r>
          </a:p>
        </p:txBody>
      </p:sp>
      <p:sp>
        <p:nvSpPr>
          <p:cNvPr id="3" name="Content Placeholder 2">
            <a:extLst>
              <a:ext uri="{FF2B5EF4-FFF2-40B4-BE49-F238E27FC236}">
                <a16:creationId xmlns:a16="http://schemas.microsoft.com/office/drawing/2014/main" id="{CB44444A-27DB-4258-98F9-CF14F5BFF0B3}"/>
              </a:ext>
            </a:extLst>
          </p:cNvPr>
          <p:cNvSpPr>
            <a:spLocks noGrp="1"/>
          </p:cNvSpPr>
          <p:nvPr>
            <p:ph idx="1"/>
          </p:nvPr>
        </p:nvSpPr>
        <p:spPr>
          <a:xfrm>
            <a:off x="838200" y="1169894"/>
            <a:ext cx="10515600" cy="5007069"/>
          </a:xfrm>
        </p:spPr>
        <p:txBody>
          <a:bodyPr/>
          <a:lstStyle/>
          <a:p>
            <a:pPr algn="just"/>
            <a:r>
              <a:rPr lang="en-US" dirty="0"/>
              <a:t>Quantitative data is numerical observations within a dataset and can typically be analyzed, measured and used mathematically. </a:t>
            </a:r>
          </a:p>
          <a:p>
            <a:pPr algn="just"/>
            <a:endParaRPr lang="en-US" dirty="0"/>
          </a:p>
          <a:p>
            <a:pPr algn="just"/>
            <a:r>
              <a:rPr lang="en-US" dirty="0"/>
              <a:t>Some examples of quantitative data are: a country's population, a person's height or a company's quarterly earnings. </a:t>
            </a:r>
          </a:p>
          <a:p>
            <a:pPr algn="just"/>
            <a:endParaRPr lang="en-US" dirty="0"/>
          </a:p>
          <a:p>
            <a:pPr algn="just"/>
            <a:r>
              <a:rPr lang="en-US" dirty="0"/>
              <a:t>With some additional analysis, quantitative data could be used to discover seasonal trends such as the Air Quality Index (AQI) or estimate the probability of rush hour traffic on a typical work day.</a:t>
            </a:r>
          </a:p>
        </p:txBody>
      </p:sp>
      <p:sp>
        <p:nvSpPr>
          <p:cNvPr id="5" name="Slide Number Placeholder 4">
            <a:extLst>
              <a:ext uri="{FF2B5EF4-FFF2-40B4-BE49-F238E27FC236}">
                <a16:creationId xmlns:a16="http://schemas.microsoft.com/office/drawing/2014/main" id="{F69C52DE-1520-4BDC-95A6-D1D8578E2812}"/>
              </a:ext>
            </a:extLst>
          </p:cNvPr>
          <p:cNvSpPr>
            <a:spLocks noGrp="1"/>
          </p:cNvSpPr>
          <p:nvPr>
            <p:ph type="sldNum" sz="quarter" idx="12"/>
          </p:nvPr>
        </p:nvSpPr>
        <p:spPr/>
        <p:txBody>
          <a:bodyPr/>
          <a:lstStyle/>
          <a:p>
            <a:fld id="{6B97D948-30E8-43F7-AE10-F6E2D9F2BBB1}" type="slidenum">
              <a:rPr lang="en-US" smtClean="0"/>
              <a:t>31</a:t>
            </a:fld>
            <a:endParaRPr lang="en-US"/>
          </a:p>
        </p:txBody>
      </p:sp>
    </p:spTree>
    <p:extLst>
      <p:ext uri="{BB962C8B-B14F-4D97-AF65-F5344CB8AC3E}">
        <p14:creationId xmlns:p14="http://schemas.microsoft.com/office/powerpoint/2010/main" val="759017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015F8-294F-40E6-9226-6F7F3DDF9C61}"/>
              </a:ext>
            </a:extLst>
          </p:cNvPr>
          <p:cNvSpPr>
            <a:spLocks noGrp="1"/>
          </p:cNvSpPr>
          <p:nvPr>
            <p:ph type="title"/>
          </p:nvPr>
        </p:nvSpPr>
        <p:spPr>
          <a:xfrm>
            <a:off x="838200" y="365125"/>
            <a:ext cx="10515600" cy="697193"/>
          </a:xfrm>
        </p:spPr>
        <p:txBody>
          <a:bodyPr/>
          <a:lstStyle/>
          <a:p>
            <a:r>
              <a:rPr lang="en-US" dirty="0"/>
              <a:t>Qualitative Data</a:t>
            </a:r>
          </a:p>
        </p:txBody>
      </p:sp>
      <p:sp>
        <p:nvSpPr>
          <p:cNvPr id="3" name="Content Placeholder 2">
            <a:extLst>
              <a:ext uri="{FF2B5EF4-FFF2-40B4-BE49-F238E27FC236}">
                <a16:creationId xmlns:a16="http://schemas.microsoft.com/office/drawing/2014/main" id="{FA5EFB05-509B-4A31-9637-D1A5E37AA180}"/>
              </a:ext>
            </a:extLst>
          </p:cNvPr>
          <p:cNvSpPr>
            <a:spLocks noGrp="1"/>
          </p:cNvSpPr>
          <p:nvPr>
            <p:ph idx="1"/>
          </p:nvPr>
        </p:nvSpPr>
        <p:spPr>
          <a:xfrm>
            <a:off x="838200" y="1062318"/>
            <a:ext cx="10515600" cy="5114645"/>
          </a:xfrm>
        </p:spPr>
        <p:txBody>
          <a:bodyPr>
            <a:normAutofit fontScale="92500" lnSpcReduction="20000"/>
          </a:bodyPr>
          <a:lstStyle/>
          <a:p>
            <a:pPr algn="just"/>
            <a:r>
              <a:rPr lang="en-US" dirty="0"/>
              <a:t>Qualitative data, also known as categorical data is data that cannot be measured objectively like observations of quantitative data. </a:t>
            </a:r>
          </a:p>
          <a:p>
            <a:pPr algn="just"/>
            <a:endParaRPr lang="en-US" dirty="0"/>
          </a:p>
          <a:p>
            <a:pPr algn="just"/>
            <a:r>
              <a:rPr lang="en-US" dirty="0"/>
              <a:t>It has generally various formats of subjective data that captures the quality of something, such as a product or process. </a:t>
            </a:r>
          </a:p>
          <a:p>
            <a:pPr algn="just"/>
            <a:endParaRPr lang="en-US" dirty="0"/>
          </a:p>
          <a:p>
            <a:pPr algn="just"/>
            <a:r>
              <a:rPr lang="en-US" dirty="0"/>
              <a:t>Sometimes, qualitative data is numerical and wouldn't be typically used mathematically, like phone numbers or timestamps. </a:t>
            </a:r>
          </a:p>
          <a:p>
            <a:pPr algn="just"/>
            <a:endParaRPr lang="en-US" dirty="0"/>
          </a:p>
          <a:p>
            <a:pPr algn="just"/>
            <a:r>
              <a:rPr lang="en-US" dirty="0"/>
              <a:t>Some examples of qualitative data are: video comments, the make and model of a car or your closest friends' favorite color. </a:t>
            </a:r>
          </a:p>
          <a:p>
            <a:pPr algn="just"/>
            <a:endParaRPr lang="en-US" dirty="0"/>
          </a:p>
          <a:p>
            <a:pPr algn="just"/>
            <a:r>
              <a:rPr lang="en-US" dirty="0"/>
              <a:t>Qualitative data could be used to understand which products consumers like best or identifying popular keywords in job application resumes.</a:t>
            </a:r>
          </a:p>
        </p:txBody>
      </p:sp>
      <p:sp>
        <p:nvSpPr>
          <p:cNvPr id="5" name="Slide Number Placeholder 4">
            <a:extLst>
              <a:ext uri="{FF2B5EF4-FFF2-40B4-BE49-F238E27FC236}">
                <a16:creationId xmlns:a16="http://schemas.microsoft.com/office/drawing/2014/main" id="{EA7EAD73-8930-4781-9068-795DB1B33C9D}"/>
              </a:ext>
            </a:extLst>
          </p:cNvPr>
          <p:cNvSpPr>
            <a:spLocks noGrp="1"/>
          </p:cNvSpPr>
          <p:nvPr>
            <p:ph type="sldNum" sz="quarter" idx="12"/>
          </p:nvPr>
        </p:nvSpPr>
        <p:spPr/>
        <p:txBody>
          <a:bodyPr/>
          <a:lstStyle/>
          <a:p>
            <a:fld id="{6B97D948-30E8-43F7-AE10-F6E2D9F2BBB1}" type="slidenum">
              <a:rPr lang="en-US" smtClean="0"/>
              <a:t>32</a:t>
            </a:fld>
            <a:endParaRPr lang="en-US"/>
          </a:p>
        </p:txBody>
      </p:sp>
    </p:spTree>
    <p:extLst>
      <p:ext uri="{BB962C8B-B14F-4D97-AF65-F5344CB8AC3E}">
        <p14:creationId xmlns:p14="http://schemas.microsoft.com/office/powerpoint/2010/main" val="381476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A48AE-15D7-4E28-A5ED-95767E28DDD7}"/>
              </a:ext>
            </a:extLst>
          </p:cNvPr>
          <p:cNvSpPr>
            <a:spLocks noGrp="1"/>
          </p:cNvSpPr>
          <p:nvPr>
            <p:ph type="title"/>
          </p:nvPr>
        </p:nvSpPr>
        <p:spPr>
          <a:xfrm>
            <a:off x="838200" y="365125"/>
            <a:ext cx="10515600" cy="724087"/>
          </a:xfrm>
        </p:spPr>
        <p:txBody>
          <a:bodyPr/>
          <a:lstStyle/>
          <a:p>
            <a:r>
              <a:rPr lang="en-US" dirty="0"/>
              <a:t>Type of Data</a:t>
            </a:r>
          </a:p>
        </p:txBody>
      </p:sp>
      <p:sp>
        <p:nvSpPr>
          <p:cNvPr id="3" name="Content Placeholder 2">
            <a:extLst>
              <a:ext uri="{FF2B5EF4-FFF2-40B4-BE49-F238E27FC236}">
                <a16:creationId xmlns:a16="http://schemas.microsoft.com/office/drawing/2014/main" id="{ADBB0868-0D78-488E-895B-2D3407BCE36C}"/>
              </a:ext>
            </a:extLst>
          </p:cNvPr>
          <p:cNvSpPr>
            <a:spLocks noGrp="1"/>
          </p:cNvSpPr>
          <p:nvPr>
            <p:ph idx="1"/>
          </p:nvPr>
        </p:nvSpPr>
        <p:spPr>
          <a:xfrm>
            <a:off x="838200" y="1089212"/>
            <a:ext cx="10515600" cy="5087751"/>
          </a:xfrm>
        </p:spPr>
        <p:txBody>
          <a:bodyPr/>
          <a:lstStyle/>
          <a:p>
            <a:pPr algn="just"/>
            <a:r>
              <a:rPr lang="en-US" dirty="0"/>
              <a:t>The four basic types of data are:</a:t>
            </a:r>
          </a:p>
          <a:p>
            <a:pPr algn="just"/>
            <a:endParaRPr lang="en-US" dirty="0"/>
          </a:p>
          <a:p>
            <a:pPr algn="just"/>
            <a:r>
              <a:rPr lang="en-US" i="1" dirty="0">
                <a:solidFill>
                  <a:srgbClr val="0070C0"/>
                </a:solidFill>
              </a:rPr>
              <a:t>Nominal data</a:t>
            </a:r>
            <a:r>
              <a:rPr lang="en-US" dirty="0"/>
              <a:t>: Categorical data with no inherent ordering between the categories. </a:t>
            </a:r>
          </a:p>
          <a:p>
            <a:pPr algn="just"/>
            <a:endParaRPr lang="en-US" dirty="0"/>
          </a:p>
          <a:p>
            <a:pPr algn="just"/>
            <a:r>
              <a:rPr lang="en-US" dirty="0"/>
              <a:t>For example, a “pet type” variable could consist of the classes {dog, cat, rabbit}, and there is no relative ordering between these two types, they are just different discrete values.</a:t>
            </a:r>
          </a:p>
        </p:txBody>
      </p:sp>
      <p:sp>
        <p:nvSpPr>
          <p:cNvPr id="5" name="Slide Number Placeholder 4">
            <a:extLst>
              <a:ext uri="{FF2B5EF4-FFF2-40B4-BE49-F238E27FC236}">
                <a16:creationId xmlns:a16="http://schemas.microsoft.com/office/drawing/2014/main" id="{3F937FDA-051A-4194-A424-93CC7E4780CC}"/>
              </a:ext>
            </a:extLst>
          </p:cNvPr>
          <p:cNvSpPr>
            <a:spLocks noGrp="1"/>
          </p:cNvSpPr>
          <p:nvPr>
            <p:ph type="sldNum" sz="quarter" idx="12"/>
          </p:nvPr>
        </p:nvSpPr>
        <p:spPr/>
        <p:txBody>
          <a:bodyPr/>
          <a:lstStyle/>
          <a:p>
            <a:fld id="{6B97D948-30E8-43F7-AE10-F6E2D9F2BBB1}" type="slidenum">
              <a:rPr lang="en-US" smtClean="0"/>
              <a:t>33</a:t>
            </a:fld>
            <a:endParaRPr lang="en-US"/>
          </a:p>
        </p:txBody>
      </p:sp>
    </p:spTree>
    <p:extLst>
      <p:ext uri="{BB962C8B-B14F-4D97-AF65-F5344CB8AC3E}">
        <p14:creationId xmlns:p14="http://schemas.microsoft.com/office/powerpoint/2010/main" val="41169100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9F8EB0-B5BA-44E8-897E-4A7E5BE8C2FC}"/>
              </a:ext>
            </a:extLst>
          </p:cNvPr>
          <p:cNvSpPr>
            <a:spLocks noGrp="1"/>
          </p:cNvSpPr>
          <p:nvPr>
            <p:ph idx="1"/>
          </p:nvPr>
        </p:nvSpPr>
        <p:spPr>
          <a:xfrm>
            <a:off x="838200" y="497541"/>
            <a:ext cx="10515600" cy="5679422"/>
          </a:xfrm>
        </p:spPr>
        <p:txBody>
          <a:bodyPr/>
          <a:lstStyle/>
          <a:p>
            <a:pPr algn="just"/>
            <a:r>
              <a:rPr lang="en-US" i="1" dirty="0">
                <a:solidFill>
                  <a:srgbClr val="0070C0"/>
                </a:solidFill>
              </a:rPr>
              <a:t>Ordinal data</a:t>
            </a:r>
            <a:r>
              <a:rPr lang="en-US" dirty="0"/>
              <a:t>: categorical data with an inherent ordering, but where the “differences” between categories has no strict numerical meaning. </a:t>
            </a:r>
          </a:p>
          <a:p>
            <a:pPr algn="just"/>
            <a:endParaRPr lang="en-US" dirty="0"/>
          </a:p>
          <a:p>
            <a:pPr algn="just"/>
            <a:r>
              <a:rPr lang="en-US" dirty="0"/>
              <a:t>The canonical example are survey responses such as: {strongly disagree, slightly disagree, neutral, slightly agree, strongly agree}. </a:t>
            </a:r>
          </a:p>
          <a:p>
            <a:pPr algn="just"/>
            <a:endParaRPr lang="en-US" dirty="0"/>
          </a:p>
          <a:p>
            <a:pPr algn="just"/>
            <a:r>
              <a:rPr lang="en-US" dirty="0"/>
              <a:t>The important character here is that although there is a clear ordering between these types, there is no sense in which the difference between slightly agree and strongly agree is the “same” as the difference between neutral and slightly agree.</a:t>
            </a:r>
          </a:p>
        </p:txBody>
      </p:sp>
      <p:sp>
        <p:nvSpPr>
          <p:cNvPr id="4" name="Slide Number Placeholder 3">
            <a:extLst>
              <a:ext uri="{FF2B5EF4-FFF2-40B4-BE49-F238E27FC236}">
                <a16:creationId xmlns:a16="http://schemas.microsoft.com/office/drawing/2014/main" id="{ED8AADC7-FB6A-4586-B597-69265025DEDE}"/>
              </a:ext>
            </a:extLst>
          </p:cNvPr>
          <p:cNvSpPr>
            <a:spLocks noGrp="1"/>
          </p:cNvSpPr>
          <p:nvPr>
            <p:ph type="sldNum" sz="quarter" idx="12"/>
          </p:nvPr>
        </p:nvSpPr>
        <p:spPr/>
        <p:txBody>
          <a:bodyPr/>
          <a:lstStyle/>
          <a:p>
            <a:fld id="{6B97D948-30E8-43F7-AE10-F6E2D9F2BBB1}" type="slidenum">
              <a:rPr lang="en-US" smtClean="0"/>
              <a:t>34</a:t>
            </a:fld>
            <a:endParaRPr lang="en-US"/>
          </a:p>
        </p:txBody>
      </p:sp>
    </p:spTree>
    <p:extLst>
      <p:ext uri="{BB962C8B-B14F-4D97-AF65-F5344CB8AC3E}">
        <p14:creationId xmlns:p14="http://schemas.microsoft.com/office/powerpoint/2010/main" val="11036392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1621F-1271-4600-A20D-05564658469D}"/>
              </a:ext>
            </a:extLst>
          </p:cNvPr>
          <p:cNvSpPr>
            <a:spLocks noGrp="1"/>
          </p:cNvSpPr>
          <p:nvPr>
            <p:ph type="title"/>
          </p:nvPr>
        </p:nvSpPr>
        <p:spPr>
          <a:xfrm>
            <a:off x="838200" y="365126"/>
            <a:ext cx="10515600" cy="683746"/>
          </a:xfrm>
        </p:spPr>
        <p:txBody>
          <a:bodyPr>
            <a:normAutofit fontScale="90000"/>
          </a:bodyPr>
          <a:lstStyle/>
          <a:p>
            <a:r>
              <a:rPr lang="en-US" dirty="0"/>
              <a:t>Interval data</a:t>
            </a:r>
          </a:p>
        </p:txBody>
      </p:sp>
      <p:sp>
        <p:nvSpPr>
          <p:cNvPr id="3" name="Content Placeholder 2">
            <a:extLst>
              <a:ext uri="{FF2B5EF4-FFF2-40B4-BE49-F238E27FC236}">
                <a16:creationId xmlns:a16="http://schemas.microsoft.com/office/drawing/2014/main" id="{237DEE0D-C2FB-42E2-98B7-054592757A55}"/>
              </a:ext>
            </a:extLst>
          </p:cNvPr>
          <p:cNvSpPr>
            <a:spLocks noGrp="1"/>
          </p:cNvSpPr>
          <p:nvPr>
            <p:ph idx="1"/>
          </p:nvPr>
        </p:nvSpPr>
        <p:spPr>
          <a:xfrm>
            <a:off x="838200" y="1048872"/>
            <a:ext cx="10515600" cy="5128091"/>
          </a:xfrm>
        </p:spPr>
        <p:txBody>
          <a:bodyPr>
            <a:normAutofit/>
          </a:bodyPr>
          <a:lstStyle/>
          <a:p>
            <a:pPr algn="just"/>
            <a:r>
              <a:rPr lang="en-US" dirty="0">
                <a:solidFill>
                  <a:srgbClr val="00B0F0"/>
                </a:solidFill>
              </a:rPr>
              <a:t>Interval data</a:t>
            </a:r>
            <a:r>
              <a:rPr lang="en-US" dirty="0"/>
              <a:t> is numeric data, </a:t>
            </a:r>
            <a:r>
              <a:rPr lang="en-US" dirty="0" err="1"/>
              <a:t>eg.</a:t>
            </a:r>
            <a:r>
              <a:rPr lang="en-US" dirty="0"/>
              <a:t> data that can be mapped to a “number line”.</a:t>
            </a:r>
          </a:p>
          <a:p>
            <a:pPr algn="just"/>
            <a:r>
              <a:rPr lang="en-US" dirty="0"/>
              <a:t>A classical example is temperature in Fahrenheit or Celsius.</a:t>
            </a:r>
          </a:p>
          <a:p>
            <a:pPr algn="just"/>
            <a:r>
              <a:rPr lang="en-US" dirty="0"/>
              <a:t>Here the differences between temperatures have a meaning: 10 and 15 degrees are separated by the same amount as 15 and 20.</a:t>
            </a:r>
          </a:p>
          <a:p>
            <a:pPr algn="just"/>
            <a:r>
              <a:rPr lang="en-US" dirty="0"/>
              <a:t>However, interval data encompasses instances where the zero point has “no real meaning”.</a:t>
            </a:r>
          </a:p>
          <a:p>
            <a:pPr algn="just"/>
            <a:r>
              <a:rPr lang="en-US" dirty="0"/>
              <a:t>The ratio between two data points has no meaning. </a:t>
            </a:r>
          </a:p>
          <a:p>
            <a:pPr algn="just"/>
            <a:r>
              <a:rPr lang="en-US" dirty="0"/>
              <a:t>Twenty degrees Fahrenheit is not “twice as hot” in any meaningful sense than 10 degrees; and certainly not infinitely hotter than zero degrees.</a:t>
            </a:r>
          </a:p>
        </p:txBody>
      </p:sp>
      <p:sp>
        <p:nvSpPr>
          <p:cNvPr id="5" name="Slide Number Placeholder 4">
            <a:extLst>
              <a:ext uri="{FF2B5EF4-FFF2-40B4-BE49-F238E27FC236}">
                <a16:creationId xmlns:a16="http://schemas.microsoft.com/office/drawing/2014/main" id="{D4A42B3B-6663-4D96-82E8-55F36AA6BF28}"/>
              </a:ext>
            </a:extLst>
          </p:cNvPr>
          <p:cNvSpPr>
            <a:spLocks noGrp="1"/>
          </p:cNvSpPr>
          <p:nvPr>
            <p:ph type="sldNum" sz="quarter" idx="12"/>
          </p:nvPr>
        </p:nvSpPr>
        <p:spPr/>
        <p:txBody>
          <a:bodyPr/>
          <a:lstStyle/>
          <a:p>
            <a:fld id="{6B97D948-30E8-43F7-AE10-F6E2D9F2BBB1}" type="slidenum">
              <a:rPr lang="en-US" smtClean="0"/>
              <a:t>35</a:t>
            </a:fld>
            <a:endParaRPr lang="en-US"/>
          </a:p>
        </p:txBody>
      </p:sp>
    </p:spTree>
    <p:extLst>
      <p:ext uri="{BB962C8B-B14F-4D97-AF65-F5344CB8AC3E}">
        <p14:creationId xmlns:p14="http://schemas.microsoft.com/office/powerpoint/2010/main" val="1799180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10D15C-1777-412D-9319-CB7B2053B2A7}"/>
              </a:ext>
            </a:extLst>
          </p:cNvPr>
          <p:cNvSpPr>
            <a:spLocks noGrp="1"/>
          </p:cNvSpPr>
          <p:nvPr>
            <p:ph idx="1"/>
          </p:nvPr>
        </p:nvSpPr>
        <p:spPr>
          <a:xfrm>
            <a:off x="838200" y="605118"/>
            <a:ext cx="10515600" cy="5571845"/>
          </a:xfrm>
        </p:spPr>
        <p:txBody>
          <a:bodyPr/>
          <a:lstStyle/>
          <a:p>
            <a:pPr algn="just"/>
            <a:r>
              <a:rPr lang="en-US" dirty="0">
                <a:solidFill>
                  <a:srgbClr val="00B0F0"/>
                </a:solidFill>
              </a:rPr>
              <a:t>Ratio data </a:t>
            </a:r>
            <a:r>
              <a:rPr lang="en-US" dirty="0"/>
              <a:t>is also numeric data.</a:t>
            </a:r>
          </a:p>
          <a:p>
            <a:pPr algn="just"/>
            <a:r>
              <a:rPr lang="en-US" dirty="0"/>
              <a:t>The ratio between measurements does have some meaning. </a:t>
            </a:r>
          </a:p>
          <a:p>
            <a:pPr algn="just"/>
            <a:endParaRPr lang="en-US" dirty="0"/>
          </a:p>
          <a:p>
            <a:pPr algn="just"/>
            <a:r>
              <a:rPr lang="en-US" dirty="0"/>
              <a:t>The classical example here is temperature Kelvin. </a:t>
            </a:r>
          </a:p>
          <a:p>
            <a:pPr algn="just"/>
            <a:endParaRPr lang="en-US" dirty="0"/>
          </a:p>
          <a:p>
            <a:pPr algn="just"/>
            <a:r>
              <a:rPr lang="en-US" dirty="0"/>
              <a:t>Just like temperature Fahrenheit or Celsius, this describes the basic phenomenon of temperature, but unlike the previous cases, </a:t>
            </a:r>
            <a:r>
              <a:rPr lang="en-US" dirty="0">
                <a:solidFill>
                  <a:srgbClr val="00B0F0"/>
                </a:solidFill>
              </a:rPr>
              <a:t>zero Kelvin has a meaning</a:t>
            </a:r>
            <a:r>
              <a:rPr lang="en-US" dirty="0"/>
              <a:t> in terms of molecular energy in a substance (i.e., that there is none). </a:t>
            </a:r>
          </a:p>
          <a:p>
            <a:pPr algn="just"/>
            <a:r>
              <a:rPr lang="en-US" dirty="0"/>
              <a:t>This means that ratios have a real meaning: a substance at 20 degrees Kelvin has </a:t>
            </a:r>
            <a:r>
              <a:rPr lang="en-US" dirty="0">
                <a:solidFill>
                  <a:srgbClr val="00B0F0"/>
                </a:solidFill>
              </a:rPr>
              <a:t>twice</a:t>
            </a:r>
            <a:r>
              <a:rPr lang="en-US" dirty="0"/>
              <a:t> as much kinetic energy at the molecular level as that substance as 10 degrees Kelvin.</a:t>
            </a:r>
          </a:p>
        </p:txBody>
      </p:sp>
      <p:sp>
        <p:nvSpPr>
          <p:cNvPr id="4" name="Slide Number Placeholder 3">
            <a:extLst>
              <a:ext uri="{FF2B5EF4-FFF2-40B4-BE49-F238E27FC236}">
                <a16:creationId xmlns:a16="http://schemas.microsoft.com/office/drawing/2014/main" id="{E0FAABEC-52A4-464C-B7AF-E88432459127}"/>
              </a:ext>
            </a:extLst>
          </p:cNvPr>
          <p:cNvSpPr>
            <a:spLocks noGrp="1"/>
          </p:cNvSpPr>
          <p:nvPr>
            <p:ph type="sldNum" sz="quarter" idx="12"/>
          </p:nvPr>
        </p:nvSpPr>
        <p:spPr/>
        <p:txBody>
          <a:bodyPr/>
          <a:lstStyle/>
          <a:p>
            <a:fld id="{6B97D948-30E8-43F7-AE10-F6E2D9F2BBB1}" type="slidenum">
              <a:rPr lang="en-US" smtClean="0"/>
              <a:t>36</a:t>
            </a:fld>
            <a:endParaRPr lang="en-US"/>
          </a:p>
        </p:txBody>
      </p:sp>
    </p:spTree>
    <p:extLst>
      <p:ext uri="{BB962C8B-B14F-4D97-AF65-F5344CB8AC3E}">
        <p14:creationId xmlns:p14="http://schemas.microsoft.com/office/powerpoint/2010/main" val="1869401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4882-2274-4A86-9893-C1AC671D2C77}"/>
              </a:ext>
            </a:extLst>
          </p:cNvPr>
          <p:cNvSpPr>
            <a:spLocks noGrp="1"/>
          </p:cNvSpPr>
          <p:nvPr>
            <p:ph type="title"/>
          </p:nvPr>
        </p:nvSpPr>
        <p:spPr>
          <a:xfrm>
            <a:off x="838200" y="365126"/>
            <a:ext cx="10515600" cy="710640"/>
          </a:xfrm>
        </p:spPr>
        <p:txBody>
          <a:bodyPr/>
          <a:lstStyle/>
          <a:p>
            <a:r>
              <a:rPr lang="en-US" dirty="0"/>
              <a:t>Valid Operations on Data</a:t>
            </a:r>
          </a:p>
        </p:txBody>
      </p:sp>
      <p:sp>
        <p:nvSpPr>
          <p:cNvPr id="3" name="Content Placeholder 2">
            <a:extLst>
              <a:ext uri="{FF2B5EF4-FFF2-40B4-BE49-F238E27FC236}">
                <a16:creationId xmlns:a16="http://schemas.microsoft.com/office/drawing/2014/main" id="{BB9F64C3-B390-45A3-BB27-A939D75E26A3}"/>
              </a:ext>
            </a:extLst>
          </p:cNvPr>
          <p:cNvSpPr>
            <a:spLocks noGrp="1"/>
          </p:cNvSpPr>
          <p:nvPr>
            <p:ph idx="1"/>
          </p:nvPr>
        </p:nvSpPr>
        <p:spPr>
          <a:xfrm>
            <a:off x="838200" y="1075766"/>
            <a:ext cx="10515600" cy="5101197"/>
          </a:xfrm>
        </p:spPr>
        <p:txBody>
          <a:bodyPr>
            <a:normAutofit/>
          </a:bodyPr>
          <a:lstStyle/>
          <a:p>
            <a:pPr algn="just"/>
            <a:r>
              <a:rPr lang="en-US" dirty="0"/>
              <a:t>Operations on two data points of the different types:</a:t>
            </a:r>
          </a:p>
          <a:p>
            <a:pPr algn="just"/>
            <a:r>
              <a:rPr lang="en-US" dirty="0"/>
              <a:t>Nominal data: =,≠. All we can do with nominal data is compare two data points and test if they are equal or not.</a:t>
            </a:r>
          </a:p>
          <a:p>
            <a:pPr algn="just"/>
            <a:r>
              <a:rPr lang="en-US" dirty="0"/>
              <a:t>Ordinal data: =,≠,&lt;,&gt;. In addition to checking for equality, we can also compare the ordering of different data points.</a:t>
            </a:r>
          </a:p>
          <a:p>
            <a:pPr algn="just"/>
            <a:r>
              <a:rPr lang="en-US" dirty="0"/>
              <a:t>Interval data: =,≠,&lt;,&gt;,−. We have all the operations of ordinal data, but can also compute exact numeric differences between two data points. </a:t>
            </a:r>
          </a:p>
          <a:p>
            <a:pPr algn="just"/>
            <a:r>
              <a:rPr lang="en-US" dirty="0"/>
              <a:t>Ratio data: =,≠,&lt;,0,−,+,÷. We have all the operations of interval data, but addition is now virtually always allowed, and we can additional perform division (to determine ratios) between different data points.</a:t>
            </a:r>
          </a:p>
          <a:p>
            <a:pPr algn="just"/>
            <a:endParaRPr lang="en-US" dirty="0"/>
          </a:p>
        </p:txBody>
      </p:sp>
      <p:sp>
        <p:nvSpPr>
          <p:cNvPr id="5" name="Slide Number Placeholder 4">
            <a:extLst>
              <a:ext uri="{FF2B5EF4-FFF2-40B4-BE49-F238E27FC236}">
                <a16:creationId xmlns:a16="http://schemas.microsoft.com/office/drawing/2014/main" id="{A253D2C5-6E5F-4E07-B49F-CC7342E01AED}"/>
              </a:ext>
            </a:extLst>
          </p:cNvPr>
          <p:cNvSpPr>
            <a:spLocks noGrp="1"/>
          </p:cNvSpPr>
          <p:nvPr>
            <p:ph type="sldNum" sz="quarter" idx="12"/>
          </p:nvPr>
        </p:nvSpPr>
        <p:spPr/>
        <p:txBody>
          <a:bodyPr/>
          <a:lstStyle/>
          <a:p>
            <a:fld id="{6B97D948-30E8-43F7-AE10-F6E2D9F2BBB1}" type="slidenum">
              <a:rPr lang="en-US" smtClean="0"/>
              <a:t>37</a:t>
            </a:fld>
            <a:endParaRPr lang="en-US"/>
          </a:p>
        </p:txBody>
      </p:sp>
    </p:spTree>
    <p:extLst>
      <p:ext uri="{BB962C8B-B14F-4D97-AF65-F5344CB8AC3E}">
        <p14:creationId xmlns:p14="http://schemas.microsoft.com/office/powerpoint/2010/main" val="18817979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9CC3B-B7C7-4143-AE3B-C0DFCC3974DB}"/>
              </a:ext>
            </a:extLst>
          </p:cNvPr>
          <p:cNvSpPr>
            <a:spLocks noGrp="1"/>
          </p:cNvSpPr>
          <p:nvPr>
            <p:ph type="title"/>
          </p:nvPr>
        </p:nvSpPr>
        <p:spPr>
          <a:xfrm>
            <a:off x="838200" y="365125"/>
            <a:ext cx="10515600" cy="724087"/>
          </a:xfrm>
        </p:spPr>
        <p:txBody>
          <a:bodyPr/>
          <a:lstStyle/>
          <a:p>
            <a:r>
              <a:rPr lang="en-US" dirty="0"/>
              <a:t>A Dive into Python</a:t>
            </a:r>
          </a:p>
        </p:txBody>
      </p:sp>
      <p:sp>
        <p:nvSpPr>
          <p:cNvPr id="3" name="Content Placeholder 2">
            <a:extLst>
              <a:ext uri="{FF2B5EF4-FFF2-40B4-BE49-F238E27FC236}">
                <a16:creationId xmlns:a16="http://schemas.microsoft.com/office/drawing/2014/main" id="{4CADE499-E24F-49DD-995B-B6252016A50D}"/>
              </a:ext>
            </a:extLst>
          </p:cNvPr>
          <p:cNvSpPr>
            <a:spLocks noGrp="1"/>
          </p:cNvSpPr>
          <p:nvPr>
            <p:ph idx="1"/>
          </p:nvPr>
        </p:nvSpPr>
        <p:spPr>
          <a:xfrm>
            <a:off x="838200" y="1089212"/>
            <a:ext cx="10515600" cy="5087751"/>
          </a:xfrm>
        </p:spPr>
        <p:txBody>
          <a:bodyPr/>
          <a:lstStyle/>
          <a:p>
            <a:pPr algn="just"/>
            <a:r>
              <a:rPr lang="en-US" dirty="0"/>
              <a:t>Python is an </a:t>
            </a:r>
            <a:r>
              <a:rPr lang="en-US" u="sng" dirty="0">
                <a:solidFill>
                  <a:srgbClr val="FF0000"/>
                </a:solidFill>
              </a:rPr>
              <a:t>O</a:t>
            </a:r>
            <a:r>
              <a:rPr lang="en-US" dirty="0"/>
              <a:t>bject-</a:t>
            </a:r>
            <a:r>
              <a:rPr lang="en-US" dirty="0">
                <a:solidFill>
                  <a:srgbClr val="FF0000"/>
                </a:solidFill>
              </a:rPr>
              <a:t>O</a:t>
            </a:r>
            <a:r>
              <a:rPr lang="en-US" dirty="0"/>
              <a:t>riented </a:t>
            </a:r>
            <a:r>
              <a:rPr lang="en-US" dirty="0">
                <a:solidFill>
                  <a:srgbClr val="FF0000"/>
                </a:solidFill>
              </a:rPr>
              <a:t>P</a:t>
            </a:r>
            <a:r>
              <a:rPr lang="en-US" dirty="0"/>
              <a:t>rogramming (</a:t>
            </a:r>
            <a:r>
              <a:rPr lang="en-US" dirty="0">
                <a:solidFill>
                  <a:srgbClr val="FF0000"/>
                </a:solidFill>
              </a:rPr>
              <a:t>OOP</a:t>
            </a:r>
            <a:r>
              <a:rPr lang="en-US" dirty="0"/>
              <a:t>) language. </a:t>
            </a:r>
          </a:p>
          <a:p>
            <a:pPr algn="just"/>
            <a:endParaRPr lang="en-US" dirty="0"/>
          </a:p>
          <a:p>
            <a:pPr algn="just"/>
            <a:r>
              <a:rPr lang="en-US" dirty="0"/>
              <a:t>In layman terms, it means that every number, string, data structure, function, class, module, etc., exists in the python interpreter as a python object. </a:t>
            </a:r>
          </a:p>
          <a:p>
            <a:pPr algn="just"/>
            <a:endParaRPr lang="en-US" dirty="0"/>
          </a:p>
          <a:p>
            <a:pPr algn="just"/>
            <a:r>
              <a:rPr lang="en-US" dirty="0"/>
              <a:t>An object may have </a:t>
            </a:r>
            <a:r>
              <a:rPr lang="en-US" dirty="0">
                <a:solidFill>
                  <a:srgbClr val="FF0000"/>
                </a:solidFill>
              </a:rPr>
              <a:t>attributes</a:t>
            </a:r>
            <a:r>
              <a:rPr lang="en-US" dirty="0"/>
              <a:t> and </a:t>
            </a:r>
            <a:r>
              <a:rPr lang="en-US" dirty="0">
                <a:solidFill>
                  <a:srgbClr val="FF0000"/>
                </a:solidFill>
              </a:rPr>
              <a:t>methods</a:t>
            </a:r>
            <a:r>
              <a:rPr lang="en-US" dirty="0"/>
              <a:t> associated with it. </a:t>
            </a:r>
          </a:p>
          <a:p>
            <a:pPr algn="just"/>
            <a:endParaRPr lang="en-US" dirty="0"/>
          </a:p>
        </p:txBody>
      </p:sp>
      <p:sp>
        <p:nvSpPr>
          <p:cNvPr id="5" name="Slide Number Placeholder 4">
            <a:extLst>
              <a:ext uri="{FF2B5EF4-FFF2-40B4-BE49-F238E27FC236}">
                <a16:creationId xmlns:a16="http://schemas.microsoft.com/office/drawing/2014/main" id="{B1EDF004-81C8-4DF9-B516-E43E24911545}"/>
              </a:ext>
            </a:extLst>
          </p:cNvPr>
          <p:cNvSpPr>
            <a:spLocks noGrp="1"/>
          </p:cNvSpPr>
          <p:nvPr>
            <p:ph type="sldNum" sz="quarter" idx="12"/>
          </p:nvPr>
        </p:nvSpPr>
        <p:spPr/>
        <p:txBody>
          <a:bodyPr/>
          <a:lstStyle/>
          <a:p>
            <a:fld id="{6B97D948-30E8-43F7-AE10-F6E2D9F2BBB1}" type="slidenum">
              <a:rPr lang="en-US" smtClean="0"/>
              <a:t>38</a:t>
            </a:fld>
            <a:endParaRPr lang="en-US"/>
          </a:p>
        </p:txBody>
      </p:sp>
    </p:spTree>
    <p:extLst>
      <p:ext uri="{BB962C8B-B14F-4D97-AF65-F5344CB8AC3E}">
        <p14:creationId xmlns:p14="http://schemas.microsoft.com/office/powerpoint/2010/main" val="7069138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77571-45DD-4123-BFB5-6F761BB230C8}"/>
              </a:ext>
            </a:extLst>
          </p:cNvPr>
          <p:cNvSpPr>
            <a:spLocks noGrp="1"/>
          </p:cNvSpPr>
          <p:nvPr>
            <p:ph type="title"/>
          </p:nvPr>
        </p:nvSpPr>
        <p:spPr>
          <a:xfrm>
            <a:off x="838200" y="365125"/>
            <a:ext cx="10515600" cy="559107"/>
          </a:xfrm>
        </p:spPr>
        <p:txBody>
          <a:bodyPr>
            <a:normAutofit fontScale="90000"/>
          </a:bodyPr>
          <a:lstStyle/>
          <a:p>
            <a:r>
              <a:rPr lang="en-US" dirty="0"/>
              <a:t>Student Object</a:t>
            </a:r>
          </a:p>
        </p:txBody>
      </p:sp>
      <p:sp>
        <p:nvSpPr>
          <p:cNvPr id="3" name="Content Placeholder 2">
            <a:extLst>
              <a:ext uri="{FF2B5EF4-FFF2-40B4-BE49-F238E27FC236}">
                <a16:creationId xmlns:a16="http://schemas.microsoft.com/office/drawing/2014/main" id="{CD142DDE-9FE9-418D-B76A-01681EFD8804}"/>
              </a:ext>
            </a:extLst>
          </p:cNvPr>
          <p:cNvSpPr>
            <a:spLocks noGrp="1"/>
          </p:cNvSpPr>
          <p:nvPr>
            <p:ph idx="1"/>
          </p:nvPr>
        </p:nvSpPr>
        <p:spPr>
          <a:xfrm>
            <a:off x="838200" y="1052052"/>
            <a:ext cx="10515600" cy="5124911"/>
          </a:xfrm>
        </p:spPr>
        <p:txBody>
          <a:bodyPr>
            <a:normAutofit/>
          </a:bodyPr>
          <a:lstStyle/>
          <a:p>
            <a:r>
              <a:rPr lang="en-US" dirty="0"/>
              <a:t>Student</a:t>
            </a:r>
          </a:p>
          <a:p>
            <a:r>
              <a:rPr lang="en-US" dirty="0"/>
              <a:t>- </a:t>
            </a:r>
            <a:r>
              <a:rPr lang="en-US" dirty="0">
                <a:solidFill>
                  <a:srgbClr val="FF0000"/>
                </a:solidFill>
              </a:rPr>
              <a:t>name</a:t>
            </a:r>
          </a:p>
          <a:p>
            <a:r>
              <a:rPr lang="en-US" dirty="0">
                <a:solidFill>
                  <a:srgbClr val="FF0000"/>
                </a:solidFill>
              </a:rPr>
              <a:t>- programme         		Student Derick = new Student()</a:t>
            </a:r>
          </a:p>
          <a:p>
            <a:r>
              <a:rPr lang="en-US" dirty="0">
                <a:solidFill>
                  <a:srgbClr val="FF0000"/>
                </a:solidFill>
              </a:rPr>
              <a:t>- GPA</a:t>
            </a:r>
          </a:p>
          <a:p>
            <a:r>
              <a:rPr lang="en-US" dirty="0">
                <a:solidFill>
                  <a:srgbClr val="FF0000"/>
                </a:solidFill>
              </a:rPr>
              <a:t>- Residential	 		Derick.name</a:t>
            </a:r>
          </a:p>
          <a:p>
            <a:r>
              <a:rPr lang="en-US" dirty="0" err="1">
                <a:solidFill>
                  <a:srgbClr val="00B0F0"/>
                </a:solidFill>
              </a:rPr>
              <a:t>writeExam</a:t>
            </a:r>
            <a:r>
              <a:rPr lang="en-US" dirty="0">
                <a:solidFill>
                  <a:srgbClr val="00B0F0"/>
                </a:solidFill>
              </a:rPr>
              <a:t>()	 		</a:t>
            </a:r>
            <a:r>
              <a:rPr lang="en-US" dirty="0" err="1">
                <a:solidFill>
                  <a:srgbClr val="FF0000"/>
                </a:solidFill>
              </a:rPr>
              <a:t>Derick.shout</a:t>
            </a:r>
            <a:r>
              <a:rPr lang="en-US" dirty="0">
                <a:solidFill>
                  <a:srgbClr val="FF0000"/>
                </a:solidFill>
              </a:rPr>
              <a:t>()</a:t>
            </a:r>
            <a:endParaRPr lang="en-US" dirty="0">
              <a:solidFill>
                <a:srgbClr val="00B0F0"/>
              </a:solidFill>
            </a:endParaRPr>
          </a:p>
          <a:p>
            <a:r>
              <a:rPr lang="en-US" dirty="0">
                <a:solidFill>
                  <a:srgbClr val="00B0F0"/>
                </a:solidFill>
              </a:rPr>
              <a:t>shout()</a:t>
            </a:r>
          </a:p>
          <a:p>
            <a:r>
              <a:rPr lang="en-US" dirty="0" err="1">
                <a:solidFill>
                  <a:srgbClr val="00B0F0"/>
                </a:solidFill>
              </a:rPr>
              <a:t>attendClasses</a:t>
            </a:r>
            <a:r>
              <a:rPr lang="en-US" dirty="0">
                <a:solidFill>
                  <a:srgbClr val="00B0F0"/>
                </a:solidFill>
              </a:rPr>
              <a:t>()</a:t>
            </a:r>
          </a:p>
          <a:p>
            <a:r>
              <a:rPr lang="en-US" dirty="0" err="1">
                <a:solidFill>
                  <a:srgbClr val="00B0F0"/>
                </a:solidFill>
              </a:rPr>
              <a:t>goForLunch</a:t>
            </a:r>
            <a:r>
              <a:rPr lang="en-US" dirty="0">
                <a:solidFill>
                  <a:srgbClr val="00B0F0"/>
                </a:solidFill>
              </a:rPr>
              <a:t>()</a:t>
            </a:r>
          </a:p>
        </p:txBody>
      </p:sp>
      <p:sp>
        <p:nvSpPr>
          <p:cNvPr id="5" name="Slide Number Placeholder 4">
            <a:extLst>
              <a:ext uri="{FF2B5EF4-FFF2-40B4-BE49-F238E27FC236}">
                <a16:creationId xmlns:a16="http://schemas.microsoft.com/office/drawing/2014/main" id="{A946EC4E-3FB1-44A9-A67F-422691AD2DAD}"/>
              </a:ext>
            </a:extLst>
          </p:cNvPr>
          <p:cNvSpPr>
            <a:spLocks noGrp="1"/>
          </p:cNvSpPr>
          <p:nvPr>
            <p:ph type="sldNum" sz="quarter" idx="12"/>
          </p:nvPr>
        </p:nvSpPr>
        <p:spPr/>
        <p:txBody>
          <a:bodyPr/>
          <a:lstStyle/>
          <a:p>
            <a:fld id="{6B97D948-30E8-43F7-AE10-F6E2D9F2BBB1}" type="slidenum">
              <a:rPr lang="en-US" smtClean="0"/>
              <a:t>39</a:t>
            </a:fld>
            <a:endParaRPr lang="en-US"/>
          </a:p>
        </p:txBody>
      </p:sp>
    </p:spTree>
    <p:extLst>
      <p:ext uri="{BB962C8B-B14F-4D97-AF65-F5344CB8AC3E}">
        <p14:creationId xmlns:p14="http://schemas.microsoft.com/office/powerpoint/2010/main" val="15751768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3094-0639-4D8C-8280-619919DCA42E}"/>
              </a:ext>
            </a:extLst>
          </p:cNvPr>
          <p:cNvSpPr>
            <a:spLocks noGrp="1"/>
          </p:cNvSpPr>
          <p:nvPr>
            <p:ph type="title"/>
          </p:nvPr>
        </p:nvSpPr>
        <p:spPr/>
        <p:txBody>
          <a:bodyPr/>
          <a:lstStyle/>
          <a:p>
            <a:r>
              <a:rPr lang="en-US" dirty="0"/>
              <a:t>Class </a:t>
            </a:r>
            <a:r>
              <a:rPr lang="en-US" dirty="0">
                <a:sym typeface="Wingdings" panose="05000000000000000000" pitchFamily="2" charset="2"/>
              </a:rPr>
              <a:t> Objects</a:t>
            </a:r>
            <a:endParaRPr lang="en-US" dirty="0"/>
          </a:p>
        </p:txBody>
      </p:sp>
      <p:pic>
        <p:nvPicPr>
          <p:cNvPr id="5" name="Content Placeholder 4">
            <a:extLst>
              <a:ext uri="{FF2B5EF4-FFF2-40B4-BE49-F238E27FC236}">
                <a16:creationId xmlns:a16="http://schemas.microsoft.com/office/drawing/2014/main" id="{C260B870-FC35-4AFB-A32D-9536E6B9428A}"/>
              </a:ext>
            </a:extLst>
          </p:cNvPr>
          <p:cNvPicPr>
            <a:picLocks noGrp="1" noChangeAspect="1"/>
          </p:cNvPicPr>
          <p:nvPr>
            <p:ph idx="1"/>
          </p:nvPr>
        </p:nvPicPr>
        <p:blipFill>
          <a:blip r:embed="rId2"/>
          <a:stretch>
            <a:fillRect/>
          </a:stretch>
        </p:blipFill>
        <p:spPr>
          <a:xfrm>
            <a:off x="1455938" y="1559930"/>
            <a:ext cx="7645199" cy="4022514"/>
          </a:xfrm>
          <a:prstGeom prst="rect">
            <a:avLst/>
          </a:prstGeom>
        </p:spPr>
      </p:pic>
      <p:sp>
        <p:nvSpPr>
          <p:cNvPr id="4" name="Slide Number Placeholder 3">
            <a:extLst>
              <a:ext uri="{FF2B5EF4-FFF2-40B4-BE49-F238E27FC236}">
                <a16:creationId xmlns:a16="http://schemas.microsoft.com/office/drawing/2014/main" id="{881A4236-8D97-4B84-9C61-96ED00FDDCC6}"/>
              </a:ext>
            </a:extLst>
          </p:cNvPr>
          <p:cNvSpPr>
            <a:spLocks noGrp="1"/>
          </p:cNvSpPr>
          <p:nvPr>
            <p:ph type="sldNum" sz="quarter" idx="12"/>
          </p:nvPr>
        </p:nvSpPr>
        <p:spPr/>
        <p:txBody>
          <a:bodyPr/>
          <a:lstStyle/>
          <a:p>
            <a:fld id="{6B97D948-30E8-43F7-AE10-F6E2D9F2BBB1}" type="slidenum">
              <a:rPr lang="en-US" smtClean="0"/>
              <a:t>40</a:t>
            </a:fld>
            <a:endParaRPr lang="en-US"/>
          </a:p>
        </p:txBody>
      </p:sp>
    </p:spTree>
    <p:extLst>
      <p:ext uri="{BB962C8B-B14F-4D97-AF65-F5344CB8AC3E}">
        <p14:creationId xmlns:p14="http://schemas.microsoft.com/office/powerpoint/2010/main" val="37587911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4411C-4B10-4A10-AE24-AF69358BE697}"/>
              </a:ext>
            </a:extLst>
          </p:cNvPr>
          <p:cNvSpPr>
            <a:spLocks noGrp="1"/>
          </p:cNvSpPr>
          <p:nvPr>
            <p:ph type="title"/>
          </p:nvPr>
        </p:nvSpPr>
        <p:spPr>
          <a:xfrm>
            <a:off x="838200" y="365125"/>
            <a:ext cx="10515600" cy="576169"/>
          </a:xfrm>
        </p:spPr>
        <p:txBody>
          <a:bodyPr>
            <a:normAutofit fontScale="90000"/>
          </a:bodyPr>
          <a:lstStyle/>
          <a:p>
            <a:r>
              <a:rPr lang="en-US" b="1" dirty="0"/>
              <a:t>Hello World!</a:t>
            </a:r>
            <a:endParaRPr lang="en-US" dirty="0"/>
          </a:p>
        </p:txBody>
      </p:sp>
      <p:sp>
        <p:nvSpPr>
          <p:cNvPr id="3" name="Content Placeholder 2">
            <a:extLst>
              <a:ext uri="{FF2B5EF4-FFF2-40B4-BE49-F238E27FC236}">
                <a16:creationId xmlns:a16="http://schemas.microsoft.com/office/drawing/2014/main" id="{85CFC88E-D8CB-4DF3-A171-46A954481FE4}"/>
              </a:ext>
            </a:extLst>
          </p:cNvPr>
          <p:cNvSpPr>
            <a:spLocks noGrp="1"/>
          </p:cNvSpPr>
          <p:nvPr>
            <p:ph idx="1"/>
          </p:nvPr>
        </p:nvSpPr>
        <p:spPr>
          <a:xfrm>
            <a:off x="838200" y="941294"/>
            <a:ext cx="10515600" cy="5235669"/>
          </a:xfrm>
        </p:spPr>
        <p:txBody>
          <a:bodyPr>
            <a:normAutofit lnSpcReduction="10000"/>
          </a:bodyPr>
          <a:lstStyle/>
          <a:p>
            <a:pPr algn="just"/>
            <a:r>
              <a:rPr lang="en-US" dirty="0"/>
              <a:t>Let’s start with an example that appears in almost every programming book, which is to write “Hello World!” to the screen/output.</a:t>
            </a:r>
          </a:p>
          <a:p>
            <a:pPr algn="just"/>
            <a:r>
              <a:rPr lang="en-US" dirty="0"/>
              <a:t>To print output in Python, use the </a:t>
            </a:r>
            <a:r>
              <a:rPr lang="en-US" dirty="0">
                <a:solidFill>
                  <a:srgbClr val="FF0000"/>
                </a:solidFill>
              </a:rPr>
              <a:t>print() </a:t>
            </a:r>
            <a:r>
              <a:rPr lang="en-US" dirty="0"/>
              <a:t>function, which is a built-in function in Python. </a:t>
            </a:r>
          </a:p>
          <a:p>
            <a:pPr algn="just"/>
            <a:r>
              <a:rPr lang="en-US" dirty="0"/>
              <a:t>This is a Python function.</a:t>
            </a:r>
          </a:p>
          <a:p>
            <a:pPr algn="just"/>
            <a:endParaRPr lang="en-US" dirty="0"/>
          </a:p>
          <a:p>
            <a:pPr algn="just"/>
            <a:r>
              <a:rPr lang="en-US" dirty="0"/>
              <a:t>Python functions are called by using the function name with parentheses after it. </a:t>
            </a:r>
          </a:p>
          <a:p>
            <a:pPr algn="just"/>
            <a:r>
              <a:rPr lang="en-US" dirty="0"/>
              <a:t>Functions can accept arguments, which are variables and values that the function can act on. </a:t>
            </a:r>
          </a:p>
          <a:p>
            <a:pPr algn="just"/>
            <a:r>
              <a:rPr lang="en-US" dirty="0"/>
              <a:t>The arguments for a function are put inside the parentheses, with commas separating different items.</a:t>
            </a:r>
          </a:p>
        </p:txBody>
      </p:sp>
      <p:sp>
        <p:nvSpPr>
          <p:cNvPr id="5" name="Slide Number Placeholder 4">
            <a:extLst>
              <a:ext uri="{FF2B5EF4-FFF2-40B4-BE49-F238E27FC236}">
                <a16:creationId xmlns:a16="http://schemas.microsoft.com/office/drawing/2014/main" id="{4DAD5CAD-F43D-4935-AA5C-2EC1556929C6}"/>
              </a:ext>
            </a:extLst>
          </p:cNvPr>
          <p:cNvSpPr>
            <a:spLocks noGrp="1"/>
          </p:cNvSpPr>
          <p:nvPr>
            <p:ph type="sldNum" sz="quarter" idx="12"/>
          </p:nvPr>
        </p:nvSpPr>
        <p:spPr/>
        <p:txBody>
          <a:bodyPr/>
          <a:lstStyle/>
          <a:p>
            <a:fld id="{6B97D948-30E8-43F7-AE10-F6E2D9F2BBB1}" type="slidenum">
              <a:rPr lang="en-US" smtClean="0"/>
              <a:t>41</a:t>
            </a:fld>
            <a:endParaRPr lang="en-US"/>
          </a:p>
        </p:txBody>
      </p:sp>
    </p:spTree>
    <p:extLst>
      <p:ext uri="{BB962C8B-B14F-4D97-AF65-F5344CB8AC3E}">
        <p14:creationId xmlns:p14="http://schemas.microsoft.com/office/powerpoint/2010/main" val="13674871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77D9B-895C-42DA-B140-C12D0FBCD311}"/>
              </a:ext>
            </a:extLst>
          </p:cNvPr>
          <p:cNvSpPr>
            <a:spLocks noGrp="1"/>
          </p:cNvSpPr>
          <p:nvPr>
            <p:ph idx="1"/>
          </p:nvPr>
        </p:nvSpPr>
        <p:spPr>
          <a:xfrm>
            <a:off x="838200" y="443753"/>
            <a:ext cx="10515600" cy="5733210"/>
          </a:xfrm>
        </p:spPr>
        <p:txBody>
          <a:bodyPr/>
          <a:lstStyle/>
          <a:p>
            <a:pPr algn="just"/>
            <a:r>
              <a:rPr lang="en-US" dirty="0"/>
              <a:t>To output text using </a:t>
            </a:r>
            <a:r>
              <a:rPr lang="en-US" dirty="0">
                <a:solidFill>
                  <a:srgbClr val="FF0000"/>
                </a:solidFill>
              </a:rPr>
              <a:t>print()</a:t>
            </a:r>
            <a:r>
              <a:rPr lang="en-US" dirty="0"/>
              <a:t>, put it as an argument inside single or double quotation marks. </a:t>
            </a:r>
          </a:p>
          <a:p>
            <a:pPr algn="just"/>
            <a:endParaRPr lang="en-US" dirty="0"/>
          </a:p>
          <a:p>
            <a:pPr algn="just"/>
            <a:r>
              <a:rPr lang="en-US" dirty="0"/>
              <a:t>We will generally use single quotation marks because they do not require using the shift key to type.</a:t>
            </a:r>
          </a:p>
          <a:p>
            <a:pPr algn="just"/>
            <a:endParaRPr lang="en-US" dirty="0"/>
          </a:p>
          <a:p>
            <a:pPr algn="just"/>
            <a:r>
              <a:rPr lang="en-US" dirty="0">
                <a:solidFill>
                  <a:srgbClr val="FF0000"/>
                </a:solidFill>
              </a:rPr>
              <a:t>print('Hello World!’)</a:t>
            </a:r>
          </a:p>
          <a:p>
            <a:pPr algn="just"/>
            <a:r>
              <a:rPr lang="en-US" dirty="0">
                <a:solidFill>
                  <a:srgbClr val="FF0000"/>
                </a:solidFill>
              </a:rPr>
              <a:t>print(32)</a:t>
            </a:r>
          </a:p>
          <a:p>
            <a:pPr algn="just"/>
            <a:r>
              <a:rPr lang="en-US" dirty="0">
                <a:solidFill>
                  <a:srgbClr val="FF0000"/>
                </a:solidFill>
              </a:rPr>
              <a:t>print([1, 4, 9, 16])</a:t>
            </a:r>
          </a:p>
          <a:p>
            <a:pPr algn="just"/>
            <a:endParaRPr lang="en-US" dirty="0"/>
          </a:p>
        </p:txBody>
      </p:sp>
      <p:sp>
        <p:nvSpPr>
          <p:cNvPr id="4" name="Slide Number Placeholder 3">
            <a:extLst>
              <a:ext uri="{FF2B5EF4-FFF2-40B4-BE49-F238E27FC236}">
                <a16:creationId xmlns:a16="http://schemas.microsoft.com/office/drawing/2014/main" id="{7A0F029D-50C6-4109-AE51-61610D560389}"/>
              </a:ext>
            </a:extLst>
          </p:cNvPr>
          <p:cNvSpPr>
            <a:spLocks noGrp="1"/>
          </p:cNvSpPr>
          <p:nvPr>
            <p:ph type="sldNum" sz="quarter" idx="12"/>
          </p:nvPr>
        </p:nvSpPr>
        <p:spPr/>
        <p:txBody>
          <a:bodyPr/>
          <a:lstStyle/>
          <a:p>
            <a:fld id="{6B97D948-30E8-43F7-AE10-F6E2D9F2BBB1}" type="slidenum">
              <a:rPr lang="en-US" smtClean="0"/>
              <a:t>42</a:t>
            </a:fld>
            <a:endParaRPr lang="en-US"/>
          </a:p>
        </p:txBody>
      </p:sp>
    </p:spTree>
    <p:extLst>
      <p:ext uri="{BB962C8B-B14F-4D97-AF65-F5344CB8AC3E}">
        <p14:creationId xmlns:p14="http://schemas.microsoft.com/office/powerpoint/2010/main" val="17931465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0A22AC-A2C7-49B9-8FB6-F89404D4715D}"/>
              </a:ext>
            </a:extLst>
          </p:cNvPr>
          <p:cNvSpPr>
            <a:spLocks noGrp="1"/>
          </p:cNvSpPr>
          <p:nvPr>
            <p:ph idx="1"/>
          </p:nvPr>
        </p:nvSpPr>
        <p:spPr>
          <a:xfrm>
            <a:off x="838200" y="578224"/>
            <a:ext cx="10515600" cy="5598739"/>
          </a:xfrm>
        </p:spPr>
        <p:txBody>
          <a:bodyPr/>
          <a:lstStyle/>
          <a:p>
            <a:r>
              <a:rPr lang="en-US" dirty="0"/>
              <a:t>To print multiple items, just pass all the items as arguments to the print() function, but separate the items by commas:</a:t>
            </a:r>
          </a:p>
          <a:p>
            <a:r>
              <a:rPr lang="en-US" dirty="0">
                <a:solidFill>
                  <a:srgbClr val="FF0000"/>
                </a:solidFill>
              </a:rPr>
              <a:t>print('Hello', 'world!', 10 + 5, [1, 4, 9, 16])</a:t>
            </a:r>
          </a:p>
          <a:p>
            <a:endParaRPr lang="en-US" dirty="0">
              <a:solidFill>
                <a:srgbClr val="FF0000"/>
              </a:solidFill>
            </a:endParaRPr>
          </a:p>
          <a:p>
            <a:r>
              <a:rPr lang="en-US" dirty="0" err="1">
                <a:solidFill>
                  <a:srgbClr val="FF0000"/>
                </a:solidFill>
              </a:rPr>
              <a:t>lucky_num</a:t>
            </a:r>
            <a:r>
              <a:rPr lang="en-US" dirty="0">
                <a:solidFill>
                  <a:srgbClr val="FF0000"/>
                </a:solidFill>
              </a:rPr>
              <a:t> = input('Enter your lucky number:')</a:t>
            </a:r>
          </a:p>
          <a:p>
            <a:r>
              <a:rPr lang="en-US" dirty="0"/>
              <a:t>Enter your lucky number</a:t>
            </a:r>
            <a:r>
              <a:rPr lang="en-US" dirty="0">
                <a:solidFill>
                  <a:srgbClr val="FF0000"/>
                </a:solidFill>
              </a:rPr>
              <a:t>:66</a:t>
            </a:r>
          </a:p>
          <a:p>
            <a:endParaRPr lang="en-US" dirty="0">
              <a:solidFill>
                <a:srgbClr val="FF0000"/>
              </a:solidFill>
            </a:endParaRPr>
          </a:p>
          <a:p>
            <a:r>
              <a:rPr lang="en-US" dirty="0">
                <a:solidFill>
                  <a:srgbClr val="FF0000"/>
                </a:solidFill>
              </a:rPr>
              <a:t>print(</a:t>
            </a:r>
            <a:r>
              <a:rPr lang="en-US" dirty="0" err="1">
                <a:solidFill>
                  <a:srgbClr val="FF0000"/>
                </a:solidFill>
              </a:rPr>
              <a:t>lucky_num</a:t>
            </a:r>
            <a:r>
              <a:rPr lang="en-US" dirty="0">
                <a:solidFill>
                  <a:srgbClr val="FF0000"/>
                </a:solidFill>
              </a:rPr>
              <a:t>)</a:t>
            </a:r>
          </a:p>
          <a:p>
            <a:r>
              <a:rPr lang="en-US" dirty="0"/>
              <a:t>66</a:t>
            </a:r>
          </a:p>
        </p:txBody>
      </p:sp>
      <p:sp>
        <p:nvSpPr>
          <p:cNvPr id="4" name="Slide Number Placeholder 3">
            <a:extLst>
              <a:ext uri="{FF2B5EF4-FFF2-40B4-BE49-F238E27FC236}">
                <a16:creationId xmlns:a16="http://schemas.microsoft.com/office/drawing/2014/main" id="{ABF33FF1-522F-46D7-9DD9-BBB06844BEAA}"/>
              </a:ext>
            </a:extLst>
          </p:cNvPr>
          <p:cNvSpPr>
            <a:spLocks noGrp="1"/>
          </p:cNvSpPr>
          <p:nvPr>
            <p:ph type="sldNum" sz="quarter" idx="12"/>
          </p:nvPr>
        </p:nvSpPr>
        <p:spPr/>
        <p:txBody>
          <a:bodyPr/>
          <a:lstStyle/>
          <a:p>
            <a:fld id="{6B97D948-30E8-43F7-AE10-F6E2D9F2BBB1}" type="slidenum">
              <a:rPr lang="en-US" smtClean="0"/>
              <a:t>43</a:t>
            </a:fld>
            <a:endParaRPr lang="en-US"/>
          </a:p>
        </p:txBody>
      </p:sp>
    </p:spTree>
    <p:extLst>
      <p:ext uri="{BB962C8B-B14F-4D97-AF65-F5344CB8AC3E}">
        <p14:creationId xmlns:p14="http://schemas.microsoft.com/office/powerpoint/2010/main" val="36529217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261CCA8-64D1-4E5E-9B1E-1A3454D88D48}"/>
              </a:ext>
            </a:extLst>
          </p:cNvPr>
          <p:cNvSpPr>
            <a:spLocks noGrp="1"/>
          </p:cNvSpPr>
          <p:nvPr>
            <p:ph type="title"/>
          </p:nvPr>
        </p:nvSpPr>
        <p:spPr/>
        <p:txBody>
          <a:bodyPr/>
          <a:lstStyle/>
          <a:p>
            <a:r>
              <a:rPr lang="en-US" dirty="0"/>
              <a:t>The road ahead </a:t>
            </a:r>
          </a:p>
        </p:txBody>
      </p:sp>
      <p:pic>
        <p:nvPicPr>
          <p:cNvPr id="11" name="Content Placeholder 10">
            <a:extLst>
              <a:ext uri="{FF2B5EF4-FFF2-40B4-BE49-F238E27FC236}">
                <a16:creationId xmlns:a16="http://schemas.microsoft.com/office/drawing/2014/main" id="{3876563D-1BF3-4F83-8FA1-AD6C3432E9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33264" y="1825625"/>
            <a:ext cx="4925472" cy="4351338"/>
          </a:xfrm>
        </p:spPr>
      </p:pic>
      <p:sp>
        <p:nvSpPr>
          <p:cNvPr id="3" name="Slide Number Placeholder 2">
            <a:extLst>
              <a:ext uri="{FF2B5EF4-FFF2-40B4-BE49-F238E27FC236}">
                <a16:creationId xmlns:a16="http://schemas.microsoft.com/office/drawing/2014/main" id="{6FFBB5D9-DEC8-4211-8281-7F2DE91D35C4}"/>
              </a:ext>
            </a:extLst>
          </p:cNvPr>
          <p:cNvSpPr>
            <a:spLocks noGrp="1"/>
          </p:cNvSpPr>
          <p:nvPr>
            <p:ph type="sldNum" sz="quarter" idx="12"/>
          </p:nvPr>
        </p:nvSpPr>
        <p:spPr/>
        <p:txBody>
          <a:bodyPr/>
          <a:lstStyle/>
          <a:p>
            <a:fld id="{6B97D948-30E8-43F7-AE10-F6E2D9F2BBB1}" type="slidenum">
              <a:rPr lang="en-US" smtClean="0"/>
              <a:t>44</a:t>
            </a:fld>
            <a:endParaRPr lang="en-US"/>
          </a:p>
        </p:txBody>
      </p:sp>
    </p:spTree>
    <p:extLst>
      <p:ext uri="{BB962C8B-B14F-4D97-AF65-F5344CB8AC3E}">
        <p14:creationId xmlns:p14="http://schemas.microsoft.com/office/powerpoint/2010/main" val="42804745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58F75-6CB9-4745-96F9-09B3D9C37C29}"/>
              </a:ext>
            </a:extLst>
          </p:cNvPr>
          <p:cNvSpPr>
            <a:spLocks noGrp="1"/>
          </p:cNvSpPr>
          <p:nvPr>
            <p:ph type="title"/>
          </p:nvPr>
        </p:nvSpPr>
        <p:spPr>
          <a:xfrm>
            <a:off x="838200" y="365125"/>
            <a:ext cx="10515600" cy="804769"/>
          </a:xfrm>
        </p:spPr>
        <p:txBody>
          <a:bodyPr>
            <a:normAutofit/>
          </a:bodyPr>
          <a:lstStyle/>
          <a:p>
            <a:r>
              <a:rPr lang="en-US" sz="4000" dirty="0"/>
              <a:t>When you open something, close it immediately!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0CDFD5-A5F6-4AD4-BAC8-057B09ABB6DE}"/>
                  </a:ext>
                </a:extLst>
              </p:cNvPr>
              <p:cNvSpPr>
                <a:spLocks noGrp="1"/>
              </p:cNvSpPr>
              <p:nvPr>
                <p:ph idx="1"/>
              </p:nvPr>
            </p:nvSpPr>
            <p:spPr>
              <a:xfrm>
                <a:off x="838200" y="1169894"/>
                <a:ext cx="10515600" cy="5007069"/>
              </a:xfrm>
            </p:spPr>
            <p:txBody>
              <a:bodyPr>
                <a:normAutofit/>
              </a:bodyPr>
              <a:lstStyle/>
              <a:p>
                <a:r>
                  <a:rPr lang="en-US" dirty="0"/>
                  <a:t>()</a:t>
                </a:r>
                <a:r>
                  <a:rPr lang="en-US" dirty="0">
                    <a:solidFill>
                      <a:srgbClr val="FF0000"/>
                    </a:solidFill>
                  </a:rPr>
                  <a:t>|</a:t>
                </a:r>
                <a14:m>
                  <m:oMath xmlns:m="http://schemas.openxmlformats.org/officeDocument/2006/math">
                    <m:r>
                      <a:rPr lang="en-US" sz="4400" b="1" i="0" smtClean="0">
                        <a:solidFill>
                          <a:srgbClr val="FF0000"/>
                        </a:solidFill>
                        <a:latin typeface="Cambria Math" panose="02040503050406030204" pitchFamily="18" charset="0"/>
                        <a:ea typeface="Cambria Math" panose="02040503050406030204" pitchFamily="18" charset="0"/>
                      </a:rPr>
                      <m:t>←</m:t>
                    </m:r>
                  </m:oMath>
                </a14:m>
                <a:endParaRPr lang="en-US" sz="4400" b="1" dirty="0">
                  <a:solidFill>
                    <a:srgbClr val="FF0000"/>
                  </a:solidFill>
                </a:endParaRPr>
              </a:p>
              <a:p>
                <a:endParaRPr lang="en-US" dirty="0"/>
              </a:p>
              <a:p>
                <a:r>
                  <a:rPr lang="en-US" dirty="0"/>
                  <a:t>{}</a:t>
                </a:r>
                <a:r>
                  <a:rPr lang="en-US" dirty="0">
                    <a:solidFill>
                      <a:srgbClr val="FF0000"/>
                    </a:solidFill>
                  </a:rPr>
                  <a:t>|</a:t>
                </a:r>
                <a:endParaRPr lang="en-US" dirty="0"/>
              </a:p>
              <a:p>
                <a:endParaRPr lang="en-US" dirty="0"/>
              </a:p>
              <a:p>
                <a:r>
                  <a:rPr lang="en-US" dirty="0"/>
                  <a:t>[]</a:t>
                </a:r>
                <a:r>
                  <a:rPr lang="en-US" dirty="0">
                    <a:solidFill>
                      <a:srgbClr val="FF0000"/>
                    </a:solidFill>
                  </a:rPr>
                  <a:t>|</a:t>
                </a:r>
                <a:endParaRPr lang="en-US" dirty="0"/>
              </a:p>
              <a:p>
                <a:endParaRPr lang="en-US" dirty="0"/>
              </a:p>
              <a:p>
                <a:r>
                  <a:rPr lang="en-US" dirty="0"/>
                  <a:t>' ' </a:t>
                </a:r>
              </a:p>
              <a:p>
                <a:r>
                  <a:rPr lang="en-US" dirty="0"/>
                  <a:t>" "</a:t>
                </a:r>
              </a:p>
              <a:p>
                <a:endParaRPr lang="en-US" dirty="0"/>
              </a:p>
            </p:txBody>
          </p:sp>
        </mc:Choice>
        <mc:Fallback xmlns="">
          <p:sp>
            <p:nvSpPr>
              <p:cNvPr id="3" name="Content Placeholder 2">
                <a:extLst>
                  <a:ext uri="{FF2B5EF4-FFF2-40B4-BE49-F238E27FC236}">
                    <a16:creationId xmlns:a16="http://schemas.microsoft.com/office/drawing/2014/main" id="{C30CDFD5-A5F6-4AD4-BAC8-057B09ABB6DE}"/>
                  </a:ext>
                </a:extLst>
              </p:cNvPr>
              <p:cNvSpPr>
                <a:spLocks noGrp="1" noRot="1" noChangeAspect="1" noMove="1" noResize="1" noEditPoints="1" noAdjustHandles="1" noChangeArrowheads="1" noChangeShapeType="1" noTextEdit="1"/>
              </p:cNvSpPr>
              <p:nvPr>
                <p:ph idx="1"/>
              </p:nvPr>
            </p:nvSpPr>
            <p:spPr>
              <a:xfrm>
                <a:off x="838200" y="1169894"/>
                <a:ext cx="10515600" cy="5007069"/>
              </a:xfrm>
              <a:blipFill>
                <a:blip r:embed="rId2"/>
                <a:stretch>
                  <a:fillRect l="-104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B1BF9423-928A-4A74-A192-246A5DC07447}"/>
              </a:ext>
            </a:extLst>
          </p:cNvPr>
          <p:cNvSpPr>
            <a:spLocks noGrp="1"/>
          </p:cNvSpPr>
          <p:nvPr>
            <p:ph type="sldNum" sz="quarter" idx="12"/>
          </p:nvPr>
        </p:nvSpPr>
        <p:spPr/>
        <p:txBody>
          <a:bodyPr/>
          <a:lstStyle/>
          <a:p>
            <a:fld id="{6B97D948-30E8-43F7-AE10-F6E2D9F2BBB1}" type="slidenum">
              <a:rPr lang="en-US" smtClean="0"/>
              <a:t>45</a:t>
            </a:fld>
            <a:endParaRPr lang="en-US"/>
          </a:p>
        </p:txBody>
      </p:sp>
    </p:spTree>
    <p:extLst>
      <p:ext uri="{BB962C8B-B14F-4D97-AF65-F5344CB8AC3E}">
        <p14:creationId xmlns:p14="http://schemas.microsoft.com/office/powerpoint/2010/main" val="37803905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86107-D1E2-4C3F-959F-BB19E21C8A66}"/>
              </a:ext>
            </a:extLst>
          </p:cNvPr>
          <p:cNvSpPr>
            <a:spLocks noGrp="1"/>
          </p:cNvSpPr>
          <p:nvPr>
            <p:ph type="title"/>
          </p:nvPr>
        </p:nvSpPr>
        <p:spPr>
          <a:xfrm>
            <a:off x="838200" y="365125"/>
            <a:ext cx="10515600" cy="735013"/>
          </a:xfrm>
        </p:spPr>
        <p:txBody>
          <a:bodyPr/>
          <a:lstStyle/>
          <a:p>
            <a:r>
              <a:rPr lang="en-US" dirty="0"/>
              <a:t>Arithmetic Operators</a:t>
            </a:r>
          </a:p>
        </p:txBody>
      </p:sp>
      <p:sp>
        <p:nvSpPr>
          <p:cNvPr id="3" name="Content Placeholder 2">
            <a:extLst>
              <a:ext uri="{FF2B5EF4-FFF2-40B4-BE49-F238E27FC236}">
                <a16:creationId xmlns:a16="http://schemas.microsoft.com/office/drawing/2014/main" id="{87D11FA5-4D8D-414C-B248-10FED8145B1E}"/>
              </a:ext>
            </a:extLst>
          </p:cNvPr>
          <p:cNvSpPr>
            <a:spLocks noGrp="1"/>
          </p:cNvSpPr>
          <p:nvPr>
            <p:ph idx="1"/>
          </p:nvPr>
        </p:nvSpPr>
        <p:spPr>
          <a:xfrm>
            <a:off x="838200" y="1100138"/>
            <a:ext cx="10515600" cy="5076825"/>
          </a:xfrm>
        </p:spPr>
        <p:txBody>
          <a:bodyPr/>
          <a:lstStyle/>
          <a:p>
            <a:pPr algn="just"/>
            <a:r>
              <a:rPr lang="en-US" dirty="0"/>
              <a:t>Python provides all basic arithmetic operators. </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The symbols which are used for mathematical operations are +, –, *, /, **, %, //, and a unary minus sign.</a:t>
            </a:r>
          </a:p>
        </p:txBody>
      </p:sp>
      <p:pic>
        <p:nvPicPr>
          <p:cNvPr id="5" name="Picture 4">
            <a:extLst>
              <a:ext uri="{FF2B5EF4-FFF2-40B4-BE49-F238E27FC236}">
                <a16:creationId xmlns:a16="http://schemas.microsoft.com/office/drawing/2014/main" id="{2BEB3C34-8B70-4AC0-9984-46172F280308}"/>
              </a:ext>
            </a:extLst>
          </p:cNvPr>
          <p:cNvPicPr>
            <a:picLocks noChangeAspect="1"/>
          </p:cNvPicPr>
          <p:nvPr/>
        </p:nvPicPr>
        <p:blipFill>
          <a:blip r:embed="rId2"/>
          <a:stretch>
            <a:fillRect/>
          </a:stretch>
        </p:blipFill>
        <p:spPr>
          <a:xfrm>
            <a:off x="2414588" y="1903491"/>
            <a:ext cx="5128247" cy="3179899"/>
          </a:xfrm>
          <a:prstGeom prst="rect">
            <a:avLst/>
          </a:prstGeom>
        </p:spPr>
      </p:pic>
      <p:sp>
        <p:nvSpPr>
          <p:cNvPr id="6" name="Slide Number Placeholder 5">
            <a:extLst>
              <a:ext uri="{FF2B5EF4-FFF2-40B4-BE49-F238E27FC236}">
                <a16:creationId xmlns:a16="http://schemas.microsoft.com/office/drawing/2014/main" id="{91F36200-3840-410A-A533-4B5C75862264}"/>
              </a:ext>
            </a:extLst>
          </p:cNvPr>
          <p:cNvSpPr>
            <a:spLocks noGrp="1"/>
          </p:cNvSpPr>
          <p:nvPr>
            <p:ph type="sldNum" sz="quarter" idx="12"/>
          </p:nvPr>
        </p:nvSpPr>
        <p:spPr/>
        <p:txBody>
          <a:bodyPr/>
          <a:lstStyle/>
          <a:p>
            <a:fld id="{6B97D948-30E8-43F7-AE10-F6E2D9F2BBB1}" type="slidenum">
              <a:rPr lang="en-US" smtClean="0"/>
              <a:t>46</a:t>
            </a:fld>
            <a:endParaRPr lang="en-US"/>
          </a:p>
        </p:txBody>
      </p:sp>
    </p:spTree>
    <p:extLst>
      <p:ext uri="{BB962C8B-B14F-4D97-AF65-F5344CB8AC3E}">
        <p14:creationId xmlns:p14="http://schemas.microsoft.com/office/powerpoint/2010/main" val="1004710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7869A-7618-4CF0-9B7A-FDF0B9506034}"/>
              </a:ext>
            </a:extLst>
          </p:cNvPr>
          <p:cNvSpPr>
            <a:spLocks noGrp="1"/>
          </p:cNvSpPr>
          <p:nvPr>
            <p:ph type="title"/>
          </p:nvPr>
        </p:nvSpPr>
        <p:spPr>
          <a:xfrm>
            <a:off x="838200" y="365126"/>
            <a:ext cx="10515600" cy="562338"/>
          </a:xfrm>
        </p:spPr>
        <p:txBody>
          <a:bodyPr>
            <a:normAutofit fontScale="90000"/>
          </a:bodyPr>
          <a:lstStyle/>
          <a:p>
            <a:r>
              <a:rPr lang="en-US" dirty="0"/>
              <a:t>Variables in Python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ADC532-33A6-47CF-985E-363A4C08B247}"/>
                  </a:ext>
                </a:extLst>
              </p:cNvPr>
              <p:cNvSpPr>
                <a:spLocks noGrp="1"/>
              </p:cNvSpPr>
              <p:nvPr>
                <p:ph idx="1"/>
              </p:nvPr>
            </p:nvSpPr>
            <p:spPr>
              <a:xfrm>
                <a:off x="838200" y="927464"/>
                <a:ext cx="10515600" cy="5249499"/>
              </a:xfrm>
            </p:spPr>
            <p:txBody>
              <a:bodyPr>
                <a:normAutofit/>
              </a:bodyPr>
              <a:lstStyle/>
              <a:p>
                <a:r>
                  <a:rPr lang="en-US" dirty="0"/>
                  <a:t>Consider this famous equation in Physics:</a:t>
                </a:r>
              </a:p>
              <a:p>
                <a14:m>
                  <m:oMath xmlns:m="http://schemas.openxmlformats.org/officeDocument/2006/math">
                    <m:r>
                      <a:rPr lang="en-US" b="0" i="1" smtClean="0">
                        <a:solidFill>
                          <a:srgbClr val="FF0000"/>
                        </a:solidFill>
                        <a:latin typeface="Cambria Math" panose="02040503050406030204" pitchFamily="18" charset="0"/>
                      </a:rPr>
                      <m:t>𝐹</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𝑚𝑎</m:t>
                    </m:r>
                  </m:oMath>
                </a14:m>
                <a:endParaRPr lang="en-US" dirty="0">
                  <a:solidFill>
                    <a:srgbClr val="FF0000"/>
                  </a:solidFill>
                </a:endParaRPr>
              </a:p>
              <a:p>
                <a:r>
                  <a:rPr lang="en-US" dirty="0"/>
                  <a:t>Given values for </a:t>
                </a:r>
                <a14:m>
                  <m:oMath xmlns:m="http://schemas.openxmlformats.org/officeDocument/2006/math">
                    <m:r>
                      <a:rPr lang="en-US" i="1">
                        <a:solidFill>
                          <a:srgbClr val="FF0000"/>
                        </a:solidFill>
                        <a:latin typeface="Cambria Math" panose="02040503050406030204" pitchFamily="18" charset="0"/>
                      </a:rPr>
                      <m:t>𝑚</m:t>
                    </m:r>
                  </m:oMath>
                </a14:m>
                <a:r>
                  <a:rPr lang="en-US" dirty="0"/>
                  <a:t> and </a:t>
                </a:r>
                <a14:m>
                  <m:oMath xmlns:m="http://schemas.openxmlformats.org/officeDocument/2006/math">
                    <m:r>
                      <a:rPr lang="en-US" i="1">
                        <a:solidFill>
                          <a:srgbClr val="FF0000"/>
                        </a:solidFill>
                        <a:latin typeface="Cambria Math" panose="02040503050406030204" pitchFamily="18" charset="0"/>
                      </a:rPr>
                      <m:t>𝑎</m:t>
                    </m:r>
                  </m:oMath>
                </a14:m>
                <a:r>
                  <a:rPr lang="en-US" dirty="0"/>
                  <a:t>, we can compute the value of </a:t>
                </a:r>
                <a14:m>
                  <m:oMath xmlns:m="http://schemas.openxmlformats.org/officeDocument/2006/math">
                    <m:r>
                      <a:rPr lang="en-US" i="1">
                        <a:solidFill>
                          <a:srgbClr val="FF0000"/>
                        </a:solidFill>
                        <a:latin typeface="Cambria Math" panose="02040503050406030204" pitchFamily="18" charset="0"/>
                      </a:rPr>
                      <m:t>𝐹</m:t>
                    </m:r>
                  </m:oMath>
                </a14:m>
                <a:r>
                  <a:rPr lang="en-US" dirty="0"/>
                  <a:t>.</a:t>
                </a:r>
              </a:p>
              <a:p>
                <a:pPr algn="just"/>
                <a:r>
                  <a:rPr lang="en-US" dirty="0"/>
                  <a:t>In computer programming, the said values have to be stored in memory.</a:t>
                </a:r>
              </a:p>
              <a:p>
                <a:pPr algn="just"/>
                <a:r>
                  <a:rPr lang="en-US" dirty="0"/>
                  <a:t>We need a handle to point to them. These handles are called </a:t>
                </a:r>
                <a:r>
                  <a:rPr lang="en-US" i="1" dirty="0"/>
                  <a:t>variables</a:t>
                </a:r>
                <a:r>
                  <a:rPr lang="en-US" dirty="0"/>
                  <a:t>.</a:t>
                </a:r>
              </a:p>
              <a:p>
                <a:pPr algn="just"/>
                <a:r>
                  <a:rPr lang="en-US" dirty="0"/>
                  <a:t>For example:</a:t>
                </a:r>
              </a:p>
              <a:p>
                <a:pPr algn="just"/>
                <a:r>
                  <a:rPr lang="en-US" dirty="0"/>
                  <a:t>         m                                                     a</a:t>
                </a:r>
              </a:p>
              <a:p>
                <a:pPr algn="just"/>
                <a:r>
                  <a:rPr lang="en-US" dirty="0"/>
                  <a:t>                                         50 kg                                                   16.8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oMath>
                </a14:m>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EAADC532-33A6-47CF-985E-363A4C08B247}"/>
                  </a:ext>
                </a:extLst>
              </p:cNvPr>
              <p:cNvSpPr>
                <a:spLocks noGrp="1" noRot="1" noChangeAspect="1" noMove="1" noResize="1" noEditPoints="1" noAdjustHandles="1" noChangeArrowheads="1" noChangeShapeType="1" noTextEdit="1"/>
              </p:cNvSpPr>
              <p:nvPr>
                <p:ph idx="1"/>
              </p:nvPr>
            </p:nvSpPr>
            <p:spPr>
              <a:xfrm>
                <a:off x="838200" y="927464"/>
                <a:ext cx="10515600" cy="5249499"/>
              </a:xfrm>
              <a:blipFill>
                <a:blip r:embed="rId2"/>
                <a:stretch>
                  <a:fillRect l="-1043" t="-1858" r="-1159"/>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1018FE8E-7000-457F-AB11-B91F71E9451A}"/>
              </a:ext>
            </a:extLst>
          </p:cNvPr>
          <p:cNvSpPr/>
          <p:nvPr/>
        </p:nvSpPr>
        <p:spPr>
          <a:xfrm>
            <a:off x="1214846" y="5290459"/>
            <a:ext cx="155448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0DF4C50-3E2D-44FD-9184-826BDCA9C07B}"/>
              </a:ext>
            </a:extLst>
          </p:cNvPr>
          <p:cNvCxnSpPr>
            <a:stCxn id="5" idx="3"/>
          </p:cNvCxnSpPr>
          <p:nvPr/>
        </p:nvCxnSpPr>
        <p:spPr>
          <a:xfrm flipV="1">
            <a:off x="2769326" y="5512527"/>
            <a:ext cx="1632857" cy="6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1EE5CDD-2FA3-4B54-9B98-F84B48FEDB87}"/>
              </a:ext>
            </a:extLst>
          </p:cNvPr>
          <p:cNvSpPr/>
          <p:nvPr/>
        </p:nvSpPr>
        <p:spPr>
          <a:xfrm>
            <a:off x="5952313" y="5290459"/>
            <a:ext cx="1271451"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FE58D1D3-0BA1-4D5D-9135-A47B047BDC99}"/>
              </a:ext>
            </a:extLst>
          </p:cNvPr>
          <p:cNvCxnSpPr>
            <a:cxnSpLocks/>
            <a:stCxn id="8" idx="3"/>
          </p:cNvCxnSpPr>
          <p:nvPr/>
        </p:nvCxnSpPr>
        <p:spPr>
          <a:xfrm>
            <a:off x="7223764" y="5519059"/>
            <a:ext cx="16197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1A8956D1-16E1-4E0B-BF51-C5F6F6E41FA4}"/>
              </a:ext>
            </a:extLst>
          </p:cNvPr>
          <p:cNvSpPr>
            <a:spLocks noGrp="1"/>
          </p:cNvSpPr>
          <p:nvPr>
            <p:ph type="sldNum" sz="quarter" idx="12"/>
          </p:nvPr>
        </p:nvSpPr>
        <p:spPr/>
        <p:txBody>
          <a:bodyPr/>
          <a:lstStyle/>
          <a:p>
            <a:fld id="{6B97D948-30E8-43F7-AE10-F6E2D9F2BBB1}" type="slidenum">
              <a:rPr lang="en-US" smtClean="0"/>
              <a:t>47</a:t>
            </a:fld>
            <a:endParaRPr lang="en-US"/>
          </a:p>
        </p:txBody>
      </p:sp>
    </p:spTree>
    <p:extLst>
      <p:ext uri="{BB962C8B-B14F-4D97-AF65-F5344CB8AC3E}">
        <p14:creationId xmlns:p14="http://schemas.microsoft.com/office/powerpoint/2010/main" val="1219278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504AA4-7BFC-4DFE-A4D1-FC53922230EF}"/>
                  </a:ext>
                </a:extLst>
              </p:cNvPr>
              <p:cNvSpPr>
                <a:spLocks noGrp="1"/>
              </p:cNvSpPr>
              <p:nvPr>
                <p:ph idx="1"/>
              </p:nvPr>
            </p:nvSpPr>
            <p:spPr>
              <a:xfrm>
                <a:off x="838200" y="470263"/>
                <a:ext cx="10515600" cy="5706700"/>
              </a:xfrm>
            </p:spPr>
            <p:txBody>
              <a:bodyPr>
                <a:normAutofit/>
              </a:bodyPr>
              <a:lstStyle/>
              <a:p>
                <a:pPr algn="just"/>
                <a:r>
                  <a:rPr lang="en-US" dirty="0"/>
                  <a:t>Formally, </a:t>
                </a:r>
                <a:r>
                  <a:rPr lang="en-US" i="1" dirty="0">
                    <a:solidFill>
                      <a:srgbClr val="FF0000"/>
                    </a:solidFill>
                  </a:rPr>
                  <a:t>variable is a named bit of computer memory for keeping track of values as the code runs</a:t>
                </a:r>
                <a:r>
                  <a:rPr lang="en-US" dirty="0"/>
                  <a:t>.</a:t>
                </a:r>
              </a:p>
              <a:p>
                <a:pPr algn="just"/>
                <a:r>
                  <a:rPr lang="en-US" dirty="0"/>
                  <a:t>Thus </a:t>
                </a:r>
                <a14:m>
                  <m:oMath xmlns:m="http://schemas.openxmlformats.org/officeDocument/2006/math">
                    <m:r>
                      <a:rPr lang="en-US" b="0" i="1" smtClean="0">
                        <a:latin typeface="Cambria Math" panose="02040503050406030204" pitchFamily="18" charset="0"/>
                      </a:rPr>
                      <m:t>𝐹</m:t>
                    </m:r>
                  </m:oMath>
                </a14:m>
                <a:r>
                  <a:rPr lang="en-US" dirty="0"/>
                  <a:t> is also a variable.</a:t>
                </a:r>
              </a:p>
              <a:p>
                <a:pPr algn="just"/>
                <a:r>
                  <a:rPr lang="en-US" dirty="0"/>
                  <a:t>We create a variable with an "assignment“ operator (=) with the variable's name on the </a:t>
                </a:r>
                <a:r>
                  <a:rPr lang="en-US" dirty="0">
                    <a:solidFill>
                      <a:srgbClr val="FF0000"/>
                    </a:solidFill>
                  </a:rPr>
                  <a:t>left</a:t>
                </a:r>
                <a:r>
                  <a:rPr lang="en-US" dirty="0"/>
                  <a:t> and the value it should store on the </a:t>
                </a:r>
                <a:r>
                  <a:rPr lang="en-US" dirty="0">
                    <a:solidFill>
                      <a:srgbClr val="FF0000"/>
                    </a:solidFill>
                  </a:rPr>
                  <a:t>right</a:t>
                </a:r>
                <a:r>
                  <a:rPr lang="en-US" dirty="0"/>
                  <a:t> </a:t>
                </a:r>
                <a:r>
                  <a:rPr lang="en-US" dirty="0" err="1"/>
                  <a:t>eg.</a:t>
                </a:r>
                <a:r>
                  <a:rPr lang="en-US" dirty="0"/>
                  <a:t>  velocity = 5 m/s</a:t>
                </a:r>
              </a:p>
              <a:p>
                <a:pPr algn="just"/>
                <a:r>
                  <a:rPr lang="en-US" dirty="0"/>
                  <a:t>Until the value assigned to </a:t>
                </a:r>
                <a:r>
                  <a:rPr lang="en-US" i="1" dirty="0">
                    <a:solidFill>
                      <a:srgbClr val="FF0000"/>
                    </a:solidFill>
                  </a:rPr>
                  <a:t>velocity</a:t>
                </a:r>
                <a:r>
                  <a:rPr lang="en-US" dirty="0"/>
                  <a:t> is changed or deleted, it behaves like 5 m/s. </a:t>
                </a:r>
              </a:p>
              <a:p>
                <a:pPr algn="just"/>
                <a:r>
                  <a:rPr lang="en-US" dirty="0"/>
                  <a:t>Variable names cannot start with numbers nor contain space(s).</a:t>
                </a:r>
              </a:p>
              <a:p>
                <a:pPr algn="just"/>
                <a:r>
                  <a:rPr lang="en-US" dirty="0"/>
                  <a:t>You will help yourself by choosing names that are intuitive (read: contextual).</a:t>
                </a:r>
              </a:p>
              <a:p>
                <a:pPr algn="just"/>
                <a:r>
                  <a:rPr lang="en-US" dirty="0"/>
                  <a:t>Remember, every variable has a </a:t>
                </a:r>
                <a:r>
                  <a:rPr lang="en-US" dirty="0">
                    <a:solidFill>
                      <a:srgbClr val="FF0000"/>
                    </a:solidFill>
                  </a:rPr>
                  <a:t>type</a:t>
                </a:r>
                <a:r>
                  <a:rPr lang="en-US" dirty="0"/>
                  <a:t>.</a:t>
                </a:r>
              </a:p>
            </p:txBody>
          </p:sp>
        </mc:Choice>
        <mc:Fallback xmlns="">
          <p:sp>
            <p:nvSpPr>
              <p:cNvPr id="3" name="Content Placeholder 2">
                <a:extLst>
                  <a:ext uri="{FF2B5EF4-FFF2-40B4-BE49-F238E27FC236}">
                    <a16:creationId xmlns:a16="http://schemas.microsoft.com/office/drawing/2014/main" id="{83504AA4-7BFC-4DFE-A4D1-FC53922230EF}"/>
                  </a:ext>
                </a:extLst>
              </p:cNvPr>
              <p:cNvSpPr>
                <a:spLocks noGrp="1" noRot="1" noChangeAspect="1" noMove="1" noResize="1" noEditPoints="1" noAdjustHandles="1" noChangeArrowheads="1" noChangeShapeType="1" noTextEdit="1"/>
              </p:cNvSpPr>
              <p:nvPr>
                <p:ph idx="1"/>
              </p:nvPr>
            </p:nvSpPr>
            <p:spPr>
              <a:xfrm>
                <a:off x="838200" y="470263"/>
                <a:ext cx="10515600" cy="5706700"/>
              </a:xfrm>
              <a:blipFill>
                <a:blip r:embed="rId2"/>
                <a:stretch>
                  <a:fillRect l="-1043" t="-1709"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7846FF2-B5DF-49F8-9680-08DBFAA6D1CA}"/>
              </a:ext>
            </a:extLst>
          </p:cNvPr>
          <p:cNvSpPr>
            <a:spLocks noGrp="1"/>
          </p:cNvSpPr>
          <p:nvPr>
            <p:ph type="sldNum" sz="quarter" idx="12"/>
          </p:nvPr>
        </p:nvSpPr>
        <p:spPr/>
        <p:txBody>
          <a:bodyPr/>
          <a:lstStyle/>
          <a:p>
            <a:fld id="{6B97D948-30E8-43F7-AE10-F6E2D9F2BBB1}" type="slidenum">
              <a:rPr lang="en-US" smtClean="0"/>
              <a:t>48</a:t>
            </a:fld>
            <a:endParaRPr lang="en-US"/>
          </a:p>
        </p:txBody>
      </p:sp>
    </p:spTree>
    <p:extLst>
      <p:ext uri="{BB962C8B-B14F-4D97-AF65-F5344CB8AC3E}">
        <p14:creationId xmlns:p14="http://schemas.microsoft.com/office/powerpoint/2010/main" val="20406399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E332E-1673-4283-BA87-5C6FC3FA3008}"/>
              </a:ext>
            </a:extLst>
          </p:cNvPr>
          <p:cNvSpPr>
            <a:spLocks noGrp="1"/>
          </p:cNvSpPr>
          <p:nvPr>
            <p:ph type="title"/>
          </p:nvPr>
        </p:nvSpPr>
        <p:spPr>
          <a:xfrm>
            <a:off x="838200" y="365125"/>
            <a:ext cx="10515600" cy="602541"/>
          </a:xfrm>
        </p:spPr>
        <p:txBody>
          <a:bodyPr>
            <a:normAutofit fontScale="90000"/>
          </a:bodyPr>
          <a:lstStyle/>
          <a:p>
            <a:r>
              <a:rPr lang="en-US" dirty="0"/>
              <a:t>But. . . </a:t>
            </a:r>
          </a:p>
        </p:txBody>
      </p:sp>
      <p:sp>
        <p:nvSpPr>
          <p:cNvPr id="3" name="Content Placeholder 2">
            <a:extLst>
              <a:ext uri="{FF2B5EF4-FFF2-40B4-BE49-F238E27FC236}">
                <a16:creationId xmlns:a16="http://schemas.microsoft.com/office/drawing/2014/main" id="{0A3DACCC-C417-4662-98C1-270AC0B84E0D}"/>
              </a:ext>
            </a:extLst>
          </p:cNvPr>
          <p:cNvSpPr>
            <a:spLocks noGrp="1"/>
          </p:cNvSpPr>
          <p:nvPr>
            <p:ph idx="1"/>
          </p:nvPr>
        </p:nvSpPr>
        <p:spPr>
          <a:xfrm>
            <a:off x="838200" y="967666"/>
            <a:ext cx="10515600" cy="5209297"/>
          </a:xfrm>
        </p:spPr>
        <p:txBody>
          <a:bodyPr/>
          <a:lstStyle/>
          <a:p>
            <a:pPr algn="just"/>
            <a:r>
              <a:rPr lang="en-US" dirty="0"/>
              <a:t>Python has certain words that should never be used for naming out variables.</a:t>
            </a:r>
          </a:p>
          <a:p>
            <a:pPr algn="just"/>
            <a:r>
              <a:rPr lang="en-US" dirty="0"/>
              <a:t>These are known as </a:t>
            </a:r>
            <a:r>
              <a:rPr lang="en-US" dirty="0">
                <a:solidFill>
                  <a:srgbClr val="002060"/>
                </a:solidFill>
              </a:rPr>
              <a:t>keywords</a:t>
            </a:r>
            <a:r>
              <a:rPr lang="en-US" dirty="0"/>
              <a:t> or </a:t>
            </a:r>
            <a:r>
              <a:rPr lang="en-US" dirty="0">
                <a:solidFill>
                  <a:srgbClr val="002060"/>
                </a:solidFill>
              </a:rPr>
              <a:t>reserved words</a:t>
            </a:r>
            <a:r>
              <a:rPr lang="en-US" dirty="0"/>
              <a:t>.</a:t>
            </a:r>
          </a:p>
          <a:p>
            <a:pPr algn="just"/>
            <a:endParaRPr lang="en-US" dirty="0"/>
          </a:p>
          <a:p>
            <a:pPr algn="just"/>
            <a:r>
              <a:rPr lang="en-US" dirty="0">
                <a:solidFill>
                  <a:srgbClr val="FF0000"/>
                </a:solidFill>
              </a:rPr>
              <a:t>import keyword</a:t>
            </a:r>
          </a:p>
          <a:p>
            <a:pPr algn="just"/>
            <a:endParaRPr lang="en-US" dirty="0">
              <a:solidFill>
                <a:srgbClr val="FF0000"/>
              </a:solidFill>
            </a:endParaRPr>
          </a:p>
          <a:p>
            <a:pPr algn="just"/>
            <a:r>
              <a:rPr lang="en-US" dirty="0" err="1">
                <a:solidFill>
                  <a:srgbClr val="FF0000"/>
                </a:solidFill>
              </a:rPr>
              <a:t>keyword.kwlist</a:t>
            </a:r>
            <a:endParaRPr lang="en-US" dirty="0">
              <a:solidFill>
                <a:srgbClr val="FF0000"/>
              </a:solidFill>
            </a:endParaRPr>
          </a:p>
          <a:p>
            <a:pPr algn="just"/>
            <a:endParaRPr lang="en-US" dirty="0">
              <a:solidFill>
                <a:srgbClr val="FF0000"/>
              </a:solidFill>
            </a:endParaRPr>
          </a:p>
          <a:p>
            <a:pPr algn="just"/>
            <a:r>
              <a:rPr lang="en-US" dirty="0"/>
              <a:t>In most programming environments, these words will be highlighted in a </a:t>
            </a:r>
            <a:r>
              <a:rPr lang="en-US" dirty="0">
                <a:solidFill>
                  <a:srgbClr val="7030A0"/>
                </a:solidFill>
              </a:rPr>
              <a:t>different color</a:t>
            </a:r>
            <a:r>
              <a:rPr lang="en-US" dirty="0"/>
              <a:t> as a warning to the programmer.</a:t>
            </a:r>
          </a:p>
        </p:txBody>
      </p:sp>
      <p:sp>
        <p:nvSpPr>
          <p:cNvPr id="5" name="Slide Number Placeholder 4">
            <a:extLst>
              <a:ext uri="{FF2B5EF4-FFF2-40B4-BE49-F238E27FC236}">
                <a16:creationId xmlns:a16="http://schemas.microsoft.com/office/drawing/2014/main" id="{60683764-91F3-4AF1-8AD2-E359FE7D6E75}"/>
              </a:ext>
            </a:extLst>
          </p:cNvPr>
          <p:cNvSpPr>
            <a:spLocks noGrp="1"/>
          </p:cNvSpPr>
          <p:nvPr>
            <p:ph type="sldNum" sz="quarter" idx="12"/>
          </p:nvPr>
        </p:nvSpPr>
        <p:spPr/>
        <p:txBody>
          <a:bodyPr/>
          <a:lstStyle/>
          <a:p>
            <a:fld id="{6B97D948-30E8-43F7-AE10-F6E2D9F2BBB1}" type="slidenum">
              <a:rPr lang="en-US" smtClean="0"/>
              <a:t>49</a:t>
            </a:fld>
            <a:endParaRPr lang="en-US"/>
          </a:p>
        </p:txBody>
      </p:sp>
    </p:spTree>
    <p:extLst>
      <p:ext uri="{BB962C8B-B14F-4D97-AF65-F5344CB8AC3E}">
        <p14:creationId xmlns:p14="http://schemas.microsoft.com/office/powerpoint/2010/main" val="277735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2239D-2083-400D-818D-426DE243F963}"/>
              </a:ext>
            </a:extLst>
          </p:cNvPr>
          <p:cNvSpPr>
            <a:spLocks noGrp="1"/>
          </p:cNvSpPr>
          <p:nvPr>
            <p:ph type="title"/>
          </p:nvPr>
        </p:nvSpPr>
        <p:spPr>
          <a:xfrm>
            <a:off x="838200" y="365126"/>
            <a:ext cx="10515600" cy="683746"/>
          </a:xfrm>
        </p:spPr>
        <p:txBody>
          <a:bodyPr>
            <a:normAutofit fontScale="90000"/>
          </a:bodyPr>
          <a:lstStyle/>
          <a:p>
            <a:r>
              <a:rPr lang="en-US" dirty="0"/>
              <a:t>Rules for variable names</a:t>
            </a:r>
          </a:p>
        </p:txBody>
      </p:sp>
      <p:sp>
        <p:nvSpPr>
          <p:cNvPr id="3" name="Content Placeholder 2">
            <a:extLst>
              <a:ext uri="{FF2B5EF4-FFF2-40B4-BE49-F238E27FC236}">
                <a16:creationId xmlns:a16="http://schemas.microsoft.com/office/drawing/2014/main" id="{E9D29332-D397-4BC9-B682-9AF33C611441}"/>
              </a:ext>
            </a:extLst>
          </p:cNvPr>
          <p:cNvSpPr>
            <a:spLocks noGrp="1"/>
          </p:cNvSpPr>
          <p:nvPr>
            <p:ph idx="1"/>
          </p:nvPr>
        </p:nvSpPr>
        <p:spPr>
          <a:xfrm>
            <a:off x="838200" y="1048872"/>
            <a:ext cx="10515600" cy="5128091"/>
          </a:xfrm>
        </p:spPr>
        <p:txBody>
          <a:bodyPr>
            <a:normAutofit fontScale="92500" lnSpcReduction="10000"/>
          </a:bodyPr>
          <a:lstStyle/>
          <a:p>
            <a:pPr algn="just"/>
            <a:r>
              <a:rPr lang="en-US" dirty="0"/>
              <a:t>Variable names can be short (a, x, y, etc.) or descriptive ( </a:t>
            </a:r>
            <a:r>
              <a:rPr lang="en-US" dirty="0" err="1"/>
              <a:t>my_favorite_color</a:t>
            </a:r>
            <a:r>
              <a:rPr lang="en-US" dirty="0"/>
              <a:t>, </a:t>
            </a:r>
            <a:r>
              <a:rPr lang="en-US" dirty="0" err="1"/>
              <a:t>profit_margin</a:t>
            </a:r>
            <a:r>
              <a:rPr lang="en-US" dirty="0"/>
              <a:t>, the_3_musketeers, etc.). </a:t>
            </a:r>
          </a:p>
          <a:p>
            <a:pPr algn="just"/>
            <a:endParaRPr lang="en-US" dirty="0"/>
          </a:p>
          <a:p>
            <a:pPr algn="just"/>
            <a:r>
              <a:rPr lang="en-US" dirty="0"/>
              <a:t>However, use descriptive variable names as it makes it easier to understand the code.</a:t>
            </a:r>
          </a:p>
          <a:p>
            <a:pPr algn="just"/>
            <a:r>
              <a:rPr lang="en-US" dirty="0"/>
              <a:t>Rules to be followed while naming Python variables:</a:t>
            </a:r>
          </a:p>
          <a:p>
            <a:pPr algn="just"/>
            <a:r>
              <a:rPr lang="en-US" b="1" dirty="0"/>
              <a:t>A variable’s name must start with a letter or the underscore character _. It </a:t>
            </a:r>
            <a:r>
              <a:rPr lang="en-US" b="1" dirty="0">
                <a:solidFill>
                  <a:srgbClr val="FF0000"/>
                </a:solidFill>
              </a:rPr>
              <a:t>cannot</a:t>
            </a:r>
            <a:r>
              <a:rPr lang="en-US" b="1" dirty="0"/>
              <a:t> begin with a number.</a:t>
            </a:r>
          </a:p>
          <a:p>
            <a:pPr algn="just"/>
            <a:r>
              <a:rPr lang="en-US" b="1" dirty="0"/>
              <a:t>A variable name can only contain lowercase (small) or uppercase (capital) letters, digits, or underscores (a-z, A-Z, 0-9, and _).</a:t>
            </a:r>
          </a:p>
          <a:p>
            <a:pPr algn="just"/>
            <a:r>
              <a:rPr lang="en-US" b="1" dirty="0"/>
              <a:t>Variable names are </a:t>
            </a:r>
            <a:r>
              <a:rPr lang="en-US" b="1" dirty="0">
                <a:solidFill>
                  <a:srgbClr val="FF0000"/>
                </a:solidFill>
              </a:rPr>
              <a:t>case-sensitive</a:t>
            </a:r>
            <a:r>
              <a:rPr lang="en-US" b="1" dirty="0"/>
              <a:t>, i.e., </a:t>
            </a:r>
            <a:r>
              <a:rPr lang="en-US" b="1" dirty="0" err="1"/>
              <a:t>a_variable</a:t>
            </a:r>
            <a:r>
              <a:rPr lang="en-US" b="1" dirty="0"/>
              <a:t>, </a:t>
            </a:r>
            <a:r>
              <a:rPr lang="en-US" b="1" dirty="0" err="1"/>
              <a:t>A_Variable</a:t>
            </a:r>
            <a:r>
              <a:rPr lang="en-US" b="1" dirty="0"/>
              <a:t>, and A_VARIABLE are all different variables.</a:t>
            </a:r>
          </a:p>
          <a:p>
            <a:pPr algn="just"/>
            <a:endParaRPr lang="en-US" dirty="0"/>
          </a:p>
        </p:txBody>
      </p:sp>
      <p:sp>
        <p:nvSpPr>
          <p:cNvPr id="5" name="Slide Number Placeholder 4">
            <a:extLst>
              <a:ext uri="{FF2B5EF4-FFF2-40B4-BE49-F238E27FC236}">
                <a16:creationId xmlns:a16="http://schemas.microsoft.com/office/drawing/2014/main" id="{BCD65BA1-FABA-4929-8E80-629FD3DFDB64}"/>
              </a:ext>
            </a:extLst>
          </p:cNvPr>
          <p:cNvSpPr>
            <a:spLocks noGrp="1"/>
          </p:cNvSpPr>
          <p:nvPr>
            <p:ph type="sldNum" sz="quarter" idx="12"/>
          </p:nvPr>
        </p:nvSpPr>
        <p:spPr/>
        <p:txBody>
          <a:bodyPr/>
          <a:lstStyle/>
          <a:p>
            <a:fld id="{6B97D948-30E8-43F7-AE10-F6E2D9F2BBB1}" type="slidenum">
              <a:rPr lang="en-US" smtClean="0"/>
              <a:t>50</a:t>
            </a:fld>
            <a:endParaRPr lang="en-US"/>
          </a:p>
        </p:txBody>
      </p:sp>
    </p:spTree>
    <p:extLst>
      <p:ext uri="{BB962C8B-B14F-4D97-AF65-F5344CB8AC3E}">
        <p14:creationId xmlns:p14="http://schemas.microsoft.com/office/powerpoint/2010/main" val="1185735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0C2B7-D611-46A4-9433-C827F2297818}"/>
              </a:ext>
            </a:extLst>
          </p:cNvPr>
          <p:cNvSpPr>
            <a:spLocks noGrp="1"/>
          </p:cNvSpPr>
          <p:nvPr>
            <p:ph type="title"/>
          </p:nvPr>
        </p:nvSpPr>
        <p:spPr>
          <a:xfrm>
            <a:off x="838200" y="365125"/>
            <a:ext cx="10515600" cy="656851"/>
          </a:xfrm>
        </p:spPr>
        <p:txBody>
          <a:bodyPr>
            <a:normAutofit fontScale="90000"/>
          </a:bodyPr>
          <a:lstStyle/>
          <a:p>
            <a:r>
              <a:rPr lang="en-US" dirty="0"/>
              <a:t>Examples</a:t>
            </a:r>
          </a:p>
        </p:txBody>
      </p:sp>
      <p:sp>
        <p:nvSpPr>
          <p:cNvPr id="3" name="Content Placeholder 2">
            <a:extLst>
              <a:ext uri="{FF2B5EF4-FFF2-40B4-BE49-F238E27FC236}">
                <a16:creationId xmlns:a16="http://schemas.microsoft.com/office/drawing/2014/main" id="{8766A19B-8280-400E-AA22-808AF2649702}"/>
              </a:ext>
            </a:extLst>
          </p:cNvPr>
          <p:cNvSpPr>
            <a:spLocks noGrp="1"/>
          </p:cNvSpPr>
          <p:nvPr>
            <p:ph idx="1"/>
          </p:nvPr>
        </p:nvSpPr>
        <p:spPr>
          <a:xfrm>
            <a:off x="838200" y="1021976"/>
            <a:ext cx="10515600" cy="5154987"/>
          </a:xfrm>
        </p:spPr>
        <p:txBody>
          <a:bodyPr/>
          <a:lstStyle/>
          <a:p>
            <a:r>
              <a:rPr lang="en-US" dirty="0"/>
              <a:t>Here are some valid variable names:</a:t>
            </a:r>
          </a:p>
          <a:p>
            <a:endParaRPr lang="en-US" dirty="0"/>
          </a:p>
          <a:p>
            <a:r>
              <a:rPr lang="en-US" dirty="0" err="1">
                <a:solidFill>
                  <a:srgbClr val="FF0000"/>
                </a:solidFill>
              </a:rPr>
              <a:t>a_variable</a:t>
            </a:r>
            <a:r>
              <a:rPr lang="en-US" dirty="0">
                <a:solidFill>
                  <a:srgbClr val="FF0000"/>
                </a:solidFill>
              </a:rPr>
              <a:t> = 23</a:t>
            </a:r>
          </a:p>
          <a:p>
            <a:r>
              <a:rPr lang="en-US" dirty="0" err="1">
                <a:solidFill>
                  <a:srgbClr val="FF0000"/>
                </a:solidFill>
              </a:rPr>
              <a:t>is_today_Saturday</a:t>
            </a:r>
            <a:r>
              <a:rPr lang="en-US" dirty="0">
                <a:solidFill>
                  <a:srgbClr val="FF0000"/>
                </a:solidFill>
              </a:rPr>
              <a:t> = False</a:t>
            </a:r>
          </a:p>
          <a:p>
            <a:r>
              <a:rPr lang="en-US" dirty="0" err="1">
                <a:solidFill>
                  <a:srgbClr val="FF0000"/>
                </a:solidFill>
              </a:rPr>
              <a:t>my_favorite_car</a:t>
            </a:r>
            <a:r>
              <a:rPr lang="en-US" dirty="0">
                <a:solidFill>
                  <a:srgbClr val="FF0000"/>
                </a:solidFill>
              </a:rPr>
              <a:t> = "BMW"</a:t>
            </a:r>
          </a:p>
          <a:p>
            <a:r>
              <a:rPr lang="en-US" dirty="0">
                <a:solidFill>
                  <a:srgbClr val="FF0000"/>
                </a:solidFill>
              </a:rPr>
              <a:t>the_3_musketeers = ["Athos", "</a:t>
            </a:r>
            <a:r>
              <a:rPr lang="en-US" dirty="0" err="1">
                <a:solidFill>
                  <a:srgbClr val="FF0000"/>
                </a:solidFill>
              </a:rPr>
              <a:t>Porthos</a:t>
            </a:r>
            <a:r>
              <a:rPr lang="en-US" dirty="0">
                <a:solidFill>
                  <a:srgbClr val="FF0000"/>
                </a:solidFill>
              </a:rPr>
              <a:t>", "Aramis"]</a:t>
            </a:r>
          </a:p>
        </p:txBody>
      </p:sp>
      <p:sp>
        <p:nvSpPr>
          <p:cNvPr id="5" name="Slide Number Placeholder 4">
            <a:extLst>
              <a:ext uri="{FF2B5EF4-FFF2-40B4-BE49-F238E27FC236}">
                <a16:creationId xmlns:a16="http://schemas.microsoft.com/office/drawing/2014/main" id="{DB9A9858-0018-4C17-BB83-6CECCC344A40}"/>
              </a:ext>
            </a:extLst>
          </p:cNvPr>
          <p:cNvSpPr>
            <a:spLocks noGrp="1"/>
          </p:cNvSpPr>
          <p:nvPr>
            <p:ph type="sldNum" sz="quarter" idx="12"/>
          </p:nvPr>
        </p:nvSpPr>
        <p:spPr/>
        <p:txBody>
          <a:bodyPr/>
          <a:lstStyle/>
          <a:p>
            <a:fld id="{6B97D948-30E8-43F7-AE10-F6E2D9F2BBB1}" type="slidenum">
              <a:rPr lang="en-US" smtClean="0"/>
              <a:t>51</a:t>
            </a:fld>
            <a:endParaRPr lang="en-US"/>
          </a:p>
        </p:txBody>
      </p:sp>
    </p:spTree>
    <p:extLst>
      <p:ext uri="{BB962C8B-B14F-4D97-AF65-F5344CB8AC3E}">
        <p14:creationId xmlns:p14="http://schemas.microsoft.com/office/powerpoint/2010/main" val="15373311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C0955-3DA0-4C72-9FB5-17E2C48155CD}"/>
              </a:ext>
            </a:extLst>
          </p:cNvPr>
          <p:cNvSpPr>
            <a:spLocks noGrp="1"/>
          </p:cNvSpPr>
          <p:nvPr>
            <p:ph type="title"/>
          </p:nvPr>
        </p:nvSpPr>
        <p:spPr>
          <a:xfrm>
            <a:off x="838200" y="365126"/>
            <a:ext cx="10515600" cy="683746"/>
          </a:xfrm>
        </p:spPr>
        <p:txBody>
          <a:bodyPr>
            <a:normAutofit fontScale="90000"/>
          </a:bodyPr>
          <a:lstStyle/>
          <a:p>
            <a:r>
              <a:rPr lang="en-US" dirty="0"/>
              <a:t>Invalid variable names</a:t>
            </a:r>
          </a:p>
        </p:txBody>
      </p:sp>
      <p:sp>
        <p:nvSpPr>
          <p:cNvPr id="3" name="Content Placeholder 2">
            <a:extLst>
              <a:ext uri="{FF2B5EF4-FFF2-40B4-BE49-F238E27FC236}">
                <a16:creationId xmlns:a16="http://schemas.microsoft.com/office/drawing/2014/main" id="{9DA64264-D71F-4DEC-83B7-41CC9705D084}"/>
              </a:ext>
            </a:extLst>
          </p:cNvPr>
          <p:cNvSpPr>
            <a:spLocks noGrp="1"/>
          </p:cNvSpPr>
          <p:nvPr>
            <p:ph idx="1"/>
          </p:nvPr>
        </p:nvSpPr>
        <p:spPr>
          <a:xfrm>
            <a:off x="838200" y="1048872"/>
            <a:ext cx="10515600" cy="5128091"/>
          </a:xfrm>
        </p:spPr>
        <p:txBody>
          <a:bodyPr>
            <a:normAutofit fontScale="92500" lnSpcReduction="10000"/>
          </a:bodyPr>
          <a:lstStyle/>
          <a:p>
            <a:pPr algn="just"/>
            <a:r>
              <a:rPr lang="en-US" dirty="0"/>
              <a:t>Let’s try creating some variables with invalid names. </a:t>
            </a:r>
          </a:p>
          <a:p>
            <a:pPr algn="just"/>
            <a:r>
              <a:rPr lang="en-US" dirty="0"/>
              <a:t>Python prints a </a:t>
            </a:r>
            <a:r>
              <a:rPr lang="en-US" dirty="0">
                <a:solidFill>
                  <a:srgbClr val="FF0000"/>
                </a:solidFill>
              </a:rPr>
              <a:t>syntax error </a:t>
            </a:r>
            <a:r>
              <a:rPr lang="en-US" dirty="0"/>
              <a:t>if the variable’s name is invalid.</a:t>
            </a:r>
          </a:p>
          <a:p>
            <a:pPr algn="just"/>
            <a:r>
              <a:rPr lang="en-US" dirty="0"/>
              <a:t>Syntax: </a:t>
            </a:r>
            <a:r>
              <a:rPr lang="en-US" i="1" dirty="0">
                <a:solidFill>
                  <a:srgbClr val="002060"/>
                </a:solidFill>
              </a:rPr>
              <a:t>The syntax of a programming language refers to the rules that govern the structure of a valid instruction or statement. If a statement does not follow these rules, Python stops execution and informs you that there is a syntax error. Syntax can be thought of as the rules of grammar for a programming language</a:t>
            </a:r>
            <a:r>
              <a:rPr lang="en-US" dirty="0"/>
              <a:t>.</a:t>
            </a:r>
          </a:p>
          <a:p>
            <a:pPr algn="just"/>
            <a:r>
              <a:rPr lang="en-US" dirty="0"/>
              <a:t>Runtime: </a:t>
            </a:r>
            <a:r>
              <a:rPr lang="en-US" i="1" dirty="0">
                <a:solidFill>
                  <a:srgbClr val="002060"/>
                </a:solidFill>
              </a:rPr>
              <a:t>These errors happen while the program is running and is attempting to execute an operation that it cannot perform. The program crashes or stops unexpectedly during execution. </a:t>
            </a:r>
            <a:r>
              <a:rPr lang="en-US" i="1" dirty="0" err="1">
                <a:solidFill>
                  <a:srgbClr val="002060"/>
                </a:solidFill>
              </a:rPr>
              <a:t>eg.</a:t>
            </a:r>
            <a:r>
              <a:rPr lang="en-US" i="1" dirty="0">
                <a:solidFill>
                  <a:srgbClr val="002060"/>
                </a:solidFill>
              </a:rPr>
              <a:t> Attempting to divide a number by zero, or trying to access a file that doesn't exist. </a:t>
            </a:r>
          </a:p>
          <a:p>
            <a:pPr algn="just"/>
            <a:r>
              <a:rPr lang="en-US" dirty="0"/>
              <a:t>Logic: </a:t>
            </a:r>
            <a:r>
              <a:rPr lang="en-US" i="1" dirty="0">
                <a:solidFill>
                  <a:srgbClr val="002060"/>
                </a:solidFill>
              </a:rPr>
              <a:t>These errors occur when the program's logic is flawed, meaning it runs without crashing but produces an incorrect result. </a:t>
            </a:r>
          </a:p>
          <a:p>
            <a:pPr algn="just"/>
            <a:endParaRPr lang="en-US" i="1" dirty="0">
              <a:solidFill>
                <a:srgbClr val="002060"/>
              </a:solidFill>
            </a:endParaRPr>
          </a:p>
          <a:p>
            <a:pPr algn="just"/>
            <a:endParaRPr lang="en-US" dirty="0"/>
          </a:p>
          <a:p>
            <a:pPr algn="just"/>
            <a:endParaRPr lang="en-US" dirty="0"/>
          </a:p>
        </p:txBody>
      </p:sp>
      <p:sp>
        <p:nvSpPr>
          <p:cNvPr id="5" name="Slide Number Placeholder 4">
            <a:extLst>
              <a:ext uri="{FF2B5EF4-FFF2-40B4-BE49-F238E27FC236}">
                <a16:creationId xmlns:a16="http://schemas.microsoft.com/office/drawing/2014/main" id="{1424DC2C-E708-4606-BA70-53E544537A93}"/>
              </a:ext>
            </a:extLst>
          </p:cNvPr>
          <p:cNvSpPr>
            <a:spLocks noGrp="1"/>
          </p:cNvSpPr>
          <p:nvPr>
            <p:ph type="sldNum" sz="quarter" idx="12"/>
          </p:nvPr>
        </p:nvSpPr>
        <p:spPr/>
        <p:txBody>
          <a:bodyPr/>
          <a:lstStyle/>
          <a:p>
            <a:fld id="{6B97D948-30E8-43F7-AE10-F6E2D9F2BBB1}" type="slidenum">
              <a:rPr lang="en-US" smtClean="0"/>
              <a:t>52</a:t>
            </a:fld>
            <a:endParaRPr lang="en-US"/>
          </a:p>
        </p:txBody>
      </p:sp>
    </p:spTree>
    <p:extLst>
      <p:ext uri="{BB962C8B-B14F-4D97-AF65-F5344CB8AC3E}">
        <p14:creationId xmlns:p14="http://schemas.microsoft.com/office/powerpoint/2010/main" val="24740219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ACA380-5287-4996-AB4A-7C2865DFA99A}"/>
              </a:ext>
            </a:extLst>
          </p:cNvPr>
          <p:cNvSpPr>
            <a:spLocks noGrp="1"/>
          </p:cNvSpPr>
          <p:nvPr>
            <p:ph idx="1"/>
          </p:nvPr>
        </p:nvSpPr>
        <p:spPr>
          <a:xfrm>
            <a:off x="838200" y="484094"/>
            <a:ext cx="10515600" cy="5692869"/>
          </a:xfrm>
        </p:spPr>
        <p:txBody>
          <a:bodyPr>
            <a:normAutofit/>
          </a:bodyPr>
          <a:lstStyle/>
          <a:p>
            <a:r>
              <a:rPr lang="en-US" dirty="0"/>
              <a:t>Invalid variable names</a:t>
            </a:r>
          </a:p>
          <a:p>
            <a:r>
              <a:rPr lang="en-US" dirty="0">
                <a:solidFill>
                  <a:srgbClr val="FF0000"/>
                </a:solidFill>
              </a:rPr>
              <a:t>a variable = 23</a:t>
            </a:r>
          </a:p>
          <a:p>
            <a:endParaRPr lang="en-US" dirty="0">
              <a:solidFill>
                <a:srgbClr val="FF0000"/>
              </a:solidFill>
            </a:endParaRPr>
          </a:p>
          <a:p>
            <a:r>
              <a:rPr lang="en-US" dirty="0">
                <a:solidFill>
                  <a:srgbClr val="FF0000"/>
                </a:solidFill>
              </a:rPr>
              <a:t>is_today_$</a:t>
            </a:r>
            <a:r>
              <a:rPr lang="en-US" dirty="0" err="1">
                <a:solidFill>
                  <a:srgbClr val="FF0000"/>
                </a:solidFill>
              </a:rPr>
              <a:t>aturday</a:t>
            </a:r>
            <a:r>
              <a:rPr lang="en-US" dirty="0">
                <a:solidFill>
                  <a:srgbClr val="FF0000"/>
                </a:solidFill>
              </a:rPr>
              <a:t> = False</a:t>
            </a:r>
          </a:p>
          <a:p>
            <a:endParaRPr lang="en-US" dirty="0">
              <a:solidFill>
                <a:srgbClr val="FF0000"/>
              </a:solidFill>
            </a:endParaRPr>
          </a:p>
          <a:p>
            <a:r>
              <a:rPr lang="en-US" dirty="0">
                <a:solidFill>
                  <a:srgbClr val="FF0000"/>
                </a:solidFill>
              </a:rPr>
              <a:t>my-favorite-car = "</a:t>
            </a:r>
            <a:r>
              <a:rPr lang="en-US" dirty="0" err="1">
                <a:solidFill>
                  <a:srgbClr val="FF0000"/>
                </a:solidFill>
              </a:rPr>
              <a:t>Delorean</a:t>
            </a:r>
            <a:r>
              <a:rPr lang="en-US" dirty="0">
                <a:solidFill>
                  <a:srgbClr val="FF0000"/>
                </a:solidFill>
              </a:rPr>
              <a:t>"</a:t>
            </a:r>
          </a:p>
          <a:p>
            <a:endParaRPr lang="en-US" dirty="0">
              <a:solidFill>
                <a:srgbClr val="FF0000"/>
              </a:solidFill>
            </a:endParaRPr>
          </a:p>
          <a:p>
            <a:r>
              <a:rPr lang="en-US" dirty="0">
                <a:solidFill>
                  <a:srgbClr val="FF0000"/>
                </a:solidFill>
              </a:rPr>
              <a:t>3_musketeers = ["Athos", "</a:t>
            </a:r>
            <a:r>
              <a:rPr lang="en-US" dirty="0" err="1">
                <a:solidFill>
                  <a:srgbClr val="FF0000"/>
                </a:solidFill>
              </a:rPr>
              <a:t>Porthos</a:t>
            </a:r>
            <a:r>
              <a:rPr lang="en-US" dirty="0">
                <a:solidFill>
                  <a:srgbClr val="FF0000"/>
                </a:solidFill>
              </a:rPr>
              <a:t>", "Aramis"]</a:t>
            </a:r>
          </a:p>
          <a:p>
            <a:endParaRPr lang="en-US" dirty="0"/>
          </a:p>
        </p:txBody>
      </p:sp>
      <p:sp>
        <p:nvSpPr>
          <p:cNvPr id="4" name="Slide Number Placeholder 3">
            <a:extLst>
              <a:ext uri="{FF2B5EF4-FFF2-40B4-BE49-F238E27FC236}">
                <a16:creationId xmlns:a16="http://schemas.microsoft.com/office/drawing/2014/main" id="{8651920F-EFD0-4214-A257-DE7626A17722}"/>
              </a:ext>
            </a:extLst>
          </p:cNvPr>
          <p:cNvSpPr>
            <a:spLocks noGrp="1"/>
          </p:cNvSpPr>
          <p:nvPr>
            <p:ph type="sldNum" sz="quarter" idx="12"/>
          </p:nvPr>
        </p:nvSpPr>
        <p:spPr/>
        <p:txBody>
          <a:bodyPr/>
          <a:lstStyle/>
          <a:p>
            <a:fld id="{6B97D948-30E8-43F7-AE10-F6E2D9F2BBB1}" type="slidenum">
              <a:rPr lang="en-US" smtClean="0"/>
              <a:t>53</a:t>
            </a:fld>
            <a:endParaRPr lang="en-US"/>
          </a:p>
        </p:txBody>
      </p:sp>
    </p:spTree>
    <p:extLst>
      <p:ext uri="{BB962C8B-B14F-4D97-AF65-F5344CB8AC3E}">
        <p14:creationId xmlns:p14="http://schemas.microsoft.com/office/powerpoint/2010/main" val="23426761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1D62A-F1F9-4524-BCD3-F953A2472A6B}"/>
              </a:ext>
            </a:extLst>
          </p:cNvPr>
          <p:cNvSpPr>
            <a:spLocks noGrp="1"/>
          </p:cNvSpPr>
          <p:nvPr>
            <p:ph type="title"/>
          </p:nvPr>
        </p:nvSpPr>
        <p:spPr>
          <a:xfrm>
            <a:off x="838200" y="365125"/>
            <a:ext cx="10515600" cy="603063"/>
          </a:xfrm>
        </p:spPr>
        <p:txBody>
          <a:bodyPr>
            <a:normAutofit fontScale="90000"/>
          </a:bodyPr>
          <a:lstStyle/>
          <a:p>
            <a:r>
              <a:rPr lang="en-US" dirty="0"/>
              <a:t>Built-in data types</a:t>
            </a:r>
          </a:p>
        </p:txBody>
      </p:sp>
      <p:sp>
        <p:nvSpPr>
          <p:cNvPr id="3" name="Content Placeholder 2">
            <a:extLst>
              <a:ext uri="{FF2B5EF4-FFF2-40B4-BE49-F238E27FC236}">
                <a16:creationId xmlns:a16="http://schemas.microsoft.com/office/drawing/2014/main" id="{84802CAC-E487-489E-9EF6-7347417B86E2}"/>
              </a:ext>
            </a:extLst>
          </p:cNvPr>
          <p:cNvSpPr>
            <a:spLocks noGrp="1"/>
          </p:cNvSpPr>
          <p:nvPr>
            <p:ph idx="1"/>
          </p:nvPr>
        </p:nvSpPr>
        <p:spPr>
          <a:xfrm>
            <a:off x="838200" y="968188"/>
            <a:ext cx="10515600" cy="5208775"/>
          </a:xfrm>
        </p:spPr>
        <p:txBody>
          <a:bodyPr>
            <a:normAutofit/>
          </a:bodyPr>
          <a:lstStyle/>
          <a:p>
            <a:pPr algn="just"/>
            <a:r>
              <a:rPr lang="en-US" dirty="0"/>
              <a:t>Variable is created as soon as a value is assigned to it. </a:t>
            </a:r>
          </a:p>
          <a:p>
            <a:pPr algn="just"/>
            <a:r>
              <a:rPr lang="en-US" dirty="0"/>
              <a:t>average = 26</a:t>
            </a:r>
          </a:p>
          <a:p>
            <a:pPr algn="just"/>
            <a:r>
              <a:rPr lang="en-US" dirty="0"/>
              <a:t>We don’t have to define the type of variable explicitly as in other programming languages because Python can automatically guess the type of data entered (</a:t>
            </a:r>
            <a:r>
              <a:rPr lang="en-US" dirty="0">
                <a:solidFill>
                  <a:srgbClr val="0070C0"/>
                </a:solidFill>
              </a:rPr>
              <a:t>dynamically typed</a:t>
            </a:r>
            <a:r>
              <a:rPr lang="en-US" dirty="0"/>
              <a:t>).</a:t>
            </a:r>
          </a:p>
          <a:p>
            <a:endParaRPr lang="en-US" dirty="0"/>
          </a:p>
          <a:p>
            <a:pPr algn="just"/>
            <a:r>
              <a:rPr lang="en-US" dirty="0"/>
              <a:t>Any data or information stored within a Python variable has a type. </a:t>
            </a:r>
          </a:p>
          <a:p>
            <a:pPr algn="just"/>
            <a:endParaRPr lang="en-US" dirty="0"/>
          </a:p>
          <a:p>
            <a:pPr algn="just"/>
            <a:r>
              <a:rPr lang="en-US" dirty="0"/>
              <a:t>We can view the type of data stored within a variable using the </a:t>
            </a:r>
            <a:r>
              <a:rPr lang="en-US" dirty="0">
                <a:solidFill>
                  <a:srgbClr val="FF0000"/>
                </a:solidFill>
              </a:rPr>
              <a:t>type() </a:t>
            </a:r>
            <a:r>
              <a:rPr lang="en-US" dirty="0"/>
              <a:t>function.</a:t>
            </a:r>
          </a:p>
        </p:txBody>
      </p:sp>
      <p:sp>
        <p:nvSpPr>
          <p:cNvPr id="5" name="Slide Number Placeholder 4">
            <a:extLst>
              <a:ext uri="{FF2B5EF4-FFF2-40B4-BE49-F238E27FC236}">
                <a16:creationId xmlns:a16="http://schemas.microsoft.com/office/drawing/2014/main" id="{CCDB2699-0796-49C7-8D9F-F6C0A72EE4A9}"/>
              </a:ext>
            </a:extLst>
          </p:cNvPr>
          <p:cNvSpPr>
            <a:spLocks noGrp="1"/>
          </p:cNvSpPr>
          <p:nvPr>
            <p:ph type="sldNum" sz="quarter" idx="12"/>
          </p:nvPr>
        </p:nvSpPr>
        <p:spPr/>
        <p:txBody>
          <a:bodyPr/>
          <a:lstStyle/>
          <a:p>
            <a:fld id="{6B97D948-30E8-43F7-AE10-F6E2D9F2BBB1}" type="slidenum">
              <a:rPr lang="en-US" smtClean="0"/>
              <a:t>54</a:t>
            </a:fld>
            <a:endParaRPr lang="en-US"/>
          </a:p>
        </p:txBody>
      </p:sp>
    </p:spTree>
    <p:extLst>
      <p:ext uri="{BB962C8B-B14F-4D97-AF65-F5344CB8AC3E}">
        <p14:creationId xmlns:p14="http://schemas.microsoft.com/office/powerpoint/2010/main" val="31059411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5FED48-8435-4BED-A404-904F10A5ADE2}"/>
              </a:ext>
            </a:extLst>
          </p:cNvPr>
          <p:cNvSpPr>
            <a:spLocks noGrp="1"/>
          </p:cNvSpPr>
          <p:nvPr>
            <p:ph idx="1"/>
          </p:nvPr>
        </p:nvSpPr>
        <p:spPr>
          <a:xfrm>
            <a:off x="838200" y="470647"/>
            <a:ext cx="10515600" cy="5706316"/>
          </a:xfrm>
        </p:spPr>
        <p:txBody>
          <a:bodyPr>
            <a:normAutofit fontScale="85000" lnSpcReduction="20000"/>
          </a:bodyPr>
          <a:lstStyle/>
          <a:p>
            <a:r>
              <a:rPr lang="en-US" dirty="0" err="1">
                <a:solidFill>
                  <a:srgbClr val="FF0000"/>
                </a:solidFill>
              </a:rPr>
              <a:t>a_variable</a:t>
            </a:r>
            <a:endParaRPr lang="en-US" dirty="0">
              <a:solidFill>
                <a:srgbClr val="FF0000"/>
              </a:solidFill>
            </a:endParaRPr>
          </a:p>
          <a:p>
            <a:endParaRPr lang="en-US" dirty="0">
              <a:solidFill>
                <a:srgbClr val="FF0000"/>
              </a:solidFill>
            </a:endParaRPr>
          </a:p>
          <a:p>
            <a:r>
              <a:rPr lang="en-US" dirty="0">
                <a:solidFill>
                  <a:srgbClr val="FF0000"/>
                </a:solidFill>
              </a:rPr>
              <a:t>type(</a:t>
            </a:r>
            <a:r>
              <a:rPr lang="en-US" dirty="0" err="1">
                <a:solidFill>
                  <a:srgbClr val="FF0000"/>
                </a:solidFill>
              </a:rPr>
              <a:t>a_variable</a:t>
            </a:r>
            <a:r>
              <a:rPr lang="en-US" dirty="0">
                <a:solidFill>
                  <a:srgbClr val="FF0000"/>
                </a:solidFill>
              </a:rPr>
              <a:t>)</a:t>
            </a:r>
          </a:p>
          <a:p>
            <a:endParaRPr lang="en-US" dirty="0">
              <a:solidFill>
                <a:srgbClr val="FF0000"/>
              </a:solidFill>
            </a:endParaRPr>
          </a:p>
          <a:p>
            <a:r>
              <a:rPr lang="en-US" dirty="0" err="1">
                <a:solidFill>
                  <a:srgbClr val="FF0000"/>
                </a:solidFill>
              </a:rPr>
              <a:t>is_today_Saturday</a:t>
            </a:r>
            <a:endParaRPr lang="en-US" dirty="0">
              <a:solidFill>
                <a:srgbClr val="FF0000"/>
              </a:solidFill>
            </a:endParaRPr>
          </a:p>
          <a:p>
            <a:endParaRPr lang="en-US" dirty="0">
              <a:solidFill>
                <a:srgbClr val="FF0000"/>
              </a:solidFill>
            </a:endParaRPr>
          </a:p>
          <a:p>
            <a:r>
              <a:rPr lang="en-US" dirty="0">
                <a:solidFill>
                  <a:srgbClr val="FF0000"/>
                </a:solidFill>
              </a:rPr>
              <a:t>type(</a:t>
            </a:r>
            <a:r>
              <a:rPr lang="en-US" dirty="0" err="1">
                <a:solidFill>
                  <a:srgbClr val="FF0000"/>
                </a:solidFill>
              </a:rPr>
              <a:t>is_today_Saturday</a:t>
            </a:r>
            <a:r>
              <a:rPr lang="en-US" dirty="0">
                <a:solidFill>
                  <a:srgbClr val="FF0000"/>
                </a:solidFill>
              </a:rPr>
              <a:t>)</a:t>
            </a:r>
          </a:p>
          <a:p>
            <a:endParaRPr lang="en-US" dirty="0">
              <a:solidFill>
                <a:srgbClr val="FF0000"/>
              </a:solidFill>
            </a:endParaRPr>
          </a:p>
          <a:p>
            <a:r>
              <a:rPr lang="en-US" dirty="0" err="1">
                <a:solidFill>
                  <a:srgbClr val="FF0000"/>
                </a:solidFill>
              </a:rPr>
              <a:t>my_favorite_car</a:t>
            </a:r>
            <a:endParaRPr lang="en-US" dirty="0">
              <a:solidFill>
                <a:srgbClr val="FF0000"/>
              </a:solidFill>
            </a:endParaRPr>
          </a:p>
          <a:p>
            <a:endParaRPr lang="en-US" dirty="0">
              <a:solidFill>
                <a:srgbClr val="FF0000"/>
              </a:solidFill>
            </a:endParaRPr>
          </a:p>
          <a:p>
            <a:r>
              <a:rPr lang="en-US" dirty="0">
                <a:solidFill>
                  <a:srgbClr val="FF0000"/>
                </a:solidFill>
              </a:rPr>
              <a:t>type(</a:t>
            </a:r>
            <a:r>
              <a:rPr lang="en-US" dirty="0" err="1">
                <a:solidFill>
                  <a:srgbClr val="FF0000"/>
                </a:solidFill>
              </a:rPr>
              <a:t>my_favorite_car</a:t>
            </a:r>
            <a:r>
              <a:rPr lang="en-US" dirty="0">
                <a:solidFill>
                  <a:srgbClr val="FF0000"/>
                </a:solidFill>
              </a:rPr>
              <a:t>)</a:t>
            </a:r>
          </a:p>
          <a:p>
            <a:r>
              <a:rPr lang="en-US" dirty="0">
                <a:solidFill>
                  <a:srgbClr val="FF0000"/>
                </a:solidFill>
              </a:rPr>
              <a:t>the_3_musketeers</a:t>
            </a:r>
          </a:p>
          <a:p>
            <a:endParaRPr lang="en-US" dirty="0">
              <a:solidFill>
                <a:srgbClr val="FF0000"/>
              </a:solidFill>
            </a:endParaRPr>
          </a:p>
          <a:p>
            <a:r>
              <a:rPr lang="en-US" dirty="0">
                <a:solidFill>
                  <a:srgbClr val="FF0000"/>
                </a:solidFill>
              </a:rPr>
              <a:t>type(the_3_musketeers)</a:t>
            </a:r>
          </a:p>
          <a:p>
            <a:endParaRPr lang="en-US" dirty="0"/>
          </a:p>
        </p:txBody>
      </p:sp>
      <p:sp>
        <p:nvSpPr>
          <p:cNvPr id="4" name="Slide Number Placeholder 3">
            <a:extLst>
              <a:ext uri="{FF2B5EF4-FFF2-40B4-BE49-F238E27FC236}">
                <a16:creationId xmlns:a16="http://schemas.microsoft.com/office/drawing/2014/main" id="{D73CCD40-6306-4E67-A80B-498CFEF4AC6C}"/>
              </a:ext>
            </a:extLst>
          </p:cNvPr>
          <p:cNvSpPr>
            <a:spLocks noGrp="1"/>
          </p:cNvSpPr>
          <p:nvPr>
            <p:ph type="sldNum" sz="quarter" idx="12"/>
          </p:nvPr>
        </p:nvSpPr>
        <p:spPr/>
        <p:txBody>
          <a:bodyPr/>
          <a:lstStyle/>
          <a:p>
            <a:fld id="{6B97D948-30E8-43F7-AE10-F6E2D9F2BBB1}" type="slidenum">
              <a:rPr lang="en-US" smtClean="0"/>
              <a:t>55</a:t>
            </a:fld>
            <a:endParaRPr lang="en-US"/>
          </a:p>
        </p:txBody>
      </p:sp>
    </p:spTree>
    <p:extLst>
      <p:ext uri="{BB962C8B-B14F-4D97-AF65-F5344CB8AC3E}">
        <p14:creationId xmlns:p14="http://schemas.microsoft.com/office/powerpoint/2010/main" val="38709327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45E96B-E597-45BC-836A-3B1599A09F87}"/>
              </a:ext>
            </a:extLst>
          </p:cNvPr>
          <p:cNvSpPr>
            <a:spLocks noGrp="1"/>
          </p:cNvSpPr>
          <p:nvPr>
            <p:ph idx="1"/>
          </p:nvPr>
        </p:nvSpPr>
        <p:spPr>
          <a:xfrm>
            <a:off x="838200" y="480925"/>
            <a:ext cx="10515600" cy="863787"/>
          </a:xfrm>
        </p:spPr>
        <p:txBody>
          <a:bodyPr/>
          <a:lstStyle/>
          <a:p>
            <a:pPr algn="just"/>
            <a:r>
              <a:rPr lang="en-US" dirty="0"/>
              <a:t>Python has several built-in data types for storing different kinds of information in variables.</a:t>
            </a:r>
          </a:p>
        </p:txBody>
      </p:sp>
      <p:pic>
        <p:nvPicPr>
          <p:cNvPr id="4" name="Picture 3">
            <a:extLst>
              <a:ext uri="{FF2B5EF4-FFF2-40B4-BE49-F238E27FC236}">
                <a16:creationId xmlns:a16="http://schemas.microsoft.com/office/drawing/2014/main" id="{A3B21250-9254-44D5-A50B-E54DE0B6422E}"/>
              </a:ext>
            </a:extLst>
          </p:cNvPr>
          <p:cNvPicPr>
            <a:picLocks noChangeAspect="1"/>
          </p:cNvPicPr>
          <p:nvPr/>
        </p:nvPicPr>
        <p:blipFill>
          <a:blip r:embed="rId2"/>
          <a:stretch>
            <a:fillRect/>
          </a:stretch>
        </p:blipFill>
        <p:spPr>
          <a:xfrm>
            <a:off x="1304368" y="1710410"/>
            <a:ext cx="9811871" cy="4537990"/>
          </a:xfrm>
          <a:prstGeom prst="rect">
            <a:avLst/>
          </a:prstGeom>
        </p:spPr>
      </p:pic>
      <p:sp>
        <p:nvSpPr>
          <p:cNvPr id="5" name="Slide Number Placeholder 4">
            <a:extLst>
              <a:ext uri="{FF2B5EF4-FFF2-40B4-BE49-F238E27FC236}">
                <a16:creationId xmlns:a16="http://schemas.microsoft.com/office/drawing/2014/main" id="{D7DFE24B-8DC8-48EE-889A-E722FDDE7DDC}"/>
              </a:ext>
            </a:extLst>
          </p:cNvPr>
          <p:cNvSpPr>
            <a:spLocks noGrp="1"/>
          </p:cNvSpPr>
          <p:nvPr>
            <p:ph type="sldNum" sz="quarter" idx="12"/>
          </p:nvPr>
        </p:nvSpPr>
        <p:spPr/>
        <p:txBody>
          <a:bodyPr/>
          <a:lstStyle/>
          <a:p>
            <a:fld id="{6B97D948-30E8-43F7-AE10-F6E2D9F2BBB1}" type="slidenum">
              <a:rPr lang="en-US" smtClean="0"/>
              <a:t>56</a:t>
            </a:fld>
            <a:endParaRPr lang="en-US"/>
          </a:p>
        </p:txBody>
      </p:sp>
    </p:spTree>
    <p:extLst>
      <p:ext uri="{BB962C8B-B14F-4D97-AF65-F5344CB8AC3E}">
        <p14:creationId xmlns:p14="http://schemas.microsoft.com/office/powerpoint/2010/main" val="8017100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CAE7B7-44DD-4FAA-A502-594CC5270728}"/>
              </a:ext>
            </a:extLst>
          </p:cNvPr>
          <p:cNvSpPr>
            <a:spLocks noGrp="1"/>
          </p:cNvSpPr>
          <p:nvPr>
            <p:ph idx="1"/>
          </p:nvPr>
        </p:nvSpPr>
        <p:spPr>
          <a:xfrm>
            <a:off x="838200" y="591671"/>
            <a:ext cx="10515600" cy="5585292"/>
          </a:xfrm>
        </p:spPr>
        <p:txBody>
          <a:bodyPr>
            <a:normAutofit/>
          </a:bodyPr>
          <a:lstStyle/>
          <a:p>
            <a:r>
              <a:rPr lang="en-US" dirty="0">
                <a:solidFill>
                  <a:srgbClr val="FF0000"/>
                </a:solidFill>
              </a:rPr>
              <a:t>Primitive</a:t>
            </a:r>
            <a:r>
              <a:rPr lang="en-US" dirty="0"/>
              <a:t>: Integer, float, </a:t>
            </a:r>
            <a:r>
              <a:rPr lang="en-US" dirty="0" err="1"/>
              <a:t>boolean</a:t>
            </a:r>
            <a:r>
              <a:rPr lang="en-US" dirty="0"/>
              <a:t>, None, and string are primitive data types because they represent a single value.</a:t>
            </a:r>
          </a:p>
          <a:p>
            <a:endParaRPr lang="en-US" dirty="0"/>
          </a:p>
          <a:p>
            <a:pPr algn="just"/>
            <a:r>
              <a:rPr lang="en-US" dirty="0">
                <a:solidFill>
                  <a:srgbClr val="FF0000"/>
                </a:solidFill>
              </a:rPr>
              <a:t>Containers</a:t>
            </a:r>
            <a:r>
              <a:rPr lang="en-US" dirty="0"/>
              <a:t>: Other data types like list, tuple, and dictionary are often called data structures or containers because they hold multiple pieces of data together. </a:t>
            </a:r>
          </a:p>
        </p:txBody>
      </p:sp>
      <p:sp>
        <p:nvSpPr>
          <p:cNvPr id="4" name="Slide Number Placeholder 3">
            <a:extLst>
              <a:ext uri="{FF2B5EF4-FFF2-40B4-BE49-F238E27FC236}">
                <a16:creationId xmlns:a16="http://schemas.microsoft.com/office/drawing/2014/main" id="{893F3782-1A0C-4AA3-8C6C-2EECB5C7446F}"/>
              </a:ext>
            </a:extLst>
          </p:cNvPr>
          <p:cNvSpPr>
            <a:spLocks noGrp="1"/>
          </p:cNvSpPr>
          <p:nvPr>
            <p:ph type="sldNum" sz="quarter" idx="12"/>
          </p:nvPr>
        </p:nvSpPr>
        <p:spPr/>
        <p:txBody>
          <a:bodyPr/>
          <a:lstStyle/>
          <a:p>
            <a:fld id="{6B97D948-30E8-43F7-AE10-F6E2D9F2BBB1}" type="slidenum">
              <a:rPr lang="en-US" smtClean="0"/>
              <a:t>57</a:t>
            </a:fld>
            <a:endParaRPr lang="en-US"/>
          </a:p>
        </p:txBody>
      </p:sp>
    </p:spTree>
    <p:extLst>
      <p:ext uri="{BB962C8B-B14F-4D97-AF65-F5344CB8AC3E}">
        <p14:creationId xmlns:p14="http://schemas.microsoft.com/office/powerpoint/2010/main" val="4111239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6B67D2-F826-4C95-98FF-BEFF53EBBE57}"/>
              </a:ext>
            </a:extLst>
          </p:cNvPr>
          <p:cNvSpPr>
            <a:spLocks noGrp="1"/>
          </p:cNvSpPr>
          <p:nvPr>
            <p:ph idx="1"/>
          </p:nvPr>
        </p:nvSpPr>
        <p:spPr>
          <a:xfrm>
            <a:off x="838200" y="672353"/>
            <a:ext cx="10515600" cy="5504610"/>
          </a:xfrm>
        </p:spPr>
        <p:txBody>
          <a:bodyPr>
            <a:normAutofit/>
          </a:bodyPr>
          <a:lstStyle/>
          <a:p>
            <a:pPr algn="just"/>
            <a:r>
              <a:rPr lang="en-US" dirty="0"/>
              <a:t>The data type of the object can be identified using the in-built python function type(). </a:t>
            </a:r>
          </a:p>
          <a:p>
            <a:pPr algn="just"/>
            <a:r>
              <a:rPr lang="en-US" dirty="0"/>
              <a:t>For example, see the following objects and their types:</a:t>
            </a:r>
          </a:p>
          <a:p>
            <a:r>
              <a:rPr lang="en-US" dirty="0">
                <a:solidFill>
                  <a:srgbClr val="FF0000"/>
                </a:solidFill>
              </a:rPr>
              <a:t>type(4)</a:t>
            </a:r>
          </a:p>
          <a:p>
            <a:endParaRPr lang="en-US" dirty="0">
              <a:solidFill>
                <a:srgbClr val="FF0000"/>
              </a:solidFill>
            </a:endParaRPr>
          </a:p>
          <a:p>
            <a:r>
              <a:rPr lang="en-US" dirty="0">
                <a:solidFill>
                  <a:srgbClr val="FF0000"/>
                </a:solidFill>
              </a:rPr>
              <a:t>type(4.4)</a:t>
            </a:r>
          </a:p>
          <a:p>
            <a:endParaRPr lang="en-US" dirty="0">
              <a:solidFill>
                <a:srgbClr val="FF0000"/>
              </a:solidFill>
            </a:endParaRPr>
          </a:p>
          <a:p>
            <a:r>
              <a:rPr lang="en-US" dirty="0">
                <a:solidFill>
                  <a:srgbClr val="FF0000"/>
                </a:solidFill>
              </a:rPr>
              <a:t>type('4')</a:t>
            </a:r>
          </a:p>
          <a:p>
            <a:endParaRPr lang="en-US" dirty="0">
              <a:solidFill>
                <a:srgbClr val="FF0000"/>
              </a:solidFill>
            </a:endParaRPr>
          </a:p>
          <a:p>
            <a:r>
              <a:rPr lang="en-US" dirty="0">
                <a:solidFill>
                  <a:srgbClr val="FF0000"/>
                </a:solidFill>
              </a:rPr>
              <a:t>type(True)</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A77E01C-A58A-4DA8-A260-9FBDEC485D1A}"/>
              </a:ext>
            </a:extLst>
          </p:cNvPr>
          <p:cNvSpPr>
            <a:spLocks noGrp="1"/>
          </p:cNvSpPr>
          <p:nvPr>
            <p:ph type="sldNum" sz="quarter" idx="12"/>
          </p:nvPr>
        </p:nvSpPr>
        <p:spPr/>
        <p:txBody>
          <a:bodyPr/>
          <a:lstStyle/>
          <a:p>
            <a:fld id="{6B97D948-30E8-43F7-AE10-F6E2D9F2BBB1}" type="slidenum">
              <a:rPr lang="en-US" smtClean="0"/>
              <a:t>58</a:t>
            </a:fld>
            <a:endParaRPr lang="en-US"/>
          </a:p>
        </p:txBody>
      </p:sp>
    </p:spTree>
    <p:extLst>
      <p:ext uri="{BB962C8B-B14F-4D97-AF65-F5344CB8AC3E}">
        <p14:creationId xmlns:p14="http://schemas.microsoft.com/office/powerpoint/2010/main" val="32280115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00D83-10D8-428C-8A8C-590D406E2790}"/>
              </a:ext>
            </a:extLst>
          </p:cNvPr>
          <p:cNvSpPr>
            <a:spLocks noGrp="1"/>
          </p:cNvSpPr>
          <p:nvPr>
            <p:ph type="title"/>
          </p:nvPr>
        </p:nvSpPr>
        <p:spPr>
          <a:xfrm>
            <a:off x="838200" y="365125"/>
            <a:ext cx="10515600" cy="656851"/>
          </a:xfrm>
        </p:spPr>
        <p:txBody>
          <a:bodyPr>
            <a:normAutofit fontScale="90000"/>
          </a:bodyPr>
          <a:lstStyle/>
          <a:p>
            <a:r>
              <a:rPr lang="en-US" dirty="0"/>
              <a:t>Built-in modules and functions</a:t>
            </a:r>
          </a:p>
        </p:txBody>
      </p:sp>
      <p:sp>
        <p:nvSpPr>
          <p:cNvPr id="3" name="Content Placeholder 2">
            <a:extLst>
              <a:ext uri="{FF2B5EF4-FFF2-40B4-BE49-F238E27FC236}">
                <a16:creationId xmlns:a16="http://schemas.microsoft.com/office/drawing/2014/main" id="{30D980E1-B4F7-4CA3-9F73-FE689F66224C}"/>
              </a:ext>
            </a:extLst>
          </p:cNvPr>
          <p:cNvSpPr>
            <a:spLocks noGrp="1"/>
          </p:cNvSpPr>
          <p:nvPr>
            <p:ph idx="1"/>
          </p:nvPr>
        </p:nvSpPr>
        <p:spPr>
          <a:xfrm>
            <a:off x="838200" y="1021976"/>
            <a:ext cx="10515600" cy="5154987"/>
          </a:xfrm>
        </p:spPr>
        <p:txBody>
          <a:bodyPr/>
          <a:lstStyle/>
          <a:p>
            <a:pPr algn="just"/>
            <a:r>
              <a:rPr lang="en-US" dirty="0"/>
              <a:t>Built-in functions in Python are a set of predefined functions that are available for use without the need to import any additional libraries or modules. </a:t>
            </a:r>
          </a:p>
          <a:p>
            <a:pPr algn="just"/>
            <a:endParaRPr lang="en-US" dirty="0"/>
          </a:p>
          <a:p>
            <a:pPr algn="just"/>
            <a:r>
              <a:rPr lang="en-US" dirty="0"/>
              <a:t>The Python Standard Library is very extensive. </a:t>
            </a:r>
          </a:p>
          <a:p>
            <a:pPr algn="just"/>
            <a:endParaRPr lang="en-US" dirty="0"/>
          </a:p>
          <a:p>
            <a:pPr algn="just"/>
            <a:r>
              <a:rPr lang="en-US" dirty="0"/>
              <a:t>Besides built-in functions, it also contains many Python scripts (with the . </a:t>
            </a:r>
            <a:r>
              <a:rPr lang="en-US" dirty="0" err="1"/>
              <a:t>py</a:t>
            </a:r>
            <a:r>
              <a:rPr lang="en-US" dirty="0"/>
              <a:t> extension) containing useful utilities and modules written in </a:t>
            </a:r>
          </a:p>
          <a:p>
            <a:pPr algn="just"/>
            <a:endParaRPr lang="en-US" dirty="0"/>
          </a:p>
          <a:p>
            <a:pPr algn="just"/>
            <a:r>
              <a:rPr lang="en-US" dirty="0"/>
              <a:t>Python that provide standardized solutions for many problems that occur in everyday programming.</a:t>
            </a:r>
          </a:p>
        </p:txBody>
      </p:sp>
      <p:sp>
        <p:nvSpPr>
          <p:cNvPr id="5" name="Slide Number Placeholder 4">
            <a:extLst>
              <a:ext uri="{FF2B5EF4-FFF2-40B4-BE49-F238E27FC236}">
                <a16:creationId xmlns:a16="http://schemas.microsoft.com/office/drawing/2014/main" id="{6C2AC6A2-D673-441D-86F7-E454EFAEAC06}"/>
              </a:ext>
            </a:extLst>
          </p:cNvPr>
          <p:cNvSpPr>
            <a:spLocks noGrp="1"/>
          </p:cNvSpPr>
          <p:nvPr>
            <p:ph type="sldNum" sz="quarter" idx="12"/>
          </p:nvPr>
        </p:nvSpPr>
        <p:spPr/>
        <p:txBody>
          <a:bodyPr/>
          <a:lstStyle/>
          <a:p>
            <a:fld id="{6B97D948-30E8-43F7-AE10-F6E2D9F2BBB1}" type="slidenum">
              <a:rPr lang="en-US" smtClean="0"/>
              <a:t>59</a:t>
            </a:fld>
            <a:endParaRPr lang="en-US"/>
          </a:p>
        </p:txBody>
      </p:sp>
    </p:spTree>
    <p:extLst>
      <p:ext uri="{BB962C8B-B14F-4D97-AF65-F5344CB8AC3E}">
        <p14:creationId xmlns:p14="http://schemas.microsoft.com/office/powerpoint/2010/main" val="32818525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1A156-23D4-484D-9059-22FF464DA97E}"/>
              </a:ext>
            </a:extLst>
          </p:cNvPr>
          <p:cNvSpPr>
            <a:spLocks noGrp="1"/>
          </p:cNvSpPr>
          <p:nvPr>
            <p:ph type="title"/>
          </p:nvPr>
        </p:nvSpPr>
        <p:spPr>
          <a:xfrm>
            <a:off x="838200" y="365126"/>
            <a:ext cx="10515600" cy="683746"/>
          </a:xfrm>
        </p:spPr>
        <p:txBody>
          <a:bodyPr>
            <a:normAutofit fontScale="90000"/>
          </a:bodyPr>
          <a:lstStyle/>
          <a:p>
            <a:r>
              <a:rPr lang="en-US" dirty="0"/>
              <a:t>Examples</a:t>
            </a:r>
          </a:p>
        </p:txBody>
      </p:sp>
      <p:sp>
        <p:nvSpPr>
          <p:cNvPr id="3" name="Content Placeholder 2">
            <a:extLst>
              <a:ext uri="{FF2B5EF4-FFF2-40B4-BE49-F238E27FC236}">
                <a16:creationId xmlns:a16="http://schemas.microsoft.com/office/drawing/2014/main" id="{CD658F9B-3425-470A-ADA5-0CE2EF6AE422}"/>
              </a:ext>
            </a:extLst>
          </p:cNvPr>
          <p:cNvSpPr>
            <a:spLocks noGrp="1"/>
          </p:cNvSpPr>
          <p:nvPr>
            <p:ph idx="1"/>
          </p:nvPr>
        </p:nvSpPr>
        <p:spPr>
          <a:xfrm>
            <a:off x="838200" y="1048872"/>
            <a:ext cx="10515600" cy="5128091"/>
          </a:xfrm>
        </p:spPr>
        <p:txBody>
          <a:bodyPr>
            <a:normAutofit/>
          </a:bodyPr>
          <a:lstStyle/>
          <a:p>
            <a:pPr algn="just"/>
            <a:r>
              <a:rPr lang="en-US" dirty="0">
                <a:solidFill>
                  <a:srgbClr val="FF0000"/>
                </a:solidFill>
              </a:rPr>
              <a:t>range()</a:t>
            </a:r>
            <a:r>
              <a:rPr lang="en-US" dirty="0"/>
              <a:t>: The range() function returns a sequence of evenly-spaced integer values. </a:t>
            </a:r>
          </a:p>
          <a:p>
            <a:pPr algn="just"/>
            <a:endParaRPr lang="en-US" dirty="0"/>
          </a:p>
          <a:p>
            <a:pPr algn="just"/>
            <a:r>
              <a:rPr lang="en-US" dirty="0"/>
              <a:t>It is commonly used in </a:t>
            </a:r>
            <a:r>
              <a:rPr lang="en-US" dirty="0">
                <a:solidFill>
                  <a:srgbClr val="FF0000"/>
                </a:solidFill>
              </a:rPr>
              <a:t>for loops </a:t>
            </a:r>
            <a:r>
              <a:rPr lang="en-US" dirty="0"/>
              <a:t>to define the sequence of elements over which the iterations are performed.</a:t>
            </a:r>
          </a:p>
          <a:p>
            <a:pPr algn="just"/>
            <a:endParaRPr lang="en-US" dirty="0"/>
          </a:p>
          <a:p>
            <a:pPr algn="just"/>
            <a:r>
              <a:rPr lang="en-US" dirty="0"/>
              <a:t>Below is an example where the range() function is used to create a sequence of whole numbers up to 10:</a:t>
            </a:r>
          </a:p>
          <a:p>
            <a:pPr algn="just"/>
            <a:endParaRPr lang="en-US" dirty="0"/>
          </a:p>
          <a:p>
            <a:pPr algn="just"/>
            <a:r>
              <a:rPr lang="en-US" dirty="0">
                <a:solidFill>
                  <a:srgbClr val="FF0000"/>
                </a:solidFill>
              </a:rPr>
              <a:t>print(list(range(1,10)))</a:t>
            </a:r>
          </a:p>
        </p:txBody>
      </p:sp>
      <p:sp>
        <p:nvSpPr>
          <p:cNvPr id="5" name="Slide Number Placeholder 4">
            <a:extLst>
              <a:ext uri="{FF2B5EF4-FFF2-40B4-BE49-F238E27FC236}">
                <a16:creationId xmlns:a16="http://schemas.microsoft.com/office/drawing/2014/main" id="{42C6E184-6DB4-4D66-A74F-5B8D02FD3690}"/>
              </a:ext>
            </a:extLst>
          </p:cNvPr>
          <p:cNvSpPr>
            <a:spLocks noGrp="1"/>
          </p:cNvSpPr>
          <p:nvPr>
            <p:ph type="sldNum" sz="quarter" idx="12"/>
          </p:nvPr>
        </p:nvSpPr>
        <p:spPr/>
        <p:txBody>
          <a:bodyPr/>
          <a:lstStyle/>
          <a:p>
            <a:fld id="{6B97D948-30E8-43F7-AE10-F6E2D9F2BBB1}" type="slidenum">
              <a:rPr lang="en-US" smtClean="0"/>
              <a:t>60</a:t>
            </a:fld>
            <a:endParaRPr lang="en-US"/>
          </a:p>
        </p:txBody>
      </p:sp>
    </p:spTree>
    <p:extLst>
      <p:ext uri="{BB962C8B-B14F-4D97-AF65-F5344CB8AC3E}">
        <p14:creationId xmlns:p14="http://schemas.microsoft.com/office/powerpoint/2010/main" val="37401825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B0DC4-C365-4B06-B4F9-79622CA6953D}"/>
              </a:ext>
            </a:extLst>
          </p:cNvPr>
          <p:cNvSpPr>
            <a:spLocks noGrp="1"/>
          </p:cNvSpPr>
          <p:nvPr>
            <p:ph idx="1"/>
          </p:nvPr>
        </p:nvSpPr>
        <p:spPr>
          <a:xfrm>
            <a:off x="838200" y="497541"/>
            <a:ext cx="10515600" cy="5679422"/>
          </a:xfrm>
        </p:spPr>
        <p:txBody>
          <a:bodyPr>
            <a:normAutofit/>
          </a:bodyPr>
          <a:lstStyle/>
          <a:p>
            <a:pPr algn="just"/>
            <a:r>
              <a:rPr lang="en-US" dirty="0"/>
              <a:t>The advantage of the </a:t>
            </a:r>
            <a:r>
              <a:rPr lang="en-US" dirty="0">
                <a:solidFill>
                  <a:srgbClr val="FF0000"/>
                </a:solidFill>
              </a:rPr>
              <a:t>range</a:t>
            </a:r>
            <a:r>
              <a:rPr lang="en-US" dirty="0"/>
              <a:t> type over a regular list or tuple is that a range object will always take the same (small) amount of memory.</a:t>
            </a:r>
          </a:p>
          <a:p>
            <a:pPr algn="just"/>
            <a:endParaRPr lang="en-US" dirty="0"/>
          </a:p>
          <a:p>
            <a:pPr algn="just"/>
            <a:r>
              <a:rPr lang="en-US" dirty="0"/>
              <a:t>No matter the size of the range it represents (as it only stores the start, stop and step values, calculating individual items and subranges as needed).</a:t>
            </a:r>
          </a:p>
          <a:p>
            <a:pPr algn="just"/>
            <a:r>
              <a:rPr lang="en-US" dirty="0">
                <a:solidFill>
                  <a:srgbClr val="FF0000"/>
                </a:solidFill>
              </a:rPr>
              <a:t>Date time</a:t>
            </a:r>
            <a:r>
              <a:rPr lang="en-US" dirty="0"/>
              <a:t>: Python as a built-in </a:t>
            </a:r>
            <a:r>
              <a:rPr lang="en-US" dirty="0">
                <a:solidFill>
                  <a:srgbClr val="FF0000"/>
                </a:solidFill>
              </a:rPr>
              <a:t>datetime</a:t>
            </a:r>
            <a:r>
              <a:rPr lang="en-US" dirty="0"/>
              <a:t> module for handling date/time objects:</a:t>
            </a:r>
          </a:p>
          <a:p>
            <a:pPr algn="just"/>
            <a:r>
              <a:rPr lang="en-US" dirty="0"/>
              <a:t>import datetime as dt</a:t>
            </a:r>
          </a:p>
          <a:p>
            <a:pPr algn="just"/>
            <a:r>
              <a:rPr lang="en-US" dirty="0" err="1">
                <a:solidFill>
                  <a:srgbClr val="FF0000"/>
                </a:solidFill>
              </a:rPr>
              <a:t>dt_object</a:t>
            </a:r>
            <a:r>
              <a:rPr lang="en-US" dirty="0">
                <a:solidFill>
                  <a:srgbClr val="FF0000"/>
                </a:solidFill>
              </a:rPr>
              <a:t> = </a:t>
            </a:r>
            <a:r>
              <a:rPr lang="en-US" dirty="0" err="1">
                <a:solidFill>
                  <a:srgbClr val="FF0000"/>
                </a:solidFill>
              </a:rPr>
              <a:t>dt.datetime.now</a:t>
            </a:r>
            <a:r>
              <a:rPr lang="en-US" dirty="0">
                <a:solidFill>
                  <a:srgbClr val="FF0000"/>
                </a:solidFill>
              </a:rPr>
              <a:t>()</a:t>
            </a:r>
          </a:p>
          <a:p>
            <a:pPr algn="just"/>
            <a:endParaRPr lang="en-US" dirty="0">
              <a:solidFill>
                <a:srgbClr val="FF0000"/>
              </a:solidFill>
            </a:endParaRPr>
          </a:p>
          <a:p>
            <a:pPr algn="just"/>
            <a:r>
              <a:rPr lang="en-US" dirty="0">
                <a:solidFill>
                  <a:srgbClr val="FF0000"/>
                </a:solidFill>
              </a:rPr>
              <a:t> </a:t>
            </a:r>
            <a:r>
              <a:rPr lang="en-US" dirty="0" err="1">
                <a:solidFill>
                  <a:srgbClr val="FF0000"/>
                </a:solidFill>
              </a:rPr>
              <a:t>dt_object.day</a:t>
            </a:r>
            <a:endParaRPr lang="en-US" dirty="0">
              <a:solidFill>
                <a:srgbClr val="FF0000"/>
              </a:solidFill>
            </a:endParaRPr>
          </a:p>
          <a:p>
            <a:pPr marL="0" indent="0" algn="just">
              <a:buNone/>
            </a:pPr>
            <a:endParaRPr lang="en-US" dirty="0">
              <a:solidFill>
                <a:srgbClr val="FF0000"/>
              </a:solidFill>
            </a:endParaRPr>
          </a:p>
          <a:p>
            <a:pPr algn="just"/>
            <a:endParaRPr lang="en-US" dirty="0"/>
          </a:p>
        </p:txBody>
      </p:sp>
      <p:sp>
        <p:nvSpPr>
          <p:cNvPr id="4" name="Slide Number Placeholder 3">
            <a:extLst>
              <a:ext uri="{FF2B5EF4-FFF2-40B4-BE49-F238E27FC236}">
                <a16:creationId xmlns:a16="http://schemas.microsoft.com/office/drawing/2014/main" id="{17A60177-F7CA-435E-8B54-C5197301B44E}"/>
              </a:ext>
            </a:extLst>
          </p:cNvPr>
          <p:cNvSpPr>
            <a:spLocks noGrp="1"/>
          </p:cNvSpPr>
          <p:nvPr>
            <p:ph type="sldNum" sz="quarter" idx="12"/>
          </p:nvPr>
        </p:nvSpPr>
        <p:spPr/>
        <p:txBody>
          <a:bodyPr/>
          <a:lstStyle/>
          <a:p>
            <a:fld id="{6B97D948-30E8-43F7-AE10-F6E2D9F2BBB1}" type="slidenum">
              <a:rPr lang="en-US" smtClean="0"/>
              <a:t>61</a:t>
            </a:fld>
            <a:endParaRPr lang="en-US"/>
          </a:p>
        </p:txBody>
      </p:sp>
    </p:spTree>
    <p:extLst>
      <p:ext uri="{BB962C8B-B14F-4D97-AF65-F5344CB8AC3E}">
        <p14:creationId xmlns:p14="http://schemas.microsoft.com/office/powerpoint/2010/main" val="37778912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8626F6-FFB0-4C02-974C-CE8E622F8356}"/>
              </a:ext>
            </a:extLst>
          </p:cNvPr>
          <p:cNvSpPr>
            <a:spLocks noGrp="1"/>
          </p:cNvSpPr>
          <p:nvPr>
            <p:ph idx="1"/>
          </p:nvPr>
        </p:nvSpPr>
        <p:spPr>
          <a:xfrm>
            <a:off x="730623" y="645459"/>
            <a:ext cx="10515600" cy="5665975"/>
          </a:xfrm>
        </p:spPr>
        <p:txBody>
          <a:bodyPr/>
          <a:lstStyle/>
          <a:p>
            <a:r>
              <a:rPr lang="en-US" dirty="0"/>
              <a:t> </a:t>
            </a:r>
            <a:r>
              <a:rPr lang="en-US" dirty="0" err="1"/>
              <a:t>dt_object.strftime</a:t>
            </a:r>
            <a:r>
              <a:rPr lang="en-US" dirty="0"/>
              <a:t>('%m/%d/%Y’)</a:t>
            </a:r>
          </a:p>
          <a:p>
            <a:endParaRPr lang="en-US" dirty="0"/>
          </a:p>
          <a:p>
            <a:r>
              <a:rPr lang="pt-BR" dirty="0"/>
              <a:t>dt_object.strftime('%m/%d/%y %H:%M’)</a:t>
            </a:r>
          </a:p>
          <a:p>
            <a:endParaRPr lang="pt-BR" dirty="0"/>
          </a:p>
          <a:p>
            <a:r>
              <a:rPr lang="en-US" dirty="0" err="1"/>
              <a:t>dt_object.strftime</a:t>
            </a:r>
            <a:r>
              <a:rPr lang="en-US" dirty="0"/>
              <a:t>('%h-%d-%Y')</a:t>
            </a:r>
          </a:p>
          <a:p>
            <a:endParaRPr lang="pt-BR" dirty="0"/>
          </a:p>
          <a:p>
            <a:endParaRPr lang="pt-BR"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29D44E5-9FFD-4579-B077-BD38B577BAF5}"/>
              </a:ext>
            </a:extLst>
          </p:cNvPr>
          <p:cNvSpPr>
            <a:spLocks noGrp="1"/>
          </p:cNvSpPr>
          <p:nvPr>
            <p:ph type="sldNum" sz="quarter" idx="12"/>
          </p:nvPr>
        </p:nvSpPr>
        <p:spPr/>
        <p:txBody>
          <a:bodyPr/>
          <a:lstStyle/>
          <a:p>
            <a:fld id="{6B97D948-30E8-43F7-AE10-F6E2D9F2BBB1}" type="slidenum">
              <a:rPr lang="en-US" smtClean="0"/>
              <a:t>62</a:t>
            </a:fld>
            <a:endParaRPr lang="en-US"/>
          </a:p>
        </p:txBody>
      </p:sp>
    </p:spTree>
    <p:extLst>
      <p:ext uri="{BB962C8B-B14F-4D97-AF65-F5344CB8AC3E}">
        <p14:creationId xmlns:p14="http://schemas.microsoft.com/office/powerpoint/2010/main" val="33062045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8B3F-66DD-42A4-A00C-44077FB65196}"/>
              </a:ext>
            </a:extLst>
          </p:cNvPr>
          <p:cNvSpPr>
            <a:spLocks noGrp="1"/>
          </p:cNvSpPr>
          <p:nvPr>
            <p:ph type="title"/>
          </p:nvPr>
        </p:nvSpPr>
        <p:spPr>
          <a:xfrm>
            <a:off x="838200" y="365126"/>
            <a:ext cx="10515600" cy="939240"/>
          </a:xfrm>
        </p:spPr>
        <p:txBody>
          <a:bodyPr/>
          <a:lstStyle/>
          <a:p>
            <a:r>
              <a:rPr lang="en-US" dirty="0"/>
              <a:t>Importing libraries</a:t>
            </a:r>
          </a:p>
        </p:txBody>
      </p:sp>
      <p:sp>
        <p:nvSpPr>
          <p:cNvPr id="3" name="Content Placeholder 2">
            <a:extLst>
              <a:ext uri="{FF2B5EF4-FFF2-40B4-BE49-F238E27FC236}">
                <a16:creationId xmlns:a16="http://schemas.microsoft.com/office/drawing/2014/main" id="{ABD6941C-89E2-40BA-B9F5-0E434E073EB9}"/>
              </a:ext>
            </a:extLst>
          </p:cNvPr>
          <p:cNvSpPr>
            <a:spLocks noGrp="1"/>
          </p:cNvSpPr>
          <p:nvPr>
            <p:ph idx="1"/>
          </p:nvPr>
        </p:nvSpPr>
        <p:spPr>
          <a:xfrm>
            <a:off x="838200" y="1304366"/>
            <a:ext cx="10515600" cy="4872597"/>
          </a:xfrm>
        </p:spPr>
        <p:txBody>
          <a:bodyPr/>
          <a:lstStyle/>
          <a:p>
            <a:pPr algn="just"/>
            <a:r>
              <a:rPr lang="en-US" dirty="0"/>
              <a:t>There are several built-in functions in python like print(), abs(), max(), sum() etc., which do not require importing any library. </a:t>
            </a:r>
          </a:p>
          <a:p>
            <a:pPr algn="just"/>
            <a:endParaRPr lang="en-US" dirty="0"/>
          </a:p>
          <a:p>
            <a:pPr algn="just"/>
            <a:r>
              <a:rPr lang="en-US" dirty="0"/>
              <a:t>However, these functions will typically be insufficient for a analyzing data. </a:t>
            </a:r>
          </a:p>
          <a:p>
            <a:pPr algn="just"/>
            <a:endParaRPr lang="en-US" dirty="0"/>
          </a:p>
          <a:p>
            <a:pPr algn="just"/>
            <a:r>
              <a:rPr lang="en-US" dirty="0"/>
              <a:t>Some of the popular libraries are the core of everything in python.</a:t>
            </a:r>
          </a:p>
        </p:txBody>
      </p:sp>
      <p:sp>
        <p:nvSpPr>
          <p:cNvPr id="5" name="Slide Number Placeholder 4">
            <a:extLst>
              <a:ext uri="{FF2B5EF4-FFF2-40B4-BE49-F238E27FC236}">
                <a16:creationId xmlns:a16="http://schemas.microsoft.com/office/drawing/2014/main" id="{67A6DF4F-4BE3-41D7-917C-806E5B39BF78}"/>
              </a:ext>
            </a:extLst>
          </p:cNvPr>
          <p:cNvSpPr>
            <a:spLocks noGrp="1"/>
          </p:cNvSpPr>
          <p:nvPr>
            <p:ph type="sldNum" sz="quarter" idx="12"/>
          </p:nvPr>
        </p:nvSpPr>
        <p:spPr/>
        <p:txBody>
          <a:bodyPr/>
          <a:lstStyle/>
          <a:p>
            <a:fld id="{6B97D948-30E8-43F7-AE10-F6E2D9F2BBB1}" type="slidenum">
              <a:rPr lang="en-US" smtClean="0"/>
              <a:t>63</a:t>
            </a:fld>
            <a:endParaRPr lang="en-US"/>
          </a:p>
        </p:txBody>
      </p:sp>
    </p:spTree>
    <p:extLst>
      <p:ext uri="{BB962C8B-B14F-4D97-AF65-F5344CB8AC3E}">
        <p14:creationId xmlns:p14="http://schemas.microsoft.com/office/powerpoint/2010/main" val="12758299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1DC63F-74CB-44AC-89D9-568F0F20DBCF}"/>
              </a:ext>
            </a:extLst>
          </p:cNvPr>
          <p:cNvSpPr>
            <a:spLocks noGrp="1"/>
          </p:cNvSpPr>
          <p:nvPr>
            <p:ph idx="1"/>
          </p:nvPr>
        </p:nvSpPr>
        <p:spPr>
          <a:xfrm>
            <a:off x="838200" y="309282"/>
            <a:ext cx="10515600" cy="5867681"/>
          </a:xfrm>
        </p:spPr>
        <p:txBody>
          <a:bodyPr>
            <a:normAutofit/>
          </a:bodyPr>
          <a:lstStyle/>
          <a:p>
            <a:pPr>
              <a:buFont typeface="+mj-lt"/>
              <a:buAutoNum type="arabicPeriod"/>
            </a:pPr>
            <a:r>
              <a:rPr lang="en-US" b="1" dirty="0"/>
              <a:t>NumPy</a:t>
            </a:r>
            <a:r>
              <a:rPr lang="en-US" dirty="0"/>
              <a:t>: NumPy is a fundamental library for numerical computing in Python. It provides support for arrays, matrices, and mathematical functions, making it essential for scientific and data analysis tasks.. It is mostly used for performing numerical operations and efficiently storing numerical data.</a:t>
            </a:r>
          </a:p>
          <a:p>
            <a:pPr>
              <a:buFont typeface="+mj-lt"/>
              <a:buAutoNum type="arabicPeriod"/>
            </a:pPr>
            <a:r>
              <a:rPr lang="en-US" b="1" dirty="0"/>
              <a:t>Pandas</a:t>
            </a:r>
            <a:r>
              <a:rPr lang="en-US" dirty="0"/>
              <a:t>: Pandas is a powerful data manipulation and analysis library. It offers data structures like </a:t>
            </a:r>
            <a:r>
              <a:rPr lang="en-US" dirty="0" err="1"/>
              <a:t>DataFrames</a:t>
            </a:r>
            <a:r>
              <a:rPr lang="en-US" dirty="0"/>
              <a:t> and Series, which facilitate data reading, cleaning, transformation, and analysis, making it indispensable in data science projects.</a:t>
            </a:r>
          </a:p>
          <a:p>
            <a:endParaRPr lang="en-US" dirty="0"/>
          </a:p>
        </p:txBody>
      </p:sp>
      <p:sp>
        <p:nvSpPr>
          <p:cNvPr id="4" name="Slide Number Placeholder 3">
            <a:extLst>
              <a:ext uri="{FF2B5EF4-FFF2-40B4-BE49-F238E27FC236}">
                <a16:creationId xmlns:a16="http://schemas.microsoft.com/office/drawing/2014/main" id="{2058BD89-F6F0-486B-8990-9E50946658F6}"/>
              </a:ext>
            </a:extLst>
          </p:cNvPr>
          <p:cNvSpPr>
            <a:spLocks noGrp="1"/>
          </p:cNvSpPr>
          <p:nvPr>
            <p:ph type="sldNum" sz="quarter" idx="12"/>
          </p:nvPr>
        </p:nvSpPr>
        <p:spPr/>
        <p:txBody>
          <a:bodyPr/>
          <a:lstStyle/>
          <a:p>
            <a:fld id="{6B97D948-30E8-43F7-AE10-F6E2D9F2BBB1}" type="slidenum">
              <a:rPr lang="en-US" smtClean="0"/>
              <a:t>64</a:t>
            </a:fld>
            <a:endParaRPr lang="en-US"/>
          </a:p>
        </p:txBody>
      </p:sp>
    </p:spTree>
    <p:extLst>
      <p:ext uri="{BB962C8B-B14F-4D97-AF65-F5344CB8AC3E}">
        <p14:creationId xmlns:p14="http://schemas.microsoft.com/office/powerpoint/2010/main" val="26213412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547628-78FE-4058-ADFA-4B5070DEF8D9}"/>
              </a:ext>
            </a:extLst>
          </p:cNvPr>
          <p:cNvSpPr>
            <a:spLocks noGrp="1"/>
          </p:cNvSpPr>
          <p:nvPr>
            <p:ph idx="1"/>
          </p:nvPr>
        </p:nvSpPr>
        <p:spPr>
          <a:xfrm>
            <a:off x="838200" y="524435"/>
            <a:ext cx="10515600" cy="5652528"/>
          </a:xfrm>
        </p:spPr>
        <p:txBody>
          <a:bodyPr>
            <a:normAutofit/>
          </a:bodyPr>
          <a:lstStyle/>
          <a:p>
            <a:pPr algn="just"/>
            <a:r>
              <a:rPr lang="en-US" b="1" dirty="0"/>
              <a:t>Matplotlib, Seaborn</a:t>
            </a:r>
            <a:r>
              <a:rPr lang="en-US" dirty="0"/>
              <a:t>: Matplotlib is a comprehensive library for creating static, animated, or interactive plots and visualizations. </a:t>
            </a:r>
          </a:p>
          <a:p>
            <a:pPr algn="just"/>
            <a:r>
              <a:rPr lang="en-US" dirty="0"/>
              <a:t>It is commonly used for data visualization and exploration in data science. </a:t>
            </a:r>
          </a:p>
          <a:p>
            <a:pPr algn="just"/>
            <a:r>
              <a:rPr lang="en-US" dirty="0"/>
              <a:t>Seaborn is a Python data visualization library based on matplotlib. </a:t>
            </a:r>
          </a:p>
          <a:p>
            <a:pPr algn="just"/>
            <a:r>
              <a:rPr lang="en-US" dirty="0"/>
              <a:t>It provides a high-level interface for drawing attractive and informative statistical graphics.</a:t>
            </a:r>
          </a:p>
          <a:p>
            <a:pPr algn="just"/>
            <a:endParaRPr lang="en-US" b="1" dirty="0"/>
          </a:p>
          <a:p>
            <a:pPr algn="just"/>
            <a:endParaRPr lang="en-US" b="1" dirty="0"/>
          </a:p>
          <a:p>
            <a:pPr algn="just"/>
            <a:r>
              <a:rPr lang="en-US" b="1" dirty="0"/>
              <a:t>SciPy</a:t>
            </a:r>
            <a:r>
              <a:rPr lang="en-US" dirty="0"/>
              <a:t>: SciPy is used for performing scientific computing such as solving differential equations, optimization, statistical tests, etc.</a:t>
            </a:r>
          </a:p>
          <a:p>
            <a:pPr algn="just"/>
            <a:endParaRPr lang="en-US" dirty="0"/>
          </a:p>
        </p:txBody>
      </p:sp>
      <p:sp>
        <p:nvSpPr>
          <p:cNvPr id="4" name="Slide Number Placeholder 3">
            <a:extLst>
              <a:ext uri="{FF2B5EF4-FFF2-40B4-BE49-F238E27FC236}">
                <a16:creationId xmlns:a16="http://schemas.microsoft.com/office/drawing/2014/main" id="{29A76393-3504-4B58-BDDC-C23FD5C6F9CB}"/>
              </a:ext>
            </a:extLst>
          </p:cNvPr>
          <p:cNvSpPr>
            <a:spLocks noGrp="1"/>
          </p:cNvSpPr>
          <p:nvPr>
            <p:ph type="sldNum" sz="quarter" idx="12"/>
          </p:nvPr>
        </p:nvSpPr>
        <p:spPr/>
        <p:txBody>
          <a:bodyPr/>
          <a:lstStyle/>
          <a:p>
            <a:fld id="{6B97D948-30E8-43F7-AE10-F6E2D9F2BBB1}" type="slidenum">
              <a:rPr lang="en-US" smtClean="0"/>
              <a:t>65</a:t>
            </a:fld>
            <a:endParaRPr lang="en-US"/>
          </a:p>
        </p:txBody>
      </p:sp>
    </p:spTree>
    <p:extLst>
      <p:ext uri="{BB962C8B-B14F-4D97-AF65-F5344CB8AC3E}">
        <p14:creationId xmlns:p14="http://schemas.microsoft.com/office/powerpoint/2010/main" val="17581157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38598-1A63-4375-9051-C40D545CE6B3}"/>
              </a:ext>
            </a:extLst>
          </p:cNvPr>
          <p:cNvSpPr>
            <a:spLocks noGrp="1"/>
          </p:cNvSpPr>
          <p:nvPr>
            <p:ph idx="1"/>
          </p:nvPr>
        </p:nvSpPr>
        <p:spPr>
          <a:xfrm>
            <a:off x="838200" y="672353"/>
            <a:ext cx="10515600" cy="5504610"/>
          </a:xfrm>
        </p:spPr>
        <p:txBody>
          <a:bodyPr/>
          <a:lstStyle/>
          <a:p>
            <a:pPr algn="just"/>
            <a:r>
              <a:rPr lang="en-US" b="1" dirty="0"/>
              <a:t>Scikit-learn</a:t>
            </a:r>
            <a:r>
              <a:rPr lang="en-US" dirty="0"/>
              <a:t>: Scikit-learn is a machine learning library that provides a wide range of tools for data pre-processing, classification, regression, clustering, dimensionality reduction, and more. </a:t>
            </a:r>
          </a:p>
          <a:p>
            <a:pPr algn="just"/>
            <a:r>
              <a:rPr lang="en-US" dirty="0"/>
              <a:t>It simplifies the implementation of machine learning algorithms and model evaluation.</a:t>
            </a:r>
          </a:p>
          <a:p>
            <a:pPr algn="just"/>
            <a:endParaRPr lang="en-US" b="1" dirty="0"/>
          </a:p>
          <a:p>
            <a:pPr algn="just"/>
            <a:endParaRPr lang="en-US" b="1" dirty="0"/>
          </a:p>
          <a:p>
            <a:pPr algn="just"/>
            <a:r>
              <a:rPr lang="en-US" b="1" dirty="0" err="1"/>
              <a:t>Statsmodels</a:t>
            </a:r>
            <a:r>
              <a:rPr lang="en-US" dirty="0"/>
              <a:t>: </a:t>
            </a:r>
            <a:r>
              <a:rPr lang="en-US" dirty="0" err="1"/>
              <a:t>Statsmodels</a:t>
            </a:r>
            <a:r>
              <a:rPr lang="en-US" dirty="0"/>
              <a:t> is used for developing statistical models with a focus on inference (in contrast to focus on prediction as in scikit-learn).</a:t>
            </a:r>
          </a:p>
          <a:p>
            <a:pPr algn="just"/>
            <a:endParaRPr lang="en-US" dirty="0"/>
          </a:p>
        </p:txBody>
      </p:sp>
      <p:sp>
        <p:nvSpPr>
          <p:cNvPr id="4" name="Slide Number Placeholder 3">
            <a:extLst>
              <a:ext uri="{FF2B5EF4-FFF2-40B4-BE49-F238E27FC236}">
                <a16:creationId xmlns:a16="http://schemas.microsoft.com/office/drawing/2014/main" id="{19127574-FEE4-4497-9825-5071ADEA1052}"/>
              </a:ext>
            </a:extLst>
          </p:cNvPr>
          <p:cNvSpPr>
            <a:spLocks noGrp="1"/>
          </p:cNvSpPr>
          <p:nvPr>
            <p:ph type="sldNum" sz="quarter" idx="12"/>
          </p:nvPr>
        </p:nvSpPr>
        <p:spPr/>
        <p:txBody>
          <a:bodyPr/>
          <a:lstStyle/>
          <a:p>
            <a:fld id="{6B97D948-30E8-43F7-AE10-F6E2D9F2BBB1}" type="slidenum">
              <a:rPr lang="en-US" smtClean="0"/>
              <a:t>66</a:t>
            </a:fld>
            <a:endParaRPr lang="en-US"/>
          </a:p>
        </p:txBody>
      </p:sp>
    </p:spTree>
    <p:extLst>
      <p:ext uri="{BB962C8B-B14F-4D97-AF65-F5344CB8AC3E}">
        <p14:creationId xmlns:p14="http://schemas.microsoft.com/office/powerpoint/2010/main" val="18352397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A61F6-1060-4920-95D3-BDAF8C443AA9}"/>
              </a:ext>
            </a:extLst>
          </p:cNvPr>
          <p:cNvSpPr>
            <a:spLocks noGrp="1"/>
          </p:cNvSpPr>
          <p:nvPr>
            <p:ph type="title"/>
          </p:nvPr>
        </p:nvSpPr>
        <p:spPr>
          <a:xfrm>
            <a:off x="838200" y="365125"/>
            <a:ext cx="10515600" cy="724087"/>
          </a:xfrm>
        </p:spPr>
        <p:txBody>
          <a:bodyPr/>
          <a:lstStyle/>
          <a:p>
            <a:r>
              <a:rPr lang="en-US" dirty="0"/>
              <a:t>Package Use</a:t>
            </a:r>
          </a:p>
        </p:txBody>
      </p:sp>
      <p:sp>
        <p:nvSpPr>
          <p:cNvPr id="3" name="Content Placeholder 2">
            <a:extLst>
              <a:ext uri="{FF2B5EF4-FFF2-40B4-BE49-F238E27FC236}">
                <a16:creationId xmlns:a16="http://schemas.microsoft.com/office/drawing/2014/main" id="{3F4D0B00-43A1-4733-9A0C-0C98BE30E235}"/>
              </a:ext>
            </a:extLst>
          </p:cNvPr>
          <p:cNvSpPr>
            <a:spLocks noGrp="1"/>
          </p:cNvSpPr>
          <p:nvPr>
            <p:ph idx="1"/>
          </p:nvPr>
        </p:nvSpPr>
        <p:spPr>
          <a:xfrm>
            <a:off x="838200" y="1089212"/>
            <a:ext cx="10515600" cy="5087751"/>
          </a:xfrm>
        </p:spPr>
        <p:txBody>
          <a:bodyPr>
            <a:normAutofit/>
          </a:bodyPr>
          <a:lstStyle/>
          <a:p>
            <a:pPr algn="just"/>
            <a:r>
              <a:rPr lang="en-US" dirty="0"/>
              <a:t>To use libraries like NumPy, pandas, Matplotlib, and scikit-learn in Python, you typically need to follow these steps:</a:t>
            </a:r>
          </a:p>
          <a:p>
            <a:pPr algn="just"/>
            <a:endParaRPr lang="en-US" dirty="0"/>
          </a:p>
          <a:p>
            <a:pPr algn="just"/>
            <a:r>
              <a:rPr lang="en-US" dirty="0"/>
              <a:t>    Install the libraries (Anaconda already does this)</a:t>
            </a:r>
          </a:p>
          <a:p>
            <a:pPr algn="just"/>
            <a:endParaRPr lang="en-US" dirty="0"/>
          </a:p>
          <a:p>
            <a:pPr algn="just"/>
            <a:r>
              <a:rPr lang="en-US" dirty="0"/>
              <a:t>    Import the libraries in the python script or </a:t>
            </a:r>
            <a:r>
              <a:rPr lang="en-US" dirty="0" err="1"/>
              <a:t>jupyter</a:t>
            </a:r>
            <a:r>
              <a:rPr lang="en-US" dirty="0"/>
              <a:t> notebook</a:t>
            </a:r>
          </a:p>
          <a:p>
            <a:pPr algn="just"/>
            <a:endParaRPr lang="en-US" dirty="0"/>
          </a:p>
          <a:p>
            <a:pPr algn="just"/>
            <a:r>
              <a:rPr lang="en-US" dirty="0"/>
              <a:t>    Use the Library Functions and Classes: After importing the libraries, you can use their functions, classes, and methods in your code. </a:t>
            </a:r>
          </a:p>
          <a:p>
            <a:pPr algn="just"/>
            <a:endParaRPr lang="en-US" dirty="0"/>
          </a:p>
        </p:txBody>
      </p:sp>
      <p:sp>
        <p:nvSpPr>
          <p:cNvPr id="5" name="Slide Number Placeholder 4">
            <a:extLst>
              <a:ext uri="{FF2B5EF4-FFF2-40B4-BE49-F238E27FC236}">
                <a16:creationId xmlns:a16="http://schemas.microsoft.com/office/drawing/2014/main" id="{257C6E1B-E362-40BF-A16E-E7B5D2FFF3A2}"/>
              </a:ext>
            </a:extLst>
          </p:cNvPr>
          <p:cNvSpPr>
            <a:spLocks noGrp="1"/>
          </p:cNvSpPr>
          <p:nvPr>
            <p:ph type="sldNum" sz="quarter" idx="12"/>
          </p:nvPr>
        </p:nvSpPr>
        <p:spPr/>
        <p:txBody>
          <a:bodyPr/>
          <a:lstStyle/>
          <a:p>
            <a:fld id="{6B97D948-30E8-43F7-AE10-F6E2D9F2BBB1}" type="slidenum">
              <a:rPr lang="en-US" smtClean="0"/>
              <a:t>67</a:t>
            </a:fld>
            <a:endParaRPr lang="en-US"/>
          </a:p>
        </p:txBody>
      </p:sp>
    </p:spTree>
    <p:extLst>
      <p:ext uri="{BB962C8B-B14F-4D97-AF65-F5344CB8AC3E}">
        <p14:creationId xmlns:p14="http://schemas.microsoft.com/office/powerpoint/2010/main" val="14990897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5845DE-4B31-4EFA-9889-70F0116B30EC}"/>
              </a:ext>
            </a:extLst>
          </p:cNvPr>
          <p:cNvSpPr>
            <a:spLocks noGrp="1"/>
          </p:cNvSpPr>
          <p:nvPr>
            <p:ph idx="1"/>
          </p:nvPr>
        </p:nvSpPr>
        <p:spPr>
          <a:xfrm>
            <a:off x="838200" y="497541"/>
            <a:ext cx="10515600" cy="5679422"/>
          </a:xfrm>
        </p:spPr>
        <p:txBody>
          <a:bodyPr/>
          <a:lstStyle/>
          <a:p>
            <a:pPr algn="just"/>
            <a:r>
              <a:rPr lang="en-US" dirty="0"/>
              <a:t>For instance, you can:</a:t>
            </a:r>
          </a:p>
          <a:p>
            <a:pPr algn="just"/>
            <a:r>
              <a:rPr lang="en-US" dirty="0">
                <a:solidFill>
                  <a:srgbClr val="FF0000"/>
                </a:solidFill>
              </a:rPr>
              <a:t>create NumPy arrays</a:t>
            </a:r>
            <a:r>
              <a:rPr lang="en-US" dirty="0"/>
              <a:t>, </a:t>
            </a:r>
          </a:p>
          <a:p>
            <a:pPr algn="just"/>
            <a:endParaRPr lang="en-US" dirty="0">
              <a:solidFill>
                <a:srgbClr val="FF0000"/>
              </a:solidFill>
            </a:endParaRPr>
          </a:p>
          <a:p>
            <a:pPr algn="just"/>
            <a:r>
              <a:rPr lang="en-US" dirty="0">
                <a:solidFill>
                  <a:srgbClr val="FF0000"/>
                </a:solidFill>
              </a:rPr>
              <a:t>manipulate data with pandas</a:t>
            </a:r>
            <a:r>
              <a:rPr lang="en-US" dirty="0"/>
              <a:t>, </a:t>
            </a:r>
          </a:p>
          <a:p>
            <a:pPr algn="just"/>
            <a:endParaRPr lang="en-US" dirty="0">
              <a:solidFill>
                <a:srgbClr val="FF0000"/>
              </a:solidFill>
            </a:endParaRPr>
          </a:p>
          <a:p>
            <a:pPr algn="just"/>
            <a:r>
              <a:rPr lang="en-US" dirty="0">
                <a:solidFill>
                  <a:srgbClr val="FF0000"/>
                </a:solidFill>
              </a:rPr>
              <a:t>create plots with Matplotlib</a:t>
            </a:r>
            <a:r>
              <a:rPr lang="en-US" dirty="0"/>
              <a:t>, or </a:t>
            </a:r>
          </a:p>
          <a:p>
            <a:pPr algn="just"/>
            <a:endParaRPr lang="en-US" dirty="0"/>
          </a:p>
          <a:p>
            <a:pPr algn="just"/>
            <a:r>
              <a:rPr lang="en-US" dirty="0"/>
              <a:t>train machine learning models with </a:t>
            </a:r>
            <a:r>
              <a:rPr lang="en-US" dirty="0">
                <a:solidFill>
                  <a:srgbClr val="FF0000"/>
                </a:solidFill>
              </a:rPr>
              <a:t>scikit-learn</a:t>
            </a:r>
            <a:r>
              <a:rPr lang="en-US" dirty="0"/>
              <a:t>.</a:t>
            </a:r>
          </a:p>
        </p:txBody>
      </p:sp>
      <p:sp>
        <p:nvSpPr>
          <p:cNvPr id="4" name="Slide Number Placeholder 3">
            <a:extLst>
              <a:ext uri="{FF2B5EF4-FFF2-40B4-BE49-F238E27FC236}">
                <a16:creationId xmlns:a16="http://schemas.microsoft.com/office/drawing/2014/main" id="{9AFE7E20-7DD8-4CB8-9E93-66316A5F9C53}"/>
              </a:ext>
            </a:extLst>
          </p:cNvPr>
          <p:cNvSpPr>
            <a:spLocks noGrp="1"/>
          </p:cNvSpPr>
          <p:nvPr>
            <p:ph type="sldNum" sz="quarter" idx="12"/>
          </p:nvPr>
        </p:nvSpPr>
        <p:spPr/>
        <p:txBody>
          <a:bodyPr/>
          <a:lstStyle/>
          <a:p>
            <a:fld id="{6B97D948-30E8-43F7-AE10-F6E2D9F2BBB1}" type="slidenum">
              <a:rPr lang="en-US" smtClean="0"/>
              <a:t>68</a:t>
            </a:fld>
            <a:endParaRPr lang="en-US"/>
          </a:p>
        </p:txBody>
      </p:sp>
    </p:spTree>
    <p:extLst>
      <p:ext uri="{BB962C8B-B14F-4D97-AF65-F5344CB8AC3E}">
        <p14:creationId xmlns:p14="http://schemas.microsoft.com/office/powerpoint/2010/main" val="42610806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C838-02FB-462B-B65E-7804C3BE0560}"/>
              </a:ext>
            </a:extLst>
          </p:cNvPr>
          <p:cNvSpPr>
            <a:spLocks noGrp="1"/>
          </p:cNvSpPr>
          <p:nvPr>
            <p:ph type="title"/>
          </p:nvPr>
        </p:nvSpPr>
        <p:spPr>
          <a:xfrm>
            <a:off x="838200" y="365125"/>
            <a:ext cx="10515600" cy="670299"/>
          </a:xfrm>
        </p:spPr>
        <p:txBody>
          <a:bodyPr>
            <a:normAutofit fontScale="90000"/>
          </a:bodyPr>
          <a:lstStyle/>
          <a:p>
            <a:r>
              <a:rPr lang="en-US" dirty="0"/>
              <a:t>Example. . . </a:t>
            </a:r>
          </a:p>
        </p:txBody>
      </p:sp>
      <p:sp>
        <p:nvSpPr>
          <p:cNvPr id="3" name="Content Placeholder 2">
            <a:extLst>
              <a:ext uri="{FF2B5EF4-FFF2-40B4-BE49-F238E27FC236}">
                <a16:creationId xmlns:a16="http://schemas.microsoft.com/office/drawing/2014/main" id="{0967ADC9-7632-4DB0-8C60-4DFE00A3F84F}"/>
              </a:ext>
            </a:extLst>
          </p:cNvPr>
          <p:cNvSpPr>
            <a:spLocks noGrp="1"/>
          </p:cNvSpPr>
          <p:nvPr>
            <p:ph idx="1"/>
          </p:nvPr>
        </p:nvSpPr>
        <p:spPr>
          <a:xfrm>
            <a:off x="838200" y="1035424"/>
            <a:ext cx="10515600" cy="5141539"/>
          </a:xfrm>
        </p:spPr>
        <p:txBody>
          <a:bodyPr>
            <a:normAutofit fontScale="85000" lnSpcReduction="20000"/>
          </a:bodyPr>
          <a:lstStyle/>
          <a:p>
            <a:pPr algn="just"/>
            <a:r>
              <a:rPr lang="en-US" dirty="0"/>
              <a:t>A library can be imported using the </a:t>
            </a:r>
            <a:r>
              <a:rPr lang="en-US" dirty="0">
                <a:solidFill>
                  <a:srgbClr val="FF0000"/>
                </a:solidFill>
              </a:rPr>
              <a:t>import</a:t>
            </a:r>
            <a:r>
              <a:rPr lang="en-US" dirty="0"/>
              <a:t> keyword. </a:t>
            </a:r>
          </a:p>
          <a:p>
            <a:pPr algn="just"/>
            <a:endParaRPr lang="en-US" dirty="0"/>
          </a:p>
          <a:p>
            <a:pPr algn="just"/>
            <a:r>
              <a:rPr lang="en-US" dirty="0"/>
              <a:t>For example, a NumPy library can be imported as:</a:t>
            </a:r>
          </a:p>
          <a:p>
            <a:pPr algn="just"/>
            <a:endParaRPr lang="en-US" dirty="0"/>
          </a:p>
          <a:p>
            <a:pPr algn="just"/>
            <a:r>
              <a:rPr lang="en-US" dirty="0">
                <a:solidFill>
                  <a:srgbClr val="FF0000"/>
                </a:solidFill>
              </a:rPr>
              <a:t>import </a:t>
            </a:r>
            <a:r>
              <a:rPr lang="en-US" dirty="0" err="1">
                <a:solidFill>
                  <a:srgbClr val="FF0000"/>
                </a:solidFill>
              </a:rPr>
              <a:t>numpy</a:t>
            </a:r>
            <a:r>
              <a:rPr lang="en-US" dirty="0">
                <a:solidFill>
                  <a:srgbClr val="FF0000"/>
                </a:solidFill>
              </a:rPr>
              <a:t> as np</a:t>
            </a:r>
          </a:p>
          <a:p>
            <a:pPr algn="just"/>
            <a:endParaRPr lang="en-US" dirty="0"/>
          </a:p>
          <a:p>
            <a:pPr algn="just"/>
            <a:r>
              <a:rPr lang="en-US" dirty="0"/>
              <a:t>Here NumPy library has been given the name np. </a:t>
            </a:r>
          </a:p>
          <a:p>
            <a:pPr algn="just"/>
            <a:r>
              <a:rPr lang="en-US" dirty="0"/>
              <a:t>All the functions and attributes of the library can be called using the ‘np.’ prefix. </a:t>
            </a:r>
          </a:p>
          <a:p>
            <a:pPr algn="just"/>
            <a:endParaRPr lang="en-US" dirty="0"/>
          </a:p>
          <a:p>
            <a:pPr algn="just"/>
            <a:r>
              <a:rPr lang="en-US" dirty="0"/>
              <a:t>For example, let us generate a sequence of whole numbers up to 10 using the NumPy function </a:t>
            </a:r>
            <a:r>
              <a:rPr lang="en-US" dirty="0" err="1"/>
              <a:t>arange</a:t>
            </a:r>
            <a:r>
              <a:rPr lang="en-US" dirty="0"/>
              <a:t>():</a:t>
            </a:r>
          </a:p>
          <a:p>
            <a:pPr algn="just"/>
            <a:endParaRPr lang="en-US" dirty="0"/>
          </a:p>
          <a:p>
            <a:pPr algn="just"/>
            <a:r>
              <a:rPr lang="en-US" dirty="0" err="1">
                <a:solidFill>
                  <a:srgbClr val="FF0000"/>
                </a:solidFill>
              </a:rPr>
              <a:t>np.arange</a:t>
            </a:r>
            <a:r>
              <a:rPr lang="en-US" dirty="0">
                <a:solidFill>
                  <a:srgbClr val="FF0000"/>
                </a:solidFill>
              </a:rPr>
              <a:t>(11)</a:t>
            </a:r>
          </a:p>
        </p:txBody>
      </p:sp>
      <p:sp>
        <p:nvSpPr>
          <p:cNvPr id="5" name="Slide Number Placeholder 4">
            <a:extLst>
              <a:ext uri="{FF2B5EF4-FFF2-40B4-BE49-F238E27FC236}">
                <a16:creationId xmlns:a16="http://schemas.microsoft.com/office/drawing/2014/main" id="{AF01EF47-E347-43E4-923D-54DB29C9A773}"/>
              </a:ext>
            </a:extLst>
          </p:cNvPr>
          <p:cNvSpPr>
            <a:spLocks noGrp="1"/>
          </p:cNvSpPr>
          <p:nvPr>
            <p:ph type="sldNum" sz="quarter" idx="12"/>
          </p:nvPr>
        </p:nvSpPr>
        <p:spPr/>
        <p:txBody>
          <a:bodyPr/>
          <a:lstStyle/>
          <a:p>
            <a:fld id="{6B97D948-30E8-43F7-AE10-F6E2D9F2BBB1}" type="slidenum">
              <a:rPr lang="en-US" smtClean="0"/>
              <a:t>69</a:t>
            </a:fld>
            <a:endParaRPr lang="en-US"/>
          </a:p>
        </p:txBody>
      </p:sp>
    </p:spTree>
    <p:extLst>
      <p:ext uri="{BB962C8B-B14F-4D97-AF65-F5344CB8AC3E}">
        <p14:creationId xmlns:p14="http://schemas.microsoft.com/office/powerpoint/2010/main" val="4970968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DD360-EAE1-4454-8004-A98E9AFA4CE3}"/>
              </a:ext>
            </a:extLst>
          </p:cNvPr>
          <p:cNvSpPr>
            <a:spLocks noGrp="1"/>
          </p:cNvSpPr>
          <p:nvPr>
            <p:ph type="title"/>
          </p:nvPr>
        </p:nvSpPr>
        <p:spPr>
          <a:xfrm>
            <a:off x="838200" y="297891"/>
            <a:ext cx="10515600" cy="643404"/>
          </a:xfrm>
        </p:spPr>
        <p:txBody>
          <a:bodyPr>
            <a:normAutofit fontScale="90000"/>
          </a:bodyPr>
          <a:lstStyle/>
          <a:p>
            <a:r>
              <a:rPr lang="en-US" dirty="0"/>
              <a:t>Different ways to import</a:t>
            </a:r>
          </a:p>
        </p:txBody>
      </p:sp>
      <p:sp>
        <p:nvSpPr>
          <p:cNvPr id="3" name="Content Placeholder 2">
            <a:extLst>
              <a:ext uri="{FF2B5EF4-FFF2-40B4-BE49-F238E27FC236}">
                <a16:creationId xmlns:a16="http://schemas.microsoft.com/office/drawing/2014/main" id="{4A5195D2-5FA6-4F31-ADC3-DDA66E4C8D86}"/>
              </a:ext>
            </a:extLst>
          </p:cNvPr>
          <p:cNvSpPr>
            <a:spLocks noGrp="1"/>
          </p:cNvSpPr>
          <p:nvPr>
            <p:ph idx="1"/>
          </p:nvPr>
        </p:nvSpPr>
        <p:spPr>
          <a:xfrm>
            <a:off x="838200" y="941295"/>
            <a:ext cx="10515600" cy="5235668"/>
          </a:xfrm>
        </p:spPr>
        <p:txBody>
          <a:bodyPr>
            <a:normAutofit fontScale="85000" lnSpcReduction="20000"/>
          </a:bodyPr>
          <a:lstStyle/>
          <a:p>
            <a:r>
              <a:rPr lang="en-US" dirty="0"/>
              <a:t>There’s different ways to import:</a:t>
            </a:r>
          </a:p>
          <a:p>
            <a:r>
              <a:rPr lang="en-US" dirty="0"/>
              <a:t>    Import the whole module using its original name:</a:t>
            </a:r>
          </a:p>
          <a:p>
            <a:r>
              <a:rPr lang="en-US" dirty="0"/>
              <a:t>    </a:t>
            </a:r>
            <a:r>
              <a:rPr lang="en-US" dirty="0">
                <a:solidFill>
                  <a:srgbClr val="FF0000"/>
                </a:solidFill>
              </a:rPr>
              <a:t>import math, </a:t>
            </a:r>
            <a:r>
              <a:rPr lang="en-US" dirty="0" err="1">
                <a:solidFill>
                  <a:srgbClr val="FF0000"/>
                </a:solidFill>
              </a:rPr>
              <a:t>os</a:t>
            </a:r>
            <a:endParaRPr lang="en-US" dirty="0">
              <a:solidFill>
                <a:srgbClr val="FF0000"/>
              </a:solidFill>
            </a:endParaRPr>
          </a:p>
          <a:p>
            <a:endParaRPr lang="en-US" dirty="0"/>
          </a:p>
          <a:p>
            <a:r>
              <a:rPr lang="en-US" dirty="0"/>
              <a:t>    Import specific things from the module:</a:t>
            </a:r>
          </a:p>
          <a:p>
            <a:r>
              <a:rPr lang="en-US" dirty="0"/>
              <a:t>    </a:t>
            </a:r>
            <a:r>
              <a:rPr lang="en-US" dirty="0">
                <a:solidFill>
                  <a:srgbClr val="FF0000"/>
                </a:solidFill>
              </a:rPr>
              <a:t>from random import </a:t>
            </a:r>
            <a:r>
              <a:rPr lang="en-US" dirty="0" err="1">
                <a:solidFill>
                  <a:srgbClr val="FF0000"/>
                </a:solidFill>
              </a:rPr>
              <a:t>randint</a:t>
            </a:r>
            <a:endParaRPr lang="en-US" dirty="0">
              <a:solidFill>
                <a:srgbClr val="FF0000"/>
              </a:solidFill>
            </a:endParaRPr>
          </a:p>
          <a:p>
            <a:r>
              <a:rPr lang="en-US" dirty="0">
                <a:solidFill>
                  <a:srgbClr val="FF0000"/>
                </a:solidFill>
              </a:rPr>
              <a:t>    from math import pi</a:t>
            </a:r>
          </a:p>
          <a:p>
            <a:endParaRPr lang="en-US" dirty="0"/>
          </a:p>
          <a:p>
            <a:r>
              <a:rPr lang="en-US" dirty="0"/>
              <a:t>    Import the whole library and rename it, usually using a shorter variable name:</a:t>
            </a:r>
          </a:p>
          <a:p>
            <a:r>
              <a:rPr lang="en-US" dirty="0"/>
              <a:t>    </a:t>
            </a:r>
            <a:r>
              <a:rPr lang="en-US" dirty="0">
                <a:solidFill>
                  <a:srgbClr val="FF0000"/>
                </a:solidFill>
              </a:rPr>
              <a:t>import pandas as pd</a:t>
            </a:r>
          </a:p>
          <a:p>
            <a:endParaRPr lang="en-US" dirty="0"/>
          </a:p>
          <a:p>
            <a:r>
              <a:rPr lang="en-US" dirty="0"/>
              <a:t>    Import a specific method from the module and rename it as it is imported:</a:t>
            </a:r>
          </a:p>
          <a:p>
            <a:r>
              <a:rPr lang="en-US" dirty="0"/>
              <a:t>    </a:t>
            </a:r>
            <a:r>
              <a:rPr lang="en-US" dirty="0">
                <a:solidFill>
                  <a:srgbClr val="FF0000"/>
                </a:solidFill>
              </a:rPr>
              <a:t>from </a:t>
            </a:r>
            <a:r>
              <a:rPr lang="en-US" dirty="0" err="1">
                <a:solidFill>
                  <a:srgbClr val="FF0000"/>
                </a:solidFill>
              </a:rPr>
              <a:t>os.path</a:t>
            </a:r>
            <a:r>
              <a:rPr lang="en-US" dirty="0">
                <a:solidFill>
                  <a:srgbClr val="FF0000"/>
                </a:solidFill>
              </a:rPr>
              <a:t> import join as </a:t>
            </a:r>
            <a:r>
              <a:rPr lang="en-US" dirty="0" err="1">
                <a:solidFill>
                  <a:srgbClr val="FF0000"/>
                </a:solidFill>
              </a:rPr>
              <a:t>join_path</a:t>
            </a:r>
            <a:endParaRPr lang="en-US" dirty="0">
              <a:solidFill>
                <a:srgbClr val="FF0000"/>
              </a:solidFill>
            </a:endParaRPr>
          </a:p>
          <a:p>
            <a:endParaRPr lang="en-US" dirty="0"/>
          </a:p>
        </p:txBody>
      </p:sp>
      <p:sp>
        <p:nvSpPr>
          <p:cNvPr id="5" name="Slide Number Placeholder 4">
            <a:extLst>
              <a:ext uri="{FF2B5EF4-FFF2-40B4-BE49-F238E27FC236}">
                <a16:creationId xmlns:a16="http://schemas.microsoft.com/office/drawing/2014/main" id="{8ABDC091-4D78-4170-B3BD-CCC2FEE1071E}"/>
              </a:ext>
            </a:extLst>
          </p:cNvPr>
          <p:cNvSpPr>
            <a:spLocks noGrp="1"/>
          </p:cNvSpPr>
          <p:nvPr>
            <p:ph type="sldNum" sz="quarter" idx="12"/>
          </p:nvPr>
        </p:nvSpPr>
        <p:spPr/>
        <p:txBody>
          <a:bodyPr/>
          <a:lstStyle/>
          <a:p>
            <a:fld id="{6B97D948-30E8-43F7-AE10-F6E2D9F2BBB1}" type="slidenum">
              <a:rPr lang="en-US" smtClean="0"/>
              <a:t>70</a:t>
            </a:fld>
            <a:endParaRPr lang="en-US"/>
          </a:p>
        </p:txBody>
      </p:sp>
    </p:spTree>
    <p:extLst>
      <p:ext uri="{BB962C8B-B14F-4D97-AF65-F5344CB8AC3E}">
        <p14:creationId xmlns:p14="http://schemas.microsoft.com/office/powerpoint/2010/main" val="29794754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BEC0A-1017-4DD1-8F95-2691B63FC3C5}"/>
              </a:ext>
            </a:extLst>
          </p:cNvPr>
          <p:cNvSpPr>
            <a:spLocks noGrp="1"/>
          </p:cNvSpPr>
          <p:nvPr>
            <p:ph type="title"/>
          </p:nvPr>
        </p:nvSpPr>
        <p:spPr>
          <a:xfrm>
            <a:off x="838200" y="365126"/>
            <a:ext cx="10515600" cy="741186"/>
          </a:xfrm>
        </p:spPr>
        <p:txBody>
          <a:bodyPr/>
          <a:lstStyle/>
          <a:p>
            <a:r>
              <a:rPr lang="en-US" dirty="0"/>
              <a:t>Installing a package</a:t>
            </a:r>
          </a:p>
        </p:txBody>
      </p:sp>
      <p:sp>
        <p:nvSpPr>
          <p:cNvPr id="3" name="Content Placeholder 2">
            <a:extLst>
              <a:ext uri="{FF2B5EF4-FFF2-40B4-BE49-F238E27FC236}">
                <a16:creationId xmlns:a16="http://schemas.microsoft.com/office/drawing/2014/main" id="{21459E5A-754A-4A76-8D2F-928FF3CB6C80}"/>
              </a:ext>
            </a:extLst>
          </p:cNvPr>
          <p:cNvSpPr>
            <a:spLocks noGrp="1"/>
          </p:cNvSpPr>
          <p:nvPr>
            <p:ph idx="1"/>
          </p:nvPr>
        </p:nvSpPr>
        <p:spPr>
          <a:xfrm>
            <a:off x="838200" y="1106312"/>
            <a:ext cx="10515600" cy="5070651"/>
          </a:xfrm>
        </p:spPr>
        <p:txBody>
          <a:bodyPr/>
          <a:lstStyle/>
          <a:p>
            <a:pPr algn="just"/>
            <a:r>
              <a:rPr lang="en-US" dirty="0"/>
              <a:t>Sometimes the package you need isn’t available in your default installation.</a:t>
            </a:r>
          </a:p>
          <a:p>
            <a:pPr algn="just"/>
            <a:r>
              <a:rPr lang="en-US" dirty="0"/>
              <a:t>You have to install it.</a:t>
            </a:r>
          </a:p>
          <a:p>
            <a:pPr algn="just"/>
            <a:r>
              <a:rPr lang="en-US" dirty="0"/>
              <a:t>Let’s say you need data on US census and income which is available at: </a:t>
            </a:r>
            <a:r>
              <a:rPr lang="en-US" dirty="0">
                <a:hlinkClick r:id="rId2"/>
              </a:rPr>
              <a:t>https://archive.ics.uci.edu/dataset/20/census+income</a:t>
            </a:r>
            <a:r>
              <a:rPr lang="en-US" dirty="0"/>
              <a:t>. </a:t>
            </a:r>
          </a:p>
          <a:p>
            <a:pPr algn="just"/>
            <a:r>
              <a:rPr lang="en-US" dirty="0"/>
              <a:t>Someone told you it is available in the package called </a:t>
            </a:r>
            <a:r>
              <a:rPr lang="en-US" dirty="0" err="1">
                <a:solidFill>
                  <a:srgbClr val="FF0000"/>
                </a:solidFill>
              </a:rPr>
              <a:t>ucimlrepo</a:t>
            </a:r>
            <a:r>
              <a:rPr lang="en-US" dirty="0"/>
              <a:t>.</a:t>
            </a:r>
          </a:p>
          <a:p>
            <a:pPr algn="just"/>
            <a:r>
              <a:rPr lang="en-US" dirty="0"/>
              <a:t>The way to install it is:</a:t>
            </a:r>
          </a:p>
          <a:p>
            <a:pPr algn="just"/>
            <a:r>
              <a:rPr lang="en-US" dirty="0">
                <a:solidFill>
                  <a:srgbClr val="FF0000"/>
                </a:solidFill>
              </a:rPr>
              <a:t>pip install </a:t>
            </a:r>
            <a:r>
              <a:rPr lang="en-US" dirty="0" err="1">
                <a:solidFill>
                  <a:srgbClr val="FF0000"/>
                </a:solidFill>
              </a:rPr>
              <a:t>ucimlrepo</a:t>
            </a:r>
            <a:endParaRPr lang="en-US" dirty="0">
              <a:solidFill>
                <a:srgbClr val="FF0000"/>
              </a:solidFill>
            </a:endParaRPr>
          </a:p>
          <a:p>
            <a:pPr algn="just"/>
            <a:r>
              <a:rPr lang="en-US" dirty="0"/>
              <a:t>To use it, we import</a:t>
            </a:r>
          </a:p>
          <a:p>
            <a:pPr algn="just"/>
            <a:r>
              <a:rPr lang="en-US" dirty="0">
                <a:solidFill>
                  <a:srgbClr val="FF0000"/>
                </a:solidFill>
              </a:rPr>
              <a:t>from </a:t>
            </a:r>
            <a:r>
              <a:rPr lang="en-US" dirty="0" err="1">
                <a:solidFill>
                  <a:srgbClr val="FF0000"/>
                </a:solidFill>
              </a:rPr>
              <a:t>ucimlrepo</a:t>
            </a:r>
            <a:r>
              <a:rPr lang="en-US" dirty="0">
                <a:solidFill>
                  <a:srgbClr val="FF0000"/>
                </a:solidFill>
              </a:rPr>
              <a:t> import </a:t>
            </a:r>
            <a:r>
              <a:rPr lang="en-US" dirty="0" err="1">
                <a:solidFill>
                  <a:srgbClr val="FF0000"/>
                </a:solidFill>
              </a:rPr>
              <a:t>fetch_ucirepo</a:t>
            </a:r>
            <a:r>
              <a:rPr lang="en-US" dirty="0">
                <a:solidFill>
                  <a:srgbClr val="FF0000"/>
                </a:solidFill>
              </a:rPr>
              <a:t> </a:t>
            </a:r>
          </a:p>
        </p:txBody>
      </p:sp>
      <p:sp>
        <p:nvSpPr>
          <p:cNvPr id="4" name="Slide Number Placeholder 3">
            <a:extLst>
              <a:ext uri="{FF2B5EF4-FFF2-40B4-BE49-F238E27FC236}">
                <a16:creationId xmlns:a16="http://schemas.microsoft.com/office/drawing/2014/main" id="{01E02549-CE64-4FC7-B514-8C60DA891B9D}"/>
              </a:ext>
            </a:extLst>
          </p:cNvPr>
          <p:cNvSpPr>
            <a:spLocks noGrp="1"/>
          </p:cNvSpPr>
          <p:nvPr>
            <p:ph type="sldNum" sz="quarter" idx="12"/>
          </p:nvPr>
        </p:nvSpPr>
        <p:spPr/>
        <p:txBody>
          <a:bodyPr/>
          <a:lstStyle/>
          <a:p>
            <a:fld id="{6B97D948-30E8-43F7-AE10-F6E2D9F2BBB1}" type="slidenum">
              <a:rPr lang="en-US" smtClean="0"/>
              <a:t>71</a:t>
            </a:fld>
            <a:endParaRPr lang="en-US"/>
          </a:p>
        </p:txBody>
      </p:sp>
    </p:spTree>
    <p:extLst>
      <p:ext uri="{BB962C8B-B14F-4D97-AF65-F5344CB8AC3E}">
        <p14:creationId xmlns:p14="http://schemas.microsoft.com/office/powerpoint/2010/main" val="39802190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90BA45-F21E-4D99-873E-99AD146B6E2D}"/>
              </a:ext>
            </a:extLst>
          </p:cNvPr>
          <p:cNvSpPr>
            <a:spLocks noGrp="1"/>
          </p:cNvSpPr>
          <p:nvPr>
            <p:ph idx="1"/>
          </p:nvPr>
        </p:nvSpPr>
        <p:spPr>
          <a:xfrm>
            <a:off x="838200" y="417689"/>
            <a:ext cx="10515600" cy="5759274"/>
          </a:xfrm>
        </p:spPr>
        <p:txBody>
          <a:bodyPr>
            <a:normAutofit/>
          </a:bodyPr>
          <a:lstStyle/>
          <a:p>
            <a:r>
              <a:rPr lang="en-US" dirty="0"/>
              <a:t>Let’s fetch the data</a:t>
            </a:r>
          </a:p>
          <a:p>
            <a:r>
              <a:rPr lang="en-US" dirty="0" err="1">
                <a:solidFill>
                  <a:srgbClr val="FF0000"/>
                </a:solidFill>
              </a:rPr>
              <a:t>census_income</a:t>
            </a:r>
            <a:r>
              <a:rPr lang="en-US" dirty="0">
                <a:solidFill>
                  <a:srgbClr val="FF0000"/>
                </a:solidFill>
              </a:rPr>
              <a:t> = </a:t>
            </a:r>
            <a:r>
              <a:rPr lang="en-US" dirty="0" err="1">
                <a:solidFill>
                  <a:srgbClr val="FF0000"/>
                </a:solidFill>
              </a:rPr>
              <a:t>fetch_ucirepo</a:t>
            </a:r>
            <a:r>
              <a:rPr lang="en-US" dirty="0">
                <a:solidFill>
                  <a:srgbClr val="FF0000"/>
                </a:solidFill>
              </a:rPr>
              <a:t>(id=20)</a:t>
            </a:r>
          </a:p>
          <a:p>
            <a:r>
              <a:rPr lang="en-US" dirty="0">
                <a:solidFill>
                  <a:srgbClr val="FF0000"/>
                </a:solidFill>
              </a:rPr>
              <a:t>type(</a:t>
            </a:r>
            <a:r>
              <a:rPr lang="en-US" dirty="0" err="1">
                <a:solidFill>
                  <a:srgbClr val="FF0000"/>
                </a:solidFill>
              </a:rPr>
              <a:t>census_income</a:t>
            </a:r>
            <a:r>
              <a:rPr lang="en-US" dirty="0">
                <a:solidFill>
                  <a:srgbClr val="FF0000"/>
                </a:solidFill>
              </a:rPr>
              <a:t>)</a:t>
            </a:r>
          </a:p>
          <a:p>
            <a:r>
              <a:rPr lang="en-US" dirty="0"/>
              <a:t>Out[14]: </a:t>
            </a:r>
            <a:r>
              <a:rPr lang="en-US" dirty="0" err="1"/>
              <a:t>ucimlrepo.dotdict.dotdict</a:t>
            </a:r>
            <a:endParaRPr lang="en-US" dirty="0"/>
          </a:p>
          <a:p>
            <a:r>
              <a:rPr lang="en-US" dirty="0"/>
              <a:t># data (as pandas </a:t>
            </a:r>
            <a:r>
              <a:rPr lang="en-US" dirty="0" err="1"/>
              <a:t>dataframes</a:t>
            </a:r>
            <a:r>
              <a:rPr lang="en-US" dirty="0"/>
              <a:t>) </a:t>
            </a:r>
          </a:p>
          <a:p>
            <a:r>
              <a:rPr lang="en-US" dirty="0">
                <a:solidFill>
                  <a:srgbClr val="FF0000"/>
                </a:solidFill>
              </a:rPr>
              <a:t>X = </a:t>
            </a:r>
            <a:r>
              <a:rPr lang="en-US" dirty="0" err="1">
                <a:solidFill>
                  <a:srgbClr val="FF0000"/>
                </a:solidFill>
              </a:rPr>
              <a:t>census_income.data.features</a:t>
            </a:r>
            <a:r>
              <a:rPr lang="en-US" dirty="0">
                <a:solidFill>
                  <a:srgbClr val="FF0000"/>
                </a:solidFill>
              </a:rPr>
              <a:t> </a:t>
            </a:r>
          </a:p>
          <a:p>
            <a:r>
              <a:rPr lang="en-US" dirty="0">
                <a:solidFill>
                  <a:srgbClr val="FF0000"/>
                </a:solidFill>
              </a:rPr>
              <a:t>y = </a:t>
            </a:r>
            <a:r>
              <a:rPr lang="en-US" dirty="0" err="1">
                <a:solidFill>
                  <a:srgbClr val="FF0000"/>
                </a:solidFill>
              </a:rPr>
              <a:t>census_income.data.targets</a:t>
            </a:r>
            <a:r>
              <a:rPr lang="en-US" dirty="0">
                <a:solidFill>
                  <a:srgbClr val="FF0000"/>
                </a:solidFill>
              </a:rPr>
              <a:t> </a:t>
            </a:r>
          </a:p>
          <a:p>
            <a:r>
              <a:rPr lang="en-US" dirty="0">
                <a:solidFill>
                  <a:srgbClr val="FF0000"/>
                </a:solidFill>
              </a:rPr>
              <a:t>type(X)</a:t>
            </a:r>
          </a:p>
          <a:p>
            <a:r>
              <a:rPr lang="en-US" dirty="0"/>
              <a:t>Out[16]: </a:t>
            </a:r>
            <a:r>
              <a:rPr lang="en-US" dirty="0" err="1"/>
              <a:t>pandas.core.frame.DataFrame</a:t>
            </a:r>
            <a:endParaRPr lang="en-US" dirty="0"/>
          </a:p>
          <a:p>
            <a:pPr>
              <a:lnSpc>
                <a:spcPct val="100000"/>
              </a:lnSpc>
            </a:pPr>
            <a:r>
              <a:rPr lang="en-US" dirty="0">
                <a:solidFill>
                  <a:srgbClr val="FF0000"/>
                </a:solidFill>
              </a:rPr>
              <a:t>type(y)</a:t>
            </a:r>
          </a:p>
          <a:p>
            <a:r>
              <a:rPr lang="en-US" dirty="0"/>
              <a:t>Out[17]: </a:t>
            </a:r>
            <a:r>
              <a:rPr lang="en-US" dirty="0" err="1"/>
              <a:t>pandas.core.frame.DataFrame</a:t>
            </a:r>
            <a:endParaRPr lang="en-US" dirty="0"/>
          </a:p>
          <a:p>
            <a:endParaRPr lang="en-US" dirty="0"/>
          </a:p>
        </p:txBody>
      </p:sp>
      <p:sp>
        <p:nvSpPr>
          <p:cNvPr id="4" name="Slide Number Placeholder 3">
            <a:extLst>
              <a:ext uri="{FF2B5EF4-FFF2-40B4-BE49-F238E27FC236}">
                <a16:creationId xmlns:a16="http://schemas.microsoft.com/office/drawing/2014/main" id="{BAAB578D-49D4-4BDF-A1FA-1EB35274AC5A}"/>
              </a:ext>
            </a:extLst>
          </p:cNvPr>
          <p:cNvSpPr>
            <a:spLocks noGrp="1"/>
          </p:cNvSpPr>
          <p:nvPr>
            <p:ph type="sldNum" sz="quarter" idx="12"/>
          </p:nvPr>
        </p:nvSpPr>
        <p:spPr/>
        <p:txBody>
          <a:bodyPr/>
          <a:lstStyle/>
          <a:p>
            <a:fld id="{6B97D948-30E8-43F7-AE10-F6E2D9F2BBB1}" type="slidenum">
              <a:rPr lang="en-US" smtClean="0"/>
              <a:t>72</a:t>
            </a:fld>
            <a:endParaRPr lang="en-US"/>
          </a:p>
        </p:txBody>
      </p:sp>
    </p:spTree>
    <p:extLst>
      <p:ext uri="{BB962C8B-B14F-4D97-AF65-F5344CB8AC3E}">
        <p14:creationId xmlns:p14="http://schemas.microsoft.com/office/powerpoint/2010/main" val="31753678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BC51B2-4067-42EF-AC6B-6AE596AECEC8}"/>
              </a:ext>
            </a:extLst>
          </p:cNvPr>
          <p:cNvSpPr>
            <a:spLocks noGrp="1"/>
          </p:cNvSpPr>
          <p:nvPr>
            <p:ph idx="1"/>
          </p:nvPr>
        </p:nvSpPr>
        <p:spPr>
          <a:xfrm>
            <a:off x="838200" y="564444"/>
            <a:ext cx="10515600" cy="5612519"/>
          </a:xfrm>
        </p:spPr>
        <p:txBody>
          <a:bodyPr/>
          <a:lstStyle/>
          <a:p>
            <a:r>
              <a:rPr lang="pt-BR" dirty="0"/>
              <a:t># metadata </a:t>
            </a:r>
          </a:p>
          <a:p>
            <a:r>
              <a:rPr lang="pt-BR" dirty="0">
                <a:solidFill>
                  <a:srgbClr val="FF0000"/>
                </a:solidFill>
              </a:rPr>
              <a:t>print(census_income.metadata) </a:t>
            </a:r>
          </a:p>
          <a:p>
            <a:r>
              <a:rPr lang="en-US" dirty="0">
                <a:solidFill>
                  <a:srgbClr val="FF0000"/>
                </a:solidFill>
              </a:rPr>
              <a:t>print(</a:t>
            </a:r>
            <a:r>
              <a:rPr lang="en-US" dirty="0" err="1">
                <a:solidFill>
                  <a:srgbClr val="FF0000"/>
                </a:solidFill>
              </a:rPr>
              <a:t>census_income.variables</a:t>
            </a:r>
            <a:r>
              <a:rPr lang="en-US" dirty="0">
                <a:solidFill>
                  <a:srgbClr val="FF0000"/>
                </a:solidFill>
              </a:rPr>
              <a:t>)</a:t>
            </a:r>
          </a:p>
          <a:p>
            <a:r>
              <a:rPr lang="en-US" dirty="0"/>
              <a:t>              name     role  ... units </a:t>
            </a:r>
            <a:r>
              <a:rPr lang="en-US" dirty="0" err="1"/>
              <a:t>missing_values</a:t>
            </a:r>
            <a:endParaRPr lang="en-US" dirty="0"/>
          </a:p>
          <a:p>
            <a:r>
              <a:rPr lang="en-US" dirty="0"/>
              <a:t>0              age  Feature  ...  None             no</a:t>
            </a:r>
          </a:p>
          <a:p>
            <a:r>
              <a:rPr lang="en-US" dirty="0"/>
              <a:t>1        </a:t>
            </a:r>
            <a:r>
              <a:rPr lang="en-US" dirty="0" err="1"/>
              <a:t>workclass</a:t>
            </a:r>
            <a:r>
              <a:rPr lang="en-US" dirty="0"/>
              <a:t>  Feature  ...  None            yes</a:t>
            </a:r>
          </a:p>
          <a:p>
            <a:r>
              <a:rPr lang="en-US" dirty="0"/>
              <a:t>2           </a:t>
            </a:r>
            <a:r>
              <a:rPr lang="en-US" dirty="0" err="1"/>
              <a:t>fnlwgt</a:t>
            </a:r>
            <a:r>
              <a:rPr lang="en-US" dirty="0"/>
              <a:t>  Feature  ...  None             no</a:t>
            </a:r>
          </a:p>
          <a:p>
            <a:r>
              <a:rPr lang="en-US" dirty="0"/>
              <a:t>3        education  Feature  ...  None             no</a:t>
            </a:r>
          </a:p>
        </p:txBody>
      </p:sp>
      <p:sp>
        <p:nvSpPr>
          <p:cNvPr id="4" name="Slide Number Placeholder 3">
            <a:extLst>
              <a:ext uri="{FF2B5EF4-FFF2-40B4-BE49-F238E27FC236}">
                <a16:creationId xmlns:a16="http://schemas.microsoft.com/office/drawing/2014/main" id="{47786899-7B39-4CBF-B1E8-AD5A11684301}"/>
              </a:ext>
            </a:extLst>
          </p:cNvPr>
          <p:cNvSpPr>
            <a:spLocks noGrp="1"/>
          </p:cNvSpPr>
          <p:nvPr>
            <p:ph type="sldNum" sz="quarter" idx="12"/>
          </p:nvPr>
        </p:nvSpPr>
        <p:spPr/>
        <p:txBody>
          <a:bodyPr/>
          <a:lstStyle/>
          <a:p>
            <a:fld id="{6B97D948-30E8-43F7-AE10-F6E2D9F2BBB1}" type="slidenum">
              <a:rPr lang="en-US" smtClean="0"/>
              <a:t>73</a:t>
            </a:fld>
            <a:endParaRPr lang="en-US"/>
          </a:p>
        </p:txBody>
      </p:sp>
    </p:spTree>
    <p:extLst>
      <p:ext uri="{BB962C8B-B14F-4D97-AF65-F5344CB8AC3E}">
        <p14:creationId xmlns:p14="http://schemas.microsoft.com/office/powerpoint/2010/main" val="31253179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8C23A-8F8A-4E2B-8AE8-DED6A470360F}"/>
              </a:ext>
            </a:extLst>
          </p:cNvPr>
          <p:cNvSpPr>
            <a:spLocks noGrp="1"/>
          </p:cNvSpPr>
          <p:nvPr>
            <p:ph type="title"/>
          </p:nvPr>
        </p:nvSpPr>
        <p:spPr>
          <a:xfrm>
            <a:off x="838200" y="365126"/>
            <a:ext cx="10515600" cy="562722"/>
          </a:xfrm>
        </p:spPr>
        <p:txBody>
          <a:bodyPr>
            <a:normAutofit fontScale="90000"/>
          </a:bodyPr>
          <a:lstStyle/>
          <a:p>
            <a:r>
              <a:rPr lang="en-US" dirty="0"/>
              <a:t>Control Flow</a:t>
            </a:r>
          </a:p>
        </p:txBody>
      </p:sp>
      <p:sp>
        <p:nvSpPr>
          <p:cNvPr id="3" name="Content Placeholder 2">
            <a:extLst>
              <a:ext uri="{FF2B5EF4-FFF2-40B4-BE49-F238E27FC236}">
                <a16:creationId xmlns:a16="http://schemas.microsoft.com/office/drawing/2014/main" id="{5D496D72-7EEA-41B0-A46E-BE0EC8A4BD3B}"/>
              </a:ext>
            </a:extLst>
          </p:cNvPr>
          <p:cNvSpPr>
            <a:spLocks noGrp="1"/>
          </p:cNvSpPr>
          <p:nvPr>
            <p:ph idx="1"/>
          </p:nvPr>
        </p:nvSpPr>
        <p:spPr>
          <a:xfrm>
            <a:off x="838200" y="927848"/>
            <a:ext cx="10515600" cy="968187"/>
          </a:xfrm>
        </p:spPr>
        <p:txBody>
          <a:bodyPr/>
          <a:lstStyle/>
          <a:p>
            <a:pPr algn="just"/>
            <a:r>
              <a:rPr lang="en-US" dirty="0"/>
              <a:t>Python has built-in keywords that provide conditional flow of control in the code.</a:t>
            </a:r>
          </a:p>
          <a:p>
            <a:endParaRPr lang="en-US" dirty="0"/>
          </a:p>
        </p:txBody>
      </p:sp>
      <p:pic>
        <p:nvPicPr>
          <p:cNvPr id="4" name="Picture 3">
            <a:extLst>
              <a:ext uri="{FF2B5EF4-FFF2-40B4-BE49-F238E27FC236}">
                <a16:creationId xmlns:a16="http://schemas.microsoft.com/office/drawing/2014/main" id="{BB1A7170-F5CC-47D8-ACBC-64BE3FEC5E9B}"/>
              </a:ext>
            </a:extLst>
          </p:cNvPr>
          <p:cNvPicPr>
            <a:picLocks noChangeAspect="1"/>
          </p:cNvPicPr>
          <p:nvPr/>
        </p:nvPicPr>
        <p:blipFill>
          <a:blip r:embed="rId2"/>
          <a:stretch>
            <a:fillRect/>
          </a:stretch>
        </p:blipFill>
        <p:spPr>
          <a:xfrm>
            <a:off x="698483" y="1896034"/>
            <a:ext cx="11103554" cy="3935842"/>
          </a:xfrm>
          <a:prstGeom prst="rect">
            <a:avLst/>
          </a:prstGeom>
        </p:spPr>
      </p:pic>
      <p:sp>
        <p:nvSpPr>
          <p:cNvPr id="6" name="Slide Number Placeholder 5">
            <a:extLst>
              <a:ext uri="{FF2B5EF4-FFF2-40B4-BE49-F238E27FC236}">
                <a16:creationId xmlns:a16="http://schemas.microsoft.com/office/drawing/2014/main" id="{41F42F6A-923C-4E6D-B5E4-3E771A33EFF6}"/>
              </a:ext>
            </a:extLst>
          </p:cNvPr>
          <p:cNvSpPr>
            <a:spLocks noGrp="1"/>
          </p:cNvSpPr>
          <p:nvPr>
            <p:ph type="sldNum" sz="quarter" idx="12"/>
          </p:nvPr>
        </p:nvSpPr>
        <p:spPr/>
        <p:txBody>
          <a:bodyPr/>
          <a:lstStyle/>
          <a:p>
            <a:fld id="{6B97D948-30E8-43F7-AE10-F6E2D9F2BBB1}" type="slidenum">
              <a:rPr lang="en-US" smtClean="0"/>
              <a:t>74</a:t>
            </a:fld>
            <a:endParaRPr lang="en-US"/>
          </a:p>
        </p:txBody>
      </p:sp>
    </p:spTree>
    <p:extLst>
      <p:ext uri="{BB962C8B-B14F-4D97-AF65-F5344CB8AC3E}">
        <p14:creationId xmlns:p14="http://schemas.microsoft.com/office/powerpoint/2010/main" val="453836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D7D9E-FCA5-4CE1-9637-38ED7B880C36}"/>
              </a:ext>
            </a:extLst>
          </p:cNvPr>
          <p:cNvSpPr>
            <a:spLocks noGrp="1"/>
          </p:cNvSpPr>
          <p:nvPr>
            <p:ph type="title"/>
          </p:nvPr>
        </p:nvSpPr>
        <p:spPr>
          <a:xfrm>
            <a:off x="838200" y="365125"/>
            <a:ext cx="10515600" cy="724087"/>
          </a:xfrm>
        </p:spPr>
        <p:txBody>
          <a:bodyPr/>
          <a:lstStyle/>
          <a:p>
            <a:r>
              <a:rPr lang="en-US" dirty="0"/>
              <a:t>Branching with </a:t>
            </a:r>
            <a:r>
              <a:rPr lang="en-US" dirty="0">
                <a:solidFill>
                  <a:srgbClr val="FF0000"/>
                </a:solidFill>
              </a:rPr>
              <a:t>if</a:t>
            </a:r>
            <a:r>
              <a:rPr lang="en-US" dirty="0"/>
              <a:t>, </a:t>
            </a:r>
            <a:r>
              <a:rPr lang="en-US" dirty="0">
                <a:solidFill>
                  <a:srgbClr val="FF0000"/>
                </a:solidFill>
              </a:rPr>
              <a:t>else</a:t>
            </a:r>
            <a:r>
              <a:rPr lang="en-US" dirty="0"/>
              <a:t> and </a:t>
            </a:r>
            <a:r>
              <a:rPr lang="en-US" dirty="0" err="1">
                <a:solidFill>
                  <a:srgbClr val="FF0000"/>
                </a:solidFill>
              </a:rPr>
              <a:t>elif</a:t>
            </a:r>
            <a:endParaRPr lang="en-US" dirty="0">
              <a:solidFill>
                <a:srgbClr val="FF0000"/>
              </a:solidFill>
            </a:endParaRPr>
          </a:p>
        </p:txBody>
      </p:sp>
      <p:sp>
        <p:nvSpPr>
          <p:cNvPr id="3" name="Content Placeholder 2">
            <a:extLst>
              <a:ext uri="{FF2B5EF4-FFF2-40B4-BE49-F238E27FC236}">
                <a16:creationId xmlns:a16="http://schemas.microsoft.com/office/drawing/2014/main" id="{9D063FCF-B3CF-47AC-9B85-351DBBE635BC}"/>
              </a:ext>
            </a:extLst>
          </p:cNvPr>
          <p:cNvSpPr>
            <a:spLocks noGrp="1"/>
          </p:cNvSpPr>
          <p:nvPr>
            <p:ph idx="1"/>
          </p:nvPr>
        </p:nvSpPr>
        <p:spPr>
          <a:xfrm>
            <a:off x="838200" y="1089212"/>
            <a:ext cx="10515600" cy="5087751"/>
          </a:xfrm>
        </p:spPr>
        <p:txBody>
          <a:bodyPr/>
          <a:lstStyle/>
          <a:p>
            <a:pPr algn="just"/>
            <a:r>
              <a:rPr lang="en-US" dirty="0"/>
              <a:t>One of the most powerful features of programming languages is branching </a:t>
            </a:r>
            <a:r>
              <a:rPr lang="en-US" dirty="0" err="1"/>
              <a:t>ie</a:t>
            </a:r>
            <a:r>
              <a:rPr lang="en-US" dirty="0"/>
              <a:t>. the ability to make decisions and execute a different set of statements based on whether one or more conditions are true.</a:t>
            </a:r>
          </a:p>
          <a:p>
            <a:pPr algn="just"/>
            <a:r>
              <a:rPr lang="en-US" dirty="0"/>
              <a:t>The three keywords – </a:t>
            </a:r>
            <a:r>
              <a:rPr lang="en-US" dirty="0">
                <a:solidFill>
                  <a:srgbClr val="FF0000"/>
                </a:solidFill>
              </a:rPr>
              <a:t>if</a:t>
            </a:r>
            <a:r>
              <a:rPr lang="en-US" dirty="0"/>
              <a:t>, </a:t>
            </a:r>
            <a:r>
              <a:rPr lang="en-US" dirty="0">
                <a:solidFill>
                  <a:srgbClr val="FF0000"/>
                </a:solidFill>
              </a:rPr>
              <a:t>else</a:t>
            </a:r>
            <a:r>
              <a:rPr lang="en-US" dirty="0"/>
              <a:t> and </a:t>
            </a:r>
            <a:r>
              <a:rPr lang="en-US" dirty="0" err="1">
                <a:solidFill>
                  <a:srgbClr val="FF0000"/>
                </a:solidFill>
              </a:rPr>
              <a:t>elif</a:t>
            </a:r>
            <a:r>
              <a:rPr lang="en-US" dirty="0"/>
              <a:t> – are used to examine programming logic to decide which code to execute.</a:t>
            </a:r>
          </a:p>
          <a:p>
            <a:endParaRPr lang="en-US" dirty="0"/>
          </a:p>
        </p:txBody>
      </p:sp>
      <p:sp>
        <p:nvSpPr>
          <p:cNvPr id="5" name="Slide Number Placeholder 4">
            <a:extLst>
              <a:ext uri="{FF2B5EF4-FFF2-40B4-BE49-F238E27FC236}">
                <a16:creationId xmlns:a16="http://schemas.microsoft.com/office/drawing/2014/main" id="{02238C47-A009-45FC-9273-27DF96368D3A}"/>
              </a:ext>
            </a:extLst>
          </p:cNvPr>
          <p:cNvSpPr>
            <a:spLocks noGrp="1"/>
          </p:cNvSpPr>
          <p:nvPr>
            <p:ph type="sldNum" sz="quarter" idx="12"/>
          </p:nvPr>
        </p:nvSpPr>
        <p:spPr/>
        <p:txBody>
          <a:bodyPr/>
          <a:lstStyle/>
          <a:p>
            <a:fld id="{6B97D948-30E8-43F7-AE10-F6E2D9F2BBB1}" type="slidenum">
              <a:rPr lang="en-US" smtClean="0"/>
              <a:t>75</a:t>
            </a:fld>
            <a:endParaRPr lang="en-US"/>
          </a:p>
        </p:txBody>
      </p:sp>
    </p:spTree>
    <p:extLst>
      <p:ext uri="{BB962C8B-B14F-4D97-AF65-F5344CB8AC3E}">
        <p14:creationId xmlns:p14="http://schemas.microsoft.com/office/powerpoint/2010/main" val="25843981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4F966-5DE4-406C-99FB-12267CAEA724}"/>
              </a:ext>
            </a:extLst>
          </p:cNvPr>
          <p:cNvSpPr>
            <a:spLocks noGrp="1"/>
          </p:cNvSpPr>
          <p:nvPr>
            <p:ph type="title"/>
          </p:nvPr>
        </p:nvSpPr>
        <p:spPr>
          <a:xfrm>
            <a:off x="838200" y="365126"/>
            <a:ext cx="10515600" cy="639586"/>
          </a:xfrm>
        </p:spPr>
        <p:txBody>
          <a:bodyPr>
            <a:normAutofit fontScale="90000"/>
          </a:bodyPr>
          <a:lstStyle/>
          <a:p>
            <a:r>
              <a:rPr lang="en-US" dirty="0"/>
              <a:t>Boolean Expressions</a:t>
            </a:r>
          </a:p>
        </p:txBody>
      </p:sp>
      <p:sp>
        <p:nvSpPr>
          <p:cNvPr id="3" name="Content Placeholder 2">
            <a:extLst>
              <a:ext uri="{FF2B5EF4-FFF2-40B4-BE49-F238E27FC236}">
                <a16:creationId xmlns:a16="http://schemas.microsoft.com/office/drawing/2014/main" id="{CEE0974E-2B94-4048-A562-3C29C4E09AC2}"/>
              </a:ext>
            </a:extLst>
          </p:cNvPr>
          <p:cNvSpPr>
            <a:spLocks noGrp="1"/>
          </p:cNvSpPr>
          <p:nvPr>
            <p:ph idx="1"/>
          </p:nvPr>
        </p:nvSpPr>
        <p:spPr>
          <a:xfrm>
            <a:off x="838200" y="1004712"/>
            <a:ext cx="10515600" cy="5172251"/>
          </a:xfrm>
        </p:spPr>
        <p:txBody>
          <a:bodyPr/>
          <a:lstStyle/>
          <a:p>
            <a:pPr algn="just"/>
            <a:r>
              <a:rPr lang="en-US" dirty="0"/>
              <a:t>We came across Boolean type: True or False.</a:t>
            </a:r>
          </a:p>
          <a:p>
            <a:pPr algn="just"/>
            <a:r>
              <a:rPr lang="en-US" dirty="0"/>
              <a:t>By </a:t>
            </a:r>
            <a:r>
              <a:rPr lang="en-US" dirty="0" err="1"/>
              <a:t>boolean</a:t>
            </a:r>
            <a:r>
              <a:rPr lang="en-US" dirty="0"/>
              <a:t> expressions we mean expressions that evaluate to either True or False based on a comparison between two or more values. </a:t>
            </a:r>
          </a:p>
          <a:p>
            <a:pPr algn="just"/>
            <a:r>
              <a:rPr lang="en-US" dirty="0"/>
              <a:t>You use these expressions in if statements as well as in looping statements.</a:t>
            </a:r>
          </a:p>
        </p:txBody>
      </p:sp>
      <p:sp>
        <p:nvSpPr>
          <p:cNvPr id="4" name="Slide Number Placeholder 3">
            <a:extLst>
              <a:ext uri="{FF2B5EF4-FFF2-40B4-BE49-F238E27FC236}">
                <a16:creationId xmlns:a16="http://schemas.microsoft.com/office/drawing/2014/main" id="{6AC6C8CF-2903-41DE-8004-F5A4427A001A}"/>
              </a:ext>
            </a:extLst>
          </p:cNvPr>
          <p:cNvSpPr>
            <a:spLocks noGrp="1"/>
          </p:cNvSpPr>
          <p:nvPr>
            <p:ph type="sldNum" sz="quarter" idx="12"/>
          </p:nvPr>
        </p:nvSpPr>
        <p:spPr/>
        <p:txBody>
          <a:bodyPr/>
          <a:lstStyle/>
          <a:p>
            <a:fld id="{6B97D948-30E8-43F7-AE10-F6E2D9F2BBB1}" type="slidenum">
              <a:rPr lang="en-US" smtClean="0"/>
              <a:t>76</a:t>
            </a:fld>
            <a:endParaRPr lang="en-US"/>
          </a:p>
        </p:txBody>
      </p:sp>
    </p:spTree>
    <p:extLst>
      <p:ext uri="{BB962C8B-B14F-4D97-AF65-F5344CB8AC3E}">
        <p14:creationId xmlns:p14="http://schemas.microsoft.com/office/powerpoint/2010/main" val="25844324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BD8B1-F647-4B5E-A9C4-A27A2BA7FE64}"/>
              </a:ext>
            </a:extLst>
          </p:cNvPr>
          <p:cNvSpPr>
            <a:spLocks noGrp="1"/>
          </p:cNvSpPr>
          <p:nvPr>
            <p:ph type="title"/>
          </p:nvPr>
        </p:nvSpPr>
        <p:spPr/>
        <p:txBody>
          <a:bodyPr/>
          <a:lstStyle/>
          <a:p>
            <a:r>
              <a:rPr lang="en-US"/>
              <a:t>Relational operators</a:t>
            </a:r>
          </a:p>
        </p:txBody>
      </p:sp>
      <p:pic>
        <p:nvPicPr>
          <p:cNvPr id="6" name="Content Placeholder 5">
            <a:extLst>
              <a:ext uri="{FF2B5EF4-FFF2-40B4-BE49-F238E27FC236}">
                <a16:creationId xmlns:a16="http://schemas.microsoft.com/office/drawing/2014/main" id="{4002D948-81BC-46B4-9C38-141BE8942C43}"/>
              </a:ext>
            </a:extLst>
          </p:cNvPr>
          <p:cNvPicPr>
            <a:picLocks noGrp="1" noChangeAspect="1"/>
          </p:cNvPicPr>
          <p:nvPr>
            <p:ph idx="1"/>
          </p:nvPr>
        </p:nvPicPr>
        <p:blipFill>
          <a:blip r:embed="rId2"/>
          <a:stretch>
            <a:fillRect/>
          </a:stretch>
        </p:blipFill>
        <p:spPr>
          <a:xfrm>
            <a:off x="891554" y="2156178"/>
            <a:ext cx="10462245" cy="3709148"/>
          </a:xfrm>
        </p:spPr>
      </p:pic>
      <p:sp>
        <p:nvSpPr>
          <p:cNvPr id="4" name="Slide Number Placeholder 3">
            <a:extLst>
              <a:ext uri="{FF2B5EF4-FFF2-40B4-BE49-F238E27FC236}">
                <a16:creationId xmlns:a16="http://schemas.microsoft.com/office/drawing/2014/main" id="{D4D2B2D8-FBD3-4C4F-9426-11E0A78F3F2A}"/>
              </a:ext>
            </a:extLst>
          </p:cNvPr>
          <p:cNvSpPr>
            <a:spLocks noGrp="1"/>
          </p:cNvSpPr>
          <p:nvPr>
            <p:ph type="sldNum" sz="quarter" idx="12"/>
          </p:nvPr>
        </p:nvSpPr>
        <p:spPr/>
        <p:txBody>
          <a:bodyPr/>
          <a:lstStyle/>
          <a:p>
            <a:fld id="{6B97D948-30E8-43F7-AE10-F6E2D9F2BBB1}" type="slidenum">
              <a:rPr lang="en-US" smtClean="0"/>
              <a:t>77</a:t>
            </a:fld>
            <a:endParaRPr lang="en-US"/>
          </a:p>
        </p:txBody>
      </p:sp>
    </p:spTree>
    <p:extLst>
      <p:ext uri="{BB962C8B-B14F-4D97-AF65-F5344CB8AC3E}">
        <p14:creationId xmlns:p14="http://schemas.microsoft.com/office/powerpoint/2010/main" val="29863837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013A8-EFF7-4CCA-A0E1-5FD188D408E4}"/>
              </a:ext>
            </a:extLst>
          </p:cNvPr>
          <p:cNvSpPr>
            <a:spLocks noGrp="1"/>
          </p:cNvSpPr>
          <p:nvPr>
            <p:ph type="title"/>
          </p:nvPr>
        </p:nvSpPr>
        <p:spPr>
          <a:xfrm>
            <a:off x="838200" y="365125"/>
            <a:ext cx="10515600" cy="804769"/>
          </a:xfrm>
        </p:spPr>
        <p:txBody>
          <a:bodyPr/>
          <a:lstStyle/>
          <a:p>
            <a:r>
              <a:rPr lang="en-US" dirty="0"/>
              <a:t>The if statement</a:t>
            </a:r>
          </a:p>
        </p:txBody>
      </p:sp>
      <p:sp>
        <p:nvSpPr>
          <p:cNvPr id="3" name="Content Placeholder 2">
            <a:extLst>
              <a:ext uri="{FF2B5EF4-FFF2-40B4-BE49-F238E27FC236}">
                <a16:creationId xmlns:a16="http://schemas.microsoft.com/office/drawing/2014/main" id="{6ED12555-F325-4E27-A597-85A9242F393C}"/>
              </a:ext>
            </a:extLst>
          </p:cNvPr>
          <p:cNvSpPr>
            <a:spLocks noGrp="1"/>
          </p:cNvSpPr>
          <p:nvPr>
            <p:ph idx="1"/>
          </p:nvPr>
        </p:nvSpPr>
        <p:spPr>
          <a:xfrm>
            <a:off x="838200" y="1169894"/>
            <a:ext cx="10515600" cy="5007069"/>
          </a:xfrm>
        </p:spPr>
        <p:txBody>
          <a:bodyPr>
            <a:normAutofit lnSpcReduction="10000"/>
          </a:bodyPr>
          <a:lstStyle/>
          <a:p>
            <a:pPr algn="just"/>
            <a:r>
              <a:rPr lang="en-US" i="1" dirty="0"/>
              <a:t>if</a:t>
            </a:r>
            <a:r>
              <a:rPr lang="en-US" dirty="0"/>
              <a:t> structure controls the execution of statements based on the results of a Boolean expression.</a:t>
            </a:r>
          </a:p>
          <a:p>
            <a:pPr algn="just"/>
            <a:r>
              <a:rPr lang="en-US" dirty="0"/>
              <a:t>In Python, branching is implemented using the if statement, which is written as follows:</a:t>
            </a:r>
          </a:p>
          <a:p>
            <a:pPr algn="just"/>
            <a:endParaRPr lang="en-US" dirty="0"/>
          </a:p>
          <a:p>
            <a:pPr algn="just"/>
            <a:r>
              <a:rPr lang="en-US" dirty="0">
                <a:solidFill>
                  <a:srgbClr val="FF0000"/>
                </a:solidFill>
              </a:rPr>
              <a:t>if</a:t>
            </a:r>
            <a:r>
              <a:rPr lang="en-US" dirty="0"/>
              <a:t> </a:t>
            </a:r>
            <a:r>
              <a:rPr lang="en-US" dirty="0">
                <a:solidFill>
                  <a:srgbClr val="00B0F0"/>
                </a:solidFill>
              </a:rPr>
              <a:t>condition</a:t>
            </a:r>
            <a:r>
              <a:rPr lang="en-US" sz="3600" dirty="0">
                <a:solidFill>
                  <a:srgbClr val="FF0000"/>
                </a:solidFill>
              </a:rPr>
              <a:t>:</a:t>
            </a:r>
          </a:p>
          <a:p>
            <a:pPr algn="just"/>
            <a:r>
              <a:rPr lang="en-US" dirty="0"/>
              <a:t>    </a:t>
            </a:r>
            <a:r>
              <a:rPr lang="en-US" dirty="0">
                <a:solidFill>
                  <a:srgbClr val="FF0000"/>
                </a:solidFill>
              </a:rPr>
              <a:t>statement1</a:t>
            </a:r>
          </a:p>
          <a:p>
            <a:pPr algn="just"/>
            <a:r>
              <a:rPr lang="en-US" dirty="0">
                <a:solidFill>
                  <a:srgbClr val="FF0000"/>
                </a:solidFill>
              </a:rPr>
              <a:t>    statement2</a:t>
            </a:r>
          </a:p>
          <a:p>
            <a:pPr algn="just"/>
            <a:r>
              <a:rPr lang="en-US" dirty="0"/>
              <a:t>The condition can be a </a:t>
            </a:r>
            <a:r>
              <a:rPr lang="en-US" dirty="0">
                <a:solidFill>
                  <a:srgbClr val="00B0F0"/>
                </a:solidFill>
              </a:rPr>
              <a:t>value</a:t>
            </a:r>
            <a:r>
              <a:rPr lang="en-US" dirty="0"/>
              <a:t>, </a:t>
            </a:r>
            <a:r>
              <a:rPr lang="en-US" dirty="0">
                <a:solidFill>
                  <a:srgbClr val="00B0F0"/>
                </a:solidFill>
              </a:rPr>
              <a:t>variable</a:t>
            </a:r>
            <a:r>
              <a:rPr lang="en-US" dirty="0"/>
              <a:t> or </a:t>
            </a:r>
            <a:r>
              <a:rPr lang="en-US" dirty="0">
                <a:solidFill>
                  <a:srgbClr val="00B0F0"/>
                </a:solidFill>
              </a:rPr>
              <a:t>expression</a:t>
            </a:r>
            <a:r>
              <a:rPr lang="en-US" dirty="0"/>
              <a:t>. </a:t>
            </a:r>
          </a:p>
          <a:p>
            <a:pPr algn="just"/>
            <a:r>
              <a:rPr lang="en-US" dirty="0"/>
              <a:t>If the condition evaluates to </a:t>
            </a:r>
            <a:r>
              <a:rPr lang="en-US" dirty="0">
                <a:solidFill>
                  <a:srgbClr val="00B0F0"/>
                </a:solidFill>
              </a:rPr>
              <a:t>True</a:t>
            </a:r>
            <a:r>
              <a:rPr lang="en-US" dirty="0"/>
              <a:t>, then the statements within the if </a:t>
            </a:r>
            <a:r>
              <a:rPr lang="en-US" dirty="0">
                <a:solidFill>
                  <a:srgbClr val="00B0F0"/>
                </a:solidFill>
              </a:rPr>
              <a:t>block</a:t>
            </a:r>
            <a:r>
              <a:rPr lang="en-US" dirty="0"/>
              <a:t> are executed. </a:t>
            </a:r>
          </a:p>
        </p:txBody>
      </p:sp>
      <p:sp>
        <p:nvSpPr>
          <p:cNvPr id="5" name="Slide Number Placeholder 4">
            <a:extLst>
              <a:ext uri="{FF2B5EF4-FFF2-40B4-BE49-F238E27FC236}">
                <a16:creationId xmlns:a16="http://schemas.microsoft.com/office/drawing/2014/main" id="{811638AA-02C8-4374-9DCD-683DF423E439}"/>
              </a:ext>
            </a:extLst>
          </p:cNvPr>
          <p:cNvSpPr>
            <a:spLocks noGrp="1"/>
          </p:cNvSpPr>
          <p:nvPr>
            <p:ph type="sldNum" sz="quarter" idx="12"/>
          </p:nvPr>
        </p:nvSpPr>
        <p:spPr/>
        <p:txBody>
          <a:bodyPr/>
          <a:lstStyle/>
          <a:p>
            <a:fld id="{6B97D948-30E8-43F7-AE10-F6E2D9F2BBB1}" type="slidenum">
              <a:rPr lang="en-US" smtClean="0"/>
              <a:t>78</a:t>
            </a:fld>
            <a:endParaRPr lang="en-US"/>
          </a:p>
        </p:txBody>
      </p:sp>
    </p:spTree>
    <p:extLst>
      <p:ext uri="{BB962C8B-B14F-4D97-AF65-F5344CB8AC3E}">
        <p14:creationId xmlns:p14="http://schemas.microsoft.com/office/powerpoint/2010/main" val="12076149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95F9D-563F-4576-8E88-FF1235691FF5}"/>
              </a:ext>
            </a:extLst>
          </p:cNvPr>
          <p:cNvSpPr>
            <a:spLocks noGrp="1"/>
          </p:cNvSpPr>
          <p:nvPr>
            <p:ph idx="1"/>
          </p:nvPr>
        </p:nvSpPr>
        <p:spPr>
          <a:xfrm>
            <a:off x="838200" y="591671"/>
            <a:ext cx="10515600" cy="5585292"/>
          </a:xfrm>
        </p:spPr>
        <p:txBody>
          <a:bodyPr>
            <a:normAutofit/>
          </a:bodyPr>
          <a:lstStyle/>
          <a:p>
            <a:pPr algn="just"/>
            <a:r>
              <a:rPr lang="en-US" dirty="0"/>
              <a:t>Notice the four spaces before statement1, statement2, etc. </a:t>
            </a:r>
          </a:p>
          <a:p>
            <a:pPr algn="just"/>
            <a:endParaRPr lang="en-US" dirty="0"/>
          </a:p>
          <a:p>
            <a:pPr algn="just"/>
            <a:r>
              <a:rPr lang="en-US" dirty="0"/>
              <a:t>The spaces inform Python that these statements are associated with the if statement above. </a:t>
            </a:r>
          </a:p>
          <a:p>
            <a:pPr algn="just"/>
            <a:r>
              <a:rPr lang="en-US" dirty="0"/>
              <a:t>This technique of structuring code by adding spaces is called </a:t>
            </a:r>
            <a:r>
              <a:rPr lang="en-US" i="1" dirty="0">
                <a:solidFill>
                  <a:srgbClr val="00B0F0"/>
                </a:solidFill>
              </a:rPr>
              <a:t>indentation</a:t>
            </a:r>
            <a:r>
              <a:rPr lang="en-US" dirty="0"/>
              <a:t>.</a:t>
            </a:r>
          </a:p>
          <a:p>
            <a:pPr algn="just"/>
            <a:r>
              <a:rPr lang="en-US" dirty="0"/>
              <a:t> </a:t>
            </a:r>
          </a:p>
        </p:txBody>
      </p:sp>
      <p:sp>
        <p:nvSpPr>
          <p:cNvPr id="4" name="Slide Number Placeholder 3">
            <a:extLst>
              <a:ext uri="{FF2B5EF4-FFF2-40B4-BE49-F238E27FC236}">
                <a16:creationId xmlns:a16="http://schemas.microsoft.com/office/drawing/2014/main" id="{BBB5E317-1F04-479C-ABA5-C0523135C129}"/>
              </a:ext>
            </a:extLst>
          </p:cNvPr>
          <p:cNvSpPr>
            <a:spLocks noGrp="1"/>
          </p:cNvSpPr>
          <p:nvPr>
            <p:ph type="sldNum" sz="quarter" idx="12"/>
          </p:nvPr>
        </p:nvSpPr>
        <p:spPr/>
        <p:txBody>
          <a:bodyPr/>
          <a:lstStyle/>
          <a:p>
            <a:fld id="{6B97D948-30E8-43F7-AE10-F6E2D9F2BBB1}" type="slidenum">
              <a:rPr lang="en-US" smtClean="0"/>
              <a:t>79</a:t>
            </a:fld>
            <a:endParaRPr lang="en-US"/>
          </a:p>
        </p:txBody>
      </p:sp>
    </p:spTree>
    <p:extLst>
      <p:ext uri="{BB962C8B-B14F-4D97-AF65-F5344CB8AC3E}">
        <p14:creationId xmlns:p14="http://schemas.microsoft.com/office/powerpoint/2010/main" val="9987239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145BB-63E6-4D7C-BC8D-693D60B8D905}"/>
              </a:ext>
            </a:extLst>
          </p:cNvPr>
          <p:cNvSpPr>
            <a:spLocks noGrp="1"/>
          </p:cNvSpPr>
          <p:nvPr>
            <p:ph type="title"/>
          </p:nvPr>
        </p:nvSpPr>
        <p:spPr>
          <a:xfrm>
            <a:off x="838200" y="365125"/>
            <a:ext cx="10515600" cy="670299"/>
          </a:xfrm>
        </p:spPr>
        <p:txBody>
          <a:bodyPr>
            <a:normAutofit fontScale="90000"/>
          </a:bodyPr>
          <a:lstStyle/>
          <a:p>
            <a:r>
              <a:rPr lang="en-US" dirty="0"/>
              <a:t>Indentation</a:t>
            </a:r>
          </a:p>
        </p:txBody>
      </p:sp>
      <p:sp>
        <p:nvSpPr>
          <p:cNvPr id="3" name="Content Placeholder 2">
            <a:extLst>
              <a:ext uri="{FF2B5EF4-FFF2-40B4-BE49-F238E27FC236}">
                <a16:creationId xmlns:a16="http://schemas.microsoft.com/office/drawing/2014/main" id="{9092C798-DC89-46F9-943C-6351715137E8}"/>
              </a:ext>
            </a:extLst>
          </p:cNvPr>
          <p:cNvSpPr>
            <a:spLocks noGrp="1"/>
          </p:cNvSpPr>
          <p:nvPr>
            <p:ph idx="1"/>
          </p:nvPr>
        </p:nvSpPr>
        <p:spPr>
          <a:xfrm>
            <a:off x="838200" y="1035424"/>
            <a:ext cx="10515600" cy="5141539"/>
          </a:xfrm>
        </p:spPr>
        <p:txBody>
          <a:bodyPr>
            <a:normAutofit/>
          </a:bodyPr>
          <a:lstStyle/>
          <a:p>
            <a:pPr algn="just"/>
            <a:r>
              <a:rPr lang="en-US" dirty="0"/>
              <a:t>Python relies heavily on indentation (</a:t>
            </a:r>
            <a:r>
              <a:rPr lang="en-US" dirty="0">
                <a:solidFill>
                  <a:srgbClr val="00B0F0"/>
                </a:solidFill>
              </a:rPr>
              <a:t>white space </a:t>
            </a:r>
            <a:r>
              <a:rPr lang="en-US" dirty="0"/>
              <a:t>before a statement) to define code structure. </a:t>
            </a:r>
          </a:p>
          <a:p>
            <a:pPr algn="just"/>
            <a:endParaRPr lang="en-US" dirty="0"/>
          </a:p>
          <a:p>
            <a:pPr algn="just"/>
            <a:r>
              <a:rPr lang="en-US" dirty="0"/>
              <a:t>This makes Python code easy to read and understand. </a:t>
            </a:r>
          </a:p>
          <a:p>
            <a:pPr algn="just"/>
            <a:endParaRPr lang="en-US" dirty="0"/>
          </a:p>
          <a:p>
            <a:pPr algn="just"/>
            <a:r>
              <a:rPr lang="en-US" dirty="0"/>
              <a:t>You can run into problems if you don’t use indentation properly. </a:t>
            </a:r>
          </a:p>
          <a:p>
            <a:pPr algn="just"/>
            <a:endParaRPr lang="en-US" dirty="0"/>
          </a:p>
          <a:p>
            <a:pPr algn="just"/>
            <a:r>
              <a:rPr lang="en-US" dirty="0"/>
              <a:t>Indent your code by placing the cursor at the start of the line and pressing the </a:t>
            </a:r>
            <a:r>
              <a:rPr lang="en-US" dirty="0">
                <a:solidFill>
                  <a:srgbClr val="FF0000"/>
                </a:solidFill>
              </a:rPr>
              <a:t>Tab key once to add 4 spaces</a:t>
            </a:r>
            <a:r>
              <a:rPr lang="en-US" dirty="0"/>
              <a:t>. </a:t>
            </a:r>
          </a:p>
          <a:p>
            <a:pPr algn="just"/>
            <a:r>
              <a:rPr lang="en-US" dirty="0"/>
              <a:t>Pressing Tab again will indent the code further by 4 more spaces. . . </a:t>
            </a:r>
          </a:p>
        </p:txBody>
      </p:sp>
      <p:sp>
        <p:nvSpPr>
          <p:cNvPr id="5" name="Slide Number Placeholder 4">
            <a:extLst>
              <a:ext uri="{FF2B5EF4-FFF2-40B4-BE49-F238E27FC236}">
                <a16:creationId xmlns:a16="http://schemas.microsoft.com/office/drawing/2014/main" id="{EB47CD70-BE78-45D7-829C-97CC6AAD2D4E}"/>
              </a:ext>
            </a:extLst>
          </p:cNvPr>
          <p:cNvSpPr>
            <a:spLocks noGrp="1"/>
          </p:cNvSpPr>
          <p:nvPr>
            <p:ph type="sldNum" sz="quarter" idx="12"/>
          </p:nvPr>
        </p:nvSpPr>
        <p:spPr/>
        <p:txBody>
          <a:bodyPr/>
          <a:lstStyle/>
          <a:p>
            <a:fld id="{6B97D948-30E8-43F7-AE10-F6E2D9F2BBB1}" type="slidenum">
              <a:rPr lang="en-US" smtClean="0"/>
              <a:t>80</a:t>
            </a:fld>
            <a:endParaRPr lang="en-US"/>
          </a:p>
        </p:txBody>
      </p:sp>
    </p:spTree>
    <p:extLst>
      <p:ext uri="{BB962C8B-B14F-4D97-AF65-F5344CB8AC3E}">
        <p14:creationId xmlns:p14="http://schemas.microsoft.com/office/powerpoint/2010/main" val="38237234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7450E2-4A3C-4F53-BF78-7810F0BBAD11}"/>
              </a:ext>
            </a:extLst>
          </p:cNvPr>
          <p:cNvSpPr>
            <a:spLocks noGrp="1"/>
          </p:cNvSpPr>
          <p:nvPr>
            <p:ph idx="1"/>
          </p:nvPr>
        </p:nvSpPr>
        <p:spPr>
          <a:xfrm>
            <a:off x="838200" y="484094"/>
            <a:ext cx="10515600" cy="5692869"/>
          </a:xfrm>
        </p:spPr>
        <p:txBody>
          <a:bodyPr/>
          <a:lstStyle/>
          <a:p>
            <a:pPr algn="just"/>
            <a:r>
              <a:rPr lang="en-US" dirty="0"/>
              <a:t>Let’s write some code to check and print a message if a given number is even.</a:t>
            </a:r>
          </a:p>
          <a:p>
            <a:pPr algn="just"/>
            <a:r>
              <a:rPr lang="en-US" dirty="0">
                <a:solidFill>
                  <a:srgbClr val="FF0000"/>
                </a:solidFill>
              </a:rPr>
              <a:t> </a:t>
            </a:r>
            <a:r>
              <a:rPr lang="en-US" dirty="0" err="1">
                <a:solidFill>
                  <a:srgbClr val="FF0000"/>
                </a:solidFill>
              </a:rPr>
              <a:t>a_number</a:t>
            </a:r>
            <a:r>
              <a:rPr lang="en-US" dirty="0">
                <a:solidFill>
                  <a:srgbClr val="FF0000"/>
                </a:solidFill>
              </a:rPr>
              <a:t> = 34</a:t>
            </a:r>
          </a:p>
          <a:p>
            <a:pPr algn="just"/>
            <a:endParaRPr lang="en-US" dirty="0">
              <a:solidFill>
                <a:srgbClr val="FF0000"/>
              </a:solidFill>
            </a:endParaRPr>
          </a:p>
          <a:p>
            <a:pPr algn="just"/>
            <a:r>
              <a:rPr lang="en-US" dirty="0">
                <a:solidFill>
                  <a:srgbClr val="FF0000"/>
                </a:solidFill>
              </a:rPr>
              <a:t>if </a:t>
            </a:r>
            <a:r>
              <a:rPr lang="en-US" dirty="0" err="1">
                <a:solidFill>
                  <a:srgbClr val="FF0000"/>
                </a:solidFill>
              </a:rPr>
              <a:t>a_number</a:t>
            </a:r>
            <a:r>
              <a:rPr lang="en-US" dirty="0">
                <a:solidFill>
                  <a:srgbClr val="FF0000"/>
                </a:solidFill>
              </a:rPr>
              <a:t> % 2 == 0:</a:t>
            </a:r>
          </a:p>
          <a:p>
            <a:pPr algn="just"/>
            <a:r>
              <a:rPr lang="en-US" dirty="0">
                <a:solidFill>
                  <a:srgbClr val="FF0000"/>
                </a:solidFill>
              </a:rPr>
              <a:t>...:     print("We're inside an if block")</a:t>
            </a:r>
          </a:p>
          <a:p>
            <a:pPr algn="just"/>
            <a:r>
              <a:rPr lang="en-US" dirty="0">
                <a:solidFill>
                  <a:srgbClr val="FF0000"/>
                </a:solidFill>
              </a:rPr>
              <a:t>...:     print('The given number {} is </a:t>
            </a:r>
            <a:r>
              <a:rPr lang="en-US" dirty="0" err="1">
                <a:solidFill>
                  <a:srgbClr val="FF0000"/>
                </a:solidFill>
              </a:rPr>
              <a:t>even.'.format</a:t>
            </a:r>
            <a:r>
              <a:rPr lang="en-US" dirty="0">
                <a:solidFill>
                  <a:srgbClr val="FF0000"/>
                </a:solidFill>
              </a:rPr>
              <a:t>(</a:t>
            </a:r>
            <a:r>
              <a:rPr lang="en-US" dirty="0" err="1">
                <a:solidFill>
                  <a:srgbClr val="FF0000"/>
                </a:solidFill>
              </a:rPr>
              <a:t>a_number</a:t>
            </a:r>
            <a:r>
              <a:rPr lang="en-US" dirty="0">
                <a:solidFill>
                  <a:srgbClr val="FF0000"/>
                </a:solidFill>
              </a:rPr>
              <a:t>))</a:t>
            </a:r>
          </a:p>
          <a:p>
            <a:pPr algn="just"/>
            <a:endParaRPr lang="en-US" dirty="0"/>
          </a:p>
          <a:p>
            <a:pPr algn="just"/>
            <a:r>
              <a:rPr lang="en-US" dirty="0"/>
              <a:t>We're inside an if block</a:t>
            </a:r>
          </a:p>
          <a:p>
            <a:pPr algn="just"/>
            <a:r>
              <a:rPr lang="en-US" dirty="0"/>
              <a:t>The given number 34 is even.</a:t>
            </a:r>
          </a:p>
        </p:txBody>
      </p:sp>
      <p:sp>
        <p:nvSpPr>
          <p:cNvPr id="4" name="Slide Number Placeholder 3">
            <a:extLst>
              <a:ext uri="{FF2B5EF4-FFF2-40B4-BE49-F238E27FC236}">
                <a16:creationId xmlns:a16="http://schemas.microsoft.com/office/drawing/2014/main" id="{B791D13A-49E3-4312-9448-D4069B9CBF9A}"/>
              </a:ext>
            </a:extLst>
          </p:cNvPr>
          <p:cNvSpPr>
            <a:spLocks noGrp="1"/>
          </p:cNvSpPr>
          <p:nvPr>
            <p:ph type="sldNum" sz="quarter" idx="12"/>
          </p:nvPr>
        </p:nvSpPr>
        <p:spPr/>
        <p:txBody>
          <a:bodyPr/>
          <a:lstStyle/>
          <a:p>
            <a:fld id="{6B97D948-30E8-43F7-AE10-F6E2D9F2BBB1}" type="slidenum">
              <a:rPr lang="en-US" smtClean="0"/>
              <a:t>81</a:t>
            </a:fld>
            <a:endParaRPr lang="en-US"/>
          </a:p>
        </p:txBody>
      </p:sp>
    </p:spTree>
    <p:extLst>
      <p:ext uri="{BB962C8B-B14F-4D97-AF65-F5344CB8AC3E}">
        <p14:creationId xmlns:p14="http://schemas.microsoft.com/office/powerpoint/2010/main" val="32422900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CCA5A-F413-4387-8D0E-C03A66D91488}"/>
              </a:ext>
            </a:extLst>
          </p:cNvPr>
          <p:cNvSpPr>
            <a:spLocks noGrp="1"/>
          </p:cNvSpPr>
          <p:nvPr>
            <p:ph type="title"/>
          </p:nvPr>
        </p:nvSpPr>
        <p:spPr>
          <a:xfrm>
            <a:off x="838200" y="365126"/>
            <a:ext cx="10515600" cy="562722"/>
          </a:xfrm>
        </p:spPr>
        <p:txBody>
          <a:bodyPr>
            <a:normAutofit fontScale="90000"/>
          </a:bodyPr>
          <a:lstStyle/>
          <a:p>
            <a:r>
              <a:rPr lang="en-US" dirty="0"/>
              <a:t>The </a:t>
            </a:r>
            <a:r>
              <a:rPr lang="en-US" dirty="0">
                <a:solidFill>
                  <a:srgbClr val="FF0000"/>
                </a:solidFill>
              </a:rPr>
              <a:t>else</a:t>
            </a:r>
            <a:r>
              <a:rPr lang="en-US" dirty="0"/>
              <a:t> statement</a:t>
            </a:r>
          </a:p>
        </p:txBody>
      </p:sp>
      <p:sp>
        <p:nvSpPr>
          <p:cNvPr id="3" name="Content Placeholder 2">
            <a:extLst>
              <a:ext uri="{FF2B5EF4-FFF2-40B4-BE49-F238E27FC236}">
                <a16:creationId xmlns:a16="http://schemas.microsoft.com/office/drawing/2014/main" id="{4BBBF248-3FDD-4210-AC26-B7C10A536A3B}"/>
              </a:ext>
            </a:extLst>
          </p:cNvPr>
          <p:cNvSpPr>
            <a:spLocks noGrp="1"/>
          </p:cNvSpPr>
          <p:nvPr>
            <p:ph idx="1"/>
          </p:nvPr>
        </p:nvSpPr>
        <p:spPr>
          <a:xfrm>
            <a:off x="838200" y="927848"/>
            <a:ext cx="10515600" cy="5249115"/>
          </a:xfrm>
        </p:spPr>
        <p:txBody>
          <a:bodyPr>
            <a:normAutofit fontScale="92500" lnSpcReduction="20000"/>
          </a:bodyPr>
          <a:lstStyle/>
          <a:p>
            <a:r>
              <a:rPr lang="en-US" dirty="0"/>
              <a:t>We may want to print a different message if the number is not even in the above example. </a:t>
            </a:r>
          </a:p>
          <a:p>
            <a:r>
              <a:rPr lang="en-US" dirty="0"/>
              <a:t>This can be done by adding the else statement. </a:t>
            </a:r>
          </a:p>
          <a:p>
            <a:r>
              <a:rPr lang="en-US" dirty="0"/>
              <a:t>It is written as follows:</a:t>
            </a:r>
          </a:p>
          <a:p>
            <a:endParaRPr lang="en-US" dirty="0"/>
          </a:p>
          <a:p>
            <a:r>
              <a:rPr lang="en-US" dirty="0">
                <a:solidFill>
                  <a:srgbClr val="0070C0"/>
                </a:solidFill>
              </a:rPr>
              <a:t>if condition</a:t>
            </a:r>
            <a:r>
              <a:rPr lang="en-US" dirty="0">
                <a:solidFill>
                  <a:srgbClr val="FF0000"/>
                </a:solidFill>
              </a:rPr>
              <a:t>:</a:t>
            </a:r>
          </a:p>
          <a:p>
            <a:r>
              <a:rPr lang="en-US" dirty="0">
                <a:solidFill>
                  <a:srgbClr val="FF0000"/>
                </a:solidFill>
              </a:rPr>
              <a:t>    statement1</a:t>
            </a:r>
          </a:p>
          <a:p>
            <a:r>
              <a:rPr lang="en-US" dirty="0">
                <a:solidFill>
                  <a:srgbClr val="FF0000"/>
                </a:solidFill>
              </a:rPr>
              <a:t>    statement2</a:t>
            </a:r>
          </a:p>
          <a:p>
            <a:r>
              <a:rPr lang="en-US" dirty="0">
                <a:solidFill>
                  <a:srgbClr val="0070C0"/>
                </a:solidFill>
              </a:rPr>
              <a:t>else:</a:t>
            </a:r>
          </a:p>
          <a:p>
            <a:r>
              <a:rPr lang="en-US" dirty="0">
                <a:solidFill>
                  <a:srgbClr val="FF0000"/>
                </a:solidFill>
              </a:rPr>
              <a:t>    </a:t>
            </a:r>
            <a:r>
              <a:rPr lang="en-US" dirty="0">
                <a:solidFill>
                  <a:schemeClr val="accent2"/>
                </a:solidFill>
              </a:rPr>
              <a:t>statement4</a:t>
            </a:r>
          </a:p>
          <a:p>
            <a:r>
              <a:rPr lang="en-US" dirty="0">
                <a:solidFill>
                  <a:schemeClr val="accent2"/>
                </a:solidFill>
              </a:rPr>
              <a:t>    statement5</a:t>
            </a:r>
          </a:p>
          <a:p>
            <a:r>
              <a:rPr lang="en-US" dirty="0"/>
              <a:t>If condition evaluates to </a:t>
            </a:r>
            <a:r>
              <a:rPr lang="en-US" dirty="0">
                <a:solidFill>
                  <a:srgbClr val="FF0000"/>
                </a:solidFill>
              </a:rPr>
              <a:t>True</a:t>
            </a:r>
            <a:r>
              <a:rPr lang="en-US" dirty="0"/>
              <a:t>, the statements in the </a:t>
            </a:r>
            <a:r>
              <a:rPr lang="en-US" dirty="0">
                <a:solidFill>
                  <a:srgbClr val="FF0000"/>
                </a:solidFill>
              </a:rPr>
              <a:t>if block are executed</a:t>
            </a:r>
            <a:r>
              <a:rPr lang="en-US" dirty="0"/>
              <a:t>. If it evaluates to </a:t>
            </a:r>
            <a:r>
              <a:rPr lang="en-US" dirty="0">
                <a:solidFill>
                  <a:srgbClr val="00B0F0"/>
                </a:solidFill>
              </a:rPr>
              <a:t>False</a:t>
            </a:r>
            <a:r>
              <a:rPr lang="en-US" dirty="0"/>
              <a:t>, the statements in the </a:t>
            </a:r>
            <a:r>
              <a:rPr lang="en-US" dirty="0">
                <a:solidFill>
                  <a:schemeClr val="accent2"/>
                </a:solidFill>
              </a:rPr>
              <a:t>else block are executed</a:t>
            </a:r>
            <a:r>
              <a:rPr lang="en-US" dirty="0"/>
              <a:t>.</a:t>
            </a:r>
          </a:p>
        </p:txBody>
      </p:sp>
      <p:sp>
        <p:nvSpPr>
          <p:cNvPr id="5" name="Slide Number Placeholder 4">
            <a:extLst>
              <a:ext uri="{FF2B5EF4-FFF2-40B4-BE49-F238E27FC236}">
                <a16:creationId xmlns:a16="http://schemas.microsoft.com/office/drawing/2014/main" id="{C0B97A6E-A8C8-45A1-B8F3-75E8A4277220}"/>
              </a:ext>
            </a:extLst>
          </p:cNvPr>
          <p:cNvSpPr>
            <a:spLocks noGrp="1"/>
          </p:cNvSpPr>
          <p:nvPr>
            <p:ph type="sldNum" sz="quarter" idx="12"/>
          </p:nvPr>
        </p:nvSpPr>
        <p:spPr/>
        <p:txBody>
          <a:bodyPr/>
          <a:lstStyle/>
          <a:p>
            <a:fld id="{6B97D948-30E8-43F7-AE10-F6E2D9F2BBB1}" type="slidenum">
              <a:rPr lang="en-US" smtClean="0"/>
              <a:t>82</a:t>
            </a:fld>
            <a:endParaRPr lang="en-US"/>
          </a:p>
        </p:txBody>
      </p:sp>
    </p:spTree>
    <p:extLst>
      <p:ext uri="{BB962C8B-B14F-4D97-AF65-F5344CB8AC3E}">
        <p14:creationId xmlns:p14="http://schemas.microsoft.com/office/powerpoint/2010/main" val="211373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42357C-3EB7-43C8-A8DE-96830710CB91}"/>
              </a:ext>
            </a:extLst>
          </p:cNvPr>
          <p:cNvSpPr>
            <a:spLocks noGrp="1"/>
          </p:cNvSpPr>
          <p:nvPr>
            <p:ph idx="1"/>
          </p:nvPr>
        </p:nvSpPr>
        <p:spPr>
          <a:xfrm>
            <a:off x="838200" y="376518"/>
            <a:ext cx="10515600" cy="5800445"/>
          </a:xfrm>
        </p:spPr>
        <p:txBody>
          <a:bodyPr>
            <a:normAutofit/>
          </a:bodyPr>
          <a:lstStyle/>
          <a:p>
            <a:r>
              <a:rPr lang="en-US" dirty="0"/>
              <a:t> </a:t>
            </a:r>
            <a:r>
              <a:rPr lang="en-US" dirty="0" err="1">
                <a:solidFill>
                  <a:srgbClr val="FF0000"/>
                </a:solidFill>
              </a:rPr>
              <a:t>a_number</a:t>
            </a:r>
            <a:r>
              <a:rPr lang="en-US" dirty="0">
                <a:solidFill>
                  <a:srgbClr val="FF0000"/>
                </a:solidFill>
              </a:rPr>
              <a:t> = int(input('Enter a number:'))</a:t>
            </a:r>
          </a:p>
          <a:p>
            <a:r>
              <a:rPr lang="en-US" dirty="0">
                <a:solidFill>
                  <a:srgbClr val="FF0000"/>
                </a:solidFill>
              </a:rPr>
              <a:t>Enter a number:27</a:t>
            </a:r>
          </a:p>
          <a:p>
            <a:endParaRPr lang="en-US" dirty="0"/>
          </a:p>
          <a:p>
            <a:r>
              <a:rPr lang="en-US" dirty="0">
                <a:solidFill>
                  <a:srgbClr val="FF0000"/>
                </a:solidFill>
              </a:rPr>
              <a:t>if </a:t>
            </a:r>
            <a:r>
              <a:rPr lang="en-US" dirty="0" err="1">
                <a:solidFill>
                  <a:srgbClr val="FF0000"/>
                </a:solidFill>
              </a:rPr>
              <a:t>a_number</a:t>
            </a:r>
            <a:r>
              <a:rPr lang="en-US" dirty="0">
                <a:solidFill>
                  <a:srgbClr val="FF0000"/>
                </a:solidFill>
              </a:rPr>
              <a:t> % 2 == 0:</a:t>
            </a:r>
          </a:p>
          <a:p>
            <a:r>
              <a:rPr lang="en-US" dirty="0">
                <a:solidFill>
                  <a:srgbClr val="FF0000"/>
                </a:solidFill>
              </a:rPr>
              <a:t>...:     print('The given number {} is </a:t>
            </a:r>
            <a:r>
              <a:rPr lang="en-US" dirty="0" err="1">
                <a:solidFill>
                  <a:srgbClr val="FF0000"/>
                </a:solidFill>
              </a:rPr>
              <a:t>even.'.format</a:t>
            </a:r>
            <a:r>
              <a:rPr lang="en-US" dirty="0">
                <a:solidFill>
                  <a:srgbClr val="FF0000"/>
                </a:solidFill>
              </a:rPr>
              <a:t>(</a:t>
            </a:r>
            <a:r>
              <a:rPr lang="en-US" dirty="0" err="1">
                <a:solidFill>
                  <a:srgbClr val="FF0000"/>
                </a:solidFill>
              </a:rPr>
              <a:t>a_number</a:t>
            </a:r>
            <a:r>
              <a:rPr lang="en-US" dirty="0">
                <a:solidFill>
                  <a:srgbClr val="FF0000"/>
                </a:solidFill>
              </a:rPr>
              <a:t>))</a:t>
            </a:r>
          </a:p>
          <a:p>
            <a:r>
              <a:rPr lang="en-US" dirty="0">
                <a:solidFill>
                  <a:srgbClr val="FF0000"/>
                </a:solidFill>
              </a:rPr>
              <a:t>else:</a:t>
            </a:r>
          </a:p>
          <a:p>
            <a:r>
              <a:rPr lang="en-US" dirty="0">
                <a:solidFill>
                  <a:srgbClr val="FF0000"/>
                </a:solidFill>
              </a:rPr>
              <a:t>...:     print('The given number {} is </a:t>
            </a:r>
            <a:r>
              <a:rPr lang="en-US" dirty="0" err="1">
                <a:solidFill>
                  <a:srgbClr val="FF0000"/>
                </a:solidFill>
              </a:rPr>
              <a:t>odd.'.format</a:t>
            </a:r>
            <a:r>
              <a:rPr lang="en-US" dirty="0">
                <a:solidFill>
                  <a:srgbClr val="FF0000"/>
                </a:solidFill>
              </a:rPr>
              <a:t>(</a:t>
            </a:r>
            <a:r>
              <a:rPr lang="en-US" dirty="0" err="1">
                <a:solidFill>
                  <a:srgbClr val="FF0000"/>
                </a:solidFill>
              </a:rPr>
              <a:t>a_number</a:t>
            </a:r>
            <a:r>
              <a:rPr lang="en-US" dirty="0">
                <a:solidFill>
                  <a:srgbClr val="FF0000"/>
                </a:solidFill>
              </a:rPr>
              <a:t>))</a:t>
            </a:r>
          </a:p>
          <a:p>
            <a:r>
              <a:rPr lang="en-US" dirty="0">
                <a:solidFill>
                  <a:srgbClr val="FF0000"/>
                </a:solidFill>
              </a:rPr>
              <a:t>    ...:</a:t>
            </a:r>
          </a:p>
          <a:p>
            <a:r>
              <a:rPr lang="en-US" dirty="0"/>
              <a:t>The given number 27 is odd.</a:t>
            </a:r>
          </a:p>
          <a:p>
            <a:endParaRPr lang="en-US" dirty="0"/>
          </a:p>
        </p:txBody>
      </p:sp>
      <p:sp>
        <p:nvSpPr>
          <p:cNvPr id="4" name="Slide Number Placeholder 3">
            <a:extLst>
              <a:ext uri="{FF2B5EF4-FFF2-40B4-BE49-F238E27FC236}">
                <a16:creationId xmlns:a16="http://schemas.microsoft.com/office/drawing/2014/main" id="{5C1183FD-8346-4294-8D28-F9F632B7E1FA}"/>
              </a:ext>
            </a:extLst>
          </p:cNvPr>
          <p:cNvSpPr>
            <a:spLocks noGrp="1"/>
          </p:cNvSpPr>
          <p:nvPr>
            <p:ph type="sldNum" sz="quarter" idx="12"/>
          </p:nvPr>
        </p:nvSpPr>
        <p:spPr/>
        <p:txBody>
          <a:bodyPr/>
          <a:lstStyle/>
          <a:p>
            <a:fld id="{6B97D948-30E8-43F7-AE10-F6E2D9F2BBB1}" type="slidenum">
              <a:rPr lang="en-US" smtClean="0"/>
              <a:t>83</a:t>
            </a:fld>
            <a:endParaRPr lang="en-US"/>
          </a:p>
        </p:txBody>
      </p:sp>
    </p:spTree>
    <p:extLst>
      <p:ext uri="{BB962C8B-B14F-4D97-AF65-F5344CB8AC3E}">
        <p14:creationId xmlns:p14="http://schemas.microsoft.com/office/powerpoint/2010/main" val="42305925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CA885-FA54-42A3-9A71-6694A8A6EAA4}"/>
              </a:ext>
            </a:extLst>
          </p:cNvPr>
          <p:cNvSpPr>
            <a:spLocks noGrp="1"/>
          </p:cNvSpPr>
          <p:nvPr>
            <p:ph type="title"/>
          </p:nvPr>
        </p:nvSpPr>
        <p:spPr>
          <a:xfrm>
            <a:off x="838200" y="365125"/>
            <a:ext cx="10515600" cy="724087"/>
          </a:xfrm>
        </p:spPr>
        <p:txBody>
          <a:bodyPr/>
          <a:lstStyle/>
          <a:p>
            <a:r>
              <a:rPr lang="en-US" dirty="0"/>
              <a:t>The </a:t>
            </a:r>
            <a:r>
              <a:rPr lang="en-US" dirty="0" err="1">
                <a:solidFill>
                  <a:srgbClr val="FF0000"/>
                </a:solidFill>
              </a:rPr>
              <a:t>elif</a:t>
            </a:r>
            <a:r>
              <a:rPr lang="en-US" dirty="0"/>
              <a:t> statement</a:t>
            </a:r>
          </a:p>
        </p:txBody>
      </p:sp>
      <p:sp>
        <p:nvSpPr>
          <p:cNvPr id="3" name="Content Placeholder 2">
            <a:extLst>
              <a:ext uri="{FF2B5EF4-FFF2-40B4-BE49-F238E27FC236}">
                <a16:creationId xmlns:a16="http://schemas.microsoft.com/office/drawing/2014/main" id="{56351F6E-51E6-42CF-86F7-379AA6BD2906}"/>
              </a:ext>
            </a:extLst>
          </p:cNvPr>
          <p:cNvSpPr>
            <a:spLocks noGrp="1"/>
          </p:cNvSpPr>
          <p:nvPr>
            <p:ph idx="1"/>
          </p:nvPr>
        </p:nvSpPr>
        <p:spPr>
          <a:xfrm>
            <a:off x="838200" y="1183341"/>
            <a:ext cx="10515600" cy="4993622"/>
          </a:xfrm>
        </p:spPr>
        <p:txBody>
          <a:bodyPr>
            <a:normAutofit fontScale="92500"/>
          </a:bodyPr>
          <a:lstStyle/>
          <a:p>
            <a:pPr algn="just"/>
            <a:r>
              <a:rPr lang="en-US" dirty="0"/>
              <a:t>Python also provides an </a:t>
            </a:r>
            <a:r>
              <a:rPr lang="en-US" dirty="0" err="1"/>
              <a:t>elif</a:t>
            </a:r>
            <a:r>
              <a:rPr lang="en-US" dirty="0"/>
              <a:t> statement (short for “else if”) to chain a series of conditional blocks. </a:t>
            </a:r>
          </a:p>
          <a:p>
            <a:pPr algn="just"/>
            <a:r>
              <a:rPr lang="en-US" dirty="0"/>
              <a:t>The conditions are evaluated one by one. </a:t>
            </a:r>
          </a:p>
          <a:p>
            <a:pPr algn="just"/>
            <a:endParaRPr lang="en-US" dirty="0"/>
          </a:p>
          <a:p>
            <a:pPr algn="just"/>
            <a:r>
              <a:rPr lang="en-US" dirty="0"/>
              <a:t>For the first condition that evaluates to True, the block of statements below it is executed. </a:t>
            </a:r>
          </a:p>
          <a:p>
            <a:pPr algn="just"/>
            <a:endParaRPr lang="en-US" dirty="0"/>
          </a:p>
          <a:p>
            <a:pPr algn="just"/>
            <a:r>
              <a:rPr lang="en-US" dirty="0"/>
              <a:t>The remaining conditions and statements are not evaluated. </a:t>
            </a:r>
          </a:p>
          <a:p>
            <a:pPr algn="just"/>
            <a:endParaRPr lang="en-US" dirty="0"/>
          </a:p>
          <a:p>
            <a:pPr algn="just"/>
            <a:r>
              <a:rPr lang="en-US" dirty="0"/>
              <a:t>So, in an if, </a:t>
            </a:r>
            <a:r>
              <a:rPr lang="en-US" dirty="0" err="1"/>
              <a:t>elif</a:t>
            </a:r>
            <a:r>
              <a:rPr lang="en-US" dirty="0"/>
              <a:t>, </a:t>
            </a:r>
            <a:r>
              <a:rPr lang="en-US" dirty="0" err="1"/>
              <a:t>elif</a:t>
            </a:r>
            <a:r>
              <a:rPr lang="en-US" dirty="0"/>
              <a:t>… chain, at most one block of statements is executed, the one corresponding to the first condition that evaluates to True.</a:t>
            </a:r>
          </a:p>
        </p:txBody>
      </p:sp>
      <p:sp>
        <p:nvSpPr>
          <p:cNvPr id="5" name="Slide Number Placeholder 4">
            <a:extLst>
              <a:ext uri="{FF2B5EF4-FFF2-40B4-BE49-F238E27FC236}">
                <a16:creationId xmlns:a16="http://schemas.microsoft.com/office/drawing/2014/main" id="{101E20AF-6693-4963-BBE6-4AA07464F896}"/>
              </a:ext>
            </a:extLst>
          </p:cNvPr>
          <p:cNvSpPr>
            <a:spLocks noGrp="1"/>
          </p:cNvSpPr>
          <p:nvPr>
            <p:ph type="sldNum" sz="quarter" idx="12"/>
          </p:nvPr>
        </p:nvSpPr>
        <p:spPr/>
        <p:txBody>
          <a:bodyPr/>
          <a:lstStyle/>
          <a:p>
            <a:fld id="{6B97D948-30E8-43F7-AE10-F6E2D9F2BBB1}" type="slidenum">
              <a:rPr lang="en-US" smtClean="0"/>
              <a:t>84</a:t>
            </a:fld>
            <a:endParaRPr lang="en-US"/>
          </a:p>
        </p:txBody>
      </p:sp>
    </p:spTree>
    <p:extLst>
      <p:ext uri="{BB962C8B-B14F-4D97-AF65-F5344CB8AC3E}">
        <p14:creationId xmlns:p14="http://schemas.microsoft.com/office/powerpoint/2010/main" val="6840309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2A6EB0-0F8E-4601-A481-2250381C05D9}"/>
              </a:ext>
            </a:extLst>
          </p:cNvPr>
          <p:cNvSpPr>
            <a:spLocks noGrp="1"/>
          </p:cNvSpPr>
          <p:nvPr>
            <p:ph idx="1"/>
          </p:nvPr>
        </p:nvSpPr>
        <p:spPr>
          <a:xfrm>
            <a:off x="838200" y="497541"/>
            <a:ext cx="10515600" cy="5679422"/>
          </a:xfrm>
        </p:spPr>
        <p:txBody>
          <a:bodyPr>
            <a:normAutofit fontScale="70000" lnSpcReduction="20000"/>
          </a:bodyPr>
          <a:lstStyle/>
          <a:p>
            <a:r>
              <a:rPr lang="en-US" dirty="0"/>
              <a:t> today = 'Wednesday'</a:t>
            </a:r>
          </a:p>
          <a:p>
            <a:r>
              <a:rPr lang="en-US" dirty="0"/>
              <a:t>if today == 'Sunday':</a:t>
            </a:r>
          </a:p>
          <a:p>
            <a:r>
              <a:rPr lang="en-US" dirty="0"/>
              <a:t>   ...:     print("Today is the day of the sun.")</a:t>
            </a:r>
          </a:p>
          <a:p>
            <a:r>
              <a:rPr lang="en-US" dirty="0" err="1"/>
              <a:t>elif</a:t>
            </a:r>
            <a:r>
              <a:rPr lang="en-US" dirty="0"/>
              <a:t> today == 'Monday':</a:t>
            </a:r>
          </a:p>
          <a:p>
            <a:r>
              <a:rPr lang="en-US" dirty="0"/>
              <a:t>   ...:     print("Today is the day of the moon.")</a:t>
            </a:r>
          </a:p>
          <a:p>
            <a:r>
              <a:rPr lang="en-US" dirty="0" err="1"/>
              <a:t>elif</a:t>
            </a:r>
            <a:r>
              <a:rPr lang="en-US" dirty="0"/>
              <a:t> today == 'Tuesday':</a:t>
            </a:r>
          </a:p>
          <a:p>
            <a:r>
              <a:rPr lang="en-US" dirty="0"/>
              <a:t>   ...:     print("Today is the day of Tyr, the god of war.")</a:t>
            </a:r>
          </a:p>
          <a:p>
            <a:r>
              <a:rPr lang="en-US" dirty="0" err="1"/>
              <a:t>elif</a:t>
            </a:r>
            <a:r>
              <a:rPr lang="en-US" dirty="0"/>
              <a:t> today == 'Wednesday':</a:t>
            </a:r>
          </a:p>
          <a:p>
            <a:r>
              <a:rPr lang="en-US" dirty="0"/>
              <a:t>   ...:     print("Today is the day of Odin, the supreme </a:t>
            </a:r>
            <a:r>
              <a:rPr lang="en-US" dirty="0" err="1"/>
              <a:t>diety</a:t>
            </a:r>
            <a:r>
              <a:rPr lang="en-US" dirty="0"/>
              <a:t>.")</a:t>
            </a:r>
          </a:p>
          <a:p>
            <a:r>
              <a:rPr lang="en-US" dirty="0" err="1"/>
              <a:t>elif</a:t>
            </a:r>
            <a:r>
              <a:rPr lang="en-US" dirty="0"/>
              <a:t> today == 'Thursday':</a:t>
            </a:r>
          </a:p>
          <a:p>
            <a:r>
              <a:rPr lang="en-US" dirty="0"/>
              <a:t>   ...:     print("Today is the day of Thor, the god of thunder.")</a:t>
            </a:r>
          </a:p>
          <a:p>
            <a:r>
              <a:rPr lang="en-US" dirty="0" err="1"/>
              <a:t>elif</a:t>
            </a:r>
            <a:r>
              <a:rPr lang="en-US" dirty="0"/>
              <a:t> today == 'Friday':</a:t>
            </a:r>
          </a:p>
          <a:p>
            <a:r>
              <a:rPr lang="en-US" dirty="0"/>
              <a:t>   ...:     print("Today is the day of Frigga, the goddess of beauty.")</a:t>
            </a:r>
          </a:p>
          <a:p>
            <a:r>
              <a:rPr lang="en-US" dirty="0" err="1"/>
              <a:t>elif</a:t>
            </a:r>
            <a:r>
              <a:rPr lang="en-US" dirty="0"/>
              <a:t> today == 'Saturday':</a:t>
            </a:r>
          </a:p>
          <a:p>
            <a:r>
              <a:rPr lang="en-US" dirty="0"/>
              <a:t>   ...:     print("Today is the day of Saturn, the god of fun and feasting.")</a:t>
            </a:r>
          </a:p>
          <a:p>
            <a:r>
              <a:rPr lang="en-US" dirty="0"/>
              <a:t>   </a:t>
            </a:r>
          </a:p>
        </p:txBody>
      </p:sp>
      <p:sp>
        <p:nvSpPr>
          <p:cNvPr id="4" name="Slide Number Placeholder 3">
            <a:extLst>
              <a:ext uri="{FF2B5EF4-FFF2-40B4-BE49-F238E27FC236}">
                <a16:creationId xmlns:a16="http://schemas.microsoft.com/office/drawing/2014/main" id="{96D4F2BC-474C-469F-BC3B-22E9BB2ECF80}"/>
              </a:ext>
            </a:extLst>
          </p:cNvPr>
          <p:cNvSpPr>
            <a:spLocks noGrp="1"/>
          </p:cNvSpPr>
          <p:nvPr>
            <p:ph type="sldNum" sz="quarter" idx="12"/>
          </p:nvPr>
        </p:nvSpPr>
        <p:spPr/>
        <p:txBody>
          <a:bodyPr/>
          <a:lstStyle/>
          <a:p>
            <a:fld id="{6B97D948-30E8-43F7-AE10-F6E2D9F2BBB1}" type="slidenum">
              <a:rPr lang="en-US" smtClean="0"/>
              <a:t>85</a:t>
            </a:fld>
            <a:endParaRPr lang="en-US"/>
          </a:p>
        </p:txBody>
      </p:sp>
    </p:spTree>
    <p:extLst>
      <p:ext uri="{BB962C8B-B14F-4D97-AF65-F5344CB8AC3E}">
        <p14:creationId xmlns:p14="http://schemas.microsoft.com/office/powerpoint/2010/main" val="5511794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1DAA3-9F2B-4157-8C9C-231A59D6DA21}"/>
              </a:ext>
            </a:extLst>
          </p:cNvPr>
          <p:cNvSpPr>
            <a:spLocks noGrp="1"/>
          </p:cNvSpPr>
          <p:nvPr>
            <p:ph type="title"/>
          </p:nvPr>
        </p:nvSpPr>
        <p:spPr>
          <a:xfrm>
            <a:off x="838200" y="365126"/>
            <a:ext cx="10515600" cy="791322"/>
          </a:xfrm>
        </p:spPr>
        <p:txBody>
          <a:bodyPr/>
          <a:lstStyle/>
          <a:p>
            <a:r>
              <a:rPr lang="en-US" dirty="0"/>
              <a:t>Using </a:t>
            </a:r>
            <a:r>
              <a:rPr lang="en-US" dirty="0">
                <a:solidFill>
                  <a:srgbClr val="FF0000"/>
                </a:solidFill>
              </a:rPr>
              <a:t>if</a:t>
            </a:r>
            <a:r>
              <a:rPr lang="en-US" dirty="0"/>
              <a:t>, </a:t>
            </a:r>
            <a:r>
              <a:rPr lang="en-US" dirty="0" err="1">
                <a:solidFill>
                  <a:srgbClr val="FF0000"/>
                </a:solidFill>
              </a:rPr>
              <a:t>elif</a:t>
            </a:r>
            <a:r>
              <a:rPr lang="en-US" dirty="0"/>
              <a:t>, and </a:t>
            </a:r>
            <a:r>
              <a:rPr lang="en-US" dirty="0">
                <a:solidFill>
                  <a:srgbClr val="FF0000"/>
                </a:solidFill>
              </a:rPr>
              <a:t>else</a:t>
            </a:r>
            <a:r>
              <a:rPr lang="en-US" dirty="0"/>
              <a:t> together</a:t>
            </a:r>
          </a:p>
        </p:txBody>
      </p:sp>
      <p:sp>
        <p:nvSpPr>
          <p:cNvPr id="3" name="Content Placeholder 2">
            <a:extLst>
              <a:ext uri="{FF2B5EF4-FFF2-40B4-BE49-F238E27FC236}">
                <a16:creationId xmlns:a16="http://schemas.microsoft.com/office/drawing/2014/main" id="{03A5A16F-1B50-47B1-8208-6BAF91CA380E}"/>
              </a:ext>
            </a:extLst>
          </p:cNvPr>
          <p:cNvSpPr>
            <a:spLocks noGrp="1"/>
          </p:cNvSpPr>
          <p:nvPr>
            <p:ph idx="1"/>
          </p:nvPr>
        </p:nvSpPr>
        <p:spPr>
          <a:xfrm>
            <a:off x="838200" y="1156448"/>
            <a:ext cx="10515600" cy="5020515"/>
          </a:xfrm>
        </p:spPr>
        <p:txBody>
          <a:bodyPr/>
          <a:lstStyle/>
          <a:p>
            <a:pPr algn="just"/>
            <a:r>
              <a:rPr lang="en-US" dirty="0"/>
              <a:t>You can also include an </a:t>
            </a:r>
            <a:r>
              <a:rPr lang="en-US" dirty="0">
                <a:solidFill>
                  <a:srgbClr val="FF0000"/>
                </a:solidFill>
              </a:rPr>
              <a:t>else</a:t>
            </a:r>
            <a:r>
              <a:rPr lang="en-US" dirty="0"/>
              <a:t> statement at the end of a chain of if, </a:t>
            </a:r>
            <a:r>
              <a:rPr lang="en-US" dirty="0" err="1"/>
              <a:t>elif</a:t>
            </a:r>
            <a:r>
              <a:rPr lang="en-US" dirty="0"/>
              <a:t>… statements. </a:t>
            </a:r>
          </a:p>
          <a:p>
            <a:pPr algn="just"/>
            <a:r>
              <a:rPr lang="en-US" dirty="0"/>
              <a:t>This code within the else block is evaluated when none of the conditions hold true.</a:t>
            </a:r>
          </a:p>
        </p:txBody>
      </p:sp>
      <p:sp>
        <p:nvSpPr>
          <p:cNvPr id="5" name="Slide Number Placeholder 4">
            <a:extLst>
              <a:ext uri="{FF2B5EF4-FFF2-40B4-BE49-F238E27FC236}">
                <a16:creationId xmlns:a16="http://schemas.microsoft.com/office/drawing/2014/main" id="{AEDE17AB-67AD-46B3-9E0C-52880979A3EB}"/>
              </a:ext>
            </a:extLst>
          </p:cNvPr>
          <p:cNvSpPr>
            <a:spLocks noGrp="1"/>
          </p:cNvSpPr>
          <p:nvPr>
            <p:ph type="sldNum" sz="quarter" idx="12"/>
          </p:nvPr>
        </p:nvSpPr>
        <p:spPr/>
        <p:txBody>
          <a:bodyPr/>
          <a:lstStyle/>
          <a:p>
            <a:fld id="{6B97D948-30E8-43F7-AE10-F6E2D9F2BBB1}" type="slidenum">
              <a:rPr lang="en-US" smtClean="0"/>
              <a:t>86</a:t>
            </a:fld>
            <a:endParaRPr lang="en-US"/>
          </a:p>
        </p:txBody>
      </p:sp>
    </p:spTree>
    <p:extLst>
      <p:ext uri="{BB962C8B-B14F-4D97-AF65-F5344CB8AC3E}">
        <p14:creationId xmlns:p14="http://schemas.microsoft.com/office/powerpoint/2010/main" val="7009984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FCBA7-1300-42E2-86D4-84B02832EDE0}"/>
              </a:ext>
            </a:extLst>
          </p:cNvPr>
          <p:cNvSpPr>
            <a:spLocks noGrp="1"/>
          </p:cNvSpPr>
          <p:nvPr>
            <p:ph type="title"/>
          </p:nvPr>
        </p:nvSpPr>
        <p:spPr>
          <a:xfrm>
            <a:off x="838200" y="365126"/>
            <a:ext cx="10515600" cy="583142"/>
          </a:xfrm>
        </p:spPr>
        <p:txBody>
          <a:bodyPr>
            <a:normAutofit fontScale="90000"/>
          </a:bodyPr>
          <a:lstStyle/>
          <a:p>
            <a:r>
              <a:rPr lang="en-US" dirty="0"/>
              <a:t>score = float(input(‘Enter exam score:’))</a:t>
            </a:r>
          </a:p>
        </p:txBody>
      </p:sp>
      <p:sp>
        <p:nvSpPr>
          <p:cNvPr id="3" name="Content Placeholder 2">
            <a:extLst>
              <a:ext uri="{FF2B5EF4-FFF2-40B4-BE49-F238E27FC236}">
                <a16:creationId xmlns:a16="http://schemas.microsoft.com/office/drawing/2014/main" id="{6B7468B4-E500-47F4-8E0A-8FF2411C6B8D}"/>
              </a:ext>
            </a:extLst>
          </p:cNvPr>
          <p:cNvSpPr>
            <a:spLocks noGrp="1"/>
          </p:cNvSpPr>
          <p:nvPr>
            <p:ph idx="1"/>
          </p:nvPr>
        </p:nvSpPr>
        <p:spPr>
          <a:xfrm>
            <a:off x="838200" y="1106311"/>
            <a:ext cx="10515600" cy="5070652"/>
          </a:xfrm>
        </p:spPr>
        <p:txBody>
          <a:bodyPr>
            <a:normAutofit lnSpcReduction="10000"/>
          </a:bodyPr>
          <a:lstStyle/>
          <a:p>
            <a:r>
              <a:rPr lang="en-US" dirty="0"/>
              <a:t> if score &gt;= 90:</a:t>
            </a:r>
          </a:p>
          <a:p>
            <a:r>
              <a:rPr lang="en-US" dirty="0"/>
              <a:t>    ...:     grade = 'A'</a:t>
            </a:r>
          </a:p>
          <a:p>
            <a:r>
              <a:rPr lang="en-US" dirty="0"/>
              <a:t> </a:t>
            </a:r>
            <a:r>
              <a:rPr lang="en-US" dirty="0" err="1"/>
              <a:t>elif</a:t>
            </a:r>
            <a:r>
              <a:rPr lang="en-US" dirty="0"/>
              <a:t> score &gt;= 80:</a:t>
            </a:r>
          </a:p>
          <a:p>
            <a:r>
              <a:rPr lang="en-US" dirty="0"/>
              <a:t>    ...:     grade = 'B'</a:t>
            </a:r>
          </a:p>
          <a:p>
            <a:r>
              <a:rPr lang="en-US" dirty="0"/>
              <a:t> </a:t>
            </a:r>
            <a:r>
              <a:rPr lang="en-US" dirty="0" err="1"/>
              <a:t>elif</a:t>
            </a:r>
            <a:r>
              <a:rPr lang="en-US" dirty="0"/>
              <a:t> score &gt;= 70:</a:t>
            </a:r>
          </a:p>
          <a:p>
            <a:r>
              <a:rPr lang="en-US" dirty="0"/>
              <a:t>    ...:     grade = 'C'</a:t>
            </a:r>
          </a:p>
          <a:p>
            <a:r>
              <a:rPr lang="en-US" dirty="0"/>
              <a:t> </a:t>
            </a:r>
            <a:r>
              <a:rPr lang="en-US" dirty="0" err="1"/>
              <a:t>elif</a:t>
            </a:r>
            <a:r>
              <a:rPr lang="en-US" dirty="0"/>
              <a:t> score &gt;= 60:</a:t>
            </a:r>
          </a:p>
          <a:p>
            <a:r>
              <a:rPr lang="en-US" dirty="0"/>
              <a:t>    ...:     grade = 'D'</a:t>
            </a:r>
          </a:p>
          <a:p>
            <a:r>
              <a:rPr lang="en-US" dirty="0"/>
              <a:t> else:</a:t>
            </a:r>
          </a:p>
          <a:p>
            <a:r>
              <a:rPr lang="en-US" dirty="0"/>
              <a:t>    ...:     grade = 'F'</a:t>
            </a:r>
          </a:p>
        </p:txBody>
      </p:sp>
      <p:sp>
        <p:nvSpPr>
          <p:cNvPr id="4" name="Slide Number Placeholder 3">
            <a:extLst>
              <a:ext uri="{FF2B5EF4-FFF2-40B4-BE49-F238E27FC236}">
                <a16:creationId xmlns:a16="http://schemas.microsoft.com/office/drawing/2014/main" id="{A8AE3361-A3B6-40B0-8E17-E7A30E86F027}"/>
              </a:ext>
            </a:extLst>
          </p:cNvPr>
          <p:cNvSpPr>
            <a:spLocks noGrp="1"/>
          </p:cNvSpPr>
          <p:nvPr>
            <p:ph type="sldNum" sz="quarter" idx="12"/>
          </p:nvPr>
        </p:nvSpPr>
        <p:spPr/>
        <p:txBody>
          <a:bodyPr/>
          <a:lstStyle/>
          <a:p>
            <a:fld id="{6B97D948-30E8-43F7-AE10-F6E2D9F2BBB1}" type="slidenum">
              <a:rPr lang="en-US" smtClean="0"/>
              <a:t>87</a:t>
            </a:fld>
            <a:endParaRPr lang="en-US"/>
          </a:p>
        </p:txBody>
      </p:sp>
    </p:spTree>
    <p:extLst>
      <p:ext uri="{BB962C8B-B14F-4D97-AF65-F5344CB8AC3E}">
        <p14:creationId xmlns:p14="http://schemas.microsoft.com/office/powerpoint/2010/main" val="12280824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61F30-25F6-4DA9-A4F2-2401EF5D0F45}"/>
              </a:ext>
            </a:extLst>
          </p:cNvPr>
          <p:cNvSpPr>
            <a:spLocks noGrp="1"/>
          </p:cNvSpPr>
          <p:nvPr>
            <p:ph idx="1"/>
          </p:nvPr>
        </p:nvSpPr>
        <p:spPr>
          <a:xfrm>
            <a:off x="838200" y="778933"/>
            <a:ext cx="10515600" cy="5398030"/>
          </a:xfrm>
        </p:spPr>
        <p:txBody>
          <a:bodyPr/>
          <a:lstStyle/>
          <a:p>
            <a:r>
              <a:rPr lang="en-US" dirty="0">
                <a:solidFill>
                  <a:srgbClr val="FF0000"/>
                </a:solidFill>
              </a:rPr>
              <a:t>print(‘The exam grade for {} is {}’.format(score, grade))</a:t>
            </a:r>
          </a:p>
        </p:txBody>
      </p:sp>
      <p:sp>
        <p:nvSpPr>
          <p:cNvPr id="4" name="Slide Number Placeholder 3">
            <a:extLst>
              <a:ext uri="{FF2B5EF4-FFF2-40B4-BE49-F238E27FC236}">
                <a16:creationId xmlns:a16="http://schemas.microsoft.com/office/drawing/2014/main" id="{A3748805-F6C3-4692-9B7B-68115EBF7723}"/>
              </a:ext>
            </a:extLst>
          </p:cNvPr>
          <p:cNvSpPr>
            <a:spLocks noGrp="1"/>
          </p:cNvSpPr>
          <p:nvPr>
            <p:ph type="sldNum" sz="quarter" idx="12"/>
          </p:nvPr>
        </p:nvSpPr>
        <p:spPr/>
        <p:txBody>
          <a:bodyPr/>
          <a:lstStyle/>
          <a:p>
            <a:fld id="{6B97D948-30E8-43F7-AE10-F6E2D9F2BBB1}" type="slidenum">
              <a:rPr lang="en-US" smtClean="0"/>
              <a:t>88</a:t>
            </a:fld>
            <a:endParaRPr lang="en-US"/>
          </a:p>
        </p:txBody>
      </p:sp>
    </p:spTree>
    <p:extLst>
      <p:ext uri="{BB962C8B-B14F-4D97-AF65-F5344CB8AC3E}">
        <p14:creationId xmlns:p14="http://schemas.microsoft.com/office/powerpoint/2010/main" val="280121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8C5EE7-5A1E-4C7E-AE51-648E6E757912}"/>
              </a:ext>
            </a:extLst>
          </p:cNvPr>
          <p:cNvSpPr>
            <a:spLocks noGrp="1"/>
          </p:cNvSpPr>
          <p:nvPr>
            <p:ph idx="1"/>
          </p:nvPr>
        </p:nvSpPr>
        <p:spPr>
          <a:xfrm>
            <a:off x="838200" y="336176"/>
            <a:ext cx="10515600" cy="5840787"/>
          </a:xfrm>
        </p:spPr>
        <p:txBody>
          <a:bodyPr>
            <a:normAutofit lnSpcReduction="10000"/>
          </a:bodyPr>
          <a:lstStyle/>
          <a:p>
            <a:r>
              <a:rPr lang="en-US" dirty="0" err="1">
                <a:solidFill>
                  <a:srgbClr val="FF0000"/>
                </a:solidFill>
              </a:rPr>
              <a:t>a_number</a:t>
            </a:r>
            <a:r>
              <a:rPr lang="en-US" dirty="0">
                <a:solidFill>
                  <a:srgbClr val="FF0000"/>
                </a:solidFill>
              </a:rPr>
              <a:t> = int(input('Enter a number:'))</a:t>
            </a:r>
          </a:p>
          <a:p>
            <a:r>
              <a:rPr lang="en-US" dirty="0">
                <a:solidFill>
                  <a:srgbClr val="FF0000"/>
                </a:solidFill>
              </a:rPr>
              <a:t>Enter a number:49</a:t>
            </a:r>
          </a:p>
          <a:p>
            <a:endParaRPr lang="en-US" dirty="0">
              <a:solidFill>
                <a:srgbClr val="FF0000"/>
              </a:solidFill>
            </a:endParaRPr>
          </a:p>
          <a:p>
            <a:r>
              <a:rPr lang="en-US" dirty="0">
                <a:solidFill>
                  <a:srgbClr val="FF0000"/>
                </a:solidFill>
              </a:rPr>
              <a:t>if </a:t>
            </a:r>
            <a:r>
              <a:rPr lang="en-US" dirty="0" err="1">
                <a:solidFill>
                  <a:srgbClr val="FF0000"/>
                </a:solidFill>
              </a:rPr>
              <a:t>a_number</a:t>
            </a:r>
            <a:r>
              <a:rPr lang="en-US" dirty="0">
                <a:solidFill>
                  <a:srgbClr val="FF0000"/>
                </a:solidFill>
              </a:rPr>
              <a:t> % 2 == 0:</a:t>
            </a:r>
          </a:p>
          <a:p>
            <a:r>
              <a:rPr lang="en-US" dirty="0">
                <a:solidFill>
                  <a:srgbClr val="FF0000"/>
                </a:solidFill>
              </a:rPr>
              <a:t>   ...:print('{} is divisible by 2'.format(</a:t>
            </a:r>
            <a:r>
              <a:rPr lang="en-US" dirty="0" err="1">
                <a:solidFill>
                  <a:srgbClr val="FF0000"/>
                </a:solidFill>
              </a:rPr>
              <a:t>a_number</a:t>
            </a:r>
            <a:r>
              <a:rPr lang="en-US" dirty="0">
                <a:solidFill>
                  <a:srgbClr val="FF0000"/>
                </a:solidFill>
              </a:rPr>
              <a:t>))</a:t>
            </a:r>
          </a:p>
          <a:p>
            <a:r>
              <a:rPr lang="en-US" dirty="0" err="1">
                <a:solidFill>
                  <a:srgbClr val="FF0000"/>
                </a:solidFill>
              </a:rPr>
              <a:t>elif</a:t>
            </a:r>
            <a:r>
              <a:rPr lang="en-US" dirty="0">
                <a:solidFill>
                  <a:srgbClr val="FF0000"/>
                </a:solidFill>
              </a:rPr>
              <a:t> </a:t>
            </a:r>
            <a:r>
              <a:rPr lang="en-US" dirty="0" err="1">
                <a:solidFill>
                  <a:srgbClr val="FF0000"/>
                </a:solidFill>
              </a:rPr>
              <a:t>a_number</a:t>
            </a:r>
            <a:r>
              <a:rPr lang="en-US" dirty="0">
                <a:solidFill>
                  <a:srgbClr val="FF0000"/>
                </a:solidFill>
              </a:rPr>
              <a:t> % 3 == 0:</a:t>
            </a:r>
          </a:p>
          <a:p>
            <a:r>
              <a:rPr lang="en-US" dirty="0">
                <a:solidFill>
                  <a:srgbClr val="FF0000"/>
                </a:solidFill>
              </a:rPr>
              <a:t>   ...:print('{} is divisible by 3'.format(</a:t>
            </a:r>
            <a:r>
              <a:rPr lang="en-US" dirty="0" err="1">
                <a:solidFill>
                  <a:srgbClr val="FF0000"/>
                </a:solidFill>
              </a:rPr>
              <a:t>a_number</a:t>
            </a:r>
            <a:r>
              <a:rPr lang="en-US" dirty="0">
                <a:solidFill>
                  <a:srgbClr val="FF0000"/>
                </a:solidFill>
              </a:rPr>
              <a:t>))</a:t>
            </a:r>
          </a:p>
          <a:p>
            <a:r>
              <a:rPr lang="en-US" dirty="0" err="1">
                <a:solidFill>
                  <a:srgbClr val="FF0000"/>
                </a:solidFill>
              </a:rPr>
              <a:t>elif</a:t>
            </a:r>
            <a:r>
              <a:rPr lang="en-US" dirty="0">
                <a:solidFill>
                  <a:srgbClr val="FF0000"/>
                </a:solidFill>
              </a:rPr>
              <a:t> </a:t>
            </a:r>
            <a:r>
              <a:rPr lang="en-US" dirty="0" err="1">
                <a:solidFill>
                  <a:srgbClr val="FF0000"/>
                </a:solidFill>
              </a:rPr>
              <a:t>a_number</a:t>
            </a:r>
            <a:r>
              <a:rPr lang="en-US" dirty="0">
                <a:solidFill>
                  <a:srgbClr val="FF0000"/>
                </a:solidFill>
              </a:rPr>
              <a:t> % 5 == 0:</a:t>
            </a:r>
          </a:p>
          <a:p>
            <a:r>
              <a:rPr lang="en-US" dirty="0">
                <a:solidFill>
                  <a:srgbClr val="FF0000"/>
                </a:solidFill>
              </a:rPr>
              <a:t>   ...:print('{} is divisible by 5'.format(</a:t>
            </a:r>
            <a:r>
              <a:rPr lang="en-US" dirty="0" err="1">
                <a:solidFill>
                  <a:srgbClr val="FF0000"/>
                </a:solidFill>
              </a:rPr>
              <a:t>a_number</a:t>
            </a:r>
            <a:r>
              <a:rPr lang="en-US" dirty="0">
                <a:solidFill>
                  <a:srgbClr val="FF0000"/>
                </a:solidFill>
              </a:rPr>
              <a:t>))</a:t>
            </a:r>
          </a:p>
          <a:p>
            <a:r>
              <a:rPr lang="en-US" dirty="0">
                <a:solidFill>
                  <a:srgbClr val="FF0000"/>
                </a:solidFill>
              </a:rPr>
              <a:t>else:</a:t>
            </a:r>
          </a:p>
          <a:p>
            <a:r>
              <a:rPr lang="en-US" dirty="0">
                <a:solidFill>
                  <a:srgbClr val="FF0000"/>
                </a:solidFill>
              </a:rPr>
              <a:t>   ...: print('All checks failed!')</a:t>
            </a:r>
          </a:p>
          <a:p>
            <a:r>
              <a:rPr lang="en-US" dirty="0">
                <a:solidFill>
                  <a:srgbClr val="FF0000"/>
                </a:solidFill>
              </a:rPr>
              <a:t>   ...: print('{} is not divisible by 2, 3 or 5'.format(</a:t>
            </a:r>
            <a:r>
              <a:rPr lang="en-US" dirty="0" err="1">
                <a:solidFill>
                  <a:srgbClr val="FF0000"/>
                </a:solidFill>
              </a:rPr>
              <a:t>a_number</a:t>
            </a:r>
            <a:r>
              <a:rPr lang="en-US" dirty="0">
                <a:solidFill>
                  <a:srgbClr val="FF0000"/>
                </a:solidFill>
              </a:rPr>
              <a:t>))</a:t>
            </a:r>
          </a:p>
          <a:p>
            <a:endParaRPr lang="en-US" dirty="0"/>
          </a:p>
        </p:txBody>
      </p:sp>
      <p:sp>
        <p:nvSpPr>
          <p:cNvPr id="4" name="Slide Number Placeholder 3">
            <a:extLst>
              <a:ext uri="{FF2B5EF4-FFF2-40B4-BE49-F238E27FC236}">
                <a16:creationId xmlns:a16="http://schemas.microsoft.com/office/drawing/2014/main" id="{1FCDD9E2-A0B7-4339-A8F7-DEC8AD92156B}"/>
              </a:ext>
            </a:extLst>
          </p:cNvPr>
          <p:cNvSpPr>
            <a:spLocks noGrp="1"/>
          </p:cNvSpPr>
          <p:nvPr>
            <p:ph type="sldNum" sz="quarter" idx="12"/>
          </p:nvPr>
        </p:nvSpPr>
        <p:spPr/>
        <p:txBody>
          <a:bodyPr/>
          <a:lstStyle/>
          <a:p>
            <a:fld id="{6B97D948-30E8-43F7-AE10-F6E2D9F2BBB1}" type="slidenum">
              <a:rPr lang="en-US" smtClean="0"/>
              <a:t>89</a:t>
            </a:fld>
            <a:endParaRPr lang="en-US"/>
          </a:p>
        </p:txBody>
      </p:sp>
    </p:spTree>
    <p:extLst>
      <p:ext uri="{BB962C8B-B14F-4D97-AF65-F5344CB8AC3E}">
        <p14:creationId xmlns:p14="http://schemas.microsoft.com/office/powerpoint/2010/main" val="39747742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5E250-AA2E-4ABD-89F2-3EF60577505F}"/>
              </a:ext>
            </a:extLst>
          </p:cNvPr>
          <p:cNvSpPr>
            <a:spLocks noGrp="1"/>
          </p:cNvSpPr>
          <p:nvPr>
            <p:ph type="title"/>
          </p:nvPr>
        </p:nvSpPr>
        <p:spPr>
          <a:xfrm>
            <a:off x="838200" y="365125"/>
            <a:ext cx="10515600" cy="670299"/>
          </a:xfrm>
        </p:spPr>
        <p:txBody>
          <a:bodyPr>
            <a:normAutofit fontScale="90000"/>
          </a:bodyPr>
          <a:lstStyle/>
          <a:p>
            <a:r>
              <a:rPr lang="en-US" dirty="0"/>
              <a:t>Non-Boolean Conditions</a:t>
            </a:r>
          </a:p>
        </p:txBody>
      </p:sp>
      <p:sp>
        <p:nvSpPr>
          <p:cNvPr id="3" name="Content Placeholder 2">
            <a:extLst>
              <a:ext uri="{FF2B5EF4-FFF2-40B4-BE49-F238E27FC236}">
                <a16:creationId xmlns:a16="http://schemas.microsoft.com/office/drawing/2014/main" id="{BA26D0FB-B50E-474D-8812-282247E463CE}"/>
              </a:ext>
            </a:extLst>
          </p:cNvPr>
          <p:cNvSpPr>
            <a:spLocks noGrp="1"/>
          </p:cNvSpPr>
          <p:nvPr>
            <p:ph idx="1"/>
          </p:nvPr>
        </p:nvSpPr>
        <p:spPr>
          <a:xfrm>
            <a:off x="838200" y="1035424"/>
            <a:ext cx="10515600" cy="5141539"/>
          </a:xfrm>
        </p:spPr>
        <p:txBody>
          <a:bodyPr>
            <a:normAutofit fontScale="92500"/>
          </a:bodyPr>
          <a:lstStyle/>
          <a:p>
            <a:pPr algn="just"/>
            <a:r>
              <a:rPr lang="en-US" dirty="0"/>
              <a:t>Note that conditions do not necessarily have to be </a:t>
            </a:r>
            <a:r>
              <a:rPr lang="en-US" dirty="0" err="1"/>
              <a:t>booleans</a:t>
            </a:r>
            <a:r>
              <a:rPr lang="en-US" dirty="0"/>
              <a:t>. </a:t>
            </a:r>
          </a:p>
          <a:p>
            <a:pPr algn="just"/>
            <a:endParaRPr lang="en-US" dirty="0"/>
          </a:p>
          <a:p>
            <a:pPr algn="just"/>
            <a:r>
              <a:rPr lang="en-US" dirty="0"/>
              <a:t>In fact, a condition can be any value. </a:t>
            </a:r>
          </a:p>
          <a:p>
            <a:pPr algn="just"/>
            <a:endParaRPr lang="en-US" dirty="0"/>
          </a:p>
          <a:p>
            <a:pPr algn="just"/>
            <a:r>
              <a:rPr lang="en-US" dirty="0"/>
              <a:t>The value is converted into a </a:t>
            </a:r>
            <a:r>
              <a:rPr lang="en-US" dirty="0" err="1"/>
              <a:t>boolean</a:t>
            </a:r>
            <a:r>
              <a:rPr lang="en-US" dirty="0"/>
              <a:t> automatically using the bool operator. </a:t>
            </a:r>
          </a:p>
          <a:p>
            <a:pPr algn="just"/>
            <a:endParaRPr lang="en-US" dirty="0"/>
          </a:p>
          <a:p>
            <a:pPr algn="just"/>
            <a:r>
              <a:rPr lang="en-US" dirty="0"/>
              <a:t>Any value in Python can be converted to a Boolean using the bool function.</a:t>
            </a:r>
          </a:p>
          <a:p>
            <a:endParaRPr lang="en-US" dirty="0"/>
          </a:p>
          <a:p>
            <a:r>
              <a:rPr lang="en-US" dirty="0"/>
              <a:t>Only the following values evaluate to False (they are often called </a:t>
            </a:r>
            <a:r>
              <a:rPr lang="en-US" dirty="0" err="1"/>
              <a:t>falsy</a:t>
            </a:r>
            <a:r>
              <a:rPr lang="en-US" dirty="0"/>
              <a:t> values):</a:t>
            </a:r>
          </a:p>
        </p:txBody>
      </p:sp>
      <p:sp>
        <p:nvSpPr>
          <p:cNvPr id="5" name="Slide Number Placeholder 4">
            <a:extLst>
              <a:ext uri="{FF2B5EF4-FFF2-40B4-BE49-F238E27FC236}">
                <a16:creationId xmlns:a16="http://schemas.microsoft.com/office/drawing/2014/main" id="{C30836A9-F09B-4BC7-99CB-3DAC05C4846E}"/>
              </a:ext>
            </a:extLst>
          </p:cNvPr>
          <p:cNvSpPr>
            <a:spLocks noGrp="1"/>
          </p:cNvSpPr>
          <p:nvPr>
            <p:ph type="sldNum" sz="quarter" idx="12"/>
          </p:nvPr>
        </p:nvSpPr>
        <p:spPr/>
        <p:txBody>
          <a:bodyPr/>
          <a:lstStyle/>
          <a:p>
            <a:fld id="{6B97D948-30E8-43F7-AE10-F6E2D9F2BBB1}" type="slidenum">
              <a:rPr lang="en-US" smtClean="0"/>
              <a:t>90</a:t>
            </a:fld>
            <a:endParaRPr lang="en-US"/>
          </a:p>
        </p:txBody>
      </p:sp>
    </p:spTree>
    <p:extLst>
      <p:ext uri="{BB962C8B-B14F-4D97-AF65-F5344CB8AC3E}">
        <p14:creationId xmlns:p14="http://schemas.microsoft.com/office/powerpoint/2010/main" val="38706625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618DD-0116-4340-AF56-3F40999AE59B}"/>
              </a:ext>
            </a:extLst>
          </p:cNvPr>
          <p:cNvSpPr>
            <a:spLocks noGrp="1"/>
          </p:cNvSpPr>
          <p:nvPr>
            <p:ph idx="1"/>
          </p:nvPr>
        </p:nvSpPr>
        <p:spPr>
          <a:xfrm>
            <a:off x="838200" y="389965"/>
            <a:ext cx="10515600" cy="5786998"/>
          </a:xfrm>
        </p:spPr>
        <p:txBody>
          <a:bodyPr>
            <a:normAutofit fontScale="92500" lnSpcReduction="10000"/>
          </a:bodyPr>
          <a:lstStyle/>
          <a:p>
            <a:r>
              <a:rPr lang="en-US" dirty="0"/>
              <a:t>    The value </a:t>
            </a:r>
            <a:r>
              <a:rPr lang="en-US" dirty="0">
                <a:solidFill>
                  <a:srgbClr val="FF0000"/>
                </a:solidFill>
              </a:rPr>
              <a:t>False</a:t>
            </a:r>
            <a:r>
              <a:rPr lang="en-US" dirty="0"/>
              <a:t> itself</a:t>
            </a:r>
          </a:p>
          <a:p>
            <a:r>
              <a:rPr lang="en-US" dirty="0"/>
              <a:t>    The integer 0</a:t>
            </a:r>
          </a:p>
          <a:p>
            <a:r>
              <a:rPr lang="en-US" dirty="0"/>
              <a:t>    The float 0.0</a:t>
            </a:r>
          </a:p>
          <a:p>
            <a:r>
              <a:rPr lang="en-US" dirty="0"/>
              <a:t>    The empty value </a:t>
            </a:r>
            <a:r>
              <a:rPr lang="en-US" dirty="0">
                <a:solidFill>
                  <a:srgbClr val="FF0000"/>
                </a:solidFill>
              </a:rPr>
              <a:t>None</a:t>
            </a:r>
          </a:p>
          <a:p>
            <a:r>
              <a:rPr lang="en-US" dirty="0"/>
              <a:t>    The empty text ""</a:t>
            </a:r>
          </a:p>
          <a:p>
            <a:r>
              <a:rPr lang="en-US" dirty="0"/>
              <a:t>    The empty list []</a:t>
            </a:r>
          </a:p>
          <a:p>
            <a:r>
              <a:rPr lang="en-US" dirty="0"/>
              <a:t>    The empty tuple ()</a:t>
            </a:r>
          </a:p>
          <a:p>
            <a:r>
              <a:rPr lang="en-US" dirty="0"/>
              <a:t>    The empty dictionary {}</a:t>
            </a:r>
          </a:p>
          <a:p>
            <a:r>
              <a:rPr lang="en-US" dirty="0"/>
              <a:t>    The empty set set()</a:t>
            </a:r>
          </a:p>
          <a:p>
            <a:r>
              <a:rPr lang="en-US" dirty="0"/>
              <a:t>    The empty range range(0)</a:t>
            </a:r>
          </a:p>
          <a:p>
            <a:endParaRPr lang="en-US" dirty="0"/>
          </a:p>
          <a:p>
            <a:r>
              <a:rPr lang="en-US" dirty="0"/>
              <a:t>Everything else evaluates to True (a value that evaluates to True is often called a truthy value).</a:t>
            </a:r>
          </a:p>
        </p:txBody>
      </p:sp>
      <p:sp>
        <p:nvSpPr>
          <p:cNvPr id="4" name="Slide Number Placeholder 3">
            <a:extLst>
              <a:ext uri="{FF2B5EF4-FFF2-40B4-BE49-F238E27FC236}">
                <a16:creationId xmlns:a16="http://schemas.microsoft.com/office/drawing/2014/main" id="{6DFADB34-7E46-4FFF-BEAC-2969C5ECDED2}"/>
              </a:ext>
            </a:extLst>
          </p:cNvPr>
          <p:cNvSpPr>
            <a:spLocks noGrp="1"/>
          </p:cNvSpPr>
          <p:nvPr>
            <p:ph type="sldNum" sz="quarter" idx="12"/>
          </p:nvPr>
        </p:nvSpPr>
        <p:spPr/>
        <p:txBody>
          <a:bodyPr/>
          <a:lstStyle/>
          <a:p>
            <a:fld id="{6B97D948-30E8-43F7-AE10-F6E2D9F2BBB1}" type="slidenum">
              <a:rPr lang="en-US" smtClean="0"/>
              <a:t>91</a:t>
            </a:fld>
            <a:endParaRPr lang="en-US"/>
          </a:p>
        </p:txBody>
      </p:sp>
    </p:spTree>
    <p:extLst>
      <p:ext uri="{BB962C8B-B14F-4D97-AF65-F5344CB8AC3E}">
        <p14:creationId xmlns:p14="http://schemas.microsoft.com/office/powerpoint/2010/main" val="33663306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17267A-4922-47C8-9534-D41693625F82}"/>
              </a:ext>
            </a:extLst>
          </p:cNvPr>
          <p:cNvSpPr>
            <a:spLocks noGrp="1"/>
          </p:cNvSpPr>
          <p:nvPr>
            <p:ph idx="1"/>
          </p:nvPr>
        </p:nvSpPr>
        <p:spPr>
          <a:xfrm>
            <a:off x="838200" y="591671"/>
            <a:ext cx="10515600" cy="5585292"/>
          </a:xfrm>
        </p:spPr>
        <p:txBody>
          <a:bodyPr/>
          <a:lstStyle/>
          <a:p>
            <a:r>
              <a:rPr lang="en-US" dirty="0">
                <a:solidFill>
                  <a:srgbClr val="FF0000"/>
                </a:solidFill>
              </a:rPr>
              <a:t>if '':</a:t>
            </a:r>
          </a:p>
          <a:p>
            <a:r>
              <a:rPr lang="en-US" dirty="0">
                <a:solidFill>
                  <a:srgbClr val="FF0000"/>
                </a:solidFill>
              </a:rPr>
              <a:t>    print('The condition evaluated to True')</a:t>
            </a:r>
          </a:p>
          <a:p>
            <a:r>
              <a:rPr lang="en-US" dirty="0">
                <a:solidFill>
                  <a:srgbClr val="FF0000"/>
                </a:solidFill>
              </a:rPr>
              <a:t>else:</a:t>
            </a:r>
          </a:p>
          <a:p>
            <a:r>
              <a:rPr lang="en-US" dirty="0">
                <a:solidFill>
                  <a:srgbClr val="FF0000"/>
                </a:solidFill>
              </a:rPr>
              <a:t>    print('The condition evaluated to False')</a:t>
            </a:r>
          </a:p>
        </p:txBody>
      </p:sp>
      <p:sp>
        <p:nvSpPr>
          <p:cNvPr id="4" name="Slide Number Placeholder 3">
            <a:extLst>
              <a:ext uri="{FF2B5EF4-FFF2-40B4-BE49-F238E27FC236}">
                <a16:creationId xmlns:a16="http://schemas.microsoft.com/office/drawing/2014/main" id="{0A68E004-39C0-4389-A604-A00E7C28B35C}"/>
              </a:ext>
            </a:extLst>
          </p:cNvPr>
          <p:cNvSpPr>
            <a:spLocks noGrp="1"/>
          </p:cNvSpPr>
          <p:nvPr>
            <p:ph type="sldNum" sz="quarter" idx="12"/>
          </p:nvPr>
        </p:nvSpPr>
        <p:spPr/>
        <p:txBody>
          <a:bodyPr/>
          <a:lstStyle/>
          <a:p>
            <a:fld id="{6B97D948-30E8-43F7-AE10-F6E2D9F2BBB1}" type="slidenum">
              <a:rPr lang="en-US" smtClean="0"/>
              <a:t>92</a:t>
            </a:fld>
            <a:endParaRPr lang="en-US"/>
          </a:p>
        </p:txBody>
      </p:sp>
    </p:spTree>
    <p:extLst>
      <p:ext uri="{BB962C8B-B14F-4D97-AF65-F5344CB8AC3E}">
        <p14:creationId xmlns:p14="http://schemas.microsoft.com/office/powerpoint/2010/main" val="9901184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C37F4-35CA-45FE-94BB-01244C45C4BD}"/>
              </a:ext>
            </a:extLst>
          </p:cNvPr>
          <p:cNvSpPr>
            <a:spLocks noGrp="1"/>
          </p:cNvSpPr>
          <p:nvPr>
            <p:ph idx="1"/>
          </p:nvPr>
        </p:nvSpPr>
        <p:spPr/>
        <p:txBody>
          <a:bodyPr/>
          <a:lstStyle/>
          <a:p>
            <a:r>
              <a:rPr lang="en-US" dirty="0">
                <a:solidFill>
                  <a:srgbClr val="FF0000"/>
                </a:solidFill>
              </a:rPr>
              <a:t>if 'Hello':</a:t>
            </a:r>
          </a:p>
          <a:p>
            <a:r>
              <a:rPr lang="en-US" dirty="0">
                <a:solidFill>
                  <a:srgbClr val="FF0000"/>
                </a:solidFill>
              </a:rPr>
              <a:t>    print('The condition evaluated to True')</a:t>
            </a:r>
          </a:p>
          <a:p>
            <a:r>
              <a:rPr lang="en-US" dirty="0">
                <a:solidFill>
                  <a:srgbClr val="FF0000"/>
                </a:solidFill>
              </a:rPr>
              <a:t>else:</a:t>
            </a:r>
          </a:p>
          <a:p>
            <a:r>
              <a:rPr lang="en-US" dirty="0">
                <a:solidFill>
                  <a:srgbClr val="FF0000"/>
                </a:solidFill>
              </a:rPr>
              <a:t>    print('The condition evaluated to False')</a:t>
            </a:r>
          </a:p>
        </p:txBody>
      </p:sp>
      <p:sp>
        <p:nvSpPr>
          <p:cNvPr id="4" name="Slide Number Placeholder 3">
            <a:extLst>
              <a:ext uri="{FF2B5EF4-FFF2-40B4-BE49-F238E27FC236}">
                <a16:creationId xmlns:a16="http://schemas.microsoft.com/office/drawing/2014/main" id="{426F4F2E-F475-4C30-8F4C-53ED6CBA9BFD}"/>
              </a:ext>
            </a:extLst>
          </p:cNvPr>
          <p:cNvSpPr>
            <a:spLocks noGrp="1"/>
          </p:cNvSpPr>
          <p:nvPr>
            <p:ph type="sldNum" sz="quarter" idx="12"/>
          </p:nvPr>
        </p:nvSpPr>
        <p:spPr/>
        <p:txBody>
          <a:bodyPr/>
          <a:lstStyle/>
          <a:p>
            <a:fld id="{6B97D948-30E8-43F7-AE10-F6E2D9F2BBB1}" type="slidenum">
              <a:rPr lang="en-US" smtClean="0"/>
              <a:t>93</a:t>
            </a:fld>
            <a:endParaRPr lang="en-US"/>
          </a:p>
        </p:txBody>
      </p:sp>
    </p:spTree>
    <p:extLst>
      <p:ext uri="{BB962C8B-B14F-4D97-AF65-F5344CB8AC3E}">
        <p14:creationId xmlns:p14="http://schemas.microsoft.com/office/powerpoint/2010/main" val="16942087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FCB9B7-F7A4-46D1-80B5-3E33C538BEBD}"/>
              </a:ext>
            </a:extLst>
          </p:cNvPr>
          <p:cNvSpPr>
            <a:spLocks noGrp="1"/>
          </p:cNvSpPr>
          <p:nvPr>
            <p:ph idx="1"/>
          </p:nvPr>
        </p:nvSpPr>
        <p:spPr/>
        <p:txBody>
          <a:bodyPr/>
          <a:lstStyle/>
          <a:p>
            <a:r>
              <a:rPr lang="en-US" dirty="0">
                <a:solidFill>
                  <a:srgbClr val="FF0000"/>
                </a:solidFill>
              </a:rPr>
              <a:t>if { 'a': 34 }:</a:t>
            </a:r>
          </a:p>
          <a:p>
            <a:r>
              <a:rPr lang="en-US" dirty="0">
                <a:solidFill>
                  <a:srgbClr val="FF0000"/>
                </a:solidFill>
              </a:rPr>
              <a:t>    print('The condition evaluated to True')</a:t>
            </a:r>
          </a:p>
          <a:p>
            <a:r>
              <a:rPr lang="en-US" dirty="0">
                <a:solidFill>
                  <a:srgbClr val="FF0000"/>
                </a:solidFill>
              </a:rPr>
              <a:t>else:</a:t>
            </a:r>
          </a:p>
          <a:p>
            <a:r>
              <a:rPr lang="en-US" dirty="0">
                <a:solidFill>
                  <a:srgbClr val="FF0000"/>
                </a:solidFill>
              </a:rPr>
              <a:t>    print('The condition evaluated to False')</a:t>
            </a:r>
          </a:p>
        </p:txBody>
      </p:sp>
      <p:sp>
        <p:nvSpPr>
          <p:cNvPr id="4" name="Slide Number Placeholder 3">
            <a:extLst>
              <a:ext uri="{FF2B5EF4-FFF2-40B4-BE49-F238E27FC236}">
                <a16:creationId xmlns:a16="http://schemas.microsoft.com/office/drawing/2014/main" id="{12BF7702-3DA7-4642-8BDE-AF4039641CE3}"/>
              </a:ext>
            </a:extLst>
          </p:cNvPr>
          <p:cNvSpPr>
            <a:spLocks noGrp="1"/>
          </p:cNvSpPr>
          <p:nvPr>
            <p:ph type="sldNum" sz="quarter" idx="12"/>
          </p:nvPr>
        </p:nvSpPr>
        <p:spPr/>
        <p:txBody>
          <a:bodyPr/>
          <a:lstStyle/>
          <a:p>
            <a:fld id="{6B97D948-30E8-43F7-AE10-F6E2D9F2BBB1}" type="slidenum">
              <a:rPr lang="en-US" smtClean="0"/>
              <a:t>94</a:t>
            </a:fld>
            <a:endParaRPr lang="en-US"/>
          </a:p>
        </p:txBody>
      </p:sp>
    </p:spTree>
    <p:extLst>
      <p:ext uri="{BB962C8B-B14F-4D97-AF65-F5344CB8AC3E}">
        <p14:creationId xmlns:p14="http://schemas.microsoft.com/office/powerpoint/2010/main" val="28872851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7A2D7-AC82-4BCD-B346-78ED3AE63DC6}"/>
              </a:ext>
            </a:extLst>
          </p:cNvPr>
          <p:cNvSpPr>
            <a:spLocks noGrp="1"/>
          </p:cNvSpPr>
          <p:nvPr>
            <p:ph idx="1"/>
          </p:nvPr>
        </p:nvSpPr>
        <p:spPr/>
        <p:txBody>
          <a:bodyPr/>
          <a:lstStyle/>
          <a:p>
            <a:r>
              <a:rPr lang="en-US" dirty="0">
                <a:solidFill>
                  <a:srgbClr val="FF0000"/>
                </a:solidFill>
              </a:rPr>
              <a:t>if None:</a:t>
            </a:r>
          </a:p>
          <a:p>
            <a:r>
              <a:rPr lang="en-US" dirty="0">
                <a:solidFill>
                  <a:srgbClr val="FF0000"/>
                </a:solidFill>
              </a:rPr>
              <a:t>    print('The condition evaluated to True')</a:t>
            </a:r>
          </a:p>
          <a:p>
            <a:r>
              <a:rPr lang="en-US" dirty="0">
                <a:solidFill>
                  <a:srgbClr val="FF0000"/>
                </a:solidFill>
              </a:rPr>
              <a:t>else:</a:t>
            </a:r>
          </a:p>
          <a:p>
            <a:r>
              <a:rPr lang="en-US" dirty="0">
                <a:solidFill>
                  <a:srgbClr val="FF0000"/>
                </a:solidFill>
              </a:rPr>
              <a:t>    print('The condition evaluated to False')</a:t>
            </a:r>
          </a:p>
        </p:txBody>
      </p:sp>
      <p:sp>
        <p:nvSpPr>
          <p:cNvPr id="4" name="Slide Number Placeholder 3">
            <a:extLst>
              <a:ext uri="{FF2B5EF4-FFF2-40B4-BE49-F238E27FC236}">
                <a16:creationId xmlns:a16="http://schemas.microsoft.com/office/drawing/2014/main" id="{B2A2C8DD-EE42-4291-A10E-CB211D3A5485}"/>
              </a:ext>
            </a:extLst>
          </p:cNvPr>
          <p:cNvSpPr>
            <a:spLocks noGrp="1"/>
          </p:cNvSpPr>
          <p:nvPr>
            <p:ph type="sldNum" sz="quarter" idx="12"/>
          </p:nvPr>
        </p:nvSpPr>
        <p:spPr/>
        <p:txBody>
          <a:bodyPr/>
          <a:lstStyle/>
          <a:p>
            <a:fld id="{6B97D948-30E8-43F7-AE10-F6E2D9F2BBB1}" type="slidenum">
              <a:rPr lang="en-US" smtClean="0"/>
              <a:t>95</a:t>
            </a:fld>
            <a:endParaRPr lang="en-US"/>
          </a:p>
        </p:txBody>
      </p:sp>
    </p:spTree>
    <p:extLst>
      <p:ext uri="{BB962C8B-B14F-4D97-AF65-F5344CB8AC3E}">
        <p14:creationId xmlns:p14="http://schemas.microsoft.com/office/powerpoint/2010/main" val="35155467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2FEC2-B557-4B45-BF88-D6276C22724A}"/>
              </a:ext>
            </a:extLst>
          </p:cNvPr>
          <p:cNvSpPr>
            <a:spLocks noGrp="1"/>
          </p:cNvSpPr>
          <p:nvPr>
            <p:ph type="title"/>
          </p:nvPr>
        </p:nvSpPr>
        <p:spPr>
          <a:xfrm>
            <a:off x="838200" y="365125"/>
            <a:ext cx="10515600" cy="750981"/>
          </a:xfrm>
        </p:spPr>
        <p:txBody>
          <a:bodyPr/>
          <a:lstStyle/>
          <a:p>
            <a:r>
              <a:rPr lang="en-US" dirty="0"/>
              <a:t>Nested conditional statements</a:t>
            </a:r>
          </a:p>
        </p:txBody>
      </p:sp>
      <p:sp>
        <p:nvSpPr>
          <p:cNvPr id="3" name="Content Placeholder 2">
            <a:extLst>
              <a:ext uri="{FF2B5EF4-FFF2-40B4-BE49-F238E27FC236}">
                <a16:creationId xmlns:a16="http://schemas.microsoft.com/office/drawing/2014/main" id="{5CB9F5FA-CBA5-470E-98A8-2914CD36DAF7}"/>
              </a:ext>
            </a:extLst>
          </p:cNvPr>
          <p:cNvSpPr>
            <a:spLocks noGrp="1"/>
          </p:cNvSpPr>
          <p:nvPr>
            <p:ph idx="1"/>
          </p:nvPr>
        </p:nvSpPr>
        <p:spPr>
          <a:xfrm>
            <a:off x="838200" y="1116106"/>
            <a:ext cx="10515600" cy="5060857"/>
          </a:xfrm>
        </p:spPr>
        <p:txBody>
          <a:bodyPr/>
          <a:lstStyle/>
          <a:p>
            <a:pPr algn="just"/>
            <a:r>
              <a:rPr lang="en-US" dirty="0"/>
              <a:t>The code inside an if block can also include an if statement inside it. </a:t>
            </a:r>
          </a:p>
          <a:p>
            <a:pPr algn="just"/>
            <a:endParaRPr lang="en-US" dirty="0"/>
          </a:p>
          <a:p>
            <a:pPr algn="just"/>
            <a:r>
              <a:rPr lang="en-US" dirty="0"/>
              <a:t>This pattern is called nesting and is used to check for another condition after a particular condition holds true.</a:t>
            </a:r>
          </a:p>
          <a:p>
            <a:pPr algn="just"/>
            <a:endParaRPr lang="en-US" dirty="0"/>
          </a:p>
          <a:p>
            <a:pPr algn="just"/>
            <a:r>
              <a:rPr lang="en-US" dirty="0" err="1">
                <a:solidFill>
                  <a:srgbClr val="FF0000"/>
                </a:solidFill>
              </a:rPr>
              <a:t>a_number</a:t>
            </a:r>
            <a:r>
              <a:rPr lang="en-US" dirty="0">
                <a:solidFill>
                  <a:srgbClr val="FF0000"/>
                </a:solidFill>
              </a:rPr>
              <a:t> = 15</a:t>
            </a:r>
          </a:p>
        </p:txBody>
      </p:sp>
      <p:sp>
        <p:nvSpPr>
          <p:cNvPr id="5" name="Slide Number Placeholder 4">
            <a:extLst>
              <a:ext uri="{FF2B5EF4-FFF2-40B4-BE49-F238E27FC236}">
                <a16:creationId xmlns:a16="http://schemas.microsoft.com/office/drawing/2014/main" id="{B48E6806-D684-4F05-B682-B5E6909F6EB3}"/>
              </a:ext>
            </a:extLst>
          </p:cNvPr>
          <p:cNvSpPr>
            <a:spLocks noGrp="1"/>
          </p:cNvSpPr>
          <p:nvPr>
            <p:ph type="sldNum" sz="quarter" idx="12"/>
          </p:nvPr>
        </p:nvSpPr>
        <p:spPr/>
        <p:txBody>
          <a:bodyPr/>
          <a:lstStyle/>
          <a:p>
            <a:fld id="{6B97D948-30E8-43F7-AE10-F6E2D9F2BBB1}" type="slidenum">
              <a:rPr lang="en-US" smtClean="0"/>
              <a:t>96</a:t>
            </a:fld>
            <a:endParaRPr lang="en-US"/>
          </a:p>
        </p:txBody>
      </p:sp>
    </p:spTree>
    <p:extLst>
      <p:ext uri="{BB962C8B-B14F-4D97-AF65-F5344CB8AC3E}">
        <p14:creationId xmlns:p14="http://schemas.microsoft.com/office/powerpoint/2010/main" val="32049254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E62CCA-8393-4D0C-A383-D382BF593AB1}"/>
              </a:ext>
            </a:extLst>
          </p:cNvPr>
          <p:cNvSpPr>
            <a:spLocks noGrp="1"/>
          </p:cNvSpPr>
          <p:nvPr>
            <p:ph idx="1"/>
          </p:nvPr>
        </p:nvSpPr>
        <p:spPr>
          <a:xfrm>
            <a:off x="838200" y="470647"/>
            <a:ext cx="10515600" cy="5706316"/>
          </a:xfrm>
        </p:spPr>
        <p:txBody>
          <a:bodyPr>
            <a:normAutofit fontScale="92500" lnSpcReduction="10000"/>
          </a:bodyPr>
          <a:lstStyle/>
          <a:p>
            <a:r>
              <a:rPr lang="en-US" dirty="0">
                <a:solidFill>
                  <a:srgbClr val="FF0000"/>
                </a:solidFill>
              </a:rPr>
              <a:t>if </a:t>
            </a:r>
            <a:r>
              <a:rPr lang="en-US" dirty="0" err="1">
                <a:solidFill>
                  <a:srgbClr val="FF0000"/>
                </a:solidFill>
              </a:rPr>
              <a:t>a_number</a:t>
            </a:r>
            <a:r>
              <a:rPr lang="en-US" dirty="0">
                <a:solidFill>
                  <a:srgbClr val="FF0000"/>
                </a:solidFill>
              </a:rPr>
              <a:t> % 2 == 0:</a:t>
            </a:r>
          </a:p>
          <a:p>
            <a:r>
              <a:rPr lang="en-US" dirty="0">
                <a:solidFill>
                  <a:srgbClr val="FF0000"/>
                </a:solidFill>
              </a:rPr>
              <a:t>    print("{} is </a:t>
            </a:r>
            <a:r>
              <a:rPr lang="en-US" dirty="0" err="1">
                <a:solidFill>
                  <a:srgbClr val="FF0000"/>
                </a:solidFill>
              </a:rPr>
              <a:t>even".format</a:t>
            </a:r>
            <a:r>
              <a:rPr lang="en-US" dirty="0">
                <a:solidFill>
                  <a:srgbClr val="FF0000"/>
                </a:solidFill>
              </a:rPr>
              <a:t>(</a:t>
            </a:r>
            <a:r>
              <a:rPr lang="en-US" dirty="0" err="1">
                <a:solidFill>
                  <a:srgbClr val="FF0000"/>
                </a:solidFill>
              </a:rPr>
              <a:t>a_number</a:t>
            </a:r>
            <a:r>
              <a:rPr lang="en-US" dirty="0">
                <a:solidFill>
                  <a:srgbClr val="FF0000"/>
                </a:solidFill>
              </a:rPr>
              <a:t>))</a:t>
            </a:r>
          </a:p>
          <a:p>
            <a:r>
              <a:rPr lang="en-US" dirty="0">
                <a:solidFill>
                  <a:srgbClr val="FF0000"/>
                </a:solidFill>
              </a:rPr>
              <a:t>    if </a:t>
            </a:r>
            <a:r>
              <a:rPr lang="en-US" dirty="0" err="1">
                <a:solidFill>
                  <a:srgbClr val="FF0000"/>
                </a:solidFill>
              </a:rPr>
              <a:t>a_number</a:t>
            </a:r>
            <a:r>
              <a:rPr lang="en-US" dirty="0">
                <a:solidFill>
                  <a:srgbClr val="FF0000"/>
                </a:solidFill>
              </a:rPr>
              <a:t> % 3 == 0:</a:t>
            </a:r>
          </a:p>
          <a:p>
            <a:r>
              <a:rPr lang="en-US" dirty="0">
                <a:solidFill>
                  <a:srgbClr val="FF0000"/>
                </a:solidFill>
              </a:rPr>
              <a:t>        print("{} is also divisible by 3".format(</a:t>
            </a:r>
            <a:r>
              <a:rPr lang="en-US" dirty="0" err="1">
                <a:solidFill>
                  <a:srgbClr val="FF0000"/>
                </a:solidFill>
              </a:rPr>
              <a:t>a_number</a:t>
            </a:r>
            <a:r>
              <a:rPr lang="en-US" dirty="0">
                <a:solidFill>
                  <a:srgbClr val="FF0000"/>
                </a:solidFill>
              </a:rPr>
              <a:t>))</a:t>
            </a:r>
          </a:p>
          <a:p>
            <a:r>
              <a:rPr lang="en-US" dirty="0">
                <a:solidFill>
                  <a:srgbClr val="FF0000"/>
                </a:solidFill>
              </a:rPr>
              <a:t>    else:</a:t>
            </a:r>
          </a:p>
          <a:p>
            <a:r>
              <a:rPr lang="en-US" dirty="0">
                <a:solidFill>
                  <a:srgbClr val="FF0000"/>
                </a:solidFill>
              </a:rPr>
              <a:t>        print("{} is not </a:t>
            </a:r>
            <a:r>
              <a:rPr lang="en-US" dirty="0" err="1">
                <a:solidFill>
                  <a:srgbClr val="FF0000"/>
                </a:solidFill>
              </a:rPr>
              <a:t>divisibule</a:t>
            </a:r>
            <a:r>
              <a:rPr lang="en-US" dirty="0">
                <a:solidFill>
                  <a:srgbClr val="FF0000"/>
                </a:solidFill>
              </a:rPr>
              <a:t> by 3".format(</a:t>
            </a:r>
            <a:r>
              <a:rPr lang="en-US" dirty="0" err="1">
                <a:solidFill>
                  <a:srgbClr val="FF0000"/>
                </a:solidFill>
              </a:rPr>
              <a:t>a_number</a:t>
            </a:r>
            <a:r>
              <a:rPr lang="en-US" dirty="0">
                <a:solidFill>
                  <a:srgbClr val="FF0000"/>
                </a:solidFill>
              </a:rPr>
              <a:t>))</a:t>
            </a:r>
          </a:p>
          <a:p>
            <a:r>
              <a:rPr lang="en-US" dirty="0">
                <a:solidFill>
                  <a:srgbClr val="FF0000"/>
                </a:solidFill>
              </a:rPr>
              <a:t>else:</a:t>
            </a:r>
          </a:p>
          <a:p>
            <a:r>
              <a:rPr lang="en-US" dirty="0">
                <a:solidFill>
                  <a:srgbClr val="FF0000"/>
                </a:solidFill>
              </a:rPr>
              <a:t>    print("{} is </a:t>
            </a:r>
            <a:r>
              <a:rPr lang="en-US" dirty="0" err="1">
                <a:solidFill>
                  <a:srgbClr val="FF0000"/>
                </a:solidFill>
              </a:rPr>
              <a:t>odd".format</a:t>
            </a:r>
            <a:r>
              <a:rPr lang="en-US" dirty="0">
                <a:solidFill>
                  <a:srgbClr val="FF0000"/>
                </a:solidFill>
              </a:rPr>
              <a:t>(</a:t>
            </a:r>
            <a:r>
              <a:rPr lang="en-US" dirty="0" err="1">
                <a:solidFill>
                  <a:srgbClr val="FF0000"/>
                </a:solidFill>
              </a:rPr>
              <a:t>a_number</a:t>
            </a:r>
            <a:r>
              <a:rPr lang="en-US" dirty="0">
                <a:solidFill>
                  <a:srgbClr val="FF0000"/>
                </a:solidFill>
              </a:rPr>
              <a:t>))</a:t>
            </a:r>
          </a:p>
          <a:p>
            <a:r>
              <a:rPr lang="en-US" dirty="0">
                <a:solidFill>
                  <a:srgbClr val="FF0000"/>
                </a:solidFill>
              </a:rPr>
              <a:t>    if </a:t>
            </a:r>
            <a:r>
              <a:rPr lang="en-US" dirty="0" err="1">
                <a:solidFill>
                  <a:srgbClr val="FF0000"/>
                </a:solidFill>
              </a:rPr>
              <a:t>a_number</a:t>
            </a:r>
            <a:r>
              <a:rPr lang="en-US" dirty="0">
                <a:solidFill>
                  <a:srgbClr val="FF0000"/>
                </a:solidFill>
              </a:rPr>
              <a:t> % 5 == 0:</a:t>
            </a:r>
          </a:p>
          <a:p>
            <a:r>
              <a:rPr lang="en-US" dirty="0">
                <a:solidFill>
                  <a:srgbClr val="FF0000"/>
                </a:solidFill>
              </a:rPr>
              <a:t>        print("{} is also divisible by 5".format(</a:t>
            </a:r>
            <a:r>
              <a:rPr lang="en-US" dirty="0" err="1">
                <a:solidFill>
                  <a:srgbClr val="FF0000"/>
                </a:solidFill>
              </a:rPr>
              <a:t>a_number</a:t>
            </a:r>
            <a:r>
              <a:rPr lang="en-US" dirty="0">
                <a:solidFill>
                  <a:srgbClr val="FF0000"/>
                </a:solidFill>
              </a:rPr>
              <a:t>))</a:t>
            </a:r>
          </a:p>
          <a:p>
            <a:r>
              <a:rPr lang="en-US" dirty="0">
                <a:solidFill>
                  <a:srgbClr val="FF0000"/>
                </a:solidFill>
              </a:rPr>
              <a:t>    else:</a:t>
            </a:r>
          </a:p>
          <a:p>
            <a:r>
              <a:rPr lang="en-US" dirty="0">
                <a:solidFill>
                  <a:srgbClr val="FF0000"/>
                </a:solidFill>
              </a:rPr>
              <a:t>        print("{} is not </a:t>
            </a:r>
            <a:r>
              <a:rPr lang="en-US" dirty="0" err="1">
                <a:solidFill>
                  <a:srgbClr val="FF0000"/>
                </a:solidFill>
              </a:rPr>
              <a:t>divisibule</a:t>
            </a:r>
            <a:r>
              <a:rPr lang="en-US" dirty="0">
                <a:solidFill>
                  <a:srgbClr val="FF0000"/>
                </a:solidFill>
              </a:rPr>
              <a:t> by 5".format(</a:t>
            </a:r>
            <a:r>
              <a:rPr lang="en-US" dirty="0" err="1">
                <a:solidFill>
                  <a:srgbClr val="FF0000"/>
                </a:solidFill>
              </a:rPr>
              <a:t>a_number</a:t>
            </a:r>
            <a:r>
              <a:rPr lang="en-US" dirty="0">
                <a:solidFill>
                  <a:srgbClr val="FF0000"/>
                </a:solidFill>
              </a:rPr>
              <a:t>))</a:t>
            </a:r>
          </a:p>
        </p:txBody>
      </p:sp>
      <p:sp>
        <p:nvSpPr>
          <p:cNvPr id="4" name="Slide Number Placeholder 3">
            <a:extLst>
              <a:ext uri="{FF2B5EF4-FFF2-40B4-BE49-F238E27FC236}">
                <a16:creationId xmlns:a16="http://schemas.microsoft.com/office/drawing/2014/main" id="{BAFB0208-0973-47D5-9887-F6C0E86CCC27}"/>
              </a:ext>
            </a:extLst>
          </p:cNvPr>
          <p:cNvSpPr>
            <a:spLocks noGrp="1"/>
          </p:cNvSpPr>
          <p:nvPr>
            <p:ph type="sldNum" sz="quarter" idx="12"/>
          </p:nvPr>
        </p:nvSpPr>
        <p:spPr/>
        <p:txBody>
          <a:bodyPr/>
          <a:lstStyle/>
          <a:p>
            <a:fld id="{6B97D948-30E8-43F7-AE10-F6E2D9F2BBB1}" type="slidenum">
              <a:rPr lang="en-US" smtClean="0"/>
              <a:t>97</a:t>
            </a:fld>
            <a:endParaRPr lang="en-US"/>
          </a:p>
        </p:txBody>
      </p:sp>
    </p:spTree>
    <p:extLst>
      <p:ext uri="{BB962C8B-B14F-4D97-AF65-F5344CB8AC3E}">
        <p14:creationId xmlns:p14="http://schemas.microsoft.com/office/powerpoint/2010/main" val="8413614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A2699-5980-4ECD-AD5B-34FD25D78542}"/>
              </a:ext>
            </a:extLst>
          </p:cNvPr>
          <p:cNvSpPr>
            <a:spLocks noGrp="1"/>
          </p:cNvSpPr>
          <p:nvPr>
            <p:ph type="title"/>
          </p:nvPr>
        </p:nvSpPr>
        <p:spPr>
          <a:xfrm>
            <a:off x="838200" y="365126"/>
            <a:ext cx="10515600" cy="710640"/>
          </a:xfrm>
        </p:spPr>
        <p:txBody>
          <a:bodyPr/>
          <a:lstStyle/>
          <a:p>
            <a:r>
              <a:rPr lang="en-US" dirty="0"/>
              <a:t>Shorthand if conditional expression</a:t>
            </a:r>
          </a:p>
        </p:txBody>
      </p:sp>
      <p:sp>
        <p:nvSpPr>
          <p:cNvPr id="3" name="Content Placeholder 2">
            <a:extLst>
              <a:ext uri="{FF2B5EF4-FFF2-40B4-BE49-F238E27FC236}">
                <a16:creationId xmlns:a16="http://schemas.microsoft.com/office/drawing/2014/main" id="{76389E67-255E-4D8E-9671-C57D2C376F3E}"/>
              </a:ext>
            </a:extLst>
          </p:cNvPr>
          <p:cNvSpPr>
            <a:spLocks noGrp="1"/>
          </p:cNvSpPr>
          <p:nvPr>
            <p:ph idx="1"/>
          </p:nvPr>
        </p:nvSpPr>
        <p:spPr>
          <a:xfrm>
            <a:off x="838200" y="981635"/>
            <a:ext cx="10515600" cy="5195328"/>
          </a:xfrm>
        </p:spPr>
        <p:txBody>
          <a:bodyPr>
            <a:normAutofit/>
          </a:bodyPr>
          <a:lstStyle/>
          <a:p>
            <a:pPr algn="just"/>
            <a:r>
              <a:rPr lang="en-US" dirty="0"/>
              <a:t>A frequent use case of the if statement involves testing a condition and setting a variable’s value based on the condition.</a:t>
            </a:r>
          </a:p>
          <a:p>
            <a:pPr algn="just"/>
            <a:endParaRPr lang="en-US" dirty="0"/>
          </a:p>
          <a:p>
            <a:pPr algn="just"/>
            <a:r>
              <a:rPr lang="en-US" dirty="0"/>
              <a:t>Python provides a shorter syntax, which allows writing such conditions in a single line of code. </a:t>
            </a:r>
          </a:p>
          <a:p>
            <a:pPr algn="just"/>
            <a:endParaRPr lang="en-US" dirty="0"/>
          </a:p>
          <a:p>
            <a:pPr algn="just"/>
            <a:r>
              <a:rPr lang="en-US" dirty="0"/>
              <a:t>It is known as a conditional expression, sometimes also referred to as a ternary operator. It has the following syntax:</a:t>
            </a:r>
          </a:p>
          <a:p>
            <a:pPr algn="just"/>
            <a:endParaRPr lang="en-US" dirty="0"/>
          </a:p>
          <a:p>
            <a:pPr algn="just"/>
            <a:r>
              <a:rPr lang="en-US" dirty="0"/>
              <a:t>x = </a:t>
            </a:r>
            <a:r>
              <a:rPr lang="en-US" dirty="0" err="1"/>
              <a:t>true_value</a:t>
            </a:r>
            <a:r>
              <a:rPr lang="en-US" dirty="0"/>
              <a:t> </a:t>
            </a:r>
            <a:r>
              <a:rPr lang="en-US" dirty="0">
                <a:solidFill>
                  <a:srgbClr val="FF0000"/>
                </a:solidFill>
              </a:rPr>
              <a:t>if</a:t>
            </a:r>
            <a:r>
              <a:rPr lang="en-US" dirty="0"/>
              <a:t> condition </a:t>
            </a:r>
            <a:r>
              <a:rPr lang="en-US" dirty="0">
                <a:solidFill>
                  <a:srgbClr val="FF0000"/>
                </a:solidFill>
              </a:rPr>
              <a:t>else</a:t>
            </a:r>
            <a:r>
              <a:rPr lang="en-US" dirty="0"/>
              <a:t> </a:t>
            </a:r>
            <a:r>
              <a:rPr lang="en-US" dirty="0" err="1"/>
              <a:t>false_value</a:t>
            </a:r>
            <a:endParaRPr lang="en-US" dirty="0"/>
          </a:p>
        </p:txBody>
      </p:sp>
      <p:sp>
        <p:nvSpPr>
          <p:cNvPr id="5" name="Slide Number Placeholder 4">
            <a:extLst>
              <a:ext uri="{FF2B5EF4-FFF2-40B4-BE49-F238E27FC236}">
                <a16:creationId xmlns:a16="http://schemas.microsoft.com/office/drawing/2014/main" id="{4730168F-DCD2-4189-8849-1B003BB5FF91}"/>
              </a:ext>
            </a:extLst>
          </p:cNvPr>
          <p:cNvSpPr>
            <a:spLocks noGrp="1"/>
          </p:cNvSpPr>
          <p:nvPr>
            <p:ph type="sldNum" sz="quarter" idx="12"/>
          </p:nvPr>
        </p:nvSpPr>
        <p:spPr/>
        <p:txBody>
          <a:bodyPr/>
          <a:lstStyle/>
          <a:p>
            <a:fld id="{6B97D948-30E8-43F7-AE10-F6E2D9F2BBB1}" type="slidenum">
              <a:rPr lang="en-US" smtClean="0"/>
              <a:t>98</a:t>
            </a:fld>
            <a:endParaRPr lang="en-US"/>
          </a:p>
        </p:txBody>
      </p:sp>
    </p:spTree>
    <p:extLst>
      <p:ext uri="{BB962C8B-B14F-4D97-AF65-F5344CB8AC3E}">
        <p14:creationId xmlns:p14="http://schemas.microsoft.com/office/powerpoint/2010/main" val="413427111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9A56EF-A6F3-474F-AD5E-77CBA9575EDA}"/>
              </a:ext>
            </a:extLst>
          </p:cNvPr>
          <p:cNvSpPr>
            <a:spLocks noGrp="1"/>
          </p:cNvSpPr>
          <p:nvPr>
            <p:ph idx="1"/>
          </p:nvPr>
        </p:nvSpPr>
        <p:spPr/>
        <p:txBody>
          <a:bodyPr/>
          <a:lstStyle/>
          <a:p>
            <a:r>
              <a:rPr lang="en-US" dirty="0"/>
              <a:t>It has the same behavior as the following if-else block:</a:t>
            </a:r>
          </a:p>
          <a:p>
            <a:endParaRPr lang="en-US" dirty="0"/>
          </a:p>
          <a:p>
            <a:r>
              <a:rPr lang="en-US" dirty="0"/>
              <a:t>if condition:</a:t>
            </a:r>
          </a:p>
          <a:p>
            <a:r>
              <a:rPr lang="en-US" dirty="0"/>
              <a:t>    x = </a:t>
            </a:r>
            <a:r>
              <a:rPr lang="en-US" dirty="0" err="1"/>
              <a:t>true_value</a:t>
            </a:r>
            <a:endParaRPr lang="en-US" dirty="0"/>
          </a:p>
          <a:p>
            <a:r>
              <a:rPr lang="en-US" dirty="0"/>
              <a:t>else:</a:t>
            </a:r>
          </a:p>
          <a:p>
            <a:r>
              <a:rPr lang="en-US" dirty="0"/>
              <a:t>    x = </a:t>
            </a:r>
            <a:r>
              <a:rPr lang="en-US" dirty="0" err="1"/>
              <a:t>false_value</a:t>
            </a:r>
            <a:endParaRPr lang="en-US" dirty="0"/>
          </a:p>
        </p:txBody>
      </p:sp>
      <p:sp>
        <p:nvSpPr>
          <p:cNvPr id="4" name="Slide Number Placeholder 3">
            <a:extLst>
              <a:ext uri="{FF2B5EF4-FFF2-40B4-BE49-F238E27FC236}">
                <a16:creationId xmlns:a16="http://schemas.microsoft.com/office/drawing/2014/main" id="{BAA89C10-47BA-4E33-8461-0CBD4AE8CAE0}"/>
              </a:ext>
            </a:extLst>
          </p:cNvPr>
          <p:cNvSpPr>
            <a:spLocks noGrp="1"/>
          </p:cNvSpPr>
          <p:nvPr>
            <p:ph type="sldNum" sz="quarter" idx="12"/>
          </p:nvPr>
        </p:nvSpPr>
        <p:spPr/>
        <p:txBody>
          <a:bodyPr/>
          <a:lstStyle/>
          <a:p>
            <a:fld id="{6B97D948-30E8-43F7-AE10-F6E2D9F2BBB1}" type="slidenum">
              <a:rPr lang="en-US" smtClean="0"/>
              <a:t>99</a:t>
            </a:fld>
            <a:endParaRPr lang="en-US"/>
          </a:p>
        </p:txBody>
      </p:sp>
    </p:spTree>
    <p:extLst>
      <p:ext uri="{BB962C8B-B14F-4D97-AF65-F5344CB8AC3E}">
        <p14:creationId xmlns:p14="http://schemas.microsoft.com/office/powerpoint/2010/main" val="27427102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905DC0-53CE-4C3A-A223-565FE04110BF}"/>
              </a:ext>
            </a:extLst>
          </p:cNvPr>
          <p:cNvSpPr>
            <a:spLocks noGrp="1"/>
          </p:cNvSpPr>
          <p:nvPr>
            <p:ph idx="1"/>
          </p:nvPr>
        </p:nvSpPr>
        <p:spPr>
          <a:xfrm>
            <a:off x="838200" y="605118"/>
            <a:ext cx="10515600" cy="5571845"/>
          </a:xfrm>
        </p:spPr>
        <p:txBody>
          <a:bodyPr/>
          <a:lstStyle/>
          <a:p>
            <a:r>
              <a:rPr lang="en-US" dirty="0" err="1">
                <a:solidFill>
                  <a:srgbClr val="FF0000"/>
                </a:solidFill>
              </a:rPr>
              <a:t>a_number</a:t>
            </a:r>
            <a:r>
              <a:rPr lang="en-US" dirty="0">
                <a:solidFill>
                  <a:srgbClr val="FF0000"/>
                </a:solidFill>
              </a:rPr>
              <a:t> = 15</a:t>
            </a:r>
          </a:p>
          <a:p>
            <a:endParaRPr lang="en-US" dirty="0">
              <a:solidFill>
                <a:srgbClr val="FF0000"/>
              </a:solidFill>
            </a:endParaRPr>
          </a:p>
          <a:p>
            <a:r>
              <a:rPr lang="en-US" dirty="0">
                <a:solidFill>
                  <a:srgbClr val="FF0000"/>
                </a:solidFill>
              </a:rPr>
              <a:t>parity = 'even' if </a:t>
            </a:r>
            <a:r>
              <a:rPr lang="en-US" dirty="0" err="1">
                <a:solidFill>
                  <a:srgbClr val="FF0000"/>
                </a:solidFill>
              </a:rPr>
              <a:t>a_number</a:t>
            </a:r>
            <a:r>
              <a:rPr lang="en-US" dirty="0">
                <a:solidFill>
                  <a:srgbClr val="FF0000"/>
                </a:solidFill>
              </a:rPr>
              <a:t> % 2 == 0 else 'odd'</a:t>
            </a:r>
          </a:p>
          <a:p>
            <a:endParaRPr lang="en-US" dirty="0">
              <a:solidFill>
                <a:srgbClr val="FF0000"/>
              </a:solidFill>
            </a:endParaRPr>
          </a:p>
          <a:p>
            <a:r>
              <a:rPr lang="en-US" dirty="0">
                <a:solidFill>
                  <a:srgbClr val="FF0000"/>
                </a:solidFill>
              </a:rPr>
              <a:t>print('The number {} is {}.'.format(</a:t>
            </a:r>
            <a:r>
              <a:rPr lang="en-US" dirty="0" err="1">
                <a:solidFill>
                  <a:srgbClr val="FF0000"/>
                </a:solidFill>
              </a:rPr>
              <a:t>a_number</a:t>
            </a:r>
            <a:r>
              <a:rPr lang="en-US" dirty="0">
                <a:solidFill>
                  <a:srgbClr val="FF0000"/>
                </a:solidFill>
              </a:rPr>
              <a:t>, parity))</a:t>
            </a:r>
          </a:p>
          <a:p>
            <a:r>
              <a:rPr lang="en-US" dirty="0"/>
              <a:t>The number 15 is odd.</a:t>
            </a:r>
          </a:p>
          <a:p>
            <a:r>
              <a:rPr lang="en-US" dirty="0"/>
              <a:t>if </a:t>
            </a:r>
            <a:r>
              <a:rPr lang="en-US" dirty="0" err="1">
                <a:solidFill>
                  <a:srgbClr val="00B0F0"/>
                </a:solidFill>
              </a:rPr>
              <a:t>a_number</a:t>
            </a:r>
            <a:r>
              <a:rPr lang="en-US" dirty="0">
                <a:solidFill>
                  <a:srgbClr val="00B0F0"/>
                </a:solidFill>
              </a:rPr>
              <a:t> % 2 == 0</a:t>
            </a:r>
            <a:r>
              <a:rPr lang="en-US" dirty="0"/>
              <a:t>:</a:t>
            </a:r>
          </a:p>
          <a:p>
            <a:pPr marL="0" indent="0">
              <a:buNone/>
            </a:pPr>
            <a:r>
              <a:rPr lang="en-US" dirty="0"/>
              <a:t>	parity = </a:t>
            </a:r>
            <a:r>
              <a:rPr lang="en-US" dirty="0">
                <a:solidFill>
                  <a:srgbClr val="FF0000"/>
                </a:solidFill>
              </a:rPr>
              <a:t>'</a:t>
            </a:r>
            <a:r>
              <a:rPr lang="en-US" dirty="0"/>
              <a:t>even</a:t>
            </a:r>
            <a:r>
              <a:rPr lang="en-US" dirty="0">
                <a:solidFill>
                  <a:srgbClr val="FF0000"/>
                </a:solidFill>
              </a:rPr>
              <a:t>'</a:t>
            </a:r>
            <a:endParaRPr lang="en-US" dirty="0"/>
          </a:p>
          <a:p>
            <a:pPr marL="0" indent="0">
              <a:buNone/>
            </a:pPr>
            <a:r>
              <a:rPr lang="en-US" dirty="0"/>
              <a:t>   else:</a:t>
            </a:r>
          </a:p>
          <a:p>
            <a:pPr marL="0" indent="0">
              <a:buNone/>
            </a:pPr>
            <a:r>
              <a:rPr lang="en-US" dirty="0"/>
              <a:t>	parity = </a:t>
            </a:r>
            <a:r>
              <a:rPr lang="en-US" dirty="0">
                <a:solidFill>
                  <a:srgbClr val="FF0000"/>
                </a:solidFill>
              </a:rPr>
              <a:t>'</a:t>
            </a:r>
            <a:r>
              <a:rPr lang="en-US" dirty="0"/>
              <a:t>odd</a:t>
            </a:r>
            <a:r>
              <a:rPr lang="en-US" dirty="0">
                <a:solidFill>
                  <a:srgbClr val="FF0000"/>
                </a:solidFill>
              </a:rPr>
              <a:t>'</a:t>
            </a:r>
            <a:endParaRPr lang="en-US" dirty="0"/>
          </a:p>
        </p:txBody>
      </p:sp>
      <p:sp>
        <p:nvSpPr>
          <p:cNvPr id="4" name="Slide Number Placeholder 3">
            <a:extLst>
              <a:ext uri="{FF2B5EF4-FFF2-40B4-BE49-F238E27FC236}">
                <a16:creationId xmlns:a16="http://schemas.microsoft.com/office/drawing/2014/main" id="{841C3111-076F-4545-94B1-02D6F8F2E8C5}"/>
              </a:ext>
            </a:extLst>
          </p:cNvPr>
          <p:cNvSpPr>
            <a:spLocks noGrp="1"/>
          </p:cNvSpPr>
          <p:nvPr>
            <p:ph type="sldNum" sz="quarter" idx="12"/>
          </p:nvPr>
        </p:nvSpPr>
        <p:spPr/>
        <p:txBody>
          <a:bodyPr/>
          <a:lstStyle/>
          <a:p>
            <a:fld id="{6B97D948-30E8-43F7-AE10-F6E2D9F2BBB1}" type="slidenum">
              <a:rPr lang="en-US" smtClean="0"/>
              <a:t>100</a:t>
            </a:fld>
            <a:endParaRPr lang="en-US"/>
          </a:p>
        </p:txBody>
      </p:sp>
    </p:spTree>
    <p:extLst>
      <p:ext uri="{BB962C8B-B14F-4D97-AF65-F5344CB8AC3E}">
        <p14:creationId xmlns:p14="http://schemas.microsoft.com/office/powerpoint/2010/main" val="40657802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52014-BA98-4136-B5A7-AF4B6BEFE611}"/>
              </a:ext>
            </a:extLst>
          </p:cNvPr>
          <p:cNvSpPr>
            <a:spLocks noGrp="1"/>
          </p:cNvSpPr>
          <p:nvPr>
            <p:ph type="title"/>
          </p:nvPr>
        </p:nvSpPr>
        <p:spPr>
          <a:xfrm>
            <a:off x="838200" y="365125"/>
            <a:ext cx="10515600" cy="576169"/>
          </a:xfrm>
        </p:spPr>
        <p:txBody>
          <a:bodyPr>
            <a:normAutofit fontScale="90000"/>
          </a:bodyPr>
          <a:lstStyle/>
          <a:p>
            <a:r>
              <a:rPr lang="en-US" dirty="0"/>
              <a:t>The pass statement</a:t>
            </a:r>
          </a:p>
        </p:txBody>
      </p:sp>
      <p:sp>
        <p:nvSpPr>
          <p:cNvPr id="3" name="Content Placeholder 2">
            <a:extLst>
              <a:ext uri="{FF2B5EF4-FFF2-40B4-BE49-F238E27FC236}">
                <a16:creationId xmlns:a16="http://schemas.microsoft.com/office/drawing/2014/main" id="{8F94A0D9-AE25-44D1-9AA1-461F4AEF307D}"/>
              </a:ext>
            </a:extLst>
          </p:cNvPr>
          <p:cNvSpPr>
            <a:spLocks noGrp="1"/>
          </p:cNvSpPr>
          <p:nvPr>
            <p:ph idx="1"/>
          </p:nvPr>
        </p:nvSpPr>
        <p:spPr>
          <a:xfrm>
            <a:off x="838200" y="1035424"/>
            <a:ext cx="10515600" cy="5141539"/>
          </a:xfrm>
        </p:spPr>
        <p:txBody>
          <a:bodyPr/>
          <a:lstStyle/>
          <a:p>
            <a:pPr algn="just"/>
            <a:r>
              <a:rPr lang="en-US" dirty="0">
                <a:solidFill>
                  <a:srgbClr val="FF0000"/>
                </a:solidFill>
              </a:rPr>
              <a:t>if</a:t>
            </a:r>
            <a:r>
              <a:rPr lang="en-US" dirty="0"/>
              <a:t> statements cannot be empty, there must be at least one statement in every if and </a:t>
            </a:r>
            <a:r>
              <a:rPr lang="en-US" dirty="0" err="1"/>
              <a:t>elif</a:t>
            </a:r>
            <a:r>
              <a:rPr lang="en-US" dirty="0"/>
              <a:t> block. </a:t>
            </a:r>
          </a:p>
          <a:p>
            <a:pPr algn="just"/>
            <a:endParaRPr lang="en-US" dirty="0"/>
          </a:p>
          <a:p>
            <a:pPr algn="just"/>
            <a:r>
              <a:rPr lang="en-US" dirty="0"/>
              <a:t>We can use the </a:t>
            </a:r>
            <a:r>
              <a:rPr lang="en-US" dirty="0">
                <a:solidFill>
                  <a:srgbClr val="FF0000"/>
                </a:solidFill>
              </a:rPr>
              <a:t>pass</a:t>
            </a:r>
            <a:r>
              <a:rPr lang="en-US" dirty="0"/>
              <a:t> statement to do nothing and avoid getting an error.</a:t>
            </a:r>
          </a:p>
          <a:p>
            <a:pPr algn="just"/>
            <a:r>
              <a:rPr lang="en-US" dirty="0" err="1">
                <a:solidFill>
                  <a:srgbClr val="FF0000"/>
                </a:solidFill>
              </a:rPr>
              <a:t>a_number</a:t>
            </a:r>
            <a:r>
              <a:rPr lang="en-US" dirty="0">
                <a:solidFill>
                  <a:srgbClr val="FF0000"/>
                </a:solidFill>
              </a:rPr>
              <a:t> = 9</a:t>
            </a:r>
          </a:p>
          <a:p>
            <a:pPr algn="just"/>
            <a:r>
              <a:rPr lang="en-US" dirty="0">
                <a:solidFill>
                  <a:srgbClr val="FF0000"/>
                </a:solidFill>
              </a:rPr>
              <a:t>if </a:t>
            </a:r>
            <a:r>
              <a:rPr lang="en-US" dirty="0" err="1">
                <a:solidFill>
                  <a:srgbClr val="FF0000"/>
                </a:solidFill>
              </a:rPr>
              <a:t>a_number</a:t>
            </a:r>
            <a:r>
              <a:rPr lang="en-US" dirty="0">
                <a:solidFill>
                  <a:srgbClr val="FF0000"/>
                </a:solidFill>
              </a:rPr>
              <a:t> % 2 == 0:</a:t>
            </a:r>
          </a:p>
          <a:p>
            <a:pPr algn="just"/>
            <a:r>
              <a:rPr lang="en-US" dirty="0">
                <a:solidFill>
                  <a:srgbClr val="FF0000"/>
                </a:solidFill>
              </a:rPr>
              <a:t>    </a:t>
            </a:r>
          </a:p>
          <a:p>
            <a:pPr algn="just"/>
            <a:r>
              <a:rPr lang="en-US" dirty="0" err="1">
                <a:solidFill>
                  <a:srgbClr val="FF0000"/>
                </a:solidFill>
              </a:rPr>
              <a:t>elif</a:t>
            </a:r>
            <a:r>
              <a:rPr lang="en-US" dirty="0">
                <a:solidFill>
                  <a:srgbClr val="FF0000"/>
                </a:solidFill>
              </a:rPr>
              <a:t> </a:t>
            </a:r>
            <a:r>
              <a:rPr lang="en-US" dirty="0" err="1">
                <a:solidFill>
                  <a:srgbClr val="FF0000"/>
                </a:solidFill>
              </a:rPr>
              <a:t>a_number</a:t>
            </a:r>
            <a:r>
              <a:rPr lang="en-US" dirty="0">
                <a:solidFill>
                  <a:srgbClr val="FF0000"/>
                </a:solidFill>
              </a:rPr>
              <a:t> % 3 == 0:</a:t>
            </a:r>
          </a:p>
          <a:p>
            <a:pPr algn="just"/>
            <a:r>
              <a:rPr lang="en-US" dirty="0">
                <a:solidFill>
                  <a:srgbClr val="FF0000"/>
                </a:solidFill>
              </a:rPr>
              <a:t>    print('{} is divisible by 3 but not divisible by 2')</a:t>
            </a:r>
          </a:p>
        </p:txBody>
      </p:sp>
      <p:sp>
        <p:nvSpPr>
          <p:cNvPr id="5" name="Slide Number Placeholder 4">
            <a:extLst>
              <a:ext uri="{FF2B5EF4-FFF2-40B4-BE49-F238E27FC236}">
                <a16:creationId xmlns:a16="http://schemas.microsoft.com/office/drawing/2014/main" id="{5222A868-3F26-48C3-9BBF-F90869976ACE}"/>
              </a:ext>
            </a:extLst>
          </p:cNvPr>
          <p:cNvSpPr>
            <a:spLocks noGrp="1"/>
          </p:cNvSpPr>
          <p:nvPr>
            <p:ph type="sldNum" sz="quarter" idx="12"/>
          </p:nvPr>
        </p:nvSpPr>
        <p:spPr/>
        <p:txBody>
          <a:bodyPr/>
          <a:lstStyle/>
          <a:p>
            <a:fld id="{6B97D948-30E8-43F7-AE10-F6E2D9F2BBB1}" type="slidenum">
              <a:rPr lang="en-US" smtClean="0"/>
              <a:t>101</a:t>
            </a:fld>
            <a:endParaRPr lang="en-US"/>
          </a:p>
        </p:txBody>
      </p:sp>
    </p:spTree>
    <p:extLst>
      <p:ext uri="{BB962C8B-B14F-4D97-AF65-F5344CB8AC3E}">
        <p14:creationId xmlns:p14="http://schemas.microsoft.com/office/powerpoint/2010/main" val="58912626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985BF-3363-4BDF-8035-56D1B4CC5CD7}"/>
              </a:ext>
            </a:extLst>
          </p:cNvPr>
          <p:cNvSpPr>
            <a:spLocks noGrp="1"/>
          </p:cNvSpPr>
          <p:nvPr>
            <p:ph type="title"/>
          </p:nvPr>
        </p:nvSpPr>
        <p:spPr>
          <a:xfrm>
            <a:off x="838200" y="365125"/>
            <a:ext cx="10515600" cy="549275"/>
          </a:xfrm>
        </p:spPr>
        <p:txBody>
          <a:bodyPr>
            <a:normAutofit fontScale="90000"/>
          </a:bodyPr>
          <a:lstStyle/>
          <a:p>
            <a:r>
              <a:rPr lang="en-US" dirty="0"/>
              <a:t>Iteration with while loops</a:t>
            </a:r>
          </a:p>
        </p:txBody>
      </p:sp>
      <p:sp>
        <p:nvSpPr>
          <p:cNvPr id="3" name="Content Placeholder 2">
            <a:extLst>
              <a:ext uri="{FF2B5EF4-FFF2-40B4-BE49-F238E27FC236}">
                <a16:creationId xmlns:a16="http://schemas.microsoft.com/office/drawing/2014/main" id="{A11FB89E-E5AF-42ED-8D1B-0BDA2F791D2B}"/>
              </a:ext>
            </a:extLst>
          </p:cNvPr>
          <p:cNvSpPr>
            <a:spLocks noGrp="1"/>
          </p:cNvSpPr>
          <p:nvPr>
            <p:ph idx="1"/>
          </p:nvPr>
        </p:nvSpPr>
        <p:spPr>
          <a:xfrm>
            <a:off x="838200" y="914400"/>
            <a:ext cx="10515600" cy="5262563"/>
          </a:xfrm>
        </p:spPr>
        <p:txBody>
          <a:bodyPr/>
          <a:lstStyle/>
          <a:p>
            <a:pPr algn="just"/>
            <a:r>
              <a:rPr lang="en-US" dirty="0"/>
              <a:t>Another powerful feature of programming languages, closely related to branching, is running one or more statements multiple times. </a:t>
            </a:r>
          </a:p>
          <a:p>
            <a:pPr algn="just"/>
            <a:endParaRPr lang="en-US" dirty="0"/>
          </a:p>
          <a:p>
            <a:pPr algn="just"/>
            <a:r>
              <a:rPr lang="en-US" dirty="0"/>
              <a:t>This feature is often referred to as </a:t>
            </a:r>
            <a:r>
              <a:rPr lang="en-US" dirty="0">
                <a:solidFill>
                  <a:srgbClr val="FF0000"/>
                </a:solidFill>
              </a:rPr>
              <a:t>iteration</a:t>
            </a:r>
            <a:r>
              <a:rPr lang="en-US" dirty="0"/>
              <a:t> or </a:t>
            </a:r>
            <a:r>
              <a:rPr lang="en-US" dirty="0">
                <a:solidFill>
                  <a:srgbClr val="FF0000"/>
                </a:solidFill>
              </a:rPr>
              <a:t>looping</a:t>
            </a:r>
            <a:r>
              <a:rPr lang="en-US" dirty="0"/>
              <a:t>, and there are two ways to do this in Python: using </a:t>
            </a:r>
            <a:r>
              <a:rPr lang="en-US" dirty="0">
                <a:solidFill>
                  <a:srgbClr val="FF0000"/>
                </a:solidFill>
              </a:rPr>
              <a:t>while</a:t>
            </a:r>
            <a:r>
              <a:rPr lang="en-US" dirty="0"/>
              <a:t> loops and </a:t>
            </a:r>
            <a:r>
              <a:rPr lang="en-US" dirty="0">
                <a:solidFill>
                  <a:srgbClr val="FF0000"/>
                </a:solidFill>
              </a:rPr>
              <a:t>for</a:t>
            </a:r>
            <a:r>
              <a:rPr lang="en-US" dirty="0"/>
              <a:t> loops.</a:t>
            </a:r>
          </a:p>
          <a:p>
            <a:pPr algn="just"/>
            <a:endParaRPr lang="en-US" dirty="0"/>
          </a:p>
          <a:p>
            <a:pPr algn="just"/>
            <a:r>
              <a:rPr lang="en-US" dirty="0">
                <a:solidFill>
                  <a:srgbClr val="FF0000"/>
                </a:solidFill>
              </a:rPr>
              <a:t>while</a:t>
            </a:r>
            <a:r>
              <a:rPr lang="en-US" dirty="0"/>
              <a:t> loops have the following syntax:</a:t>
            </a:r>
          </a:p>
          <a:p>
            <a:pPr algn="just"/>
            <a:endParaRPr lang="en-US" dirty="0"/>
          </a:p>
          <a:p>
            <a:pPr algn="just"/>
            <a:r>
              <a:rPr lang="en-US" dirty="0">
                <a:solidFill>
                  <a:srgbClr val="FF0000"/>
                </a:solidFill>
              </a:rPr>
              <a:t>while condition:</a:t>
            </a:r>
          </a:p>
          <a:p>
            <a:pPr algn="just"/>
            <a:r>
              <a:rPr lang="en-US" dirty="0">
                <a:solidFill>
                  <a:srgbClr val="FF0000"/>
                </a:solidFill>
              </a:rPr>
              <a:t>    statement(s)</a:t>
            </a:r>
          </a:p>
        </p:txBody>
      </p:sp>
      <p:sp>
        <p:nvSpPr>
          <p:cNvPr id="5" name="Slide Number Placeholder 4">
            <a:extLst>
              <a:ext uri="{FF2B5EF4-FFF2-40B4-BE49-F238E27FC236}">
                <a16:creationId xmlns:a16="http://schemas.microsoft.com/office/drawing/2014/main" id="{F92A6894-A553-4025-9F21-4C570EA5174B}"/>
              </a:ext>
            </a:extLst>
          </p:cNvPr>
          <p:cNvSpPr>
            <a:spLocks noGrp="1"/>
          </p:cNvSpPr>
          <p:nvPr>
            <p:ph type="sldNum" sz="quarter" idx="12"/>
          </p:nvPr>
        </p:nvSpPr>
        <p:spPr/>
        <p:txBody>
          <a:bodyPr/>
          <a:lstStyle/>
          <a:p>
            <a:fld id="{6B97D948-30E8-43F7-AE10-F6E2D9F2BBB1}" type="slidenum">
              <a:rPr lang="en-US" smtClean="0"/>
              <a:t>102</a:t>
            </a:fld>
            <a:endParaRPr lang="en-US"/>
          </a:p>
        </p:txBody>
      </p:sp>
    </p:spTree>
    <p:extLst>
      <p:ext uri="{BB962C8B-B14F-4D97-AF65-F5344CB8AC3E}">
        <p14:creationId xmlns:p14="http://schemas.microsoft.com/office/powerpoint/2010/main" val="13207758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99922-F4F6-45E0-8BAB-02B146904A46}"/>
              </a:ext>
            </a:extLst>
          </p:cNvPr>
          <p:cNvSpPr>
            <a:spLocks noGrp="1"/>
          </p:cNvSpPr>
          <p:nvPr>
            <p:ph idx="1"/>
          </p:nvPr>
        </p:nvSpPr>
        <p:spPr>
          <a:xfrm>
            <a:off x="838200" y="430306"/>
            <a:ext cx="10515600" cy="5746657"/>
          </a:xfrm>
        </p:spPr>
        <p:txBody>
          <a:bodyPr/>
          <a:lstStyle/>
          <a:p>
            <a:pPr algn="just"/>
            <a:r>
              <a:rPr lang="en-US" dirty="0"/>
              <a:t>Statements in the code block under </a:t>
            </a:r>
            <a:r>
              <a:rPr lang="en-US" dirty="0">
                <a:solidFill>
                  <a:srgbClr val="FF0000"/>
                </a:solidFill>
              </a:rPr>
              <a:t>while</a:t>
            </a:r>
            <a:r>
              <a:rPr lang="en-US" dirty="0"/>
              <a:t> are executed repeatedly as long as the condition evaluates to </a:t>
            </a:r>
            <a:r>
              <a:rPr lang="en-US" dirty="0">
                <a:solidFill>
                  <a:srgbClr val="FF0000"/>
                </a:solidFill>
              </a:rPr>
              <a:t>True</a:t>
            </a:r>
            <a:r>
              <a:rPr lang="en-US" dirty="0"/>
              <a:t>. </a:t>
            </a:r>
          </a:p>
          <a:p>
            <a:pPr algn="just"/>
            <a:r>
              <a:rPr lang="en-US" dirty="0"/>
              <a:t>Generally, one of the statements under </a:t>
            </a:r>
            <a:r>
              <a:rPr lang="en-US" dirty="0">
                <a:solidFill>
                  <a:srgbClr val="FF0000"/>
                </a:solidFill>
              </a:rPr>
              <a:t>while</a:t>
            </a:r>
            <a:r>
              <a:rPr lang="en-US" dirty="0"/>
              <a:t> makes </a:t>
            </a:r>
            <a:r>
              <a:rPr lang="en-US" dirty="0">
                <a:solidFill>
                  <a:srgbClr val="FF0000"/>
                </a:solidFill>
              </a:rPr>
              <a:t>some change to a variable that causes the condition to evaluate </a:t>
            </a:r>
            <a:r>
              <a:rPr lang="en-US" dirty="0"/>
              <a:t>to </a:t>
            </a:r>
            <a:r>
              <a:rPr lang="en-US" dirty="0">
                <a:solidFill>
                  <a:srgbClr val="FF0000"/>
                </a:solidFill>
              </a:rPr>
              <a:t>False</a:t>
            </a:r>
            <a:r>
              <a:rPr lang="en-US" dirty="0"/>
              <a:t> after a certain number of iterations.</a:t>
            </a:r>
          </a:p>
          <a:p>
            <a:pPr algn="just"/>
            <a:endParaRPr lang="en-US" dirty="0"/>
          </a:p>
          <a:p>
            <a:pPr algn="just"/>
            <a:r>
              <a:rPr lang="en-US" dirty="0"/>
              <a:t>Let’s try to calculate the factorial of 10 using a </a:t>
            </a:r>
            <a:r>
              <a:rPr lang="en-US" dirty="0">
                <a:solidFill>
                  <a:srgbClr val="FF0000"/>
                </a:solidFill>
              </a:rPr>
              <a:t>while</a:t>
            </a:r>
            <a:r>
              <a:rPr lang="en-US" dirty="0"/>
              <a:t> loop. </a:t>
            </a:r>
          </a:p>
          <a:p>
            <a:pPr algn="just"/>
            <a:endParaRPr lang="en-US" dirty="0"/>
          </a:p>
          <a:p>
            <a:pPr algn="just"/>
            <a:r>
              <a:rPr lang="en-US" dirty="0"/>
              <a:t>The factorial of a number n is the product (multiplication) of all the numbers from 1 to n, i.e., 1*2*3*...*(n-2)*(n-1)*n.</a:t>
            </a:r>
          </a:p>
        </p:txBody>
      </p:sp>
      <p:sp>
        <p:nvSpPr>
          <p:cNvPr id="4" name="Slide Number Placeholder 3">
            <a:extLst>
              <a:ext uri="{FF2B5EF4-FFF2-40B4-BE49-F238E27FC236}">
                <a16:creationId xmlns:a16="http://schemas.microsoft.com/office/drawing/2014/main" id="{C8091E63-24C3-4C46-A6DB-43E31DB560D2}"/>
              </a:ext>
            </a:extLst>
          </p:cNvPr>
          <p:cNvSpPr>
            <a:spLocks noGrp="1"/>
          </p:cNvSpPr>
          <p:nvPr>
            <p:ph type="sldNum" sz="quarter" idx="12"/>
          </p:nvPr>
        </p:nvSpPr>
        <p:spPr/>
        <p:txBody>
          <a:bodyPr/>
          <a:lstStyle/>
          <a:p>
            <a:fld id="{6B97D948-30E8-43F7-AE10-F6E2D9F2BBB1}" type="slidenum">
              <a:rPr lang="en-US" smtClean="0"/>
              <a:t>103</a:t>
            </a:fld>
            <a:endParaRPr lang="en-US"/>
          </a:p>
        </p:txBody>
      </p:sp>
    </p:spTree>
    <p:extLst>
      <p:ext uri="{BB962C8B-B14F-4D97-AF65-F5344CB8AC3E}">
        <p14:creationId xmlns:p14="http://schemas.microsoft.com/office/powerpoint/2010/main" val="14181664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50F3A-9278-4B8A-837E-B9F0C9E80D54}"/>
              </a:ext>
            </a:extLst>
          </p:cNvPr>
          <p:cNvSpPr>
            <a:spLocks noGrp="1"/>
          </p:cNvSpPr>
          <p:nvPr>
            <p:ph type="title"/>
          </p:nvPr>
        </p:nvSpPr>
        <p:spPr/>
        <p:txBody>
          <a:bodyPr/>
          <a:lstStyle/>
          <a:p>
            <a:r>
              <a:rPr lang="en-US" dirty="0"/>
              <a:t>Code</a:t>
            </a:r>
          </a:p>
        </p:txBody>
      </p:sp>
      <p:sp>
        <p:nvSpPr>
          <p:cNvPr id="3" name="Content Placeholder 2">
            <a:extLst>
              <a:ext uri="{FF2B5EF4-FFF2-40B4-BE49-F238E27FC236}">
                <a16:creationId xmlns:a16="http://schemas.microsoft.com/office/drawing/2014/main" id="{3B2F0BE7-9F81-43D5-8A5C-2FE5E2F603BF}"/>
              </a:ext>
            </a:extLst>
          </p:cNvPr>
          <p:cNvSpPr>
            <a:spLocks noGrp="1"/>
          </p:cNvSpPr>
          <p:nvPr>
            <p:ph idx="1"/>
          </p:nvPr>
        </p:nvSpPr>
        <p:spPr/>
        <p:txBody>
          <a:bodyPr/>
          <a:lstStyle/>
          <a:p>
            <a:r>
              <a:rPr lang="en-US" dirty="0">
                <a:solidFill>
                  <a:srgbClr val="FF0000"/>
                </a:solidFill>
              </a:rPr>
              <a:t>result = 1</a:t>
            </a:r>
          </a:p>
          <a:p>
            <a:r>
              <a:rPr lang="en-US" dirty="0" err="1">
                <a:solidFill>
                  <a:srgbClr val="FF0000"/>
                </a:solidFill>
              </a:rPr>
              <a:t>i</a:t>
            </a:r>
            <a:r>
              <a:rPr lang="en-US" dirty="0">
                <a:solidFill>
                  <a:srgbClr val="FF0000"/>
                </a:solidFill>
              </a:rPr>
              <a:t> = 1</a:t>
            </a:r>
          </a:p>
          <a:p>
            <a:endParaRPr lang="en-US" dirty="0">
              <a:solidFill>
                <a:srgbClr val="FF0000"/>
              </a:solidFill>
            </a:endParaRPr>
          </a:p>
          <a:p>
            <a:r>
              <a:rPr lang="en-US" dirty="0">
                <a:solidFill>
                  <a:srgbClr val="FF0000"/>
                </a:solidFill>
              </a:rPr>
              <a:t>while </a:t>
            </a:r>
            <a:r>
              <a:rPr lang="en-US" dirty="0" err="1">
                <a:solidFill>
                  <a:srgbClr val="FF0000"/>
                </a:solidFill>
              </a:rPr>
              <a:t>i</a:t>
            </a:r>
            <a:r>
              <a:rPr lang="en-US" dirty="0">
                <a:solidFill>
                  <a:srgbClr val="FF0000"/>
                </a:solidFill>
              </a:rPr>
              <a:t> &lt;= 10:</a:t>
            </a:r>
          </a:p>
          <a:p>
            <a:r>
              <a:rPr lang="en-US" dirty="0">
                <a:solidFill>
                  <a:srgbClr val="FF0000"/>
                </a:solidFill>
              </a:rPr>
              <a:t>    result = result * </a:t>
            </a:r>
            <a:r>
              <a:rPr lang="en-US" dirty="0" err="1">
                <a:solidFill>
                  <a:srgbClr val="FF0000"/>
                </a:solidFill>
              </a:rPr>
              <a:t>i</a:t>
            </a:r>
            <a:endParaRPr lang="en-US" dirty="0">
              <a:solidFill>
                <a:srgbClr val="FF0000"/>
              </a:solidFill>
            </a:endParaRPr>
          </a:p>
          <a:p>
            <a:r>
              <a:rPr lang="en-US" dirty="0">
                <a:solidFill>
                  <a:srgbClr val="FF0000"/>
                </a:solidFill>
              </a:rPr>
              <a:t>    </a:t>
            </a:r>
            <a:r>
              <a:rPr lang="en-US" dirty="0" err="1">
                <a:solidFill>
                  <a:srgbClr val="FF0000"/>
                </a:solidFill>
              </a:rPr>
              <a:t>i</a:t>
            </a:r>
            <a:r>
              <a:rPr lang="en-US" dirty="0">
                <a:solidFill>
                  <a:srgbClr val="FF0000"/>
                </a:solidFill>
              </a:rPr>
              <a:t> = i+1</a:t>
            </a:r>
          </a:p>
          <a:p>
            <a:endParaRPr lang="en-US" dirty="0">
              <a:solidFill>
                <a:srgbClr val="FF0000"/>
              </a:solidFill>
            </a:endParaRPr>
          </a:p>
          <a:p>
            <a:r>
              <a:rPr lang="en-US" dirty="0">
                <a:solidFill>
                  <a:srgbClr val="FF0000"/>
                </a:solidFill>
              </a:rPr>
              <a:t>print('The factorial of 10 is: {}'.format(result))</a:t>
            </a:r>
          </a:p>
        </p:txBody>
      </p:sp>
      <p:sp>
        <p:nvSpPr>
          <p:cNvPr id="5" name="Slide Number Placeholder 4">
            <a:extLst>
              <a:ext uri="{FF2B5EF4-FFF2-40B4-BE49-F238E27FC236}">
                <a16:creationId xmlns:a16="http://schemas.microsoft.com/office/drawing/2014/main" id="{CAC86B44-9D45-4134-9BE5-194B0D00B711}"/>
              </a:ext>
            </a:extLst>
          </p:cNvPr>
          <p:cNvSpPr>
            <a:spLocks noGrp="1"/>
          </p:cNvSpPr>
          <p:nvPr>
            <p:ph type="sldNum" sz="quarter" idx="12"/>
          </p:nvPr>
        </p:nvSpPr>
        <p:spPr/>
        <p:txBody>
          <a:bodyPr/>
          <a:lstStyle/>
          <a:p>
            <a:fld id="{6B97D948-30E8-43F7-AE10-F6E2D9F2BBB1}" type="slidenum">
              <a:rPr lang="en-US" smtClean="0"/>
              <a:t>104</a:t>
            </a:fld>
            <a:endParaRPr lang="en-US"/>
          </a:p>
        </p:txBody>
      </p:sp>
    </p:spTree>
    <p:extLst>
      <p:ext uri="{BB962C8B-B14F-4D97-AF65-F5344CB8AC3E}">
        <p14:creationId xmlns:p14="http://schemas.microsoft.com/office/powerpoint/2010/main" val="23636076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E30D4-E9D5-4979-8970-5729143305E8}"/>
              </a:ext>
            </a:extLst>
          </p:cNvPr>
          <p:cNvSpPr>
            <a:spLocks noGrp="1"/>
          </p:cNvSpPr>
          <p:nvPr>
            <p:ph type="title"/>
          </p:nvPr>
        </p:nvSpPr>
        <p:spPr>
          <a:xfrm>
            <a:off x="838200" y="365125"/>
            <a:ext cx="10515600" cy="603063"/>
          </a:xfrm>
        </p:spPr>
        <p:txBody>
          <a:bodyPr>
            <a:normAutofit fontScale="90000"/>
          </a:bodyPr>
          <a:lstStyle/>
          <a:p>
            <a:r>
              <a:rPr lang="en-US" dirty="0"/>
              <a:t>Infinite Loops</a:t>
            </a:r>
          </a:p>
        </p:txBody>
      </p:sp>
      <p:sp>
        <p:nvSpPr>
          <p:cNvPr id="3" name="Content Placeholder 2">
            <a:extLst>
              <a:ext uri="{FF2B5EF4-FFF2-40B4-BE49-F238E27FC236}">
                <a16:creationId xmlns:a16="http://schemas.microsoft.com/office/drawing/2014/main" id="{A34C80BA-835F-46CB-B171-13474EF40429}"/>
              </a:ext>
            </a:extLst>
          </p:cNvPr>
          <p:cNvSpPr>
            <a:spLocks noGrp="1"/>
          </p:cNvSpPr>
          <p:nvPr>
            <p:ph idx="1"/>
          </p:nvPr>
        </p:nvSpPr>
        <p:spPr>
          <a:xfrm>
            <a:off x="838200" y="968188"/>
            <a:ext cx="10515600" cy="5208775"/>
          </a:xfrm>
        </p:spPr>
        <p:txBody>
          <a:bodyPr>
            <a:normAutofit fontScale="92500"/>
          </a:bodyPr>
          <a:lstStyle/>
          <a:p>
            <a:pPr algn="just"/>
            <a:r>
              <a:rPr lang="en-US" dirty="0"/>
              <a:t> Suppose the condition in a while loop always holds true. </a:t>
            </a:r>
          </a:p>
          <a:p>
            <a:pPr algn="just"/>
            <a:endParaRPr lang="en-US" dirty="0"/>
          </a:p>
          <a:p>
            <a:pPr algn="just"/>
            <a:r>
              <a:rPr lang="en-US" dirty="0"/>
              <a:t>In that case, Python repeatedly executes the code within the loop forever, and the execution of the code never completes. </a:t>
            </a:r>
          </a:p>
          <a:p>
            <a:pPr algn="just"/>
            <a:endParaRPr lang="en-US" dirty="0"/>
          </a:p>
          <a:p>
            <a:pPr algn="just"/>
            <a:r>
              <a:rPr lang="en-US" dirty="0"/>
              <a:t>This situation is called an infinite loop. </a:t>
            </a:r>
          </a:p>
          <a:p>
            <a:pPr algn="just"/>
            <a:endParaRPr lang="en-US" dirty="0"/>
          </a:p>
          <a:p>
            <a:pPr algn="just"/>
            <a:r>
              <a:rPr lang="en-US" dirty="0"/>
              <a:t>It generally indicates that you’ve made a mistake in your code. </a:t>
            </a:r>
          </a:p>
          <a:p>
            <a:pPr algn="just"/>
            <a:endParaRPr lang="en-US" dirty="0"/>
          </a:p>
          <a:p>
            <a:pPr algn="just"/>
            <a:r>
              <a:rPr lang="en-US" dirty="0"/>
              <a:t>For example, you may have provided the wrong condition or forgotten to update a variable within the loop, eventually falsifying the condition.</a:t>
            </a:r>
          </a:p>
        </p:txBody>
      </p:sp>
      <p:sp>
        <p:nvSpPr>
          <p:cNvPr id="5" name="Slide Number Placeholder 4">
            <a:extLst>
              <a:ext uri="{FF2B5EF4-FFF2-40B4-BE49-F238E27FC236}">
                <a16:creationId xmlns:a16="http://schemas.microsoft.com/office/drawing/2014/main" id="{8D8F41CD-225A-40B1-AFCD-50025E9A3E46}"/>
              </a:ext>
            </a:extLst>
          </p:cNvPr>
          <p:cNvSpPr>
            <a:spLocks noGrp="1"/>
          </p:cNvSpPr>
          <p:nvPr>
            <p:ph type="sldNum" sz="quarter" idx="12"/>
          </p:nvPr>
        </p:nvSpPr>
        <p:spPr/>
        <p:txBody>
          <a:bodyPr/>
          <a:lstStyle/>
          <a:p>
            <a:fld id="{6B97D948-30E8-43F7-AE10-F6E2D9F2BBB1}" type="slidenum">
              <a:rPr lang="en-US" smtClean="0"/>
              <a:t>105</a:t>
            </a:fld>
            <a:endParaRPr lang="en-US"/>
          </a:p>
        </p:txBody>
      </p:sp>
    </p:spTree>
    <p:extLst>
      <p:ext uri="{BB962C8B-B14F-4D97-AF65-F5344CB8AC3E}">
        <p14:creationId xmlns:p14="http://schemas.microsoft.com/office/powerpoint/2010/main" val="11263542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1A927-235F-4498-A6D8-E1107C32F118}"/>
              </a:ext>
            </a:extLst>
          </p:cNvPr>
          <p:cNvSpPr>
            <a:spLocks noGrp="1"/>
          </p:cNvSpPr>
          <p:nvPr>
            <p:ph type="title"/>
          </p:nvPr>
        </p:nvSpPr>
        <p:spPr/>
        <p:txBody>
          <a:bodyPr/>
          <a:lstStyle/>
          <a:p>
            <a:r>
              <a:rPr lang="en-US" dirty="0"/>
              <a:t>**Don’t run this code</a:t>
            </a:r>
          </a:p>
        </p:txBody>
      </p:sp>
      <p:sp>
        <p:nvSpPr>
          <p:cNvPr id="3" name="Content Placeholder 2">
            <a:extLst>
              <a:ext uri="{FF2B5EF4-FFF2-40B4-BE49-F238E27FC236}">
                <a16:creationId xmlns:a16="http://schemas.microsoft.com/office/drawing/2014/main" id="{444F209E-32C6-4345-BEB9-1546267CC5DF}"/>
              </a:ext>
            </a:extLst>
          </p:cNvPr>
          <p:cNvSpPr>
            <a:spLocks noGrp="1"/>
          </p:cNvSpPr>
          <p:nvPr>
            <p:ph idx="1"/>
          </p:nvPr>
        </p:nvSpPr>
        <p:spPr/>
        <p:txBody>
          <a:bodyPr/>
          <a:lstStyle/>
          <a:p>
            <a:r>
              <a:rPr lang="en-US" dirty="0"/>
              <a:t># INFINITE LOOP - INTERRUPT THIS CELL</a:t>
            </a:r>
          </a:p>
          <a:p>
            <a:endParaRPr lang="en-US" dirty="0"/>
          </a:p>
          <a:p>
            <a:r>
              <a:rPr lang="en-US" dirty="0">
                <a:solidFill>
                  <a:srgbClr val="FF0000"/>
                </a:solidFill>
              </a:rPr>
              <a:t>result = 1</a:t>
            </a:r>
          </a:p>
          <a:p>
            <a:r>
              <a:rPr lang="en-US" dirty="0" err="1">
                <a:solidFill>
                  <a:srgbClr val="FF0000"/>
                </a:solidFill>
              </a:rPr>
              <a:t>i</a:t>
            </a:r>
            <a:r>
              <a:rPr lang="en-US" dirty="0">
                <a:solidFill>
                  <a:srgbClr val="FF0000"/>
                </a:solidFill>
              </a:rPr>
              <a:t> = 1</a:t>
            </a:r>
          </a:p>
          <a:p>
            <a:endParaRPr lang="en-US" dirty="0">
              <a:solidFill>
                <a:srgbClr val="FF0000"/>
              </a:solidFill>
            </a:endParaRPr>
          </a:p>
          <a:p>
            <a:r>
              <a:rPr lang="en-US" dirty="0">
                <a:solidFill>
                  <a:srgbClr val="FF0000"/>
                </a:solidFill>
              </a:rPr>
              <a:t>while </a:t>
            </a:r>
            <a:r>
              <a:rPr lang="en-US" dirty="0" err="1">
                <a:solidFill>
                  <a:srgbClr val="FF0000"/>
                </a:solidFill>
              </a:rPr>
              <a:t>i</a:t>
            </a:r>
            <a:r>
              <a:rPr lang="en-US" dirty="0">
                <a:solidFill>
                  <a:srgbClr val="FF0000"/>
                </a:solidFill>
              </a:rPr>
              <a:t> &lt;= 100:</a:t>
            </a:r>
          </a:p>
          <a:p>
            <a:r>
              <a:rPr lang="en-US" dirty="0">
                <a:solidFill>
                  <a:srgbClr val="FF0000"/>
                </a:solidFill>
              </a:rPr>
              <a:t>    result = result * </a:t>
            </a:r>
            <a:r>
              <a:rPr lang="en-US" dirty="0" err="1">
                <a:solidFill>
                  <a:srgbClr val="FF0000"/>
                </a:solidFill>
              </a:rPr>
              <a:t>i</a:t>
            </a:r>
            <a:endParaRPr lang="en-US" dirty="0">
              <a:solidFill>
                <a:srgbClr val="FF0000"/>
              </a:solidFill>
            </a:endParaRPr>
          </a:p>
          <a:p>
            <a:r>
              <a:rPr lang="en-US" dirty="0"/>
              <a:t>    # forgot to increment </a:t>
            </a:r>
            <a:r>
              <a:rPr lang="en-US" dirty="0" err="1"/>
              <a:t>i</a:t>
            </a:r>
            <a:endParaRPr lang="en-US" dirty="0"/>
          </a:p>
        </p:txBody>
      </p:sp>
      <p:sp>
        <p:nvSpPr>
          <p:cNvPr id="5" name="Slide Number Placeholder 4">
            <a:extLst>
              <a:ext uri="{FF2B5EF4-FFF2-40B4-BE49-F238E27FC236}">
                <a16:creationId xmlns:a16="http://schemas.microsoft.com/office/drawing/2014/main" id="{148E2FED-3F57-45EE-A10C-03820984E608}"/>
              </a:ext>
            </a:extLst>
          </p:cNvPr>
          <p:cNvSpPr>
            <a:spLocks noGrp="1"/>
          </p:cNvSpPr>
          <p:nvPr>
            <p:ph type="sldNum" sz="quarter" idx="12"/>
          </p:nvPr>
        </p:nvSpPr>
        <p:spPr/>
        <p:txBody>
          <a:bodyPr/>
          <a:lstStyle/>
          <a:p>
            <a:fld id="{6B97D948-30E8-43F7-AE10-F6E2D9F2BBB1}" type="slidenum">
              <a:rPr lang="en-US" smtClean="0"/>
              <a:t>106</a:t>
            </a:fld>
            <a:endParaRPr lang="en-US"/>
          </a:p>
        </p:txBody>
      </p:sp>
    </p:spTree>
    <p:extLst>
      <p:ext uri="{BB962C8B-B14F-4D97-AF65-F5344CB8AC3E}">
        <p14:creationId xmlns:p14="http://schemas.microsoft.com/office/powerpoint/2010/main" val="33442783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44570-A9BB-489A-90D4-556D68AFECD0}"/>
              </a:ext>
            </a:extLst>
          </p:cNvPr>
          <p:cNvSpPr>
            <a:spLocks noGrp="1"/>
          </p:cNvSpPr>
          <p:nvPr>
            <p:ph type="title"/>
          </p:nvPr>
        </p:nvSpPr>
        <p:spPr/>
        <p:txBody>
          <a:bodyPr/>
          <a:lstStyle/>
          <a:p>
            <a:r>
              <a:rPr lang="en-US" dirty="0"/>
              <a:t>**Don’t run this code</a:t>
            </a:r>
          </a:p>
        </p:txBody>
      </p:sp>
      <p:sp>
        <p:nvSpPr>
          <p:cNvPr id="3" name="Content Placeholder 2">
            <a:extLst>
              <a:ext uri="{FF2B5EF4-FFF2-40B4-BE49-F238E27FC236}">
                <a16:creationId xmlns:a16="http://schemas.microsoft.com/office/drawing/2014/main" id="{F24E6144-38CD-4D07-8D84-E080C276C374}"/>
              </a:ext>
            </a:extLst>
          </p:cNvPr>
          <p:cNvSpPr>
            <a:spLocks noGrp="1"/>
          </p:cNvSpPr>
          <p:nvPr>
            <p:ph idx="1"/>
          </p:nvPr>
        </p:nvSpPr>
        <p:spPr/>
        <p:txBody>
          <a:bodyPr/>
          <a:lstStyle/>
          <a:p>
            <a:r>
              <a:rPr lang="en-US" dirty="0"/>
              <a:t># INFINITE LOOP - INTERRUPT THIS CELL</a:t>
            </a:r>
          </a:p>
          <a:p>
            <a:endParaRPr lang="en-US" dirty="0"/>
          </a:p>
          <a:p>
            <a:r>
              <a:rPr lang="en-US" dirty="0">
                <a:solidFill>
                  <a:srgbClr val="FF0000"/>
                </a:solidFill>
              </a:rPr>
              <a:t>result = 1</a:t>
            </a:r>
          </a:p>
          <a:p>
            <a:r>
              <a:rPr lang="en-US" dirty="0" err="1">
                <a:solidFill>
                  <a:srgbClr val="FF0000"/>
                </a:solidFill>
              </a:rPr>
              <a:t>i</a:t>
            </a:r>
            <a:r>
              <a:rPr lang="en-US" dirty="0">
                <a:solidFill>
                  <a:srgbClr val="FF0000"/>
                </a:solidFill>
              </a:rPr>
              <a:t> = 1</a:t>
            </a:r>
          </a:p>
          <a:p>
            <a:endParaRPr lang="en-US" dirty="0">
              <a:solidFill>
                <a:srgbClr val="FF0000"/>
              </a:solidFill>
            </a:endParaRPr>
          </a:p>
          <a:p>
            <a:r>
              <a:rPr lang="en-US" dirty="0">
                <a:solidFill>
                  <a:srgbClr val="FF0000"/>
                </a:solidFill>
              </a:rPr>
              <a:t>while </a:t>
            </a:r>
            <a:r>
              <a:rPr lang="en-US" dirty="0" err="1">
                <a:solidFill>
                  <a:srgbClr val="FF0000"/>
                </a:solidFill>
              </a:rPr>
              <a:t>i</a:t>
            </a:r>
            <a:r>
              <a:rPr lang="en-US" dirty="0">
                <a:solidFill>
                  <a:srgbClr val="FF0000"/>
                </a:solidFill>
              </a:rPr>
              <a:t> &gt; 0 : # wrong condition</a:t>
            </a:r>
          </a:p>
          <a:p>
            <a:r>
              <a:rPr lang="en-US" dirty="0">
                <a:solidFill>
                  <a:srgbClr val="FF0000"/>
                </a:solidFill>
              </a:rPr>
              <a:t>    result *= </a:t>
            </a:r>
            <a:r>
              <a:rPr lang="en-US" dirty="0" err="1">
                <a:solidFill>
                  <a:srgbClr val="FF0000"/>
                </a:solidFill>
              </a:rPr>
              <a:t>i</a:t>
            </a:r>
            <a:endParaRPr lang="en-US" dirty="0">
              <a:solidFill>
                <a:srgbClr val="FF0000"/>
              </a:solidFill>
            </a:endParaRPr>
          </a:p>
          <a:p>
            <a:r>
              <a:rPr lang="en-US" dirty="0">
                <a:solidFill>
                  <a:srgbClr val="FF0000"/>
                </a:solidFill>
              </a:rPr>
              <a:t>    </a:t>
            </a:r>
            <a:r>
              <a:rPr lang="en-US" dirty="0" err="1">
                <a:solidFill>
                  <a:srgbClr val="FF0000"/>
                </a:solidFill>
              </a:rPr>
              <a:t>i</a:t>
            </a:r>
            <a:r>
              <a:rPr lang="en-US" dirty="0">
                <a:solidFill>
                  <a:srgbClr val="FF0000"/>
                </a:solidFill>
              </a:rPr>
              <a:t> += 1</a:t>
            </a:r>
          </a:p>
        </p:txBody>
      </p:sp>
      <p:sp>
        <p:nvSpPr>
          <p:cNvPr id="5" name="Slide Number Placeholder 4">
            <a:extLst>
              <a:ext uri="{FF2B5EF4-FFF2-40B4-BE49-F238E27FC236}">
                <a16:creationId xmlns:a16="http://schemas.microsoft.com/office/drawing/2014/main" id="{7950335E-94AB-4154-BB2F-92C0AEAD11FE}"/>
              </a:ext>
            </a:extLst>
          </p:cNvPr>
          <p:cNvSpPr>
            <a:spLocks noGrp="1"/>
          </p:cNvSpPr>
          <p:nvPr>
            <p:ph type="sldNum" sz="quarter" idx="12"/>
          </p:nvPr>
        </p:nvSpPr>
        <p:spPr/>
        <p:txBody>
          <a:bodyPr/>
          <a:lstStyle/>
          <a:p>
            <a:fld id="{6B97D948-30E8-43F7-AE10-F6E2D9F2BBB1}" type="slidenum">
              <a:rPr lang="en-US" smtClean="0"/>
              <a:t>107</a:t>
            </a:fld>
            <a:endParaRPr lang="en-US"/>
          </a:p>
        </p:txBody>
      </p:sp>
    </p:spTree>
    <p:extLst>
      <p:ext uri="{BB962C8B-B14F-4D97-AF65-F5344CB8AC3E}">
        <p14:creationId xmlns:p14="http://schemas.microsoft.com/office/powerpoint/2010/main" val="9299124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92DEA-B1F7-4278-A1DF-9ED62229EFF0}"/>
              </a:ext>
            </a:extLst>
          </p:cNvPr>
          <p:cNvSpPr>
            <a:spLocks noGrp="1"/>
          </p:cNvSpPr>
          <p:nvPr>
            <p:ph type="title"/>
          </p:nvPr>
        </p:nvSpPr>
        <p:spPr>
          <a:xfrm>
            <a:off x="838200" y="365125"/>
            <a:ext cx="10515600" cy="724087"/>
          </a:xfrm>
        </p:spPr>
        <p:txBody>
          <a:bodyPr/>
          <a:lstStyle/>
          <a:p>
            <a:r>
              <a:rPr lang="en-US" dirty="0">
                <a:solidFill>
                  <a:srgbClr val="FF0000"/>
                </a:solidFill>
              </a:rPr>
              <a:t>break</a:t>
            </a:r>
            <a:r>
              <a:rPr lang="en-US" dirty="0"/>
              <a:t> and </a:t>
            </a:r>
            <a:r>
              <a:rPr lang="en-US" dirty="0">
                <a:solidFill>
                  <a:srgbClr val="FF0000"/>
                </a:solidFill>
              </a:rPr>
              <a:t>continue</a:t>
            </a:r>
            <a:r>
              <a:rPr lang="en-US" dirty="0"/>
              <a:t> statements</a:t>
            </a:r>
          </a:p>
        </p:txBody>
      </p:sp>
      <p:sp>
        <p:nvSpPr>
          <p:cNvPr id="3" name="Content Placeholder 2">
            <a:extLst>
              <a:ext uri="{FF2B5EF4-FFF2-40B4-BE49-F238E27FC236}">
                <a16:creationId xmlns:a16="http://schemas.microsoft.com/office/drawing/2014/main" id="{480AD4C2-2002-47F3-8E66-94B4301CCB12}"/>
              </a:ext>
            </a:extLst>
          </p:cNvPr>
          <p:cNvSpPr>
            <a:spLocks noGrp="1"/>
          </p:cNvSpPr>
          <p:nvPr>
            <p:ph idx="1"/>
          </p:nvPr>
        </p:nvSpPr>
        <p:spPr>
          <a:xfrm>
            <a:off x="838200" y="1089212"/>
            <a:ext cx="10515600" cy="954741"/>
          </a:xfrm>
        </p:spPr>
        <p:txBody>
          <a:bodyPr/>
          <a:lstStyle/>
          <a:p>
            <a:pPr algn="just"/>
            <a:r>
              <a:rPr lang="en-US" dirty="0"/>
              <a:t>In Python, break and continue statements can alter the flow of a normal loop. </a:t>
            </a:r>
          </a:p>
        </p:txBody>
      </p:sp>
      <p:sp>
        <p:nvSpPr>
          <p:cNvPr id="5" name="Slide Number Placeholder 4">
            <a:extLst>
              <a:ext uri="{FF2B5EF4-FFF2-40B4-BE49-F238E27FC236}">
                <a16:creationId xmlns:a16="http://schemas.microsoft.com/office/drawing/2014/main" id="{33D0DDA5-4E48-4B48-A90D-87963AC05AF3}"/>
              </a:ext>
            </a:extLst>
          </p:cNvPr>
          <p:cNvSpPr>
            <a:spLocks noGrp="1"/>
          </p:cNvSpPr>
          <p:nvPr>
            <p:ph type="sldNum" sz="quarter" idx="12"/>
          </p:nvPr>
        </p:nvSpPr>
        <p:spPr/>
        <p:txBody>
          <a:bodyPr/>
          <a:lstStyle/>
          <a:p>
            <a:fld id="{6B97D948-30E8-43F7-AE10-F6E2D9F2BBB1}" type="slidenum">
              <a:rPr lang="en-US" smtClean="0"/>
              <a:t>108</a:t>
            </a:fld>
            <a:endParaRPr lang="en-US"/>
          </a:p>
        </p:txBody>
      </p:sp>
    </p:spTree>
    <p:extLst>
      <p:ext uri="{BB962C8B-B14F-4D97-AF65-F5344CB8AC3E}">
        <p14:creationId xmlns:p14="http://schemas.microsoft.com/office/powerpoint/2010/main" val="10640973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EE9F038-C675-4CE4-A39D-C64E9F79D9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1487" y="363072"/>
            <a:ext cx="5356783" cy="6037729"/>
          </a:xfrm>
          <a:prstGeom prst="rect">
            <a:avLst/>
          </a:prstGeom>
        </p:spPr>
      </p:pic>
      <p:sp>
        <p:nvSpPr>
          <p:cNvPr id="3" name="Slide Number Placeholder 2">
            <a:extLst>
              <a:ext uri="{FF2B5EF4-FFF2-40B4-BE49-F238E27FC236}">
                <a16:creationId xmlns:a16="http://schemas.microsoft.com/office/drawing/2014/main" id="{78A0DA31-3BE5-45AF-8015-48A064479D82}"/>
              </a:ext>
            </a:extLst>
          </p:cNvPr>
          <p:cNvSpPr>
            <a:spLocks noGrp="1"/>
          </p:cNvSpPr>
          <p:nvPr>
            <p:ph type="sldNum" sz="quarter" idx="12"/>
          </p:nvPr>
        </p:nvSpPr>
        <p:spPr/>
        <p:txBody>
          <a:bodyPr/>
          <a:lstStyle/>
          <a:p>
            <a:fld id="{6B97D948-30E8-43F7-AE10-F6E2D9F2BBB1}" type="slidenum">
              <a:rPr lang="en-US" smtClean="0"/>
              <a:t>109</a:t>
            </a:fld>
            <a:endParaRPr lang="en-US"/>
          </a:p>
        </p:txBody>
      </p:sp>
    </p:spTree>
    <p:extLst>
      <p:ext uri="{BB962C8B-B14F-4D97-AF65-F5344CB8AC3E}">
        <p14:creationId xmlns:p14="http://schemas.microsoft.com/office/powerpoint/2010/main" val="85298654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FB58BE-96D8-4459-A00A-6E95E348D80F}"/>
              </a:ext>
            </a:extLst>
          </p:cNvPr>
          <p:cNvSpPr>
            <a:spLocks noGrp="1"/>
          </p:cNvSpPr>
          <p:nvPr>
            <p:ph idx="1"/>
          </p:nvPr>
        </p:nvSpPr>
        <p:spPr>
          <a:xfrm>
            <a:off x="838200" y="470647"/>
            <a:ext cx="10515600" cy="5706316"/>
          </a:xfrm>
        </p:spPr>
        <p:txBody>
          <a:bodyPr/>
          <a:lstStyle/>
          <a:p>
            <a:pPr algn="just"/>
            <a:r>
              <a:rPr lang="en-US" dirty="0"/>
              <a:t>We can use the </a:t>
            </a:r>
            <a:r>
              <a:rPr lang="en-US" dirty="0">
                <a:solidFill>
                  <a:srgbClr val="00B0F0"/>
                </a:solidFill>
              </a:rPr>
              <a:t>break</a:t>
            </a:r>
            <a:r>
              <a:rPr lang="en-US" dirty="0"/>
              <a:t> statement within the loop’s body to immediately stop the execution and break out of the loop. </a:t>
            </a:r>
          </a:p>
          <a:p>
            <a:pPr algn="just"/>
            <a:endParaRPr lang="en-US" dirty="0"/>
          </a:p>
          <a:p>
            <a:pPr algn="just"/>
            <a:r>
              <a:rPr lang="en-US" dirty="0"/>
              <a:t>With the </a:t>
            </a:r>
            <a:r>
              <a:rPr lang="en-US" dirty="0">
                <a:solidFill>
                  <a:srgbClr val="00B0F0"/>
                </a:solidFill>
              </a:rPr>
              <a:t>continue</a:t>
            </a:r>
            <a:r>
              <a:rPr lang="en-US" dirty="0"/>
              <a:t> statement, if the </a:t>
            </a:r>
            <a:r>
              <a:rPr lang="en-US" dirty="0">
                <a:solidFill>
                  <a:srgbClr val="FF0000"/>
                </a:solidFill>
              </a:rPr>
              <a:t>condition</a:t>
            </a:r>
            <a:r>
              <a:rPr lang="en-US" dirty="0"/>
              <a:t> evaluates to </a:t>
            </a:r>
            <a:r>
              <a:rPr lang="en-US" dirty="0">
                <a:solidFill>
                  <a:srgbClr val="00B0F0"/>
                </a:solidFill>
              </a:rPr>
              <a:t>True</a:t>
            </a:r>
            <a:r>
              <a:rPr lang="en-US" dirty="0"/>
              <a:t>, then the loop will </a:t>
            </a:r>
            <a:r>
              <a:rPr lang="en-US" dirty="0">
                <a:solidFill>
                  <a:srgbClr val="00B050"/>
                </a:solidFill>
              </a:rPr>
              <a:t>move to the next iteration</a:t>
            </a:r>
            <a:r>
              <a:rPr lang="en-US" dirty="0"/>
              <a:t>.</a:t>
            </a:r>
          </a:p>
        </p:txBody>
      </p:sp>
      <p:sp>
        <p:nvSpPr>
          <p:cNvPr id="4" name="Slide Number Placeholder 3">
            <a:extLst>
              <a:ext uri="{FF2B5EF4-FFF2-40B4-BE49-F238E27FC236}">
                <a16:creationId xmlns:a16="http://schemas.microsoft.com/office/drawing/2014/main" id="{3D97D719-64A9-4B8A-BA97-47D4E8B35FF2}"/>
              </a:ext>
            </a:extLst>
          </p:cNvPr>
          <p:cNvSpPr>
            <a:spLocks noGrp="1"/>
          </p:cNvSpPr>
          <p:nvPr>
            <p:ph type="sldNum" sz="quarter" idx="12"/>
          </p:nvPr>
        </p:nvSpPr>
        <p:spPr/>
        <p:txBody>
          <a:bodyPr/>
          <a:lstStyle/>
          <a:p>
            <a:fld id="{6B97D948-30E8-43F7-AE10-F6E2D9F2BBB1}" type="slidenum">
              <a:rPr lang="en-US" smtClean="0"/>
              <a:t>110</a:t>
            </a:fld>
            <a:endParaRPr lang="en-US"/>
          </a:p>
        </p:txBody>
      </p:sp>
    </p:spTree>
    <p:extLst>
      <p:ext uri="{BB962C8B-B14F-4D97-AF65-F5344CB8AC3E}">
        <p14:creationId xmlns:p14="http://schemas.microsoft.com/office/powerpoint/2010/main" val="223481746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0F7AD-8666-4397-86D5-289B368A3CB6}"/>
              </a:ext>
            </a:extLst>
          </p:cNvPr>
          <p:cNvSpPr>
            <a:spLocks noGrp="1"/>
          </p:cNvSpPr>
          <p:nvPr>
            <p:ph type="title"/>
          </p:nvPr>
        </p:nvSpPr>
        <p:spPr>
          <a:xfrm>
            <a:off x="838200" y="365125"/>
            <a:ext cx="10515600" cy="629957"/>
          </a:xfrm>
        </p:spPr>
        <p:txBody>
          <a:bodyPr>
            <a:normAutofit fontScale="90000"/>
          </a:bodyPr>
          <a:lstStyle/>
          <a:p>
            <a:r>
              <a:rPr lang="en-US" dirty="0"/>
              <a:t>Example - break</a:t>
            </a:r>
          </a:p>
        </p:txBody>
      </p:sp>
      <p:sp>
        <p:nvSpPr>
          <p:cNvPr id="3" name="Content Placeholder 2">
            <a:extLst>
              <a:ext uri="{FF2B5EF4-FFF2-40B4-BE49-F238E27FC236}">
                <a16:creationId xmlns:a16="http://schemas.microsoft.com/office/drawing/2014/main" id="{02458475-E13C-4CB1-A57B-EC60C06CA161}"/>
              </a:ext>
            </a:extLst>
          </p:cNvPr>
          <p:cNvSpPr>
            <a:spLocks noGrp="1"/>
          </p:cNvSpPr>
          <p:nvPr>
            <p:ph idx="1"/>
          </p:nvPr>
        </p:nvSpPr>
        <p:spPr>
          <a:xfrm>
            <a:off x="838200" y="995082"/>
            <a:ext cx="10515600" cy="5181881"/>
          </a:xfrm>
        </p:spPr>
        <p:txBody>
          <a:bodyPr>
            <a:normAutofit fontScale="92500" lnSpcReduction="20000"/>
          </a:bodyPr>
          <a:lstStyle/>
          <a:p>
            <a:r>
              <a:rPr lang="en-US" dirty="0" err="1">
                <a:solidFill>
                  <a:srgbClr val="FF0000"/>
                </a:solidFill>
              </a:rPr>
              <a:t>i</a:t>
            </a:r>
            <a:r>
              <a:rPr lang="en-US" dirty="0">
                <a:solidFill>
                  <a:srgbClr val="FF0000"/>
                </a:solidFill>
              </a:rPr>
              <a:t> = 1</a:t>
            </a:r>
          </a:p>
          <a:p>
            <a:r>
              <a:rPr lang="en-US" dirty="0">
                <a:solidFill>
                  <a:srgbClr val="FF0000"/>
                </a:solidFill>
              </a:rPr>
              <a:t>result = 1</a:t>
            </a:r>
          </a:p>
          <a:p>
            <a:endParaRPr lang="en-US" dirty="0">
              <a:solidFill>
                <a:srgbClr val="FF0000"/>
              </a:solidFill>
            </a:endParaRPr>
          </a:p>
          <a:p>
            <a:r>
              <a:rPr lang="en-US" dirty="0">
                <a:solidFill>
                  <a:srgbClr val="FF0000"/>
                </a:solidFill>
              </a:rPr>
              <a:t>while </a:t>
            </a:r>
            <a:r>
              <a:rPr lang="en-US" dirty="0" err="1">
                <a:solidFill>
                  <a:srgbClr val="FF0000"/>
                </a:solidFill>
              </a:rPr>
              <a:t>i</a:t>
            </a:r>
            <a:r>
              <a:rPr lang="en-US" dirty="0">
                <a:solidFill>
                  <a:srgbClr val="FF0000"/>
                </a:solidFill>
              </a:rPr>
              <a:t> &lt;= 100:</a:t>
            </a:r>
          </a:p>
          <a:p>
            <a:r>
              <a:rPr lang="en-US" dirty="0">
                <a:solidFill>
                  <a:srgbClr val="FF0000"/>
                </a:solidFill>
              </a:rPr>
              <a:t>    result *= </a:t>
            </a:r>
            <a:r>
              <a:rPr lang="en-US" dirty="0" err="1">
                <a:solidFill>
                  <a:srgbClr val="FF0000"/>
                </a:solidFill>
              </a:rPr>
              <a:t>i</a:t>
            </a:r>
            <a:endParaRPr lang="en-US" dirty="0">
              <a:solidFill>
                <a:srgbClr val="FF0000"/>
              </a:solidFill>
            </a:endParaRPr>
          </a:p>
          <a:p>
            <a:r>
              <a:rPr lang="en-US" dirty="0">
                <a:solidFill>
                  <a:srgbClr val="FF0000"/>
                </a:solidFill>
              </a:rPr>
              <a:t>    if </a:t>
            </a:r>
            <a:r>
              <a:rPr lang="en-US" dirty="0" err="1">
                <a:solidFill>
                  <a:srgbClr val="FF0000"/>
                </a:solidFill>
              </a:rPr>
              <a:t>i</a:t>
            </a:r>
            <a:r>
              <a:rPr lang="en-US" dirty="0">
                <a:solidFill>
                  <a:srgbClr val="FF0000"/>
                </a:solidFill>
              </a:rPr>
              <a:t> == 42:</a:t>
            </a:r>
          </a:p>
          <a:p>
            <a:r>
              <a:rPr lang="en-US" dirty="0">
                <a:solidFill>
                  <a:srgbClr val="FF0000"/>
                </a:solidFill>
              </a:rPr>
              <a:t>        print('Magic number 42 reached! Stopping execution..')</a:t>
            </a:r>
          </a:p>
          <a:p>
            <a:r>
              <a:rPr lang="en-US" dirty="0">
                <a:solidFill>
                  <a:srgbClr val="FF0000"/>
                </a:solidFill>
              </a:rPr>
              <a:t>        break</a:t>
            </a:r>
          </a:p>
          <a:p>
            <a:r>
              <a:rPr lang="en-US" dirty="0">
                <a:solidFill>
                  <a:srgbClr val="FF0000"/>
                </a:solidFill>
              </a:rPr>
              <a:t>    </a:t>
            </a:r>
            <a:r>
              <a:rPr lang="en-US" dirty="0" err="1">
                <a:solidFill>
                  <a:srgbClr val="FF0000"/>
                </a:solidFill>
              </a:rPr>
              <a:t>i</a:t>
            </a:r>
            <a:r>
              <a:rPr lang="en-US" dirty="0">
                <a:solidFill>
                  <a:srgbClr val="FF0000"/>
                </a:solidFill>
              </a:rPr>
              <a:t> += 1</a:t>
            </a:r>
          </a:p>
          <a:p>
            <a:r>
              <a:rPr lang="en-US" dirty="0"/>
              <a:t>    </a:t>
            </a:r>
          </a:p>
          <a:p>
            <a:r>
              <a:rPr lang="en-US" dirty="0">
                <a:solidFill>
                  <a:srgbClr val="002060"/>
                </a:solidFill>
              </a:rPr>
              <a:t>print('</a:t>
            </a:r>
            <a:r>
              <a:rPr lang="en-US" dirty="0" err="1">
                <a:solidFill>
                  <a:srgbClr val="002060"/>
                </a:solidFill>
              </a:rPr>
              <a:t>i</a:t>
            </a:r>
            <a:r>
              <a:rPr lang="en-US" dirty="0">
                <a:solidFill>
                  <a:srgbClr val="002060"/>
                </a:solidFill>
              </a:rPr>
              <a:t>:', </a:t>
            </a:r>
            <a:r>
              <a:rPr lang="en-US" dirty="0" err="1">
                <a:solidFill>
                  <a:srgbClr val="002060"/>
                </a:solidFill>
              </a:rPr>
              <a:t>i</a:t>
            </a:r>
            <a:r>
              <a:rPr lang="en-US" dirty="0">
                <a:solidFill>
                  <a:srgbClr val="002060"/>
                </a:solidFill>
              </a:rPr>
              <a:t>)</a:t>
            </a:r>
          </a:p>
          <a:p>
            <a:r>
              <a:rPr lang="en-US" dirty="0">
                <a:solidFill>
                  <a:srgbClr val="002060"/>
                </a:solidFill>
              </a:rPr>
              <a:t>print('result:', result)</a:t>
            </a:r>
          </a:p>
        </p:txBody>
      </p:sp>
      <p:sp>
        <p:nvSpPr>
          <p:cNvPr id="5" name="Slide Number Placeholder 4">
            <a:extLst>
              <a:ext uri="{FF2B5EF4-FFF2-40B4-BE49-F238E27FC236}">
                <a16:creationId xmlns:a16="http://schemas.microsoft.com/office/drawing/2014/main" id="{B2CFE72A-9659-4018-A5D1-15F5D59CE371}"/>
              </a:ext>
            </a:extLst>
          </p:cNvPr>
          <p:cNvSpPr>
            <a:spLocks noGrp="1"/>
          </p:cNvSpPr>
          <p:nvPr>
            <p:ph type="sldNum" sz="quarter" idx="12"/>
          </p:nvPr>
        </p:nvSpPr>
        <p:spPr/>
        <p:txBody>
          <a:bodyPr/>
          <a:lstStyle/>
          <a:p>
            <a:fld id="{6B97D948-30E8-43F7-AE10-F6E2D9F2BBB1}" type="slidenum">
              <a:rPr lang="en-US" smtClean="0"/>
              <a:t>111</a:t>
            </a:fld>
            <a:endParaRPr lang="en-US"/>
          </a:p>
        </p:txBody>
      </p:sp>
    </p:spTree>
    <p:extLst>
      <p:ext uri="{BB962C8B-B14F-4D97-AF65-F5344CB8AC3E}">
        <p14:creationId xmlns:p14="http://schemas.microsoft.com/office/powerpoint/2010/main" val="40190879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0178-DD2F-4626-AA82-0716D0F82C92}"/>
              </a:ext>
            </a:extLst>
          </p:cNvPr>
          <p:cNvSpPr>
            <a:spLocks noGrp="1"/>
          </p:cNvSpPr>
          <p:nvPr>
            <p:ph type="title"/>
          </p:nvPr>
        </p:nvSpPr>
        <p:spPr>
          <a:xfrm>
            <a:off x="838200" y="365125"/>
            <a:ext cx="10515600" cy="603063"/>
          </a:xfrm>
        </p:spPr>
        <p:txBody>
          <a:bodyPr>
            <a:normAutofit fontScale="90000"/>
          </a:bodyPr>
          <a:lstStyle/>
          <a:p>
            <a:r>
              <a:rPr lang="en-US" dirty="0"/>
              <a:t>Example - </a:t>
            </a:r>
            <a:r>
              <a:rPr lang="en-US" dirty="0">
                <a:solidFill>
                  <a:srgbClr val="FF0000"/>
                </a:solidFill>
              </a:rPr>
              <a:t>continue</a:t>
            </a:r>
          </a:p>
        </p:txBody>
      </p:sp>
      <p:sp>
        <p:nvSpPr>
          <p:cNvPr id="3" name="Content Placeholder 2">
            <a:extLst>
              <a:ext uri="{FF2B5EF4-FFF2-40B4-BE49-F238E27FC236}">
                <a16:creationId xmlns:a16="http://schemas.microsoft.com/office/drawing/2014/main" id="{1BE0E8CE-845E-450C-913D-56B7672BAF8D}"/>
              </a:ext>
            </a:extLst>
          </p:cNvPr>
          <p:cNvSpPr>
            <a:spLocks noGrp="1"/>
          </p:cNvSpPr>
          <p:nvPr>
            <p:ph idx="1"/>
          </p:nvPr>
        </p:nvSpPr>
        <p:spPr>
          <a:xfrm>
            <a:off x="838200" y="968188"/>
            <a:ext cx="10515600" cy="5208775"/>
          </a:xfrm>
        </p:spPr>
        <p:txBody>
          <a:bodyPr>
            <a:normAutofit fontScale="85000" lnSpcReduction="20000"/>
          </a:bodyPr>
          <a:lstStyle/>
          <a:p>
            <a:r>
              <a:rPr lang="en-US" dirty="0" err="1">
                <a:solidFill>
                  <a:srgbClr val="FF0000"/>
                </a:solidFill>
              </a:rPr>
              <a:t>i</a:t>
            </a:r>
            <a:r>
              <a:rPr lang="en-US" dirty="0">
                <a:solidFill>
                  <a:srgbClr val="FF0000"/>
                </a:solidFill>
              </a:rPr>
              <a:t> = 1</a:t>
            </a:r>
          </a:p>
          <a:p>
            <a:r>
              <a:rPr lang="en-US" dirty="0">
                <a:solidFill>
                  <a:srgbClr val="FF0000"/>
                </a:solidFill>
              </a:rPr>
              <a:t>result = 1</a:t>
            </a:r>
          </a:p>
          <a:p>
            <a:endParaRPr lang="en-US" dirty="0">
              <a:solidFill>
                <a:srgbClr val="FF0000"/>
              </a:solidFill>
            </a:endParaRPr>
          </a:p>
          <a:p>
            <a:r>
              <a:rPr lang="en-US" dirty="0">
                <a:solidFill>
                  <a:srgbClr val="FF0000"/>
                </a:solidFill>
              </a:rPr>
              <a:t>while </a:t>
            </a:r>
            <a:r>
              <a:rPr lang="en-US" dirty="0" err="1">
                <a:solidFill>
                  <a:srgbClr val="FF0000"/>
                </a:solidFill>
              </a:rPr>
              <a:t>i</a:t>
            </a:r>
            <a:r>
              <a:rPr lang="en-US" dirty="0">
                <a:solidFill>
                  <a:srgbClr val="FF0000"/>
                </a:solidFill>
              </a:rPr>
              <a:t> &lt; 8:</a:t>
            </a:r>
          </a:p>
          <a:p>
            <a:r>
              <a:rPr lang="en-US" dirty="0">
                <a:solidFill>
                  <a:srgbClr val="FF0000"/>
                </a:solidFill>
              </a:rPr>
              <a:t>    </a:t>
            </a:r>
            <a:r>
              <a:rPr lang="en-US" dirty="0" err="1">
                <a:solidFill>
                  <a:srgbClr val="FF0000"/>
                </a:solidFill>
              </a:rPr>
              <a:t>i</a:t>
            </a:r>
            <a:r>
              <a:rPr lang="en-US" dirty="0">
                <a:solidFill>
                  <a:srgbClr val="FF0000"/>
                </a:solidFill>
              </a:rPr>
              <a:t> += 1</a:t>
            </a:r>
          </a:p>
          <a:p>
            <a:r>
              <a:rPr lang="en-US" dirty="0">
                <a:solidFill>
                  <a:srgbClr val="FF0000"/>
                </a:solidFill>
              </a:rPr>
              <a:t>    if </a:t>
            </a:r>
            <a:r>
              <a:rPr lang="en-US" dirty="0" err="1">
                <a:solidFill>
                  <a:srgbClr val="FF0000"/>
                </a:solidFill>
              </a:rPr>
              <a:t>i</a:t>
            </a:r>
            <a:r>
              <a:rPr lang="en-US" dirty="0">
                <a:solidFill>
                  <a:srgbClr val="FF0000"/>
                </a:solidFill>
              </a:rPr>
              <a:t> % 2 == 0:</a:t>
            </a:r>
          </a:p>
          <a:p>
            <a:r>
              <a:rPr lang="en-US" dirty="0">
                <a:solidFill>
                  <a:srgbClr val="FF0000"/>
                </a:solidFill>
              </a:rPr>
              <a:t>        print('Skipping {}'.format(</a:t>
            </a:r>
            <a:r>
              <a:rPr lang="en-US" dirty="0" err="1">
                <a:solidFill>
                  <a:srgbClr val="FF0000"/>
                </a:solidFill>
              </a:rPr>
              <a:t>i</a:t>
            </a:r>
            <a:r>
              <a:rPr lang="en-US" dirty="0">
                <a:solidFill>
                  <a:srgbClr val="FF0000"/>
                </a:solidFill>
              </a:rPr>
              <a:t>))</a:t>
            </a:r>
          </a:p>
          <a:p>
            <a:r>
              <a:rPr lang="en-US" dirty="0">
                <a:solidFill>
                  <a:srgbClr val="FF0000"/>
                </a:solidFill>
              </a:rPr>
              <a:t>        continue</a:t>
            </a:r>
          </a:p>
          <a:p>
            <a:r>
              <a:rPr lang="en-US" dirty="0">
                <a:solidFill>
                  <a:srgbClr val="FF0000"/>
                </a:solidFill>
              </a:rPr>
              <a:t>    print('Multiplying with {}'.format(</a:t>
            </a:r>
            <a:r>
              <a:rPr lang="en-US" dirty="0" err="1">
                <a:solidFill>
                  <a:srgbClr val="FF0000"/>
                </a:solidFill>
              </a:rPr>
              <a:t>i</a:t>
            </a:r>
            <a:r>
              <a:rPr lang="en-US" dirty="0">
                <a:solidFill>
                  <a:srgbClr val="FF0000"/>
                </a:solidFill>
              </a:rPr>
              <a:t>))</a:t>
            </a:r>
          </a:p>
          <a:p>
            <a:r>
              <a:rPr lang="en-US" dirty="0">
                <a:solidFill>
                  <a:srgbClr val="FF0000"/>
                </a:solidFill>
              </a:rPr>
              <a:t>    result = result * </a:t>
            </a:r>
            <a:r>
              <a:rPr lang="en-US" dirty="0" err="1">
                <a:solidFill>
                  <a:srgbClr val="FF0000"/>
                </a:solidFill>
              </a:rPr>
              <a:t>i</a:t>
            </a:r>
            <a:endParaRPr lang="en-US" dirty="0">
              <a:solidFill>
                <a:srgbClr val="FF0000"/>
              </a:solidFill>
            </a:endParaRPr>
          </a:p>
          <a:p>
            <a:r>
              <a:rPr lang="en-US" dirty="0"/>
              <a:t>    </a:t>
            </a:r>
          </a:p>
          <a:p>
            <a:r>
              <a:rPr lang="en-US" dirty="0"/>
              <a:t>print('</a:t>
            </a:r>
            <a:r>
              <a:rPr lang="en-US" dirty="0" err="1"/>
              <a:t>i</a:t>
            </a:r>
            <a:r>
              <a:rPr lang="en-US" dirty="0"/>
              <a:t>:', </a:t>
            </a:r>
            <a:r>
              <a:rPr lang="en-US" dirty="0" err="1"/>
              <a:t>i</a:t>
            </a:r>
            <a:r>
              <a:rPr lang="en-US" dirty="0"/>
              <a:t>)</a:t>
            </a:r>
          </a:p>
          <a:p>
            <a:r>
              <a:rPr lang="en-US" dirty="0"/>
              <a:t>print('result:', result)</a:t>
            </a:r>
          </a:p>
        </p:txBody>
      </p:sp>
      <p:sp>
        <p:nvSpPr>
          <p:cNvPr id="5" name="Slide Number Placeholder 4">
            <a:extLst>
              <a:ext uri="{FF2B5EF4-FFF2-40B4-BE49-F238E27FC236}">
                <a16:creationId xmlns:a16="http://schemas.microsoft.com/office/drawing/2014/main" id="{3E8AB8C9-3D94-4321-B79B-0CDE707E76DB}"/>
              </a:ext>
            </a:extLst>
          </p:cNvPr>
          <p:cNvSpPr>
            <a:spLocks noGrp="1"/>
          </p:cNvSpPr>
          <p:nvPr>
            <p:ph type="sldNum" sz="quarter" idx="12"/>
          </p:nvPr>
        </p:nvSpPr>
        <p:spPr/>
        <p:txBody>
          <a:bodyPr/>
          <a:lstStyle/>
          <a:p>
            <a:fld id="{6B97D948-30E8-43F7-AE10-F6E2D9F2BBB1}" type="slidenum">
              <a:rPr lang="en-US" smtClean="0"/>
              <a:t>112</a:t>
            </a:fld>
            <a:endParaRPr lang="en-US"/>
          </a:p>
        </p:txBody>
      </p:sp>
    </p:spTree>
    <p:extLst>
      <p:ext uri="{BB962C8B-B14F-4D97-AF65-F5344CB8AC3E}">
        <p14:creationId xmlns:p14="http://schemas.microsoft.com/office/powerpoint/2010/main" val="221230296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A37A-45D4-439C-9E35-5D35D361A8B3}"/>
              </a:ext>
            </a:extLst>
          </p:cNvPr>
          <p:cNvSpPr>
            <a:spLocks noGrp="1"/>
          </p:cNvSpPr>
          <p:nvPr>
            <p:ph type="title"/>
          </p:nvPr>
        </p:nvSpPr>
        <p:spPr>
          <a:xfrm>
            <a:off x="838200" y="365125"/>
            <a:ext cx="10515600" cy="576169"/>
          </a:xfrm>
        </p:spPr>
        <p:txBody>
          <a:bodyPr>
            <a:normAutofit fontScale="90000"/>
          </a:bodyPr>
          <a:lstStyle/>
          <a:p>
            <a:r>
              <a:rPr lang="en-US" dirty="0"/>
              <a:t>Exercise</a:t>
            </a:r>
          </a:p>
        </p:txBody>
      </p:sp>
      <p:sp>
        <p:nvSpPr>
          <p:cNvPr id="3" name="Content Placeholder 2">
            <a:extLst>
              <a:ext uri="{FF2B5EF4-FFF2-40B4-BE49-F238E27FC236}">
                <a16:creationId xmlns:a16="http://schemas.microsoft.com/office/drawing/2014/main" id="{612520CA-5D21-4F44-881E-639A227043B4}"/>
              </a:ext>
            </a:extLst>
          </p:cNvPr>
          <p:cNvSpPr>
            <a:spLocks noGrp="1"/>
          </p:cNvSpPr>
          <p:nvPr>
            <p:ph idx="1"/>
          </p:nvPr>
        </p:nvSpPr>
        <p:spPr>
          <a:xfrm>
            <a:off x="838200" y="941294"/>
            <a:ext cx="10515600" cy="5235669"/>
          </a:xfrm>
        </p:spPr>
        <p:txBody>
          <a:bodyPr/>
          <a:lstStyle/>
          <a:p>
            <a:r>
              <a:rPr lang="en-US" dirty="0"/>
              <a:t># Use of break statement inside the loop</a:t>
            </a:r>
          </a:p>
          <a:p>
            <a:endParaRPr lang="en-US" dirty="0"/>
          </a:p>
          <a:p>
            <a:r>
              <a:rPr lang="en-US" dirty="0">
                <a:solidFill>
                  <a:srgbClr val="FF0000"/>
                </a:solidFill>
              </a:rPr>
              <a:t>for </a:t>
            </a:r>
            <a:r>
              <a:rPr lang="en-US" dirty="0" err="1">
                <a:solidFill>
                  <a:srgbClr val="FF0000"/>
                </a:solidFill>
              </a:rPr>
              <a:t>val</a:t>
            </a:r>
            <a:r>
              <a:rPr lang="en-US" dirty="0">
                <a:solidFill>
                  <a:srgbClr val="FF0000"/>
                </a:solidFill>
              </a:rPr>
              <a:t> in "string":</a:t>
            </a:r>
          </a:p>
          <a:p>
            <a:r>
              <a:rPr lang="en-US" dirty="0">
                <a:solidFill>
                  <a:srgbClr val="FF0000"/>
                </a:solidFill>
              </a:rPr>
              <a:t>    if </a:t>
            </a:r>
            <a:r>
              <a:rPr lang="en-US" dirty="0" err="1">
                <a:solidFill>
                  <a:srgbClr val="FF0000"/>
                </a:solidFill>
              </a:rPr>
              <a:t>val</a:t>
            </a:r>
            <a:r>
              <a:rPr lang="en-US" dirty="0">
                <a:solidFill>
                  <a:srgbClr val="FF0000"/>
                </a:solidFill>
              </a:rPr>
              <a:t> == "</a:t>
            </a:r>
            <a:r>
              <a:rPr lang="en-US" dirty="0" err="1">
                <a:solidFill>
                  <a:srgbClr val="FF0000"/>
                </a:solidFill>
              </a:rPr>
              <a:t>i</a:t>
            </a:r>
            <a:r>
              <a:rPr lang="en-US" dirty="0">
                <a:solidFill>
                  <a:srgbClr val="FF0000"/>
                </a:solidFill>
              </a:rPr>
              <a:t>":</a:t>
            </a:r>
          </a:p>
          <a:p>
            <a:r>
              <a:rPr lang="en-US" dirty="0">
                <a:solidFill>
                  <a:srgbClr val="FF0000"/>
                </a:solidFill>
              </a:rPr>
              <a:t>        break</a:t>
            </a:r>
          </a:p>
          <a:p>
            <a:r>
              <a:rPr lang="en-US" dirty="0">
                <a:solidFill>
                  <a:srgbClr val="FF0000"/>
                </a:solidFill>
              </a:rPr>
              <a:t>    print(</a:t>
            </a:r>
            <a:r>
              <a:rPr lang="en-US" dirty="0" err="1">
                <a:solidFill>
                  <a:srgbClr val="FF0000"/>
                </a:solidFill>
              </a:rPr>
              <a:t>val</a:t>
            </a:r>
            <a:r>
              <a:rPr lang="en-US" dirty="0">
                <a:solidFill>
                  <a:srgbClr val="FF0000"/>
                </a:solidFill>
              </a:rPr>
              <a:t>)</a:t>
            </a:r>
          </a:p>
          <a:p>
            <a:endParaRPr lang="en-US" dirty="0">
              <a:solidFill>
                <a:srgbClr val="FF0000"/>
              </a:solidFill>
            </a:endParaRPr>
          </a:p>
          <a:p>
            <a:r>
              <a:rPr lang="en-US" dirty="0">
                <a:solidFill>
                  <a:srgbClr val="FF0000"/>
                </a:solidFill>
              </a:rPr>
              <a:t>print("The end")</a:t>
            </a:r>
          </a:p>
        </p:txBody>
      </p:sp>
      <p:sp>
        <p:nvSpPr>
          <p:cNvPr id="5" name="Slide Number Placeholder 4">
            <a:extLst>
              <a:ext uri="{FF2B5EF4-FFF2-40B4-BE49-F238E27FC236}">
                <a16:creationId xmlns:a16="http://schemas.microsoft.com/office/drawing/2014/main" id="{853B71EA-ED46-468C-A201-E121BA72B6E7}"/>
              </a:ext>
            </a:extLst>
          </p:cNvPr>
          <p:cNvSpPr>
            <a:spLocks noGrp="1"/>
          </p:cNvSpPr>
          <p:nvPr>
            <p:ph type="sldNum" sz="quarter" idx="12"/>
          </p:nvPr>
        </p:nvSpPr>
        <p:spPr/>
        <p:txBody>
          <a:bodyPr/>
          <a:lstStyle/>
          <a:p>
            <a:fld id="{6B97D948-30E8-43F7-AE10-F6E2D9F2BBB1}" type="slidenum">
              <a:rPr lang="en-US" smtClean="0"/>
              <a:t>113</a:t>
            </a:fld>
            <a:endParaRPr lang="en-US"/>
          </a:p>
        </p:txBody>
      </p:sp>
    </p:spTree>
    <p:extLst>
      <p:ext uri="{BB962C8B-B14F-4D97-AF65-F5344CB8AC3E}">
        <p14:creationId xmlns:p14="http://schemas.microsoft.com/office/powerpoint/2010/main" val="15196719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D5AEA-5038-42AD-BB67-AE47AB5DC2E3}"/>
              </a:ext>
            </a:extLst>
          </p:cNvPr>
          <p:cNvSpPr>
            <a:spLocks noGrp="1"/>
          </p:cNvSpPr>
          <p:nvPr>
            <p:ph type="title"/>
          </p:nvPr>
        </p:nvSpPr>
        <p:spPr>
          <a:xfrm>
            <a:off x="838200" y="365125"/>
            <a:ext cx="10515600" cy="670299"/>
          </a:xfrm>
        </p:spPr>
        <p:txBody>
          <a:bodyPr>
            <a:normAutofit fontScale="90000"/>
          </a:bodyPr>
          <a:lstStyle/>
          <a:p>
            <a:r>
              <a:rPr lang="en-US" dirty="0"/>
              <a:t>Exercise</a:t>
            </a:r>
          </a:p>
        </p:txBody>
      </p:sp>
      <p:sp>
        <p:nvSpPr>
          <p:cNvPr id="3" name="Content Placeholder 2">
            <a:extLst>
              <a:ext uri="{FF2B5EF4-FFF2-40B4-BE49-F238E27FC236}">
                <a16:creationId xmlns:a16="http://schemas.microsoft.com/office/drawing/2014/main" id="{6FBE06B4-A92B-4249-9DD7-686B5A8ED54A}"/>
              </a:ext>
            </a:extLst>
          </p:cNvPr>
          <p:cNvSpPr>
            <a:spLocks noGrp="1"/>
          </p:cNvSpPr>
          <p:nvPr>
            <p:ph idx="1"/>
          </p:nvPr>
        </p:nvSpPr>
        <p:spPr>
          <a:xfrm>
            <a:off x="838200" y="1035424"/>
            <a:ext cx="10515600" cy="5141539"/>
          </a:xfrm>
        </p:spPr>
        <p:txBody>
          <a:bodyPr/>
          <a:lstStyle/>
          <a:p>
            <a:r>
              <a:rPr lang="en-US" dirty="0"/>
              <a:t># Program to show the use of continue statement inside loops</a:t>
            </a:r>
          </a:p>
          <a:p>
            <a:endParaRPr lang="en-US" dirty="0"/>
          </a:p>
          <a:p>
            <a:r>
              <a:rPr lang="en-US" dirty="0">
                <a:solidFill>
                  <a:srgbClr val="FF0000"/>
                </a:solidFill>
              </a:rPr>
              <a:t>for </a:t>
            </a:r>
            <a:r>
              <a:rPr lang="en-US" dirty="0" err="1">
                <a:solidFill>
                  <a:srgbClr val="FF0000"/>
                </a:solidFill>
              </a:rPr>
              <a:t>val</a:t>
            </a:r>
            <a:r>
              <a:rPr lang="en-US" dirty="0">
                <a:solidFill>
                  <a:srgbClr val="FF0000"/>
                </a:solidFill>
              </a:rPr>
              <a:t> in "string":</a:t>
            </a:r>
          </a:p>
          <a:p>
            <a:r>
              <a:rPr lang="en-US" dirty="0">
                <a:solidFill>
                  <a:srgbClr val="FF0000"/>
                </a:solidFill>
              </a:rPr>
              <a:t>    if </a:t>
            </a:r>
            <a:r>
              <a:rPr lang="en-US" dirty="0" err="1">
                <a:solidFill>
                  <a:srgbClr val="FF0000"/>
                </a:solidFill>
              </a:rPr>
              <a:t>val</a:t>
            </a:r>
            <a:r>
              <a:rPr lang="en-US" dirty="0">
                <a:solidFill>
                  <a:srgbClr val="FF0000"/>
                </a:solidFill>
              </a:rPr>
              <a:t> == "</a:t>
            </a:r>
            <a:r>
              <a:rPr lang="en-US" dirty="0" err="1">
                <a:solidFill>
                  <a:srgbClr val="FF0000"/>
                </a:solidFill>
              </a:rPr>
              <a:t>i</a:t>
            </a:r>
            <a:r>
              <a:rPr lang="en-US" dirty="0">
                <a:solidFill>
                  <a:srgbClr val="FF0000"/>
                </a:solidFill>
              </a:rPr>
              <a:t>":</a:t>
            </a:r>
          </a:p>
          <a:p>
            <a:r>
              <a:rPr lang="en-US" dirty="0">
                <a:solidFill>
                  <a:srgbClr val="FF0000"/>
                </a:solidFill>
              </a:rPr>
              <a:t>        continue</a:t>
            </a:r>
          </a:p>
          <a:p>
            <a:r>
              <a:rPr lang="en-US" dirty="0">
                <a:solidFill>
                  <a:srgbClr val="FF0000"/>
                </a:solidFill>
              </a:rPr>
              <a:t>    print(</a:t>
            </a:r>
            <a:r>
              <a:rPr lang="en-US" dirty="0" err="1">
                <a:solidFill>
                  <a:srgbClr val="FF0000"/>
                </a:solidFill>
              </a:rPr>
              <a:t>val</a:t>
            </a:r>
            <a:r>
              <a:rPr lang="en-US" dirty="0">
                <a:solidFill>
                  <a:srgbClr val="FF0000"/>
                </a:solidFill>
              </a:rPr>
              <a:t>)</a:t>
            </a:r>
          </a:p>
          <a:p>
            <a:endParaRPr lang="en-US" dirty="0">
              <a:solidFill>
                <a:srgbClr val="FF0000"/>
              </a:solidFill>
            </a:endParaRPr>
          </a:p>
          <a:p>
            <a:r>
              <a:rPr lang="en-US" dirty="0">
                <a:solidFill>
                  <a:srgbClr val="FF0000"/>
                </a:solidFill>
              </a:rPr>
              <a:t>print("The end")</a:t>
            </a:r>
          </a:p>
        </p:txBody>
      </p:sp>
      <p:sp>
        <p:nvSpPr>
          <p:cNvPr id="5" name="Slide Number Placeholder 4">
            <a:extLst>
              <a:ext uri="{FF2B5EF4-FFF2-40B4-BE49-F238E27FC236}">
                <a16:creationId xmlns:a16="http://schemas.microsoft.com/office/drawing/2014/main" id="{A367357A-4092-4E2D-A958-D05E0D9667AC}"/>
              </a:ext>
            </a:extLst>
          </p:cNvPr>
          <p:cNvSpPr>
            <a:spLocks noGrp="1"/>
          </p:cNvSpPr>
          <p:nvPr>
            <p:ph type="sldNum" sz="quarter" idx="12"/>
          </p:nvPr>
        </p:nvSpPr>
        <p:spPr/>
        <p:txBody>
          <a:bodyPr/>
          <a:lstStyle/>
          <a:p>
            <a:fld id="{6B97D948-30E8-43F7-AE10-F6E2D9F2BBB1}" type="slidenum">
              <a:rPr lang="en-US" smtClean="0"/>
              <a:t>114</a:t>
            </a:fld>
            <a:endParaRPr lang="en-US"/>
          </a:p>
        </p:txBody>
      </p:sp>
    </p:spTree>
    <p:extLst>
      <p:ext uri="{BB962C8B-B14F-4D97-AF65-F5344CB8AC3E}">
        <p14:creationId xmlns:p14="http://schemas.microsoft.com/office/powerpoint/2010/main" val="260522135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20FE-71E7-437A-9B0E-35BD4867850B}"/>
              </a:ext>
            </a:extLst>
          </p:cNvPr>
          <p:cNvSpPr>
            <a:spLocks noGrp="1"/>
          </p:cNvSpPr>
          <p:nvPr>
            <p:ph type="title"/>
          </p:nvPr>
        </p:nvSpPr>
        <p:spPr>
          <a:xfrm>
            <a:off x="838200" y="365126"/>
            <a:ext cx="10515600" cy="683746"/>
          </a:xfrm>
        </p:spPr>
        <p:txBody>
          <a:bodyPr>
            <a:normAutofit fontScale="90000"/>
          </a:bodyPr>
          <a:lstStyle/>
          <a:p>
            <a:r>
              <a:rPr lang="en-US" dirty="0"/>
              <a:t>Iteration with </a:t>
            </a:r>
            <a:r>
              <a:rPr lang="en-US" dirty="0">
                <a:solidFill>
                  <a:srgbClr val="FF0000"/>
                </a:solidFill>
              </a:rPr>
              <a:t>for</a:t>
            </a:r>
            <a:r>
              <a:rPr lang="en-US" dirty="0"/>
              <a:t> loops</a:t>
            </a:r>
          </a:p>
        </p:txBody>
      </p:sp>
      <p:sp>
        <p:nvSpPr>
          <p:cNvPr id="3" name="Content Placeholder 2">
            <a:extLst>
              <a:ext uri="{FF2B5EF4-FFF2-40B4-BE49-F238E27FC236}">
                <a16:creationId xmlns:a16="http://schemas.microsoft.com/office/drawing/2014/main" id="{9D39DD2F-B75F-4C01-AEDD-006C0DF0579F}"/>
              </a:ext>
            </a:extLst>
          </p:cNvPr>
          <p:cNvSpPr>
            <a:spLocks noGrp="1"/>
          </p:cNvSpPr>
          <p:nvPr>
            <p:ph idx="1"/>
          </p:nvPr>
        </p:nvSpPr>
        <p:spPr>
          <a:xfrm>
            <a:off x="838200" y="1048872"/>
            <a:ext cx="10515600" cy="5128091"/>
          </a:xfrm>
        </p:spPr>
        <p:txBody>
          <a:bodyPr>
            <a:normAutofit/>
          </a:bodyPr>
          <a:lstStyle/>
          <a:p>
            <a:pPr algn="just"/>
            <a:r>
              <a:rPr lang="en-US" dirty="0"/>
              <a:t>A </a:t>
            </a:r>
            <a:r>
              <a:rPr lang="en-US" dirty="0">
                <a:solidFill>
                  <a:srgbClr val="FF0000"/>
                </a:solidFill>
              </a:rPr>
              <a:t>for</a:t>
            </a:r>
            <a:r>
              <a:rPr lang="en-US" dirty="0"/>
              <a:t> loop is used for iterating or looping over sequences, i.e., lists, tuples, dictionaries, strings, and ranges. </a:t>
            </a:r>
          </a:p>
          <a:p>
            <a:pPr algn="just"/>
            <a:r>
              <a:rPr lang="en-US" dirty="0">
                <a:solidFill>
                  <a:srgbClr val="FF0000"/>
                </a:solidFill>
              </a:rPr>
              <a:t>for</a:t>
            </a:r>
            <a:r>
              <a:rPr lang="en-US" dirty="0"/>
              <a:t> loops have the following syntax:</a:t>
            </a:r>
          </a:p>
          <a:p>
            <a:endParaRPr lang="en-US" dirty="0"/>
          </a:p>
          <a:p>
            <a:r>
              <a:rPr lang="en-US" dirty="0"/>
              <a:t>for </a:t>
            </a:r>
            <a:r>
              <a:rPr lang="en-US" dirty="0">
                <a:solidFill>
                  <a:srgbClr val="FF0000"/>
                </a:solidFill>
              </a:rPr>
              <a:t>value</a:t>
            </a:r>
            <a:r>
              <a:rPr lang="en-US" dirty="0"/>
              <a:t> in </a:t>
            </a:r>
            <a:r>
              <a:rPr lang="en-US" dirty="0">
                <a:solidFill>
                  <a:srgbClr val="FF0000"/>
                </a:solidFill>
              </a:rPr>
              <a:t>sequence</a:t>
            </a:r>
            <a:r>
              <a:rPr lang="en-US" dirty="0"/>
              <a:t>:</a:t>
            </a:r>
          </a:p>
          <a:p>
            <a:r>
              <a:rPr lang="en-US" dirty="0"/>
              <a:t>    statement(s)</a:t>
            </a:r>
          </a:p>
          <a:p>
            <a:endParaRPr lang="en-US" dirty="0"/>
          </a:p>
          <a:p>
            <a:pPr algn="just"/>
            <a:r>
              <a:rPr lang="en-US" dirty="0"/>
              <a:t>The statements within the loop are executed once for each element in sequence. </a:t>
            </a:r>
          </a:p>
          <a:p>
            <a:pPr algn="just"/>
            <a:r>
              <a:rPr lang="en-US" dirty="0"/>
              <a:t>The sequence is anything </a:t>
            </a:r>
            <a:r>
              <a:rPr lang="en-US" dirty="0" err="1"/>
              <a:t>iterable</a:t>
            </a:r>
            <a:r>
              <a:rPr lang="en-US" dirty="0"/>
              <a:t>. [3, 4, 12, 8, -5]</a:t>
            </a:r>
          </a:p>
        </p:txBody>
      </p:sp>
      <p:sp>
        <p:nvSpPr>
          <p:cNvPr id="5" name="Slide Number Placeholder 4">
            <a:extLst>
              <a:ext uri="{FF2B5EF4-FFF2-40B4-BE49-F238E27FC236}">
                <a16:creationId xmlns:a16="http://schemas.microsoft.com/office/drawing/2014/main" id="{345ED0C7-CDA9-4D47-A47B-3D1C263B9B43}"/>
              </a:ext>
            </a:extLst>
          </p:cNvPr>
          <p:cNvSpPr>
            <a:spLocks noGrp="1"/>
          </p:cNvSpPr>
          <p:nvPr>
            <p:ph type="sldNum" sz="quarter" idx="12"/>
          </p:nvPr>
        </p:nvSpPr>
        <p:spPr/>
        <p:txBody>
          <a:bodyPr/>
          <a:lstStyle/>
          <a:p>
            <a:fld id="{6B97D948-30E8-43F7-AE10-F6E2D9F2BBB1}" type="slidenum">
              <a:rPr lang="en-US" smtClean="0"/>
              <a:t>115</a:t>
            </a:fld>
            <a:endParaRPr lang="en-US"/>
          </a:p>
        </p:txBody>
      </p:sp>
    </p:spTree>
    <p:extLst>
      <p:ext uri="{BB962C8B-B14F-4D97-AF65-F5344CB8AC3E}">
        <p14:creationId xmlns:p14="http://schemas.microsoft.com/office/powerpoint/2010/main" val="408486850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DE58AD-C52F-42A6-BBBF-B3907C9E0C5C}"/>
              </a:ext>
            </a:extLst>
          </p:cNvPr>
          <p:cNvSpPr>
            <a:spLocks noGrp="1"/>
          </p:cNvSpPr>
          <p:nvPr>
            <p:ph idx="1"/>
          </p:nvPr>
        </p:nvSpPr>
        <p:spPr>
          <a:xfrm>
            <a:off x="838200" y="712694"/>
            <a:ext cx="10515600" cy="5464269"/>
          </a:xfrm>
        </p:spPr>
        <p:txBody>
          <a:bodyPr/>
          <a:lstStyle/>
          <a:p>
            <a:r>
              <a:rPr lang="en-US" dirty="0"/>
              <a:t>Here’s an example that prints all the elements of a list.</a:t>
            </a:r>
          </a:p>
          <a:p>
            <a:endParaRPr lang="en-US" dirty="0"/>
          </a:p>
          <a:p>
            <a:r>
              <a:rPr lang="en-US" dirty="0">
                <a:solidFill>
                  <a:srgbClr val="FF0000"/>
                </a:solidFill>
              </a:rPr>
              <a:t>days = ['Monday', 'Tuesday', 'Wednesday', 'Thursday', 'Friday']</a:t>
            </a:r>
          </a:p>
          <a:p>
            <a:endParaRPr lang="en-US" dirty="0">
              <a:solidFill>
                <a:srgbClr val="FF0000"/>
              </a:solidFill>
            </a:endParaRPr>
          </a:p>
          <a:p>
            <a:r>
              <a:rPr lang="en-US" dirty="0">
                <a:solidFill>
                  <a:srgbClr val="FF0000"/>
                </a:solidFill>
              </a:rPr>
              <a:t>for day in days:</a:t>
            </a:r>
          </a:p>
          <a:p>
            <a:r>
              <a:rPr lang="en-US" dirty="0">
                <a:solidFill>
                  <a:srgbClr val="FF0000"/>
                </a:solidFill>
              </a:rPr>
              <a:t>    print(day)</a:t>
            </a:r>
          </a:p>
        </p:txBody>
      </p:sp>
      <p:sp>
        <p:nvSpPr>
          <p:cNvPr id="4" name="Slide Number Placeholder 3">
            <a:extLst>
              <a:ext uri="{FF2B5EF4-FFF2-40B4-BE49-F238E27FC236}">
                <a16:creationId xmlns:a16="http://schemas.microsoft.com/office/drawing/2014/main" id="{AF2C339E-9F21-4744-B200-3675DBB73350}"/>
              </a:ext>
            </a:extLst>
          </p:cNvPr>
          <p:cNvSpPr>
            <a:spLocks noGrp="1"/>
          </p:cNvSpPr>
          <p:nvPr>
            <p:ph type="sldNum" sz="quarter" idx="12"/>
          </p:nvPr>
        </p:nvSpPr>
        <p:spPr/>
        <p:txBody>
          <a:bodyPr/>
          <a:lstStyle/>
          <a:p>
            <a:fld id="{6B97D948-30E8-43F7-AE10-F6E2D9F2BBB1}" type="slidenum">
              <a:rPr lang="en-US" smtClean="0"/>
              <a:t>116</a:t>
            </a:fld>
            <a:endParaRPr lang="en-US"/>
          </a:p>
        </p:txBody>
      </p:sp>
    </p:spTree>
    <p:extLst>
      <p:ext uri="{BB962C8B-B14F-4D97-AF65-F5344CB8AC3E}">
        <p14:creationId xmlns:p14="http://schemas.microsoft.com/office/powerpoint/2010/main" val="3601548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C5A587-0A7E-4095-B4E8-4B79E55AF556}"/>
              </a:ext>
            </a:extLst>
          </p:cNvPr>
          <p:cNvSpPr>
            <a:spLocks noGrp="1"/>
          </p:cNvSpPr>
          <p:nvPr>
            <p:ph idx="1"/>
          </p:nvPr>
        </p:nvSpPr>
        <p:spPr>
          <a:xfrm>
            <a:off x="838200" y="685800"/>
            <a:ext cx="10515600" cy="5491163"/>
          </a:xfrm>
        </p:spPr>
        <p:txBody>
          <a:bodyPr/>
          <a:lstStyle/>
          <a:p>
            <a:r>
              <a:rPr lang="en-US" dirty="0">
                <a:solidFill>
                  <a:srgbClr val="FF0000"/>
                </a:solidFill>
              </a:rPr>
              <a:t># Looping over a string</a:t>
            </a:r>
          </a:p>
          <a:p>
            <a:r>
              <a:rPr lang="en-US" dirty="0">
                <a:solidFill>
                  <a:srgbClr val="FF0000"/>
                </a:solidFill>
              </a:rPr>
              <a:t>for char in 'Monday':</a:t>
            </a:r>
          </a:p>
          <a:p>
            <a:r>
              <a:rPr lang="en-US" dirty="0">
                <a:solidFill>
                  <a:srgbClr val="FF0000"/>
                </a:solidFill>
              </a:rPr>
              <a:t>    print(char)</a:t>
            </a:r>
          </a:p>
        </p:txBody>
      </p:sp>
      <p:sp>
        <p:nvSpPr>
          <p:cNvPr id="4" name="Slide Number Placeholder 3">
            <a:extLst>
              <a:ext uri="{FF2B5EF4-FFF2-40B4-BE49-F238E27FC236}">
                <a16:creationId xmlns:a16="http://schemas.microsoft.com/office/drawing/2014/main" id="{D00043FC-3FE7-4C6A-8909-7A02C266B591}"/>
              </a:ext>
            </a:extLst>
          </p:cNvPr>
          <p:cNvSpPr>
            <a:spLocks noGrp="1"/>
          </p:cNvSpPr>
          <p:nvPr>
            <p:ph type="sldNum" sz="quarter" idx="12"/>
          </p:nvPr>
        </p:nvSpPr>
        <p:spPr/>
        <p:txBody>
          <a:bodyPr/>
          <a:lstStyle/>
          <a:p>
            <a:fld id="{6B97D948-30E8-43F7-AE10-F6E2D9F2BBB1}" type="slidenum">
              <a:rPr lang="en-US" smtClean="0"/>
              <a:t>117</a:t>
            </a:fld>
            <a:endParaRPr lang="en-US"/>
          </a:p>
        </p:txBody>
      </p:sp>
    </p:spTree>
    <p:extLst>
      <p:ext uri="{BB962C8B-B14F-4D97-AF65-F5344CB8AC3E}">
        <p14:creationId xmlns:p14="http://schemas.microsoft.com/office/powerpoint/2010/main" val="76145107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332318-6BE5-4D7C-A181-92253BD950D2}"/>
              </a:ext>
            </a:extLst>
          </p:cNvPr>
          <p:cNvSpPr>
            <a:spLocks noGrp="1"/>
          </p:cNvSpPr>
          <p:nvPr>
            <p:ph idx="1"/>
          </p:nvPr>
        </p:nvSpPr>
        <p:spPr>
          <a:xfrm>
            <a:off x="838200" y="658906"/>
            <a:ext cx="10515600" cy="5518057"/>
          </a:xfrm>
        </p:spPr>
        <p:txBody>
          <a:bodyPr>
            <a:normAutofit/>
          </a:bodyPr>
          <a:lstStyle/>
          <a:p>
            <a:r>
              <a:rPr lang="en-US" dirty="0"/>
              <a:t># Looping over a dictionary</a:t>
            </a:r>
          </a:p>
          <a:p>
            <a:r>
              <a:rPr lang="en-US" dirty="0">
                <a:solidFill>
                  <a:srgbClr val="FF0000"/>
                </a:solidFill>
              </a:rPr>
              <a:t>person = {</a:t>
            </a:r>
          </a:p>
          <a:p>
            <a:r>
              <a:rPr lang="en-US" dirty="0">
                <a:solidFill>
                  <a:srgbClr val="FF0000"/>
                </a:solidFill>
              </a:rPr>
              <a:t>    'name': 'John Doe',</a:t>
            </a:r>
          </a:p>
          <a:p>
            <a:r>
              <a:rPr lang="en-US" dirty="0">
                <a:solidFill>
                  <a:srgbClr val="FF0000"/>
                </a:solidFill>
              </a:rPr>
              <a:t>    'sex': 'Male',</a:t>
            </a:r>
          </a:p>
          <a:p>
            <a:r>
              <a:rPr lang="en-US" dirty="0">
                <a:solidFill>
                  <a:srgbClr val="FF0000"/>
                </a:solidFill>
              </a:rPr>
              <a:t>    'age': 32,</a:t>
            </a:r>
          </a:p>
          <a:p>
            <a:r>
              <a:rPr lang="en-US" dirty="0">
                <a:solidFill>
                  <a:srgbClr val="FF0000"/>
                </a:solidFill>
              </a:rPr>
              <a:t>    'married': True</a:t>
            </a:r>
          </a:p>
          <a:p>
            <a:r>
              <a:rPr lang="en-US" dirty="0">
                <a:solidFill>
                  <a:srgbClr val="FF0000"/>
                </a:solidFill>
              </a:rPr>
              <a:t>}</a:t>
            </a:r>
          </a:p>
          <a:p>
            <a:endParaRPr lang="en-US" dirty="0"/>
          </a:p>
          <a:p>
            <a:r>
              <a:rPr lang="en-US" dirty="0">
                <a:solidFill>
                  <a:srgbClr val="C00000"/>
                </a:solidFill>
              </a:rPr>
              <a:t>for key, value in </a:t>
            </a:r>
            <a:r>
              <a:rPr lang="en-US" dirty="0" err="1">
                <a:solidFill>
                  <a:srgbClr val="C00000"/>
                </a:solidFill>
              </a:rPr>
              <a:t>person.items</a:t>
            </a:r>
            <a:r>
              <a:rPr lang="en-US" dirty="0">
                <a:solidFill>
                  <a:srgbClr val="C00000"/>
                </a:solidFill>
              </a:rPr>
              <a:t>():</a:t>
            </a:r>
          </a:p>
          <a:p>
            <a:r>
              <a:rPr lang="en-US" dirty="0">
                <a:solidFill>
                  <a:srgbClr val="C00000"/>
                </a:solidFill>
              </a:rPr>
              <a:t>    print("Key:", key, ",", "Value:", value)</a:t>
            </a:r>
          </a:p>
        </p:txBody>
      </p:sp>
      <p:sp>
        <p:nvSpPr>
          <p:cNvPr id="4" name="Slide Number Placeholder 3">
            <a:extLst>
              <a:ext uri="{FF2B5EF4-FFF2-40B4-BE49-F238E27FC236}">
                <a16:creationId xmlns:a16="http://schemas.microsoft.com/office/drawing/2014/main" id="{DC5BCACF-DB49-49A7-BC02-EC89A5125406}"/>
              </a:ext>
            </a:extLst>
          </p:cNvPr>
          <p:cNvSpPr>
            <a:spLocks noGrp="1"/>
          </p:cNvSpPr>
          <p:nvPr>
            <p:ph type="sldNum" sz="quarter" idx="12"/>
          </p:nvPr>
        </p:nvSpPr>
        <p:spPr/>
        <p:txBody>
          <a:bodyPr/>
          <a:lstStyle/>
          <a:p>
            <a:fld id="{6B97D948-30E8-43F7-AE10-F6E2D9F2BBB1}" type="slidenum">
              <a:rPr lang="en-US" smtClean="0"/>
              <a:t>118</a:t>
            </a:fld>
            <a:endParaRPr lang="en-US"/>
          </a:p>
        </p:txBody>
      </p:sp>
    </p:spTree>
    <p:extLst>
      <p:ext uri="{BB962C8B-B14F-4D97-AF65-F5344CB8AC3E}">
        <p14:creationId xmlns:p14="http://schemas.microsoft.com/office/powerpoint/2010/main" val="133046867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BF5E-81D2-450D-B8FC-536E615FB514}"/>
              </a:ext>
            </a:extLst>
          </p:cNvPr>
          <p:cNvSpPr>
            <a:spLocks noGrp="1"/>
          </p:cNvSpPr>
          <p:nvPr>
            <p:ph type="title"/>
          </p:nvPr>
        </p:nvSpPr>
        <p:spPr>
          <a:xfrm>
            <a:off x="838200" y="365126"/>
            <a:ext cx="10515600" cy="683746"/>
          </a:xfrm>
        </p:spPr>
        <p:txBody>
          <a:bodyPr>
            <a:normAutofit fontScale="90000"/>
          </a:bodyPr>
          <a:lstStyle/>
          <a:p>
            <a:r>
              <a:rPr lang="en-US" dirty="0"/>
              <a:t>Iterating using </a:t>
            </a:r>
            <a:r>
              <a:rPr lang="en-US" dirty="0">
                <a:solidFill>
                  <a:srgbClr val="FF0000"/>
                </a:solidFill>
              </a:rPr>
              <a:t>range</a:t>
            </a:r>
            <a:r>
              <a:rPr lang="en-US" dirty="0"/>
              <a:t> and </a:t>
            </a:r>
            <a:r>
              <a:rPr lang="en-US" dirty="0">
                <a:solidFill>
                  <a:srgbClr val="FF0000"/>
                </a:solidFill>
              </a:rPr>
              <a:t>enumerate</a:t>
            </a:r>
          </a:p>
        </p:txBody>
      </p:sp>
      <p:sp>
        <p:nvSpPr>
          <p:cNvPr id="3" name="Content Placeholder 2">
            <a:extLst>
              <a:ext uri="{FF2B5EF4-FFF2-40B4-BE49-F238E27FC236}">
                <a16:creationId xmlns:a16="http://schemas.microsoft.com/office/drawing/2014/main" id="{33E80186-30C5-4DFB-A026-68662DFE1FBB}"/>
              </a:ext>
            </a:extLst>
          </p:cNvPr>
          <p:cNvSpPr>
            <a:spLocks noGrp="1"/>
          </p:cNvSpPr>
          <p:nvPr>
            <p:ph idx="1"/>
          </p:nvPr>
        </p:nvSpPr>
        <p:spPr>
          <a:xfrm>
            <a:off x="838200" y="1048872"/>
            <a:ext cx="10515600" cy="5128091"/>
          </a:xfrm>
        </p:spPr>
        <p:txBody>
          <a:bodyPr/>
          <a:lstStyle/>
          <a:p>
            <a:pPr algn="just"/>
            <a:r>
              <a:rPr lang="en-US" dirty="0"/>
              <a:t>The range function is used to create a sequence of numbers that can be iterated over using a for loop. </a:t>
            </a:r>
          </a:p>
          <a:p>
            <a:pPr algn="just"/>
            <a:r>
              <a:rPr lang="en-US" dirty="0"/>
              <a:t>It can be used in 3 ways:</a:t>
            </a:r>
          </a:p>
          <a:p>
            <a:pPr algn="just"/>
            <a:endParaRPr lang="en-US" dirty="0"/>
          </a:p>
          <a:p>
            <a:pPr algn="just"/>
            <a:r>
              <a:rPr lang="en-US" dirty="0">
                <a:solidFill>
                  <a:srgbClr val="FF0000"/>
                </a:solidFill>
              </a:rPr>
              <a:t>    range(n)</a:t>
            </a:r>
            <a:r>
              <a:rPr lang="en-US" dirty="0"/>
              <a:t> - Creates a sequence of numbers from 0 to n-1</a:t>
            </a:r>
          </a:p>
          <a:p>
            <a:pPr algn="just"/>
            <a:r>
              <a:rPr lang="en-US" dirty="0"/>
              <a:t>    </a:t>
            </a:r>
            <a:r>
              <a:rPr lang="en-US" dirty="0">
                <a:solidFill>
                  <a:srgbClr val="FF0000"/>
                </a:solidFill>
              </a:rPr>
              <a:t>range(a, b) </a:t>
            </a:r>
            <a:r>
              <a:rPr lang="en-US" dirty="0"/>
              <a:t>- Creates a sequence of numbers from a to b-1</a:t>
            </a:r>
          </a:p>
          <a:p>
            <a:pPr algn="just"/>
            <a:r>
              <a:rPr lang="en-US" dirty="0"/>
              <a:t>    </a:t>
            </a:r>
            <a:r>
              <a:rPr lang="en-US" dirty="0">
                <a:solidFill>
                  <a:srgbClr val="FF0000"/>
                </a:solidFill>
              </a:rPr>
              <a:t>range(a, b, step) </a:t>
            </a:r>
            <a:r>
              <a:rPr lang="en-US" dirty="0"/>
              <a:t>- Creates a sequence of numbers from a to b-1 with increments of step</a:t>
            </a:r>
          </a:p>
          <a:p>
            <a:pPr algn="just"/>
            <a:endParaRPr lang="en-US" dirty="0"/>
          </a:p>
        </p:txBody>
      </p:sp>
      <p:sp>
        <p:nvSpPr>
          <p:cNvPr id="5" name="Slide Number Placeholder 4">
            <a:extLst>
              <a:ext uri="{FF2B5EF4-FFF2-40B4-BE49-F238E27FC236}">
                <a16:creationId xmlns:a16="http://schemas.microsoft.com/office/drawing/2014/main" id="{D1C703D3-47F0-463C-9708-AFC7382C0050}"/>
              </a:ext>
            </a:extLst>
          </p:cNvPr>
          <p:cNvSpPr>
            <a:spLocks noGrp="1"/>
          </p:cNvSpPr>
          <p:nvPr>
            <p:ph type="sldNum" sz="quarter" idx="12"/>
          </p:nvPr>
        </p:nvSpPr>
        <p:spPr/>
        <p:txBody>
          <a:bodyPr/>
          <a:lstStyle/>
          <a:p>
            <a:fld id="{6B97D948-30E8-43F7-AE10-F6E2D9F2BBB1}" type="slidenum">
              <a:rPr lang="en-US" smtClean="0"/>
              <a:t>119</a:t>
            </a:fld>
            <a:endParaRPr lang="en-US"/>
          </a:p>
        </p:txBody>
      </p:sp>
    </p:spTree>
    <p:extLst>
      <p:ext uri="{BB962C8B-B14F-4D97-AF65-F5344CB8AC3E}">
        <p14:creationId xmlns:p14="http://schemas.microsoft.com/office/powerpoint/2010/main" val="62922580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DC2E8-1CED-4324-B17C-F3E30815A207}"/>
              </a:ext>
            </a:extLst>
          </p:cNvPr>
          <p:cNvSpPr>
            <a:spLocks noGrp="1"/>
          </p:cNvSpPr>
          <p:nvPr>
            <p:ph type="title"/>
          </p:nvPr>
        </p:nvSpPr>
        <p:spPr>
          <a:xfrm>
            <a:off x="838200" y="365125"/>
            <a:ext cx="10515600" cy="697193"/>
          </a:xfrm>
        </p:spPr>
        <p:txBody>
          <a:bodyPr/>
          <a:lstStyle/>
          <a:p>
            <a:r>
              <a:rPr lang="en-US" dirty="0"/>
              <a:t>Let’s try it out</a:t>
            </a:r>
          </a:p>
        </p:txBody>
      </p:sp>
      <p:sp>
        <p:nvSpPr>
          <p:cNvPr id="3" name="Content Placeholder 2">
            <a:extLst>
              <a:ext uri="{FF2B5EF4-FFF2-40B4-BE49-F238E27FC236}">
                <a16:creationId xmlns:a16="http://schemas.microsoft.com/office/drawing/2014/main" id="{C0246603-4560-4145-A7D7-A95726BEE6BE}"/>
              </a:ext>
            </a:extLst>
          </p:cNvPr>
          <p:cNvSpPr>
            <a:spLocks noGrp="1"/>
          </p:cNvSpPr>
          <p:nvPr>
            <p:ph idx="1"/>
          </p:nvPr>
        </p:nvSpPr>
        <p:spPr>
          <a:xfrm>
            <a:off x="838200" y="1062318"/>
            <a:ext cx="10515600" cy="5114645"/>
          </a:xfrm>
        </p:spPr>
        <p:txBody>
          <a:bodyPr/>
          <a:lstStyle/>
          <a:p>
            <a:r>
              <a:rPr lang="en-US" dirty="0">
                <a:solidFill>
                  <a:srgbClr val="FF0000"/>
                </a:solidFill>
              </a:rPr>
              <a:t>for </a:t>
            </a:r>
            <a:r>
              <a:rPr lang="en-US" dirty="0" err="1">
                <a:solidFill>
                  <a:srgbClr val="FF0000"/>
                </a:solidFill>
              </a:rPr>
              <a:t>i</a:t>
            </a:r>
            <a:r>
              <a:rPr lang="en-US" dirty="0">
                <a:solidFill>
                  <a:srgbClr val="FF0000"/>
                </a:solidFill>
              </a:rPr>
              <a:t> in range(4):</a:t>
            </a:r>
          </a:p>
          <a:p>
            <a:r>
              <a:rPr lang="en-US" dirty="0">
                <a:solidFill>
                  <a:srgbClr val="FF0000"/>
                </a:solidFill>
              </a:rPr>
              <a:t>    print(</a:t>
            </a:r>
            <a:r>
              <a:rPr lang="en-US" dirty="0" err="1">
                <a:solidFill>
                  <a:srgbClr val="FF0000"/>
                </a:solidFill>
              </a:rPr>
              <a:t>i</a:t>
            </a:r>
            <a:r>
              <a:rPr lang="en-US" dirty="0">
                <a:solidFill>
                  <a:srgbClr val="FF0000"/>
                </a:solidFill>
              </a:rPr>
              <a:t>)</a:t>
            </a:r>
          </a:p>
          <a:p>
            <a:endParaRPr lang="en-US" dirty="0">
              <a:solidFill>
                <a:srgbClr val="FF0000"/>
              </a:solidFill>
            </a:endParaRPr>
          </a:p>
          <a:p>
            <a:r>
              <a:rPr lang="en-US" dirty="0">
                <a:solidFill>
                  <a:srgbClr val="C00000"/>
                </a:solidFill>
              </a:rPr>
              <a:t>for </a:t>
            </a:r>
            <a:r>
              <a:rPr lang="en-US" dirty="0" err="1">
                <a:solidFill>
                  <a:srgbClr val="C00000"/>
                </a:solidFill>
              </a:rPr>
              <a:t>i</a:t>
            </a:r>
            <a:r>
              <a:rPr lang="en-US" dirty="0">
                <a:solidFill>
                  <a:srgbClr val="C00000"/>
                </a:solidFill>
              </a:rPr>
              <a:t> in range(3, 8):</a:t>
            </a:r>
          </a:p>
          <a:p>
            <a:r>
              <a:rPr lang="en-US" dirty="0">
                <a:solidFill>
                  <a:srgbClr val="C00000"/>
                </a:solidFill>
              </a:rPr>
              <a:t>    print(</a:t>
            </a:r>
            <a:r>
              <a:rPr lang="en-US" dirty="0" err="1">
                <a:solidFill>
                  <a:srgbClr val="C00000"/>
                </a:solidFill>
              </a:rPr>
              <a:t>i</a:t>
            </a:r>
            <a:r>
              <a:rPr lang="en-US" dirty="0">
                <a:solidFill>
                  <a:srgbClr val="C00000"/>
                </a:solidFill>
              </a:rPr>
              <a:t>)</a:t>
            </a:r>
          </a:p>
          <a:p>
            <a:endParaRPr lang="en-US" dirty="0">
              <a:solidFill>
                <a:srgbClr val="C00000"/>
              </a:solidFill>
            </a:endParaRPr>
          </a:p>
          <a:p>
            <a:endParaRPr lang="en-US" dirty="0">
              <a:solidFill>
                <a:srgbClr val="C00000"/>
              </a:solidFill>
            </a:endParaRPr>
          </a:p>
          <a:p>
            <a:r>
              <a:rPr lang="en-US" dirty="0">
                <a:solidFill>
                  <a:schemeClr val="accent1"/>
                </a:solidFill>
              </a:rPr>
              <a:t>for </a:t>
            </a:r>
            <a:r>
              <a:rPr lang="en-US" dirty="0" err="1">
                <a:solidFill>
                  <a:schemeClr val="accent1"/>
                </a:solidFill>
              </a:rPr>
              <a:t>i</a:t>
            </a:r>
            <a:r>
              <a:rPr lang="en-US" dirty="0">
                <a:solidFill>
                  <a:schemeClr val="accent1"/>
                </a:solidFill>
              </a:rPr>
              <a:t> in range(3, 14, 4):</a:t>
            </a:r>
          </a:p>
          <a:p>
            <a:r>
              <a:rPr lang="en-US" dirty="0">
                <a:solidFill>
                  <a:schemeClr val="accent1"/>
                </a:solidFill>
              </a:rPr>
              <a:t>    print(</a:t>
            </a:r>
            <a:r>
              <a:rPr lang="en-US" dirty="0" err="1">
                <a:solidFill>
                  <a:schemeClr val="accent1"/>
                </a:solidFill>
              </a:rPr>
              <a:t>i</a:t>
            </a:r>
            <a:r>
              <a:rPr lang="en-US" dirty="0">
                <a:solidFill>
                  <a:schemeClr val="accent1"/>
                </a:solidFill>
              </a:rPr>
              <a:t>)</a:t>
            </a:r>
          </a:p>
        </p:txBody>
      </p:sp>
      <p:sp>
        <p:nvSpPr>
          <p:cNvPr id="5" name="Slide Number Placeholder 4">
            <a:extLst>
              <a:ext uri="{FF2B5EF4-FFF2-40B4-BE49-F238E27FC236}">
                <a16:creationId xmlns:a16="http://schemas.microsoft.com/office/drawing/2014/main" id="{30A0E68F-0305-48A6-A3D7-A4BAA79B1469}"/>
              </a:ext>
            </a:extLst>
          </p:cNvPr>
          <p:cNvSpPr>
            <a:spLocks noGrp="1"/>
          </p:cNvSpPr>
          <p:nvPr>
            <p:ph type="sldNum" sz="quarter" idx="12"/>
          </p:nvPr>
        </p:nvSpPr>
        <p:spPr/>
        <p:txBody>
          <a:bodyPr/>
          <a:lstStyle/>
          <a:p>
            <a:fld id="{6B97D948-30E8-43F7-AE10-F6E2D9F2BBB1}" type="slidenum">
              <a:rPr lang="en-US" smtClean="0"/>
              <a:t>120</a:t>
            </a:fld>
            <a:endParaRPr lang="en-US"/>
          </a:p>
        </p:txBody>
      </p:sp>
    </p:spTree>
    <p:extLst>
      <p:ext uri="{BB962C8B-B14F-4D97-AF65-F5344CB8AC3E}">
        <p14:creationId xmlns:p14="http://schemas.microsoft.com/office/powerpoint/2010/main" val="208224717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A474AD-2B91-4855-94E0-603AA3600C98}"/>
              </a:ext>
            </a:extLst>
          </p:cNvPr>
          <p:cNvSpPr>
            <a:spLocks noGrp="1"/>
          </p:cNvSpPr>
          <p:nvPr>
            <p:ph idx="1"/>
          </p:nvPr>
        </p:nvSpPr>
        <p:spPr>
          <a:xfrm>
            <a:off x="838200" y="363071"/>
            <a:ext cx="10515600" cy="5813892"/>
          </a:xfrm>
        </p:spPr>
        <p:txBody>
          <a:bodyPr/>
          <a:lstStyle/>
          <a:p>
            <a:pPr algn="just"/>
            <a:r>
              <a:rPr lang="en-US" dirty="0"/>
              <a:t>Ranges are used for iterating over lists when you need to track the index of elements while iterating.</a:t>
            </a:r>
          </a:p>
          <a:p>
            <a:pPr algn="just"/>
            <a:endParaRPr lang="en-US" dirty="0"/>
          </a:p>
          <a:p>
            <a:pPr algn="just"/>
            <a:r>
              <a:rPr lang="en-US" dirty="0" err="1">
                <a:solidFill>
                  <a:srgbClr val="FF0000"/>
                </a:solidFill>
              </a:rPr>
              <a:t>a_list</a:t>
            </a:r>
            <a:r>
              <a:rPr lang="en-US" dirty="0">
                <a:solidFill>
                  <a:srgbClr val="FF0000"/>
                </a:solidFill>
              </a:rPr>
              <a:t> = ['Monday', 'Tuesday', 'Wednesday', 'Thursday', 'Friday']</a:t>
            </a:r>
          </a:p>
          <a:p>
            <a:pPr algn="just"/>
            <a:endParaRPr lang="en-US" dirty="0">
              <a:solidFill>
                <a:srgbClr val="FF0000"/>
              </a:solidFill>
            </a:endParaRPr>
          </a:p>
          <a:p>
            <a:pPr algn="just"/>
            <a:r>
              <a:rPr lang="en-US" dirty="0">
                <a:solidFill>
                  <a:srgbClr val="FF0000"/>
                </a:solidFill>
              </a:rPr>
              <a:t>for </a:t>
            </a:r>
            <a:r>
              <a:rPr lang="en-US" dirty="0" err="1">
                <a:solidFill>
                  <a:srgbClr val="FF0000"/>
                </a:solidFill>
              </a:rPr>
              <a:t>i</a:t>
            </a:r>
            <a:r>
              <a:rPr lang="en-US" dirty="0">
                <a:solidFill>
                  <a:srgbClr val="FF0000"/>
                </a:solidFill>
              </a:rPr>
              <a:t> in range(</a:t>
            </a:r>
            <a:r>
              <a:rPr lang="en-US" dirty="0" err="1">
                <a:solidFill>
                  <a:srgbClr val="FF0000"/>
                </a:solidFill>
              </a:rPr>
              <a:t>len</a:t>
            </a:r>
            <a:r>
              <a:rPr lang="en-US" dirty="0">
                <a:solidFill>
                  <a:srgbClr val="FF0000"/>
                </a:solidFill>
              </a:rPr>
              <a:t>(</a:t>
            </a:r>
            <a:r>
              <a:rPr lang="en-US" dirty="0" err="1">
                <a:solidFill>
                  <a:srgbClr val="FF0000"/>
                </a:solidFill>
              </a:rPr>
              <a:t>a_list</a:t>
            </a:r>
            <a:r>
              <a:rPr lang="en-US" dirty="0">
                <a:solidFill>
                  <a:srgbClr val="FF0000"/>
                </a:solidFill>
              </a:rPr>
              <a:t>)):</a:t>
            </a:r>
          </a:p>
          <a:p>
            <a:pPr algn="just"/>
            <a:r>
              <a:rPr lang="en-US" dirty="0">
                <a:solidFill>
                  <a:srgbClr val="FF0000"/>
                </a:solidFill>
              </a:rPr>
              <a:t>    print('The value at position {} is {}.'.format(</a:t>
            </a:r>
            <a:r>
              <a:rPr lang="en-US" dirty="0" err="1">
                <a:solidFill>
                  <a:srgbClr val="FF0000"/>
                </a:solidFill>
              </a:rPr>
              <a:t>i</a:t>
            </a:r>
            <a:r>
              <a:rPr lang="en-US" dirty="0">
                <a:solidFill>
                  <a:srgbClr val="FF0000"/>
                </a:solidFill>
              </a:rPr>
              <a:t>, </a:t>
            </a:r>
            <a:r>
              <a:rPr lang="en-US" dirty="0" err="1">
                <a:solidFill>
                  <a:srgbClr val="FF0000"/>
                </a:solidFill>
              </a:rPr>
              <a:t>a_list</a:t>
            </a:r>
            <a:r>
              <a:rPr lang="en-US" dirty="0">
                <a:solidFill>
                  <a:srgbClr val="FF0000"/>
                </a:solidFill>
              </a:rPr>
              <a:t>[</a:t>
            </a:r>
            <a:r>
              <a:rPr lang="en-US" dirty="0" err="1">
                <a:solidFill>
                  <a:srgbClr val="FF0000"/>
                </a:solidFill>
              </a:rPr>
              <a:t>i</a:t>
            </a:r>
            <a:r>
              <a:rPr lang="en-US" dirty="0">
                <a:solidFill>
                  <a:srgbClr val="FF0000"/>
                </a:solidFill>
              </a:rPr>
              <a:t>]))</a:t>
            </a:r>
          </a:p>
        </p:txBody>
      </p:sp>
      <p:sp>
        <p:nvSpPr>
          <p:cNvPr id="4" name="Slide Number Placeholder 3">
            <a:extLst>
              <a:ext uri="{FF2B5EF4-FFF2-40B4-BE49-F238E27FC236}">
                <a16:creationId xmlns:a16="http://schemas.microsoft.com/office/drawing/2014/main" id="{2CD9FA3D-26B4-4EEF-B9E2-60002207DBE6}"/>
              </a:ext>
            </a:extLst>
          </p:cNvPr>
          <p:cNvSpPr>
            <a:spLocks noGrp="1"/>
          </p:cNvSpPr>
          <p:nvPr>
            <p:ph type="sldNum" sz="quarter" idx="12"/>
          </p:nvPr>
        </p:nvSpPr>
        <p:spPr/>
        <p:txBody>
          <a:bodyPr/>
          <a:lstStyle/>
          <a:p>
            <a:fld id="{6B97D948-30E8-43F7-AE10-F6E2D9F2BBB1}" type="slidenum">
              <a:rPr lang="en-US" smtClean="0"/>
              <a:t>121</a:t>
            </a:fld>
            <a:endParaRPr lang="en-US"/>
          </a:p>
        </p:txBody>
      </p:sp>
    </p:spTree>
    <p:extLst>
      <p:ext uri="{BB962C8B-B14F-4D97-AF65-F5344CB8AC3E}">
        <p14:creationId xmlns:p14="http://schemas.microsoft.com/office/powerpoint/2010/main" val="116298758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33FC49-D4E0-4FBC-AA82-4DF63B896491}"/>
              </a:ext>
            </a:extLst>
          </p:cNvPr>
          <p:cNvSpPr>
            <a:spLocks noGrp="1"/>
          </p:cNvSpPr>
          <p:nvPr>
            <p:ph idx="1"/>
          </p:nvPr>
        </p:nvSpPr>
        <p:spPr>
          <a:xfrm>
            <a:off x="838200" y="537882"/>
            <a:ext cx="10515600" cy="5639081"/>
          </a:xfrm>
        </p:spPr>
        <p:txBody>
          <a:bodyPr/>
          <a:lstStyle/>
          <a:p>
            <a:pPr algn="just"/>
            <a:r>
              <a:rPr lang="en-US" dirty="0"/>
              <a:t>Another way to achieve the same result is by using the enumerate function with </a:t>
            </a:r>
            <a:r>
              <a:rPr lang="en-US" dirty="0" err="1"/>
              <a:t>a_list</a:t>
            </a:r>
            <a:r>
              <a:rPr lang="en-US" dirty="0"/>
              <a:t> as an input, which returns a tuple containing the index and the corresponding element.</a:t>
            </a:r>
          </a:p>
          <a:p>
            <a:pPr algn="just"/>
            <a:endParaRPr lang="en-US" dirty="0"/>
          </a:p>
          <a:p>
            <a:pPr algn="just"/>
            <a:r>
              <a:rPr lang="en-US" dirty="0">
                <a:solidFill>
                  <a:srgbClr val="FF0000"/>
                </a:solidFill>
              </a:rPr>
              <a:t>for </a:t>
            </a:r>
            <a:r>
              <a:rPr lang="en-US" dirty="0" err="1">
                <a:solidFill>
                  <a:srgbClr val="FF0000"/>
                </a:solidFill>
              </a:rPr>
              <a:t>i</a:t>
            </a:r>
            <a:r>
              <a:rPr lang="en-US" dirty="0">
                <a:solidFill>
                  <a:srgbClr val="FF0000"/>
                </a:solidFill>
              </a:rPr>
              <a:t>, </a:t>
            </a:r>
            <a:r>
              <a:rPr lang="en-US" dirty="0" err="1">
                <a:solidFill>
                  <a:srgbClr val="FF0000"/>
                </a:solidFill>
              </a:rPr>
              <a:t>val</a:t>
            </a:r>
            <a:r>
              <a:rPr lang="en-US" dirty="0">
                <a:solidFill>
                  <a:srgbClr val="FF0000"/>
                </a:solidFill>
              </a:rPr>
              <a:t> in enumerate(</a:t>
            </a:r>
            <a:r>
              <a:rPr lang="en-US" dirty="0" err="1">
                <a:solidFill>
                  <a:srgbClr val="FF0000"/>
                </a:solidFill>
              </a:rPr>
              <a:t>a_list</a:t>
            </a:r>
            <a:r>
              <a:rPr lang="en-US" dirty="0">
                <a:solidFill>
                  <a:srgbClr val="FF0000"/>
                </a:solidFill>
              </a:rPr>
              <a:t>):</a:t>
            </a:r>
          </a:p>
          <a:p>
            <a:pPr algn="just"/>
            <a:r>
              <a:rPr lang="en-US" dirty="0">
                <a:solidFill>
                  <a:srgbClr val="FF0000"/>
                </a:solidFill>
              </a:rPr>
              <a:t>    print('The value at position {} is {}.'.format(</a:t>
            </a:r>
            <a:r>
              <a:rPr lang="en-US" dirty="0" err="1">
                <a:solidFill>
                  <a:srgbClr val="FF0000"/>
                </a:solidFill>
              </a:rPr>
              <a:t>i</a:t>
            </a:r>
            <a:r>
              <a:rPr lang="en-US" dirty="0">
                <a:solidFill>
                  <a:srgbClr val="FF0000"/>
                </a:solidFill>
              </a:rPr>
              <a:t>, </a:t>
            </a:r>
            <a:r>
              <a:rPr lang="en-US" dirty="0" err="1">
                <a:solidFill>
                  <a:srgbClr val="FF0000"/>
                </a:solidFill>
              </a:rPr>
              <a:t>val</a:t>
            </a:r>
            <a:r>
              <a:rPr lang="en-US" dirty="0">
                <a:solidFill>
                  <a:srgbClr val="FF0000"/>
                </a:solidFill>
              </a:rPr>
              <a:t>))</a:t>
            </a:r>
          </a:p>
        </p:txBody>
      </p:sp>
      <p:sp>
        <p:nvSpPr>
          <p:cNvPr id="4" name="Slide Number Placeholder 3">
            <a:extLst>
              <a:ext uri="{FF2B5EF4-FFF2-40B4-BE49-F238E27FC236}">
                <a16:creationId xmlns:a16="http://schemas.microsoft.com/office/drawing/2014/main" id="{20B04F62-03FD-41C6-B8BD-15918D9E2283}"/>
              </a:ext>
            </a:extLst>
          </p:cNvPr>
          <p:cNvSpPr>
            <a:spLocks noGrp="1"/>
          </p:cNvSpPr>
          <p:nvPr>
            <p:ph type="sldNum" sz="quarter" idx="12"/>
          </p:nvPr>
        </p:nvSpPr>
        <p:spPr/>
        <p:txBody>
          <a:bodyPr/>
          <a:lstStyle/>
          <a:p>
            <a:fld id="{6B97D948-30E8-43F7-AE10-F6E2D9F2BBB1}" type="slidenum">
              <a:rPr lang="en-US" smtClean="0"/>
              <a:t>122</a:t>
            </a:fld>
            <a:endParaRPr lang="en-US"/>
          </a:p>
        </p:txBody>
      </p:sp>
    </p:spTree>
    <p:extLst>
      <p:ext uri="{BB962C8B-B14F-4D97-AF65-F5344CB8AC3E}">
        <p14:creationId xmlns:p14="http://schemas.microsoft.com/office/powerpoint/2010/main" val="140111117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2D525-F05A-4482-ACDB-7634DD3BDAF1}"/>
              </a:ext>
            </a:extLst>
          </p:cNvPr>
          <p:cNvSpPr>
            <a:spLocks noGrp="1"/>
          </p:cNvSpPr>
          <p:nvPr>
            <p:ph type="title"/>
          </p:nvPr>
        </p:nvSpPr>
        <p:spPr>
          <a:xfrm>
            <a:off x="838200" y="365125"/>
            <a:ext cx="10515600" cy="752475"/>
          </a:xfrm>
        </p:spPr>
        <p:txBody>
          <a:bodyPr/>
          <a:lstStyle/>
          <a:p>
            <a:r>
              <a:rPr lang="en-US" dirty="0"/>
              <a:t>Pandas</a:t>
            </a:r>
          </a:p>
        </p:txBody>
      </p:sp>
      <p:sp>
        <p:nvSpPr>
          <p:cNvPr id="3" name="Content Placeholder 2">
            <a:extLst>
              <a:ext uri="{FF2B5EF4-FFF2-40B4-BE49-F238E27FC236}">
                <a16:creationId xmlns:a16="http://schemas.microsoft.com/office/drawing/2014/main" id="{4AE58966-34FD-42CC-9F41-C6E061E633F9}"/>
              </a:ext>
            </a:extLst>
          </p:cNvPr>
          <p:cNvSpPr>
            <a:spLocks noGrp="1"/>
          </p:cNvSpPr>
          <p:nvPr>
            <p:ph idx="1"/>
          </p:nvPr>
        </p:nvSpPr>
        <p:spPr/>
        <p:txBody>
          <a:bodyPr>
            <a:normAutofit/>
          </a:bodyPr>
          <a:lstStyle/>
          <a:p>
            <a:pPr algn="ctr"/>
            <a:r>
              <a:rPr lang="en-US" sz="4800" dirty="0"/>
              <a:t>“</a:t>
            </a:r>
            <a:r>
              <a:rPr lang="en-US" sz="4800" dirty="0">
                <a:solidFill>
                  <a:srgbClr val="002060"/>
                </a:solidFill>
              </a:rPr>
              <a:t>An analyst is not as good as the tools he can use, but as good as his understanding of the data</a:t>
            </a:r>
            <a:r>
              <a:rPr lang="en-US" sz="4800" dirty="0"/>
              <a:t>”</a:t>
            </a:r>
          </a:p>
        </p:txBody>
      </p:sp>
      <p:sp>
        <p:nvSpPr>
          <p:cNvPr id="5" name="Slide Number Placeholder 4">
            <a:extLst>
              <a:ext uri="{FF2B5EF4-FFF2-40B4-BE49-F238E27FC236}">
                <a16:creationId xmlns:a16="http://schemas.microsoft.com/office/drawing/2014/main" id="{DAE48DD7-97AC-48CC-AB8A-5C485F40D29B}"/>
              </a:ext>
            </a:extLst>
          </p:cNvPr>
          <p:cNvSpPr>
            <a:spLocks noGrp="1"/>
          </p:cNvSpPr>
          <p:nvPr>
            <p:ph type="sldNum" sz="quarter" idx="12"/>
          </p:nvPr>
        </p:nvSpPr>
        <p:spPr/>
        <p:txBody>
          <a:bodyPr/>
          <a:lstStyle/>
          <a:p>
            <a:fld id="{6B97D948-30E8-43F7-AE10-F6E2D9F2BBB1}" type="slidenum">
              <a:rPr lang="en-US" smtClean="0"/>
              <a:t>123</a:t>
            </a:fld>
            <a:endParaRPr lang="en-US"/>
          </a:p>
        </p:txBody>
      </p:sp>
    </p:spTree>
    <p:extLst>
      <p:ext uri="{BB962C8B-B14F-4D97-AF65-F5344CB8AC3E}">
        <p14:creationId xmlns:p14="http://schemas.microsoft.com/office/powerpoint/2010/main" val="346007308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1B298-F186-4C85-AEC4-093BA3D9022F}"/>
              </a:ext>
            </a:extLst>
          </p:cNvPr>
          <p:cNvSpPr>
            <a:spLocks noGrp="1"/>
          </p:cNvSpPr>
          <p:nvPr>
            <p:ph type="title"/>
          </p:nvPr>
        </p:nvSpPr>
        <p:spPr>
          <a:xfrm>
            <a:off x="838200" y="365125"/>
            <a:ext cx="10515600" cy="650875"/>
          </a:xfrm>
        </p:spPr>
        <p:txBody>
          <a:bodyPr>
            <a:normAutofit fontScale="90000"/>
          </a:bodyPr>
          <a:lstStyle/>
          <a:p>
            <a:r>
              <a:rPr lang="en-US" dirty="0"/>
              <a:t>Tabular Data</a:t>
            </a:r>
          </a:p>
        </p:txBody>
      </p:sp>
      <p:sp>
        <p:nvSpPr>
          <p:cNvPr id="3" name="Content Placeholder 2">
            <a:extLst>
              <a:ext uri="{FF2B5EF4-FFF2-40B4-BE49-F238E27FC236}">
                <a16:creationId xmlns:a16="http://schemas.microsoft.com/office/drawing/2014/main" id="{B6FF187A-1A33-440F-8E82-F7EC1A755323}"/>
              </a:ext>
            </a:extLst>
          </p:cNvPr>
          <p:cNvSpPr>
            <a:spLocks noGrp="1"/>
          </p:cNvSpPr>
          <p:nvPr>
            <p:ph idx="1"/>
          </p:nvPr>
        </p:nvSpPr>
        <p:spPr>
          <a:xfrm>
            <a:off x="838200" y="1016000"/>
            <a:ext cx="10515600" cy="5160963"/>
          </a:xfrm>
        </p:spPr>
        <p:txBody>
          <a:bodyPr>
            <a:normAutofit fontScale="92500" lnSpcReduction="20000"/>
          </a:bodyPr>
          <a:lstStyle/>
          <a:p>
            <a:pPr algn="just"/>
            <a:r>
              <a:rPr lang="en-US" dirty="0"/>
              <a:t>Data scientists work with data stored in a variety of formats. </a:t>
            </a:r>
          </a:p>
          <a:p>
            <a:pPr algn="just"/>
            <a:endParaRPr lang="en-US" dirty="0"/>
          </a:p>
          <a:p>
            <a:pPr algn="just"/>
            <a:r>
              <a:rPr lang="en-US" dirty="0"/>
              <a:t>Understanding the data is key in order to be a successful data scientist.</a:t>
            </a:r>
          </a:p>
          <a:p>
            <a:pPr algn="just"/>
            <a:endParaRPr lang="en-US" dirty="0"/>
          </a:p>
          <a:p>
            <a:pPr algn="just"/>
            <a:r>
              <a:rPr lang="en-US" dirty="0"/>
              <a:t>Tabular data is one of the most common systems that data scientists use to organize data. </a:t>
            </a:r>
          </a:p>
          <a:p>
            <a:pPr algn="just"/>
            <a:endParaRPr lang="en-US" dirty="0"/>
          </a:p>
          <a:p>
            <a:pPr algn="just"/>
            <a:r>
              <a:rPr lang="en-US" dirty="0"/>
              <a:t>This is in large part due to the simplicity and flexibility of tables. </a:t>
            </a:r>
          </a:p>
          <a:p>
            <a:pPr algn="just"/>
            <a:r>
              <a:rPr lang="en-US" dirty="0"/>
              <a:t>Tables allow us to represent each </a:t>
            </a:r>
            <a:r>
              <a:rPr lang="en-US" dirty="0">
                <a:solidFill>
                  <a:srgbClr val="C00000"/>
                </a:solidFill>
              </a:rPr>
              <a:t>observation</a:t>
            </a:r>
            <a:r>
              <a:rPr lang="en-US" dirty="0"/>
              <a:t>, or instance of collecting data from an individual, as its own row. </a:t>
            </a:r>
          </a:p>
          <a:p>
            <a:pPr algn="just"/>
            <a:endParaRPr lang="en-US" dirty="0"/>
          </a:p>
          <a:p>
            <a:pPr algn="just"/>
            <a:r>
              <a:rPr lang="en-US" dirty="0"/>
              <a:t>We can record distinct </a:t>
            </a:r>
            <a:r>
              <a:rPr lang="en-US" dirty="0">
                <a:solidFill>
                  <a:srgbClr val="C00000"/>
                </a:solidFill>
              </a:rPr>
              <a:t>characteristics</a:t>
            </a:r>
            <a:r>
              <a:rPr lang="en-US" dirty="0"/>
              <a:t>, or </a:t>
            </a:r>
            <a:r>
              <a:rPr lang="en-US" dirty="0">
                <a:solidFill>
                  <a:srgbClr val="C00000"/>
                </a:solidFill>
              </a:rPr>
              <a:t>features</a:t>
            </a:r>
            <a:r>
              <a:rPr lang="en-US" dirty="0"/>
              <a:t>, of each observation in separate columns.</a:t>
            </a:r>
          </a:p>
        </p:txBody>
      </p:sp>
      <p:sp>
        <p:nvSpPr>
          <p:cNvPr id="5" name="Slide Number Placeholder 4">
            <a:extLst>
              <a:ext uri="{FF2B5EF4-FFF2-40B4-BE49-F238E27FC236}">
                <a16:creationId xmlns:a16="http://schemas.microsoft.com/office/drawing/2014/main" id="{1D3DED44-8D05-4EFB-87D9-2D94CCB44E17}"/>
              </a:ext>
            </a:extLst>
          </p:cNvPr>
          <p:cNvSpPr>
            <a:spLocks noGrp="1"/>
          </p:cNvSpPr>
          <p:nvPr>
            <p:ph type="sldNum" sz="quarter" idx="12"/>
          </p:nvPr>
        </p:nvSpPr>
        <p:spPr/>
        <p:txBody>
          <a:bodyPr/>
          <a:lstStyle/>
          <a:p>
            <a:fld id="{6B97D948-30E8-43F7-AE10-F6E2D9F2BBB1}" type="slidenum">
              <a:rPr lang="en-US" smtClean="0"/>
              <a:t>124</a:t>
            </a:fld>
            <a:endParaRPr lang="en-US"/>
          </a:p>
        </p:txBody>
      </p:sp>
    </p:spTree>
    <p:extLst>
      <p:ext uri="{BB962C8B-B14F-4D97-AF65-F5344CB8AC3E}">
        <p14:creationId xmlns:p14="http://schemas.microsoft.com/office/powerpoint/2010/main" val="21692811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658AAF-1C30-434D-8254-B38126B41643}"/>
                  </a:ext>
                </a:extLst>
              </p:cNvPr>
              <p:cNvSpPr>
                <a:spLocks noGrp="1"/>
              </p:cNvSpPr>
              <p:nvPr>
                <p:ph idx="1"/>
              </p:nvPr>
            </p:nvSpPr>
            <p:spPr>
              <a:xfrm>
                <a:off x="838200" y="371475"/>
                <a:ext cx="10515600" cy="5805488"/>
              </a:xfrm>
            </p:spPr>
            <p:txBody>
              <a:bodyPr>
                <a:normAutofit fontScale="85000" lnSpcReduction="20000"/>
              </a:bodyPr>
              <a:lstStyle/>
              <a:p>
                <a:r>
                  <a:rPr lang="en-US" sz="5400" dirty="0"/>
                  <a:t>y = ax**2 +bx + c</a:t>
                </a:r>
              </a:p>
              <a:p>
                <a14:m>
                  <m:oMath xmlns:m="http://schemas.openxmlformats.org/officeDocument/2006/math">
                    <m:r>
                      <a:rPr lang="en-US" sz="5400" b="0" i="1" smtClean="0">
                        <a:latin typeface="Cambria Math" panose="02040503050406030204" pitchFamily="18" charset="0"/>
                      </a:rPr>
                      <m:t>𝑦</m:t>
                    </m:r>
                    <m:r>
                      <a:rPr lang="en-US" sz="5400" b="0" i="1" smtClean="0">
                        <a:latin typeface="Cambria Math" panose="02040503050406030204" pitchFamily="18" charset="0"/>
                      </a:rPr>
                      <m:t>=</m:t>
                    </m:r>
                    <m:r>
                      <a:rPr lang="en-US" sz="5400" b="0" i="1" smtClean="0">
                        <a:latin typeface="Cambria Math" panose="02040503050406030204" pitchFamily="18" charset="0"/>
                      </a:rPr>
                      <m:t>𝑎</m:t>
                    </m:r>
                    <m:sSup>
                      <m:sSupPr>
                        <m:ctrlPr>
                          <a:rPr lang="en-US" sz="5400" b="0" i="1" smtClean="0">
                            <a:latin typeface="Cambria Math" panose="02040503050406030204" pitchFamily="18" charset="0"/>
                          </a:rPr>
                        </m:ctrlPr>
                      </m:sSupPr>
                      <m:e>
                        <m:r>
                          <a:rPr lang="en-US" sz="5400" b="0" i="1" smtClean="0">
                            <a:latin typeface="Cambria Math" panose="02040503050406030204" pitchFamily="18" charset="0"/>
                          </a:rPr>
                          <m:t>𝑥</m:t>
                        </m:r>
                      </m:e>
                      <m:sup>
                        <m:r>
                          <a:rPr lang="en-US" sz="5400" b="0" i="1" smtClean="0">
                            <a:latin typeface="Cambria Math" panose="02040503050406030204" pitchFamily="18" charset="0"/>
                          </a:rPr>
                          <m:t>2</m:t>
                        </m:r>
                      </m:sup>
                    </m:sSup>
                    <m:r>
                      <a:rPr lang="en-US" sz="5400" b="0" i="1" smtClean="0">
                        <a:latin typeface="Cambria Math" panose="02040503050406030204" pitchFamily="18" charset="0"/>
                      </a:rPr>
                      <m:t>+</m:t>
                    </m:r>
                    <m:r>
                      <a:rPr lang="en-US" sz="5400" b="0" i="1" smtClean="0">
                        <a:latin typeface="Cambria Math" panose="02040503050406030204" pitchFamily="18" charset="0"/>
                      </a:rPr>
                      <m:t>𝑏𝑥</m:t>
                    </m:r>
                    <m:r>
                      <a:rPr lang="en-US" sz="5400" b="0" i="1" smtClean="0">
                        <a:latin typeface="Cambria Math" panose="02040503050406030204" pitchFamily="18" charset="0"/>
                      </a:rPr>
                      <m:t>+</m:t>
                    </m:r>
                    <m:r>
                      <a:rPr lang="en-US" sz="5400" b="0" i="1" smtClean="0">
                        <a:latin typeface="Cambria Math" panose="02040503050406030204" pitchFamily="18" charset="0"/>
                      </a:rPr>
                      <m:t>𝑐</m:t>
                    </m:r>
                  </m:oMath>
                </a14:m>
                <a:endParaRPr lang="en-US" sz="5400" dirty="0"/>
              </a:p>
              <a:p>
                <a14:m>
                  <m:oMath xmlns:m="http://schemas.openxmlformats.org/officeDocument/2006/math">
                    <m:sSup>
                      <m:sSupPr>
                        <m:ctrlPr>
                          <a:rPr lang="en-US" sz="5400" i="1" smtClean="0">
                            <a:latin typeface="Cambria Math" panose="02040503050406030204" pitchFamily="18" charset="0"/>
                          </a:rPr>
                        </m:ctrlPr>
                      </m:sSupPr>
                      <m:e>
                        <m:r>
                          <a:rPr lang="en-US" sz="5400" b="0" i="1" smtClean="0">
                            <a:latin typeface="Cambria Math" panose="02040503050406030204" pitchFamily="18" charset="0"/>
                          </a:rPr>
                          <m:t>𝑥</m:t>
                        </m:r>
                      </m:e>
                      <m:sup>
                        <m:r>
                          <a:rPr lang="en-US" sz="5400" b="0" i="1" smtClean="0">
                            <a:latin typeface="Cambria Math" panose="02040503050406030204" pitchFamily="18" charset="0"/>
                          </a:rPr>
                          <m:t>2</m:t>
                        </m:r>
                      </m:sup>
                    </m:sSup>
                    <m:r>
                      <a:rPr lang="en-US" sz="5400" b="0" i="1" smtClean="0">
                        <a:latin typeface="Cambria Math" panose="02040503050406030204" pitchFamily="18" charset="0"/>
                      </a:rPr>
                      <m:t>−5</m:t>
                    </m:r>
                    <m:r>
                      <a:rPr lang="en-US" sz="5400" b="0" i="1" smtClean="0">
                        <a:latin typeface="Cambria Math" panose="02040503050406030204" pitchFamily="18" charset="0"/>
                      </a:rPr>
                      <m:t>𝑥</m:t>
                    </m:r>
                    <m:r>
                      <a:rPr lang="en-US" sz="5400" b="0" i="1" smtClean="0">
                        <a:latin typeface="Cambria Math" panose="02040503050406030204" pitchFamily="18" charset="0"/>
                      </a:rPr>
                      <m:t>+4=0</m:t>
                    </m:r>
                  </m:oMath>
                </a14:m>
                <a:endParaRPr lang="en-US" sz="5400" dirty="0"/>
              </a:p>
              <a:p>
                <a14:m>
                  <m:oMath xmlns:m="http://schemas.openxmlformats.org/officeDocument/2006/math">
                    <m:sSup>
                      <m:sSupPr>
                        <m:ctrlPr>
                          <a:rPr lang="en-US" sz="5400" i="1" smtClean="0">
                            <a:latin typeface="Cambria Math" panose="02040503050406030204" pitchFamily="18" charset="0"/>
                          </a:rPr>
                        </m:ctrlPr>
                      </m:sSupPr>
                      <m:e>
                        <m:r>
                          <a:rPr lang="en-US" sz="5400" b="0" i="1" smtClean="0">
                            <a:latin typeface="Cambria Math" panose="02040503050406030204" pitchFamily="18" charset="0"/>
                          </a:rPr>
                          <m:t>𝑥</m:t>
                        </m:r>
                      </m:e>
                      <m:sup>
                        <m:r>
                          <a:rPr lang="en-US" sz="5400" b="0" i="1" smtClean="0">
                            <a:latin typeface="Cambria Math" panose="02040503050406030204" pitchFamily="18" charset="0"/>
                          </a:rPr>
                          <m:t>1</m:t>
                        </m:r>
                      </m:sup>
                    </m:sSup>
                    <m:r>
                      <a:rPr lang="en-US" sz="5400" b="0" i="1" smtClean="0">
                        <a:latin typeface="Cambria Math" panose="02040503050406030204" pitchFamily="18" charset="0"/>
                      </a:rPr>
                      <m:t>,</m:t>
                    </m:r>
                    <m:sSup>
                      <m:sSupPr>
                        <m:ctrlPr>
                          <a:rPr lang="en-US" sz="5400" b="0" i="1" smtClean="0">
                            <a:latin typeface="Cambria Math" panose="02040503050406030204" pitchFamily="18" charset="0"/>
                          </a:rPr>
                        </m:ctrlPr>
                      </m:sSupPr>
                      <m:e>
                        <m:r>
                          <a:rPr lang="en-US" sz="5400" b="0" i="1" smtClean="0">
                            <a:latin typeface="Cambria Math" panose="02040503050406030204" pitchFamily="18" charset="0"/>
                          </a:rPr>
                          <m:t>𝑥</m:t>
                        </m:r>
                      </m:e>
                      <m:sup>
                        <m:r>
                          <a:rPr lang="en-US" sz="5400" b="0" i="1" smtClean="0">
                            <a:latin typeface="Cambria Math" panose="02040503050406030204" pitchFamily="18" charset="0"/>
                          </a:rPr>
                          <m:t>2</m:t>
                        </m:r>
                      </m:sup>
                    </m:sSup>
                    <m:r>
                      <a:rPr lang="en-US" sz="5400" b="0" i="1" smtClean="0">
                        <a:latin typeface="Cambria Math" panose="02040503050406030204" pitchFamily="18" charset="0"/>
                      </a:rPr>
                      <m:t>= </m:t>
                    </m:r>
                    <m:f>
                      <m:fPr>
                        <m:ctrlPr>
                          <a:rPr lang="en-US" sz="5400" b="0" i="1" smtClean="0">
                            <a:latin typeface="Cambria Math" panose="02040503050406030204" pitchFamily="18" charset="0"/>
                          </a:rPr>
                        </m:ctrlPr>
                      </m:fPr>
                      <m:num>
                        <m:r>
                          <a:rPr lang="en-US" sz="5400" b="0" i="1" smtClean="0">
                            <a:latin typeface="Cambria Math" panose="02040503050406030204" pitchFamily="18" charset="0"/>
                          </a:rPr>
                          <m:t>−</m:t>
                        </m:r>
                        <m:r>
                          <a:rPr lang="en-US" sz="5400" b="0" i="1" smtClean="0">
                            <a:latin typeface="Cambria Math" panose="02040503050406030204" pitchFamily="18" charset="0"/>
                          </a:rPr>
                          <m:t>𝑏</m:t>
                        </m:r>
                        <m:r>
                          <a:rPr lang="en-US" sz="5400" b="0" i="1" smtClean="0">
                            <a:latin typeface="Cambria Math" panose="02040503050406030204" pitchFamily="18" charset="0"/>
                          </a:rPr>
                          <m:t> ±</m:t>
                        </m:r>
                        <m:rad>
                          <m:radPr>
                            <m:degHide m:val="on"/>
                            <m:ctrlPr>
                              <a:rPr lang="en-US" sz="5400" b="0" i="1" smtClean="0">
                                <a:latin typeface="Cambria Math" panose="02040503050406030204" pitchFamily="18" charset="0"/>
                                <a:ea typeface="Cambria Math" panose="02040503050406030204" pitchFamily="18" charset="0"/>
                              </a:rPr>
                            </m:ctrlPr>
                          </m:radPr>
                          <m:deg/>
                          <m:e>
                            <m:sSup>
                              <m:sSupPr>
                                <m:ctrlPr>
                                  <a:rPr lang="en-US" sz="5400" b="0" i="1" smtClean="0">
                                    <a:latin typeface="Cambria Math" panose="02040503050406030204" pitchFamily="18" charset="0"/>
                                    <a:ea typeface="Cambria Math" panose="02040503050406030204" pitchFamily="18" charset="0"/>
                                  </a:rPr>
                                </m:ctrlPr>
                              </m:sSupPr>
                              <m:e>
                                <m:r>
                                  <a:rPr lang="en-US" sz="5400" b="0" i="1" smtClean="0">
                                    <a:latin typeface="Cambria Math" panose="02040503050406030204" pitchFamily="18" charset="0"/>
                                    <a:ea typeface="Cambria Math" panose="02040503050406030204" pitchFamily="18" charset="0"/>
                                  </a:rPr>
                                  <m:t>𝑏</m:t>
                                </m:r>
                              </m:e>
                              <m:sup>
                                <m:r>
                                  <a:rPr lang="en-US" sz="5400" b="0" i="1" smtClean="0">
                                    <a:latin typeface="Cambria Math" panose="02040503050406030204" pitchFamily="18" charset="0"/>
                                    <a:ea typeface="Cambria Math" panose="02040503050406030204" pitchFamily="18" charset="0"/>
                                  </a:rPr>
                                  <m:t>2</m:t>
                                </m:r>
                              </m:sup>
                            </m:sSup>
                            <m:r>
                              <a:rPr lang="en-US" sz="5400" b="0" i="1" smtClean="0">
                                <a:latin typeface="Cambria Math" panose="02040503050406030204" pitchFamily="18" charset="0"/>
                                <a:ea typeface="Cambria Math" panose="02040503050406030204" pitchFamily="18" charset="0"/>
                              </a:rPr>
                              <m:t>−4</m:t>
                            </m:r>
                            <m:r>
                              <a:rPr lang="en-US" sz="5400" b="0" i="1" smtClean="0">
                                <a:latin typeface="Cambria Math" panose="02040503050406030204" pitchFamily="18" charset="0"/>
                                <a:ea typeface="Cambria Math" panose="02040503050406030204" pitchFamily="18" charset="0"/>
                              </a:rPr>
                              <m:t>𝑎𝑐</m:t>
                            </m:r>
                          </m:e>
                        </m:rad>
                      </m:num>
                      <m:den>
                        <m:r>
                          <a:rPr lang="en-US" sz="5400" b="0" i="1" smtClean="0">
                            <a:latin typeface="Cambria Math" panose="02040503050406030204" pitchFamily="18" charset="0"/>
                          </a:rPr>
                          <m:t>2</m:t>
                        </m:r>
                        <m:r>
                          <a:rPr lang="en-US" sz="5400" b="0" i="1" smtClean="0">
                            <a:latin typeface="Cambria Math" panose="02040503050406030204" pitchFamily="18" charset="0"/>
                          </a:rPr>
                          <m:t>𝑎</m:t>
                        </m:r>
                      </m:den>
                    </m:f>
                  </m:oMath>
                </a14:m>
                <a:endParaRPr lang="en-US" sz="5400" b="0" dirty="0"/>
              </a:p>
              <a:p>
                <a:r>
                  <a:rPr lang="en-US" sz="5400" dirty="0"/>
                  <a:t>D = </a:t>
                </a:r>
                <a14:m>
                  <m:oMath xmlns:m="http://schemas.openxmlformats.org/officeDocument/2006/math">
                    <m:sSup>
                      <m:sSupPr>
                        <m:ctrlPr>
                          <a:rPr lang="en-US" sz="5400" b="0" i="1" smtClean="0">
                            <a:latin typeface="Cambria Math" panose="02040503050406030204" pitchFamily="18" charset="0"/>
                            <a:ea typeface="Cambria Math" panose="02040503050406030204" pitchFamily="18" charset="0"/>
                          </a:rPr>
                        </m:ctrlPr>
                      </m:sSupPr>
                      <m:e>
                        <m:r>
                          <a:rPr lang="en-US" sz="5400" b="0" i="1" smtClean="0">
                            <a:latin typeface="Cambria Math" panose="02040503050406030204" pitchFamily="18" charset="0"/>
                            <a:ea typeface="Cambria Math" panose="02040503050406030204" pitchFamily="18" charset="0"/>
                          </a:rPr>
                          <m:t>𝑏</m:t>
                        </m:r>
                      </m:e>
                      <m:sup>
                        <m:r>
                          <a:rPr lang="en-US" sz="5400" b="0" i="1" smtClean="0">
                            <a:latin typeface="Cambria Math" panose="02040503050406030204" pitchFamily="18" charset="0"/>
                            <a:ea typeface="Cambria Math" panose="02040503050406030204" pitchFamily="18" charset="0"/>
                          </a:rPr>
                          <m:t>2</m:t>
                        </m:r>
                      </m:sup>
                    </m:sSup>
                    <m:r>
                      <a:rPr lang="en-US" sz="5400" b="0" i="1" smtClean="0">
                        <a:latin typeface="Cambria Math" panose="02040503050406030204" pitchFamily="18" charset="0"/>
                        <a:ea typeface="Cambria Math" panose="02040503050406030204" pitchFamily="18" charset="0"/>
                      </a:rPr>
                      <m:t>−4</m:t>
                    </m:r>
                    <m:r>
                      <a:rPr lang="en-US" sz="5400" b="0" i="1" smtClean="0">
                        <a:latin typeface="Cambria Math" panose="02040503050406030204" pitchFamily="18" charset="0"/>
                        <a:ea typeface="Cambria Math" panose="02040503050406030204" pitchFamily="18" charset="0"/>
                      </a:rPr>
                      <m:t>𝑎𝑐</m:t>
                    </m:r>
                  </m:oMath>
                </a14:m>
                <a:endParaRPr lang="en-US" sz="5400" dirty="0"/>
              </a:p>
              <a:p>
                <a:r>
                  <a:rPr lang="en-US" sz="5400" dirty="0"/>
                  <a:t>D=0, Equal solution</a:t>
                </a:r>
              </a:p>
              <a:p>
                <a:r>
                  <a:rPr lang="en-US" sz="5400" dirty="0"/>
                  <a:t>D&gt;0, Real solutions</a:t>
                </a:r>
              </a:p>
              <a:p>
                <a:r>
                  <a:rPr lang="en-US" sz="5400" dirty="0"/>
                  <a:t>D &lt;0, Complex solutions</a:t>
                </a:r>
              </a:p>
            </p:txBody>
          </p:sp>
        </mc:Choice>
        <mc:Fallback xmlns="">
          <p:sp>
            <p:nvSpPr>
              <p:cNvPr id="3" name="Content Placeholder 2">
                <a:extLst>
                  <a:ext uri="{FF2B5EF4-FFF2-40B4-BE49-F238E27FC236}">
                    <a16:creationId xmlns:a16="http://schemas.microsoft.com/office/drawing/2014/main" id="{F1658AAF-1C30-434D-8254-B38126B41643}"/>
                  </a:ext>
                </a:extLst>
              </p:cNvPr>
              <p:cNvSpPr>
                <a:spLocks noGrp="1" noRot="1" noChangeAspect="1" noMove="1" noResize="1" noEditPoints="1" noAdjustHandles="1" noChangeArrowheads="1" noChangeShapeType="1" noTextEdit="1"/>
              </p:cNvSpPr>
              <p:nvPr>
                <p:ph idx="1"/>
              </p:nvPr>
            </p:nvSpPr>
            <p:spPr>
              <a:xfrm>
                <a:off x="838200" y="371475"/>
                <a:ext cx="10515600" cy="5805488"/>
              </a:xfrm>
              <a:blipFill>
                <a:blip r:embed="rId3"/>
                <a:stretch>
                  <a:fillRect l="-2261" t="-5357" b="-472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57395B1-3FEC-4803-B454-30B810069DDB}"/>
              </a:ext>
            </a:extLst>
          </p:cNvPr>
          <p:cNvSpPr>
            <a:spLocks noGrp="1"/>
          </p:cNvSpPr>
          <p:nvPr>
            <p:ph type="sldNum" sz="quarter" idx="12"/>
          </p:nvPr>
        </p:nvSpPr>
        <p:spPr/>
        <p:txBody>
          <a:bodyPr/>
          <a:lstStyle/>
          <a:p>
            <a:fld id="{6B97D948-30E8-43F7-AE10-F6E2D9F2BBB1}" type="slidenum">
              <a:rPr lang="en-US" smtClean="0"/>
              <a:t>125</a:t>
            </a:fld>
            <a:endParaRPr lang="en-US"/>
          </a:p>
        </p:txBody>
      </p:sp>
    </p:spTree>
    <p:extLst>
      <p:ext uri="{BB962C8B-B14F-4D97-AF65-F5344CB8AC3E}">
        <p14:creationId xmlns:p14="http://schemas.microsoft.com/office/powerpoint/2010/main" val="6575354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56F6C-BB90-4E31-8942-217C325F614E}"/>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47A958-8805-48A7-96BF-5295B89D287F}"/>
                  </a:ext>
                </a:extLst>
              </p:cNvPr>
              <p:cNvSpPr>
                <a:spLocks noGrp="1"/>
              </p:cNvSpPr>
              <p:nvPr>
                <p:ph idx="1"/>
              </p:nvPr>
            </p:nvSpPr>
            <p:spPr/>
            <p:txBody>
              <a:bodyPr/>
              <a:lstStyle/>
              <a:p>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−4</m:t>
                        </m:r>
                      </m:e>
                    </m:rad>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−1∗4</m:t>
                        </m:r>
                      </m:e>
                    </m:rad>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4</m:t>
                        </m:r>
                      </m:e>
                    </m:rad>
                    <m:r>
                      <a:rPr lang="en-US" b="0" i="1" smtClean="0">
                        <a:latin typeface="Cambria Math" panose="02040503050406030204" pitchFamily="18" charset="0"/>
                      </a:rPr>
                      <m:t>=2</m:t>
                    </m:r>
                    <m:r>
                      <a:rPr lang="en-US" b="0" i="1" smtClean="0">
                        <a:latin typeface="Cambria Math" panose="02040503050406030204" pitchFamily="18" charset="0"/>
                      </a:rPr>
                      <m:t>𝑖</m:t>
                    </m:r>
                  </m:oMath>
                </a14:m>
                <a:endParaRPr lang="en-US" dirty="0"/>
              </a:p>
              <a:p>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−32</m:t>
                        </m:r>
                      </m:e>
                    </m:rad>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−1∗32</m:t>
                        </m:r>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32</m:t>
                        </m:r>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16∗2</m:t>
                        </m:r>
                      </m:e>
                    </m:rad>
                    <m:r>
                      <a:rPr lang="en-US" b="0" i="1" smtClean="0">
                        <a:latin typeface="Cambria Math" panose="02040503050406030204" pitchFamily="18" charset="0"/>
                      </a:rPr>
                      <m:t>= 4</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r>
                      <a:rPr lang="en-US" b="0" i="1" smtClean="0">
                        <a:latin typeface="Cambria Math" panose="02040503050406030204" pitchFamily="18" charset="0"/>
                      </a:rPr>
                      <m:t>𝑖</m:t>
                    </m:r>
                  </m:oMath>
                </a14:m>
                <a:endParaRPr lang="en-US" dirty="0"/>
              </a:p>
            </p:txBody>
          </p:sp>
        </mc:Choice>
        <mc:Fallback xmlns="">
          <p:sp>
            <p:nvSpPr>
              <p:cNvPr id="3" name="Content Placeholder 2">
                <a:extLst>
                  <a:ext uri="{FF2B5EF4-FFF2-40B4-BE49-F238E27FC236}">
                    <a16:creationId xmlns:a16="http://schemas.microsoft.com/office/drawing/2014/main" id="{B847A958-8805-48A7-96BF-5295B89D287F}"/>
                  </a:ext>
                </a:extLst>
              </p:cNvPr>
              <p:cNvSpPr>
                <a:spLocks noGrp="1" noRot="1" noChangeAspect="1" noMove="1" noResize="1" noEditPoints="1" noAdjustHandles="1" noChangeArrowheads="1" noChangeShapeType="1" noTextEdit="1"/>
              </p:cNvSpPr>
              <p:nvPr>
                <p:ph idx="1"/>
              </p:nvPr>
            </p:nvSpPr>
            <p:spPr>
              <a:blipFill>
                <a:blip r:embed="rId4"/>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8D7013F-4D3C-4405-8A5B-99019BB95AA3}"/>
              </a:ext>
            </a:extLst>
          </p:cNvPr>
          <p:cNvSpPr>
            <a:spLocks noGrp="1"/>
          </p:cNvSpPr>
          <p:nvPr>
            <p:ph type="sldNum" sz="quarter" idx="12"/>
          </p:nvPr>
        </p:nvSpPr>
        <p:spPr/>
        <p:txBody>
          <a:bodyPr/>
          <a:lstStyle/>
          <a:p>
            <a:fld id="{6B97D948-30E8-43F7-AE10-F6E2D9F2BBB1}" type="slidenum">
              <a:rPr lang="en-US" smtClean="0"/>
              <a:t>126</a:t>
            </a:fld>
            <a:endParaRPr lang="en-US"/>
          </a:p>
        </p:txBody>
      </p:sp>
    </p:spTree>
    <p:extLst>
      <p:ext uri="{BB962C8B-B14F-4D97-AF65-F5344CB8AC3E}">
        <p14:creationId xmlns:p14="http://schemas.microsoft.com/office/powerpoint/2010/main" val="168815331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F44C-5814-409D-AEC7-34640D8514C4}"/>
              </a:ext>
            </a:extLst>
          </p:cNvPr>
          <p:cNvSpPr>
            <a:spLocks noGrp="1"/>
          </p:cNvSpPr>
          <p:nvPr>
            <p:ph type="title"/>
          </p:nvPr>
        </p:nvSpPr>
        <p:spPr>
          <a:xfrm>
            <a:off x="838200" y="365125"/>
            <a:ext cx="10515600" cy="549275"/>
          </a:xfrm>
        </p:spPr>
        <p:txBody>
          <a:bodyPr>
            <a:normAutofit fontScale="90000"/>
          </a:bodyPr>
          <a:lstStyle/>
          <a:p>
            <a:r>
              <a:rPr lang="en-US" dirty="0"/>
              <a:t>Code</a:t>
            </a:r>
          </a:p>
        </p:txBody>
      </p:sp>
      <p:sp>
        <p:nvSpPr>
          <p:cNvPr id="3" name="Content Placeholder 2">
            <a:extLst>
              <a:ext uri="{FF2B5EF4-FFF2-40B4-BE49-F238E27FC236}">
                <a16:creationId xmlns:a16="http://schemas.microsoft.com/office/drawing/2014/main" id="{8616A89A-7524-4AB3-B8B5-46261F0B6DA9}"/>
              </a:ext>
            </a:extLst>
          </p:cNvPr>
          <p:cNvSpPr>
            <a:spLocks noGrp="1"/>
          </p:cNvSpPr>
          <p:nvPr>
            <p:ph idx="1"/>
          </p:nvPr>
        </p:nvSpPr>
        <p:spPr>
          <a:xfrm>
            <a:off x="838200" y="914400"/>
            <a:ext cx="10515600" cy="5262563"/>
          </a:xfrm>
        </p:spPr>
        <p:txBody>
          <a:bodyPr/>
          <a:lstStyle/>
          <a:p>
            <a:pPr algn="just"/>
            <a:r>
              <a:rPr lang="en-US" dirty="0"/>
              <a:t>Let’s explore the </a:t>
            </a:r>
            <a:r>
              <a:rPr lang="en-US" dirty="0">
                <a:solidFill>
                  <a:srgbClr val="FF0000"/>
                </a:solidFill>
              </a:rPr>
              <a:t>elections dataset</a:t>
            </a:r>
            <a:r>
              <a:rPr lang="en-US" dirty="0"/>
              <a:t>, which stores information about political candidates who ran for president of the United States in various years.</a:t>
            </a:r>
          </a:p>
          <a:p>
            <a:pPr algn="just"/>
            <a:r>
              <a:rPr lang="en-US" dirty="0">
                <a:solidFill>
                  <a:srgbClr val="FF0000"/>
                </a:solidFill>
              </a:rPr>
              <a:t>import </a:t>
            </a:r>
            <a:r>
              <a:rPr lang="en-US" dirty="0" err="1">
                <a:solidFill>
                  <a:srgbClr val="FF0000"/>
                </a:solidFill>
              </a:rPr>
              <a:t>os</a:t>
            </a:r>
            <a:r>
              <a:rPr lang="en-US" dirty="0">
                <a:solidFill>
                  <a:srgbClr val="FF0000"/>
                </a:solidFill>
              </a:rPr>
              <a:t> </a:t>
            </a:r>
            <a:r>
              <a:rPr lang="en-US" dirty="0"/>
              <a:t># </a:t>
            </a:r>
            <a:r>
              <a:rPr lang="en-US" dirty="0" err="1"/>
              <a:t>os</a:t>
            </a:r>
            <a:r>
              <a:rPr lang="en-US" dirty="0"/>
              <a:t> package provides facilities for interaction with </a:t>
            </a:r>
            <a:r>
              <a:rPr lang="en-US" dirty="0" err="1"/>
              <a:t>os</a:t>
            </a:r>
            <a:endParaRPr lang="en-US" dirty="0"/>
          </a:p>
          <a:p>
            <a:pPr algn="just"/>
            <a:r>
              <a:rPr lang="en-US" dirty="0" err="1">
                <a:solidFill>
                  <a:srgbClr val="FF0000"/>
                </a:solidFill>
              </a:rPr>
              <a:t>os.chdir</a:t>
            </a:r>
            <a:r>
              <a:rPr lang="en-US" dirty="0">
                <a:solidFill>
                  <a:srgbClr val="FF0000"/>
                </a:solidFill>
              </a:rPr>
              <a:t>(‘C:/</a:t>
            </a:r>
            <a:r>
              <a:rPr lang="en-US" dirty="0" err="1">
                <a:solidFill>
                  <a:srgbClr val="FF0000"/>
                </a:solidFill>
              </a:rPr>
              <a:t>ACity</a:t>
            </a:r>
            <a:r>
              <a:rPr lang="en-US" dirty="0">
                <a:solidFill>
                  <a:srgbClr val="FF0000"/>
                </a:solidFill>
              </a:rPr>
              <a:t>')</a:t>
            </a:r>
          </a:p>
          <a:p>
            <a:pPr algn="just"/>
            <a:endParaRPr lang="en-US" dirty="0">
              <a:solidFill>
                <a:srgbClr val="FF0000"/>
              </a:solidFill>
            </a:endParaRPr>
          </a:p>
          <a:p>
            <a:pPr algn="just"/>
            <a:r>
              <a:rPr lang="en-US" dirty="0">
                <a:solidFill>
                  <a:srgbClr val="FF0000"/>
                </a:solidFill>
              </a:rPr>
              <a:t>import pandas as pd</a:t>
            </a:r>
          </a:p>
          <a:p>
            <a:pPr algn="just"/>
            <a:endParaRPr lang="en-US" dirty="0">
              <a:solidFill>
                <a:srgbClr val="FF0000"/>
              </a:solidFill>
            </a:endParaRPr>
          </a:p>
          <a:p>
            <a:pPr algn="just"/>
            <a:r>
              <a:rPr lang="en-US" dirty="0">
                <a:solidFill>
                  <a:srgbClr val="FF0000"/>
                </a:solidFill>
              </a:rPr>
              <a:t>df = </a:t>
            </a:r>
            <a:r>
              <a:rPr lang="en-US" dirty="0" err="1">
                <a:solidFill>
                  <a:srgbClr val="FF0000"/>
                </a:solidFill>
              </a:rPr>
              <a:t>pd.read_csv</a:t>
            </a:r>
            <a:r>
              <a:rPr lang="en-US" dirty="0">
                <a:solidFill>
                  <a:srgbClr val="FF0000"/>
                </a:solidFill>
              </a:rPr>
              <a:t>('elections.csv')</a:t>
            </a:r>
          </a:p>
        </p:txBody>
      </p:sp>
      <p:sp>
        <p:nvSpPr>
          <p:cNvPr id="5" name="Slide Number Placeholder 4">
            <a:extLst>
              <a:ext uri="{FF2B5EF4-FFF2-40B4-BE49-F238E27FC236}">
                <a16:creationId xmlns:a16="http://schemas.microsoft.com/office/drawing/2014/main" id="{6A7E9612-FE62-4450-8277-B7D344212480}"/>
              </a:ext>
            </a:extLst>
          </p:cNvPr>
          <p:cNvSpPr>
            <a:spLocks noGrp="1"/>
          </p:cNvSpPr>
          <p:nvPr>
            <p:ph type="sldNum" sz="quarter" idx="12"/>
          </p:nvPr>
        </p:nvSpPr>
        <p:spPr/>
        <p:txBody>
          <a:bodyPr/>
          <a:lstStyle/>
          <a:p>
            <a:fld id="{6B97D948-30E8-43F7-AE10-F6E2D9F2BBB1}" type="slidenum">
              <a:rPr lang="en-US" smtClean="0"/>
              <a:t>127</a:t>
            </a:fld>
            <a:endParaRPr lang="en-US"/>
          </a:p>
        </p:txBody>
      </p:sp>
    </p:spTree>
    <p:extLst>
      <p:ext uri="{BB962C8B-B14F-4D97-AF65-F5344CB8AC3E}">
        <p14:creationId xmlns:p14="http://schemas.microsoft.com/office/powerpoint/2010/main" val="176512748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16657-0ACB-4D41-98A2-53B85A511DF5}"/>
              </a:ext>
            </a:extLst>
          </p:cNvPr>
          <p:cNvSpPr>
            <a:spLocks noGrp="1"/>
          </p:cNvSpPr>
          <p:nvPr>
            <p:ph type="title"/>
          </p:nvPr>
        </p:nvSpPr>
        <p:spPr>
          <a:xfrm>
            <a:off x="838200" y="365125"/>
            <a:ext cx="10515600" cy="605719"/>
          </a:xfrm>
        </p:spPr>
        <p:txBody>
          <a:bodyPr>
            <a:normAutofit fontScale="90000"/>
          </a:bodyPr>
          <a:lstStyle/>
          <a:p>
            <a:r>
              <a:rPr lang="en-US" dirty="0"/>
              <a:t>Election Data</a:t>
            </a:r>
          </a:p>
        </p:txBody>
      </p:sp>
      <p:sp>
        <p:nvSpPr>
          <p:cNvPr id="3" name="Content Placeholder 2">
            <a:extLst>
              <a:ext uri="{FF2B5EF4-FFF2-40B4-BE49-F238E27FC236}">
                <a16:creationId xmlns:a16="http://schemas.microsoft.com/office/drawing/2014/main" id="{A8231C72-288C-4EFA-BE00-85F7B9EB252B}"/>
              </a:ext>
            </a:extLst>
          </p:cNvPr>
          <p:cNvSpPr>
            <a:spLocks noGrp="1"/>
          </p:cNvSpPr>
          <p:nvPr>
            <p:ph idx="1"/>
          </p:nvPr>
        </p:nvSpPr>
        <p:spPr>
          <a:xfrm>
            <a:off x="838200" y="970844"/>
            <a:ext cx="10515600" cy="5206119"/>
          </a:xfrm>
        </p:spPr>
        <p:txBody>
          <a:bodyPr/>
          <a:lstStyle/>
          <a:p>
            <a:pPr algn="just"/>
            <a:r>
              <a:rPr lang="en-US" dirty="0"/>
              <a:t>In the </a:t>
            </a:r>
            <a:r>
              <a:rPr lang="en-US" dirty="0">
                <a:solidFill>
                  <a:srgbClr val="FF0000"/>
                </a:solidFill>
              </a:rPr>
              <a:t>elections dataset</a:t>
            </a:r>
            <a:r>
              <a:rPr lang="en-US" dirty="0"/>
              <a:t>, each row represents </a:t>
            </a:r>
            <a:r>
              <a:rPr lang="en-US" dirty="0">
                <a:solidFill>
                  <a:srgbClr val="FF0000"/>
                </a:solidFill>
              </a:rPr>
              <a:t>one instance of a candidate running for president </a:t>
            </a:r>
            <a:r>
              <a:rPr lang="en-US" dirty="0"/>
              <a:t>in a particular year. </a:t>
            </a:r>
          </a:p>
          <a:p>
            <a:pPr algn="just"/>
            <a:endParaRPr lang="en-US" dirty="0"/>
          </a:p>
          <a:p>
            <a:pPr algn="just"/>
            <a:r>
              <a:rPr lang="en-US" dirty="0"/>
              <a:t>For example, the first row represents </a:t>
            </a:r>
            <a:r>
              <a:rPr lang="en-US" dirty="0">
                <a:solidFill>
                  <a:srgbClr val="FF0000"/>
                </a:solidFill>
              </a:rPr>
              <a:t>Andrew Jackson </a:t>
            </a:r>
            <a:r>
              <a:rPr lang="en-US" dirty="0"/>
              <a:t>running for president in the year 1824. </a:t>
            </a:r>
          </a:p>
          <a:p>
            <a:pPr algn="just"/>
            <a:endParaRPr lang="en-US" dirty="0"/>
          </a:p>
          <a:p>
            <a:pPr algn="just"/>
            <a:r>
              <a:rPr lang="en-US" dirty="0"/>
              <a:t>Each column represents </a:t>
            </a:r>
            <a:r>
              <a:rPr lang="en-US" dirty="0">
                <a:solidFill>
                  <a:srgbClr val="FF0000"/>
                </a:solidFill>
              </a:rPr>
              <a:t>one characteristic piece of information </a:t>
            </a:r>
            <a:r>
              <a:rPr lang="en-US" dirty="0"/>
              <a:t>about each presidential candidate. </a:t>
            </a:r>
          </a:p>
          <a:p>
            <a:pPr algn="just"/>
            <a:endParaRPr lang="en-US" dirty="0"/>
          </a:p>
          <a:p>
            <a:pPr algn="just"/>
            <a:r>
              <a:rPr lang="en-US" dirty="0"/>
              <a:t>For example, the column named “Result” stores whether or not the candidate won the election.</a:t>
            </a:r>
          </a:p>
        </p:txBody>
      </p:sp>
      <p:sp>
        <p:nvSpPr>
          <p:cNvPr id="5" name="Slide Number Placeholder 4">
            <a:extLst>
              <a:ext uri="{FF2B5EF4-FFF2-40B4-BE49-F238E27FC236}">
                <a16:creationId xmlns:a16="http://schemas.microsoft.com/office/drawing/2014/main" id="{DF130CBA-74B6-49AC-A507-B07CE348CA7A}"/>
              </a:ext>
            </a:extLst>
          </p:cNvPr>
          <p:cNvSpPr>
            <a:spLocks noGrp="1"/>
          </p:cNvSpPr>
          <p:nvPr>
            <p:ph type="sldNum" sz="quarter" idx="12"/>
          </p:nvPr>
        </p:nvSpPr>
        <p:spPr/>
        <p:txBody>
          <a:bodyPr/>
          <a:lstStyle/>
          <a:p>
            <a:fld id="{6B97D948-30E8-43F7-AE10-F6E2D9F2BBB1}" type="slidenum">
              <a:rPr lang="en-US" smtClean="0"/>
              <a:t>128</a:t>
            </a:fld>
            <a:endParaRPr lang="en-US"/>
          </a:p>
        </p:txBody>
      </p:sp>
    </p:spTree>
    <p:extLst>
      <p:ext uri="{BB962C8B-B14F-4D97-AF65-F5344CB8AC3E}">
        <p14:creationId xmlns:p14="http://schemas.microsoft.com/office/powerpoint/2010/main" val="161427335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EDD25-BC31-4905-BFD9-9E15D8466928}"/>
              </a:ext>
            </a:extLst>
          </p:cNvPr>
          <p:cNvSpPr>
            <a:spLocks noGrp="1"/>
          </p:cNvSpPr>
          <p:nvPr>
            <p:ph type="title"/>
          </p:nvPr>
        </p:nvSpPr>
        <p:spPr>
          <a:xfrm>
            <a:off x="838200" y="365126"/>
            <a:ext cx="10515600" cy="684742"/>
          </a:xfrm>
        </p:spPr>
        <p:txBody>
          <a:bodyPr>
            <a:normAutofit fontScale="90000"/>
          </a:bodyPr>
          <a:lstStyle/>
          <a:p>
            <a:r>
              <a:rPr lang="en-US" dirty="0" err="1"/>
              <a:t>DataFrames</a:t>
            </a:r>
            <a:r>
              <a:rPr lang="en-US" dirty="0"/>
              <a:t>, Series, and Indices</a:t>
            </a:r>
          </a:p>
        </p:txBody>
      </p:sp>
      <p:sp>
        <p:nvSpPr>
          <p:cNvPr id="3" name="Content Placeholder 2">
            <a:extLst>
              <a:ext uri="{FF2B5EF4-FFF2-40B4-BE49-F238E27FC236}">
                <a16:creationId xmlns:a16="http://schemas.microsoft.com/office/drawing/2014/main" id="{9D95CBFD-68DD-491E-8C81-B9C707619262}"/>
              </a:ext>
            </a:extLst>
          </p:cNvPr>
          <p:cNvSpPr>
            <a:spLocks noGrp="1"/>
          </p:cNvSpPr>
          <p:nvPr>
            <p:ph idx="1"/>
          </p:nvPr>
        </p:nvSpPr>
        <p:spPr>
          <a:xfrm>
            <a:off x="838200" y="1049868"/>
            <a:ext cx="10515600" cy="5127095"/>
          </a:xfrm>
        </p:spPr>
        <p:txBody>
          <a:bodyPr/>
          <a:lstStyle/>
          <a:p>
            <a:r>
              <a:rPr lang="en-US" dirty="0"/>
              <a:t>There are three fundamental data structures in pandas:</a:t>
            </a:r>
          </a:p>
          <a:p>
            <a:r>
              <a:rPr lang="en-US" dirty="0"/>
              <a:t>    </a:t>
            </a:r>
            <a:r>
              <a:rPr lang="en-US" dirty="0">
                <a:solidFill>
                  <a:srgbClr val="00B0F0"/>
                </a:solidFill>
              </a:rPr>
              <a:t>Series</a:t>
            </a:r>
            <a:r>
              <a:rPr lang="en-US" dirty="0"/>
              <a:t>: 1D labeled array data; best thought of as columnar data</a:t>
            </a:r>
          </a:p>
          <a:p>
            <a:r>
              <a:rPr lang="en-US" dirty="0"/>
              <a:t>    </a:t>
            </a:r>
            <a:r>
              <a:rPr lang="en-US" dirty="0" err="1">
                <a:solidFill>
                  <a:srgbClr val="00B0F0"/>
                </a:solidFill>
              </a:rPr>
              <a:t>DataFrame</a:t>
            </a:r>
            <a:r>
              <a:rPr lang="en-US" dirty="0"/>
              <a:t>: 2D tabular data with rows and columns</a:t>
            </a:r>
          </a:p>
          <a:p>
            <a:r>
              <a:rPr lang="en-US" dirty="0"/>
              <a:t>    </a:t>
            </a:r>
            <a:r>
              <a:rPr lang="en-US" dirty="0">
                <a:solidFill>
                  <a:srgbClr val="00B0F0"/>
                </a:solidFill>
              </a:rPr>
              <a:t>Index</a:t>
            </a:r>
            <a:r>
              <a:rPr lang="en-US" dirty="0"/>
              <a:t>: A sequence of row/column labels</a:t>
            </a:r>
          </a:p>
          <a:p>
            <a:endParaRPr lang="en-US" dirty="0"/>
          </a:p>
          <a:p>
            <a:pPr algn="just"/>
            <a:r>
              <a:rPr lang="en-US" dirty="0" err="1"/>
              <a:t>DataFrames</a:t>
            </a:r>
            <a:r>
              <a:rPr lang="en-US" dirty="0"/>
              <a:t>, Series, and Indices can be represented visually in the following diagram, which considers the first few rows of the elections dataset.</a:t>
            </a:r>
          </a:p>
        </p:txBody>
      </p:sp>
      <p:sp>
        <p:nvSpPr>
          <p:cNvPr id="5" name="Slide Number Placeholder 4">
            <a:extLst>
              <a:ext uri="{FF2B5EF4-FFF2-40B4-BE49-F238E27FC236}">
                <a16:creationId xmlns:a16="http://schemas.microsoft.com/office/drawing/2014/main" id="{69C5C78B-7B3C-48C2-A097-21BBB7C88F3B}"/>
              </a:ext>
            </a:extLst>
          </p:cNvPr>
          <p:cNvSpPr>
            <a:spLocks noGrp="1"/>
          </p:cNvSpPr>
          <p:nvPr>
            <p:ph type="sldNum" sz="quarter" idx="12"/>
          </p:nvPr>
        </p:nvSpPr>
        <p:spPr/>
        <p:txBody>
          <a:bodyPr/>
          <a:lstStyle/>
          <a:p>
            <a:fld id="{6B97D948-30E8-43F7-AE10-F6E2D9F2BBB1}" type="slidenum">
              <a:rPr lang="en-US" smtClean="0"/>
              <a:t>129</a:t>
            </a:fld>
            <a:endParaRPr lang="en-US"/>
          </a:p>
        </p:txBody>
      </p:sp>
    </p:spTree>
    <p:extLst>
      <p:ext uri="{BB962C8B-B14F-4D97-AF65-F5344CB8AC3E}">
        <p14:creationId xmlns:p14="http://schemas.microsoft.com/office/powerpoint/2010/main" val="21823535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C9A7C1E-91FE-477D-A91E-5F7BE39FCB97}"/>
              </a:ext>
            </a:extLst>
          </p:cNvPr>
          <p:cNvPicPr>
            <a:picLocks noGrp="1" noChangeAspect="1"/>
          </p:cNvPicPr>
          <p:nvPr>
            <p:ph idx="1"/>
          </p:nvPr>
        </p:nvPicPr>
        <p:blipFill>
          <a:blip r:embed="rId2"/>
          <a:stretch>
            <a:fillRect/>
          </a:stretch>
        </p:blipFill>
        <p:spPr>
          <a:xfrm>
            <a:off x="942903" y="1219200"/>
            <a:ext cx="10410096" cy="4957763"/>
          </a:xfrm>
          <a:prstGeom prst="rect">
            <a:avLst/>
          </a:prstGeom>
        </p:spPr>
      </p:pic>
      <p:sp>
        <p:nvSpPr>
          <p:cNvPr id="3" name="Slide Number Placeholder 2">
            <a:extLst>
              <a:ext uri="{FF2B5EF4-FFF2-40B4-BE49-F238E27FC236}">
                <a16:creationId xmlns:a16="http://schemas.microsoft.com/office/drawing/2014/main" id="{E21AB2B9-F06C-4F8C-88DA-05943C52F975}"/>
              </a:ext>
            </a:extLst>
          </p:cNvPr>
          <p:cNvSpPr>
            <a:spLocks noGrp="1"/>
          </p:cNvSpPr>
          <p:nvPr>
            <p:ph type="sldNum" sz="quarter" idx="12"/>
          </p:nvPr>
        </p:nvSpPr>
        <p:spPr/>
        <p:txBody>
          <a:bodyPr/>
          <a:lstStyle/>
          <a:p>
            <a:fld id="{6B97D948-30E8-43F7-AE10-F6E2D9F2BBB1}" type="slidenum">
              <a:rPr lang="en-US" smtClean="0"/>
              <a:t>130</a:t>
            </a:fld>
            <a:endParaRPr lang="en-US"/>
          </a:p>
        </p:txBody>
      </p:sp>
    </p:spTree>
    <p:extLst>
      <p:ext uri="{BB962C8B-B14F-4D97-AF65-F5344CB8AC3E}">
        <p14:creationId xmlns:p14="http://schemas.microsoft.com/office/powerpoint/2010/main" val="4866125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9F46BC-A9C5-4F46-8973-63526A3BE945}"/>
              </a:ext>
            </a:extLst>
          </p:cNvPr>
          <p:cNvSpPr>
            <a:spLocks noGrp="1"/>
          </p:cNvSpPr>
          <p:nvPr>
            <p:ph idx="1"/>
          </p:nvPr>
        </p:nvSpPr>
        <p:spPr>
          <a:xfrm>
            <a:off x="838200" y="474133"/>
            <a:ext cx="10515600" cy="5702830"/>
          </a:xfrm>
        </p:spPr>
        <p:txBody>
          <a:bodyPr/>
          <a:lstStyle/>
          <a:p>
            <a:pPr algn="just"/>
            <a:r>
              <a:rPr lang="en-US" dirty="0"/>
              <a:t> </a:t>
            </a:r>
            <a:r>
              <a:rPr lang="en-US" dirty="0" err="1"/>
              <a:t>DataFrame</a:t>
            </a:r>
            <a:r>
              <a:rPr lang="en-US" dirty="0"/>
              <a:t> is a two-dimensional object – it contains both rows and columns. </a:t>
            </a:r>
          </a:p>
          <a:p>
            <a:pPr algn="just"/>
            <a:endParaRPr lang="en-US" dirty="0"/>
          </a:p>
          <a:p>
            <a:pPr algn="just"/>
            <a:r>
              <a:rPr lang="en-US" dirty="0"/>
              <a:t>The Series above is a singular column of this </a:t>
            </a:r>
            <a:r>
              <a:rPr lang="en-US" dirty="0" err="1"/>
              <a:t>DataFrame</a:t>
            </a:r>
            <a:r>
              <a:rPr lang="en-US" dirty="0"/>
              <a:t>, namely, the Result column. </a:t>
            </a:r>
          </a:p>
          <a:p>
            <a:pPr algn="just"/>
            <a:endParaRPr lang="en-US" dirty="0"/>
          </a:p>
          <a:p>
            <a:pPr algn="just"/>
            <a:r>
              <a:rPr lang="en-US" dirty="0"/>
              <a:t>Both contain an Index, or a shared list of row labels (here, the integers from 0 to 4, inclusive).</a:t>
            </a:r>
          </a:p>
        </p:txBody>
      </p:sp>
      <p:sp>
        <p:nvSpPr>
          <p:cNvPr id="4" name="Slide Number Placeholder 3">
            <a:extLst>
              <a:ext uri="{FF2B5EF4-FFF2-40B4-BE49-F238E27FC236}">
                <a16:creationId xmlns:a16="http://schemas.microsoft.com/office/drawing/2014/main" id="{36FB4E76-826C-46B0-90BE-517ADCD369E3}"/>
              </a:ext>
            </a:extLst>
          </p:cNvPr>
          <p:cNvSpPr>
            <a:spLocks noGrp="1"/>
          </p:cNvSpPr>
          <p:nvPr>
            <p:ph type="sldNum" sz="quarter" idx="12"/>
          </p:nvPr>
        </p:nvSpPr>
        <p:spPr/>
        <p:txBody>
          <a:bodyPr/>
          <a:lstStyle/>
          <a:p>
            <a:fld id="{6B97D948-30E8-43F7-AE10-F6E2D9F2BBB1}" type="slidenum">
              <a:rPr lang="en-US" smtClean="0"/>
              <a:t>131</a:t>
            </a:fld>
            <a:endParaRPr lang="en-US"/>
          </a:p>
        </p:txBody>
      </p:sp>
    </p:spTree>
    <p:extLst>
      <p:ext uri="{BB962C8B-B14F-4D97-AF65-F5344CB8AC3E}">
        <p14:creationId xmlns:p14="http://schemas.microsoft.com/office/powerpoint/2010/main" val="35224139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5FF8B-FB13-4694-A5B4-53AEDB3FA21B}"/>
              </a:ext>
            </a:extLst>
          </p:cNvPr>
          <p:cNvSpPr>
            <a:spLocks noGrp="1"/>
          </p:cNvSpPr>
          <p:nvPr>
            <p:ph type="title"/>
          </p:nvPr>
        </p:nvSpPr>
        <p:spPr>
          <a:xfrm>
            <a:off x="838200" y="365125"/>
            <a:ext cx="10515600" cy="549275"/>
          </a:xfrm>
        </p:spPr>
        <p:txBody>
          <a:bodyPr>
            <a:normAutofit fontScale="90000"/>
          </a:bodyPr>
          <a:lstStyle/>
          <a:p>
            <a:r>
              <a:rPr lang="en-US" dirty="0"/>
              <a:t>Series</a:t>
            </a:r>
          </a:p>
        </p:txBody>
      </p:sp>
      <p:sp>
        <p:nvSpPr>
          <p:cNvPr id="3" name="Content Placeholder 2">
            <a:extLst>
              <a:ext uri="{FF2B5EF4-FFF2-40B4-BE49-F238E27FC236}">
                <a16:creationId xmlns:a16="http://schemas.microsoft.com/office/drawing/2014/main" id="{FFBB35DD-0398-4998-AE9A-A909127DAAD3}"/>
              </a:ext>
            </a:extLst>
          </p:cNvPr>
          <p:cNvSpPr>
            <a:spLocks noGrp="1"/>
          </p:cNvSpPr>
          <p:nvPr>
            <p:ph idx="1"/>
          </p:nvPr>
        </p:nvSpPr>
        <p:spPr>
          <a:xfrm>
            <a:off x="838200" y="914400"/>
            <a:ext cx="10515600" cy="5262563"/>
          </a:xfrm>
        </p:spPr>
        <p:txBody>
          <a:bodyPr>
            <a:normAutofit fontScale="85000" lnSpcReduction="20000"/>
          </a:bodyPr>
          <a:lstStyle/>
          <a:p>
            <a:r>
              <a:rPr lang="en-US" dirty="0"/>
              <a:t>A Series represents a column of a </a:t>
            </a:r>
            <a:r>
              <a:rPr lang="en-US" dirty="0" err="1"/>
              <a:t>DataFrame</a:t>
            </a:r>
            <a:r>
              <a:rPr lang="en-US" dirty="0"/>
              <a:t>.</a:t>
            </a:r>
          </a:p>
          <a:p>
            <a:endParaRPr lang="en-US" dirty="0"/>
          </a:p>
          <a:p>
            <a:r>
              <a:rPr lang="en-US" dirty="0"/>
              <a:t>It can be any 1-dimensional array-like object containing values of the same type with associated data labels, called its index. </a:t>
            </a:r>
          </a:p>
          <a:p>
            <a:endParaRPr lang="en-US" dirty="0"/>
          </a:p>
          <a:p>
            <a:r>
              <a:rPr lang="en-US" dirty="0"/>
              <a:t>Let’s create a Series named </a:t>
            </a:r>
            <a:r>
              <a:rPr lang="en-US" dirty="0">
                <a:solidFill>
                  <a:srgbClr val="FF0000"/>
                </a:solidFill>
              </a:rPr>
              <a:t>s</a:t>
            </a:r>
            <a:r>
              <a:rPr lang="en-US" dirty="0"/>
              <a:t>.</a:t>
            </a:r>
          </a:p>
          <a:p>
            <a:r>
              <a:rPr lang="en-US" dirty="0"/>
              <a:t> </a:t>
            </a:r>
            <a:r>
              <a:rPr lang="en-US" dirty="0">
                <a:solidFill>
                  <a:srgbClr val="FF0000"/>
                </a:solidFill>
              </a:rPr>
              <a:t>s = </a:t>
            </a:r>
            <a:r>
              <a:rPr lang="en-US" dirty="0" err="1">
                <a:solidFill>
                  <a:srgbClr val="FF0000"/>
                </a:solidFill>
              </a:rPr>
              <a:t>pd.Series</a:t>
            </a:r>
            <a:r>
              <a:rPr lang="en-US" dirty="0">
                <a:solidFill>
                  <a:srgbClr val="FF0000"/>
                </a:solidFill>
              </a:rPr>
              <a:t>([-1, 10, 2])</a:t>
            </a:r>
          </a:p>
          <a:p>
            <a:endParaRPr lang="en-US" dirty="0">
              <a:solidFill>
                <a:srgbClr val="FF0000"/>
              </a:solidFill>
            </a:endParaRPr>
          </a:p>
          <a:p>
            <a:r>
              <a:rPr lang="en-US" dirty="0">
                <a:solidFill>
                  <a:srgbClr val="FF0000"/>
                </a:solidFill>
              </a:rPr>
              <a:t> s</a:t>
            </a:r>
          </a:p>
          <a:p>
            <a:r>
              <a:rPr lang="en-US" dirty="0">
                <a:solidFill>
                  <a:srgbClr val="FF0000"/>
                </a:solidFill>
              </a:rPr>
              <a:t> </a:t>
            </a:r>
            <a:r>
              <a:rPr lang="en-US" dirty="0" err="1">
                <a:solidFill>
                  <a:srgbClr val="FF0000"/>
                </a:solidFill>
              </a:rPr>
              <a:t>s.values</a:t>
            </a:r>
            <a:endParaRPr lang="en-US" dirty="0">
              <a:solidFill>
                <a:srgbClr val="FF0000"/>
              </a:solidFill>
            </a:endParaRPr>
          </a:p>
          <a:p>
            <a:r>
              <a:rPr lang="en-US" dirty="0"/>
              <a:t>array([-1, 10,  2], </a:t>
            </a:r>
            <a:r>
              <a:rPr lang="en-US" dirty="0" err="1"/>
              <a:t>dtype</a:t>
            </a:r>
            <a:r>
              <a:rPr lang="en-US" dirty="0"/>
              <a:t>=int64)</a:t>
            </a:r>
          </a:p>
          <a:p>
            <a:endParaRPr lang="en-US" dirty="0">
              <a:solidFill>
                <a:srgbClr val="FF0000"/>
              </a:solidFill>
            </a:endParaRPr>
          </a:p>
          <a:p>
            <a:r>
              <a:rPr lang="en-US" dirty="0" err="1">
                <a:solidFill>
                  <a:srgbClr val="FF0000"/>
                </a:solidFill>
              </a:rPr>
              <a:t>s.index</a:t>
            </a:r>
            <a:endParaRPr lang="en-US" dirty="0">
              <a:solidFill>
                <a:srgbClr val="FF0000"/>
              </a:solidFill>
            </a:endParaRPr>
          </a:p>
          <a:p>
            <a:r>
              <a:rPr lang="en-US" dirty="0"/>
              <a:t>Out[14]: </a:t>
            </a:r>
            <a:r>
              <a:rPr lang="en-US" dirty="0" err="1"/>
              <a:t>RangeIndex</a:t>
            </a:r>
            <a:r>
              <a:rPr lang="en-US" dirty="0"/>
              <a:t>(start=0, stop=3, step=1)</a:t>
            </a:r>
          </a:p>
          <a:p>
            <a:endParaRPr lang="en-US" dirty="0">
              <a:solidFill>
                <a:srgbClr val="FF0000"/>
              </a:solidFill>
            </a:endParaRPr>
          </a:p>
          <a:p>
            <a:endParaRPr lang="en-US" dirty="0"/>
          </a:p>
          <a:p>
            <a:endParaRPr lang="en-US" dirty="0"/>
          </a:p>
        </p:txBody>
      </p:sp>
      <p:sp>
        <p:nvSpPr>
          <p:cNvPr id="5" name="Slide Number Placeholder 4">
            <a:extLst>
              <a:ext uri="{FF2B5EF4-FFF2-40B4-BE49-F238E27FC236}">
                <a16:creationId xmlns:a16="http://schemas.microsoft.com/office/drawing/2014/main" id="{0BDC2D23-F6EE-4B9F-B6DE-0D11D259AE3C}"/>
              </a:ext>
            </a:extLst>
          </p:cNvPr>
          <p:cNvSpPr>
            <a:spLocks noGrp="1"/>
          </p:cNvSpPr>
          <p:nvPr>
            <p:ph type="sldNum" sz="quarter" idx="12"/>
          </p:nvPr>
        </p:nvSpPr>
        <p:spPr/>
        <p:txBody>
          <a:bodyPr/>
          <a:lstStyle/>
          <a:p>
            <a:fld id="{6B97D948-30E8-43F7-AE10-F6E2D9F2BBB1}" type="slidenum">
              <a:rPr lang="en-US" smtClean="0"/>
              <a:t>132</a:t>
            </a:fld>
            <a:endParaRPr lang="en-US"/>
          </a:p>
        </p:txBody>
      </p:sp>
    </p:spTree>
    <p:extLst>
      <p:ext uri="{BB962C8B-B14F-4D97-AF65-F5344CB8AC3E}">
        <p14:creationId xmlns:p14="http://schemas.microsoft.com/office/powerpoint/2010/main" val="20358470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56BA57-3A08-4C06-95F6-F22C56DD7FEF}"/>
              </a:ext>
            </a:extLst>
          </p:cNvPr>
          <p:cNvSpPr>
            <a:spLocks noGrp="1"/>
          </p:cNvSpPr>
          <p:nvPr>
            <p:ph idx="1"/>
          </p:nvPr>
        </p:nvSpPr>
        <p:spPr>
          <a:xfrm>
            <a:off x="838200" y="485422"/>
            <a:ext cx="10515600" cy="5691541"/>
          </a:xfrm>
        </p:spPr>
        <p:txBody>
          <a:bodyPr/>
          <a:lstStyle/>
          <a:p>
            <a:pPr algn="just"/>
            <a:r>
              <a:rPr lang="en-US" dirty="0"/>
              <a:t>By default, the Index of a Series is a sequential list of integers beginning from 0. </a:t>
            </a:r>
          </a:p>
          <a:p>
            <a:pPr algn="just"/>
            <a:endParaRPr lang="en-US" dirty="0"/>
          </a:p>
          <a:p>
            <a:pPr algn="just"/>
            <a:r>
              <a:rPr lang="en-US" dirty="0"/>
              <a:t>Optionally, a manually-specified list of desired indices can be passed to the index argument.</a:t>
            </a:r>
          </a:p>
          <a:p>
            <a:pPr algn="just"/>
            <a:r>
              <a:rPr lang="en-US" dirty="0">
                <a:solidFill>
                  <a:srgbClr val="FF0000"/>
                </a:solidFill>
              </a:rPr>
              <a:t>s = </a:t>
            </a:r>
            <a:r>
              <a:rPr lang="en-US" dirty="0" err="1">
                <a:solidFill>
                  <a:srgbClr val="FF0000"/>
                </a:solidFill>
              </a:rPr>
              <a:t>pd.Series</a:t>
            </a:r>
            <a:r>
              <a:rPr lang="en-US" dirty="0">
                <a:solidFill>
                  <a:srgbClr val="FF0000"/>
                </a:solidFill>
              </a:rPr>
              <a:t>([-1, 10, 2], index = [‘a’, ‘b’, ‘c’])</a:t>
            </a:r>
          </a:p>
          <a:p>
            <a:pPr algn="just"/>
            <a:r>
              <a:rPr lang="en-US" dirty="0">
                <a:solidFill>
                  <a:srgbClr val="FF0000"/>
                </a:solidFill>
              </a:rPr>
              <a:t>s</a:t>
            </a:r>
          </a:p>
          <a:p>
            <a:pPr algn="just"/>
            <a:r>
              <a:rPr lang="en-US" dirty="0"/>
              <a:t>Indices can also be changed after initialization.</a:t>
            </a:r>
          </a:p>
          <a:p>
            <a:pPr algn="just"/>
            <a:r>
              <a:rPr lang="en-US" dirty="0"/>
              <a:t> </a:t>
            </a:r>
            <a:r>
              <a:rPr lang="en-US" dirty="0" err="1">
                <a:solidFill>
                  <a:srgbClr val="FF0000"/>
                </a:solidFill>
              </a:rPr>
              <a:t>s.index</a:t>
            </a:r>
            <a:r>
              <a:rPr lang="en-US" dirty="0">
                <a:solidFill>
                  <a:srgbClr val="FF0000"/>
                </a:solidFill>
              </a:rPr>
              <a:t> = [‘first’, ‘second’, ‘third’]</a:t>
            </a:r>
          </a:p>
          <a:p>
            <a:pPr algn="just"/>
            <a:r>
              <a:rPr lang="en-US" dirty="0">
                <a:solidFill>
                  <a:srgbClr val="FF0000"/>
                </a:solidFill>
              </a:rPr>
              <a:t> s</a:t>
            </a:r>
          </a:p>
        </p:txBody>
      </p:sp>
      <p:sp>
        <p:nvSpPr>
          <p:cNvPr id="4" name="Slide Number Placeholder 3">
            <a:extLst>
              <a:ext uri="{FF2B5EF4-FFF2-40B4-BE49-F238E27FC236}">
                <a16:creationId xmlns:a16="http://schemas.microsoft.com/office/drawing/2014/main" id="{304BC8A7-E825-439C-9984-5D2D338AB98D}"/>
              </a:ext>
            </a:extLst>
          </p:cNvPr>
          <p:cNvSpPr>
            <a:spLocks noGrp="1"/>
          </p:cNvSpPr>
          <p:nvPr>
            <p:ph type="sldNum" sz="quarter" idx="12"/>
          </p:nvPr>
        </p:nvSpPr>
        <p:spPr/>
        <p:txBody>
          <a:bodyPr/>
          <a:lstStyle/>
          <a:p>
            <a:fld id="{6B97D948-30E8-43F7-AE10-F6E2D9F2BBB1}" type="slidenum">
              <a:rPr lang="en-US" smtClean="0"/>
              <a:t>133</a:t>
            </a:fld>
            <a:endParaRPr lang="en-US"/>
          </a:p>
        </p:txBody>
      </p:sp>
    </p:spTree>
    <p:extLst>
      <p:ext uri="{BB962C8B-B14F-4D97-AF65-F5344CB8AC3E}">
        <p14:creationId xmlns:p14="http://schemas.microsoft.com/office/powerpoint/2010/main" val="221054588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D2E1-5D3F-49F9-AC38-FD4C5821B6E4}"/>
              </a:ext>
            </a:extLst>
          </p:cNvPr>
          <p:cNvSpPr>
            <a:spLocks noGrp="1"/>
          </p:cNvSpPr>
          <p:nvPr>
            <p:ph type="title"/>
          </p:nvPr>
        </p:nvSpPr>
        <p:spPr>
          <a:xfrm>
            <a:off x="838200" y="365125"/>
            <a:ext cx="10515600" cy="549275"/>
          </a:xfrm>
        </p:spPr>
        <p:txBody>
          <a:bodyPr>
            <a:normAutofit fontScale="90000"/>
          </a:bodyPr>
          <a:lstStyle/>
          <a:p>
            <a:r>
              <a:rPr lang="en-US" dirty="0"/>
              <a:t>Selection in Series</a:t>
            </a:r>
          </a:p>
        </p:txBody>
      </p:sp>
      <p:sp>
        <p:nvSpPr>
          <p:cNvPr id="3" name="Content Placeholder 2">
            <a:extLst>
              <a:ext uri="{FF2B5EF4-FFF2-40B4-BE49-F238E27FC236}">
                <a16:creationId xmlns:a16="http://schemas.microsoft.com/office/drawing/2014/main" id="{5E2BE97E-E019-4C3A-A760-63EE3A06F4F7}"/>
              </a:ext>
            </a:extLst>
          </p:cNvPr>
          <p:cNvSpPr>
            <a:spLocks noGrp="1"/>
          </p:cNvSpPr>
          <p:nvPr>
            <p:ph idx="1"/>
          </p:nvPr>
        </p:nvSpPr>
        <p:spPr>
          <a:xfrm>
            <a:off x="838200" y="914400"/>
            <a:ext cx="10515600" cy="5262563"/>
          </a:xfrm>
        </p:spPr>
        <p:txBody>
          <a:bodyPr/>
          <a:lstStyle/>
          <a:p>
            <a:pPr algn="just"/>
            <a:r>
              <a:rPr lang="en-US" dirty="0"/>
              <a:t>There are 3 primary methods of selecting data.</a:t>
            </a:r>
          </a:p>
          <a:p>
            <a:r>
              <a:rPr lang="en-US" dirty="0"/>
              <a:t>    A single index label</a:t>
            </a:r>
          </a:p>
          <a:p>
            <a:r>
              <a:rPr lang="en-US" dirty="0"/>
              <a:t>    A list of index labels</a:t>
            </a:r>
          </a:p>
          <a:p>
            <a:r>
              <a:rPr lang="en-US" dirty="0"/>
              <a:t>    A filtering condition</a:t>
            </a:r>
          </a:p>
          <a:p>
            <a:r>
              <a:rPr lang="en-US" dirty="0"/>
              <a:t>To demonstrate this, let’s define the Series ser.</a:t>
            </a:r>
          </a:p>
          <a:p>
            <a:endParaRPr lang="en-US" dirty="0"/>
          </a:p>
          <a:p>
            <a:r>
              <a:rPr lang="en-US" dirty="0">
                <a:solidFill>
                  <a:srgbClr val="FF0000"/>
                </a:solidFill>
              </a:rPr>
              <a:t>ser = </a:t>
            </a:r>
            <a:r>
              <a:rPr lang="en-US" dirty="0" err="1">
                <a:solidFill>
                  <a:srgbClr val="FF0000"/>
                </a:solidFill>
              </a:rPr>
              <a:t>pd.Series</a:t>
            </a:r>
            <a:r>
              <a:rPr lang="en-US" dirty="0">
                <a:solidFill>
                  <a:srgbClr val="FF0000"/>
                </a:solidFill>
              </a:rPr>
              <a:t>([4, -2, 0, 6], index = ["a", "b", "c", "d"])</a:t>
            </a:r>
          </a:p>
          <a:p>
            <a:r>
              <a:rPr lang="en-US" dirty="0">
                <a:solidFill>
                  <a:srgbClr val="FF0000"/>
                </a:solidFill>
              </a:rPr>
              <a:t>ser</a:t>
            </a:r>
          </a:p>
        </p:txBody>
      </p:sp>
      <p:sp>
        <p:nvSpPr>
          <p:cNvPr id="5" name="Slide Number Placeholder 4">
            <a:extLst>
              <a:ext uri="{FF2B5EF4-FFF2-40B4-BE49-F238E27FC236}">
                <a16:creationId xmlns:a16="http://schemas.microsoft.com/office/drawing/2014/main" id="{19F3B35D-C53E-414E-A150-24C448EEE1D4}"/>
              </a:ext>
            </a:extLst>
          </p:cNvPr>
          <p:cNvSpPr>
            <a:spLocks noGrp="1"/>
          </p:cNvSpPr>
          <p:nvPr>
            <p:ph type="sldNum" sz="quarter" idx="12"/>
          </p:nvPr>
        </p:nvSpPr>
        <p:spPr/>
        <p:txBody>
          <a:bodyPr/>
          <a:lstStyle/>
          <a:p>
            <a:fld id="{6B97D948-30E8-43F7-AE10-F6E2D9F2BBB1}" type="slidenum">
              <a:rPr lang="en-US" smtClean="0"/>
              <a:t>134</a:t>
            </a:fld>
            <a:endParaRPr lang="en-US"/>
          </a:p>
        </p:txBody>
      </p:sp>
    </p:spTree>
    <p:extLst>
      <p:ext uri="{BB962C8B-B14F-4D97-AF65-F5344CB8AC3E}">
        <p14:creationId xmlns:p14="http://schemas.microsoft.com/office/powerpoint/2010/main" val="12269613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880E36-E572-4F81-88EC-05046C5F89D2}"/>
              </a:ext>
            </a:extLst>
          </p:cNvPr>
          <p:cNvSpPr>
            <a:spLocks noGrp="1"/>
          </p:cNvSpPr>
          <p:nvPr>
            <p:ph idx="1"/>
          </p:nvPr>
        </p:nvSpPr>
        <p:spPr>
          <a:xfrm>
            <a:off x="838200" y="395111"/>
            <a:ext cx="10515600" cy="5781852"/>
          </a:xfrm>
        </p:spPr>
        <p:txBody>
          <a:bodyPr>
            <a:normAutofit fontScale="92500" lnSpcReduction="20000"/>
          </a:bodyPr>
          <a:lstStyle/>
          <a:p>
            <a:pPr algn="just"/>
            <a:r>
              <a:rPr lang="en-US" b="1" dirty="0"/>
              <a:t>A Single Index Label</a:t>
            </a:r>
          </a:p>
          <a:p>
            <a:pPr algn="just"/>
            <a:endParaRPr lang="en-US" dirty="0"/>
          </a:p>
          <a:p>
            <a:pPr algn="just"/>
            <a:r>
              <a:rPr lang="en-US" dirty="0">
                <a:solidFill>
                  <a:srgbClr val="FF0000"/>
                </a:solidFill>
              </a:rPr>
              <a:t>ser[‘a’] </a:t>
            </a:r>
            <a:r>
              <a:rPr lang="en-US" dirty="0"/>
              <a:t># We return the value stored at the Index label "a“</a:t>
            </a:r>
          </a:p>
          <a:p>
            <a:pPr algn="just"/>
            <a:r>
              <a:rPr lang="en-US" b="1" dirty="0"/>
              <a:t>A List of Index Labels</a:t>
            </a:r>
          </a:p>
          <a:p>
            <a:pPr algn="just"/>
            <a:endParaRPr lang="en-US" dirty="0"/>
          </a:p>
          <a:p>
            <a:pPr algn="just"/>
            <a:r>
              <a:rPr lang="en-US" dirty="0">
                <a:solidFill>
                  <a:srgbClr val="FF0000"/>
                </a:solidFill>
              </a:rPr>
              <a:t>ser[[‘a’, ‘c’]] </a:t>
            </a:r>
            <a:r>
              <a:rPr lang="en-US" dirty="0"/>
              <a:t># We return a *Series* of the values stored at labels "a" and "c“</a:t>
            </a:r>
          </a:p>
          <a:p>
            <a:pPr algn="just"/>
            <a:r>
              <a:rPr lang="en-US" dirty="0"/>
              <a:t> </a:t>
            </a:r>
            <a:r>
              <a:rPr lang="en-US" b="1" dirty="0"/>
              <a:t>A Filtering Condition</a:t>
            </a:r>
          </a:p>
          <a:p>
            <a:pPr algn="just"/>
            <a:endParaRPr lang="en-US" dirty="0"/>
          </a:p>
          <a:p>
            <a:pPr algn="just"/>
            <a:r>
              <a:rPr lang="en-US" dirty="0"/>
              <a:t>Perhaps the most interesting (and useful) method of selecting data from a Series is with a filtering condition.</a:t>
            </a:r>
          </a:p>
          <a:p>
            <a:pPr algn="just"/>
            <a:endParaRPr lang="en-US" dirty="0"/>
          </a:p>
          <a:p>
            <a:pPr algn="just"/>
            <a:r>
              <a:rPr lang="en-US" dirty="0"/>
              <a:t>First, we apply a </a:t>
            </a:r>
            <a:r>
              <a:rPr lang="en-US" dirty="0" err="1"/>
              <a:t>boolean</a:t>
            </a:r>
            <a:r>
              <a:rPr lang="en-US" dirty="0"/>
              <a:t> condition to the Series. This create a new Series of </a:t>
            </a:r>
            <a:r>
              <a:rPr lang="en-US" dirty="0" err="1"/>
              <a:t>boolean</a:t>
            </a:r>
            <a:r>
              <a:rPr lang="en-US" dirty="0"/>
              <a:t> values.</a:t>
            </a:r>
          </a:p>
        </p:txBody>
      </p:sp>
      <p:sp>
        <p:nvSpPr>
          <p:cNvPr id="4" name="Slide Number Placeholder 3">
            <a:extLst>
              <a:ext uri="{FF2B5EF4-FFF2-40B4-BE49-F238E27FC236}">
                <a16:creationId xmlns:a16="http://schemas.microsoft.com/office/drawing/2014/main" id="{E94C649C-73A7-4F74-B23A-0BCBC4FD5F46}"/>
              </a:ext>
            </a:extLst>
          </p:cNvPr>
          <p:cNvSpPr>
            <a:spLocks noGrp="1"/>
          </p:cNvSpPr>
          <p:nvPr>
            <p:ph type="sldNum" sz="quarter" idx="12"/>
          </p:nvPr>
        </p:nvSpPr>
        <p:spPr/>
        <p:txBody>
          <a:bodyPr/>
          <a:lstStyle/>
          <a:p>
            <a:fld id="{6B97D948-30E8-43F7-AE10-F6E2D9F2BBB1}" type="slidenum">
              <a:rPr lang="en-US" smtClean="0"/>
              <a:t>135</a:t>
            </a:fld>
            <a:endParaRPr lang="en-US"/>
          </a:p>
        </p:txBody>
      </p:sp>
    </p:spTree>
    <p:extLst>
      <p:ext uri="{BB962C8B-B14F-4D97-AF65-F5344CB8AC3E}">
        <p14:creationId xmlns:p14="http://schemas.microsoft.com/office/powerpoint/2010/main" val="108957824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50126-2540-408D-8070-4ED23347DE7C}"/>
              </a:ext>
            </a:extLst>
          </p:cNvPr>
          <p:cNvSpPr>
            <a:spLocks noGrp="1"/>
          </p:cNvSpPr>
          <p:nvPr>
            <p:ph idx="1"/>
          </p:nvPr>
        </p:nvSpPr>
        <p:spPr>
          <a:xfrm>
            <a:off x="838200" y="474133"/>
            <a:ext cx="10515600" cy="5702830"/>
          </a:xfrm>
        </p:spPr>
        <p:txBody>
          <a:bodyPr/>
          <a:lstStyle/>
          <a:p>
            <a:r>
              <a:rPr lang="en-US" dirty="0"/>
              <a:t> </a:t>
            </a:r>
            <a:r>
              <a:rPr lang="en-US" dirty="0">
                <a:solidFill>
                  <a:srgbClr val="FF0000"/>
                </a:solidFill>
              </a:rPr>
              <a:t>ser &gt; 0 </a:t>
            </a:r>
            <a:r>
              <a:rPr lang="en-US" dirty="0"/>
              <a:t># Filter condition: select all elements greater than 0</a:t>
            </a:r>
          </a:p>
          <a:p>
            <a:r>
              <a:rPr lang="en-US" dirty="0"/>
              <a:t>Out[22]:</a:t>
            </a:r>
          </a:p>
          <a:p>
            <a:r>
              <a:rPr lang="en-US" dirty="0"/>
              <a:t>a     True</a:t>
            </a:r>
          </a:p>
          <a:p>
            <a:r>
              <a:rPr lang="en-US" dirty="0"/>
              <a:t>b    False</a:t>
            </a:r>
          </a:p>
          <a:p>
            <a:r>
              <a:rPr lang="en-US" dirty="0"/>
              <a:t>c    False</a:t>
            </a:r>
          </a:p>
          <a:p>
            <a:r>
              <a:rPr lang="en-US" dirty="0"/>
              <a:t>d     True</a:t>
            </a:r>
          </a:p>
          <a:p>
            <a:r>
              <a:rPr lang="en-US" dirty="0" err="1"/>
              <a:t>dtype</a:t>
            </a:r>
            <a:r>
              <a:rPr lang="en-US" dirty="0"/>
              <a:t>: bool</a:t>
            </a:r>
          </a:p>
          <a:p>
            <a:pPr algn="just"/>
            <a:r>
              <a:rPr lang="en-US" dirty="0"/>
              <a:t>We then use this </a:t>
            </a:r>
            <a:r>
              <a:rPr lang="en-US" dirty="0" err="1"/>
              <a:t>boolean</a:t>
            </a:r>
            <a:r>
              <a:rPr lang="en-US" dirty="0"/>
              <a:t> condition to index into our original Series. </a:t>
            </a:r>
          </a:p>
          <a:p>
            <a:pPr algn="just"/>
            <a:r>
              <a:rPr lang="en-US" dirty="0"/>
              <a:t>pandas will select only the entries in the original Series that satisfy the condition.</a:t>
            </a:r>
          </a:p>
          <a:p>
            <a:pPr algn="just"/>
            <a:r>
              <a:rPr lang="en-US" dirty="0">
                <a:solidFill>
                  <a:srgbClr val="FF0000"/>
                </a:solidFill>
              </a:rPr>
              <a:t>ser[ser &gt; 0] </a:t>
            </a:r>
          </a:p>
        </p:txBody>
      </p:sp>
      <p:sp>
        <p:nvSpPr>
          <p:cNvPr id="4" name="Slide Number Placeholder 3">
            <a:extLst>
              <a:ext uri="{FF2B5EF4-FFF2-40B4-BE49-F238E27FC236}">
                <a16:creationId xmlns:a16="http://schemas.microsoft.com/office/drawing/2014/main" id="{323CBA75-F991-4F5B-971A-9FB4C067E442}"/>
              </a:ext>
            </a:extLst>
          </p:cNvPr>
          <p:cNvSpPr>
            <a:spLocks noGrp="1"/>
          </p:cNvSpPr>
          <p:nvPr>
            <p:ph type="sldNum" sz="quarter" idx="12"/>
          </p:nvPr>
        </p:nvSpPr>
        <p:spPr/>
        <p:txBody>
          <a:bodyPr/>
          <a:lstStyle/>
          <a:p>
            <a:fld id="{6B97D948-30E8-43F7-AE10-F6E2D9F2BBB1}" type="slidenum">
              <a:rPr lang="en-US" smtClean="0"/>
              <a:t>136</a:t>
            </a:fld>
            <a:endParaRPr lang="en-US"/>
          </a:p>
        </p:txBody>
      </p:sp>
    </p:spTree>
    <p:extLst>
      <p:ext uri="{BB962C8B-B14F-4D97-AF65-F5344CB8AC3E}">
        <p14:creationId xmlns:p14="http://schemas.microsoft.com/office/powerpoint/2010/main" val="384254401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24514-BC3D-4E60-BFA0-A5979468F4CC}"/>
              </a:ext>
            </a:extLst>
          </p:cNvPr>
          <p:cNvSpPr>
            <a:spLocks noGrp="1"/>
          </p:cNvSpPr>
          <p:nvPr>
            <p:ph type="title"/>
          </p:nvPr>
        </p:nvSpPr>
        <p:spPr>
          <a:xfrm>
            <a:off x="838200" y="365125"/>
            <a:ext cx="10515600" cy="571853"/>
          </a:xfrm>
        </p:spPr>
        <p:txBody>
          <a:bodyPr>
            <a:normAutofit fontScale="90000"/>
          </a:bodyPr>
          <a:lstStyle/>
          <a:p>
            <a:r>
              <a:rPr lang="en-US" dirty="0" err="1"/>
              <a:t>DataFrames</a:t>
            </a:r>
            <a:endParaRPr lang="en-US" dirty="0"/>
          </a:p>
        </p:txBody>
      </p:sp>
      <p:sp>
        <p:nvSpPr>
          <p:cNvPr id="3" name="Content Placeholder 2">
            <a:extLst>
              <a:ext uri="{FF2B5EF4-FFF2-40B4-BE49-F238E27FC236}">
                <a16:creationId xmlns:a16="http://schemas.microsoft.com/office/drawing/2014/main" id="{18840ECB-BB5E-4AF9-B004-E7E009FE72DF}"/>
              </a:ext>
            </a:extLst>
          </p:cNvPr>
          <p:cNvSpPr>
            <a:spLocks noGrp="1"/>
          </p:cNvSpPr>
          <p:nvPr>
            <p:ph idx="1"/>
          </p:nvPr>
        </p:nvSpPr>
        <p:spPr>
          <a:xfrm>
            <a:off x="838200" y="936978"/>
            <a:ext cx="10515600" cy="5239985"/>
          </a:xfrm>
        </p:spPr>
        <p:txBody>
          <a:bodyPr>
            <a:normAutofit fontScale="92500" lnSpcReduction="10000"/>
          </a:bodyPr>
          <a:lstStyle/>
          <a:p>
            <a:pPr algn="just"/>
            <a:r>
              <a:rPr lang="en-US" dirty="0"/>
              <a:t>With our new understanding of pandas series in hand, let’s return to the elections dataset from before. </a:t>
            </a:r>
          </a:p>
          <a:p>
            <a:pPr algn="just"/>
            <a:r>
              <a:rPr lang="en-US" dirty="0"/>
              <a:t>Now, we recognize that it is represented as a pandas </a:t>
            </a:r>
            <a:r>
              <a:rPr lang="en-US" dirty="0" err="1"/>
              <a:t>DataFrame</a:t>
            </a:r>
            <a:r>
              <a:rPr lang="en-US" dirty="0"/>
              <a:t>.</a:t>
            </a:r>
          </a:p>
          <a:p>
            <a:pPr algn="just"/>
            <a:r>
              <a:rPr lang="en-US" dirty="0">
                <a:solidFill>
                  <a:srgbClr val="FF0000"/>
                </a:solidFill>
              </a:rPr>
              <a:t>elections = </a:t>
            </a:r>
            <a:r>
              <a:rPr lang="en-US" dirty="0" err="1">
                <a:solidFill>
                  <a:srgbClr val="FF0000"/>
                </a:solidFill>
              </a:rPr>
              <a:t>pd.read_csv</a:t>
            </a:r>
            <a:r>
              <a:rPr lang="en-US" dirty="0">
                <a:solidFill>
                  <a:srgbClr val="FF0000"/>
                </a:solidFill>
              </a:rPr>
              <a:t>(‘elections.csv’)</a:t>
            </a:r>
          </a:p>
          <a:p>
            <a:pPr algn="just"/>
            <a:r>
              <a:rPr lang="en-US" dirty="0">
                <a:solidFill>
                  <a:srgbClr val="FF0000"/>
                </a:solidFill>
              </a:rPr>
              <a:t>elections</a:t>
            </a:r>
          </a:p>
          <a:p>
            <a:pPr algn="just"/>
            <a:r>
              <a:rPr lang="en-US" dirty="0"/>
              <a:t>Out[25]:</a:t>
            </a:r>
          </a:p>
          <a:p>
            <a:pPr algn="just"/>
            <a:r>
              <a:rPr lang="en-US" dirty="0"/>
              <a:t>     Year          Candidate                  Party  Popular vote Result          %</a:t>
            </a:r>
          </a:p>
          <a:p>
            <a:pPr algn="just"/>
            <a:r>
              <a:rPr lang="en-US" dirty="0"/>
              <a:t>0    1824     Andrew Jackson  Democratic-Republican        151271   loss  57.210122</a:t>
            </a:r>
          </a:p>
          <a:p>
            <a:pPr algn="just"/>
            <a:r>
              <a:rPr lang="en-US" dirty="0"/>
              <a:t>1    1824  John Quincy Adams  Democratic-Republican        113142    win  42.789878</a:t>
            </a:r>
          </a:p>
          <a:p>
            <a:pPr algn="just"/>
            <a:r>
              <a:rPr lang="en-US" dirty="0"/>
              <a:t>2    1828     Andrew Jackson             Democratic        642806    win  56.203927</a:t>
            </a:r>
          </a:p>
        </p:txBody>
      </p:sp>
      <p:sp>
        <p:nvSpPr>
          <p:cNvPr id="5" name="Slide Number Placeholder 4">
            <a:extLst>
              <a:ext uri="{FF2B5EF4-FFF2-40B4-BE49-F238E27FC236}">
                <a16:creationId xmlns:a16="http://schemas.microsoft.com/office/drawing/2014/main" id="{868F6DC4-5B2A-4A31-ADDD-0855782E00BA}"/>
              </a:ext>
            </a:extLst>
          </p:cNvPr>
          <p:cNvSpPr>
            <a:spLocks noGrp="1"/>
          </p:cNvSpPr>
          <p:nvPr>
            <p:ph type="sldNum" sz="quarter" idx="12"/>
          </p:nvPr>
        </p:nvSpPr>
        <p:spPr/>
        <p:txBody>
          <a:bodyPr/>
          <a:lstStyle/>
          <a:p>
            <a:fld id="{6B97D948-30E8-43F7-AE10-F6E2D9F2BBB1}" type="slidenum">
              <a:rPr lang="en-US" smtClean="0"/>
              <a:t>137</a:t>
            </a:fld>
            <a:endParaRPr lang="en-US"/>
          </a:p>
        </p:txBody>
      </p:sp>
    </p:spTree>
    <p:extLst>
      <p:ext uri="{BB962C8B-B14F-4D97-AF65-F5344CB8AC3E}">
        <p14:creationId xmlns:p14="http://schemas.microsoft.com/office/powerpoint/2010/main" val="378387961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81977D-389D-4BEB-943F-DDF76FB6F070}"/>
              </a:ext>
            </a:extLst>
          </p:cNvPr>
          <p:cNvSpPr>
            <a:spLocks noGrp="1"/>
          </p:cNvSpPr>
          <p:nvPr>
            <p:ph idx="1"/>
          </p:nvPr>
        </p:nvSpPr>
        <p:spPr>
          <a:xfrm>
            <a:off x="838200" y="259644"/>
            <a:ext cx="10515600" cy="5917319"/>
          </a:xfrm>
        </p:spPr>
        <p:txBody>
          <a:bodyPr/>
          <a:lstStyle/>
          <a:p>
            <a:pPr algn="just"/>
            <a:r>
              <a:rPr lang="en-US" dirty="0"/>
              <a:t>We see that our elections </a:t>
            </a:r>
            <a:r>
              <a:rPr lang="en-US" dirty="0" err="1"/>
              <a:t>DataFrame</a:t>
            </a:r>
            <a:r>
              <a:rPr lang="en-US" dirty="0"/>
              <a:t> has 182 rows and 6 columns (Year, Candidate, Party, Popular Vote, Result, %). </a:t>
            </a:r>
          </a:p>
          <a:p>
            <a:pPr algn="just"/>
            <a:endParaRPr lang="en-US" dirty="0"/>
          </a:p>
          <a:p>
            <a:pPr algn="just"/>
            <a:r>
              <a:rPr lang="en-US" dirty="0"/>
              <a:t>Each row represents a single record – in our example, a </a:t>
            </a:r>
            <a:r>
              <a:rPr lang="en-US" dirty="0" err="1"/>
              <a:t>presedential</a:t>
            </a:r>
            <a:r>
              <a:rPr lang="en-US" dirty="0"/>
              <a:t> candidate from some particular year. </a:t>
            </a:r>
          </a:p>
          <a:p>
            <a:pPr algn="just"/>
            <a:endParaRPr lang="en-US" dirty="0"/>
          </a:p>
          <a:p>
            <a:pPr algn="just"/>
            <a:r>
              <a:rPr lang="en-US" dirty="0"/>
              <a:t>Each column represents a single attribute, or feature of the record.</a:t>
            </a:r>
          </a:p>
        </p:txBody>
      </p:sp>
      <p:sp>
        <p:nvSpPr>
          <p:cNvPr id="4" name="Slide Number Placeholder 3">
            <a:extLst>
              <a:ext uri="{FF2B5EF4-FFF2-40B4-BE49-F238E27FC236}">
                <a16:creationId xmlns:a16="http://schemas.microsoft.com/office/drawing/2014/main" id="{3589AA0F-8E4F-4DA0-BDAC-C3BE12EE99BF}"/>
              </a:ext>
            </a:extLst>
          </p:cNvPr>
          <p:cNvSpPr>
            <a:spLocks noGrp="1"/>
          </p:cNvSpPr>
          <p:nvPr>
            <p:ph type="sldNum" sz="quarter" idx="12"/>
          </p:nvPr>
        </p:nvSpPr>
        <p:spPr/>
        <p:txBody>
          <a:bodyPr/>
          <a:lstStyle/>
          <a:p>
            <a:fld id="{6B97D948-30E8-43F7-AE10-F6E2D9F2BBB1}" type="slidenum">
              <a:rPr lang="en-US" smtClean="0"/>
              <a:t>138</a:t>
            </a:fld>
            <a:endParaRPr lang="en-US"/>
          </a:p>
        </p:txBody>
      </p:sp>
    </p:spTree>
    <p:extLst>
      <p:ext uri="{BB962C8B-B14F-4D97-AF65-F5344CB8AC3E}">
        <p14:creationId xmlns:p14="http://schemas.microsoft.com/office/powerpoint/2010/main" val="351095401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CD13B-0855-4F75-A5B5-6C9620EDC8EB}"/>
              </a:ext>
            </a:extLst>
          </p:cNvPr>
          <p:cNvSpPr>
            <a:spLocks noGrp="1"/>
          </p:cNvSpPr>
          <p:nvPr>
            <p:ph type="title"/>
          </p:nvPr>
        </p:nvSpPr>
        <p:spPr>
          <a:xfrm>
            <a:off x="838200" y="365125"/>
            <a:ext cx="10515600" cy="605719"/>
          </a:xfrm>
        </p:spPr>
        <p:txBody>
          <a:bodyPr>
            <a:normAutofit fontScale="90000"/>
          </a:bodyPr>
          <a:lstStyle/>
          <a:p>
            <a:r>
              <a:rPr lang="en-US" dirty="0"/>
              <a:t>Creating a </a:t>
            </a:r>
            <a:r>
              <a:rPr lang="en-US" dirty="0" err="1"/>
              <a:t>DataFrame</a:t>
            </a:r>
            <a:endParaRPr lang="en-US" dirty="0"/>
          </a:p>
        </p:txBody>
      </p:sp>
      <p:sp>
        <p:nvSpPr>
          <p:cNvPr id="3" name="Content Placeholder 2">
            <a:extLst>
              <a:ext uri="{FF2B5EF4-FFF2-40B4-BE49-F238E27FC236}">
                <a16:creationId xmlns:a16="http://schemas.microsoft.com/office/drawing/2014/main" id="{6737CF9C-AD59-4972-93FA-C459291C9F64}"/>
              </a:ext>
            </a:extLst>
          </p:cNvPr>
          <p:cNvSpPr>
            <a:spLocks noGrp="1"/>
          </p:cNvSpPr>
          <p:nvPr>
            <p:ph idx="1"/>
          </p:nvPr>
        </p:nvSpPr>
        <p:spPr>
          <a:xfrm>
            <a:off x="838200" y="970844"/>
            <a:ext cx="10515600" cy="5206119"/>
          </a:xfrm>
        </p:spPr>
        <p:txBody>
          <a:bodyPr/>
          <a:lstStyle/>
          <a:p>
            <a:pPr algn="just"/>
            <a:r>
              <a:rPr lang="en-US" dirty="0"/>
              <a:t>There are many ways to create a </a:t>
            </a:r>
            <a:r>
              <a:rPr lang="en-US" dirty="0" err="1"/>
              <a:t>DataFrame</a:t>
            </a:r>
            <a:r>
              <a:rPr lang="en-US" dirty="0"/>
              <a:t>. </a:t>
            </a:r>
          </a:p>
          <a:p>
            <a:pPr algn="just"/>
            <a:endParaRPr lang="en-US" dirty="0"/>
          </a:p>
          <a:p>
            <a:pPr algn="just"/>
            <a:r>
              <a:rPr lang="en-US" dirty="0"/>
              <a:t>Here are the most popular approaches.</a:t>
            </a:r>
          </a:p>
          <a:p>
            <a:pPr algn="just"/>
            <a:endParaRPr lang="en-US" dirty="0"/>
          </a:p>
          <a:p>
            <a:pPr algn="just"/>
            <a:r>
              <a:rPr lang="en-US" dirty="0"/>
              <a:t>    Using a list and column names</a:t>
            </a:r>
          </a:p>
          <a:p>
            <a:pPr algn="just"/>
            <a:r>
              <a:rPr lang="en-US" dirty="0"/>
              <a:t>    From a dictionary</a:t>
            </a:r>
          </a:p>
          <a:p>
            <a:pPr algn="just"/>
            <a:r>
              <a:rPr lang="en-US" dirty="0"/>
              <a:t>    From a Series</a:t>
            </a:r>
          </a:p>
          <a:p>
            <a:pPr algn="just"/>
            <a:endParaRPr lang="en-US" dirty="0"/>
          </a:p>
        </p:txBody>
      </p:sp>
      <p:sp>
        <p:nvSpPr>
          <p:cNvPr id="5" name="Slide Number Placeholder 4">
            <a:extLst>
              <a:ext uri="{FF2B5EF4-FFF2-40B4-BE49-F238E27FC236}">
                <a16:creationId xmlns:a16="http://schemas.microsoft.com/office/drawing/2014/main" id="{98AD2A9B-CBB8-4E65-BE97-D90DC3B70511}"/>
              </a:ext>
            </a:extLst>
          </p:cNvPr>
          <p:cNvSpPr>
            <a:spLocks noGrp="1"/>
          </p:cNvSpPr>
          <p:nvPr>
            <p:ph type="sldNum" sz="quarter" idx="12"/>
          </p:nvPr>
        </p:nvSpPr>
        <p:spPr/>
        <p:txBody>
          <a:bodyPr/>
          <a:lstStyle/>
          <a:p>
            <a:fld id="{6B97D948-30E8-43F7-AE10-F6E2D9F2BBB1}" type="slidenum">
              <a:rPr lang="en-US" smtClean="0"/>
              <a:t>139</a:t>
            </a:fld>
            <a:endParaRPr lang="en-US"/>
          </a:p>
        </p:txBody>
      </p:sp>
    </p:spTree>
    <p:extLst>
      <p:ext uri="{BB962C8B-B14F-4D97-AF65-F5344CB8AC3E}">
        <p14:creationId xmlns:p14="http://schemas.microsoft.com/office/powerpoint/2010/main" val="215245214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730FE-B2DF-416B-8A26-15C16AC1D6C9}"/>
              </a:ext>
            </a:extLst>
          </p:cNvPr>
          <p:cNvSpPr>
            <a:spLocks noGrp="1"/>
          </p:cNvSpPr>
          <p:nvPr>
            <p:ph type="title"/>
          </p:nvPr>
        </p:nvSpPr>
        <p:spPr>
          <a:xfrm>
            <a:off x="838200" y="365126"/>
            <a:ext cx="10515600" cy="560564"/>
          </a:xfrm>
        </p:spPr>
        <p:txBody>
          <a:bodyPr>
            <a:normAutofit fontScale="90000"/>
          </a:bodyPr>
          <a:lstStyle/>
          <a:p>
            <a:r>
              <a:rPr lang="en-US" dirty="0"/>
              <a:t>Using a List and Column Names</a:t>
            </a:r>
          </a:p>
        </p:txBody>
      </p:sp>
      <p:sp>
        <p:nvSpPr>
          <p:cNvPr id="3" name="Content Placeholder 2">
            <a:extLst>
              <a:ext uri="{FF2B5EF4-FFF2-40B4-BE49-F238E27FC236}">
                <a16:creationId xmlns:a16="http://schemas.microsoft.com/office/drawing/2014/main" id="{8FD5157A-4429-468E-9E32-82C5D87DEA4E}"/>
              </a:ext>
            </a:extLst>
          </p:cNvPr>
          <p:cNvSpPr>
            <a:spLocks noGrp="1"/>
          </p:cNvSpPr>
          <p:nvPr>
            <p:ph idx="1"/>
          </p:nvPr>
        </p:nvSpPr>
        <p:spPr>
          <a:xfrm>
            <a:off x="838200" y="1162756"/>
            <a:ext cx="10515600" cy="5014207"/>
          </a:xfrm>
        </p:spPr>
        <p:txBody>
          <a:bodyPr/>
          <a:lstStyle/>
          <a:p>
            <a:pPr algn="just"/>
            <a:r>
              <a:rPr lang="en-US" dirty="0"/>
              <a:t> </a:t>
            </a:r>
            <a:r>
              <a:rPr lang="en-US" dirty="0">
                <a:solidFill>
                  <a:srgbClr val="FF0000"/>
                </a:solidFill>
              </a:rPr>
              <a:t>df_list_1 = </a:t>
            </a:r>
            <a:r>
              <a:rPr lang="en-US" dirty="0" err="1">
                <a:solidFill>
                  <a:srgbClr val="FF0000"/>
                </a:solidFill>
              </a:rPr>
              <a:t>pd.DataFrame</a:t>
            </a:r>
            <a:r>
              <a:rPr lang="en-US" dirty="0">
                <a:solidFill>
                  <a:srgbClr val="FF0000"/>
                </a:solidFill>
              </a:rPr>
              <a:t>([1, 2, 3], columns=['Numbers'])</a:t>
            </a:r>
          </a:p>
          <a:p>
            <a:pPr algn="just"/>
            <a:endParaRPr lang="en-US" dirty="0">
              <a:solidFill>
                <a:srgbClr val="FF0000"/>
              </a:solidFill>
            </a:endParaRPr>
          </a:p>
          <a:p>
            <a:pPr algn="just"/>
            <a:r>
              <a:rPr lang="en-US" dirty="0">
                <a:solidFill>
                  <a:srgbClr val="FF0000"/>
                </a:solidFill>
              </a:rPr>
              <a:t>In [33]: df_list_1</a:t>
            </a:r>
          </a:p>
          <a:p>
            <a:pPr algn="just"/>
            <a:endParaRPr lang="en-US" dirty="0"/>
          </a:p>
          <a:p>
            <a:pPr algn="just"/>
            <a:r>
              <a:rPr lang="en-US" dirty="0"/>
              <a:t>   Numbers</a:t>
            </a:r>
          </a:p>
          <a:p>
            <a:pPr algn="just"/>
            <a:r>
              <a:rPr lang="en-US" dirty="0"/>
              <a:t>0        1</a:t>
            </a:r>
          </a:p>
          <a:p>
            <a:pPr algn="just"/>
            <a:r>
              <a:rPr lang="en-US" dirty="0"/>
              <a:t>1        2</a:t>
            </a:r>
          </a:p>
          <a:p>
            <a:pPr algn="just"/>
            <a:r>
              <a:rPr lang="en-US" dirty="0"/>
              <a:t>2        3</a:t>
            </a:r>
          </a:p>
        </p:txBody>
      </p:sp>
      <p:sp>
        <p:nvSpPr>
          <p:cNvPr id="5" name="Slide Number Placeholder 4">
            <a:extLst>
              <a:ext uri="{FF2B5EF4-FFF2-40B4-BE49-F238E27FC236}">
                <a16:creationId xmlns:a16="http://schemas.microsoft.com/office/drawing/2014/main" id="{59EFCC6D-A772-4210-8BFA-49017BC0851E}"/>
              </a:ext>
            </a:extLst>
          </p:cNvPr>
          <p:cNvSpPr>
            <a:spLocks noGrp="1"/>
          </p:cNvSpPr>
          <p:nvPr>
            <p:ph type="sldNum" sz="quarter" idx="12"/>
          </p:nvPr>
        </p:nvSpPr>
        <p:spPr/>
        <p:txBody>
          <a:bodyPr/>
          <a:lstStyle/>
          <a:p>
            <a:fld id="{6B97D948-30E8-43F7-AE10-F6E2D9F2BBB1}" type="slidenum">
              <a:rPr lang="en-US" smtClean="0"/>
              <a:t>140</a:t>
            </a:fld>
            <a:endParaRPr lang="en-US"/>
          </a:p>
        </p:txBody>
      </p:sp>
    </p:spTree>
    <p:extLst>
      <p:ext uri="{BB962C8B-B14F-4D97-AF65-F5344CB8AC3E}">
        <p14:creationId xmlns:p14="http://schemas.microsoft.com/office/powerpoint/2010/main" val="13033629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BBDBFA-1467-4697-AB04-EC49E62CF91A}"/>
              </a:ext>
            </a:extLst>
          </p:cNvPr>
          <p:cNvSpPr>
            <a:spLocks noGrp="1"/>
          </p:cNvSpPr>
          <p:nvPr>
            <p:ph idx="1"/>
          </p:nvPr>
        </p:nvSpPr>
        <p:spPr>
          <a:xfrm>
            <a:off x="838200" y="564444"/>
            <a:ext cx="10515600" cy="5612519"/>
          </a:xfrm>
        </p:spPr>
        <p:txBody>
          <a:bodyPr/>
          <a:lstStyle/>
          <a:p>
            <a:r>
              <a:rPr lang="en-US" dirty="0"/>
              <a:t> </a:t>
            </a:r>
            <a:r>
              <a:rPr lang="en-US" dirty="0">
                <a:solidFill>
                  <a:srgbClr val="FF0000"/>
                </a:solidFill>
              </a:rPr>
              <a:t>df_list_2 = </a:t>
            </a:r>
            <a:r>
              <a:rPr lang="en-US" dirty="0" err="1">
                <a:solidFill>
                  <a:srgbClr val="FF0000"/>
                </a:solidFill>
              </a:rPr>
              <a:t>pd.DataFrame</a:t>
            </a:r>
            <a:r>
              <a:rPr lang="en-US" dirty="0">
                <a:solidFill>
                  <a:srgbClr val="FF0000"/>
                </a:solidFill>
              </a:rPr>
              <a:t>([[1, ‘one’], [2, ‘two’]], columns = [‘Number’, ‘Description’])</a:t>
            </a:r>
          </a:p>
          <a:p>
            <a:r>
              <a:rPr lang="en-US" dirty="0">
                <a:solidFill>
                  <a:srgbClr val="FF0000"/>
                </a:solidFill>
              </a:rPr>
              <a:t>df_list_2</a:t>
            </a:r>
          </a:p>
          <a:p>
            <a:endParaRPr lang="en-US" dirty="0"/>
          </a:p>
          <a:p>
            <a:r>
              <a:rPr lang="en-US" dirty="0"/>
              <a:t>   Number Description</a:t>
            </a:r>
          </a:p>
          <a:p>
            <a:r>
              <a:rPr lang="en-US" dirty="0"/>
              <a:t>0       1         one</a:t>
            </a:r>
          </a:p>
          <a:p>
            <a:r>
              <a:rPr lang="en-US" dirty="0"/>
              <a:t>1       2         two</a:t>
            </a:r>
          </a:p>
        </p:txBody>
      </p:sp>
      <p:sp>
        <p:nvSpPr>
          <p:cNvPr id="4" name="Slide Number Placeholder 3">
            <a:extLst>
              <a:ext uri="{FF2B5EF4-FFF2-40B4-BE49-F238E27FC236}">
                <a16:creationId xmlns:a16="http://schemas.microsoft.com/office/drawing/2014/main" id="{D19C41EE-78B9-4AC3-BBA1-F7C38B6238B9}"/>
              </a:ext>
            </a:extLst>
          </p:cNvPr>
          <p:cNvSpPr>
            <a:spLocks noGrp="1"/>
          </p:cNvSpPr>
          <p:nvPr>
            <p:ph type="sldNum" sz="quarter" idx="12"/>
          </p:nvPr>
        </p:nvSpPr>
        <p:spPr/>
        <p:txBody>
          <a:bodyPr/>
          <a:lstStyle/>
          <a:p>
            <a:fld id="{6B97D948-30E8-43F7-AE10-F6E2D9F2BBB1}" type="slidenum">
              <a:rPr lang="en-US" smtClean="0"/>
              <a:t>141</a:t>
            </a:fld>
            <a:endParaRPr lang="en-US"/>
          </a:p>
        </p:txBody>
      </p:sp>
    </p:spTree>
    <p:extLst>
      <p:ext uri="{BB962C8B-B14F-4D97-AF65-F5344CB8AC3E}">
        <p14:creationId xmlns:p14="http://schemas.microsoft.com/office/powerpoint/2010/main" val="26260227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5B9B-240B-46C5-9F91-B66E5CFBF7E4}"/>
              </a:ext>
            </a:extLst>
          </p:cNvPr>
          <p:cNvSpPr>
            <a:spLocks noGrp="1"/>
          </p:cNvSpPr>
          <p:nvPr>
            <p:ph type="title"/>
          </p:nvPr>
        </p:nvSpPr>
        <p:spPr>
          <a:xfrm>
            <a:off x="838200" y="365125"/>
            <a:ext cx="10515600" cy="650875"/>
          </a:xfrm>
        </p:spPr>
        <p:txBody>
          <a:bodyPr>
            <a:normAutofit fontScale="90000"/>
          </a:bodyPr>
          <a:lstStyle/>
          <a:p>
            <a:r>
              <a:rPr lang="en-US" dirty="0"/>
              <a:t>From a Dictionary</a:t>
            </a:r>
          </a:p>
        </p:txBody>
      </p:sp>
      <p:sp>
        <p:nvSpPr>
          <p:cNvPr id="3" name="Content Placeholder 2">
            <a:extLst>
              <a:ext uri="{FF2B5EF4-FFF2-40B4-BE49-F238E27FC236}">
                <a16:creationId xmlns:a16="http://schemas.microsoft.com/office/drawing/2014/main" id="{47BA8D2B-B529-42C3-9C89-F102206DF85A}"/>
              </a:ext>
            </a:extLst>
          </p:cNvPr>
          <p:cNvSpPr>
            <a:spLocks noGrp="1"/>
          </p:cNvSpPr>
          <p:nvPr>
            <p:ph idx="1"/>
          </p:nvPr>
        </p:nvSpPr>
        <p:spPr>
          <a:xfrm>
            <a:off x="838200" y="1016000"/>
            <a:ext cx="10515600" cy="5160963"/>
          </a:xfrm>
        </p:spPr>
        <p:txBody>
          <a:bodyPr>
            <a:normAutofit fontScale="92500" lnSpcReduction="10000"/>
          </a:bodyPr>
          <a:lstStyle/>
          <a:p>
            <a:pPr algn="just"/>
            <a:r>
              <a:rPr lang="en-US" dirty="0"/>
              <a:t>A second (and more common) way to create a </a:t>
            </a:r>
            <a:r>
              <a:rPr lang="en-US" dirty="0" err="1"/>
              <a:t>DataFrame</a:t>
            </a:r>
            <a:r>
              <a:rPr lang="en-US" dirty="0"/>
              <a:t> is with a dictionary. </a:t>
            </a:r>
          </a:p>
          <a:p>
            <a:pPr algn="just"/>
            <a:r>
              <a:rPr lang="en-US" dirty="0"/>
              <a:t>The dictionary keys represent the column names, and the dictionary values represent the column values.</a:t>
            </a:r>
          </a:p>
          <a:p>
            <a:pPr algn="just"/>
            <a:endParaRPr lang="en-US" dirty="0"/>
          </a:p>
          <a:p>
            <a:pPr algn="just"/>
            <a:r>
              <a:rPr lang="en-US" dirty="0"/>
              <a:t> </a:t>
            </a:r>
            <a:r>
              <a:rPr lang="en-US" dirty="0" err="1">
                <a:solidFill>
                  <a:srgbClr val="FF0000"/>
                </a:solidFill>
              </a:rPr>
              <a:t>df_dict</a:t>
            </a:r>
            <a:r>
              <a:rPr lang="en-US" dirty="0">
                <a:solidFill>
                  <a:srgbClr val="FF0000"/>
                </a:solidFill>
              </a:rPr>
              <a:t> = </a:t>
            </a:r>
            <a:r>
              <a:rPr lang="en-US" dirty="0" err="1">
                <a:solidFill>
                  <a:srgbClr val="FF0000"/>
                </a:solidFill>
              </a:rPr>
              <a:t>pd.DataFrame</a:t>
            </a:r>
            <a:r>
              <a:rPr lang="en-US" dirty="0">
                <a:solidFill>
                  <a:srgbClr val="FF0000"/>
                </a:solidFill>
              </a:rPr>
              <a:t>({‘Fruit’: [‘Strawberry’, ‘Orange’], ‘Price’: [5.49, 3.99]})</a:t>
            </a:r>
          </a:p>
          <a:p>
            <a:pPr algn="just"/>
            <a:r>
              <a:rPr lang="en-US" dirty="0" err="1">
                <a:solidFill>
                  <a:srgbClr val="FF0000"/>
                </a:solidFill>
              </a:rPr>
              <a:t>df_dict</a:t>
            </a:r>
            <a:endParaRPr lang="en-US" dirty="0">
              <a:solidFill>
                <a:srgbClr val="FF0000"/>
              </a:solidFill>
            </a:endParaRPr>
          </a:p>
          <a:p>
            <a:pPr algn="just"/>
            <a:r>
              <a:rPr lang="en-US" dirty="0"/>
              <a:t>Out[35]:</a:t>
            </a:r>
          </a:p>
          <a:p>
            <a:pPr algn="just"/>
            <a:r>
              <a:rPr lang="en-US" dirty="0"/>
              <a:t>        Fruit  Price</a:t>
            </a:r>
          </a:p>
          <a:p>
            <a:pPr algn="just"/>
            <a:r>
              <a:rPr lang="en-US" dirty="0"/>
              <a:t>0  Strawberry   5.49</a:t>
            </a:r>
          </a:p>
          <a:p>
            <a:pPr algn="just"/>
            <a:r>
              <a:rPr lang="en-US" dirty="0"/>
              <a:t>1      Orange   3.99</a:t>
            </a:r>
          </a:p>
        </p:txBody>
      </p:sp>
      <p:sp>
        <p:nvSpPr>
          <p:cNvPr id="5" name="Slide Number Placeholder 4">
            <a:extLst>
              <a:ext uri="{FF2B5EF4-FFF2-40B4-BE49-F238E27FC236}">
                <a16:creationId xmlns:a16="http://schemas.microsoft.com/office/drawing/2014/main" id="{7C217D7D-7F75-45E1-BE92-19CF3A840F84}"/>
              </a:ext>
            </a:extLst>
          </p:cNvPr>
          <p:cNvSpPr>
            <a:spLocks noGrp="1"/>
          </p:cNvSpPr>
          <p:nvPr>
            <p:ph type="sldNum" sz="quarter" idx="12"/>
          </p:nvPr>
        </p:nvSpPr>
        <p:spPr/>
        <p:txBody>
          <a:bodyPr/>
          <a:lstStyle/>
          <a:p>
            <a:fld id="{6B97D948-30E8-43F7-AE10-F6E2D9F2BBB1}" type="slidenum">
              <a:rPr lang="en-US" smtClean="0"/>
              <a:t>142</a:t>
            </a:fld>
            <a:endParaRPr lang="en-US"/>
          </a:p>
        </p:txBody>
      </p:sp>
    </p:spTree>
    <p:extLst>
      <p:ext uri="{BB962C8B-B14F-4D97-AF65-F5344CB8AC3E}">
        <p14:creationId xmlns:p14="http://schemas.microsoft.com/office/powerpoint/2010/main" val="397497225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4934D-0C81-45BF-8CF5-82FC78A6F40C}"/>
              </a:ext>
            </a:extLst>
          </p:cNvPr>
          <p:cNvSpPr>
            <a:spLocks noGrp="1"/>
          </p:cNvSpPr>
          <p:nvPr>
            <p:ph type="title"/>
          </p:nvPr>
        </p:nvSpPr>
        <p:spPr>
          <a:xfrm>
            <a:off x="838200" y="365126"/>
            <a:ext cx="10515600" cy="436386"/>
          </a:xfrm>
        </p:spPr>
        <p:txBody>
          <a:bodyPr>
            <a:normAutofit fontScale="90000"/>
          </a:bodyPr>
          <a:lstStyle/>
          <a:p>
            <a:r>
              <a:rPr lang="en-US" dirty="0"/>
              <a:t>From a Series</a:t>
            </a:r>
          </a:p>
        </p:txBody>
      </p:sp>
      <p:sp>
        <p:nvSpPr>
          <p:cNvPr id="3" name="Content Placeholder 2">
            <a:extLst>
              <a:ext uri="{FF2B5EF4-FFF2-40B4-BE49-F238E27FC236}">
                <a16:creationId xmlns:a16="http://schemas.microsoft.com/office/drawing/2014/main" id="{A38C842A-E830-4814-993A-C33204ED89DF}"/>
              </a:ext>
            </a:extLst>
          </p:cNvPr>
          <p:cNvSpPr>
            <a:spLocks noGrp="1"/>
          </p:cNvSpPr>
          <p:nvPr>
            <p:ph idx="1"/>
          </p:nvPr>
        </p:nvSpPr>
        <p:spPr>
          <a:xfrm>
            <a:off x="838200" y="801512"/>
            <a:ext cx="10515600" cy="5375451"/>
          </a:xfrm>
        </p:spPr>
        <p:txBody>
          <a:bodyPr/>
          <a:lstStyle/>
          <a:p>
            <a:pPr algn="just"/>
            <a:r>
              <a:rPr lang="en-US" dirty="0"/>
              <a:t>We noted earlier that a Series is usually thought of as a column in a </a:t>
            </a:r>
            <a:r>
              <a:rPr lang="en-US" dirty="0" err="1"/>
              <a:t>DataFrame</a:t>
            </a:r>
            <a:r>
              <a:rPr lang="en-US" dirty="0"/>
              <a:t>. </a:t>
            </a:r>
          </a:p>
          <a:p>
            <a:pPr algn="just"/>
            <a:r>
              <a:rPr lang="en-US" dirty="0"/>
              <a:t>It follows then, that a </a:t>
            </a:r>
            <a:r>
              <a:rPr lang="en-US" dirty="0" err="1"/>
              <a:t>DataFrame</a:t>
            </a:r>
            <a:r>
              <a:rPr lang="en-US" dirty="0"/>
              <a:t> is equivalent to a collection of Series, which all share the same index.</a:t>
            </a:r>
          </a:p>
          <a:p>
            <a:endParaRPr lang="en-US" dirty="0"/>
          </a:p>
          <a:p>
            <a:r>
              <a:rPr lang="en-US" dirty="0"/>
              <a:t>In fact, we can initialize a </a:t>
            </a:r>
            <a:r>
              <a:rPr lang="en-US" dirty="0" err="1"/>
              <a:t>DataFrame</a:t>
            </a:r>
            <a:r>
              <a:rPr lang="en-US" dirty="0"/>
              <a:t> by merging two or more Series.</a:t>
            </a:r>
          </a:p>
        </p:txBody>
      </p:sp>
      <p:sp>
        <p:nvSpPr>
          <p:cNvPr id="5" name="Slide Number Placeholder 4">
            <a:extLst>
              <a:ext uri="{FF2B5EF4-FFF2-40B4-BE49-F238E27FC236}">
                <a16:creationId xmlns:a16="http://schemas.microsoft.com/office/drawing/2014/main" id="{9585F7CB-080B-4BBC-B232-13B0D5A87A7D}"/>
              </a:ext>
            </a:extLst>
          </p:cNvPr>
          <p:cNvSpPr>
            <a:spLocks noGrp="1"/>
          </p:cNvSpPr>
          <p:nvPr>
            <p:ph type="sldNum" sz="quarter" idx="12"/>
          </p:nvPr>
        </p:nvSpPr>
        <p:spPr/>
        <p:txBody>
          <a:bodyPr/>
          <a:lstStyle/>
          <a:p>
            <a:fld id="{6B97D948-30E8-43F7-AE10-F6E2D9F2BBB1}" type="slidenum">
              <a:rPr lang="en-US" smtClean="0"/>
              <a:t>143</a:t>
            </a:fld>
            <a:endParaRPr lang="en-US"/>
          </a:p>
        </p:txBody>
      </p:sp>
    </p:spTree>
    <p:extLst>
      <p:ext uri="{BB962C8B-B14F-4D97-AF65-F5344CB8AC3E}">
        <p14:creationId xmlns:p14="http://schemas.microsoft.com/office/powerpoint/2010/main" val="16297427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6AA5DB-F688-4AE3-8D2A-B97B359F75D3}"/>
              </a:ext>
            </a:extLst>
          </p:cNvPr>
          <p:cNvSpPr>
            <a:spLocks noGrp="1"/>
          </p:cNvSpPr>
          <p:nvPr>
            <p:ph idx="1"/>
          </p:nvPr>
        </p:nvSpPr>
        <p:spPr>
          <a:xfrm>
            <a:off x="838200" y="508000"/>
            <a:ext cx="10515600" cy="5668963"/>
          </a:xfrm>
        </p:spPr>
        <p:txBody>
          <a:bodyPr>
            <a:normAutofit/>
          </a:bodyPr>
          <a:lstStyle/>
          <a:p>
            <a:r>
              <a:rPr lang="pt-BR" dirty="0">
                <a:solidFill>
                  <a:srgbClr val="FF0000"/>
                </a:solidFill>
              </a:rPr>
              <a:t>s_a = pd.Series(["a1", "a2", "a3"], index = ["r1", "r2", "r3"])</a:t>
            </a:r>
          </a:p>
          <a:p>
            <a:r>
              <a:rPr lang="pt-BR" dirty="0">
                <a:solidFill>
                  <a:srgbClr val="FF0000"/>
                </a:solidFill>
              </a:rPr>
              <a:t>s_b = pd.Series(["b1", "b2", "b3"], index = ["r1", "r2", "r3"])</a:t>
            </a:r>
          </a:p>
          <a:p>
            <a:r>
              <a:rPr lang="pt-BR" dirty="0">
                <a:solidFill>
                  <a:srgbClr val="FF0000"/>
                </a:solidFill>
              </a:rPr>
              <a:t>pd.DataFrame({"A-column": s_a, "B-column": s_b})</a:t>
            </a:r>
          </a:p>
          <a:p>
            <a:endParaRPr lang="pt-BR" dirty="0"/>
          </a:p>
          <a:p>
            <a:r>
              <a:rPr lang="pt-BR" dirty="0"/>
              <a:t>Out[36]:</a:t>
            </a:r>
          </a:p>
          <a:p>
            <a:r>
              <a:rPr lang="pt-BR" dirty="0"/>
              <a:t>   A-column B-column</a:t>
            </a:r>
          </a:p>
          <a:p>
            <a:r>
              <a:rPr lang="pt-BR" dirty="0"/>
              <a:t>r1       a1       b1</a:t>
            </a:r>
          </a:p>
          <a:p>
            <a:r>
              <a:rPr lang="pt-BR" dirty="0"/>
              <a:t>r2       a2       b2</a:t>
            </a:r>
          </a:p>
          <a:p>
            <a:r>
              <a:rPr lang="pt-BR" dirty="0"/>
              <a:t>r3       a3       b3</a:t>
            </a:r>
            <a:endParaRPr lang="en-US" dirty="0"/>
          </a:p>
        </p:txBody>
      </p:sp>
      <p:sp>
        <p:nvSpPr>
          <p:cNvPr id="4" name="Slide Number Placeholder 3">
            <a:extLst>
              <a:ext uri="{FF2B5EF4-FFF2-40B4-BE49-F238E27FC236}">
                <a16:creationId xmlns:a16="http://schemas.microsoft.com/office/drawing/2014/main" id="{CF3449A8-2CAB-476E-9E53-CA16AA2DD481}"/>
              </a:ext>
            </a:extLst>
          </p:cNvPr>
          <p:cNvSpPr>
            <a:spLocks noGrp="1"/>
          </p:cNvSpPr>
          <p:nvPr>
            <p:ph type="sldNum" sz="quarter" idx="12"/>
          </p:nvPr>
        </p:nvSpPr>
        <p:spPr/>
        <p:txBody>
          <a:bodyPr/>
          <a:lstStyle/>
          <a:p>
            <a:fld id="{6B97D948-30E8-43F7-AE10-F6E2D9F2BBB1}" type="slidenum">
              <a:rPr lang="en-US" smtClean="0"/>
              <a:t>144</a:t>
            </a:fld>
            <a:endParaRPr lang="en-US"/>
          </a:p>
        </p:txBody>
      </p:sp>
    </p:spTree>
    <p:extLst>
      <p:ext uri="{BB962C8B-B14F-4D97-AF65-F5344CB8AC3E}">
        <p14:creationId xmlns:p14="http://schemas.microsoft.com/office/powerpoint/2010/main" val="66207494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40C8B-A62D-490E-9FBA-256B7582B387}"/>
              </a:ext>
            </a:extLst>
          </p:cNvPr>
          <p:cNvSpPr>
            <a:spLocks noGrp="1"/>
          </p:cNvSpPr>
          <p:nvPr>
            <p:ph type="title"/>
          </p:nvPr>
        </p:nvSpPr>
        <p:spPr>
          <a:xfrm>
            <a:off x="838200" y="365125"/>
            <a:ext cx="10515600" cy="594431"/>
          </a:xfrm>
        </p:spPr>
        <p:txBody>
          <a:bodyPr>
            <a:normAutofit fontScale="90000"/>
          </a:bodyPr>
          <a:lstStyle/>
          <a:p>
            <a:r>
              <a:rPr lang="en-US" dirty="0"/>
              <a:t>Indices</a:t>
            </a:r>
          </a:p>
        </p:txBody>
      </p:sp>
      <p:sp>
        <p:nvSpPr>
          <p:cNvPr id="3" name="Content Placeholder 2">
            <a:extLst>
              <a:ext uri="{FF2B5EF4-FFF2-40B4-BE49-F238E27FC236}">
                <a16:creationId xmlns:a16="http://schemas.microsoft.com/office/drawing/2014/main" id="{3BEE79AD-12CC-4DB2-9BF6-59385EC4A604}"/>
              </a:ext>
            </a:extLst>
          </p:cNvPr>
          <p:cNvSpPr>
            <a:spLocks noGrp="1"/>
          </p:cNvSpPr>
          <p:nvPr>
            <p:ph idx="1"/>
          </p:nvPr>
        </p:nvSpPr>
        <p:spPr>
          <a:xfrm>
            <a:off x="838200" y="959556"/>
            <a:ext cx="10515600" cy="5217407"/>
          </a:xfrm>
        </p:spPr>
        <p:txBody>
          <a:bodyPr/>
          <a:lstStyle/>
          <a:p>
            <a:pPr algn="just"/>
            <a:r>
              <a:rPr lang="en-US" dirty="0"/>
              <a:t>We saw how a </a:t>
            </a:r>
            <a:r>
              <a:rPr lang="en-US" dirty="0" err="1"/>
              <a:t>DataFrame</a:t>
            </a:r>
            <a:r>
              <a:rPr lang="en-US" dirty="0"/>
              <a:t> as a collection of Series that all share the same Index.</a:t>
            </a:r>
          </a:p>
          <a:p>
            <a:endParaRPr lang="en-US" dirty="0"/>
          </a:p>
          <a:p>
            <a:pPr algn="just"/>
            <a:r>
              <a:rPr lang="en-US" dirty="0"/>
              <a:t>On a more technical note, an Index doesn’t have to be an integer, nor does it have to be unique. </a:t>
            </a:r>
          </a:p>
          <a:p>
            <a:pPr algn="just"/>
            <a:endParaRPr lang="en-US" dirty="0"/>
          </a:p>
          <a:p>
            <a:pPr algn="just"/>
            <a:r>
              <a:rPr lang="en-US" dirty="0"/>
              <a:t>For example, we can set the index of the elections </a:t>
            </a:r>
            <a:r>
              <a:rPr lang="en-US" dirty="0" err="1"/>
              <a:t>Dataframe</a:t>
            </a:r>
            <a:r>
              <a:rPr lang="en-US" dirty="0"/>
              <a:t> to be the name of presidential candidates.</a:t>
            </a:r>
          </a:p>
          <a:p>
            <a:pPr algn="just"/>
            <a:r>
              <a:rPr lang="en-US" dirty="0"/>
              <a:t> </a:t>
            </a:r>
            <a:r>
              <a:rPr lang="en-US" dirty="0" err="1">
                <a:solidFill>
                  <a:srgbClr val="FF0000"/>
                </a:solidFill>
              </a:rPr>
              <a:t>elections.set_index</a:t>
            </a:r>
            <a:r>
              <a:rPr lang="en-US" dirty="0">
                <a:solidFill>
                  <a:srgbClr val="FF0000"/>
                </a:solidFill>
              </a:rPr>
              <a:t>("Candidate", </a:t>
            </a:r>
            <a:r>
              <a:rPr lang="en-US" dirty="0" err="1">
                <a:solidFill>
                  <a:srgbClr val="FF0000"/>
                </a:solidFill>
              </a:rPr>
              <a:t>inplace</a:t>
            </a:r>
            <a:r>
              <a:rPr lang="en-US" dirty="0">
                <a:solidFill>
                  <a:srgbClr val="FF0000"/>
                </a:solidFill>
              </a:rPr>
              <a:t>=True)</a:t>
            </a:r>
          </a:p>
          <a:p>
            <a:pPr algn="just"/>
            <a:r>
              <a:rPr lang="en-US" dirty="0">
                <a:solidFill>
                  <a:srgbClr val="FF0000"/>
                </a:solidFill>
              </a:rPr>
              <a:t> </a:t>
            </a:r>
            <a:r>
              <a:rPr lang="en-US" dirty="0" err="1">
                <a:solidFill>
                  <a:srgbClr val="FF0000"/>
                </a:solidFill>
              </a:rPr>
              <a:t>elections.index</a:t>
            </a:r>
            <a:endParaRPr lang="en-US" dirty="0">
              <a:solidFill>
                <a:srgbClr val="FF0000"/>
              </a:solidFill>
            </a:endParaRPr>
          </a:p>
        </p:txBody>
      </p:sp>
      <p:sp>
        <p:nvSpPr>
          <p:cNvPr id="5" name="Slide Number Placeholder 4">
            <a:extLst>
              <a:ext uri="{FF2B5EF4-FFF2-40B4-BE49-F238E27FC236}">
                <a16:creationId xmlns:a16="http://schemas.microsoft.com/office/drawing/2014/main" id="{ABC5AA8E-727C-4955-B8BF-EA94BA7AEF3F}"/>
              </a:ext>
            </a:extLst>
          </p:cNvPr>
          <p:cNvSpPr>
            <a:spLocks noGrp="1"/>
          </p:cNvSpPr>
          <p:nvPr>
            <p:ph type="sldNum" sz="quarter" idx="12"/>
          </p:nvPr>
        </p:nvSpPr>
        <p:spPr/>
        <p:txBody>
          <a:bodyPr/>
          <a:lstStyle/>
          <a:p>
            <a:fld id="{6B97D948-30E8-43F7-AE10-F6E2D9F2BBB1}" type="slidenum">
              <a:rPr lang="en-US" smtClean="0"/>
              <a:t>145</a:t>
            </a:fld>
            <a:endParaRPr lang="en-US"/>
          </a:p>
        </p:txBody>
      </p:sp>
    </p:spTree>
    <p:extLst>
      <p:ext uri="{BB962C8B-B14F-4D97-AF65-F5344CB8AC3E}">
        <p14:creationId xmlns:p14="http://schemas.microsoft.com/office/powerpoint/2010/main" val="428622723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EDC9E0-7611-4280-AB21-E3F533D02808}"/>
              </a:ext>
            </a:extLst>
          </p:cNvPr>
          <p:cNvSpPr>
            <a:spLocks noGrp="1"/>
          </p:cNvSpPr>
          <p:nvPr>
            <p:ph idx="1"/>
          </p:nvPr>
        </p:nvSpPr>
        <p:spPr>
          <a:xfrm>
            <a:off x="838200" y="508000"/>
            <a:ext cx="10515600" cy="5668963"/>
          </a:xfrm>
        </p:spPr>
        <p:txBody>
          <a:bodyPr/>
          <a:lstStyle/>
          <a:p>
            <a:pPr algn="just"/>
            <a:r>
              <a:rPr lang="en-US" dirty="0"/>
              <a:t>And, if we’d like, we can revert the index back to the default list of integers.</a:t>
            </a:r>
          </a:p>
          <a:p>
            <a:pPr algn="just"/>
            <a:r>
              <a:rPr lang="en-US" dirty="0" err="1">
                <a:solidFill>
                  <a:srgbClr val="FF0000"/>
                </a:solidFill>
              </a:rPr>
              <a:t>elections.reset_index</a:t>
            </a:r>
            <a:r>
              <a:rPr lang="en-US" dirty="0">
                <a:solidFill>
                  <a:srgbClr val="FF0000"/>
                </a:solidFill>
              </a:rPr>
              <a:t>(</a:t>
            </a:r>
            <a:r>
              <a:rPr lang="en-US" dirty="0" err="1">
                <a:solidFill>
                  <a:srgbClr val="FF0000"/>
                </a:solidFill>
              </a:rPr>
              <a:t>inplace</a:t>
            </a:r>
            <a:r>
              <a:rPr lang="en-US" dirty="0">
                <a:solidFill>
                  <a:srgbClr val="FF0000"/>
                </a:solidFill>
              </a:rPr>
              <a:t>=True) </a:t>
            </a:r>
          </a:p>
          <a:p>
            <a:pPr algn="just"/>
            <a:r>
              <a:rPr lang="en-US" dirty="0" err="1">
                <a:solidFill>
                  <a:srgbClr val="FF0000"/>
                </a:solidFill>
              </a:rPr>
              <a:t>elections.index</a:t>
            </a:r>
            <a:endParaRPr lang="en-US" dirty="0">
              <a:solidFill>
                <a:srgbClr val="FF0000"/>
              </a:solidFill>
            </a:endParaRPr>
          </a:p>
        </p:txBody>
      </p:sp>
      <p:sp>
        <p:nvSpPr>
          <p:cNvPr id="4" name="Slide Number Placeholder 3">
            <a:extLst>
              <a:ext uri="{FF2B5EF4-FFF2-40B4-BE49-F238E27FC236}">
                <a16:creationId xmlns:a16="http://schemas.microsoft.com/office/drawing/2014/main" id="{904F68C0-BC38-40F5-9A14-9B44BA154250}"/>
              </a:ext>
            </a:extLst>
          </p:cNvPr>
          <p:cNvSpPr>
            <a:spLocks noGrp="1"/>
          </p:cNvSpPr>
          <p:nvPr>
            <p:ph type="sldNum" sz="quarter" idx="12"/>
          </p:nvPr>
        </p:nvSpPr>
        <p:spPr/>
        <p:txBody>
          <a:bodyPr/>
          <a:lstStyle/>
          <a:p>
            <a:fld id="{6B97D948-30E8-43F7-AE10-F6E2D9F2BBB1}" type="slidenum">
              <a:rPr lang="en-US" smtClean="0"/>
              <a:t>146</a:t>
            </a:fld>
            <a:endParaRPr lang="en-US"/>
          </a:p>
        </p:txBody>
      </p:sp>
    </p:spTree>
    <p:extLst>
      <p:ext uri="{BB962C8B-B14F-4D97-AF65-F5344CB8AC3E}">
        <p14:creationId xmlns:p14="http://schemas.microsoft.com/office/powerpoint/2010/main" val="219354792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5CB3F-4542-4D7C-A0F5-76B6FA7B1606}"/>
              </a:ext>
            </a:extLst>
          </p:cNvPr>
          <p:cNvSpPr>
            <a:spLocks noGrp="1"/>
          </p:cNvSpPr>
          <p:nvPr>
            <p:ph type="title"/>
          </p:nvPr>
        </p:nvSpPr>
        <p:spPr>
          <a:xfrm>
            <a:off x="838200" y="365126"/>
            <a:ext cx="10515600" cy="639586"/>
          </a:xfrm>
        </p:spPr>
        <p:txBody>
          <a:bodyPr>
            <a:normAutofit fontScale="90000"/>
          </a:bodyPr>
          <a:lstStyle/>
          <a:p>
            <a:r>
              <a:rPr lang="en-US" dirty="0"/>
              <a:t>Slicing in </a:t>
            </a:r>
            <a:r>
              <a:rPr lang="en-US" dirty="0" err="1"/>
              <a:t>DataFrames</a:t>
            </a:r>
            <a:endParaRPr lang="en-US" dirty="0"/>
          </a:p>
        </p:txBody>
      </p:sp>
      <p:sp>
        <p:nvSpPr>
          <p:cNvPr id="3" name="Content Placeholder 2">
            <a:extLst>
              <a:ext uri="{FF2B5EF4-FFF2-40B4-BE49-F238E27FC236}">
                <a16:creationId xmlns:a16="http://schemas.microsoft.com/office/drawing/2014/main" id="{79DCA833-BE38-4C1B-988C-991757A96AB8}"/>
              </a:ext>
            </a:extLst>
          </p:cNvPr>
          <p:cNvSpPr>
            <a:spLocks noGrp="1"/>
          </p:cNvSpPr>
          <p:nvPr>
            <p:ph idx="1"/>
          </p:nvPr>
        </p:nvSpPr>
        <p:spPr>
          <a:xfrm>
            <a:off x="838200" y="1004712"/>
            <a:ext cx="10515600" cy="5172251"/>
          </a:xfrm>
        </p:spPr>
        <p:txBody>
          <a:bodyPr>
            <a:normAutofit/>
          </a:bodyPr>
          <a:lstStyle/>
          <a:p>
            <a:pPr algn="just"/>
            <a:r>
              <a:rPr lang="en-US" dirty="0"/>
              <a:t>Now that we’ve learned how to create </a:t>
            </a:r>
            <a:r>
              <a:rPr lang="en-US" dirty="0" err="1"/>
              <a:t>DataFrames</a:t>
            </a:r>
            <a:r>
              <a:rPr lang="en-US" dirty="0"/>
              <a:t>, let’s dive more deeply into their capabilities.</a:t>
            </a:r>
          </a:p>
          <a:p>
            <a:endParaRPr lang="en-US" dirty="0"/>
          </a:p>
          <a:p>
            <a:pPr algn="just"/>
            <a:r>
              <a:rPr lang="en-US" dirty="0"/>
              <a:t>The </a:t>
            </a:r>
            <a:r>
              <a:rPr lang="en-US" dirty="0">
                <a:solidFill>
                  <a:srgbClr val="FF0000"/>
                </a:solidFill>
              </a:rPr>
              <a:t>API</a:t>
            </a:r>
            <a:r>
              <a:rPr lang="en-US" dirty="0"/>
              <a:t> (application programming interface) for the </a:t>
            </a:r>
            <a:r>
              <a:rPr lang="en-US" dirty="0" err="1"/>
              <a:t>DataFrame</a:t>
            </a:r>
            <a:r>
              <a:rPr lang="en-US" dirty="0"/>
              <a:t> class is enormous. </a:t>
            </a:r>
          </a:p>
          <a:p>
            <a:pPr algn="just"/>
            <a:endParaRPr lang="en-US" dirty="0"/>
          </a:p>
          <a:p>
            <a:pPr algn="just"/>
            <a:r>
              <a:rPr lang="en-US" dirty="0"/>
              <a:t>The simplest way to manipulate a </a:t>
            </a:r>
            <a:r>
              <a:rPr lang="en-US" dirty="0" err="1"/>
              <a:t>DataFrame</a:t>
            </a:r>
            <a:r>
              <a:rPr lang="en-US" dirty="0"/>
              <a:t> is to extract a subset of rows and columns, known as </a:t>
            </a:r>
            <a:r>
              <a:rPr lang="en-US" dirty="0">
                <a:solidFill>
                  <a:srgbClr val="FF0000"/>
                </a:solidFill>
              </a:rPr>
              <a:t>slicing</a:t>
            </a:r>
            <a:r>
              <a:rPr lang="en-US" dirty="0"/>
              <a:t>. </a:t>
            </a:r>
          </a:p>
        </p:txBody>
      </p:sp>
      <p:sp>
        <p:nvSpPr>
          <p:cNvPr id="5" name="Slide Number Placeholder 4">
            <a:extLst>
              <a:ext uri="{FF2B5EF4-FFF2-40B4-BE49-F238E27FC236}">
                <a16:creationId xmlns:a16="http://schemas.microsoft.com/office/drawing/2014/main" id="{3312EF45-D791-4041-AA3E-5581F376F5F1}"/>
              </a:ext>
            </a:extLst>
          </p:cNvPr>
          <p:cNvSpPr>
            <a:spLocks noGrp="1"/>
          </p:cNvSpPr>
          <p:nvPr>
            <p:ph type="sldNum" sz="quarter" idx="12"/>
          </p:nvPr>
        </p:nvSpPr>
        <p:spPr/>
        <p:txBody>
          <a:bodyPr/>
          <a:lstStyle/>
          <a:p>
            <a:fld id="{6B97D948-30E8-43F7-AE10-F6E2D9F2BBB1}" type="slidenum">
              <a:rPr lang="en-US" smtClean="0"/>
              <a:t>147</a:t>
            </a:fld>
            <a:endParaRPr lang="en-US"/>
          </a:p>
        </p:txBody>
      </p:sp>
    </p:spTree>
    <p:extLst>
      <p:ext uri="{BB962C8B-B14F-4D97-AF65-F5344CB8AC3E}">
        <p14:creationId xmlns:p14="http://schemas.microsoft.com/office/powerpoint/2010/main" val="8282526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1AC3F9-21C5-4615-B9A8-2B96B69C5376}"/>
              </a:ext>
            </a:extLst>
          </p:cNvPr>
          <p:cNvSpPr>
            <a:spLocks noGrp="1"/>
          </p:cNvSpPr>
          <p:nvPr>
            <p:ph idx="1"/>
          </p:nvPr>
        </p:nvSpPr>
        <p:spPr>
          <a:xfrm>
            <a:off x="838200" y="564444"/>
            <a:ext cx="10515600" cy="5612519"/>
          </a:xfrm>
        </p:spPr>
        <p:txBody>
          <a:bodyPr/>
          <a:lstStyle/>
          <a:p>
            <a:r>
              <a:rPr lang="en-US" dirty="0"/>
              <a:t>We will do so with four primary methods of the </a:t>
            </a:r>
            <a:r>
              <a:rPr lang="en-US" dirty="0" err="1"/>
              <a:t>DataFrame</a:t>
            </a:r>
            <a:r>
              <a:rPr lang="en-US" dirty="0"/>
              <a:t> class:</a:t>
            </a:r>
          </a:p>
          <a:p>
            <a:endParaRPr lang="en-US" dirty="0"/>
          </a:p>
          <a:p>
            <a:r>
              <a:rPr lang="en-US" dirty="0"/>
              <a:t>    .head and .tail</a:t>
            </a:r>
          </a:p>
          <a:p>
            <a:r>
              <a:rPr lang="en-US" dirty="0"/>
              <a:t>    .loc</a:t>
            </a:r>
          </a:p>
          <a:p>
            <a:r>
              <a:rPr lang="en-US" dirty="0"/>
              <a:t>    .</a:t>
            </a:r>
            <a:r>
              <a:rPr lang="en-US" dirty="0" err="1"/>
              <a:t>iloc</a:t>
            </a:r>
            <a:endParaRPr lang="en-US" dirty="0"/>
          </a:p>
          <a:p>
            <a:r>
              <a:rPr lang="en-US" dirty="0"/>
              <a:t>    []</a:t>
            </a:r>
          </a:p>
          <a:p>
            <a:endParaRPr lang="en-US" dirty="0"/>
          </a:p>
        </p:txBody>
      </p:sp>
      <p:sp>
        <p:nvSpPr>
          <p:cNvPr id="4" name="Slide Number Placeholder 3">
            <a:extLst>
              <a:ext uri="{FF2B5EF4-FFF2-40B4-BE49-F238E27FC236}">
                <a16:creationId xmlns:a16="http://schemas.microsoft.com/office/drawing/2014/main" id="{F4807D07-852B-4B77-B866-4319761C920A}"/>
              </a:ext>
            </a:extLst>
          </p:cNvPr>
          <p:cNvSpPr>
            <a:spLocks noGrp="1"/>
          </p:cNvSpPr>
          <p:nvPr>
            <p:ph type="sldNum" sz="quarter" idx="12"/>
          </p:nvPr>
        </p:nvSpPr>
        <p:spPr/>
        <p:txBody>
          <a:bodyPr/>
          <a:lstStyle/>
          <a:p>
            <a:fld id="{6B97D948-30E8-43F7-AE10-F6E2D9F2BBB1}" type="slidenum">
              <a:rPr lang="en-US" smtClean="0"/>
              <a:t>148</a:t>
            </a:fld>
            <a:endParaRPr lang="en-US"/>
          </a:p>
        </p:txBody>
      </p:sp>
    </p:spTree>
    <p:extLst>
      <p:ext uri="{BB962C8B-B14F-4D97-AF65-F5344CB8AC3E}">
        <p14:creationId xmlns:p14="http://schemas.microsoft.com/office/powerpoint/2010/main" val="140329177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30B32-D5DB-4535-B99D-60AAB4E4112E}"/>
              </a:ext>
            </a:extLst>
          </p:cNvPr>
          <p:cNvSpPr>
            <a:spLocks noGrp="1"/>
          </p:cNvSpPr>
          <p:nvPr>
            <p:ph type="title"/>
          </p:nvPr>
        </p:nvSpPr>
        <p:spPr>
          <a:xfrm>
            <a:off x="838200" y="365126"/>
            <a:ext cx="10515600" cy="617008"/>
          </a:xfrm>
        </p:spPr>
        <p:txBody>
          <a:bodyPr>
            <a:normAutofit fontScale="90000"/>
          </a:bodyPr>
          <a:lstStyle/>
          <a:p>
            <a:r>
              <a:rPr lang="en-US" dirty="0"/>
              <a:t>Extracting data with .head and .tail</a:t>
            </a:r>
          </a:p>
        </p:txBody>
      </p:sp>
      <p:sp>
        <p:nvSpPr>
          <p:cNvPr id="3" name="Content Placeholder 2">
            <a:extLst>
              <a:ext uri="{FF2B5EF4-FFF2-40B4-BE49-F238E27FC236}">
                <a16:creationId xmlns:a16="http://schemas.microsoft.com/office/drawing/2014/main" id="{432D6774-C1D6-4C42-89F0-A12C54B2FA2C}"/>
              </a:ext>
            </a:extLst>
          </p:cNvPr>
          <p:cNvSpPr>
            <a:spLocks noGrp="1"/>
          </p:cNvSpPr>
          <p:nvPr>
            <p:ph idx="1"/>
          </p:nvPr>
        </p:nvSpPr>
        <p:spPr>
          <a:xfrm>
            <a:off x="838200" y="982134"/>
            <a:ext cx="10515600" cy="5194829"/>
          </a:xfrm>
        </p:spPr>
        <p:txBody>
          <a:bodyPr>
            <a:normAutofit fontScale="92500" lnSpcReduction="20000"/>
          </a:bodyPr>
          <a:lstStyle/>
          <a:p>
            <a:pPr algn="just"/>
            <a:r>
              <a:rPr lang="en-US" dirty="0"/>
              <a:t>The simplest scenario in which we want to extract data is when we simply want to select the first or last few rows of the </a:t>
            </a:r>
            <a:r>
              <a:rPr lang="en-US" dirty="0" err="1"/>
              <a:t>DataFrame</a:t>
            </a:r>
            <a:r>
              <a:rPr lang="en-US" dirty="0"/>
              <a:t>.</a:t>
            </a:r>
          </a:p>
          <a:p>
            <a:pPr algn="just"/>
            <a:r>
              <a:rPr lang="en-US" dirty="0"/>
              <a:t>To extract the first n rows of a </a:t>
            </a:r>
            <a:r>
              <a:rPr lang="en-US" dirty="0" err="1"/>
              <a:t>DataFrame</a:t>
            </a:r>
            <a:r>
              <a:rPr lang="en-US" dirty="0"/>
              <a:t> df, we use the syntax </a:t>
            </a:r>
            <a:r>
              <a:rPr lang="en-US" dirty="0" err="1">
                <a:solidFill>
                  <a:srgbClr val="FF0000"/>
                </a:solidFill>
              </a:rPr>
              <a:t>df.head</a:t>
            </a:r>
            <a:r>
              <a:rPr lang="en-US" dirty="0">
                <a:solidFill>
                  <a:srgbClr val="FF0000"/>
                </a:solidFill>
              </a:rPr>
              <a:t>(n)</a:t>
            </a:r>
            <a:r>
              <a:rPr lang="en-US" dirty="0"/>
              <a:t>.</a:t>
            </a:r>
          </a:p>
          <a:p>
            <a:pPr algn="just"/>
            <a:r>
              <a:rPr lang="en-US" dirty="0" err="1">
                <a:solidFill>
                  <a:srgbClr val="FF0000"/>
                </a:solidFill>
              </a:rPr>
              <a:t>elections.head</a:t>
            </a:r>
            <a:r>
              <a:rPr lang="en-US" dirty="0">
                <a:solidFill>
                  <a:srgbClr val="FF0000"/>
                </a:solidFill>
              </a:rPr>
              <a:t>(5)</a:t>
            </a:r>
          </a:p>
          <a:p>
            <a:pPr algn="just"/>
            <a:endParaRPr lang="en-US" dirty="0"/>
          </a:p>
          <a:p>
            <a:pPr algn="just"/>
            <a:r>
              <a:rPr lang="en-US" dirty="0"/>
              <a:t>           Candidate  Year                  Party  Popular vote Result          %</a:t>
            </a:r>
          </a:p>
          <a:p>
            <a:pPr algn="just"/>
            <a:r>
              <a:rPr lang="en-US" dirty="0"/>
              <a:t>0     Andrew Jackson  1824  Democratic-Republican        151271   loss  57.210122</a:t>
            </a:r>
          </a:p>
          <a:p>
            <a:pPr algn="just"/>
            <a:r>
              <a:rPr lang="en-US" dirty="0"/>
              <a:t>1  John Quincy Adams  1824  Democratic-Republican        113142    win  42.789878</a:t>
            </a:r>
          </a:p>
          <a:p>
            <a:pPr algn="just"/>
            <a:r>
              <a:rPr lang="en-US" dirty="0"/>
              <a:t>2     Andrew Jackson  1828             Democratic        642806    win  56.203927</a:t>
            </a:r>
          </a:p>
          <a:p>
            <a:pPr algn="just"/>
            <a:r>
              <a:rPr lang="en-US" dirty="0"/>
              <a:t>3  John Quincy Adams  1828    National Republican        500897   loss  43.796073</a:t>
            </a:r>
          </a:p>
          <a:p>
            <a:pPr algn="just"/>
            <a:r>
              <a:rPr lang="en-US" dirty="0"/>
              <a:t>4     Andrew Jackson  1832             Democratic        702735    win  54.574789</a:t>
            </a:r>
          </a:p>
        </p:txBody>
      </p:sp>
      <p:sp>
        <p:nvSpPr>
          <p:cNvPr id="5" name="Slide Number Placeholder 4">
            <a:extLst>
              <a:ext uri="{FF2B5EF4-FFF2-40B4-BE49-F238E27FC236}">
                <a16:creationId xmlns:a16="http://schemas.microsoft.com/office/drawing/2014/main" id="{DBBF3F11-4134-44C1-9B8E-1EF4B8562099}"/>
              </a:ext>
            </a:extLst>
          </p:cNvPr>
          <p:cNvSpPr>
            <a:spLocks noGrp="1"/>
          </p:cNvSpPr>
          <p:nvPr>
            <p:ph type="sldNum" sz="quarter" idx="12"/>
          </p:nvPr>
        </p:nvSpPr>
        <p:spPr/>
        <p:txBody>
          <a:bodyPr/>
          <a:lstStyle/>
          <a:p>
            <a:fld id="{6B97D948-30E8-43F7-AE10-F6E2D9F2BBB1}" type="slidenum">
              <a:rPr lang="en-US" smtClean="0"/>
              <a:t>149</a:t>
            </a:fld>
            <a:endParaRPr lang="en-US"/>
          </a:p>
        </p:txBody>
      </p:sp>
    </p:spTree>
    <p:extLst>
      <p:ext uri="{BB962C8B-B14F-4D97-AF65-F5344CB8AC3E}">
        <p14:creationId xmlns:p14="http://schemas.microsoft.com/office/powerpoint/2010/main" val="253774594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A1D87C-572C-4AB1-9126-2E86DC01BE72}"/>
              </a:ext>
            </a:extLst>
          </p:cNvPr>
          <p:cNvSpPr>
            <a:spLocks noGrp="1"/>
          </p:cNvSpPr>
          <p:nvPr>
            <p:ph idx="1"/>
          </p:nvPr>
        </p:nvSpPr>
        <p:spPr>
          <a:xfrm>
            <a:off x="838200" y="327378"/>
            <a:ext cx="10515600" cy="5849585"/>
          </a:xfrm>
        </p:spPr>
        <p:txBody>
          <a:bodyPr/>
          <a:lstStyle/>
          <a:p>
            <a:pPr algn="just"/>
            <a:r>
              <a:rPr lang="en-US" dirty="0"/>
              <a:t>Similarly, calling </a:t>
            </a:r>
            <a:r>
              <a:rPr lang="en-US" dirty="0" err="1"/>
              <a:t>df.tail</a:t>
            </a:r>
            <a:r>
              <a:rPr lang="en-US" dirty="0"/>
              <a:t>(n) allows us to extract the last n rows of the </a:t>
            </a:r>
            <a:r>
              <a:rPr lang="en-US" dirty="0" err="1"/>
              <a:t>DataFrame</a:t>
            </a:r>
            <a:r>
              <a:rPr lang="en-US" dirty="0"/>
              <a:t>.</a:t>
            </a:r>
          </a:p>
          <a:p>
            <a:pPr algn="just"/>
            <a:r>
              <a:rPr lang="en-US" dirty="0"/>
              <a:t> </a:t>
            </a:r>
            <a:r>
              <a:rPr lang="en-US" dirty="0" err="1">
                <a:solidFill>
                  <a:srgbClr val="FF0000"/>
                </a:solidFill>
              </a:rPr>
              <a:t>elections.tail</a:t>
            </a:r>
            <a:r>
              <a:rPr lang="en-US" dirty="0">
                <a:solidFill>
                  <a:srgbClr val="FF0000"/>
                </a:solidFill>
              </a:rPr>
              <a:t>(5)</a:t>
            </a:r>
          </a:p>
          <a:p>
            <a:pPr algn="just"/>
            <a:r>
              <a:rPr lang="en-US" dirty="0"/>
              <a:t>Out[40]:</a:t>
            </a:r>
          </a:p>
          <a:p>
            <a:pPr algn="just"/>
            <a:r>
              <a:rPr lang="en-US" dirty="0"/>
              <a:t>          Candidate  Year        Party  Popular vote Result          %</a:t>
            </a:r>
          </a:p>
          <a:p>
            <a:pPr algn="just"/>
            <a:r>
              <a:rPr lang="en-US" dirty="0"/>
              <a:t>177      Jill Stein  2016        Green       1457226   loss   1.073699</a:t>
            </a:r>
          </a:p>
          <a:p>
            <a:pPr algn="just"/>
            <a:r>
              <a:rPr lang="en-US" dirty="0"/>
              <a:t>178    Joseph Biden  2020   Democratic      81268924    win  51.311515</a:t>
            </a:r>
          </a:p>
          <a:p>
            <a:pPr algn="just"/>
            <a:r>
              <a:rPr lang="en-US" dirty="0"/>
              <a:t>179    Donald Trump  2020   Republican      74216154   loss  46.858542</a:t>
            </a:r>
          </a:p>
          <a:p>
            <a:pPr algn="just"/>
            <a:r>
              <a:rPr lang="en-US" dirty="0"/>
              <a:t>180    Jo Jorgensen  2020  Libertarian       1865724   loss   1.177979</a:t>
            </a:r>
          </a:p>
          <a:p>
            <a:pPr algn="just"/>
            <a:r>
              <a:rPr lang="en-US" dirty="0"/>
              <a:t>181  Howard Hawkins  2020        Green        405035   loss   0.255731</a:t>
            </a:r>
          </a:p>
        </p:txBody>
      </p:sp>
      <p:sp>
        <p:nvSpPr>
          <p:cNvPr id="4" name="Slide Number Placeholder 3">
            <a:extLst>
              <a:ext uri="{FF2B5EF4-FFF2-40B4-BE49-F238E27FC236}">
                <a16:creationId xmlns:a16="http://schemas.microsoft.com/office/drawing/2014/main" id="{099F4FD5-F518-49A9-86EA-E93CCBE96F39}"/>
              </a:ext>
            </a:extLst>
          </p:cNvPr>
          <p:cNvSpPr>
            <a:spLocks noGrp="1"/>
          </p:cNvSpPr>
          <p:nvPr>
            <p:ph type="sldNum" sz="quarter" idx="12"/>
          </p:nvPr>
        </p:nvSpPr>
        <p:spPr/>
        <p:txBody>
          <a:bodyPr/>
          <a:lstStyle/>
          <a:p>
            <a:fld id="{6B97D948-30E8-43F7-AE10-F6E2D9F2BBB1}" type="slidenum">
              <a:rPr lang="en-US" smtClean="0"/>
              <a:t>150</a:t>
            </a:fld>
            <a:endParaRPr lang="en-US"/>
          </a:p>
        </p:txBody>
      </p:sp>
    </p:spTree>
    <p:extLst>
      <p:ext uri="{BB962C8B-B14F-4D97-AF65-F5344CB8AC3E}">
        <p14:creationId xmlns:p14="http://schemas.microsoft.com/office/powerpoint/2010/main" val="299051269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1585CE-B376-459F-9EEC-038FC80B58F8}"/>
              </a:ext>
            </a:extLst>
          </p:cNvPr>
          <p:cNvSpPr>
            <a:spLocks noGrp="1"/>
          </p:cNvSpPr>
          <p:nvPr>
            <p:ph idx="1"/>
          </p:nvPr>
        </p:nvSpPr>
        <p:spPr>
          <a:xfrm>
            <a:off x="838200" y="428978"/>
            <a:ext cx="10515600" cy="5747985"/>
          </a:xfrm>
        </p:spPr>
        <p:txBody>
          <a:bodyPr>
            <a:normAutofit fontScale="92500"/>
          </a:bodyPr>
          <a:lstStyle/>
          <a:p>
            <a:r>
              <a:rPr lang="en-US" dirty="0"/>
              <a:t>Say, you want to randomly select cases. .. use sample(n)</a:t>
            </a:r>
          </a:p>
          <a:p>
            <a:endParaRPr lang="en-US" dirty="0"/>
          </a:p>
          <a:p>
            <a:r>
              <a:rPr lang="en-US" dirty="0" err="1">
                <a:solidFill>
                  <a:srgbClr val="FF0000"/>
                </a:solidFill>
              </a:rPr>
              <a:t>elections.sample</a:t>
            </a:r>
            <a:r>
              <a:rPr lang="en-US" dirty="0">
                <a:solidFill>
                  <a:srgbClr val="FF0000"/>
                </a:solidFill>
              </a:rPr>
              <a:t>(5)</a:t>
            </a:r>
          </a:p>
          <a:p>
            <a:r>
              <a:rPr lang="en-US" dirty="0"/>
              <a:t>Out[41]:</a:t>
            </a:r>
          </a:p>
          <a:p>
            <a:r>
              <a:rPr lang="en-US" dirty="0"/>
              <a:t>              Candidate  Year           Party  Popular vote Result          %</a:t>
            </a:r>
          </a:p>
          <a:p>
            <a:r>
              <a:rPr lang="en-US" dirty="0"/>
              <a:t>133       Ronald Reagan  1984      Republican      54455472    win  59.023326</a:t>
            </a:r>
          </a:p>
          <a:p>
            <a:r>
              <a:rPr lang="en-US" dirty="0"/>
              <a:t>91   Franklin Roosevelt  1936      Democratic      27752648    win  60.978107</a:t>
            </a:r>
          </a:p>
          <a:p>
            <a:r>
              <a:rPr lang="en-US" dirty="0"/>
              <a:t>171         Mitt Romney  2012      Republican      60933504   loss  47.384076</a:t>
            </a:r>
          </a:p>
          <a:p>
            <a:r>
              <a:rPr lang="en-US" dirty="0"/>
              <a:t>110  T. Coleman Andrews  1956  States' Rights        107929   loss   0.174883</a:t>
            </a:r>
          </a:p>
          <a:p>
            <a:r>
              <a:rPr lang="en-US" dirty="0"/>
              <a:t>35      James B. Weaver  1880       Greenback        308649   loss   3.352344</a:t>
            </a:r>
          </a:p>
        </p:txBody>
      </p:sp>
      <p:sp>
        <p:nvSpPr>
          <p:cNvPr id="4" name="Slide Number Placeholder 3">
            <a:extLst>
              <a:ext uri="{FF2B5EF4-FFF2-40B4-BE49-F238E27FC236}">
                <a16:creationId xmlns:a16="http://schemas.microsoft.com/office/drawing/2014/main" id="{E7712070-08FE-44B1-BBD5-7170EF5E5418}"/>
              </a:ext>
            </a:extLst>
          </p:cNvPr>
          <p:cNvSpPr>
            <a:spLocks noGrp="1"/>
          </p:cNvSpPr>
          <p:nvPr>
            <p:ph type="sldNum" sz="quarter" idx="12"/>
          </p:nvPr>
        </p:nvSpPr>
        <p:spPr/>
        <p:txBody>
          <a:bodyPr/>
          <a:lstStyle/>
          <a:p>
            <a:fld id="{6B97D948-30E8-43F7-AE10-F6E2D9F2BBB1}" type="slidenum">
              <a:rPr lang="en-US" smtClean="0"/>
              <a:t>151</a:t>
            </a:fld>
            <a:endParaRPr lang="en-US"/>
          </a:p>
        </p:txBody>
      </p:sp>
    </p:spTree>
    <p:extLst>
      <p:ext uri="{BB962C8B-B14F-4D97-AF65-F5344CB8AC3E}">
        <p14:creationId xmlns:p14="http://schemas.microsoft.com/office/powerpoint/2010/main" val="172748383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B1CE-952D-4004-AE02-A5658335FDB4}"/>
              </a:ext>
            </a:extLst>
          </p:cNvPr>
          <p:cNvSpPr>
            <a:spLocks noGrp="1"/>
          </p:cNvSpPr>
          <p:nvPr>
            <p:ph type="title"/>
          </p:nvPr>
        </p:nvSpPr>
        <p:spPr>
          <a:xfrm>
            <a:off x="838200" y="365125"/>
            <a:ext cx="10515600" cy="605719"/>
          </a:xfrm>
        </p:spPr>
        <p:txBody>
          <a:bodyPr>
            <a:normAutofit fontScale="90000"/>
          </a:bodyPr>
          <a:lstStyle/>
          <a:p>
            <a:r>
              <a:rPr lang="en-US" dirty="0"/>
              <a:t>Indexing with </a:t>
            </a:r>
            <a:r>
              <a:rPr lang="en-US" dirty="0">
                <a:solidFill>
                  <a:srgbClr val="FF0000"/>
                </a:solidFill>
              </a:rPr>
              <a:t>.loc</a:t>
            </a:r>
          </a:p>
        </p:txBody>
      </p:sp>
      <p:sp>
        <p:nvSpPr>
          <p:cNvPr id="3" name="Content Placeholder 2">
            <a:extLst>
              <a:ext uri="{FF2B5EF4-FFF2-40B4-BE49-F238E27FC236}">
                <a16:creationId xmlns:a16="http://schemas.microsoft.com/office/drawing/2014/main" id="{868274B7-333C-49F2-9225-285BFBA8F193}"/>
              </a:ext>
            </a:extLst>
          </p:cNvPr>
          <p:cNvSpPr>
            <a:spLocks noGrp="1"/>
          </p:cNvSpPr>
          <p:nvPr>
            <p:ph idx="1"/>
          </p:nvPr>
        </p:nvSpPr>
        <p:spPr>
          <a:xfrm>
            <a:off x="838200" y="970844"/>
            <a:ext cx="10515600" cy="5206119"/>
          </a:xfrm>
        </p:spPr>
        <p:txBody>
          <a:bodyPr>
            <a:normAutofit/>
          </a:bodyPr>
          <a:lstStyle/>
          <a:p>
            <a:pPr algn="just"/>
            <a:r>
              <a:rPr lang="en-US" dirty="0"/>
              <a:t>The </a:t>
            </a:r>
            <a:r>
              <a:rPr lang="en-US" dirty="0">
                <a:solidFill>
                  <a:srgbClr val="FF0000"/>
                </a:solidFill>
              </a:rPr>
              <a:t>.loc </a:t>
            </a:r>
            <a:r>
              <a:rPr lang="en-US" dirty="0"/>
              <a:t>operator selects rows and columns in a </a:t>
            </a:r>
            <a:r>
              <a:rPr lang="en-US" dirty="0" err="1"/>
              <a:t>DataFrame</a:t>
            </a:r>
            <a:r>
              <a:rPr lang="en-US" dirty="0"/>
              <a:t> by their </a:t>
            </a:r>
            <a:r>
              <a:rPr lang="en-US" dirty="0">
                <a:solidFill>
                  <a:srgbClr val="FF0000"/>
                </a:solidFill>
              </a:rPr>
              <a:t>row</a:t>
            </a:r>
            <a:r>
              <a:rPr lang="en-US" dirty="0"/>
              <a:t> and </a:t>
            </a:r>
            <a:r>
              <a:rPr lang="en-US" dirty="0">
                <a:solidFill>
                  <a:srgbClr val="FF0000"/>
                </a:solidFill>
              </a:rPr>
              <a:t>column label(s), </a:t>
            </a:r>
            <a:r>
              <a:rPr lang="en-US" dirty="0"/>
              <a:t>respectively. </a:t>
            </a:r>
          </a:p>
          <a:p>
            <a:pPr algn="just"/>
            <a:r>
              <a:rPr lang="en-US" dirty="0"/>
              <a:t>The row labels (commonly referred to as the indices) are the bold text on the far left of a </a:t>
            </a:r>
            <a:r>
              <a:rPr lang="en-US" dirty="0" err="1"/>
              <a:t>DataFrame</a:t>
            </a:r>
            <a:r>
              <a:rPr lang="en-US" dirty="0"/>
              <a:t>, while the column labels are the column names found at the top of a </a:t>
            </a:r>
            <a:r>
              <a:rPr lang="en-US" dirty="0" err="1"/>
              <a:t>DataFrame</a:t>
            </a:r>
            <a:r>
              <a:rPr lang="en-US" dirty="0"/>
              <a:t>.</a:t>
            </a:r>
          </a:p>
          <a:p>
            <a:endParaRPr lang="en-US" dirty="0"/>
          </a:p>
          <a:p>
            <a:pPr algn="just"/>
            <a:r>
              <a:rPr lang="en-US" dirty="0"/>
              <a:t>To grab data with </a:t>
            </a:r>
            <a:r>
              <a:rPr lang="en-US" dirty="0">
                <a:solidFill>
                  <a:srgbClr val="FF0000"/>
                </a:solidFill>
              </a:rPr>
              <a:t>.loc</a:t>
            </a:r>
            <a:r>
              <a:rPr lang="en-US" dirty="0"/>
              <a:t>, we must specify the row and column label(s) where the data exists. </a:t>
            </a:r>
          </a:p>
          <a:p>
            <a:pPr algn="just"/>
            <a:endParaRPr lang="en-US" dirty="0"/>
          </a:p>
          <a:p>
            <a:pPr algn="just"/>
            <a:r>
              <a:rPr lang="en-US" dirty="0"/>
              <a:t>The </a:t>
            </a:r>
            <a:r>
              <a:rPr lang="en-US" dirty="0">
                <a:solidFill>
                  <a:srgbClr val="FF0000"/>
                </a:solidFill>
              </a:rPr>
              <a:t>row labels</a:t>
            </a:r>
            <a:r>
              <a:rPr lang="en-US" dirty="0"/>
              <a:t> are the first argument to the </a:t>
            </a:r>
            <a:r>
              <a:rPr lang="en-US" dirty="0">
                <a:solidFill>
                  <a:srgbClr val="FF0000"/>
                </a:solidFill>
              </a:rPr>
              <a:t>.loc</a:t>
            </a:r>
            <a:r>
              <a:rPr lang="en-US" dirty="0"/>
              <a:t> function; the column labels are the second. </a:t>
            </a:r>
          </a:p>
        </p:txBody>
      </p:sp>
      <p:sp>
        <p:nvSpPr>
          <p:cNvPr id="5" name="Slide Number Placeholder 4">
            <a:extLst>
              <a:ext uri="{FF2B5EF4-FFF2-40B4-BE49-F238E27FC236}">
                <a16:creationId xmlns:a16="http://schemas.microsoft.com/office/drawing/2014/main" id="{02666926-A1BD-4205-A090-D501A7D12CDA}"/>
              </a:ext>
            </a:extLst>
          </p:cNvPr>
          <p:cNvSpPr>
            <a:spLocks noGrp="1"/>
          </p:cNvSpPr>
          <p:nvPr>
            <p:ph type="sldNum" sz="quarter" idx="12"/>
          </p:nvPr>
        </p:nvSpPr>
        <p:spPr/>
        <p:txBody>
          <a:bodyPr/>
          <a:lstStyle/>
          <a:p>
            <a:fld id="{6B97D948-30E8-43F7-AE10-F6E2D9F2BBB1}" type="slidenum">
              <a:rPr lang="en-US" smtClean="0"/>
              <a:t>152</a:t>
            </a:fld>
            <a:endParaRPr lang="en-US"/>
          </a:p>
        </p:txBody>
      </p:sp>
    </p:spTree>
    <p:extLst>
      <p:ext uri="{BB962C8B-B14F-4D97-AF65-F5344CB8AC3E}">
        <p14:creationId xmlns:p14="http://schemas.microsoft.com/office/powerpoint/2010/main" val="85318236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846A43-DF65-4B39-8FAE-BCF2F172CDAA}"/>
              </a:ext>
            </a:extLst>
          </p:cNvPr>
          <p:cNvSpPr>
            <a:spLocks noGrp="1"/>
          </p:cNvSpPr>
          <p:nvPr>
            <p:ph idx="1"/>
          </p:nvPr>
        </p:nvSpPr>
        <p:spPr>
          <a:xfrm>
            <a:off x="838200" y="372533"/>
            <a:ext cx="10515600" cy="5804430"/>
          </a:xfrm>
        </p:spPr>
        <p:txBody>
          <a:bodyPr/>
          <a:lstStyle/>
          <a:p>
            <a:pPr algn="just"/>
            <a:r>
              <a:rPr lang="en-US" dirty="0"/>
              <a:t>For example, we can select the </a:t>
            </a:r>
            <a:r>
              <a:rPr lang="en-US" dirty="0" err="1"/>
              <a:t>the</a:t>
            </a:r>
            <a:r>
              <a:rPr lang="en-US" dirty="0"/>
              <a:t> row labeled 0 and the column labeled Candidate from the elections </a:t>
            </a:r>
            <a:r>
              <a:rPr lang="en-US" dirty="0" err="1"/>
              <a:t>DataFrame</a:t>
            </a:r>
            <a:r>
              <a:rPr lang="en-US" dirty="0"/>
              <a:t>.</a:t>
            </a:r>
          </a:p>
          <a:p>
            <a:pPr algn="just"/>
            <a:r>
              <a:rPr lang="en-US" dirty="0" err="1">
                <a:solidFill>
                  <a:srgbClr val="FF0000"/>
                </a:solidFill>
              </a:rPr>
              <a:t>elections.loc</a:t>
            </a:r>
            <a:r>
              <a:rPr lang="en-US" dirty="0">
                <a:solidFill>
                  <a:srgbClr val="FF0000"/>
                </a:solidFill>
              </a:rPr>
              <a:t>[0, 'Candidate']</a:t>
            </a:r>
          </a:p>
          <a:p>
            <a:pPr algn="just"/>
            <a:r>
              <a:rPr lang="en-US" dirty="0"/>
              <a:t>Out[42]: 'Andrew Jackson’</a:t>
            </a:r>
          </a:p>
          <a:p>
            <a:pPr algn="just"/>
            <a:r>
              <a:rPr lang="en-US" dirty="0"/>
              <a:t>To select multiple rows and columns, we can use Python slice notation. </a:t>
            </a:r>
          </a:p>
          <a:p>
            <a:pPr algn="just"/>
            <a:r>
              <a:rPr lang="en-US" dirty="0"/>
              <a:t>Here, we select the rows from labels 0 to 3 and the columns from labels "Year" to "Popular vote".</a:t>
            </a:r>
          </a:p>
        </p:txBody>
      </p:sp>
      <p:sp>
        <p:nvSpPr>
          <p:cNvPr id="4" name="Slide Number Placeholder 3">
            <a:extLst>
              <a:ext uri="{FF2B5EF4-FFF2-40B4-BE49-F238E27FC236}">
                <a16:creationId xmlns:a16="http://schemas.microsoft.com/office/drawing/2014/main" id="{52DDE2BE-DFDF-4BD4-8277-151FAD2D360A}"/>
              </a:ext>
            </a:extLst>
          </p:cNvPr>
          <p:cNvSpPr>
            <a:spLocks noGrp="1"/>
          </p:cNvSpPr>
          <p:nvPr>
            <p:ph type="sldNum" sz="quarter" idx="12"/>
          </p:nvPr>
        </p:nvSpPr>
        <p:spPr/>
        <p:txBody>
          <a:bodyPr/>
          <a:lstStyle/>
          <a:p>
            <a:fld id="{6B97D948-30E8-43F7-AE10-F6E2D9F2BBB1}" type="slidenum">
              <a:rPr lang="en-US" smtClean="0"/>
              <a:t>153</a:t>
            </a:fld>
            <a:endParaRPr lang="en-US"/>
          </a:p>
        </p:txBody>
      </p:sp>
    </p:spTree>
    <p:extLst>
      <p:ext uri="{BB962C8B-B14F-4D97-AF65-F5344CB8AC3E}">
        <p14:creationId xmlns:p14="http://schemas.microsoft.com/office/powerpoint/2010/main" val="343290267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54BBFD-D37F-47BF-8848-B3250C6616FC}"/>
              </a:ext>
            </a:extLst>
          </p:cNvPr>
          <p:cNvSpPr>
            <a:spLocks noGrp="1"/>
          </p:cNvSpPr>
          <p:nvPr>
            <p:ph idx="1"/>
          </p:nvPr>
        </p:nvSpPr>
        <p:spPr>
          <a:xfrm>
            <a:off x="838200" y="519289"/>
            <a:ext cx="10515600" cy="5657674"/>
          </a:xfrm>
        </p:spPr>
        <p:txBody>
          <a:bodyPr/>
          <a:lstStyle/>
          <a:p>
            <a:r>
              <a:rPr lang="en-US" dirty="0">
                <a:solidFill>
                  <a:srgbClr val="FF0000"/>
                </a:solidFill>
              </a:rPr>
              <a:t> </a:t>
            </a:r>
            <a:r>
              <a:rPr lang="en-US" dirty="0" err="1">
                <a:solidFill>
                  <a:srgbClr val="FF0000"/>
                </a:solidFill>
              </a:rPr>
              <a:t>elections.loc</a:t>
            </a:r>
            <a:r>
              <a:rPr lang="en-US" dirty="0">
                <a:solidFill>
                  <a:srgbClr val="FF0000"/>
                </a:solidFill>
              </a:rPr>
              <a:t>[0:3, '</a:t>
            </a:r>
            <a:r>
              <a:rPr lang="en-US" dirty="0" err="1">
                <a:solidFill>
                  <a:srgbClr val="FF0000"/>
                </a:solidFill>
              </a:rPr>
              <a:t>Year':'Popular</a:t>
            </a:r>
            <a:r>
              <a:rPr lang="en-US" dirty="0">
                <a:solidFill>
                  <a:srgbClr val="FF0000"/>
                </a:solidFill>
              </a:rPr>
              <a:t> vote']</a:t>
            </a:r>
          </a:p>
          <a:p>
            <a:r>
              <a:rPr lang="en-US" dirty="0"/>
              <a:t>Out[43]:</a:t>
            </a:r>
          </a:p>
          <a:p>
            <a:r>
              <a:rPr lang="en-US" dirty="0"/>
              <a:t>   Year                  Party  Popular vote</a:t>
            </a:r>
          </a:p>
          <a:p>
            <a:r>
              <a:rPr lang="en-US" dirty="0"/>
              <a:t>0  1824  Democratic-Republican        151271</a:t>
            </a:r>
          </a:p>
          <a:p>
            <a:r>
              <a:rPr lang="en-US" dirty="0"/>
              <a:t>1  1824  Democratic-Republican        113142</a:t>
            </a:r>
          </a:p>
          <a:p>
            <a:r>
              <a:rPr lang="en-US" dirty="0"/>
              <a:t>2  1828             Democratic        642806</a:t>
            </a:r>
          </a:p>
          <a:p>
            <a:r>
              <a:rPr lang="en-US" dirty="0"/>
              <a:t>3  1828    National Republican        500897</a:t>
            </a:r>
          </a:p>
        </p:txBody>
      </p:sp>
      <p:sp>
        <p:nvSpPr>
          <p:cNvPr id="4" name="Slide Number Placeholder 3">
            <a:extLst>
              <a:ext uri="{FF2B5EF4-FFF2-40B4-BE49-F238E27FC236}">
                <a16:creationId xmlns:a16="http://schemas.microsoft.com/office/drawing/2014/main" id="{463F7074-4AB8-49F1-92D6-1E867808F086}"/>
              </a:ext>
            </a:extLst>
          </p:cNvPr>
          <p:cNvSpPr>
            <a:spLocks noGrp="1"/>
          </p:cNvSpPr>
          <p:nvPr>
            <p:ph type="sldNum" sz="quarter" idx="12"/>
          </p:nvPr>
        </p:nvSpPr>
        <p:spPr/>
        <p:txBody>
          <a:bodyPr/>
          <a:lstStyle/>
          <a:p>
            <a:fld id="{6B97D948-30E8-43F7-AE10-F6E2D9F2BBB1}" type="slidenum">
              <a:rPr lang="en-US" smtClean="0"/>
              <a:t>154</a:t>
            </a:fld>
            <a:endParaRPr lang="en-US"/>
          </a:p>
        </p:txBody>
      </p:sp>
    </p:spTree>
    <p:extLst>
      <p:ext uri="{BB962C8B-B14F-4D97-AF65-F5344CB8AC3E}">
        <p14:creationId xmlns:p14="http://schemas.microsoft.com/office/powerpoint/2010/main" val="49057671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ECD04F-F52A-4021-A4CB-A8D16A0DF559}"/>
              </a:ext>
            </a:extLst>
          </p:cNvPr>
          <p:cNvSpPr>
            <a:spLocks noGrp="1"/>
          </p:cNvSpPr>
          <p:nvPr>
            <p:ph idx="1"/>
          </p:nvPr>
        </p:nvSpPr>
        <p:spPr>
          <a:xfrm>
            <a:off x="838200" y="620889"/>
            <a:ext cx="10515600" cy="5556074"/>
          </a:xfrm>
        </p:spPr>
        <p:txBody>
          <a:bodyPr>
            <a:normAutofit fontScale="92500" lnSpcReduction="20000"/>
          </a:bodyPr>
          <a:lstStyle/>
          <a:p>
            <a:pPr algn="just"/>
            <a:r>
              <a:rPr lang="en-US" dirty="0"/>
              <a:t>Suppose that instead, we wanted every column value for the first four rows in the elections </a:t>
            </a:r>
            <a:r>
              <a:rPr lang="en-US" dirty="0" err="1"/>
              <a:t>DataFrame</a:t>
            </a:r>
            <a:r>
              <a:rPr lang="en-US" dirty="0"/>
              <a:t>. </a:t>
            </a:r>
          </a:p>
          <a:p>
            <a:pPr algn="just"/>
            <a:endParaRPr lang="en-US" dirty="0"/>
          </a:p>
          <a:p>
            <a:pPr algn="just"/>
            <a:r>
              <a:rPr lang="en-US" dirty="0"/>
              <a:t>The shorthand </a:t>
            </a:r>
            <a:r>
              <a:rPr lang="en-US" sz="3600" b="1" dirty="0">
                <a:solidFill>
                  <a:srgbClr val="FF0000"/>
                </a:solidFill>
              </a:rPr>
              <a:t>:</a:t>
            </a:r>
            <a:r>
              <a:rPr lang="en-US" dirty="0"/>
              <a:t> is useful for this.</a:t>
            </a:r>
          </a:p>
          <a:p>
            <a:pPr algn="just"/>
            <a:r>
              <a:rPr lang="en-US" dirty="0" err="1">
                <a:solidFill>
                  <a:srgbClr val="FF0000"/>
                </a:solidFill>
              </a:rPr>
              <a:t>elections.loc</a:t>
            </a:r>
            <a:r>
              <a:rPr lang="en-US" dirty="0">
                <a:solidFill>
                  <a:srgbClr val="FF0000"/>
                </a:solidFill>
              </a:rPr>
              <a:t>[0:3, :]</a:t>
            </a:r>
          </a:p>
          <a:p>
            <a:pPr algn="just"/>
            <a:r>
              <a:rPr lang="en-US" dirty="0"/>
              <a:t>Out[44]:</a:t>
            </a:r>
          </a:p>
          <a:p>
            <a:pPr algn="just"/>
            <a:r>
              <a:rPr lang="en-US" dirty="0"/>
              <a:t>           Candidate  Year                  Party  Popular vote Result          %</a:t>
            </a:r>
          </a:p>
          <a:p>
            <a:pPr algn="just"/>
            <a:r>
              <a:rPr lang="en-US" dirty="0"/>
              <a:t>0     Andrew Jackson  1824  Democratic-Republican        151271   loss  57.210122</a:t>
            </a:r>
          </a:p>
          <a:p>
            <a:pPr algn="just"/>
            <a:r>
              <a:rPr lang="en-US" dirty="0"/>
              <a:t>1  John Quincy Adams  1824  Democratic-Republican        113142    win  42.789878</a:t>
            </a:r>
          </a:p>
          <a:p>
            <a:pPr algn="just"/>
            <a:r>
              <a:rPr lang="en-US" dirty="0"/>
              <a:t>2     Andrew Jackson  1828             Democratic        642806    win  56.203927</a:t>
            </a:r>
          </a:p>
          <a:p>
            <a:pPr algn="just"/>
            <a:r>
              <a:rPr lang="en-US" dirty="0"/>
              <a:t>3  John Quincy Adams  1828    National Republican        500897   loss  43.796073</a:t>
            </a:r>
          </a:p>
        </p:txBody>
      </p:sp>
      <p:sp>
        <p:nvSpPr>
          <p:cNvPr id="4" name="Slide Number Placeholder 3">
            <a:extLst>
              <a:ext uri="{FF2B5EF4-FFF2-40B4-BE49-F238E27FC236}">
                <a16:creationId xmlns:a16="http://schemas.microsoft.com/office/drawing/2014/main" id="{FA48CF05-34AD-4928-8DE5-0DDB6C154725}"/>
              </a:ext>
            </a:extLst>
          </p:cNvPr>
          <p:cNvSpPr>
            <a:spLocks noGrp="1"/>
          </p:cNvSpPr>
          <p:nvPr>
            <p:ph type="sldNum" sz="quarter" idx="12"/>
          </p:nvPr>
        </p:nvSpPr>
        <p:spPr/>
        <p:txBody>
          <a:bodyPr/>
          <a:lstStyle/>
          <a:p>
            <a:fld id="{6B97D948-30E8-43F7-AE10-F6E2D9F2BBB1}" type="slidenum">
              <a:rPr lang="en-US" smtClean="0"/>
              <a:t>155</a:t>
            </a:fld>
            <a:endParaRPr lang="en-US"/>
          </a:p>
        </p:txBody>
      </p:sp>
    </p:spTree>
    <p:extLst>
      <p:ext uri="{BB962C8B-B14F-4D97-AF65-F5344CB8AC3E}">
        <p14:creationId xmlns:p14="http://schemas.microsoft.com/office/powerpoint/2010/main" val="314020803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F921-2773-4D95-BB1F-28D9734FDE17}"/>
              </a:ext>
            </a:extLst>
          </p:cNvPr>
          <p:cNvSpPr>
            <a:spLocks noGrp="1"/>
          </p:cNvSpPr>
          <p:nvPr>
            <p:ph type="title"/>
          </p:nvPr>
        </p:nvSpPr>
        <p:spPr>
          <a:xfrm>
            <a:off x="838200" y="365125"/>
            <a:ext cx="10515600" cy="729897"/>
          </a:xfrm>
        </p:spPr>
        <p:txBody>
          <a:bodyPr/>
          <a:lstStyle/>
          <a:p>
            <a:r>
              <a:rPr lang="en-US" dirty="0"/>
              <a:t>Note carefully</a:t>
            </a:r>
          </a:p>
        </p:txBody>
      </p:sp>
      <p:sp>
        <p:nvSpPr>
          <p:cNvPr id="3" name="Content Placeholder 2">
            <a:extLst>
              <a:ext uri="{FF2B5EF4-FFF2-40B4-BE49-F238E27FC236}">
                <a16:creationId xmlns:a16="http://schemas.microsoft.com/office/drawing/2014/main" id="{B1BF2981-0E33-4B80-8ECA-083DDE4B2B68}"/>
              </a:ext>
            </a:extLst>
          </p:cNvPr>
          <p:cNvSpPr>
            <a:spLocks noGrp="1"/>
          </p:cNvSpPr>
          <p:nvPr>
            <p:ph idx="1"/>
          </p:nvPr>
        </p:nvSpPr>
        <p:spPr>
          <a:xfrm>
            <a:off x="838200" y="1095022"/>
            <a:ext cx="10515600" cy="5081941"/>
          </a:xfrm>
        </p:spPr>
        <p:txBody>
          <a:bodyPr>
            <a:normAutofit lnSpcReduction="10000"/>
          </a:bodyPr>
          <a:lstStyle/>
          <a:p>
            <a:pPr algn="just"/>
            <a:r>
              <a:rPr lang="en-US" dirty="0"/>
              <a:t>There are a couple of things we should note. </a:t>
            </a:r>
          </a:p>
          <a:p>
            <a:pPr algn="just"/>
            <a:r>
              <a:rPr lang="en-US" dirty="0"/>
              <a:t>Firstly, unlike conventional Python, Pandas allows us to slice string values (in our example, the column labels). </a:t>
            </a:r>
          </a:p>
          <a:p>
            <a:pPr algn="just"/>
            <a:endParaRPr lang="en-US" dirty="0"/>
          </a:p>
          <a:p>
            <a:pPr algn="just"/>
            <a:r>
              <a:rPr lang="en-US" dirty="0"/>
              <a:t>Secondly, slicing with .loc is inclusive. </a:t>
            </a:r>
          </a:p>
          <a:p>
            <a:pPr algn="just"/>
            <a:endParaRPr lang="en-US" dirty="0"/>
          </a:p>
          <a:p>
            <a:pPr algn="just"/>
            <a:r>
              <a:rPr lang="en-US" dirty="0"/>
              <a:t>Notice how our resulting </a:t>
            </a:r>
            <a:r>
              <a:rPr lang="en-US" dirty="0" err="1"/>
              <a:t>DataFrame</a:t>
            </a:r>
            <a:r>
              <a:rPr lang="en-US" dirty="0"/>
              <a:t> includes every row and column between and including the slice labels we specified.</a:t>
            </a:r>
          </a:p>
          <a:p>
            <a:pPr algn="just"/>
            <a:endParaRPr lang="en-US" dirty="0"/>
          </a:p>
          <a:p>
            <a:pPr algn="just"/>
            <a:r>
              <a:rPr lang="en-US" dirty="0"/>
              <a:t>Equivalently, we can use a list to obtain multiple rows and columns in our elections </a:t>
            </a:r>
            <a:r>
              <a:rPr lang="en-US" dirty="0" err="1"/>
              <a:t>DataFrame</a:t>
            </a:r>
            <a:r>
              <a:rPr lang="en-US" dirty="0"/>
              <a:t>.</a:t>
            </a:r>
          </a:p>
        </p:txBody>
      </p:sp>
      <p:sp>
        <p:nvSpPr>
          <p:cNvPr id="5" name="Slide Number Placeholder 4">
            <a:extLst>
              <a:ext uri="{FF2B5EF4-FFF2-40B4-BE49-F238E27FC236}">
                <a16:creationId xmlns:a16="http://schemas.microsoft.com/office/drawing/2014/main" id="{FE73F327-5380-4ECA-81EE-CD05783B9DAC}"/>
              </a:ext>
            </a:extLst>
          </p:cNvPr>
          <p:cNvSpPr>
            <a:spLocks noGrp="1"/>
          </p:cNvSpPr>
          <p:nvPr>
            <p:ph type="sldNum" sz="quarter" idx="12"/>
          </p:nvPr>
        </p:nvSpPr>
        <p:spPr/>
        <p:txBody>
          <a:bodyPr/>
          <a:lstStyle/>
          <a:p>
            <a:fld id="{6B97D948-30E8-43F7-AE10-F6E2D9F2BBB1}" type="slidenum">
              <a:rPr lang="en-US" smtClean="0"/>
              <a:t>156</a:t>
            </a:fld>
            <a:endParaRPr lang="en-US"/>
          </a:p>
        </p:txBody>
      </p:sp>
    </p:spTree>
    <p:extLst>
      <p:ext uri="{BB962C8B-B14F-4D97-AF65-F5344CB8AC3E}">
        <p14:creationId xmlns:p14="http://schemas.microsoft.com/office/powerpoint/2010/main" val="259354314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997126-7EA2-470C-BDF6-C9E084942218}"/>
              </a:ext>
            </a:extLst>
          </p:cNvPr>
          <p:cNvSpPr>
            <a:spLocks noGrp="1"/>
          </p:cNvSpPr>
          <p:nvPr>
            <p:ph idx="1"/>
          </p:nvPr>
        </p:nvSpPr>
        <p:spPr>
          <a:xfrm>
            <a:off x="838200" y="451556"/>
            <a:ext cx="10515600" cy="5725407"/>
          </a:xfrm>
        </p:spPr>
        <p:txBody>
          <a:bodyPr/>
          <a:lstStyle/>
          <a:p>
            <a:r>
              <a:rPr lang="en-US" dirty="0" err="1">
                <a:solidFill>
                  <a:srgbClr val="FF0000"/>
                </a:solidFill>
              </a:rPr>
              <a:t>elections.loc</a:t>
            </a:r>
            <a:r>
              <a:rPr lang="en-US" dirty="0">
                <a:solidFill>
                  <a:srgbClr val="FF0000"/>
                </a:solidFill>
              </a:rPr>
              <a:t>[[0, 1, 2, 3], ['Year', 'Candidate', 'Party', 'Popular vote']]</a:t>
            </a:r>
          </a:p>
          <a:p>
            <a:r>
              <a:rPr lang="en-US" dirty="0"/>
              <a:t>Out[45]:</a:t>
            </a:r>
          </a:p>
          <a:p>
            <a:r>
              <a:rPr lang="en-US" dirty="0"/>
              <a:t>   Year          Candidate                  Party  Popular vote</a:t>
            </a:r>
          </a:p>
          <a:p>
            <a:r>
              <a:rPr lang="en-US" dirty="0"/>
              <a:t>0  1824     Andrew Jackson  Democratic-Republican        151271</a:t>
            </a:r>
          </a:p>
          <a:p>
            <a:r>
              <a:rPr lang="en-US" dirty="0"/>
              <a:t>1  1824  John Quincy Adams  Democratic-Republican        113142</a:t>
            </a:r>
          </a:p>
          <a:p>
            <a:r>
              <a:rPr lang="en-US" dirty="0"/>
              <a:t>2  1828     Andrew Jackson             Democratic        642806</a:t>
            </a:r>
          </a:p>
          <a:p>
            <a:r>
              <a:rPr lang="en-US" dirty="0"/>
              <a:t>3  1828  John Quincy Adams    National Republican        500897</a:t>
            </a:r>
          </a:p>
        </p:txBody>
      </p:sp>
      <p:sp>
        <p:nvSpPr>
          <p:cNvPr id="4" name="Slide Number Placeholder 3">
            <a:extLst>
              <a:ext uri="{FF2B5EF4-FFF2-40B4-BE49-F238E27FC236}">
                <a16:creationId xmlns:a16="http://schemas.microsoft.com/office/drawing/2014/main" id="{E00681E0-C3AD-4BF6-BC01-25DB2B58ECF8}"/>
              </a:ext>
            </a:extLst>
          </p:cNvPr>
          <p:cNvSpPr>
            <a:spLocks noGrp="1"/>
          </p:cNvSpPr>
          <p:nvPr>
            <p:ph type="sldNum" sz="quarter" idx="12"/>
          </p:nvPr>
        </p:nvSpPr>
        <p:spPr/>
        <p:txBody>
          <a:bodyPr/>
          <a:lstStyle/>
          <a:p>
            <a:fld id="{6B97D948-30E8-43F7-AE10-F6E2D9F2BBB1}" type="slidenum">
              <a:rPr lang="en-US" smtClean="0"/>
              <a:t>157</a:t>
            </a:fld>
            <a:endParaRPr lang="en-US"/>
          </a:p>
        </p:txBody>
      </p:sp>
    </p:spTree>
    <p:extLst>
      <p:ext uri="{BB962C8B-B14F-4D97-AF65-F5344CB8AC3E}">
        <p14:creationId xmlns:p14="http://schemas.microsoft.com/office/powerpoint/2010/main" val="397334238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AF7713-53B7-4AE7-92DE-A0D74046144B}"/>
              </a:ext>
            </a:extLst>
          </p:cNvPr>
          <p:cNvSpPr>
            <a:spLocks noGrp="1"/>
          </p:cNvSpPr>
          <p:nvPr>
            <p:ph idx="1"/>
          </p:nvPr>
        </p:nvSpPr>
        <p:spPr>
          <a:xfrm>
            <a:off x="838200" y="485422"/>
            <a:ext cx="10515600" cy="5691541"/>
          </a:xfrm>
        </p:spPr>
        <p:txBody>
          <a:bodyPr>
            <a:normAutofit fontScale="92500" lnSpcReduction="10000"/>
          </a:bodyPr>
          <a:lstStyle/>
          <a:p>
            <a:r>
              <a:rPr lang="en-US" dirty="0"/>
              <a:t>Lastly, we can interchange list and slicing notation.</a:t>
            </a:r>
          </a:p>
          <a:p>
            <a:endParaRPr lang="en-US" dirty="0"/>
          </a:p>
          <a:p>
            <a:r>
              <a:rPr lang="en-US" dirty="0" err="1">
                <a:solidFill>
                  <a:srgbClr val="FF0000"/>
                </a:solidFill>
              </a:rPr>
              <a:t>elections.loc</a:t>
            </a:r>
            <a:r>
              <a:rPr lang="en-US" dirty="0">
                <a:solidFill>
                  <a:srgbClr val="FF0000"/>
                </a:solidFill>
              </a:rPr>
              <a:t>[[0, 1, 2, 3], :]</a:t>
            </a:r>
          </a:p>
          <a:p>
            <a:endParaRPr lang="en-US" dirty="0"/>
          </a:p>
          <a:p>
            <a:r>
              <a:rPr lang="en-US" dirty="0"/>
              <a:t>Out[46]:</a:t>
            </a:r>
          </a:p>
          <a:p>
            <a:r>
              <a:rPr lang="en-US" dirty="0"/>
              <a:t>           Candidate  Year                  Party  Popular vote Result          %</a:t>
            </a:r>
          </a:p>
          <a:p>
            <a:r>
              <a:rPr lang="en-US" dirty="0"/>
              <a:t>0     Andrew Jackson  1824  Democratic-Republican        151271   loss  57.210122</a:t>
            </a:r>
          </a:p>
          <a:p>
            <a:r>
              <a:rPr lang="en-US" dirty="0"/>
              <a:t>1  John Quincy Adams  1824  Democratic-Republican        113142    win  42.789878</a:t>
            </a:r>
          </a:p>
          <a:p>
            <a:r>
              <a:rPr lang="en-US" dirty="0"/>
              <a:t>2     Andrew Jackson  1828             Democratic        642806    win  56.203927</a:t>
            </a:r>
          </a:p>
          <a:p>
            <a:r>
              <a:rPr lang="en-US" dirty="0"/>
              <a:t>3  John Quincy Adams  1828    National Republican        500897   loss  43.796073</a:t>
            </a:r>
          </a:p>
        </p:txBody>
      </p:sp>
      <p:sp>
        <p:nvSpPr>
          <p:cNvPr id="4" name="Slide Number Placeholder 3">
            <a:extLst>
              <a:ext uri="{FF2B5EF4-FFF2-40B4-BE49-F238E27FC236}">
                <a16:creationId xmlns:a16="http://schemas.microsoft.com/office/drawing/2014/main" id="{F6C97AEE-83C9-4F6B-B48C-98D2A0119974}"/>
              </a:ext>
            </a:extLst>
          </p:cNvPr>
          <p:cNvSpPr>
            <a:spLocks noGrp="1"/>
          </p:cNvSpPr>
          <p:nvPr>
            <p:ph type="sldNum" sz="quarter" idx="12"/>
          </p:nvPr>
        </p:nvSpPr>
        <p:spPr/>
        <p:txBody>
          <a:bodyPr/>
          <a:lstStyle/>
          <a:p>
            <a:fld id="{6B97D948-30E8-43F7-AE10-F6E2D9F2BBB1}" type="slidenum">
              <a:rPr lang="en-US" smtClean="0"/>
              <a:t>158</a:t>
            </a:fld>
            <a:endParaRPr lang="en-US"/>
          </a:p>
        </p:txBody>
      </p:sp>
    </p:spTree>
    <p:extLst>
      <p:ext uri="{BB962C8B-B14F-4D97-AF65-F5344CB8AC3E}">
        <p14:creationId xmlns:p14="http://schemas.microsoft.com/office/powerpoint/2010/main" val="66912321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3E7C-D7B1-4518-9DB3-7CD98BA6E549}"/>
              </a:ext>
            </a:extLst>
          </p:cNvPr>
          <p:cNvSpPr>
            <a:spLocks noGrp="1"/>
          </p:cNvSpPr>
          <p:nvPr>
            <p:ph type="title"/>
          </p:nvPr>
        </p:nvSpPr>
        <p:spPr>
          <a:xfrm>
            <a:off x="838200" y="365125"/>
            <a:ext cx="10515600" cy="628297"/>
          </a:xfrm>
        </p:spPr>
        <p:txBody>
          <a:bodyPr>
            <a:normAutofit fontScale="90000"/>
          </a:bodyPr>
          <a:lstStyle/>
          <a:p>
            <a:r>
              <a:rPr lang="en-US" dirty="0"/>
              <a:t>Indexing with </a:t>
            </a:r>
            <a:r>
              <a:rPr lang="en-US" dirty="0">
                <a:solidFill>
                  <a:srgbClr val="FF0000"/>
                </a:solidFill>
              </a:rPr>
              <a:t>.</a:t>
            </a:r>
            <a:r>
              <a:rPr lang="en-US" dirty="0" err="1">
                <a:solidFill>
                  <a:srgbClr val="FF0000"/>
                </a:solidFill>
              </a:rPr>
              <a:t>iloc</a:t>
            </a:r>
            <a:endParaRPr lang="en-US" dirty="0">
              <a:solidFill>
                <a:srgbClr val="FF0000"/>
              </a:solidFill>
            </a:endParaRPr>
          </a:p>
        </p:txBody>
      </p:sp>
      <p:sp>
        <p:nvSpPr>
          <p:cNvPr id="3" name="Content Placeholder 2">
            <a:extLst>
              <a:ext uri="{FF2B5EF4-FFF2-40B4-BE49-F238E27FC236}">
                <a16:creationId xmlns:a16="http://schemas.microsoft.com/office/drawing/2014/main" id="{A38DEDB9-363A-4F26-8A95-03F584E205E7}"/>
              </a:ext>
            </a:extLst>
          </p:cNvPr>
          <p:cNvSpPr>
            <a:spLocks noGrp="1"/>
          </p:cNvSpPr>
          <p:nvPr>
            <p:ph idx="1"/>
          </p:nvPr>
        </p:nvSpPr>
        <p:spPr>
          <a:xfrm>
            <a:off x="838200" y="993422"/>
            <a:ext cx="10515600" cy="5183541"/>
          </a:xfrm>
        </p:spPr>
        <p:txBody>
          <a:bodyPr>
            <a:normAutofit/>
          </a:bodyPr>
          <a:lstStyle/>
          <a:p>
            <a:pPr algn="just"/>
            <a:r>
              <a:rPr lang="en-US" dirty="0"/>
              <a:t>Slicing with </a:t>
            </a:r>
            <a:r>
              <a:rPr lang="en-US" dirty="0">
                <a:solidFill>
                  <a:srgbClr val="FF0000"/>
                </a:solidFill>
              </a:rPr>
              <a:t>.</a:t>
            </a:r>
            <a:r>
              <a:rPr lang="en-US" dirty="0" err="1">
                <a:solidFill>
                  <a:srgbClr val="FF0000"/>
                </a:solidFill>
              </a:rPr>
              <a:t>iloc</a:t>
            </a:r>
            <a:r>
              <a:rPr lang="en-US" dirty="0">
                <a:solidFill>
                  <a:srgbClr val="FF0000"/>
                </a:solidFill>
              </a:rPr>
              <a:t> </a:t>
            </a:r>
            <a:r>
              <a:rPr lang="en-US" dirty="0"/>
              <a:t>works </a:t>
            </a:r>
            <a:r>
              <a:rPr lang="en-US" dirty="0" err="1"/>
              <a:t>similarily</a:t>
            </a:r>
            <a:r>
              <a:rPr lang="en-US" dirty="0"/>
              <a:t> to </a:t>
            </a:r>
            <a:r>
              <a:rPr lang="en-US" dirty="0">
                <a:solidFill>
                  <a:srgbClr val="FF0000"/>
                </a:solidFill>
              </a:rPr>
              <a:t>.loc</a:t>
            </a:r>
            <a:r>
              <a:rPr lang="en-US" dirty="0"/>
              <a:t>. </a:t>
            </a:r>
          </a:p>
          <a:p>
            <a:pPr algn="just"/>
            <a:endParaRPr lang="en-US" dirty="0"/>
          </a:p>
          <a:p>
            <a:pPr algn="just"/>
            <a:endParaRPr lang="en-US" dirty="0"/>
          </a:p>
          <a:p>
            <a:pPr algn="just"/>
            <a:r>
              <a:rPr lang="en-US" dirty="0"/>
              <a:t>However, </a:t>
            </a:r>
            <a:r>
              <a:rPr lang="en-US" dirty="0">
                <a:solidFill>
                  <a:srgbClr val="FF0000"/>
                </a:solidFill>
              </a:rPr>
              <a:t>.</a:t>
            </a:r>
            <a:r>
              <a:rPr lang="en-US" dirty="0" err="1">
                <a:solidFill>
                  <a:srgbClr val="FF0000"/>
                </a:solidFill>
              </a:rPr>
              <a:t>iloc</a:t>
            </a:r>
            <a:r>
              <a:rPr lang="en-US" dirty="0"/>
              <a:t> uses the </a:t>
            </a:r>
            <a:r>
              <a:rPr lang="en-US" dirty="0">
                <a:solidFill>
                  <a:srgbClr val="00B0F0"/>
                </a:solidFill>
              </a:rPr>
              <a:t>index positions of rows and columns</a:t>
            </a:r>
            <a:r>
              <a:rPr lang="en-US" dirty="0"/>
              <a:t> rather the </a:t>
            </a:r>
            <a:r>
              <a:rPr lang="en-US" dirty="0">
                <a:solidFill>
                  <a:srgbClr val="7030A0"/>
                </a:solidFill>
              </a:rPr>
              <a:t>labels</a:t>
            </a:r>
            <a:r>
              <a:rPr lang="en-US" dirty="0"/>
              <a:t> (think to yourself: loc uses labels; </a:t>
            </a:r>
            <a:r>
              <a:rPr lang="en-US" dirty="0" err="1"/>
              <a:t>iloc</a:t>
            </a:r>
            <a:r>
              <a:rPr lang="en-US" dirty="0"/>
              <a:t> uses indices). </a:t>
            </a:r>
          </a:p>
          <a:p>
            <a:pPr algn="just"/>
            <a:endParaRPr lang="en-US" dirty="0"/>
          </a:p>
          <a:p>
            <a:pPr algn="just"/>
            <a:endParaRPr lang="en-US" dirty="0"/>
          </a:p>
          <a:p>
            <a:pPr algn="just"/>
            <a:r>
              <a:rPr lang="en-US" dirty="0"/>
              <a:t>The arguments to the .</a:t>
            </a:r>
            <a:r>
              <a:rPr lang="en-US" dirty="0" err="1"/>
              <a:t>iloc</a:t>
            </a:r>
            <a:r>
              <a:rPr lang="en-US" dirty="0"/>
              <a:t> function also behave similarly -– single values, lists, indices, and any combination of these are permitted.</a:t>
            </a:r>
          </a:p>
          <a:p>
            <a:endParaRPr lang="en-US" dirty="0"/>
          </a:p>
        </p:txBody>
      </p:sp>
      <p:sp>
        <p:nvSpPr>
          <p:cNvPr id="5" name="Slide Number Placeholder 4">
            <a:extLst>
              <a:ext uri="{FF2B5EF4-FFF2-40B4-BE49-F238E27FC236}">
                <a16:creationId xmlns:a16="http://schemas.microsoft.com/office/drawing/2014/main" id="{7AF28208-1FF3-4895-B232-88EE1A8F35C4}"/>
              </a:ext>
            </a:extLst>
          </p:cNvPr>
          <p:cNvSpPr>
            <a:spLocks noGrp="1"/>
          </p:cNvSpPr>
          <p:nvPr>
            <p:ph type="sldNum" sz="quarter" idx="12"/>
          </p:nvPr>
        </p:nvSpPr>
        <p:spPr/>
        <p:txBody>
          <a:bodyPr/>
          <a:lstStyle/>
          <a:p>
            <a:fld id="{6B97D948-30E8-43F7-AE10-F6E2D9F2BBB1}" type="slidenum">
              <a:rPr lang="en-US" smtClean="0"/>
              <a:t>159</a:t>
            </a:fld>
            <a:endParaRPr lang="en-US"/>
          </a:p>
        </p:txBody>
      </p:sp>
    </p:spTree>
    <p:extLst>
      <p:ext uri="{BB962C8B-B14F-4D97-AF65-F5344CB8AC3E}">
        <p14:creationId xmlns:p14="http://schemas.microsoft.com/office/powerpoint/2010/main" val="194791137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065E76-30CC-40DC-9F55-12115444650D}"/>
              </a:ext>
            </a:extLst>
          </p:cNvPr>
          <p:cNvSpPr>
            <a:spLocks noGrp="1"/>
          </p:cNvSpPr>
          <p:nvPr>
            <p:ph idx="1"/>
          </p:nvPr>
        </p:nvSpPr>
        <p:spPr>
          <a:xfrm>
            <a:off x="838200" y="316089"/>
            <a:ext cx="10515600" cy="5860874"/>
          </a:xfrm>
        </p:spPr>
        <p:txBody>
          <a:bodyPr>
            <a:normAutofit/>
          </a:bodyPr>
          <a:lstStyle/>
          <a:p>
            <a:pPr algn="just"/>
            <a:r>
              <a:rPr lang="en-US" dirty="0"/>
              <a:t>Let’s begin reproducing our results from above. </a:t>
            </a:r>
          </a:p>
          <a:p>
            <a:pPr algn="just"/>
            <a:endParaRPr lang="en-US" dirty="0"/>
          </a:p>
          <a:p>
            <a:pPr algn="just"/>
            <a:r>
              <a:rPr lang="en-US" dirty="0"/>
              <a:t>We’ll begin by selecting for the first presidential candidate in our elections </a:t>
            </a:r>
            <a:r>
              <a:rPr lang="en-US" dirty="0" err="1"/>
              <a:t>DataFrame</a:t>
            </a:r>
            <a:r>
              <a:rPr lang="en-US" dirty="0"/>
              <a:t>:</a:t>
            </a:r>
          </a:p>
          <a:p>
            <a:pPr algn="just"/>
            <a:r>
              <a:rPr lang="en-US" dirty="0"/>
              <a:t> </a:t>
            </a:r>
          </a:p>
          <a:p>
            <a:pPr algn="just"/>
            <a:r>
              <a:rPr lang="en-US" dirty="0" err="1">
                <a:solidFill>
                  <a:srgbClr val="FF0000"/>
                </a:solidFill>
              </a:rPr>
              <a:t>elections.loc</a:t>
            </a:r>
            <a:r>
              <a:rPr lang="en-US" dirty="0">
                <a:solidFill>
                  <a:srgbClr val="FF0000"/>
                </a:solidFill>
              </a:rPr>
              <a:t>[0, "Candidate"] #- Previous approach</a:t>
            </a:r>
          </a:p>
          <a:p>
            <a:pPr algn="just"/>
            <a:r>
              <a:rPr lang="en-US" dirty="0"/>
              <a:t>'Andrew Jackson’</a:t>
            </a:r>
          </a:p>
          <a:p>
            <a:pPr algn="just"/>
            <a:endParaRPr lang="en-US" dirty="0"/>
          </a:p>
          <a:p>
            <a:pPr algn="just"/>
            <a:r>
              <a:rPr lang="en-US" dirty="0" err="1">
                <a:solidFill>
                  <a:srgbClr val="FF0000"/>
                </a:solidFill>
              </a:rPr>
              <a:t>elections.iloc</a:t>
            </a:r>
            <a:r>
              <a:rPr lang="en-US" dirty="0">
                <a:solidFill>
                  <a:srgbClr val="FF0000"/>
                </a:solidFill>
              </a:rPr>
              <a:t>[0, 0]</a:t>
            </a:r>
          </a:p>
          <a:p>
            <a:pPr algn="just"/>
            <a:r>
              <a:rPr lang="en-US" dirty="0"/>
              <a:t>Out[50]: 'Andrew Jackson'</a:t>
            </a:r>
          </a:p>
          <a:p>
            <a:endParaRPr lang="en-US" dirty="0"/>
          </a:p>
        </p:txBody>
      </p:sp>
      <p:sp>
        <p:nvSpPr>
          <p:cNvPr id="4" name="Slide Number Placeholder 3">
            <a:extLst>
              <a:ext uri="{FF2B5EF4-FFF2-40B4-BE49-F238E27FC236}">
                <a16:creationId xmlns:a16="http://schemas.microsoft.com/office/drawing/2014/main" id="{A9FBA6E9-58AE-4B2F-8E9F-515CA0B9FF30}"/>
              </a:ext>
            </a:extLst>
          </p:cNvPr>
          <p:cNvSpPr>
            <a:spLocks noGrp="1"/>
          </p:cNvSpPr>
          <p:nvPr>
            <p:ph type="sldNum" sz="quarter" idx="12"/>
          </p:nvPr>
        </p:nvSpPr>
        <p:spPr/>
        <p:txBody>
          <a:bodyPr/>
          <a:lstStyle/>
          <a:p>
            <a:fld id="{6B97D948-30E8-43F7-AE10-F6E2D9F2BBB1}" type="slidenum">
              <a:rPr lang="en-US" smtClean="0"/>
              <a:t>160</a:t>
            </a:fld>
            <a:endParaRPr lang="en-US"/>
          </a:p>
        </p:txBody>
      </p:sp>
    </p:spTree>
    <p:extLst>
      <p:ext uri="{BB962C8B-B14F-4D97-AF65-F5344CB8AC3E}">
        <p14:creationId xmlns:p14="http://schemas.microsoft.com/office/powerpoint/2010/main" val="305665072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98B12-5AC5-49B7-89B6-FDDBB5FD836D}"/>
              </a:ext>
            </a:extLst>
          </p:cNvPr>
          <p:cNvSpPr>
            <a:spLocks noGrp="1"/>
          </p:cNvSpPr>
          <p:nvPr>
            <p:ph idx="1"/>
          </p:nvPr>
        </p:nvSpPr>
        <p:spPr>
          <a:xfrm>
            <a:off x="838200" y="496711"/>
            <a:ext cx="10515600" cy="5680252"/>
          </a:xfrm>
        </p:spPr>
        <p:txBody>
          <a:bodyPr/>
          <a:lstStyle/>
          <a:p>
            <a:r>
              <a:rPr lang="en-US" dirty="0"/>
              <a:t> </a:t>
            </a:r>
            <a:r>
              <a:rPr lang="en-US" dirty="0" err="1">
                <a:solidFill>
                  <a:srgbClr val="FF0000"/>
                </a:solidFill>
              </a:rPr>
              <a:t>elections.iloc</a:t>
            </a:r>
            <a:r>
              <a:rPr lang="en-US" dirty="0">
                <a:solidFill>
                  <a:srgbClr val="FF0000"/>
                </a:solidFill>
              </a:rPr>
              <a:t>[0:4, 0:4]</a:t>
            </a:r>
          </a:p>
          <a:p>
            <a:r>
              <a:rPr lang="en-US" dirty="0"/>
              <a:t>Out[51]:</a:t>
            </a:r>
          </a:p>
          <a:p>
            <a:r>
              <a:rPr lang="en-US" dirty="0"/>
              <a:t>           Candidate  Year                  Party  Popular vote</a:t>
            </a:r>
          </a:p>
          <a:p>
            <a:r>
              <a:rPr lang="en-US" dirty="0"/>
              <a:t>0     Andrew Jackson  1824  Democratic-Republican        151271</a:t>
            </a:r>
          </a:p>
          <a:p>
            <a:r>
              <a:rPr lang="en-US" dirty="0"/>
              <a:t>1  John Quincy Adams  1824  Democratic-Republican        113142</a:t>
            </a:r>
          </a:p>
          <a:p>
            <a:r>
              <a:rPr lang="en-US" dirty="0"/>
              <a:t>2     Andrew Jackson  1828             Democratic        642806</a:t>
            </a:r>
          </a:p>
          <a:p>
            <a:r>
              <a:rPr lang="en-US" dirty="0"/>
              <a:t>3  John Quincy Adams  1828    National Republican        500897</a:t>
            </a:r>
          </a:p>
          <a:p>
            <a:endParaRPr lang="en-US" dirty="0"/>
          </a:p>
        </p:txBody>
      </p:sp>
      <p:sp>
        <p:nvSpPr>
          <p:cNvPr id="4" name="Slide Number Placeholder 3">
            <a:extLst>
              <a:ext uri="{FF2B5EF4-FFF2-40B4-BE49-F238E27FC236}">
                <a16:creationId xmlns:a16="http://schemas.microsoft.com/office/drawing/2014/main" id="{739E3F17-D2CC-4384-848E-154DE819E163}"/>
              </a:ext>
            </a:extLst>
          </p:cNvPr>
          <p:cNvSpPr>
            <a:spLocks noGrp="1"/>
          </p:cNvSpPr>
          <p:nvPr>
            <p:ph type="sldNum" sz="quarter" idx="12"/>
          </p:nvPr>
        </p:nvSpPr>
        <p:spPr/>
        <p:txBody>
          <a:bodyPr/>
          <a:lstStyle/>
          <a:p>
            <a:fld id="{6B97D948-30E8-43F7-AE10-F6E2D9F2BBB1}" type="slidenum">
              <a:rPr lang="en-US" smtClean="0"/>
              <a:t>161</a:t>
            </a:fld>
            <a:endParaRPr lang="en-US"/>
          </a:p>
        </p:txBody>
      </p:sp>
    </p:spTree>
    <p:extLst>
      <p:ext uri="{BB962C8B-B14F-4D97-AF65-F5344CB8AC3E}">
        <p14:creationId xmlns:p14="http://schemas.microsoft.com/office/powerpoint/2010/main" val="281727047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56ED27-7183-44BC-8DD2-06B649CE8580}"/>
              </a:ext>
            </a:extLst>
          </p:cNvPr>
          <p:cNvSpPr>
            <a:spLocks noGrp="1"/>
          </p:cNvSpPr>
          <p:nvPr>
            <p:ph idx="1"/>
          </p:nvPr>
        </p:nvSpPr>
        <p:spPr>
          <a:xfrm>
            <a:off x="838200" y="598311"/>
            <a:ext cx="10515600" cy="5578652"/>
          </a:xfrm>
        </p:spPr>
        <p:txBody>
          <a:bodyPr/>
          <a:lstStyle/>
          <a:p>
            <a:pPr algn="just"/>
            <a:r>
              <a:rPr lang="en-US" dirty="0"/>
              <a:t>Slicing is no longer inclusive in </a:t>
            </a:r>
            <a:r>
              <a:rPr lang="en-US" dirty="0">
                <a:solidFill>
                  <a:srgbClr val="FF0000"/>
                </a:solidFill>
              </a:rPr>
              <a:t>.</a:t>
            </a:r>
            <a:r>
              <a:rPr lang="en-US" dirty="0" err="1">
                <a:solidFill>
                  <a:srgbClr val="FF0000"/>
                </a:solidFill>
              </a:rPr>
              <a:t>iloc</a:t>
            </a:r>
            <a:r>
              <a:rPr lang="en-US" dirty="0">
                <a:solidFill>
                  <a:srgbClr val="FF0000"/>
                </a:solidFill>
              </a:rPr>
              <a:t> </a:t>
            </a:r>
            <a:r>
              <a:rPr lang="en-US" dirty="0"/>
              <a:t>-– it’s exclusive. </a:t>
            </a:r>
          </a:p>
          <a:p>
            <a:pPr algn="just"/>
            <a:endParaRPr lang="en-US" dirty="0"/>
          </a:p>
          <a:p>
            <a:pPr algn="just"/>
            <a:r>
              <a:rPr lang="en-US" dirty="0"/>
              <a:t>In other words, the right-end of a slice is not included when using .</a:t>
            </a:r>
            <a:r>
              <a:rPr lang="en-US" dirty="0" err="1"/>
              <a:t>iloc</a:t>
            </a:r>
            <a:r>
              <a:rPr lang="en-US" dirty="0"/>
              <a:t>. </a:t>
            </a:r>
          </a:p>
          <a:p>
            <a:pPr algn="just"/>
            <a:endParaRPr lang="en-US" dirty="0"/>
          </a:p>
          <a:p>
            <a:pPr algn="just"/>
            <a:r>
              <a:rPr lang="en-US" dirty="0"/>
              <a:t>This is one of the subtleties of pandas syntax; you will get used to it with practice.</a:t>
            </a:r>
          </a:p>
          <a:p>
            <a:pPr algn="just"/>
            <a:r>
              <a:rPr lang="en-US" dirty="0"/>
              <a:t>When should we use .loc vs .</a:t>
            </a:r>
            <a:r>
              <a:rPr lang="en-US" dirty="0" err="1"/>
              <a:t>iloc</a:t>
            </a:r>
            <a:r>
              <a:rPr lang="en-US" dirty="0"/>
              <a:t>? </a:t>
            </a:r>
          </a:p>
          <a:p>
            <a:pPr algn="just"/>
            <a:r>
              <a:rPr lang="en-US" dirty="0"/>
              <a:t>In most cases, .loc is generally safer to use. </a:t>
            </a:r>
          </a:p>
          <a:p>
            <a:pPr algn="just"/>
            <a:r>
              <a:rPr lang="en-US" dirty="0"/>
              <a:t>You can imagine .</a:t>
            </a:r>
            <a:r>
              <a:rPr lang="en-US" dirty="0" err="1"/>
              <a:t>iloc</a:t>
            </a:r>
            <a:r>
              <a:rPr lang="en-US" dirty="0"/>
              <a:t> may return incorrect values when applied to a dataset where the ordering of data can change.</a:t>
            </a:r>
          </a:p>
        </p:txBody>
      </p:sp>
      <p:sp>
        <p:nvSpPr>
          <p:cNvPr id="4" name="Slide Number Placeholder 3">
            <a:extLst>
              <a:ext uri="{FF2B5EF4-FFF2-40B4-BE49-F238E27FC236}">
                <a16:creationId xmlns:a16="http://schemas.microsoft.com/office/drawing/2014/main" id="{29F87AA4-D8DB-4214-9506-DC176EC6CF18}"/>
              </a:ext>
            </a:extLst>
          </p:cNvPr>
          <p:cNvSpPr>
            <a:spLocks noGrp="1"/>
          </p:cNvSpPr>
          <p:nvPr>
            <p:ph type="sldNum" sz="quarter" idx="12"/>
          </p:nvPr>
        </p:nvSpPr>
        <p:spPr/>
        <p:txBody>
          <a:bodyPr/>
          <a:lstStyle/>
          <a:p>
            <a:fld id="{6B97D948-30E8-43F7-AE10-F6E2D9F2BBB1}" type="slidenum">
              <a:rPr lang="en-US" smtClean="0"/>
              <a:t>162</a:t>
            </a:fld>
            <a:endParaRPr lang="en-US"/>
          </a:p>
        </p:txBody>
      </p:sp>
    </p:spTree>
    <p:extLst>
      <p:ext uri="{BB962C8B-B14F-4D97-AF65-F5344CB8AC3E}">
        <p14:creationId xmlns:p14="http://schemas.microsoft.com/office/powerpoint/2010/main" val="264051670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1BBDA-10C2-4C81-81CF-864A2ED2F6DF}"/>
              </a:ext>
            </a:extLst>
          </p:cNvPr>
          <p:cNvSpPr>
            <a:spLocks noGrp="1"/>
          </p:cNvSpPr>
          <p:nvPr>
            <p:ph type="title"/>
          </p:nvPr>
        </p:nvSpPr>
        <p:spPr>
          <a:xfrm>
            <a:off x="838200" y="365126"/>
            <a:ext cx="10515600" cy="639586"/>
          </a:xfrm>
        </p:spPr>
        <p:txBody>
          <a:bodyPr>
            <a:normAutofit fontScale="90000"/>
          </a:bodyPr>
          <a:lstStyle/>
          <a:p>
            <a:r>
              <a:rPr lang="en-US" dirty="0"/>
              <a:t>Indexing with </a:t>
            </a:r>
            <a:r>
              <a:rPr lang="en-US" dirty="0">
                <a:solidFill>
                  <a:srgbClr val="FF0000"/>
                </a:solidFill>
              </a:rPr>
              <a:t>[]</a:t>
            </a:r>
          </a:p>
        </p:txBody>
      </p:sp>
      <p:sp>
        <p:nvSpPr>
          <p:cNvPr id="3" name="Content Placeholder 2">
            <a:extLst>
              <a:ext uri="{FF2B5EF4-FFF2-40B4-BE49-F238E27FC236}">
                <a16:creationId xmlns:a16="http://schemas.microsoft.com/office/drawing/2014/main" id="{2BAAD6B5-7AD6-4E57-B83E-F422746C390E}"/>
              </a:ext>
            </a:extLst>
          </p:cNvPr>
          <p:cNvSpPr>
            <a:spLocks noGrp="1"/>
          </p:cNvSpPr>
          <p:nvPr>
            <p:ph idx="1"/>
          </p:nvPr>
        </p:nvSpPr>
        <p:spPr>
          <a:xfrm>
            <a:off x="838200" y="1004712"/>
            <a:ext cx="10515600" cy="5172251"/>
          </a:xfrm>
        </p:spPr>
        <p:txBody>
          <a:bodyPr>
            <a:normAutofit/>
          </a:bodyPr>
          <a:lstStyle/>
          <a:p>
            <a:pPr algn="just"/>
            <a:r>
              <a:rPr lang="en-US" dirty="0"/>
              <a:t>The </a:t>
            </a:r>
            <a:r>
              <a:rPr lang="en-US" dirty="0">
                <a:solidFill>
                  <a:srgbClr val="FF0000"/>
                </a:solidFill>
              </a:rPr>
              <a:t>[]</a:t>
            </a:r>
            <a:r>
              <a:rPr lang="en-US" dirty="0"/>
              <a:t> selection operator is the most baffling of all, yet the most commonly used. </a:t>
            </a:r>
          </a:p>
          <a:p>
            <a:pPr algn="just"/>
            <a:endParaRPr lang="en-US" dirty="0"/>
          </a:p>
          <a:p>
            <a:pPr algn="just"/>
            <a:r>
              <a:rPr lang="en-US" dirty="0"/>
              <a:t>It only takes a single argument, which may be one of the following:</a:t>
            </a:r>
          </a:p>
          <a:p>
            <a:endParaRPr lang="en-US" dirty="0"/>
          </a:p>
          <a:p>
            <a:r>
              <a:rPr lang="en-US" dirty="0"/>
              <a:t>    A slice of row numbers</a:t>
            </a:r>
          </a:p>
          <a:p>
            <a:r>
              <a:rPr lang="en-US" dirty="0"/>
              <a:t>    A list of column labels</a:t>
            </a:r>
          </a:p>
          <a:p>
            <a:r>
              <a:rPr lang="en-US" dirty="0"/>
              <a:t>    A single column label</a:t>
            </a:r>
          </a:p>
          <a:p>
            <a:endParaRPr lang="en-US" dirty="0"/>
          </a:p>
          <a:p>
            <a:r>
              <a:rPr lang="en-US" dirty="0"/>
              <a:t>That is, [] is context dependent. Let’s see some examples.</a:t>
            </a:r>
          </a:p>
        </p:txBody>
      </p:sp>
      <p:sp>
        <p:nvSpPr>
          <p:cNvPr id="5" name="Slide Number Placeholder 4">
            <a:extLst>
              <a:ext uri="{FF2B5EF4-FFF2-40B4-BE49-F238E27FC236}">
                <a16:creationId xmlns:a16="http://schemas.microsoft.com/office/drawing/2014/main" id="{90D802FB-F4A6-4C4E-9F83-ABD008815780}"/>
              </a:ext>
            </a:extLst>
          </p:cNvPr>
          <p:cNvSpPr>
            <a:spLocks noGrp="1"/>
          </p:cNvSpPr>
          <p:nvPr>
            <p:ph type="sldNum" sz="quarter" idx="12"/>
          </p:nvPr>
        </p:nvSpPr>
        <p:spPr/>
        <p:txBody>
          <a:bodyPr/>
          <a:lstStyle/>
          <a:p>
            <a:fld id="{6B97D948-30E8-43F7-AE10-F6E2D9F2BBB1}" type="slidenum">
              <a:rPr lang="en-US" smtClean="0"/>
              <a:t>163</a:t>
            </a:fld>
            <a:endParaRPr lang="en-US"/>
          </a:p>
        </p:txBody>
      </p:sp>
    </p:spTree>
    <p:extLst>
      <p:ext uri="{BB962C8B-B14F-4D97-AF65-F5344CB8AC3E}">
        <p14:creationId xmlns:p14="http://schemas.microsoft.com/office/powerpoint/2010/main" val="377902137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D7121-008D-4D9E-A5F2-01742335B1A3}"/>
              </a:ext>
            </a:extLst>
          </p:cNvPr>
          <p:cNvSpPr>
            <a:spLocks noGrp="1"/>
          </p:cNvSpPr>
          <p:nvPr>
            <p:ph type="title"/>
          </p:nvPr>
        </p:nvSpPr>
        <p:spPr>
          <a:xfrm>
            <a:off x="838200" y="365125"/>
            <a:ext cx="10515600" cy="628297"/>
          </a:xfrm>
        </p:spPr>
        <p:txBody>
          <a:bodyPr>
            <a:normAutofit fontScale="90000"/>
          </a:bodyPr>
          <a:lstStyle/>
          <a:p>
            <a:r>
              <a:rPr lang="en-US" dirty="0"/>
              <a:t>A slice of row numbers</a:t>
            </a:r>
          </a:p>
        </p:txBody>
      </p:sp>
      <p:sp>
        <p:nvSpPr>
          <p:cNvPr id="3" name="Content Placeholder 2">
            <a:extLst>
              <a:ext uri="{FF2B5EF4-FFF2-40B4-BE49-F238E27FC236}">
                <a16:creationId xmlns:a16="http://schemas.microsoft.com/office/drawing/2014/main" id="{46AB844A-F17E-4EEF-BEF9-2D76AE770871}"/>
              </a:ext>
            </a:extLst>
          </p:cNvPr>
          <p:cNvSpPr>
            <a:spLocks noGrp="1"/>
          </p:cNvSpPr>
          <p:nvPr>
            <p:ph idx="1"/>
          </p:nvPr>
        </p:nvSpPr>
        <p:spPr>
          <a:xfrm>
            <a:off x="838200" y="993422"/>
            <a:ext cx="10515600" cy="5183541"/>
          </a:xfrm>
        </p:spPr>
        <p:txBody>
          <a:bodyPr>
            <a:normAutofit fontScale="92500" lnSpcReduction="10000"/>
          </a:bodyPr>
          <a:lstStyle/>
          <a:p>
            <a:r>
              <a:rPr lang="en-US" dirty="0"/>
              <a:t>Say we wanted the first four rows of our elections </a:t>
            </a:r>
            <a:r>
              <a:rPr lang="en-US" dirty="0" err="1"/>
              <a:t>DataFrame</a:t>
            </a:r>
            <a:r>
              <a:rPr lang="en-US" dirty="0"/>
              <a:t>.</a:t>
            </a:r>
          </a:p>
          <a:p>
            <a:endParaRPr lang="en-US" dirty="0"/>
          </a:p>
          <a:p>
            <a:r>
              <a:rPr lang="en-US" dirty="0"/>
              <a:t> </a:t>
            </a:r>
            <a:r>
              <a:rPr lang="en-US" dirty="0">
                <a:solidFill>
                  <a:srgbClr val="FF0000"/>
                </a:solidFill>
              </a:rPr>
              <a:t>elections[0:4]</a:t>
            </a:r>
          </a:p>
          <a:p>
            <a:r>
              <a:rPr lang="en-US" dirty="0"/>
              <a:t>Out[52]:</a:t>
            </a:r>
          </a:p>
          <a:p>
            <a:r>
              <a:rPr lang="en-US" dirty="0"/>
              <a:t>           Candidate  Year                  Party  Popular vote Result          %</a:t>
            </a:r>
          </a:p>
          <a:p>
            <a:r>
              <a:rPr lang="en-US" dirty="0"/>
              <a:t>0     Andrew Jackson  1824  Democratic-Republican        151271   loss  57.210122</a:t>
            </a:r>
          </a:p>
          <a:p>
            <a:r>
              <a:rPr lang="en-US" dirty="0"/>
              <a:t>1  John Quincy Adams  1824  Democratic-Republican        113142    win  42.789878</a:t>
            </a:r>
          </a:p>
          <a:p>
            <a:r>
              <a:rPr lang="en-US" dirty="0"/>
              <a:t>2     Andrew Jackson  1828             Democratic        642806    win  56.203927</a:t>
            </a:r>
          </a:p>
          <a:p>
            <a:r>
              <a:rPr lang="en-US" dirty="0"/>
              <a:t>3  John Quincy Adams  1828    National Republican        500897   loss  43.796073</a:t>
            </a:r>
          </a:p>
          <a:p>
            <a:endParaRPr lang="en-US" dirty="0"/>
          </a:p>
        </p:txBody>
      </p:sp>
      <p:sp>
        <p:nvSpPr>
          <p:cNvPr id="5" name="Slide Number Placeholder 4">
            <a:extLst>
              <a:ext uri="{FF2B5EF4-FFF2-40B4-BE49-F238E27FC236}">
                <a16:creationId xmlns:a16="http://schemas.microsoft.com/office/drawing/2014/main" id="{A75C3759-AC45-4CE2-B0A2-719FE3017107}"/>
              </a:ext>
            </a:extLst>
          </p:cNvPr>
          <p:cNvSpPr>
            <a:spLocks noGrp="1"/>
          </p:cNvSpPr>
          <p:nvPr>
            <p:ph type="sldNum" sz="quarter" idx="12"/>
          </p:nvPr>
        </p:nvSpPr>
        <p:spPr/>
        <p:txBody>
          <a:bodyPr/>
          <a:lstStyle/>
          <a:p>
            <a:fld id="{6B97D948-30E8-43F7-AE10-F6E2D9F2BBB1}" type="slidenum">
              <a:rPr lang="en-US" smtClean="0"/>
              <a:t>164</a:t>
            </a:fld>
            <a:endParaRPr lang="en-US"/>
          </a:p>
        </p:txBody>
      </p:sp>
    </p:spTree>
    <p:extLst>
      <p:ext uri="{BB962C8B-B14F-4D97-AF65-F5344CB8AC3E}">
        <p14:creationId xmlns:p14="http://schemas.microsoft.com/office/powerpoint/2010/main" val="358257739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1B513-E27A-4C8F-B6AF-9B321232C795}"/>
              </a:ext>
            </a:extLst>
          </p:cNvPr>
          <p:cNvSpPr>
            <a:spLocks noGrp="1"/>
          </p:cNvSpPr>
          <p:nvPr>
            <p:ph type="title"/>
          </p:nvPr>
        </p:nvSpPr>
        <p:spPr>
          <a:xfrm>
            <a:off x="838200" y="365126"/>
            <a:ext cx="10515600" cy="718608"/>
          </a:xfrm>
        </p:spPr>
        <p:txBody>
          <a:bodyPr/>
          <a:lstStyle/>
          <a:p>
            <a:r>
              <a:rPr lang="en-US" dirty="0"/>
              <a:t>A list of column labels</a:t>
            </a:r>
          </a:p>
        </p:txBody>
      </p:sp>
      <p:sp>
        <p:nvSpPr>
          <p:cNvPr id="3" name="Content Placeholder 2">
            <a:extLst>
              <a:ext uri="{FF2B5EF4-FFF2-40B4-BE49-F238E27FC236}">
                <a16:creationId xmlns:a16="http://schemas.microsoft.com/office/drawing/2014/main" id="{ED4E1466-F989-49FC-9386-A4FC12CBBE2A}"/>
              </a:ext>
            </a:extLst>
          </p:cNvPr>
          <p:cNvSpPr>
            <a:spLocks noGrp="1"/>
          </p:cNvSpPr>
          <p:nvPr>
            <p:ph idx="1"/>
          </p:nvPr>
        </p:nvSpPr>
        <p:spPr>
          <a:xfrm>
            <a:off x="838200" y="1083734"/>
            <a:ext cx="10515600" cy="5093229"/>
          </a:xfrm>
        </p:spPr>
        <p:txBody>
          <a:bodyPr/>
          <a:lstStyle/>
          <a:p>
            <a:r>
              <a:rPr lang="en-US" dirty="0"/>
              <a:t>Suppose we now want the first four columns.</a:t>
            </a:r>
          </a:p>
          <a:p>
            <a:r>
              <a:rPr lang="en-US" dirty="0"/>
              <a:t> </a:t>
            </a:r>
            <a:r>
              <a:rPr lang="en-US" dirty="0">
                <a:solidFill>
                  <a:srgbClr val="FF0000"/>
                </a:solidFill>
              </a:rPr>
              <a:t>elections</a:t>
            </a:r>
            <a:r>
              <a:rPr lang="en-US" dirty="0">
                <a:solidFill>
                  <a:srgbClr val="00B0F0"/>
                </a:solidFill>
              </a:rPr>
              <a:t>[[</a:t>
            </a:r>
            <a:r>
              <a:rPr lang="en-US" dirty="0">
                <a:solidFill>
                  <a:srgbClr val="FF0000"/>
                </a:solidFill>
              </a:rPr>
              <a:t>"Year", "Candidate", "Party", "Popular vote"</a:t>
            </a:r>
            <a:r>
              <a:rPr lang="en-US" dirty="0">
                <a:solidFill>
                  <a:srgbClr val="00B0F0"/>
                </a:solidFill>
              </a:rPr>
              <a:t>]]</a:t>
            </a:r>
          </a:p>
          <a:p>
            <a:r>
              <a:rPr lang="en-US" dirty="0"/>
              <a:t>Out[53]:</a:t>
            </a:r>
          </a:p>
          <a:p>
            <a:r>
              <a:rPr lang="en-US" dirty="0"/>
              <a:t>     Year          Candidate                  Party  Popular vote</a:t>
            </a:r>
          </a:p>
          <a:p>
            <a:r>
              <a:rPr lang="en-US" dirty="0"/>
              <a:t>0    1824     Andrew Jackson  Democratic-Republican        151271</a:t>
            </a:r>
          </a:p>
          <a:p>
            <a:r>
              <a:rPr lang="en-US" dirty="0"/>
              <a:t>1    1824  John Quincy Adams  Democratic-Republican        113142</a:t>
            </a:r>
          </a:p>
          <a:p>
            <a:r>
              <a:rPr lang="en-US" dirty="0"/>
              <a:t>2    1828     Andrew Jackson             Democratic        642806</a:t>
            </a:r>
          </a:p>
        </p:txBody>
      </p:sp>
      <p:sp>
        <p:nvSpPr>
          <p:cNvPr id="5" name="Slide Number Placeholder 4">
            <a:extLst>
              <a:ext uri="{FF2B5EF4-FFF2-40B4-BE49-F238E27FC236}">
                <a16:creationId xmlns:a16="http://schemas.microsoft.com/office/drawing/2014/main" id="{2B9A4BCF-6871-4E85-A58B-51F35229E5F5}"/>
              </a:ext>
            </a:extLst>
          </p:cNvPr>
          <p:cNvSpPr>
            <a:spLocks noGrp="1"/>
          </p:cNvSpPr>
          <p:nvPr>
            <p:ph type="sldNum" sz="quarter" idx="12"/>
          </p:nvPr>
        </p:nvSpPr>
        <p:spPr/>
        <p:txBody>
          <a:bodyPr/>
          <a:lstStyle/>
          <a:p>
            <a:fld id="{6B97D948-30E8-43F7-AE10-F6E2D9F2BBB1}" type="slidenum">
              <a:rPr lang="en-US" smtClean="0"/>
              <a:t>165</a:t>
            </a:fld>
            <a:endParaRPr lang="en-US"/>
          </a:p>
        </p:txBody>
      </p:sp>
    </p:spTree>
    <p:extLst>
      <p:ext uri="{BB962C8B-B14F-4D97-AF65-F5344CB8AC3E}">
        <p14:creationId xmlns:p14="http://schemas.microsoft.com/office/powerpoint/2010/main" val="287684907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76E9C-54CE-41B5-BB05-DB55327E4CE2}"/>
              </a:ext>
            </a:extLst>
          </p:cNvPr>
          <p:cNvSpPr>
            <a:spLocks noGrp="1"/>
          </p:cNvSpPr>
          <p:nvPr>
            <p:ph type="title"/>
          </p:nvPr>
        </p:nvSpPr>
        <p:spPr>
          <a:xfrm>
            <a:off x="838200" y="365126"/>
            <a:ext cx="10515600" cy="639586"/>
          </a:xfrm>
        </p:spPr>
        <p:txBody>
          <a:bodyPr>
            <a:normAutofit fontScale="90000"/>
          </a:bodyPr>
          <a:lstStyle/>
          <a:p>
            <a:r>
              <a:rPr lang="en-US" dirty="0"/>
              <a:t>A single column label</a:t>
            </a:r>
          </a:p>
        </p:txBody>
      </p:sp>
      <p:sp>
        <p:nvSpPr>
          <p:cNvPr id="3" name="Content Placeholder 2">
            <a:extLst>
              <a:ext uri="{FF2B5EF4-FFF2-40B4-BE49-F238E27FC236}">
                <a16:creationId xmlns:a16="http://schemas.microsoft.com/office/drawing/2014/main" id="{8779ABC1-DF2C-4DA0-8B99-0CBE1E72BC8A}"/>
              </a:ext>
            </a:extLst>
          </p:cNvPr>
          <p:cNvSpPr>
            <a:spLocks noGrp="1"/>
          </p:cNvSpPr>
          <p:nvPr>
            <p:ph idx="1"/>
          </p:nvPr>
        </p:nvSpPr>
        <p:spPr>
          <a:xfrm>
            <a:off x="838200" y="1004712"/>
            <a:ext cx="10515600" cy="5172251"/>
          </a:xfrm>
        </p:spPr>
        <p:txBody>
          <a:bodyPr>
            <a:normAutofit lnSpcReduction="10000"/>
          </a:bodyPr>
          <a:lstStyle/>
          <a:p>
            <a:r>
              <a:rPr lang="en-US" dirty="0"/>
              <a:t>Lastly, [ ] allows us to extract only the Candidate column.</a:t>
            </a:r>
          </a:p>
          <a:p>
            <a:endParaRPr lang="en-US" dirty="0"/>
          </a:p>
          <a:p>
            <a:r>
              <a:rPr lang="en-US" dirty="0"/>
              <a:t> </a:t>
            </a:r>
            <a:r>
              <a:rPr lang="en-US" dirty="0">
                <a:solidFill>
                  <a:srgbClr val="FF0000"/>
                </a:solidFill>
              </a:rPr>
              <a:t>elections["Candidate"]</a:t>
            </a:r>
          </a:p>
          <a:p>
            <a:r>
              <a:rPr lang="en-US" dirty="0"/>
              <a:t>Out[54]:</a:t>
            </a:r>
          </a:p>
          <a:p>
            <a:r>
              <a:rPr lang="en-US" dirty="0"/>
              <a:t>0         Andrew Jackson</a:t>
            </a:r>
          </a:p>
          <a:p>
            <a:r>
              <a:rPr lang="en-US" dirty="0"/>
              <a:t>1      John Quincy Adams</a:t>
            </a:r>
          </a:p>
          <a:p>
            <a:r>
              <a:rPr lang="en-US" dirty="0"/>
              <a:t>2         Andrew Jackson</a:t>
            </a:r>
          </a:p>
          <a:p>
            <a:r>
              <a:rPr lang="en-US" dirty="0"/>
              <a:t>3      John Quincy Adams</a:t>
            </a:r>
          </a:p>
          <a:p>
            <a:r>
              <a:rPr lang="en-US" dirty="0"/>
              <a:t>4         Andrew Jackson</a:t>
            </a:r>
          </a:p>
          <a:p>
            <a:r>
              <a:rPr lang="en-US" dirty="0"/>
              <a:t>             ...</a:t>
            </a:r>
          </a:p>
          <a:p>
            <a:r>
              <a:rPr lang="en-US" dirty="0"/>
              <a:t>177           Jill Stein</a:t>
            </a:r>
          </a:p>
        </p:txBody>
      </p:sp>
      <p:sp>
        <p:nvSpPr>
          <p:cNvPr id="5" name="Slide Number Placeholder 4">
            <a:extLst>
              <a:ext uri="{FF2B5EF4-FFF2-40B4-BE49-F238E27FC236}">
                <a16:creationId xmlns:a16="http://schemas.microsoft.com/office/drawing/2014/main" id="{D01C4C72-B1C9-464F-8472-DA1756B7AC91}"/>
              </a:ext>
            </a:extLst>
          </p:cNvPr>
          <p:cNvSpPr>
            <a:spLocks noGrp="1"/>
          </p:cNvSpPr>
          <p:nvPr>
            <p:ph type="sldNum" sz="quarter" idx="12"/>
          </p:nvPr>
        </p:nvSpPr>
        <p:spPr/>
        <p:txBody>
          <a:bodyPr/>
          <a:lstStyle/>
          <a:p>
            <a:fld id="{6B97D948-30E8-43F7-AE10-F6E2D9F2BBB1}" type="slidenum">
              <a:rPr lang="en-US" smtClean="0"/>
              <a:t>166</a:t>
            </a:fld>
            <a:endParaRPr lang="en-US"/>
          </a:p>
        </p:txBody>
      </p:sp>
    </p:spTree>
    <p:extLst>
      <p:ext uri="{BB962C8B-B14F-4D97-AF65-F5344CB8AC3E}">
        <p14:creationId xmlns:p14="http://schemas.microsoft.com/office/powerpoint/2010/main" val="99560485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CB1FE-FC57-4EA8-B16A-471617DC77FF}"/>
              </a:ext>
            </a:extLst>
          </p:cNvPr>
          <p:cNvSpPr>
            <a:spLocks noGrp="1"/>
          </p:cNvSpPr>
          <p:nvPr>
            <p:ph type="title"/>
          </p:nvPr>
        </p:nvSpPr>
        <p:spPr>
          <a:xfrm>
            <a:off x="838200" y="365125"/>
            <a:ext cx="10515600" cy="608269"/>
          </a:xfrm>
        </p:spPr>
        <p:txBody>
          <a:bodyPr>
            <a:normAutofit fontScale="90000"/>
          </a:bodyPr>
          <a:lstStyle/>
          <a:p>
            <a:r>
              <a:rPr lang="en-US" dirty="0"/>
              <a:t>Pandas II</a:t>
            </a:r>
          </a:p>
        </p:txBody>
      </p:sp>
      <p:sp>
        <p:nvSpPr>
          <p:cNvPr id="3" name="Content Placeholder 2">
            <a:extLst>
              <a:ext uri="{FF2B5EF4-FFF2-40B4-BE49-F238E27FC236}">
                <a16:creationId xmlns:a16="http://schemas.microsoft.com/office/drawing/2014/main" id="{112F07AF-5993-46A2-9CB7-D45AC7608799}"/>
              </a:ext>
            </a:extLst>
          </p:cNvPr>
          <p:cNvSpPr>
            <a:spLocks noGrp="1"/>
          </p:cNvSpPr>
          <p:nvPr>
            <p:ph idx="1"/>
          </p:nvPr>
        </p:nvSpPr>
        <p:spPr>
          <a:xfrm>
            <a:off x="838200" y="973394"/>
            <a:ext cx="10515600" cy="5203569"/>
          </a:xfrm>
        </p:spPr>
        <p:txBody>
          <a:bodyPr/>
          <a:lstStyle/>
          <a:p>
            <a:pPr algn="just"/>
            <a:r>
              <a:rPr lang="en-US" dirty="0"/>
              <a:t>We have learned about the pandas library as a framework for processing data. </a:t>
            </a:r>
          </a:p>
          <a:p>
            <a:pPr algn="just"/>
            <a:endParaRPr lang="en-US" dirty="0"/>
          </a:p>
          <a:p>
            <a:pPr algn="just"/>
            <a:r>
              <a:rPr lang="en-US" dirty="0"/>
              <a:t>We came across the </a:t>
            </a:r>
            <a:r>
              <a:rPr lang="en-US" dirty="0" err="1"/>
              <a:t>DataFrame</a:t>
            </a:r>
            <a:r>
              <a:rPr lang="en-US" dirty="0"/>
              <a:t> and Series data structures, familiarized ourselves with the basic syntax for manipulating tabular data, and began writing our first lines of pandas code.</a:t>
            </a:r>
          </a:p>
          <a:p>
            <a:pPr algn="just"/>
            <a:endParaRPr lang="en-US" dirty="0"/>
          </a:p>
          <a:p>
            <a:pPr algn="just"/>
            <a:r>
              <a:rPr lang="en-US" dirty="0"/>
              <a:t>Presently, let’s dive into some advanced pandas syntax that we would use going forward.</a:t>
            </a:r>
          </a:p>
        </p:txBody>
      </p:sp>
      <p:sp>
        <p:nvSpPr>
          <p:cNvPr id="5" name="Slide Number Placeholder 4">
            <a:extLst>
              <a:ext uri="{FF2B5EF4-FFF2-40B4-BE49-F238E27FC236}">
                <a16:creationId xmlns:a16="http://schemas.microsoft.com/office/drawing/2014/main" id="{BAC5F376-D03C-4F5D-85FA-DBB3347AF42F}"/>
              </a:ext>
            </a:extLst>
          </p:cNvPr>
          <p:cNvSpPr>
            <a:spLocks noGrp="1"/>
          </p:cNvSpPr>
          <p:nvPr>
            <p:ph type="sldNum" sz="quarter" idx="12"/>
          </p:nvPr>
        </p:nvSpPr>
        <p:spPr/>
        <p:txBody>
          <a:bodyPr/>
          <a:lstStyle/>
          <a:p>
            <a:fld id="{6B97D948-30E8-43F7-AE10-F6E2D9F2BBB1}" type="slidenum">
              <a:rPr lang="en-US" smtClean="0"/>
              <a:t>167</a:t>
            </a:fld>
            <a:endParaRPr lang="en-US"/>
          </a:p>
        </p:txBody>
      </p:sp>
    </p:spTree>
    <p:extLst>
      <p:ext uri="{BB962C8B-B14F-4D97-AF65-F5344CB8AC3E}">
        <p14:creationId xmlns:p14="http://schemas.microsoft.com/office/powerpoint/2010/main" val="314376615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A7679-089B-49BD-AC1E-A14CCEB125FF}"/>
              </a:ext>
            </a:extLst>
          </p:cNvPr>
          <p:cNvSpPr>
            <a:spLocks noGrp="1"/>
          </p:cNvSpPr>
          <p:nvPr>
            <p:ph type="title"/>
          </p:nvPr>
        </p:nvSpPr>
        <p:spPr>
          <a:xfrm>
            <a:off x="838200" y="365126"/>
            <a:ext cx="10515600" cy="578772"/>
          </a:xfrm>
        </p:spPr>
        <p:txBody>
          <a:bodyPr>
            <a:normAutofit fontScale="90000"/>
          </a:bodyPr>
          <a:lstStyle/>
          <a:p>
            <a:r>
              <a:rPr lang="en-US" dirty="0"/>
              <a:t>Loading the data </a:t>
            </a:r>
          </a:p>
        </p:txBody>
      </p:sp>
      <p:sp>
        <p:nvSpPr>
          <p:cNvPr id="3" name="Content Placeholder 2">
            <a:extLst>
              <a:ext uri="{FF2B5EF4-FFF2-40B4-BE49-F238E27FC236}">
                <a16:creationId xmlns:a16="http://schemas.microsoft.com/office/drawing/2014/main" id="{CA94C9EF-CF39-42F0-9646-2420277B0256}"/>
              </a:ext>
            </a:extLst>
          </p:cNvPr>
          <p:cNvSpPr>
            <a:spLocks noGrp="1"/>
          </p:cNvSpPr>
          <p:nvPr>
            <p:ph idx="1"/>
          </p:nvPr>
        </p:nvSpPr>
        <p:spPr>
          <a:xfrm>
            <a:off x="838200" y="943898"/>
            <a:ext cx="10515600" cy="5233065"/>
          </a:xfrm>
        </p:spPr>
        <p:txBody>
          <a:bodyPr>
            <a:normAutofit/>
          </a:bodyPr>
          <a:lstStyle/>
          <a:p>
            <a:r>
              <a:rPr lang="en-US" dirty="0" err="1">
                <a:solidFill>
                  <a:srgbClr val="FF0000"/>
                </a:solidFill>
              </a:rPr>
              <a:t>babynames</a:t>
            </a:r>
            <a:r>
              <a:rPr lang="en-US" dirty="0">
                <a:solidFill>
                  <a:srgbClr val="FF0000"/>
                </a:solidFill>
              </a:rPr>
              <a:t> = </a:t>
            </a:r>
            <a:r>
              <a:rPr lang="en-US" dirty="0" err="1">
                <a:solidFill>
                  <a:srgbClr val="FF0000"/>
                </a:solidFill>
              </a:rPr>
              <a:t>pd.read_csv</a:t>
            </a:r>
            <a:r>
              <a:rPr lang="en-US" dirty="0">
                <a:solidFill>
                  <a:srgbClr val="FF0000"/>
                </a:solidFill>
              </a:rPr>
              <a:t>('https://dlsun.github.io/pods/data/names/yob2000.txt')</a:t>
            </a:r>
          </a:p>
          <a:p>
            <a:r>
              <a:rPr lang="en-US" dirty="0" err="1">
                <a:solidFill>
                  <a:srgbClr val="FF0000"/>
                </a:solidFill>
              </a:rPr>
              <a:t>babynames.head</a:t>
            </a:r>
            <a:r>
              <a:rPr lang="en-US" dirty="0">
                <a:solidFill>
                  <a:srgbClr val="FF0000"/>
                </a:solidFill>
              </a:rPr>
              <a:t>()</a:t>
            </a:r>
          </a:p>
          <a:p>
            <a:r>
              <a:rPr lang="en-US" dirty="0"/>
              <a:t>Out[16]:</a:t>
            </a:r>
          </a:p>
          <a:p>
            <a:r>
              <a:rPr lang="en-US" dirty="0"/>
              <a:t>     Emily  F  25953</a:t>
            </a:r>
          </a:p>
          <a:p>
            <a:r>
              <a:rPr lang="en-US" dirty="0"/>
              <a:t>0   Hannah  F  23075</a:t>
            </a:r>
          </a:p>
          <a:p>
            <a:r>
              <a:rPr lang="en-US" dirty="0"/>
              <a:t>1  Madison  F  19967</a:t>
            </a:r>
          </a:p>
          <a:p>
            <a:r>
              <a:rPr lang="en-US" dirty="0"/>
              <a:t>2   Ashley  F  17997</a:t>
            </a:r>
          </a:p>
          <a:p>
            <a:r>
              <a:rPr lang="en-US" dirty="0"/>
              <a:t>3    Sarah  F  17689</a:t>
            </a:r>
          </a:p>
          <a:p>
            <a:r>
              <a:rPr lang="en-US" dirty="0"/>
              <a:t>4   Alexis  F  17627</a:t>
            </a:r>
          </a:p>
        </p:txBody>
      </p:sp>
      <p:sp>
        <p:nvSpPr>
          <p:cNvPr id="5" name="Slide Number Placeholder 4">
            <a:extLst>
              <a:ext uri="{FF2B5EF4-FFF2-40B4-BE49-F238E27FC236}">
                <a16:creationId xmlns:a16="http://schemas.microsoft.com/office/drawing/2014/main" id="{589E80A4-F99D-426E-ADD0-2056FD2BC73C}"/>
              </a:ext>
            </a:extLst>
          </p:cNvPr>
          <p:cNvSpPr>
            <a:spLocks noGrp="1"/>
          </p:cNvSpPr>
          <p:nvPr>
            <p:ph type="sldNum" sz="quarter" idx="12"/>
          </p:nvPr>
        </p:nvSpPr>
        <p:spPr/>
        <p:txBody>
          <a:bodyPr/>
          <a:lstStyle/>
          <a:p>
            <a:fld id="{6B97D948-30E8-43F7-AE10-F6E2D9F2BBB1}" type="slidenum">
              <a:rPr lang="en-US" smtClean="0"/>
              <a:t>168</a:t>
            </a:fld>
            <a:endParaRPr lang="en-US"/>
          </a:p>
        </p:txBody>
      </p:sp>
    </p:spTree>
    <p:extLst>
      <p:ext uri="{BB962C8B-B14F-4D97-AF65-F5344CB8AC3E}">
        <p14:creationId xmlns:p14="http://schemas.microsoft.com/office/powerpoint/2010/main" val="307622624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C55E3-5090-458E-8F9B-1F7B25108F9A}"/>
              </a:ext>
            </a:extLst>
          </p:cNvPr>
          <p:cNvSpPr>
            <a:spLocks noGrp="1"/>
          </p:cNvSpPr>
          <p:nvPr>
            <p:ph idx="1"/>
          </p:nvPr>
        </p:nvSpPr>
        <p:spPr>
          <a:xfrm>
            <a:off x="838200" y="408373"/>
            <a:ext cx="10515600" cy="5768590"/>
          </a:xfrm>
        </p:spPr>
        <p:txBody>
          <a:bodyPr>
            <a:normAutofit/>
          </a:bodyPr>
          <a:lstStyle/>
          <a:p>
            <a:r>
              <a:rPr lang="en-US" dirty="0"/>
              <a:t> </a:t>
            </a:r>
            <a:r>
              <a:rPr lang="en-US" dirty="0" err="1">
                <a:solidFill>
                  <a:srgbClr val="FF0000"/>
                </a:solidFill>
              </a:rPr>
              <a:t>babynames.columns</a:t>
            </a:r>
            <a:r>
              <a:rPr lang="en-US" dirty="0">
                <a:solidFill>
                  <a:srgbClr val="FF0000"/>
                </a:solidFill>
              </a:rPr>
              <a:t> = 'Name', 'Sex', 'Number'</a:t>
            </a:r>
          </a:p>
          <a:p>
            <a:endParaRPr lang="en-US" dirty="0"/>
          </a:p>
          <a:p>
            <a:r>
              <a:rPr lang="en-US" dirty="0"/>
              <a:t>In [18]: </a:t>
            </a:r>
            <a:r>
              <a:rPr lang="en-US" dirty="0" err="1"/>
              <a:t>babynames.head</a:t>
            </a:r>
            <a:r>
              <a:rPr lang="en-US" dirty="0"/>
              <a:t>()</a:t>
            </a:r>
          </a:p>
          <a:p>
            <a:r>
              <a:rPr lang="en-US" dirty="0"/>
              <a:t>Out[18]:</a:t>
            </a:r>
          </a:p>
          <a:p>
            <a:r>
              <a:rPr lang="en-US" dirty="0"/>
              <a:t>      Name Sex  Number</a:t>
            </a:r>
          </a:p>
          <a:p>
            <a:r>
              <a:rPr lang="en-US" dirty="0"/>
              <a:t>0   Hannah   F   23075</a:t>
            </a:r>
          </a:p>
          <a:p>
            <a:r>
              <a:rPr lang="en-US" dirty="0"/>
              <a:t>1  Madison   F   19967</a:t>
            </a:r>
          </a:p>
          <a:p>
            <a:r>
              <a:rPr lang="en-US" dirty="0"/>
              <a:t>2   Ashley   F   17997</a:t>
            </a:r>
          </a:p>
          <a:p>
            <a:r>
              <a:rPr lang="en-US" dirty="0"/>
              <a:t>3    Sarah   F   17689</a:t>
            </a:r>
          </a:p>
          <a:p>
            <a:r>
              <a:rPr lang="en-US" dirty="0"/>
              <a:t>4   Alexis   F   17627</a:t>
            </a:r>
          </a:p>
          <a:p>
            <a:r>
              <a:rPr lang="en-US" dirty="0">
                <a:solidFill>
                  <a:srgbClr val="FF0000"/>
                </a:solidFill>
              </a:rPr>
              <a:t>type(</a:t>
            </a:r>
            <a:r>
              <a:rPr lang="en-US" dirty="0" err="1">
                <a:solidFill>
                  <a:srgbClr val="FF0000"/>
                </a:solidFill>
              </a:rPr>
              <a:t>babynames</a:t>
            </a:r>
            <a:r>
              <a:rPr lang="en-US" dirty="0">
                <a:solidFill>
                  <a:srgbClr val="FF0000"/>
                </a:solidFill>
              </a:rPr>
              <a:t>)</a:t>
            </a:r>
          </a:p>
        </p:txBody>
      </p:sp>
      <p:sp>
        <p:nvSpPr>
          <p:cNvPr id="4" name="Slide Number Placeholder 3">
            <a:extLst>
              <a:ext uri="{FF2B5EF4-FFF2-40B4-BE49-F238E27FC236}">
                <a16:creationId xmlns:a16="http://schemas.microsoft.com/office/drawing/2014/main" id="{A9BFC2AF-7412-47C6-A698-84140676AD2C}"/>
              </a:ext>
            </a:extLst>
          </p:cNvPr>
          <p:cNvSpPr>
            <a:spLocks noGrp="1"/>
          </p:cNvSpPr>
          <p:nvPr>
            <p:ph type="sldNum" sz="quarter" idx="12"/>
          </p:nvPr>
        </p:nvSpPr>
        <p:spPr/>
        <p:txBody>
          <a:bodyPr/>
          <a:lstStyle/>
          <a:p>
            <a:fld id="{6B97D948-30E8-43F7-AE10-F6E2D9F2BBB1}" type="slidenum">
              <a:rPr lang="en-US" smtClean="0"/>
              <a:t>169</a:t>
            </a:fld>
            <a:endParaRPr lang="en-US"/>
          </a:p>
        </p:txBody>
      </p:sp>
    </p:spTree>
    <p:extLst>
      <p:ext uri="{BB962C8B-B14F-4D97-AF65-F5344CB8AC3E}">
        <p14:creationId xmlns:p14="http://schemas.microsoft.com/office/powerpoint/2010/main" val="250585036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A9E1F-4B5A-47AC-9970-FD87B60D1C6A}"/>
              </a:ext>
            </a:extLst>
          </p:cNvPr>
          <p:cNvSpPr>
            <a:spLocks noGrp="1"/>
          </p:cNvSpPr>
          <p:nvPr>
            <p:ph type="title"/>
          </p:nvPr>
        </p:nvSpPr>
        <p:spPr>
          <a:xfrm>
            <a:off x="838200" y="365125"/>
            <a:ext cx="10515600" cy="686927"/>
          </a:xfrm>
        </p:spPr>
        <p:txBody>
          <a:bodyPr>
            <a:normAutofit fontScale="90000"/>
          </a:bodyPr>
          <a:lstStyle/>
          <a:p>
            <a:r>
              <a:rPr lang="en-US" dirty="0"/>
              <a:t>Conditional Selection</a:t>
            </a:r>
          </a:p>
        </p:txBody>
      </p:sp>
      <p:sp>
        <p:nvSpPr>
          <p:cNvPr id="3" name="Content Placeholder 2">
            <a:extLst>
              <a:ext uri="{FF2B5EF4-FFF2-40B4-BE49-F238E27FC236}">
                <a16:creationId xmlns:a16="http://schemas.microsoft.com/office/drawing/2014/main" id="{C564EFD9-27D4-4D9D-A0F4-AE525492FA52}"/>
              </a:ext>
            </a:extLst>
          </p:cNvPr>
          <p:cNvSpPr>
            <a:spLocks noGrp="1"/>
          </p:cNvSpPr>
          <p:nvPr>
            <p:ph idx="1"/>
          </p:nvPr>
        </p:nvSpPr>
        <p:spPr>
          <a:xfrm>
            <a:off x="838200" y="1052052"/>
            <a:ext cx="10515600" cy="5124911"/>
          </a:xfrm>
        </p:spPr>
        <p:txBody>
          <a:bodyPr>
            <a:normAutofit/>
          </a:bodyPr>
          <a:lstStyle/>
          <a:p>
            <a:pPr algn="just"/>
            <a:r>
              <a:rPr lang="en-US" dirty="0"/>
              <a:t>Conditional selection allows us to select a subset of rows in a </a:t>
            </a:r>
            <a:r>
              <a:rPr lang="en-US" dirty="0" err="1"/>
              <a:t>DataFrame</a:t>
            </a:r>
            <a:r>
              <a:rPr lang="en-US" dirty="0"/>
              <a:t> if they follow some specified condition.</a:t>
            </a:r>
          </a:p>
          <a:p>
            <a:pPr algn="just"/>
            <a:r>
              <a:rPr lang="en-US" dirty="0"/>
              <a:t>We came across </a:t>
            </a:r>
            <a:r>
              <a:rPr lang="en-US" dirty="0">
                <a:solidFill>
                  <a:srgbClr val="FF0000"/>
                </a:solidFill>
              </a:rPr>
              <a:t>.loc </a:t>
            </a:r>
            <a:r>
              <a:rPr lang="en-US" dirty="0"/>
              <a:t>and </a:t>
            </a:r>
            <a:r>
              <a:rPr lang="en-US" dirty="0">
                <a:solidFill>
                  <a:srgbClr val="FF0000"/>
                </a:solidFill>
              </a:rPr>
              <a:t>[]</a:t>
            </a:r>
            <a:r>
              <a:rPr lang="en-US" dirty="0"/>
              <a:t> methods – a </a:t>
            </a:r>
            <a:r>
              <a:rPr lang="en-US" dirty="0" err="1"/>
              <a:t>boolean</a:t>
            </a:r>
            <a:r>
              <a:rPr lang="en-US" dirty="0"/>
              <a:t> array, which is simply an array or Series where each element is either True or False. </a:t>
            </a:r>
          </a:p>
          <a:p>
            <a:pPr algn="just"/>
            <a:r>
              <a:rPr lang="en-US" dirty="0"/>
              <a:t>This </a:t>
            </a:r>
            <a:r>
              <a:rPr lang="en-US" dirty="0" err="1"/>
              <a:t>boolean</a:t>
            </a:r>
            <a:r>
              <a:rPr lang="en-US" dirty="0"/>
              <a:t> array must have a length equal to the number of rows in the </a:t>
            </a:r>
            <a:r>
              <a:rPr lang="en-US" dirty="0" err="1"/>
              <a:t>DataFrame</a:t>
            </a:r>
            <a:r>
              <a:rPr lang="en-US" dirty="0"/>
              <a:t>. </a:t>
            </a:r>
          </a:p>
          <a:p>
            <a:pPr algn="just"/>
            <a:r>
              <a:rPr lang="en-US" dirty="0"/>
              <a:t>It will return all rows that correspond to a value of True in the array. </a:t>
            </a:r>
          </a:p>
          <a:p>
            <a:pPr algn="just"/>
            <a:endParaRPr lang="en-US" dirty="0"/>
          </a:p>
          <a:p>
            <a:pPr algn="just"/>
            <a:r>
              <a:rPr lang="en-US" dirty="0"/>
              <a:t>We used a very similar technique when performing conditional extraction from a Series in the last lecture.</a:t>
            </a:r>
          </a:p>
        </p:txBody>
      </p:sp>
      <p:sp>
        <p:nvSpPr>
          <p:cNvPr id="5" name="Slide Number Placeholder 4">
            <a:extLst>
              <a:ext uri="{FF2B5EF4-FFF2-40B4-BE49-F238E27FC236}">
                <a16:creationId xmlns:a16="http://schemas.microsoft.com/office/drawing/2014/main" id="{446C2914-22DC-4634-BDE3-54CC4A0DEC16}"/>
              </a:ext>
            </a:extLst>
          </p:cNvPr>
          <p:cNvSpPr>
            <a:spLocks noGrp="1"/>
          </p:cNvSpPr>
          <p:nvPr>
            <p:ph type="sldNum" sz="quarter" idx="12"/>
          </p:nvPr>
        </p:nvSpPr>
        <p:spPr/>
        <p:txBody>
          <a:bodyPr/>
          <a:lstStyle/>
          <a:p>
            <a:fld id="{6B97D948-30E8-43F7-AE10-F6E2D9F2BBB1}" type="slidenum">
              <a:rPr lang="en-US" smtClean="0"/>
              <a:t>170</a:t>
            </a:fld>
            <a:endParaRPr lang="en-US"/>
          </a:p>
        </p:txBody>
      </p:sp>
    </p:spTree>
    <p:extLst>
      <p:ext uri="{BB962C8B-B14F-4D97-AF65-F5344CB8AC3E}">
        <p14:creationId xmlns:p14="http://schemas.microsoft.com/office/powerpoint/2010/main" val="12102026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C192D9-BF8D-4BC2-BEE8-DA227D47A3C1}"/>
              </a:ext>
            </a:extLst>
          </p:cNvPr>
          <p:cNvSpPr>
            <a:spLocks noGrp="1"/>
          </p:cNvSpPr>
          <p:nvPr>
            <p:ph idx="1"/>
          </p:nvPr>
        </p:nvSpPr>
        <p:spPr>
          <a:xfrm>
            <a:off x="838200" y="344129"/>
            <a:ext cx="10515600" cy="5832834"/>
          </a:xfrm>
        </p:spPr>
        <p:txBody>
          <a:bodyPr>
            <a:normAutofit fontScale="77500" lnSpcReduction="20000"/>
          </a:bodyPr>
          <a:lstStyle/>
          <a:p>
            <a:pPr algn="just"/>
            <a:r>
              <a:rPr lang="en-US" dirty="0"/>
              <a:t>To see this, let’s select all even-indexed rows in the first 10 rows of our </a:t>
            </a:r>
            <a:r>
              <a:rPr lang="en-US" dirty="0" err="1"/>
              <a:t>DataFrame</a:t>
            </a:r>
            <a:r>
              <a:rPr lang="en-US" dirty="0"/>
              <a:t>.</a:t>
            </a:r>
          </a:p>
          <a:p>
            <a:pPr algn="just"/>
            <a:r>
              <a:rPr lang="en-US" dirty="0">
                <a:solidFill>
                  <a:srgbClr val="FF0000"/>
                </a:solidFill>
              </a:rPr>
              <a:t>babynames_first_10_rows = </a:t>
            </a:r>
            <a:r>
              <a:rPr lang="en-US" dirty="0" err="1">
                <a:solidFill>
                  <a:srgbClr val="FF0000"/>
                </a:solidFill>
              </a:rPr>
              <a:t>babynames.loc</a:t>
            </a:r>
            <a:r>
              <a:rPr lang="en-US" dirty="0">
                <a:solidFill>
                  <a:srgbClr val="FF0000"/>
                </a:solidFill>
              </a:rPr>
              <a:t>[:9, :]</a:t>
            </a:r>
          </a:p>
          <a:p>
            <a:pPr algn="just"/>
            <a:endParaRPr lang="en-US" dirty="0"/>
          </a:p>
          <a:p>
            <a:pPr algn="just"/>
            <a:r>
              <a:rPr lang="en-US" dirty="0">
                <a:solidFill>
                  <a:srgbClr val="FF0000"/>
                </a:solidFill>
              </a:rPr>
              <a:t>babynames_first_10_rows</a:t>
            </a:r>
          </a:p>
          <a:p>
            <a:pPr algn="just"/>
            <a:r>
              <a:rPr lang="en-US" dirty="0"/>
              <a:t>Name Sex  Number</a:t>
            </a:r>
          </a:p>
          <a:p>
            <a:pPr algn="just"/>
            <a:r>
              <a:rPr lang="en-US" dirty="0"/>
              <a:t>0     Hannah   F   23075</a:t>
            </a:r>
          </a:p>
          <a:p>
            <a:pPr algn="just"/>
            <a:r>
              <a:rPr lang="en-US" dirty="0"/>
              <a:t>1    Madison   F   19967</a:t>
            </a:r>
          </a:p>
          <a:p>
            <a:pPr algn="just"/>
            <a:r>
              <a:rPr lang="en-US" dirty="0"/>
              <a:t>2     Ashley   F   17997</a:t>
            </a:r>
          </a:p>
          <a:p>
            <a:pPr algn="just"/>
            <a:r>
              <a:rPr lang="en-US" dirty="0"/>
              <a:t>3      Sarah   F   17689</a:t>
            </a:r>
          </a:p>
          <a:p>
            <a:pPr algn="just"/>
            <a:r>
              <a:rPr lang="en-US" dirty="0"/>
              <a:t>4     Alexis   F   17627</a:t>
            </a:r>
          </a:p>
          <a:p>
            <a:pPr algn="just"/>
            <a:r>
              <a:rPr lang="en-US" dirty="0"/>
              <a:t>5   Samantha   F   17264</a:t>
            </a:r>
          </a:p>
          <a:p>
            <a:pPr algn="just"/>
            <a:r>
              <a:rPr lang="en-US" dirty="0"/>
              <a:t>6    Jessica   F   15705</a:t>
            </a:r>
          </a:p>
          <a:p>
            <a:pPr algn="just"/>
            <a:r>
              <a:rPr lang="en-US" dirty="0"/>
              <a:t>7  Elizabeth   F   15089</a:t>
            </a:r>
          </a:p>
          <a:p>
            <a:pPr algn="just"/>
            <a:r>
              <a:rPr lang="en-US" dirty="0"/>
              <a:t>8     Taylor   F   15077</a:t>
            </a:r>
          </a:p>
          <a:p>
            <a:pPr algn="just"/>
            <a:r>
              <a:rPr lang="en-US" dirty="0"/>
              <a:t>9     Lauren   F   14173</a:t>
            </a:r>
          </a:p>
        </p:txBody>
      </p:sp>
      <p:sp>
        <p:nvSpPr>
          <p:cNvPr id="4" name="Slide Number Placeholder 3">
            <a:extLst>
              <a:ext uri="{FF2B5EF4-FFF2-40B4-BE49-F238E27FC236}">
                <a16:creationId xmlns:a16="http://schemas.microsoft.com/office/drawing/2014/main" id="{19241A18-4F23-4305-8331-71CB613ED680}"/>
              </a:ext>
            </a:extLst>
          </p:cNvPr>
          <p:cNvSpPr>
            <a:spLocks noGrp="1"/>
          </p:cNvSpPr>
          <p:nvPr>
            <p:ph type="sldNum" sz="quarter" idx="12"/>
          </p:nvPr>
        </p:nvSpPr>
        <p:spPr/>
        <p:txBody>
          <a:bodyPr/>
          <a:lstStyle/>
          <a:p>
            <a:fld id="{6B97D948-30E8-43F7-AE10-F6E2D9F2BBB1}" type="slidenum">
              <a:rPr lang="en-US" smtClean="0"/>
              <a:t>171</a:t>
            </a:fld>
            <a:endParaRPr lang="en-US"/>
          </a:p>
        </p:txBody>
      </p:sp>
    </p:spTree>
    <p:extLst>
      <p:ext uri="{BB962C8B-B14F-4D97-AF65-F5344CB8AC3E}">
        <p14:creationId xmlns:p14="http://schemas.microsoft.com/office/powerpoint/2010/main" val="116681238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C3B76A-C0A7-48AB-A305-C691CE4A21BB}"/>
              </a:ext>
            </a:extLst>
          </p:cNvPr>
          <p:cNvSpPr>
            <a:spLocks noGrp="1"/>
          </p:cNvSpPr>
          <p:nvPr>
            <p:ph idx="1"/>
          </p:nvPr>
        </p:nvSpPr>
        <p:spPr>
          <a:xfrm>
            <a:off x="838200" y="491613"/>
            <a:ext cx="10515600" cy="5685350"/>
          </a:xfrm>
        </p:spPr>
        <p:txBody>
          <a:bodyPr/>
          <a:lstStyle/>
          <a:p>
            <a:pPr algn="just"/>
            <a:r>
              <a:rPr lang="en-US" dirty="0"/>
              <a:t>Conditional selection is based on our selection meeting a given criteria.</a:t>
            </a:r>
          </a:p>
          <a:p>
            <a:pPr algn="just"/>
            <a:r>
              <a:rPr lang="en-US" dirty="0"/>
              <a:t>We can instead provide a </a:t>
            </a:r>
            <a:r>
              <a:rPr lang="en-US" dirty="0">
                <a:solidFill>
                  <a:srgbClr val="FF0000"/>
                </a:solidFill>
              </a:rPr>
              <a:t>logical condition </a:t>
            </a:r>
            <a:r>
              <a:rPr lang="en-US" dirty="0"/>
              <a:t>as an input to </a:t>
            </a:r>
            <a:r>
              <a:rPr lang="en-US" dirty="0">
                <a:solidFill>
                  <a:srgbClr val="FF0000"/>
                </a:solidFill>
              </a:rPr>
              <a:t>.loc </a:t>
            </a:r>
            <a:r>
              <a:rPr lang="en-US" dirty="0"/>
              <a:t>or </a:t>
            </a:r>
            <a:r>
              <a:rPr lang="en-US" dirty="0">
                <a:solidFill>
                  <a:srgbClr val="FF0000"/>
                </a:solidFill>
              </a:rPr>
              <a:t>[] </a:t>
            </a:r>
            <a:r>
              <a:rPr lang="en-US" dirty="0"/>
              <a:t>that returns a </a:t>
            </a:r>
            <a:r>
              <a:rPr lang="en-US" dirty="0" err="1"/>
              <a:t>boolean</a:t>
            </a:r>
            <a:r>
              <a:rPr lang="en-US" dirty="0"/>
              <a:t> array with the necessary length.</a:t>
            </a:r>
          </a:p>
          <a:p>
            <a:r>
              <a:rPr lang="en-US" dirty="0"/>
              <a:t>For example, to return all names associated with F sex:</a:t>
            </a:r>
          </a:p>
          <a:p>
            <a:r>
              <a:rPr lang="en-US" dirty="0"/>
              <a:t># First, use a logical condition to generate a </a:t>
            </a:r>
            <a:r>
              <a:rPr lang="en-US" dirty="0" err="1"/>
              <a:t>boolean</a:t>
            </a:r>
            <a:r>
              <a:rPr lang="en-US" dirty="0"/>
              <a:t> array</a:t>
            </a:r>
          </a:p>
          <a:p>
            <a:pPr algn="just"/>
            <a:r>
              <a:rPr lang="en-US" dirty="0" err="1">
                <a:solidFill>
                  <a:srgbClr val="FF0000"/>
                </a:solidFill>
              </a:rPr>
              <a:t>logical_operator</a:t>
            </a:r>
            <a:r>
              <a:rPr lang="en-US" dirty="0">
                <a:solidFill>
                  <a:srgbClr val="FF0000"/>
                </a:solidFill>
              </a:rPr>
              <a:t> = (</a:t>
            </a:r>
            <a:r>
              <a:rPr lang="en-US" dirty="0" err="1">
                <a:solidFill>
                  <a:srgbClr val="FF0000"/>
                </a:solidFill>
              </a:rPr>
              <a:t>babynames</a:t>
            </a:r>
            <a:r>
              <a:rPr lang="en-US" dirty="0">
                <a:solidFill>
                  <a:srgbClr val="FF0000"/>
                </a:solidFill>
              </a:rPr>
              <a:t>[“Sex"] == "F")</a:t>
            </a:r>
          </a:p>
          <a:p>
            <a:endParaRPr lang="en-US" dirty="0"/>
          </a:p>
          <a:p>
            <a:r>
              <a:rPr lang="en-US" dirty="0"/>
              <a:t># Then, use this </a:t>
            </a:r>
            <a:r>
              <a:rPr lang="en-US" dirty="0" err="1"/>
              <a:t>boolean</a:t>
            </a:r>
            <a:r>
              <a:rPr lang="en-US" dirty="0"/>
              <a:t> array to filter the </a:t>
            </a:r>
            <a:r>
              <a:rPr lang="en-US" dirty="0" err="1"/>
              <a:t>DataFrame</a:t>
            </a:r>
            <a:endParaRPr lang="en-US" dirty="0"/>
          </a:p>
          <a:p>
            <a:endParaRPr lang="en-US" dirty="0"/>
          </a:p>
          <a:p>
            <a:r>
              <a:rPr lang="en-US" dirty="0" err="1">
                <a:solidFill>
                  <a:srgbClr val="FF0000"/>
                </a:solidFill>
              </a:rPr>
              <a:t>babynames</a:t>
            </a:r>
            <a:r>
              <a:rPr lang="en-US" dirty="0">
                <a:solidFill>
                  <a:srgbClr val="FF0000"/>
                </a:solidFill>
              </a:rPr>
              <a:t>[</a:t>
            </a:r>
            <a:r>
              <a:rPr lang="en-US" dirty="0" err="1">
                <a:solidFill>
                  <a:srgbClr val="FF0000"/>
                </a:solidFill>
              </a:rPr>
              <a:t>logical_operator</a:t>
            </a:r>
            <a:r>
              <a:rPr lang="en-US" dirty="0">
                <a:solidFill>
                  <a:srgbClr val="FF0000"/>
                </a:solidFill>
              </a:rPr>
              <a:t>].head()</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0F1A4F0-9B97-4486-A83C-94F5B8E083AF}"/>
              </a:ext>
            </a:extLst>
          </p:cNvPr>
          <p:cNvSpPr>
            <a:spLocks noGrp="1"/>
          </p:cNvSpPr>
          <p:nvPr>
            <p:ph type="sldNum" sz="quarter" idx="12"/>
          </p:nvPr>
        </p:nvSpPr>
        <p:spPr/>
        <p:txBody>
          <a:bodyPr/>
          <a:lstStyle/>
          <a:p>
            <a:fld id="{6B97D948-30E8-43F7-AE10-F6E2D9F2BBB1}" type="slidenum">
              <a:rPr lang="en-US" smtClean="0"/>
              <a:t>172</a:t>
            </a:fld>
            <a:endParaRPr lang="en-US"/>
          </a:p>
        </p:txBody>
      </p:sp>
    </p:spTree>
    <p:extLst>
      <p:ext uri="{BB962C8B-B14F-4D97-AF65-F5344CB8AC3E}">
        <p14:creationId xmlns:p14="http://schemas.microsoft.com/office/powerpoint/2010/main" val="2320321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A17292-F2D7-4FFF-9AB0-360A3B6FAA09}"/>
              </a:ext>
            </a:extLst>
          </p:cNvPr>
          <p:cNvSpPr>
            <a:spLocks noGrp="1"/>
          </p:cNvSpPr>
          <p:nvPr>
            <p:ph idx="1"/>
          </p:nvPr>
        </p:nvSpPr>
        <p:spPr>
          <a:xfrm>
            <a:off x="838200" y="580103"/>
            <a:ext cx="10515600" cy="5596860"/>
          </a:xfrm>
        </p:spPr>
        <p:txBody>
          <a:bodyPr>
            <a:normAutofit/>
          </a:bodyPr>
          <a:lstStyle/>
          <a:p>
            <a:r>
              <a:rPr lang="en-US" dirty="0"/>
              <a:t>Out[62]:</a:t>
            </a:r>
          </a:p>
          <a:p>
            <a:r>
              <a:rPr lang="en-US" dirty="0"/>
              <a:t> Name Sex  Number</a:t>
            </a:r>
          </a:p>
          <a:p>
            <a:r>
              <a:rPr lang="en-US" dirty="0"/>
              <a:t>0   Hannah   F   23075</a:t>
            </a:r>
          </a:p>
          <a:p>
            <a:r>
              <a:rPr lang="en-US" dirty="0"/>
              <a:t>1  Madison   F   19967</a:t>
            </a:r>
          </a:p>
          <a:p>
            <a:r>
              <a:rPr lang="en-US" dirty="0"/>
              <a:t>2   Ashley   F   17997</a:t>
            </a:r>
          </a:p>
          <a:p>
            <a:r>
              <a:rPr lang="en-US" dirty="0"/>
              <a:t>3    Sarah   F   17689</a:t>
            </a:r>
          </a:p>
          <a:p>
            <a:r>
              <a:rPr lang="en-US" dirty="0"/>
              <a:t>4   Alexis   F   17627</a:t>
            </a:r>
          </a:p>
        </p:txBody>
      </p:sp>
      <p:sp>
        <p:nvSpPr>
          <p:cNvPr id="4" name="Slide Number Placeholder 3">
            <a:extLst>
              <a:ext uri="{FF2B5EF4-FFF2-40B4-BE49-F238E27FC236}">
                <a16:creationId xmlns:a16="http://schemas.microsoft.com/office/drawing/2014/main" id="{7CA7CDE4-65FA-461E-85AC-32416D4A5B24}"/>
              </a:ext>
            </a:extLst>
          </p:cNvPr>
          <p:cNvSpPr>
            <a:spLocks noGrp="1"/>
          </p:cNvSpPr>
          <p:nvPr>
            <p:ph type="sldNum" sz="quarter" idx="12"/>
          </p:nvPr>
        </p:nvSpPr>
        <p:spPr/>
        <p:txBody>
          <a:bodyPr/>
          <a:lstStyle/>
          <a:p>
            <a:fld id="{6B97D948-30E8-43F7-AE10-F6E2D9F2BBB1}" type="slidenum">
              <a:rPr lang="en-US" smtClean="0"/>
              <a:t>173</a:t>
            </a:fld>
            <a:endParaRPr lang="en-US"/>
          </a:p>
        </p:txBody>
      </p:sp>
    </p:spTree>
    <p:extLst>
      <p:ext uri="{BB962C8B-B14F-4D97-AF65-F5344CB8AC3E}">
        <p14:creationId xmlns:p14="http://schemas.microsoft.com/office/powerpoint/2010/main" val="258908337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504D53-A015-4B53-B831-B18D4F5F1CAA}"/>
              </a:ext>
            </a:extLst>
          </p:cNvPr>
          <p:cNvSpPr>
            <a:spLocks noGrp="1"/>
          </p:cNvSpPr>
          <p:nvPr>
            <p:ph idx="1"/>
          </p:nvPr>
        </p:nvSpPr>
        <p:spPr>
          <a:xfrm>
            <a:off x="838200" y="452284"/>
            <a:ext cx="10515600" cy="5724679"/>
          </a:xfrm>
        </p:spPr>
        <p:txBody>
          <a:bodyPr/>
          <a:lstStyle/>
          <a:p>
            <a:pPr algn="just"/>
            <a:r>
              <a:rPr lang="en-US" dirty="0"/>
              <a:t>Recall from the previous lecture that </a:t>
            </a:r>
            <a:r>
              <a:rPr lang="en-US" dirty="0">
                <a:solidFill>
                  <a:srgbClr val="FF0000"/>
                </a:solidFill>
              </a:rPr>
              <a:t>.head() </a:t>
            </a:r>
            <a:r>
              <a:rPr lang="en-US" dirty="0"/>
              <a:t>will return only the first few rows in the </a:t>
            </a:r>
            <a:r>
              <a:rPr lang="en-US" dirty="0" err="1"/>
              <a:t>DataFrame</a:t>
            </a:r>
            <a:r>
              <a:rPr lang="en-US" dirty="0"/>
              <a:t>. </a:t>
            </a:r>
          </a:p>
          <a:p>
            <a:pPr algn="just"/>
            <a:endParaRPr lang="en-US" dirty="0"/>
          </a:p>
          <a:p>
            <a:pPr algn="just"/>
            <a:r>
              <a:rPr lang="en-US" dirty="0"/>
              <a:t>In reality, </a:t>
            </a:r>
            <a:r>
              <a:rPr lang="en-US" dirty="0" err="1"/>
              <a:t>babynames</a:t>
            </a:r>
            <a:r>
              <a:rPr lang="en-US" dirty="0"/>
              <a:t>[logical operator] contains as many rows as there are entries in the original </a:t>
            </a:r>
            <a:r>
              <a:rPr lang="en-US" dirty="0" err="1"/>
              <a:t>babynames</a:t>
            </a:r>
            <a:r>
              <a:rPr lang="en-US" dirty="0"/>
              <a:t> </a:t>
            </a:r>
            <a:r>
              <a:rPr lang="en-US" dirty="0" err="1"/>
              <a:t>DataFrame</a:t>
            </a:r>
            <a:r>
              <a:rPr lang="en-US" dirty="0"/>
              <a:t> with sex "F".</a:t>
            </a:r>
          </a:p>
          <a:p>
            <a:endParaRPr lang="en-US" dirty="0"/>
          </a:p>
          <a:p>
            <a:r>
              <a:rPr lang="en-US" dirty="0"/>
              <a:t>Here, </a:t>
            </a:r>
            <a:r>
              <a:rPr lang="en-US" dirty="0" err="1"/>
              <a:t>logical_operator</a:t>
            </a:r>
            <a:r>
              <a:rPr lang="en-US" dirty="0"/>
              <a:t> evaluates to a Series of </a:t>
            </a:r>
            <a:r>
              <a:rPr lang="en-US" dirty="0" err="1"/>
              <a:t>boolean</a:t>
            </a:r>
            <a:r>
              <a:rPr lang="en-US" dirty="0"/>
              <a:t> values with length 29763.</a:t>
            </a:r>
          </a:p>
          <a:p>
            <a:endParaRPr lang="en-US" dirty="0"/>
          </a:p>
          <a:p>
            <a:r>
              <a:rPr lang="en-US" dirty="0">
                <a:solidFill>
                  <a:srgbClr val="FF0000"/>
                </a:solidFill>
              </a:rPr>
              <a:t>print("There are a total of {} values in '</a:t>
            </a:r>
            <a:r>
              <a:rPr lang="en-US" dirty="0" err="1">
                <a:solidFill>
                  <a:srgbClr val="FF0000"/>
                </a:solidFill>
              </a:rPr>
              <a:t>logical_operator'".format</a:t>
            </a:r>
            <a:r>
              <a:rPr lang="en-US" dirty="0">
                <a:solidFill>
                  <a:srgbClr val="FF0000"/>
                </a:solidFill>
              </a:rPr>
              <a:t>(</a:t>
            </a:r>
            <a:r>
              <a:rPr lang="en-US" dirty="0" err="1">
                <a:solidFill>
                  <a:srgbClr val="FF0000"/>
                </a:solidFill>
              </a:rPr>
              <a:t>len</a:t>
            </a:r>
            <a:r>
              <a:rPr lang="en-US" dirty="0">
                <a:solidFill>
                  <a:srgbClr val="FF0000"/>
                </a:solidFill>
              </a:rPr>
              <a:t>(</a:t>
            </a:r>
            <a:r>
              <a:rPr lang="en-US" dirty="0" err="1">
                <a:solidFill>
                  <a:srgbClr val="FF0000"/>
                </a:solidFill>
              </a:rPr>
              <a:t>logical_operator</a:t>
            </a:r>
            <a:r>
              <a:rPr lang="en-US" dirty="0">
                <a:solidFill>
                  <a:srgbClr val="FF0000"/>
                </a:solidFill>
              </a:rPr>
              <a:t>)))</a:t>
            </a:r>
          </a:p>
          <a:p>
            <a:r>
              <a:rPr lang="en-US" dirty="0"/>
              <a:t>There are a total of 29763 values in '</a:t>
            </a:r>
            <a:r>
              <a:rPr lang="en-US" dirty="0" err="1"/>
              <a:t>logical_operator</a:t>
            </a:r>
            <a:r>
              <a:rPr lang="en-US" dirty="0"/>
              <a:t>'</a:t>
            </a:r>
          </a:p>
        </p:txBody>
      </p:sp>
      <p:sp>
        <p:nvSpPr>
          <p:cNvPr id="4" name="Slide Number Placeholder 3">
            <a:extLst>
              <a:ext uri="{FF2B5EF4-FFF2-40B4-BE49-F238E27FC236}">
                <a16:creationId xmlns:a16="http://schemas.microsoft.com/office/drawing/2014/main" id="{BFB6768C-48A2-448D-9E82-D08F9BB3656E}"/>
              </a:ext>
            </a:extLst>
          </p:cNvPr>
          <p:cNvSpPr>
            <a:spLocks noGrp="1"/>
          </p:cNvSpPr>
          <p:nvPr>
            <p:ph type="sldNum" sz="quarter" idx="12"/>
          </p:nvPr>
        </p:nvSpPr>
        <p:spPr/>
        <p:txBody>
          <a:bodyPr/>
          <a:lstStyle/>
          <a:p>
            <a:fld id="{6B97D948-30E8-43F7-AE10-F6E2D9F2BBB1}" type="slidenum">
              <a:rPr lang="en-US" smtClean="0"/>
              <a:t>174</a:t>
            </a:fld>
            <a:endParaRPr lang="en-US"/>
          </a:p>
        </p:txBody>
      </p:sp>
    </p:spTree>
    <p:extLst>
      <p:ext uri="{BB962C8B-B14F-4D97-AF65-F5344CB8AC3E}">
        <p14:creationId xmlns:p14="http://schemas.microsoft.com/office/powerpoint/2010/main" val="35252190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AF126B-FBEC-45DE-B50D-3A13829385B9}"/>
              </a:ext>
            </a:extLst>
          </p:cNvPr>
          <p:cNvSpPr>
            <a:spLocks noGrp="1"/>
          </p:cNvSpPr>
          <p:nvPr>
            <p:ph idx="1"/>
          </p:nvPr>
        </p:nvSpPr>
        <p:spPr>
          <a:xfrm>
            <a:off x="838200" y="530942"/>
            <a:ext cx="10515600" cy="5646021"/>
          </a:xfrm>
        </p:spPr>
        <p:txBody>
          <a:bodyPr/>
          <a:lstStyle/>
          <a:p>
            <a:pPr algn="just"/>
            <a:r>
              <a:rPr lang="en-US" dirty="0"/>
              <a:t>Rows starting at row 0 and ending at row 29762 evaluate to True and are thus returned in the </a:t>
            </a:r>
            <a:r>
              <a:rPr lang="en-US" dirty="0" err="1"/>
              <a:t>DataFrame</a:t>
            </a:r>
            <a:r>
              <a:rPr lang="en-US" dirty="0"/>
              <a:t>. </a:t>
            </a:r>
          </a:p>
          <a:p>
            <a:pPr algn="just"/>
            <a:endParaRPr lang="en-US" dirty="0"/>
          </a:p>
          <a:p>
            <a:pPr algn="just"/>
            <a:r>
              <a:rPr lang="en-US" dirty="0"/>
              <a:t>Rows from 29763 onwards evaluate to False and are omitted from the output.</a:t>
            </a:r>
          </a:p>
        </p:txBody>
      </p:sp>
      <p:sp>
        <p:nvSpPr>
          <p:cNvPr id="4" name="Slide Number Placeholder 3">
            <a:extLst>
              <a:ext uri="{FF2B5EF4-FFF2-40B4-BE49-F238E27FC236}">
                <a16:creationId xmlns:a16="http://schemas.microsoft.com/office/drawing/2014/main" id="{26C5529C-5D9A-4D2F-B625-4E197C22CA7C}"/>
              </a:ext>
            </a:extLst>
          </p:cNvPr>
          <p:cNvSpPr>
            <a:spLocks noGrp="1"/>
          </p:cNvSpPr>
          <p:nvPr>
            <p:ph type="sldNum" sz="quarter" idx="12"/>
          </p:nvPr>
        </p:nvSpPr>
        <p:spPr/>
        <p:txBody>
          <a:bodyPr/>
          <a:lstStyle/>
          <a:p>
            <a:fld id="{6B97D948-30E8-43F7-AE10-F6E2D9F2BBB1}" type="slidenum">
              <a:rPr lang="en-US" smtClean="0"/>
              <a:t>175</a:t>
            </a:fld>
            <a:endParaRPr lang="en-US"/>
          </a:p>
        </p:txBody>
      </p:sp>
    </p:spTree>
    <p:extLst>
      <p:ext uri="{BB962C8B-B14F-4D97-AF65-F5344CB8AC3E}">
        <p14:creationId xmlns:p14="http://schemas.microsoft.com/office/powerpoint/2010/main" val="385318770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C268C9-E595-4996-988B-E5AD346D3234}"/>
              </a:ext>
            </a:extLst>
          </p:cNvPr>
          <p:cNvSpPr>
            <a:spLocks noGrp="1"/>
          </p:cNvSpPr>
          <p:nvPr>
            <p:ph idx="1"/>
          </p:nvPr>
        </p:nvSpPr>
        <p:spPr>
          <a:xfrm>
            <a:off x="838200" y="457200"/>
            <a:ext cx="10515600" cy="5719763"/>
          </a:xfrm>
        </p:spPr>
        <p:txBody>
          <a:bodyPr/>
          <a:lstStyle/>
          <a:p>
            <a:pPr algn="just"/>
            <a:r>
              <a:rPr lang="en-US" dirty="0"/>
              <a:t>Passing a Series as an argument to </a:t>
            </a:r>
            <a:r>
              <a:rPr lang="en-US" dirty="0" err="1">
                <a:solidFill>
                  <a:srgbClr val="FF0000"/>
                </a:solidFill>
              </a:rPr>
              <a:t>babynames</a:t>
            </a:r>
            <a:r>
              <a:rPr lang="en-US" dirty="0">
                <a:solidFill>
                  <a:srgbClr val="FF0000"/>
                </a:solidFill>
              </a:rPr>
              <a:t>[]</a:t>
            </a:r>
            <a:r>
              <a:rPr lang="en-US" dirty="0"/>
              <a:t> has the same affect as using a </a:t>
            </a:r>
            <a:r>
              <a:rPr lang="en-US" dirty="0" err="1"/>
              <a:t>boolean</a:t>
            </a:r>
            <a:r>
              <a:rPr lang="en-US" dirty="0"/>
              <a:t> array. </a:t>
            </a:r>
          </a:p>
          <a:p>
            <a:pPr algn="just"/>
            <a:r>
              <a:rPr lang="en-US" dirty="0"/>
              <a:t>In fact, the </a:t>
            </a:r>
            <a:r>
              <a:rPr lang="en-US" dirty="0">
                <a:solidFill>
                  <a:srgbClr val="FF0000"/>
                </a:solidFill>
              </a:rPr>
              <a:t>[]</a:t>
            </a:r>
            <a:r>
              <a:rPr lang="en-US" dirty="0"/>
              <a:t> selection operator can take a </a:t>
            </a:r>
            <a:r>
              <a:rPr lang="en-US" dirty="0" err="1"/>
              <a:t>boolean</a:t>
            </a:r>
            <a:r>
              <a:rPr lang="en-US" dirty="0"/>
              <a:t> Series, array, and list as arguments. </a:t>
            </a:r>
          </a:p>
          <a:p>
            <a:pPr algn="just"/>
            <a:r>
              <a:rPr lang="en-US" dirty="0"/>
              <a:t>These three are used interchangeably </a:t>
            </a:r>
            <a:r>
              <a:rPr lang="en-US" dirty="0" err="1"/>
              <a:t>thoughout</a:t>
            </a:r>
            <a:r>
              <a:rPr lang="en-US" dirty="0"/>
              <a:t> the course.</a:t>
            </a:r>
          </a:p>
          <a:p>
            <a:endParaRPr lang="en-US" dirty="0"/>
          </a:p>
          <a:p>
            <a:r>
              <a:rPr lang="en-US" dirty="0"/>
              <a:t>We can also use .loc to achieve similar results.</a:t>
            </a:r>
          </a:p>
          <a:p>
            <a:endParaRPr lang="en-US" dirty="0"/>
          </a:p>
          <a:p>
            <a:r>
              <a:rPr lang="en-US" dirty="0" err="1">
                <a:solidFill>
                  <a:srgbClr val="FF0000"/>
                </a:solidFill>
              </a:rPr>
              <a:t>babynames.loc</a:t>
            </a:r>
            <a:r>
              <a:rPr lang="en-US" dirty="0">
                <a:solidFill>
                  <a:srgbClr val="FF0000"/>
                </a:solidFill>
              </a:rPr>
              <a:t>[</a:t>
            </a:r>
            <a:r>
              <a:rPr lang="en-US" dirty="0" err="1">
                <a:solidFill>
                  <a:srgbClr val="FF0000"/>
                </a:solidFill>
              </a:rPr>
              <a:t>babynames</a:t>
            </a:r>
            <a:r>
              <a:rPr lang="en-US" dirty="0">
                <a:solidFill>
                  <a:srgbClr val="FF0000"/>
                </a:solidFill>
              </a:rPr>
              <a:t>[‘Sex’] == ‘F’].head()</a:t>
            </a:r>
          </a:p>
        </p:txBody>
      </p:sp>
      <p:sp>
        <p:nvSpPr>
          <p:cNvPr id="4" name="Slide Number Placeholder 3">
            <a:extLst>
              <a:ext uri="{FF2B5EF4-FFF2-40B4-BE49-F238E27FC236}">
                <a16:creationId xmlns:a16="http://schemas.microsoft.com/office/drawing/2014/main" id="{F3397D89-9F9E-4226-9EC1-9CECBE16DC52}"/>
              </a:ext>
            </a:extLst>
          </p:cNvPr>
          <p:cNvSpPr>
            <a:spLocks noGrp="1"/>
          </p:cNvSpPr>
          <p:nvPr>
            <p:ph type="sldNum" sz="quarter" idx="12"/>
          </p:nvPr>
        </p:nvSpPr>
        <p:spPr/>
        <p:txBody>
          <a:bodyPr/>
          <a:lstStyle/>
          <a:p>
            <a:fld id="{6B97D948-30E8-43F7-AE10-F6E2D9F2BBB1}" type="slidenum">
              <a:rPr lang="en-US" smtClean="0"/>
              <a:t>176</a:t>
            </a:fld>
            <a:endParaRPr lang="en-US"/>
          </a:p>
        </p:txBody>
      </p:sp>
    </p:spTree>
    <p:extLst>
      <p:ext uri="{BB962C8B-B14F-4D97-AF65-F5344CB8AC3E}">
        <p14:creationId xmlns:p14="http://schemas.microsoft.com/office/powerpoint/2010/main" val="385439336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1BB3-5D1C-40EA-9E9A-222915170635}"/>
              </a:ext>
            </a:extLst>
          </p:cNvPr>
          <p:cNvSpPr>
            <a:spLocks noGrp="1"/>
          </p:cNvSpPr>
          <p:nvPr>
            <p:ph type="title"/>
          </p:nvPr>
        </p:nvSpPr>
        <p:spPr>
          <a:xfrm>
            <a:off x="838200" y="365126"/>
            <a:ext cx="10515600" cy="645528"/>
          </a:xfrm>
        </p:spPr>
        <p:txBody>
          <a:bodyPr>
            <a:normAutofit fontScale="90000"/>
          </a:bodyPr>
          <a:lstStyle/>
          <a:p>
            <a:r>
              <a:rPr lang="en-US" dirty="0"/>
              <a:t>Combining Bools</a:t>
            </a:r>
          </a:p>
        </p:txBody>
      </p:sp>
      <p:sp>
        <p:nvSpPr>
          <p:cNvPr id="3" name="Content Placeholder 2">
            <a:extLst>
              <a:ext uri="{FF2B5EF4-FFF2-40B4-BE49-F238E27FC236}">
                <a16:creationId xmlns:a16="http://schemas.microsoft.com/office/drawing/2014/main" id="{DB0433F7-703F-46DF-A97A-AA9F7E63034D}"/>
              </a:ext>
            </a:extLst>
          </p:cNvPr>
          <p:cNvSpPr>
            <a:spLocks noGrp="1"/>
          </p:cNvSpPr>
          <p:nvPr>
            <p:ph idx="1"/>
          </p:nvPr>
        </p:nvSpPr>
        <p:spPr>
          <a:xfrm>
            <a:off x="838200" y="1010654"/>
            <a:ext cx="10515600" cy="1022683"/>
          </a:xfrm>
        </p:spPr>
        <p:txBody>
          <a:bodyPr/>
          <a:lstStyle/>
          <a:p>
            <a:pPr algn="just"/>
            <a:r>
              <a:rPr lang="en-US" dirty="0"/>
              <a:t>Boolean conditions can be combined using various bitwise operators that allow us to filter results by multiple conditions.</a:t>
            </a:r>
          </a:p>
        </p:txBody>
      </p:sp>
      <p:pic>
        <p:nvPicPr>
          <p:cNvPr id="5" name="Picture 4">
            <a:extLst>
              <a:ext uri="{FF2B5EF4-FFF2-40B4-BE49-F238E27FC236}">
                <a16:creationId xmlns:a16="http://schemas.microsoft.com/office/drawing/2014/main" id="{75B42E44-4AA4-43F7-866F-3A2130D3DE75}"/>
              </a:ext>
            </a:extLst>
          </p:cNvPr>
          <p:cNvPicPr>
            <a:picLocks noChangeAspect="1"/>
          </p:cNvPicPr>
          <p:nvPr/>
        </p:nvPicPr>
        <p:blipFill>
          <a:blip r:embed="rId2"/>
          <a:stretch>
            <a:fillRect/>
          </a:stretch>
        </p:blipFill>
        <p:spPr>
          <a:xfrm>
            <a:off x="1781939" y="2678866"/>
            <a:ext cx="8829162" cy="3303588"/>
          </a:xfrm>
          <a:prstGeom prst="rect">
            <a:avLst/>
          </a:prstGeom>
        </p:spPr>
      </p:pic>
      <p:sp>
        <p:nvSpPr>
          <p:cNvPr id="6" name="Slide Number Placeholder 5">
            <a:extLst>
              <a:ext uri="{FF2B5EF4-FFF2-40B4-BE49-F238E27FC236}">
                <a16:creationId xmlns:a16="http://schemas.microsoft.com/office/drawing/2014/main" id="{75358AD7-6230-48B9-8402-24CEF8C4EDA3}"/>
              </a:ext>
            </a:extLst>
          </p:cNvPr>
          <p:cNvSpPr>
            <a:spLocks noGrp="1"/>
          </p:cNvSpPr>
          <p:nvPr>
            <p:ph type="sldNum" sz="quarter" idx="12"/>
          </p:nvPr>
        </p:nvSpPr>
        <p:spPr/>
        <p:txBody>
          <a:bodyPr/>
          <a:lstStyle/>
          <a:p>
            <a:fld id="{6B97D948-30E8-43F7-AE10-F6E2D9F2BBB1}" type="slidenum">
              <a:rPr lang="en-US" smtClean="0"/>
              <a:t>177</a:t>
            </a:fld>
            <a:endParaRPr lang="en-US"/>
          </a:p>
        </p:txBody>
      </p:sp>
    </p:spTree>
    <p:extLst>
      <p:ext uri="{BB962C8B-B14F-4D97-AF65-F5344CB8AC3E}">
        <p14:creationId xmlns:p14="http://schemas.microsoft.com/office/powerpoint/2010/main" val="288279149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EB0CE-F1E9-4844-AABD-290F2932F48D}"/>
              </a:ext>
            </a:extLst>
          </p:cNvPr>
          <p:cNvSpPr>
            <a:spLocks noGrp="1"/>
          </p:cNvSpPr>
          <p:nvPr>
            <p:ph type="title"/>
          </p:nvPr>
        </p:nvSpPr>
        <p:spPr>
          <a:xfrm>
            <a:off x="838200" y="365126"/>
            <a:ext cx="10515600" cy="513180"/>
          </a:xfrm>
        </p:spPr>
        <p:txBody>
          <a:bodyPr>
            <a:normAutofit fontScale="90000"/>
          </a:bodyPr>
          <a:lstStyle/>
          <a:p>
            <a:r>
              <a:rPr lang="en-US" dirty="0"/>
              <a:t>Syntax</a:t>
            </a:r>
          </a:p>
        </p:txBody>
      </p:sp>
      <p:sp>
        <p:nvSpPr>
          <p:cNvPr id="3" name="Content Placeholder 2">
            <a:extLst>
              <a:ext uri="{FF2B5EF4-FFF2-40B4-BE49-F238E27FC236}">
                <a16:creationId xmlns:a16="http://schemas.microsoft.com/office/drawing/2014/main" id="{0C79607D-D8AA-4DC3-AD49-0B36C080299B}"/>
              </a:ext>
            </a:extLst>
          </p:cNvPr>
          <p:cNvSpPr>
            <a:spLocks noGrp="1"/>
          </p:cNvSpPr>
          <p:nvPr>
            <p:ph idx="1"/>
          </p:nvPr>
        </p:nvSpPr>
        <p:spPr>
          <a:xfrm>
            <a:off x="838200" y="878306"/>
            <a:ext cx="10515600" cy="5298657"/>
          </a:xfrm>
        </p:spPr>
        <p:txBody>
          <a:bodyPr>
            <a:normAutofit fontScale="77500" lnSpcReduction="20000"/>
          </a:bodyPr>
          <a:lstStyle/>
          <a:p>
            <a:pPr algn="just"/>
            <a:r>
              <a:rPr lang="en-US" dirty="0"/>
              <a:t>When combining </a:t>
            </a:r>
            <a:r>
              <a:rPr lang="en-US" dirty="0">
                <a:solidFill>
                  <a:srgbClr val="FF0000"/>
                </a:solidFill>
              </a:rPr>
              <a:t>multiple conditions </a:t>
            </a:r>
            <a:r>
              <a:rPr lang="en-US" dirty="0"/>
              <a:t>with logical operators, we surround each individual condition with a set of parenthesis (). </a:t>
            </a:r>
          </a:p>
          <a:p>
            <a:pPr algn="just"/>
            <a:endParaRPr lang="en-US" dirty="0"/>
          </a:p>
          <a:p>
            <a:pPr algn="just"/>
            <a:r>
              <a:rPr lang="en-US" dirty="0"/>
              <a:t>This imposes an order of operations on pandas evaluating your logic, and can avoid code erroring.</a:t>
            </a:r>
          </a:p>
          <a:p>
            <a:pPr algn="just"/>
            <a:r>
              <a:rPr lang="en-US" dirty="0"/>
              <a:t>For example, if we want to return data on all names with sex "F"  and the number being less that 20000, we can write:</a:t>
            </a:r>
          </a:p>
          <a:p>
            <a:pPr algn="just"/>
            <a:r>
              <a:rPr lang="en-US" dirty="0" err="1">
                <a:solidFill>
                  <a:srgbClr val="FF0000"/>
                </a:solidFill>
              </a:rPr>
              <a:t>babynames</a:t>
            </a:r>
            <a:r>
              <a:rPr lang="en-US" dirty="0">
                <a:solidFill>
                  <a:srgbClr val="FF0000"/>
                </a:solidFill>
              </a:rPr>
              <a:t>[(</a:t>
            </a:r>
            <a:r>
              <a:rPr lang="en-US" dirty="0" err="1">
                <a:solidFill>
                  <a:srgbClr val="FF0000"/>
                </a:solidFill>
              </a:rPr>
              <a:t>babynames</a:t>
            </a:r>
            <a:r>
              <a:rPr lang="en-US" dirty="0">
                <a:solidFill>
                  <a:srgbClr val="FF0000"/>
                </a:solidFill>
              </a:rPr>
              <a:t>['Sex'] == 'F') &amp; (</a:t>
            </a:r>
            <a:r>
              <a:rPr lang="en-US" dirty="0" err="1">
                <a:solidFill>
                  <a:srgbClr val="FF0000"/>
                </a:solidFill>
              </a:rPr>
              <a:t>babynames</a:t>
            </a:r>
            <a:r>
              <a:rPr lang="en-US" dirty="0">
                <a:solidFill>
                  <a:srgbClr val="FF0000"/>
                </a:solidFill>
              </a:rPr>
              <a:t>['Number'] &lt; 20000)].head()</a:t>
            </a:r>
          </a:p>
          <a:p>
            <a:pPr algn="just"/>
            <a:r>
              <a:rPr lang="en-US" dirty="0"/>
              <a:t>Out[28]:</a:t>
            </a:r>
          </a:p>
          <a:p>
            <a:pPr algn="just"/>
            <a:r>
              <a:rPr lang="en-US" dirty="0"/>
              <a:t>       Name Sex  Number</a:t>
            </a:r>
          </a:p>
          <a:p>
            <a:pPr algn="just"/>
            <a:r>
              <a:rPr lang="en-US" dirty="0"/>
              <a:t>1   Madison   F   19967</a:t>
            </a:r>
          </a:p>
          <a:p>
            <a:pPr algn="just"/>
            <a:r>
              <a:rPr lang="en-US" dirty="0"/>
              <a:t>2    Ashley   F   17997</a:t>
            </a:r>
          </a:p>
          <a:p>
            <a:pPr algn="just"/>
            <a:r>
              <a:rPr lang="en-US" dirty="0"/>
              <a:t>3     Sarah   F   17689</a:t>
            </a:r>
          </a:p>
          <a:p>
            <a:pPr algn="just"/>
            <a:r>
              <a:rPr lang="en-US" dirty="0"/>
              <a:t>4    Alexis   F   17627</a:t>
            </a:r>
          </a:p>
          <a:p>
            <a:pPr algn="just"/>
            <a:r>
              <a:rPr lang="en-US" dirty="0"/>
              <a:t>5  Samantha   F   17264</a:t>
            </a:r>
          </a:p>
        </p:txBody>
      </p:sp>
      <p:sp>
        <p:nvSpPr>
          <p:cNvPr id="5" name="Slide Number Placeholder 4">
            <a:extLst>
              <a:ext uri="{FF2B5EF4-FFF2-40B4-BE49-F238E27FC236}">
                <a16:creationId xmlns:a16="http://schemas.microsoft.com/office/drawing/2014/main" id="{EDCE5611-BE4D-410E-BFC7-71F6526A4869}"/>
              </a:ext>
            </a:extLst>
          </p:cNvPr>
          <p:cNvSpPr>
            <a:spLocks noGrp="1"/>
          </p:cNvSpPr>
          <p:nvPr>
            <p:ph type="sldNum" sz="quarter" idx="12"/>
          </p:nvPr>
        </p:nvSpPr>
        <p:spPr/>
        <p:txBody>
          <a:bodyPr/>
          <a:lstStyle/>
          <a:p>
            <a:fld id="{6B97D948-30E8-43F7-AE10-F6E2D9F2BBB1}" type="slidenum">
              <a:rPr lang="en-US" smtClean="0"/>
              <a:t>178</a:t>
            </a:fld>
            <a:endParaRPr lang="en-US"/>
          </a:p>
        </p:txBody>
      </p:sp>
    </p:spTree>
    <p:extLst>
      <p:ext uri="{BB962C8B-B14F-4D97-AF65-F5344CB8AC3E}">
        <p14:creationId xmlns:p14="http://schemas.microsoft.com/office/powerpoint/2010/main" val="6740027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573621-8E14-4140-B088-B945CC40B9E3}"/>
              </a:ext>
            </a:extLst>
          </p:cNvPr>
          <p:cNvSpPr>
            <a:spLocks noGrp="1"/>
          </p:cNvSpPr>
          <p:nvPr>
            <p:ph idx="1"/>
          </p:nvPr>
        </p:nvSpPr>
        <p:spPr>
          <a:xfrm>
            <a:off x="838200" y="324853"/>
            <a:ext cx="10515600" cy="5852110"/>
          </a:xfrm>
        </p:spPr>
        <p:txBody>
          <a:bodyPr>
            <a:normAutofit lnSpcReduction="10000"/>
          </a:bodyPr>
          <a:lstStyle/>
          <a:p>
            <a:pPr algn="just"/>
            <a:r>
              <a:rPr lang="en-US" dirty="0"/>
              <a:t>Boolean array selection is a useful tool, but can lead to overly verbose code for complex conditions. </a:t>
            </a:r>
          </a:p>
          <a:p>
            <a:pPr algn="just"/>
            <a:r>
              <a:rPr lang="en-US" dirty="0"/>
              <a:t>In this example, our </a:t>
            </a:r>
            <a:r>
              <a:rPr lang="en-US" dirty="0" err="1"/>
              <a:t>boolean</a:t>
            </a:r>
            <a:r>
              <a:rPr lang="en-US" dirty="0"/>
              <a:t> condition is long enough to extend for several lines of code.</a:t>
            </a:r>
          </a:p>
          <a:p>
            <a:pPr algn="just"/>
            <a:endParaRPr lang="en-US" dirty="0"/>
          </a:p>
          <a:p>
            <a:pPr algn="just"/>
            <a:r>
              <a:rPr lang="en-US" dirty="0"/>
              <a:t># Note: The parentheses surrounding the code make it possible to break the code on to multiple lines for readability</a:t>
            </a:r>
          </a:p>
          <a:p>
            <a:pPr algn="just"/>
            <a:r>
              <a:rPr lang="en-US" dirty="0">
                <a:solidFill>
                  <a:srgbClr val="FF0000"/>
                </a:solidFill>
              </a:rPr>
              <a:t>(</a:t>
            </a:r>
          </a:p>
          <a:p>
            <a:pPr algn="just"/>
            <a:r>
              <a:rPr lang="en-US" dirty="0">
                <a:solidFill>
                  <a:srgbClr val="FF0000"/>
                </a:solidFill>
              </a:rPr>
              <a:t>    </a:t>
            </a:r>
            <a:r>
              <a:rPr lang="en-US" dirty="0" err="1">
                <a:solidFill>
                  <a:srgbClr val="FF0000"/>
                </a:solidFill>
              </a:rPr>
              <a:t>babynames</a:t>
            </a:r>
            <a:r>
              <a:rPr lang="en-US" dirty="0">
                <a:solidFill>
                  <a:srgbClr val="FF0000"/>
                </a:solidFill>
              </a:rPr>
              <a:t>[(</a:t>
            </a:r>
            <a:r>
              <a:rPr lang="en-US" dirty="0" err="1">
                <a:solidFill>
                  <a:srgbClr val="FF0000"/>
                </a:solidFill>
              </a:rPr>
              <a:t>babynames</a:t>
            </a:r>
            <a:r>
              <a:rPr lang="en-US" dirty="0">
                <a:solidFill>
                  <a:srgbClr val="FF0000"/>
                </a:solidFill>
              </a:rPr>
              <a:t>["Name"] == "Bella") | </a:t>
            </a:r>
          </a:p>
          <a:p>
            <a:pPr algn="just"/>
            <a:r>
              <a:rPr lang="en-US" dirty="0">
                <a:solidFill>
                  <a:srgbClr val="FF0000"/>
                </a:solidFill>
              </a:rPr>
              <a:t>              (</a:t>
            </a:r>
            <a:r>
              <a:rPr lang="en-US" dirty="0" err="1">
                <a:solidFill>
                  <a:srgbClr val="FF0000"/>
                </a:solidFill>
              </a:rPr>
              <a:t>babynames</a:t>
            </a:r>
            <a:r>
              <a:rPr lang="en-US" dirty="0">
                <a:solidFill>
                  <a:srgbClr val="FF0000"/>
                </a:solidFill>
              </a:rPr>
              <a:t>["Name"] == "Alex") |</a:t>
            </a:r>
          </a:p>
          <a:p>
            <a:pPr algn="just"/>
            <a:r>
              <a:rPr lang="en-US" dirty="0">
                <a:solidFill>
                  <a:srgbClr val="FF0000"/>
                </a:solidFill>
              </a:rPr>
              <a:t>              (</a:t>
            </a:r>
            <a:r>
              <a:rPr lang="en-US" dirty="0" err="1">
                <a:solidFill>
                  <a:srgbClr val="FF0000"/>
                </a:solidFill>
              </a:rPr>
              <a:t>babynames</a:t>
            </a:r>
            <a:r>
              <a:rPr lang="en-US" dirty="0">
                <a:solidFill>
                  <a:srgbClr val="FF0000"/>
                </a:solidFill>
              </a:rPr>
              <a:t>["Name"] == "Ani") |</a:t>
            </a:r>
          </a:p>
          <a:p>
            <a:pPr algn="just"/>
            <a:r>
              <a:rPr lang="en-US" dirty="0">
                <a:solidFill>
                  <a:srgbClr val="FF0000"/>
                </a:solidFill>
              </a:rPr>
              <a:t>              (</a:t>
            </a:r>
            <a:r>
              <a:rPr lang="en-US" dirty="0" err="1">
                <a:solidFill>
                  <a:srgbClr val="FF0000"/>
                </a:solidFill>
              </a:rPr>
              <a:t>babynames</a:t>
            </a:r>
            <a:r>
              <a:rPr lang="en-US" dirty="0">
                <a:solidFill>
                  <a:srgbClr val="FF0000"/>
                </a:solidFill>
              </a:rPr>
              <a:t>["Name"] == "Lisa")]</a:t>
            </a:r>
          </a:p>
          <a:p>
            <a:pPr algn="just"/>
            <a:r>
              <a:rPr lang="en-US" dirty="0">
                <a:solidFill>
                  <a:srgbClr val="FF0000"/>
                </a:solidFill>
              </a:rPr>
              <a:t>).head()</a:t>
            </a:r>
          </a:p>
        </p:txBody>
      </p:sp>
      <p:sp>
        <p:nvSpPr>
          <p:cNvPr id="4" name="Slide Number Placeholder 3">
            <a:extLst>
              <a:ext uri="{FF2B5EF4-FFF2-40B4-BE49-F238E27FC236}">
                <a16:creationId xmlns:a16="http://schemas.microsoft.com/office/drawing/2014/main" id="{1E09B83B-18DC-436E-9B73-4CF9B11912BD}"/>
              </a:ext>
            </a:extLst>
          </p:cNvPr>
          <p:cNvSpPr>
            <a:spLocks noGrp="1"/>
          </p:cNvSpPr>
          <p:nvPr>
            <p:ph type="sldNum" sz="quarter" idx="12"/>
          </p:nvPr>
        </p:nvSpPr>
        <p:spPr/>
        <p:txBody>
          <a:bodyPr/>
          <a:lstStyle/>
          <a:p>
            <a:fld id="{6B97D948-30E8-43F7-AE10-F6E2D9F2BBB1}" type="slidenum">
              <a:rPr lang="en-US" smtClean="0"/>
              <a:t>179</a:t>
            </a:fld>
            <a:endParaRPr lang="en-US"/>
          </a:p>
        </p:txBody>
      </p:sp>
    </p:spTree>
    <p:extLst>
      <p:ext uri="{BB962C8B-B14F-4D97-AF65-F5344CB8AC3E}">
        <p14:creationId xmlns:p14="http://schemas.microsoft.com/office/powerpoint/2010/main" val="199344518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9DAE0B-4381-401D-87B2-CCF4F016F1AD}"/>
              </a:ext>
            </a:extLst>
          </p:cNvPr>
          <p:cNvSpPr>
            <a:spLocks noGrp="1"/>
          </p:cNvSpPr>
          <p:nvPr>
            <p:ph idx="1"/>
          </p:nvPr>
        </p:nvSpPr>
        <p:spPr>
          <a:xfrm>
            <a:off x="838200" y="457200"/>
            <a:ext cx="10515600" cy="5719763"/>
          </a:xfrm>
        </p:spPr>
        <p:txBody>
          <a:bodyPr>
            <a:normAutofit/>
          </a:bodyPr>
          <a:lstStyle/>
          <a:p>
            <a:pPr algn="just"/>
            <a:r>
              <a:rPr lang="en-US" dirty="0"/>
              <a:t>Fortunately, pandas provides many alternative methods for constructing </a:t>
            </a:r>
            <a:r>
              <a:rPr lang="en-US" dirty="0" err="1">
                <a:solidFill>
                  <a:srgbClr val="FF0000"/>
                </a:solidFill>
              </a:rPr>
              <a:t>boolean</a:t>
            </a:r>
            <a:r>
              <a:rPr lang="en-US" dirty="0">
                <a:solidFill>
                  <a:srgbClr val="FF0000"/>
                </a:solidFill>
              </a:rPr>
              <a:t> filters</a:t>
            </a:r>
            <a:r>
              <a:rPr lang="en-US" dirty="0"/>
              <a:t>.</a:t>
            </a:r>
          </a:p>
          <a:p>
            <a:pPr algn="just"/>
            <a:r>
              <a:rPr lang="en-US" dirty="0"/>
              <a:t>The </a:t>
            </a:r>
            <a:r>
              <a:rPr lang="en-US" dirty="0">
                <a:solidFill>
                  <a:srgbClr val="FF0000"/>
                </a:solidFill>
              </a:rPr>
              <a:t>.</a:t>
            </a:r>
            <a:r>
              <a:rPr lang="en-US" dirty="0" err="1">
                <a:solidFill>
                  <a:srgbClr val="FF0000"/>
                </a:solidFill>
              </a:rPr>
              <a:t>isin</a:t>
            </a:r>
            <a:r>
              <a:rPr lang="en-US" dirty="0"/>
              <a:t> function is one such example. </a:t>
            </a:r>
          </a:p>
          <a:p>
            <a:pPr algn="just"/>
            <a:endParaRPr lang="en-US" dirty="0"/>
          </a:p>
          <a:p>
            <a:pPr algn="just"/>
            <a:r>
              <a:rPr lang="en-US" dirty="0"/>
              <a:t>This method evaluates if the values in a Series are contained in a different sequence (list, array, or Series) of values. </a:t>
            </a:r>
          </a:p>
          <a:p>
            <a:pPr algn="just"/>
            <a:endParaRPr lang="en-US" dirty="0"/>
          </a:p>
          <a:p>
            <a:pPr algn="just"/>
            <a:r>
              <a:rPr lang="en-US" dirty="0"/>
              <a:t>The code below achieves equivalent result to the </a:t>
            </a:r>
            <a:r>
              <a:rPr lang="en-US" dirty="0" err="1"/>
              <a:t>DataFrame</a:t>
            </a:r>
            <a:r>
              <a:rPr lang="en-US" dirty="0"/>
              <a:t> above with far more concise code.</a:t>
            </a:r>
          </a:p>
          <a:p>
            <a:pPr algn="just"/>
            <a:r>
              <a:rPr lang="en-US" dirty="0">
                <a:solidFill>
                  <a:srgbClr val="FF0000"/>
                </a:solidFill>
              </a:rPr>
              <a:t>names = [‘Bella’, ‘Alex’, ‘Ani’, ‘Lisa’]</a:t>
            </a:r>
          </a:p>
          <a:p>
            <a:pPr algn="just"/>
            <a:r>
              <a:rPr lang="en-US" dirty="0" err="1">
                <a:solidFill>
                  <a:srgbClr val="FF0000"/>
                </a:solidFill>
              </a:rPr>
              <a:t>babynames</a:t>
            </a:r>
            <a:r>
              <a:rPr lang="en-US" dirty="0">
                <a:solidFill>
                  <a:srgbClr val="FF0000"/>
                </a:solidFill>
              </a:rPr>
              <a:t>[</a:t>
            </a:r>
            <a:r>
              <a:rPr lang="en-US" dirty="0" err="1">
                <a:solidFill>
                  <a:srgbClr val="FF0000"/>
                </a:solidFill>
              </a:rPr>
              <a:t>babynames</a:t>
            </a:r>
            <a:r>
              <a:rPr lang="en-US" dirty="0">
                <a:solidFill>
                  <a:srgbClr val="FF0000"/>
                </a:solidFill>
              </a:rPr>
              <a:t>[‘Name’].</a:t>
            </a:r>
            <a:r>
              <a:rPr lang="en-US" dirty="0" err="1">
                <a:solidFill>
                  <a:srgbClr val="FF0000"/>
                </a:solidFill>
              </a:rPr>
              <a:t>isin</a:t>
            </a:r>
            <a:r>
              <a:rPr lang="en-US" dirty="0">
                <a:solidFill>
                  <a:srgbClr val="FF0000"/>
                </a:solidFill>
              </a:rPr>
              <a:t>(names)].head()</a:t>
            </a:r>
          </a:p>
        </p:txBody>
      </p:sp>
      <p:sp>
        <p:nvSpPr>
          <p:cNvPr id="4" name="Slide Number Placeholder 3">
            <a:extLst>
              <a:ext uri="{FF2B5EF4-FFF2-40B4-BE49-F238E27FC236}">
                <a16:creationId xmlns:a16="http://schemas.microsoft.com/office/drawing/2014/main" id="{3D836A8E-6818-4903-A8C1-F525D6FB84D3}"/>
              </a:ext>
            </a:extLst>
          </p:cNvPr>
          <p:cNvSpPr>
            <a:spLocks noGrp="1"/>
          </p:cNvSpPr>
          <p:nvPr>
            <p:ph type="sldNum" sz="quarter" idx="12"/>
          </p:nvPr>
        </p:nvSpPr>
        <p:spPr/>
        <p:txBody>
          <a:bodyPr/>
          <a:lstStyle/>
          <a:p>
            <a:fld id="{6B97D948-30E8-43F7-AE10-F6E2D9F2BBB1}" type="slidenum">
              <a:rPr lang="en-US" smtClean="0"/>
              <a:t>180</a:t>
            </a:fld>
            <a:endParaRPr lang="en-US"/>
          </a:p>
        </p:txBody>
      </p:sp>
    </p:spTree>
    <p:extLst>
      <p:ext uri="{BB962C8B-B14F-4D97-AF65-F5344CB8AC3E}">
        <p14:creationId xmlns:p14="http://schemas.microsoft.com/office/powerpoint/2010/main" val="133693424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B0FA5D-FEBE-48F2-8AC7-0B9DBF81BDCF}"/>
              </a:ext>
            </a:extLst>
          </p:cNvPr>
          <p:cNvSpPr>
            <a:spLocks noGrp="1"/>
          </p:cNvSpPr>
          <p:nvPr>
            <p:ph idx="1"/>
          </p:nvPr>
        </p:nvSpPr>
        <p:spPr>
          <a:xfrm>
            <a:off x="838200" y="505326"/>
            <a:ext cx="10515600" cy="5671637"/>
          </a:xfrm>
        </p:spPr>
        <p:txBody>
          <a:bodyPr/>
          <a:lstStyle/>
          <a:p>
            <a:pPr algn="just"/>
            <a:r>
              <a:rPr lang="en-US" dirty="0"/>
              <a:t>The function </a:t>
            </a:r>
            <a:r>
              <a:rPr lang="en-US" dirty="0" err="1">
                <a:solidFill>
                  <a:srgbClr val="FF0000"/>
                </a:solidFill>
              </a:rPr>
              <a:t>str.startswith</a:t>
            </a:r>
            <a:r>
              <a:rPr lang="en-US" dirty="0">
                <a:solidFill>
                  <a:srgbClr val="FF0000"/>
                </a:solidFill>
              </a:rPr>
              <a:t> </a:t>
            </a:r>
            <a:r>
              <a:rPr lang="en-US" dirty="0"/>
              <a:t>can be used to define a filter based on string values in a Series object. </a:t>
            </a:r>
          </a:p>
          <a:p>
            <a:pPr algn="just"/>
            <a:r>
              <a:rPr lang="en-US" dirty="0"/>
              <a:t>It checks to see if string values in a Series start with a particular character.</a:t>
            </a:r>
          </a:p>
          <a:p>
            <a:pPr algn="just"/>
            <a:endParaRPr lang="en-US" dirty="0"/>
          </a:p>
          <a:p>
            <a:pPr algn="just"/>
            <a:r>
              <a:rPr lang="en-US" dirty="0"/>
              <a:t># Find the names that begin with the letter "N"</a:t>
            </a:r>
          </a:p>
          <a:p>
            <a:pPr algn="just"/>
            <a:r>
              <a:rPr lang="en-US" dirty="0" err="1">
                <a:solidFill>
                  <a:srgbClr val="FF0000"/>
                </a:solidFill>
              </a:rPr>
              <a:t>babynames</a:t>
            </a:r>
            <a:r>
              <a:rPr lang="en-US" dirty="0">
                <a:solidFill>
                  <a:srgbClr val="FF0000"/>
                </a:solidFill>
              </a:rPr>
              <a:t>[</a:t>
            </a:r>
            <a:r>
              <a:rPr lang="en-US" dirty="0" err="1">
                <a:solidFill>
                  <a:srgbClr val="FF0000"/>
                </a:solidFill>
              </a:rPr>
              <a:t>babynames</a:t>
            </a:r>
            <a:r>
              <a:rPr lang="en-US" dirty="0">
                <a:solidFill>
                  <a:srgbClr val="FF0000"/>
                </a:solidFill>
              </a:rPr>
              <a:t>["Name"].</a:t>
            </a:r>
            <a:r>
              <a:rPr lang="en-US" dirty="0" err="1">
                <a:solidFill>
                  <a:srgbClr val="FF0000"/>
                </a:solidFill>
              </a:rPr>
              <a:t>str.startswith</a:t>
            </a:r>
            <a:r>
              <a:rPr lang="en-US" dirty="0">
                <a:solidFill>
                  <a:srgbClr val="FF0000"/>
                </a:solidFill>
              </a:rPr>
              <a:t>("N")].head()</a:t>
            </a:r>
          </a:p>
        </p:txBody>
      </p:sp>
      <p:sp>
        <p:nvSpPr>
          <p:cNvPr id="4" name="Slide Number Placeholder 3">
            <a:extLst>
              <a:ext uri="{FF2B5EF4-FFF2-40B4-BE49-F238E27FC236}">
                <a16:creationId xmlns:a16="http://schemas.microsoft.com/office/drawing/2014/main" id="{66C2DCB2-30A7-4AB0-8D8E-DB7A54DD4D53}"/>
              </a:ext>
            </a:extLst>
          </p:cNvPr>
          <p:cNvSpPr>
            <a:spLocks noGrp="1"/>
          </p:cNvSpPr>
          <p:nvPr>
            <p:ph type="sldNum" sz="quarter" idx="12"/>
          </p:nvPr>
        </p:nvSpPr>
        <p:spPr/>
        <p:txBody>
          <a:bodyPr/>
          <a:lstStyle/>
          <a:p>
            <a:fld id="{6B97D948-30E8-43F7-AE10-F6E2D9F2BBB1}" type="slidenum">
              <a:rPr lang="en-US" smtClean="0"/>
              <a:t>181</a:t>
            </a:fld>
            <a:endParaRPr lang="en-US"/>
          </a:p>
        </p:txBody>
      </p:sp>
    </p:spTree>
    <p:extLst>
      <p:ext uri="{BB962C8B-B14F-4D97-AF65-F5344CB8AC3E}">
        <p14:creationId xmlns:p14="http://schemas.microsoft.com/office/powerpoint/2010/main" val="182590923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A1D62-9BEF-4EC9-B4E9-E31C0EC83668}"/>
              </a:ext>
            </a:extLst>
          </p:cNvPr>
          <p:cNvSpPr>
            <a:spLocks noGrp="1"/>
          </p:cNvSpPr>
          <p:nvPr>
            <p:ph type="title"/>
          </p:nvPr>
        </p:nvSpPr>
        <p:spPr>
          <a:xfrm>
            <a:off x="838200" y="365126"/>
            <a:ext cx="10515600" cy="585370"/>
          </a:xfrm>
        </p:spPr>
        <p:txBody>
          <a:bodyPr>
            <a:normAutofit fontScale="90000"/>
          </a:bodyPr>
          <a:lstStyle/>
          <a:p>
            <a:r>
              <a:rPr lang="en-US" dirty="0"/>
              <a:t>Adding, Removing, and Modifying Columns</a:t>
            </a:r>
          </a:p>
        </p:txBody>
      </p:sp>
      <p:sp>
        <p:nvSpPr>
          <p:cNvPr id="3" name="Content Placeholder 2">
            <a:extLst>
              <a:ext uri="{FF2B5EF4-FFF2-40B4-BE49-F238E27FC236}">
                <a16:creationId xmlns:a16="http://schemas.microsoft.com/office/drawing/2014/main" id="{C0FD9D45-C5BE-402F-993B-30D46AC92E82}"/>
              </a:ext>
            </a:extLst>
          </p:cNvPr>
          <p:cNvSpPr>
            <a:spLocks noGrp="1"/>
          </p:cNvSpPr>
          <p:nvPr>
            <p:ph idx="1"/>
          </p:nvPr>
        </p:nvSpPr>
        <p:spPr>
          <a:xfrm>
            <a:off x="838200" y="950496"/>
            <a:ext cx="10515600" cy="5226467"/>
          </a:xfrm>
        </p:spPr>
        <p:txBody>
          <a:bodyPr>
            <a:normAutofit/>
          </a:bodyPr>
          <a:lstStyle/>
          <a:p>
            <a:pPr algn="just"/>
            <a:r>
              <a:rPr lang="en-US" dirty="0"/>
              <a:t>In many data science tasks, we may need to change the columns contained in our </a:t>
            </a:r>
            <a:r>
              <a:rPr lang="en-US" dirty="0" err="1"/>
              <a:t>DataFrame</a:t>
            </a:r>
            <a:r>
              <a:rPr lang="en-US" dirty="0"/>
              <a:t> in some way. </a:t>
            </a:r>
          </a:p>
          <a:p>
            <a:pPr algn="just"/>
            <a:r>
              <a:rPr lang="en-US" dirty="0"/>
              <a:t>Fortunately, the syntax to do so is fairly straightforward.</a:t>
            </a:r>
          </a:p>
          <a:p>
            <a:pPr algn="just"/>
            <a:endParaRPr lang="en-US" dirty="0"/>
          </a:p>
          <a:p>
            <a:pPr algn="just"/>
            <a:r>
              <a:rPr lang="en-US" dirty="0"/>
              <a:t>To add a new column to a </a:t>
            </a:r>
            <a:r>
              <a:rPr lang="en-US" dirty="0" err="1">
                <a:solidFill>
                  <a:srgbClr val="FF0000"/>
                </a:solidFill>
              </a:rPr>
              <a:t>DataFrame</a:t>
            </a:r>
            <a:r>
              <a:rPr lang="en-US" dirty="0"/>
              <a:t>, we use a syntax similar to that used when accessing an existing column. </a:t>
            </a:r>
          </a:p>
          <a:p>
            <a:pPr algn="just"/>
            <a:r>
              <a:rPr lang="en-US" dirty="0"/>
              <a:t>Specify the name of the new column by writing </a:t>
            </a:r>
            <a:r>
              <a:rPr lang="en-US" dirty="0">
                <a:solidFill>
                  <a:srgbClr val="FF0000"/>
                </a:solidFill>
              </a:rPr>
              <a:t>df["column"]</a:t>
            </a:r>
            <a:r>
              <a:rPr lang="en-US" dirty="0"/>
              <a:t>, then assign this to a Series or array containing the values that will populate this column.</a:t>
            </a:r>
          </a:p>
        </p:txBody>
      </p:sp>
      <p:sp>
        <p:nvSpPr>
          <p:cNvPr id="5" name="Slide Number Placeholder 4">
            <a:extLst>
              <a:ext uri="{FF2B5EF4-FFF2-40B4-BE49-F238E27FC236}">
                <a16:creationId xmlns:a16="http://schemas.microsoft.com/office/drawing/2014/main" id="{3EF74542-F0B8-458B-8E2A-221A0F983E52}"/>
              </a:ext>
            </a:extLst>
          </p:cNvPr>
          <p:cNvSpPr>
            <a:spLocks noGrp="1"/>
          </p:cNvSpPr>
          <p:nvPr>
            <p:ph type="sldNum" sz="quarter" idx="12"/>
          </p:nvPr>
        </p:nvSpPr>
        <p:spPr/>
        <p:txBody>
          <a:bodyPr/>
          <a:lstStyle/>
          <a:p>
            <a:fld id="{6B97D948-30E8-43F7-AE10-F6E2D9F2BBB1}" type="slidenum">
              <a:rPr lang="en-US" smtClean="0"/>
              <a:t>182</a:t>
            </a:fld>
            <a:endParaRPr lang="en-US"/>
          </a:p>
        </p:txBody>
      </p:sp>
    </p:spTree>
    <p:extLst>
      <p:ext uri="{BB962C8B-B14F-4D97-AF65-F5344CB8AC3E}">
        <p14:creationId xmlns:p14="http://schemas.microsoft.com/office/powerpoint/2010/main" val="199826792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7870C1-CB51-401A-BF2F-90D897624B27}"/>
              </a:ext>
            </a:extLst>
          </p:cNvPr>
          <p:cNvSpPr>
            <a:spLocks noGrp="1"/>
          </p:cNvSpPr>
          <p:nvPr>
            <p:ph idx="1"/>
          </p:nvPr>
        </p:nvSpPr>
        <p:spPr>
          <a:xfrm>
            <a:off x="838200" y="421105"/>
            <a:ext cx="10515600" cy="5755858"/>
          </a:xfrm>
        </p:spPr>
        <p:txBody>
          <a:bodyPr/>
          <a:lstStyle/>
          <a:p>
            <a:pPr algn="just"/>
            <a:r>
              <a:rPr lang="en-US" dirty="0"/>
              <a:t># Create a Series of the length of each name. </a:t>
            </a:r>
          </a:p>
          <a:p>
            <a:pPr algn="just"/>
            <a:r>
              <a:rPr lang="en-US" dirty="0" err="1">
                <a:solidFill>
                  <a:srgbClr val="FF0000"/>
                </a:solidFill>
              </a:rPr>
              <a:t>babynames_lengths</a:t>
            </a:r>
            <a:r>
              <a:rPr lang="en-US" dirty="0">
                <a:solidFill>
                  <a:srgbClr val="FF0000"/>
                </a:solidFill>
              </a:rPr>
              <a:t> = </a:t>
            </a:r>
            <a:r>
              <a:rPr lang="en-US" dirty="0" err="1">
                <a:solidFill>
                  <a:srgbClr val="FF0000"/>
                </a:solidFill>
              </a:rPr>
              <a:t>babynames</a:t>
            </a:r>
            <a:r>
              <a:rPr lang="en-US" dirty="0">
                <a:solidFill>
                  <a:srgbClr val="FF0000"/>
                </a:solidFill>
              </a:rPr>
              <a:t>[‘Name’].</a:t>
            </a:r>
            <a:r>
              <a:rPr lang="en-US" dirty="0" err="1">
                <a:solidFill>
                  <a:srgbClr val="FF0000"/>
                </a:solidFill>
              </a:rPr>
              <a:t>str.len</a:t>
            </a:r>
            <a:r>
              <a:rPr lang="en-US" dirty="0">
                <a:solidFill>
                  <a:srgbClr val="FF0000"/>
                </a:solidFill>
              </a:rPr>
              <a:t>()</a:t>
            </a:r>
          </a:p>
          <a:p>
            <a:pPr algn="just"/>
            <a:endParaRPr lang="en-US" dirty="0"/>
          </a:p>
          <a:p>
            <a:pPr algn="just"/>
            <a:r>
              <a:rPr lang="en-US" dirty="0"/>
              <a:t># Add a column named "</a:t>
            </a:r>
            <a:r>
              <a:rPr lang="en-US" dirty="0" err="1"/>
              <a:t>name_lengths</a:t>
            </a:r>
            <a:r>
              <a:rPr lang="en-US" dirty="0"/>
              <a:t>" that includes the length of each name</a:t>
            </a:r>
          </a:p>
          <a:p>
            <a:pPr algn="just"/>
            <a:r>
              <a:rPr lang="en-US" dirty="0" err="1">
                <a:solidFill>
                  <a:srgbClr val="FF0000"/>
                </a:solidFill>
              </a:rPr>
              <a:t>babynames</a:t>
            </a:r>
            <a:r>
              <a:rPr lang="en-US" dirty="0">
                <a:solidFill>
                  <a:srgbClr val="FF0000"/>
                </a:solidFill>
              </a:rPr>
              <a:t>[‘</a:t>
            </a:r>
            <a:r>
              <a:rPr lang="en-US" dirty="0" err="1">
                <a:solidFill>
                  <a:srgbClr val="FF0000"/>
                </a:solidFill>
              </a:rPr>
              <a:t>names_lengths</a:t>
            </a:r>
            <a:r>
              <a:rPr lang="en-US" dirty="0">
                <a:solidFill>
                  <a:srgbClr val="FF0000"/>
                </a:solidFill>
              </a:rPr>
              <a:t>’] = </a:t>
            </a:r>
            <a:r>
              <a:rPr lang="en-US" dirty="0" err="1">
                <a:solidFill>
                  <a:srgbClr val="FF0000"/>
                </a:solidFill>
              </a:rPr>
              <a:t>babynames_lengths</a:t>
            </a:r>
            <a:endParaRPr lang="en-US" dirty="0">
              <a:solidFill>
                <a:srgbClr val="FF0000"/>
              </a:solidFill>
            </a:endParaRPr>
          </a:p>
          <a:p>
            <a:pPr algn="just"/>
            <a:endParaRPr lang="en-US" dirty="0">
              <a:solidFill>
                <a:srgbClr val="FF0000"/>
              </a:solidFill>
            </a:endParaRPr>
          </a:p>
          <a:p>
            <a:pPr algn="just"/>
            <a:r>
              <a:rPr lang="en-US" dirty="0" err="1">
                <a:solidFill>
                  <a:srgbClr val="FF0000"/>
                </a:solidFill>
              </a:rPr>
              <a:t>babynames.head</a:t>
            </a:r>
            <a:r>
              <a:rPr lang="en-US" dirty="0">
                <a:solidFill>
                  <a:srgbClr val="FF0000"/>
                </a:solidFill>
              </a:rPr>
              <a:t>(5)</a:t>
            </a:r>
          </a:p>
        </p:txBody>
      </p:sp>
      <p:sp>
        <p:nvSpPr>
          <p:cNvPr id="4" name="Slide Number Placeholder 3">
            <a:extLst>
              <a:ext uri="{FF2B5EF4-FFF2-40B4-BE49-F238E27FC236}">
                <a16:creationId xmlns:a16="http://schemas.microsoft.com/office/drawing/2014/main" id="{1489D07C-9021-4A32-885B-3AF7C0494400}"/>
              </a:ext>
            </a:extLst>
          </p:cNvPr>
          <p:cNvSpPr>
            <a:spLocks noGrp="1"/>
          </p:cNvSpPr>
          <p:nvPr>
            <p:ph type="sldNum" sz="quarter" idx="12"/>
          </p:nvPr>
        </p:nvSpPr>
        <p:spPr/>
        <p:txBody>
          <a:bodyPr/>
          <a:lstStyle/>
          <a:p>
            <a:fld id="{6B97D948-30E8-43F7-AE10-F6E2D9F2BBB1}" type="slidenum">
              <a:rPr lang="en-US" smtClean="0"/>
              <a:t>183</a:t>
            </a:fld>
            <a:endParaRPr lang="en-US"/>
          </a:p>
        </p:txBody>
      </p:sp>
    </p:spTree>
    <p:extLst>
      <p:ext uri="{BB962C8B-B14F-4D97-AF65-F5344CB8AC3E}">
        <p14:creationId xmlns:p14="http://schemas.microsoft.com/office/powerpoint/2010/main" val="147425608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DD973D-DBE5-4C0A-9078-5095ACF69708}"/>
              </a:ext>
            </a:extLst>
          </p:cNvPr>
          <p:cNvSpPr>
            <a:spLocks noGrp="1"/>
          </p:cNvSpPr>
          <p:nvPr>
            <p:ph idx="1"/>
          </p:nvPr>
        </p:nvSpPr>
        <p:spPr>
          <a:xfrm>
            <a:off x="838200" y="421105"/>
            <a:ext cx="10515600" cy="5755858"/>
          </a:xfrm>
        </p:spPr>
        <p:txBody>
          <a:bodyPr/>
          <a:lstStyle/>
          <a:p>
            <a:pPr algn="just"/>
            <a:r>
              <a:rPr lang="en-US" dirty="0"/>
              <a:t>If we need to later modify an existing column, we can do so by referencing this column again with the syntax </a:t>
            </a:r>
            <a:r>
              <a:rPr lang="en-US" dirty="0">
                <a:solidFill>
                  <a:srgbClr val="FF0000"/>
                </a:solidFill>
              </a:rPr>
              <a:t>df[‘column’]</a:t>
            </a:r>
            <a:r>
              <a:rPr lang="en-US" dirty="0"/>
              <a:t>, then re-assigning it to a new Series or array.</a:t>
            </a:r>
          </a:p>
          <a:p>
            <a:pPr algn="just"/>
            <a:endParaRPr lang="en-US" dirty="0"/>
          </a:p>
          <a:p>
            <a:pPr algn="just"/>
            <a:r>
              <a:rPr lang="en-US" dirty="0"/>
              <a:t># Modify the “</a:t>
            </a:r>
            <a:r>
              <a:rPr lang="en-US" dirty="0" err="1"/>
              <a:t>name_lengths</a:t>
            </a:r>
            <a:r>
              <a:rPr lang="en-US" dirty="0"/>
              <a:t>” column to be one less than its original value</a:t>
            </a:r>
          </a:p>
          <a:p>
            <a:pPr algn="just"/>
            <a:r>
              <a:rPr lang="en-US" dirty="0" err="1">
                <a:solidFill>
                  <a:srgbClr val="FF0000"/>
                </a:solidFill>
              </a:rPr>
              <a:t>babynames</a:t>
            </a:r>
            <a:r>
              <a:rPr lang="en-US" dirty="0">
                <a:solidFill>
                  <a:srgbClr val="FF0000"/>
                </a:solidFill>
              </a:rPr>
              <a:t>[‘</a:t>
            </a:r>
            <a:r>
              <a:rPr lang="en-US" dirty="0" err="1">
                <a:solidFill>
                  <a:srgbClr val="FF0000"/>
                </a:solidFill>
              </a:rPr>
              <a:t>name_lengths</a:t>
            </a:r>
            <a:r>
              <a:rPr lang="en-US" dirty="0">
                <a:solidFill>
                  <a:srgbClr val="FF0000"/>
                </a:solidFill>
              </a:rPr>
              <a:t>’] = </a:t>
            </a:r>
            <a:r>
              <a:rPr lang="en-US" dirty="0" err="1">
                <a:solidFill>
                  <a:srgbClr val="FF0000"/>
                </a:solidFill>
              </a:rPr>
              <a:t>babynames</a:t>
            </a:r>
            <a:r>
              <a:rPr lang="en-US" dirty="0">
                <a:solidFill>
                  <a:srgbClr val="FF0000"/>
                </a:solidFill>
              </a:rPr>
              <a:t>[‘</a:t>
            </a:r>
            <a:r>
              <a:rPr lang="en-US" dirty="0" err="1">
                <a:solidFill>
                  <a:srgbClr val="FF0000"/>
                </a:solidFill>
              </a:rPr>
              <a:t>name_lengths</a:t>
            </a:r>
            <a:r>
              <a:rPr lang="en-US" dirty="0">
                <a:solidFill>
                  <a:srgbClr val="FF0000"/>
                </a:solidFill>
              </a:rPr>
              <a:t>’]-1</a:t>
            </a:r>
          </a:p>
          <a:p>
            <a:pPr algn="just"/>
            <a:endParaRPr lang="en-US" dirty="0">
              <a:solidFill>
                <a:srgbClr val="FF0000"/>
              </a:solidFill>
            </a:endParaRPr>
          </a:p>
          <a:p>
            <a:pPr algn="just"/>
            <a:r>
              <a:rPr lang="en-US" dirty="0" err="1">
                <a:solidFill>
                  <a:srgbClr val="FF0000"/>
                </a:solidFill>
              </a:rPr>
              <a:t>babynames.head</a:t>
            </a:r>
            <a:r>
              <a:rPr lang="en-US" dirty="0">
                <a:solidFill>
                  <a:srgbClr val="FF0000"/>
                </a:solidFill>
              </a:rPr>
              <a:t>()</a:t>
            </a:r>
          </a:p>
        </p:txBody>
      </p:sp>
      <p:sp>
        <p:nvSpPr>
          <p:cNvPr id="4" name="Slide Number Placeholder 3">
            <a:extLst>
              <a:ext uri="{FF2B5EF4-FFF2-40B4-BE49-F238E27FC236}">
                <a16:creationId xmlns:a16="http://schemas.microsoft.com/office/drawing/2014/main" id="{DA3CC9DA-4FE8-4A6F-9C4E-5CAC838FC91D}"/>
              </a:ext>
            </a:extLst>
          </p:cNvPr>
          <p:cNvSpPr>
            <a:spLocks noGrp="1"/>
          </p:cNvSpPr>
          <p:nvPr>
            <p:ph type="sldNum" sz="quarter" idx="12"/>
          </p:nvPr>
        </p:nvSpPr>
        <p:spPr/>
        <p:txBody>
          <a:bodyPr/>
          <a:lstStyle/>
          <a:p>
            <a:fld id="{6B97D948-30E8-43F7-AE10-F6E2D9F2BBB1}" type="slidenum">
              <a:rPr lang="en-US" smtClean="0"/>
              <a:t>184</a:t>
            </a:fld>
            <a:endParaRPr lang="en-US"/>
          </a:p>
        </p:txBody>
      </p:sp>
    </p:spTree>
    <p:extLst>
      <p:ext uri="{BB962C8B-B14F-4D97-AF65-F5344CB8AC3E}">
        <p14:creationId xmlns:p14="http://schemas.microsoft.com/office/powerpoint/2010/main" val="206717837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8BE7F-BB8A-45B0-B31F-EE95258FEED5}"/>
              </a:ext>
            </a:extLst>
          </p:cNvPr>
          <p:cNvSpPr>
            <a:spLocks noGrp="1"/>
          </p:cNvSpPr>
          <p:nvPr>
            <p:ph type="title"/>
          </p:nvPr>
        </p:nvSpPr>
        <p:spPr>
          <a:xfrm>
            <a:off x="838200" y="365126"/>
            <a:ext cx="10515600" cy="633496"/>
          </a:xfrm>
        </p:spPr>
        <p:txBody>
          <a:bodyPr>
            <a:normAutofit fontScale="90000"/>
          </a:bodyPr>
          <a:lstStyle/>
          <a:p>
            <a:r>
              <a:rPr lang="en-US" dirty="0"/>
              <a:t>Renaming a columns</a:t>
            </a:r>
          </a:p>
        </p:txBody>
      </p:sp>
      <p:sp>
        <p:nvSpPr>
          <p:cNvPr id="3" name="Content Placeholder 2">
            <a:extLst>
              <a:ext uri="{FF2B5EF4-FFF2-40B4-BE49-F238E27FC236}">
                <a16:creationId xmlns:a16="http://schemas.microsoft.com/office/drawing/2014/main" id="{AADEF5F3-F953-4EFF-922B-C63FA63BBABF}"/>
              </a:ext>
            </a:extLst>
          </p:cNvPr>
          <p:cNvSpPr>
            <a:spLocks noGrp="1"/>
          </p:cNvSpPr>
          <p:nvPr>
            <p:ph idx="1"/>
          </p:nvPr>
        </p:nvSpPr>
        <p:spPr>
          <a:xfrm>
            <a:off x="838200" y="998622"/>
            <a:ext cx="10515600" cy="5178341"/>
          </a:xfrm>
        </p:spPr>
        <p:txBody>
          <a:bodyPr/>
          <a:lstStyle/>
          <a:p>
            <a:pPr algn="just"/>
            <a:r>
              <a:rPr lang="en-US" dirty="0"/>
              <a:t>We can rename a column using the </a:t>
            </a:r>
            <a:r>
              <a:rPr lang="en-US" dirty="0">
                <a:solidFill>
                  <a:srgbClr val="FF0000"/>
                </a:solidFill>
              </a:rPr>
              <a:t>.rename() </a:t>
            </a:r>
            <a:r>
              <a:rPr lang="en-US" dirty="0"/>
              <a:t>method. </a:t>
            </a:r>
          </a:p>
          <a:p>
            <a:pPr algn="just"/>
            <a:endParaRPr lang="en-US" dirty="0"/>
          </a:p>
          <a:p>
            <a:pPr algn="just"/>
            <a:r>
              <a:rPr lang="en-US" dirty="0">
                <a:solidFill>
                  <a:srgbClr val="FF0000"/>
                </a:solidFill>
              </a:rPr>
              <a:t>.rename()</a:t>
            </a:r>
            <a:r>
              <a:rPr lang="en-US" dirty="0"/>
              <a:t> takes in a dictionary that maps </a:t>
            </a:r>
            <a:r>
              <a:rPr lang="en-US" dirty="0">
                <a:solidFill>
                  <a:srgbClr val="FF0000"/>
                </a:solidFill>
              </a:rPr>
              <a:t>old column</a:t>
            </a:r>
            <a:r>
              <a:rPr lang="en-US" dirty="0"/>
              <a:t> names to their </a:t>
            </a:r>
            <a:r>
              <a:rPr lang="en-US" dirty="0">
                <a:solidFill>
                  <a:srgbClr val="FF0000"/>
                </a:solidFill>
              </a:rPr>
              <a:t>new ones</a:t>
            </a:r>
            <a:r>
              <a:rPr lang="en-US" dirty="0"/>
              <a:t>.</a:t>
            </a:r>
          </a:p>
          <a:p>
            <a:pPr algn="just"/>
            <a:endParaRPr lang="en-US" dirty="0"/>
          </a:p>
          <a:p>
            <a:pPr algn="just"/>
            <a:r>
              <a:rPr lang="en-US" dirty="0"/>
              <a:t># Rename “</a:t>
            </a:r>
            <a:r>
              <a:rPr lang="en-US" dirty="0" err="1"/>
              <a:t>name_lengths</a:t>
            </a:r>
            <a:r>
              <a:rPr lang="en-US" dirty="0"/>
              <a:t>” to “Length”</a:t>
            </a:r>
          </a:p>
          <a:p>
            <a:r>
              <a:rPr lang="en-US" sz="2400" dirty="0" err="1">
                <a:solidFill>
                  <a:srgbClr val="FF0000"/>
                </a:solidFill>
              </a:rPr>
              <a:t>babynames</a:t>
            </a:r>
            <a:r>
              <a:rPr lang="en-US" sz="2400" dirty="0">
                <a:solidFill>
                  <a:srgbClr val="FF0000"/>
                </a:solidFill>
              </a:rPr>
              <a:t> = </a:t>
            </a:r>
            <a:r>
              <a:rPr lang="en-US" sz="2400" dirty="0" err="1">
                <a:solidFill>
                  <a:srgbClr val="FF0000"/>
                </a:solidFill>
              </a:rPr>
              <a:t>babynames.rename</a:t>
            </a:r>
            <a:r>
              <a:rPr lang="en-US" sz="2400" dirty="0">
                <a:solidFill>
                  <a:srgbClr val="FF0000"/>
                </a:solidFill>
              </a:rPr>
              <a:t>(columns = {‘</a:t>
            </a:r>
            <a:r>
              <a:rPr lang="en-US" sz="2400" dirty="0" err="1">
                <a:solidFill>
                  <a:srgbClr val="FF0000"/>
                </a:solidFill>
              </a:rPr>
              <a:t>name_lengths’:’Length</a:t>
            </a:r>
            <a:r>
              <a:rPr lang="en-US" sz="2400" dirty="0">
                <a:solidFill>
                  <a:srgbClr val="FF0000"/>
                </a:solidFill>
              </a:rPr>
              <a:t>’})</a:t>
            </a:r>
          </a:p>
          <a:p>
            <a:pPr algn="just"/>
            <a:endParaRPr lang="en-US" dirty="0">
              <a:solidFill>
                <a:srgbClr val="FF0000"/>
              </a:solidFill>
            </a:endParaRPr>
          </a:p>
          <a:p>
            <a:pPr algn="just"/>
            <a:r>
              <a:rPr lang="en-US" dirty="0" err="1">
                <a:solidFill>
                  <a:srgbClr val="FF0000"/>
                </a:solidFill>
              </a:rPr>
              <a:t>babynames.head</a:t>
            </a:r>
            <a:r>
              <a:rPr lang="en-US" dirty="0">
                <a:solidFill>
                  <a:srgbClr val="FF0000"/>
                </a:solidFill>
              </a:rPr>
              <a:t>()</a:t>
            </a:r>
          </a:p>
        </p:txBody>
      </p:sp>
      <p:sp>
        <p:nvSpPr>
          <p:cNvPr id="5" name="Slide Number Placeholder 4">
            <a:extLst>
              <a:ext uri="{FF2B5EF4-FFF2-40B4-BE49-F238E27FC236}">
                <a16:creationId xmlns:a16="http://schemas.microsoft.com/office/drawing/2014/main" id="{C8B71564-B8AD-487B-876F-69623DCDC70D}"/>
              </a:ext>
            </a:extLst>
          </p:cNvPr>
          <p:cNvSpPr>
            <a:spLocks noGrp="1"/>
          </p:cNvSpPr>
          <p:nvPr>
            <p:ph type="sldNum" sz="quarter" idx="12"/>
          </p:nvPr>
        </p:nvSpPr>
        <p:spPr/>
        <p:txBody>
          <a:bodyPr/>
          <a:lstStyle/>
          <a:p>
            <a:fld id="{6B97D948-30E8-43F7-AE10-F6E2D9F2BBB1}" type="slidenum">
              <a:rPr lang="en-US" smtClean="0"/>
              <a:t>185</a:t>
            </a:fld>
            <a:endParaRPr lang="en-US"/>
          </a:p>
        </p:txBody>
      </p:sp>
    </p:spTree>
    <p:extLst>
      <p:ext uri="{BB962C8B-B14F-4D97-AF65-F5344CB8AC3E}">
        <p14:creationId xmlns:p14="http://schemas.microsoft.com/office/powerpoint/2010/main" val="159032574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8C6F7-CDF6-4B7D-B2D7-E95A8A68A02F}"/>
              </a:ext>
            </a:extLst>
          </p:cNvPr>
          <p:cNvSpPr>
            <a:spLocks noGrp="1"/>
          </p:cNvSpPr>
          <p:nvPr>
            <p:ph type="title"/>
          </p:nvPr>
        </p:nvSpPr>
        <p:spPr>
          <a:xfrm>
            <a:off x="838200" y="365125"/>
            <a:ext cx="10515600" cy="597401"/>
          </a:xfrm>
        </p:spPr>
        <p:txBody>
          <a:bodyPr>
            <a:normAutofit fontScale="90000"/>
          </a:bodyPr>
          <a:lstStyle/>
          <a:p>
            <a:r>
              <a:rPr lang="en-US" dirty="0"/>
              <a:t>Removing a column</a:t>
            </a:r>
          </a:p>
        </p:txBody>
      </p:sp>
      <p:sp>
        <p:nvSpPr>
          <p:cNvPr id="3" name="Content Placeholder 2">
            <a:extLst>
              <a:ext uri="{FF2B5EF4-FFF2-40B4-BE49-F238E27FC236}">
                <a16:creationId xmlns:a16="http://schemas.microsoft.com/office/drawing/2014/main" id="{306C5FFC-7F62-4A35-A40C-27BA75DA68E4}"/>
              </a:ext>
            </a:extLst>
          </p:cNvPr>
          <p:cNvSpPr>
            <a:spLocks noGrp="1"/>
          </p:cNvSpPr>
          <p:nvPr>
            <p:ph idx="1"/>
          </p:nvPr>
        </p:nvSpPr>
        <p:spPr>
          <a:xfrm>
            <a:off x="838200" y="962526"/>
            <a:ext cx="10515600" cy="5214437"/>
          </a:xfrm>
        </p:spPr>
        <p:txBody>
          <a:bodyPr/>
          <a:lstStyle/>
          <a:p>
            <a:pPr algn="just"/>
            <a:r>
              <a:rPr lang="en-US" dirty="0"/>
              <a:t>If we want to remove a column or row of a </a:t>
            </a:r>
            <a:r>
              <a:rPr lang="en-US" dirty="0" err="1"/>
              <a:t>DataFrame</a:t>
            </a:r>
            <a:r>
              <a:rPr lang="en-US" dirty="0"/>
              <a:t>, we can call the </a:t>
            </a:r>
            <a:r>
              <a:rPr lang="en-US" dirty="0">
                <a:solidFill>
                  <a:srgbClr val="FF0000"/>
                </a:solidFill>
              </a:rPr>
              <a:t>.drop</a:t>
            </a:r>
            <a:r>
              <a:rPr lang="en-US" dirty="0"/>
              <a:t> method. </a:t>
            </a:r>
          </a:p>
          <a:p>
            <a:pPr algn="just"/>
            <a:r>
              <a:rPr lang="en-US" dirty="0"/>
              <a:t>Use the </a:t>
            </a:r>
            <a:r>
              <a:rPr lang="en-US" dirty="0">
                <a:solidFill>
                  <a:srgbClr val="FF0000"/>
                </a:solidFill>
              </a:rPr>
              <a:t>axis parameter </a:t>
            </a:r>
            <a:r>
              <a:rPr lang="en-US" dirty="0"/>
              <a:t>to specify whether a column or row should be dropped. </a:t>
            </a:r>
          </a:p>
          <a:p>
            <a:pPr algn="just"/>
            <a:endParaRPr lang="en-US" dirty="0"/>
          </a:p>
          <a:p>
            <a:pPr algn="just"/>
            <a:r>
              <a:rPr lang="en-US" dirty="0"/>
              <a:t>Unless otherwise specified, pandas will assume that we are dropping a row by default.</a:t>
            </a:r>
          </a:p>
          <a:p>
            <a:pPr algn="just"/>
            <a:r>
              <a:rPr lang="en-US" dirty="0"/>
              <a:t># Drop our new "Length" column from the </a:t>
            </a:r>
            <a:r>
              <a:rPr lang="en-US" dirty="0" err="1"/>
              <a:t>DataFrame</a:t>
            </a:r>
            <a:endParaRPr lang="en-US" dirty="0"/>
          </a:p>
          <a:p>
            <a:pPr algn="just"/>
            <a:r>
              <a:rPr lang="en-US" dirty="0" err="1">
                <a:solidFill>
                  <a:srgbClr val="FF0000"/>
                </a:solidFill>
              </a:rPr>
              <a:t>babynames</a:t>
            </a:r>
            <a:r>
              <a:rPr lang="en-US" dirty="0">
                <a:solidFill>
                  <a:srgbClr val="FF0000"/>
                </a:solidFill>
              </a:rPr>
              <a:t> = </a:t>
            </a:r>
            <a:r>
              <a:rPr lang="en-US" dirty="0" err="1">
                <a:solidFill>
                  <a:srgbClr val="FF0000"/>
                </a:solidFill>
              </a:rPr>
              <a:t>babynames.drop</a:t>
            </a:r>
            <a:r>
              <a:rPr lang="en-US" dirty="0">
                <a:solidFill>
                  <a:srgbClr val="FF0000"/>
                </a:solidFill>
              </a:rPr>
              <a:t>(‘Length’, axis = ‘columns’)</a:t>
            </a:r>
          </a:p>
          <a:p>
            <a:pPr algn="just"/>
            <a:r>
              <a:rPr lang="en-US" dirty="0" err="1">
                <a:solidFill>
                  <a:srgbClr val="FF0000"/>
                </a:solidFill>
              </a:rPr>
              <a:t>babynames.head</a:t>
            </a:r>
            <a:r>
              <a:rPr lang="en-US" dirty="0">
                <a:solidFill>
                  <a:srgbClr val="FF0000"/>
                </a:solidFill>
              </a:rPr>
              <a:t>(5)</a:t>
            </a:r>
          </a:p>
        </p:txBody>
      </p:sp>
      <p:sp>
        <p:nvSpPr>
          <p:cNvPr id="5" name="Slide Number Placeholder 4">
            <a:extLst>
              <a:ext uri="{FF2B5EF4-FFF2-40B4-BE49-F238E27FC236}">
                <a16:creationId xmlns:a16="http://schemas.microsoft.com/office/drawing/2014/main" id="{1D21469D-50AF-4FCE-A9C5-1D8116CA5150}"/>
              </a:ext>
            </a:extLst>
          </p:cNvPr>
          <p:cNvSpPr>
            <a:spLocks noGrp="1"/>
          </p:cNvSpPr>
          <p:nvPr>
            <p:ph type="sldNum" sz="quarter" idx="12"/>
          </p:nvPr>
        </p:nvSpPr>
        <p:spPr/>
        <p:txBody>
          <a:bodyPr/>
          <a:lstStyle/>
          <a:p>
            <a:fld id="{6B97D948-30E8-43F7-AE10-F6E2D9F2BBB1}" type="slidenum">
              <a:rPr lang="en-US" smtClean="0"/>
              <a:t>186</a:t>
            </a:fld>
            <a:endParaRPr lang="en-US"/>
          </a:p>
        </p:txBody>
      </p:sp>
    </p:spTree>
    <p:extLst>
      <p:ext uri="{BB962C8B-B14F-4D97-AF65-F5344CB8AC3E}">
        <p14:creationId xmlns:p14="http://schemas.microsoft.com/office/powerpoint/2010/main" val="247613812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B97C36-FFD8-4CF4-9DB3-65C50B798769}"/>
              </a:ext>
            </a:extLst>
          </p:cNvPr>
          <p:cNvSpPr>
            <a:spLocks noGrp="1"/>
          </p:cNvSpPr>
          <p:nvPr>
            <p:ph idx="1"/>
          </p:nvPr>
        </p:nvSpPr>
        <p:spPr>
          <a:xfrm>
            <a:off x="838200" y="360947"/>
            <a:ext cx="10515600" cy="5816016"/>
          </a:xfrm>
        </p:spPr>
        <p:txBody>
          <a:bodyPr/>
          <a:lstStyle/>
          <a:p>
            <a:pPr algn="just"/>
            <a:r>
              <a:rPr lang="en-US" dirty="0"/>
              <a:t>Notice that we reassigned </a:t>
            </a:r>
            <a:r>
              <a:rPr lang="en-US" dirty="0" err="1">
                <a:solidFill>
                  <a:srgbClr val="FF0000"/>
                </a:solidFill>
              </a:rPr>
              <a:t>babynames</a:t>
            </a:r>
            <a:r>
              <a:rPr lang="en-US" dirty="0"/>
              <a:t> to the result of </a:t>
            </a:r>
            <a:r>
              <a:rPr lang="en-US" dirty="0" err="1">
                <a:solidFill>
                  <a:srgbClr val="FF0000"/>
                </a:solidFill>
              </a:rPr>
              <a:t>babynames.drop</a:t>
            </a:r>
            <a:r>
              <a:rPr lang="en-US" dirty="0">
                <a:solidFill>
                  <a:srgbClr val="FF0000"/>
                </a:solidFill>
              </a:rPr>
              <a:t>(...)</a:t>
            </a:r>
            <a:r>
              <a:rPr lang="en-US" dirty="0"/>
              <a:t>. </a:t>
            </a:r>
          </a:p>
          <a:p>
            <a:pPr algn="just"/>
            <a:endParaRPr lang="en-US" dirty="0"/>
          </a:p>
          <a:p>
            <a:pPr algn="just"/>
            <a:r>
              <a:rPr lang="en-US" dirty="0"/>
              <a:t>This is a subtle, but important point: pandas table operations do not occur in-place. </a:t>
            </a:r>
          </a:p>
          <a:p>
            <a:pPr algn="just"/>
            <a:endParaRPr lang="en-US" dirty="0"/>
          </a:p>
          <a:p>
            <a:pPr algn="just"/>
            <a:r>
              <a:rPr lang="en-US" dirty="0"/>
              <a:t>Calling </a:t>
            </a:r>
            <a:r>
              <a:rPr lang="en-US" dirty="0" err="1"/>
              <a:t>df.drop</a:t>
            </a:r>
            <a:r>
              <a:rPr lang="en-US" dirty="0"/>
              <a:t>(...) will output a copy of df with the row/column of interest removed, without modifying the original df table.</a:t>
            </a:r>
          </a:p>
          <a:p>
            <a:endParaRPr lang="en-US" dirty="0"/>
          </a:p>
        </p:txBody>
      </p:sp>
      <p:sp>
        <p:nvSpPr>
          <p:cNvPr id="4" name="Slide Number Placeholder 3">
            <a:extLst>
              <a:ext uri="{FF2B5EF4-FFF2-40B4-BE49-F238E27FC236}">
                <a16:creationId xmlns:a16="http://schemas.microsoft.com/office/drawing/2014/main" id="{82622782-0351-4FE0-B483-CEFF5C7A1A5B}"/>
              </a:ext>
            </a:extLst>
          </p:cNvPr>
          <p:cNvSpPr>
            <a:spLocks noGrp="1"/>
          </p:cNvSpPr>
          <p:nvPr>
            <p:ph type="sldNum" sz="quarter" idx="12"/>
          </p:nvPr>
        </p:nvSpPr>
        <p:spPr/>
        <p:txBody>
          <a:bodyPr/>
          <a:lstStyle/>
          <a:p>
            <a:fld id="{6B97D948-30E8-43F7-AE10-F6E2D9F2BBB1}" type="slidenum">
              <a:rPr lang="en-US" smtClean="0"/>
              <a:t>187</a:t>
            </a:fld>
            <a:endParaRPr lang="en-US"/>
          </a:p>
        </p:txBody>
      </p:sp>
    </p:spTree>
    <p:extLst>
      <p:ext uri="{BB962C8B-B14F-4D97-AF65-F5344CB8AC3E}">
        <p14:creationId xmlns:p14="http://schemas.microsoft.com/office/powerpoint/2010/main" val="396016045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6A66BA-9306-4839-B17E-48A594A1D343}"/>
              </a:ext>
            </a:extLst>
          </p:cNvPr>
          <p:cNvSpPr>
            <a:spLocks noGrp="1"/>
          </p:cNvSpPr>
          <p:nvPr>
            <p:ph idx="1"/>
          </p:nvPr>
        </p:nvSpPr>
        <p:spPr>
          <a:xfrm>
            <a:off x="838200" y="505326"/>
            <a:ext cx="10515600" cy="5671637"/>
          </a:xfrm>
        </p:spPr>
        <p:txBody>
          <a:bodyPr>
            <a:normAutofit/>
          </a:bodyPr>
          <a:lstStyle/>
          <a:p>
            <a:r>
              <a:rPr lang="en-US" dirty="0"/>
              <a:t>In other words, if we simply call:</a:t>
            </a:r>
          </a:p>
          <a:p>
            <a:endParaRPr lang="en-US" dirty="0"/>
          </a:p>
          <a:p>
            <a:r>
              <a:rPr lang="en-US" dirty="0"/>
              <a:t># This creates a copy of `</a:t>
            </a:r>
            <a:r>
              <a:rPr lang="en-US" dirty="0" err="1"/>
              <a:t>babynames</a:t>
            </a:r>
            <a:r>
              <a:rPr lang="en-US" dirty="0"/>
              <a:t>` and removes the column "Name"...</a:t>
            </a:r>
          </a:p>
          <a:p>
            <a:r>
              <a:rPr lang="en-US" dirty="0" err="1">
                <a:solidFill>
                  <a:srgbClr val="FF0000"/>
                </a:solidFill>
              </a:rPr>
              <a:t>babynames.drop</a:t>
            </a:r>
            <a:r>
              <a:rPr lang="en-US" dirty="0">
                <a:solidFill>
                  <a:srgbClr val="FF0000"/>
                </a:solidFill>
              </a:rPr>
              <a:t>(‘Name’, axis = ‘columns’)</a:t>
            </a:r>
          </a:p>
          <a:p>
            <a:endParaRPr lang="en-US" dirty="0"/>
          </a:p>
          <a:p>
            <a:r>
              <a:rPr lang="en-US" dirty="0"/>
              <a:t># ...but the original `</a:t>
            </a:r>
            <a:r>
              <a:rPr lang="en-US" dirty="0" err="1"/>
              <a:t>babynames</a:t>
            </a:r>
            <a:r>
              <a:rPr lang="en-US" dirty="0"/>
              <a:t>` is unchanged! </a:t>
            </a:r>
          </a:p>
          <a:p>
            <a:r>
              <a:rPr lang="en-US" dirty="0"/>
              <a:t># Notice that the "Name" column is still present</a:t>
            </a:r>
          </a:p>
          <a:p>
            <a:r>
              <a:rPr lang="en-US" dirty="0" err="1">
                <a:solidFill>
                  <a:srgbClr val="FF0000"/>
                </a:solidFill>
              </a:rPr>
              <a:t>babynames.head</a:t>
            </a:r>
            <a:r>
              <a:rPr lang="en-US" dirty="0">
                <a:solidFill>
                  <a:srgbClr val="FF0000"/>
                </a:solidFill>
              </a:rPr>
              <a:t>(5)</a:t>
            </a:r>
          </a:p>
        </p:txBody>
      </p:sp>
      <p:sp>
        <p:nvSpPr>
          <p:cNvPr id="4" name="Slide Number Placeholder 3">
            <a:extLst>
              <a:ext uri="{FF2B5EF4-FFF2-40B4-BE49-F238E27FC236}">
                <a16:creationId xmlns:a16="http://schemas.microsoft.com/office/drawing/2014/main" id="{5F1AE51F-431C-44F5-AB73-1833FA2E5B9B}"/>
              </a:ext>
            </a:extLst>
          </p:cNvPr>
          <p:cNvSpPr>
            <a:spLocks noGrp="1"/>
          </p:cNvSpPr>
          <p:nvPr>
            <p:ph type="sldNum" sz="quarter" idx="12"/>
          </p:nvPr>
        </p:nvSpPr>
        <p:spPr/>
        <p:txBody>
          <a:bodyPr/>
          <a:lstStyle/>
          <a:p>
            <a:fld id="{6B97D948-30E8-43F7-AE10-F6E2D9F2BBB1}" type="slidenum">
              <a:rPr lang="en-US" smtClean="0"/>
              <a:t>188</a:t>
            </a:fld>
            <a:endParaRPr lang="en-US"/>
          </a:p>
        </p:txBody>
      </p:sp>
    </p:spTree>
    <p:extLst>
      <p:ext uri="{BB962C8B-B14F-4D97-AF65-F5344CB8AC3E}">
        <p14:creationId xmlns:p14="http://schemas.microsoft.com/office/powerpoint/2010/main" val="240662326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14135-D72A-41D4-BC53-2940ACA39FCE}"/>
              </a:ext>
            </a:extLst>
          </p:cNvPr>
          <p:cNvSpPr>
            <a:spLocks noGrp="1"/>
          </p:cNvSpPr>
          <p:nvPr>
            <p:ph type="title"/>
          </p:nvPr>
        </p:nvSpPr>
        <p:spPr>
          <a:xfrm>
            <a:off x="838200" y="365125"/>
            <a:ext cx="10515600" cy="597401"/>
          </a:xfrm>
        </p:spPr>
        <p:txBody>
          <a:bodyPr>
            <a:normAutofit fontScale="90000"/>
          </a:bodyPr>
          <a:lstStyle/>
          <a:p>
            <a:r>
              <a:rPr lang="en-US" dirty="0"/>
              <a:t>Handy Utility Functions</a:t>
            </a:r>
          </a:p>
        </p:txBody>
      </p:sp>
      <p:sp>
        <p:nvSpPr>
          <p:cNvPr id="3" name="Content Placeholder 2">
            <a:extLst>
              <a:ext uri="{FF2B5EF4-FFF2-40B4-BE49-F238E27FC236}">
                <a16:creationId xmlns:a16="http://schemas.microsoft.com/office/drawing/2014/main" id="{9972A6F7-49B0-4F39-A00C-798A98774638}"/>
              </a:ext>
            </a:extLst>
          </p:cNvPr>
          <p:cNvSpPr>
            <a:spLocks noGrp="1"/>
          </p:cNvSpPr>
          <p:nvPr>
            <p:ph idx="1"/>
          </p:nvPr>
        </p:nvSpPr>
        <p:spPr>
          <a:xfrm>
            <a:off x="838200" y="962526"/>
            <a:ext cx="10515600" cy="5214437"/>
          </a:xfrm>
        </p:spPr>
        <p:txBody>
          <a:bodyPr/>
          <a:lstStyle/>
          <a:p>
            <a:pPr algn="just"/>
            <a:r>
              <a:rPr lang="en-US" dirty="0">
                <a:solidFill>
                  <a:srgbClr val="FF0000"/>
                </a:solidFill>
              </a:rPr>
              <a:t>pandas</a:t>
            </a:r>
            <a:r>
              <a:rPr lang="en-US" dirty="0"/>
              <a:t> contains an extensive library of functions that can help shorten the process of setting and getting information from its data structures. </a:t>
            </a:r>
          </a:p>
          <a:p>
            <a:pPr algn="just"/>
            <a:r>
              <a:rPr lang="en-US" dirty="0"/>
              <a:t>Here is an overview of each of the main utility functions that will help us in the course.</a:t>
            </a:r>
          </a:p>
          <a:p>
            <a:pPr algn="just"/>
            <a:endParaRPr lang="en-US" dirty="0"/>
          </a:p>
          <a:p>
            <a:pPr algn="just"/>
            <a:endParaRPr lang="en-US" dirty="0"/>
          </a:p>
          <a:p>
            <a:pPr algn="just"/>
            <a:endParaRPr lang="en-US" dirty="0"/>
          </a:p>
        </p:txBody>
      </p:sp>
      <p:sp>
        <p:nvSpPr>
          <p:cNvPr id="5" name="Slide Number Placeholder 4">
            <a:extLst>
              <a:ext uri="{FF2B5EF4-FFF2-40B4-BE49-F238E27FC236}">
                <a16:creationId xmlns:a16="http://schemas.microsoft.com/office/drawing/2014/main" id="{3896E01D-9512-417A-A356-B764B0A1EE5E}"/>
              </a:ext>
            </a:extLst>
          </p:cNvPr>
          <p:cNvSpPr>
            <a:spLocks noGrp="1"/>
          </p:cNvSpPr>
          <p:nvPr>
            <p:ph type="sldNum" sz="quarter" idx="12"/>
          </p:nvPr>
        </p:nvSpPr>
        <p:spPr/>
        <p:txBody>
          <a:bodyPr/>
          <a:lstStyle/>
          <a:p>
            <a:fld id="{6B97D948-30E8-43F7-AE10-F6E2D9F2BBB1}" type="slidenum">
              <a:rPr lang="en-US" smtClean="0"/>
              <a:t>189</a:t>
            </a:fld>
            <a:endParaRPr lang="en-US"/>
          </a:p>
        </p:txBody>
      </p:sp>
    </p:spTree>
    <p:extLst>
      <p:ext uri="{BB962C8B-B14F-4D97-AF65-F5344CB8AC3E}">
        <p14:creationId xmlns:p14="http://schemas.microsoft.com/office/powerpoint/2010/main" val="106111814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942FFA-08A0-42D3-B85A-F1DA27AF229F}"/>
              </a:ext>
            </a:extLst>
          </p:cNvPr>
          <p:cNvSpPr>
            <a:spLocks noGrp="1"/>
          </p:cNvSpPr>
          <p:nvPr>
            <p:ph idx="1"/>
          </p:nvPr>
        </p:nvSpPr>
        <p:spPr>
          <a:xfrm>
            <a:off x="838200" y="488272"/>
            <a:ext cx="10515600" cy="5688691"/>
          </a:xfrm>
        </p:spPr>
        <p:txBody>
          <a:bodyPr>
            <a:normAutofit/>
          </a:bodyPr>
          <a:lstStyle/>
          <a:p>
            <a:pPr algn="just"/>
            <a:r>
              <a:rPr lang="en-US" dirty="0"/>
              <a:t>You are encouraged to explore and experiment on your own.</a:t>
            </a:r>
          </a:p>
          <a:p>
            <a:pPr algn="just"/>
            <a:endParaRPr lang="en-US" dirty="0"/>
          </a:p>
          <a:p>
            <a:pPr algn="just"/>
            <a:r>
              <a:rPr lang="en-US" dirty="0"/>
              <a:t>    </a:t>
            </a:r>
            <a:r>
              <a:rPr lang="en-US" dirty="0">
                <a:solidFill>
                  <a:srgbClr val="FF0000"/>
                </a:solidFill>
              </a:rPr>
              <a:t>NumPy and built-in function support</a:t>
            </a:r>
          </a:p>
          <a:p>
            <a:pPr algn="just"/>
            <a:r>
              <a:rPr lang="en-US" dirty="0">
                <a:solidFill>
                  <a:srgbClr val="FF0000"/>
                </a:solidFill>
              </a:rPr>
              <a:t>    .shape</a:t>
            </a:r>
          </a:p>
          <a:p>
            <a:pPr algn="just"/>
            <a:r>
              <a:rPr lang="en-US" dirty="0">
                <a:solidFill>
                  <a:srgbClr val="FF0000"/>
                </a:solidFill>
              </a:rPr>
              <a:t>    .size</a:t>
            </a:r>
          </a:p>
          <a:p>
            <a:pPr algn="just"/>
            <a:r>
              <a:rPr lang="en-US" dirty="0">
                <a:solidFill>
                  <a:srgbClr val="FF0000"/>
                </a:solidFill>
              </a:rPr>
              <a:t>    .describe()</a:t>
            </a:r>
          </a:p>
          <a:p>
            <a:pPr algn="just"/>
            <a:r>
              <a:rPr lang="en-US" dirty="0">
                <a:solidFill>
                  <a:srgbClr val="FF0000"/>
                </a:solidFill>
              </a:rPr>
              <a:t>    .sample()</a:t>
            </a:r>
          </a:p>
          <a:p>
            <a:pPr algn="just"/>
            <a:r>
              <a:rPr lang="en-US" dirty="0">
                <a:solidFill>
                  <a:srgbClr val="FF0000"/>
                </a:solidFill>
              </a:rPr>
              <a:t>    .</a:t>
            </a:r>
            <a:r>
              <a:rPr lang="en-US" dirty="0" err="1">
                <a:solidFill>
                  <a:srgbClr val="FF0000"/>
                </a:solidFill>
              </a:rPr>
              <a:t>value_counts</a:t>
            </a:r>
            <a:r>
              <a:rPr lang="en-US" dirty="0">
                <a:solidFill>
                  <a:srgbClr val="FF0000"/>
                </a:solidFill>
              </a:rPr>
              <a:t>()</a:t>
            </a:r>
          </a:p>
          <a:p>
            <a:pPr algn="just"/>
            <a:r>
              <a:rPr lang="en-US" dirty="0">
                <a:solidFill>
                  <a:srgbClr val="FF0000"/>
                </a:solidFill>
              </a:rPr>
              <a:t>    .unique()</a:t>
            </a:r>
          </a:p>
          <a:p>
            <a:pPr algn="just"/>
            <a:r>
              <a:rPr lang="en-US" dirty="0">
                <a:solidFill>
                  <a:srgbClr val="FF0000"/>
                </a:solidFill>
              </a:rPr>
              <a:t>    .</a:t>
            </a:r>
            <a:r>
              <a:rPr lang="en-US" dirty="0" err="1">
                <a:solidFill>
                  <a:srgbClr val="FF0000"/>
                </a:solidFill>
              </a:rPr>
              <a:t>sort_values</a:t>
            </a:r>
            <a:r>
              <a:rPr lang="en-US" dirty="0">
                <a:solidFill>
                  <a:srgbClr val="FF0000"/>
                </a:solidFill>
              </a:rPr>
              <a:t>()</a:t>
            </a:r>
          </a:p>
          <a:p>
            <a:pPr algn="just"/>
            <a:endParaRPr lang="en-US" dirty="0"/>
          </a:p>
        </p:txBody>
      </p:sp>
      <p:sp>
        <p:nvSpPr>
          <p:cNvPr id="4" name="Slide Number Placeholder 3">
            <a:extLst>
              <a:ext uri="{FF2B5EF4-FFF2-40B4-BE49-F238E27FC236}">
                <a16:creationId xmlns:a16="http://schemas.microsoft.com/office/drawing/2014/main" id="{958DC29F-1945-4B73-AB1A-C26F570C7EC8}"/>
              </a:ext>
            </a:extLst>
          </p:cNvPr>
          <p:cNvSpPr>
            <a:spLocks noGrp="1"/>
          </p:cNvSpPr>
          <p:nvPr>
            <p:ph type="sldNum" sz="quarter" idx="12"/>
          </p:nvPr>
        </p:nvSpPr>
        <p:spPr/>
        <p:txBody>
          <a:bodyPr/>
          <a:lstStyle/>
          <a:p>
            <a:fld id="{6B97D948-30E8-43F7-AE10-F6E2D9F2BBB1}" type="slidenum">
              <a:rPr lang="en-US" smtClean="0"/>
              <a:t>190</a:t>
            </a:fld>
            <a:endParaRPr lang="en-US"/>
          </a:p>
        </p:txBody>
      </p:sp>
    </p:spTree>
    <p:extLst>
      <p:ext uri="{BB962C8B-B14F-4D97-AF65-F5344CB8AC3E}">
        <p14:creationId xmlns:p14="http://schemas.microsoft.com/office/powerpoint/2010/main" val="247660552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3D468-BE4F-4B2D-A42D-74793B3E2E76}"/>
              </a:ext>
            </a:extLst>
          </p:cNvPr>
          <p:cNvSpPr>
            <a:spLocks noGrp="1"/>
          </p:cNvSpPr>
          <p:nvPr>
            <p:ph type="title"/>
          </p:nvPr>
        </p:nvSpPr>
        <p:spPr>
          <a:xfrm>
            <a:off x="838200" y="365126"/>
            <a:ext cx="10515600" cy="481542"/>
          </a:xfrm>
        </p:spPr>
        <p:txBody>
          <a:bodyPr>
            <a:normAutofit fontScale="90000"/>
          </a:bodyPr>
          <a:lstStyle/>
          <a:p>
            <a:r>
              <a:rPr lang="en-US" dirty="0"/>
              <a:t>Working with Tabular Data</a:t>
            </a:r>
          </a:p>
        </p:txBody>
      </p:sp>
      <p:sp>
        <p:nvSpPr>
          <p:cNvPr id="5" name="Content Placeholder 4">
            <a:extLst>
              <a:ext uri="{FF2B5EF4-FFF2-40B4-BE49-F238E27FC236}">
                <a16:creationId xmlns:a16="http://schemas.microsoft.com/office/drawing/2014/main" id="{9AA376AC-DB9A-479C-B379-1A2D441A81B3}"/>
              </a:ext>
            </a:extLst>
          </p:cNvPr>
          <p:cNvSpPr>
            <a:spLocks noGrp="1"/>
          </p:cNvSpPr>
          <p:nvPr>
            <p:ph sz="half" idx="1"/>
          </p:nvPr>
        </p:nvSpPr>
        <p:spPr>
          <a:xfrm>
            <a:off x="838200" y="846668"/>
            <a:ext cx="10515600" cy="5082645"/>
          </a:xfrm>
        </p:spPr>
        <p:txBody>
          <a:bodyPr>
            <a:normAutofit/>
          </a:bodyPr>
          <a:lstStyle/>
          <a:p>
            <a:pPr algn="just"/>
            <a:r>
              <a:rPr lang="en-US" dirty="0"/>
              <a:t>Tabular data is any collection of data that can be organized into rows and columns, essentially a two-dimensional matrix.</a:t>
            </a:r>
          </a:p>
          <a:p>
            <a:pPr algn="just"/>
            <a:endParaRPr lang="en-US" dirty="0"/>
          </a:p>
          <a:p>
            <a:pPr algn="just"/>
            <a:r>
              <a:rPr lang="en-US" dirty="0"/>
              <a:t>On the hand, we have unstructured text, network data, geospatial data, image data, and video data, each of which have distinct methods and file formats for the data.</a:t>
            </a:r>
          </a:p>
        </p:txBody>
      </p:sp>
      <p:sp>
        <p:nvSpPr>
          <p:cNvPr id="4" name="Slide Number Placeholder 3">
            <a:extLst>
              <a:ext uri="{FF2B5EF4-FFF2-40B4-BE49-F238E27FC236}">
                <a16:creationId xmlns:a16="http://schemas.microsoft.com/office/drawing/2014/main" id="{0F7B43D4-29DC-478B-8F88-8ADF5CDD4D23}"/>
              </a:ext>
            </a:extLst>
          </p:cNvPr>
          <p:cNvSpPr>
            <a:spLocks noGrp="1"/>
          </p:cNvSpPr>
          <p:nvPr>
            <p:ph type="sldNum" sz="quarter" idx="12"/>
          </p:nvPr>
        </p:nvSpPr>
        <p:spPr/>
        <p:txBody>
          <a:bodyPr/>
          <a:lstStyle/>
          <a:p>
            <a:fld id="{6B97D948-30E8-43F7-AE10-F6E2D9F2BBB1}" type="slidenum">
              <a:rPr lang="en-US" smtClean="0"/>
              <a:t>191</a:t>
            </a:fld>
            <a:endParaRPr lang="en-US"/>
          </a:p>
        </p:txBody>
      </p:sp>
    </p:spTree>
    <p:extLst>
      <p:ext uri="{BB962C8B-B14F-4D97-AF65-F5344CB8AC3E}">
        <p14:creationId xmlns:p14="http://schemas.microsoft.com/office/powerpoint/2010/main" val="360575905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F840E0F-AD76-4C56-97A0-090FC6857979}"/>
              </a:ext>
            </a:extLst>
          </p:cNvPr>
          <p:cNvPicPr>
            <a:picLocks noGrp="1" noChangeAspect="1"/>
          </p:cNvPicPr>
          <p:nvPr>
            <p:ph idx="1"/>
          </p:nvPr>
        </p:nvPicPr>
        <p:blipFill>
          <a:blip r:embed="rId2"/>
          <a:stretch>
            <a:fillRect/>
          </a:stretch>
        </p:blipFill>
        <p:spPr>
          <a:xfrm>
            <a:off x="1795707" y="1114425"/>
            <a:ext cx="8770863" cy="4676200"/>
          </a:xfrm>
          <a:prstGeom prst="rect">
            <a:avLst/>
          </a:prstGeom>
        </p:spPr>
      </p:pic>
      <p:sp>
        <p:nvSpPr>
          <p:cNvPr id="5" name="Slide Number Placeholder 4">
            <a:extLst>
              <a:ext uri="{FF2B5EF4-FFF2-40B4-BE49-F238E27FC236}">
                <a16:creationId xmlns:a16="http://schemas.microsoft.com/office/drawing/2014/main" id="{094272A3-950D-4C5A-B189-FABB0AC144F4}"/>
              </a:ext>
            </a:extLst>
          </p:cNvPr>
          <p:cNvSpPr>
            <a:spLocks noGrp="1"/>
          </p:cNvSpPr>
          <p:nvPr>
            <p:ph type="sldNum" sz="quarter" idx="12"/>
          </p:nvPr>
        </p:nvSpPr>
        <p:spPr/>
        <p:txBody>
          <a:bodyPr/>
          <a:lstStyle/>
          <a:p>
            <a:fld id="{6B97D948-30E8-43F7-AE10-F6E2D9F2BBB1}" type="slidenum">
              <a:rPr lang="en-US" smtClean="0"/>
              <a:t>192</a:t>
            </a:fld>
            <a:endParaRPr lang="en-US"/>
          </a:p>
        </p:txBody>
      </p:sp>
    </p:spTree>
    <p:extLst>
      <p:ext uri="{BB962C8B-B14F-4D97-AF65-F5344CB8AC3E}">
        <p14:creationId xmlns:p14="http://schemas.microsoft.com/office/powerpoint/2010/main" val="410220332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C301C68-06AE-4BA5-BF00-775359A1C609}"/>
              </a:ext>
            </a:extLst>
          </p:cNvPr>
          <p:cNvSpPr>
            <a:spLocks noGrp="1"/>
          </p:cNvSpPr>
          <p:nvPr>
            <p:ph idx="1"/>
          </p:nvPr>
        </p:nvSpPr>
        <p:spPr>
          <a:xfrm>
            <a:off x="838200" y="462844"/>
            <a:ext cx="10515600" cy="5714119"/>
          </a:xfrm>
        </p:spPr>
        <p:txBody>
          <a:bodyPr/>
          <a:lstStyle/>
          <a:p>
            <a:pPr algn="just"/>
            <a:r>
              <a:rPr lang="en-US" dirty="0"/>
              <a:t>In the data above, we have not only numerical data, but also text, images, geometric objects, or any other type of data (i.e., your data are heterogeneous). </a:t>
            </a:r>
          </a:p>
          <a:p>
            <a:pPr algn="just"/>
            <a:r>
              <a:rPr lang="en-US" dirty="0"/>
              <a:t>In these situations, </a:t>
            </a:r>
            <a:r>
              <a:rPr lang="en-US" dirty="0" err="1">
                <a:solidFill>
                  <a:srgbClr val="FF0000"/>
                </a:solidFill>
              </a:rPr>
              <a:t>numpy</a:t>
            </a:r>
            <a:r>
              <a:rPr lang="en-US" dirty="0"/>
              <a:t> may not be appropriate, while pandas can easily organize, manipulate, and analyze this kind of “mixed data.”</a:t>
            </a:r>
          </a:p>
          <a:p>
            <a:endParaRPr lang="en-US" dirty="0"/>
          </a:p>
          <a:p>
            <a:pPr algn="just"/>
            <a:r>
              <a:rPr lang="en-US" dirty="0"/>
              <a:t>If you have tabular data — that is, data organized into rows and columns, as in a spreadsheet — it is often easier in pandas to describe, summarize, query, and visualize the data than the equivalent processes with </a:t>
            </a:r>
            <a:r>
              <a:rPr lang="en-US" dirty="0" err="1"/>
              <a:t>numpy</a:t>
            </a:r>
            <a:r>
              <a:rPr lang="en-US" dirty="0"/>
              <a:t>.</a:t>
            </a:r>
          </a:p>
        </p:txBody>
      </p:sp>
      <p:sp>
        <p:nvSpPr>
          <p:cNvPr id="5" name="Slide Number Placeholder 4">
            <a:extLst>
              <a:ext uri="{FF2B5EF4-FFF2-40B4-BE49-F238E27FC236}">
                <a16:creationId xmlns:a16="http://schemas.microsoft.com/office/drawing/2014/main" id="{56D38537-4F50-4B4C-AFB1-8CF1E0D3793C}"/>
              </a:ext>
            </a:extLst>
          </p:cNvPr>
          <p:cNvSpPr>
            <a:spLocks noGrp="1"/>
          </p:cNvSpPr>
          <p:nvPr>
            <p:ph type="sldNum" sz="quarter" idx="12"/>
          </p:nvPr>
        </p:nvSpPr>
        <p:spPr/>
        <p:txBody>
          <a:bodyPr/>
          <a:lstStyle/>
          <a:p>
            <a:fld id="{6B97D948-30E8-43F7-AE10-F6E2D9F2BBB1}" type="slidenum">
              <a:rPr lang="en-US" smtClean="0"/>
              <a:t>193</a:t>
            </a:fld>
            <a:endParaRPr lang="en-US"/>
          </a:p>
        </p:txBody>
      </p:sp>
    </p:spTree>
    <p:extLst>
      <p:ext uri="{BB962C8B-B14F-4D97-AF65-F5344CB8AC3E}">
        <p14:creationId xmlns:p14="http://schemas.microsoft.com/office/powerpoint/2010/main" val="347781397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EF2EE6-30B5-4E97-B14F-DF0FAF73DCB5}"/>
              </a:ext>
            </a:extLst>
          </p:cNvPr>
          <p:cNvSpPr>
            <a:spLocks noGrp="1"/>
          </p:cNvSpPr>
          <p:nvPr>
            <p:ph type="title"/>
          </p:nvPr>
        </p:nvSpPr>
        <p:spPr>
          <a:xfrm>
            <a:off x="838200" y="365125"/>
            <a:ext cx="10515600" cy="707319"/>
          </a:xfrm>
        </p:spPr>
        <p:txBody>
          <a:bodyPr/>
          <a:lstStyle/>
          <a:p>
            <a:r>
              <a:rPr lang="en-US" dirty="0"/>
              <a:t>Effectively working with tabular data</a:t>
            </a:r>
          </a:p>
        </p:txBody>
      </p:sp>
      <p:sp>
        <p:nvSpPr>
          <p:cNvPr id="7" name="Content Placeholder 6">
            <a:extLst>
              <a:ext uri="{FF2B5EF4-FFF2-40B4-BE49-F238E27FC236}">
                <a16:creationId xmlns:a16="http://schemas.microsoft.com/office/drawing/2014/main" id="{85721AA2-4817-4002-BA0D-BC557AA4ED68}"/>
              </a:ext>
            </a:extLst>
          </p:cNvPr>
          <p:cNvSpPr>
            <a:spLocks noGrp="1"/>
          </p:cNvSpPr>
          <p:nvPr>
            <p:ph idx="1"/>
          </p:nvPr>
        </p:nvSpPr>
        <p:spPr>
          <a:xfrm>
            <a:off x="838200" y="1072444"/>
            <a:ext cx="10515600" cy="5104519"/>
          </a:xfrm>
        </p:spPr>
        <p:txBody>
          <a:bodyPr>
            <a:normAutofit/>
          </a:bodyPr>
          <a:lstStyle/>
          <a:p>
            <a:pPr algn="just"/>
            <a:r>
              <a:rPr lang="en-US" dirty="0"/>
              <a:t>Let’s walk through some examples of what you can do easily with pandas that can be rather complicated without it:</a:t>
            </a:r>
          </a:p>
          <a:p>
            <a:pPr algn="just"/>
            <a:endParaRPr lang="en-US" dirty="0"/>
          </a:p>
          <a:p>
            <a:pPr algn="just"/>
            <a:r>
              <a:rPr lang="en-US" dirty="0"/>
              <a:t>    Quickly reading your data into a structured tabular form</a:t>
            </a:r>
          </a:p>
          <a:p>
            <a:pPr algn="just"/>
            <a:endParaRPr lang="en-US" dirty="0"/>
          </a:p>
          <a:p>
            <a:pPr algn="just"/>
            <a:r>
              <a:rPr lang="en-US" dirty="0"/>
              <a:t>    Quickly describe/summarize your data</a:t>
            </a:r>
          </a:p>
          <a:p>
            <a:pPr algn="just"/>
            <a:endParaRPr lang="en-US" dirty="0"/>
          </a:p>
          <a:p>
            <a:pPr algn="just"/>
            <a:r>
              <a:rPr lang="en-US" dirty="0"/>
              <a:t>    Quickly querying your dataset</a:t>
            </a:r>
          </a:p>
          <a:p>
            <a:pPr algn="just"/>
            <a:endParaRPr lang="en-US" dirty="0"/>
          </a:p>
          <a:p>
            <a:pPr algn="just"/>
            <a:r>
              <a:rPr lang="en-US" dirty="0"/>
              <a:t>    Quickly plotting your data</a:t>
            </a:r>
          </a:p>
          <a:p>
            <a:pPr algn="just"/>
            <a:endParaRPr lang="en-US" dirty="0"/>
          </a:p>
        </p:txBody>
      </p:sp>
      <p:sp>
        <p:nvSpPr>
          <p:cNvPr id="5" name="Slide Number Placeholder 4">
            <a:extLst>
              <a:ext uri="{FF2B5EF4-FFF2-40B4-BE49-F238E27FC236}">
                <a16:creationId xmlns:a16="http://schemas.microsoft.com/office/drawing/2014/main" id="{CE3BF363-0B1D-4803-A5E4-6A95A638E479}"/>
              </a:ext>
            </a:extLst>
          </p:cNvPr>
          <p:cNvSpPr>
            <a:spLocks noGrp="1"/>
          </p:cNvSpPr>
          <p:nvPr>
            <p:ph type="sldNum" sz="quarter" idx="12"/>
          </p:nvPr>
        </p:nvSpPr>
        <p:spPr/>
        <p:txBody>
          <a:bodyPr/>
          <a:lstStyle/>
          <a:p>
            <a:fld id="{6B97D948-30E8-43F7-AE10-F6E2D9F2BBB1}" type="slidenum">
              <a:rPr lang="en-US" smtClean="0"/>
              <a:t>194</a:t>
            </a:fld>
            <a:endParaRPr lang="en-US"/>
          </a:p>
        </p:txBody>
      </p:sp>
    </p:spTree>
    <p:extLst>
      <p:ext uri="{BB962C8B-B14F-4D97-AF65-F5344CB8AC3E}">
        <p14:creationId xmlns:p14="http://schemas.microsoft.com/office/powerpoint/2010/main" val="88425156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C34B63F-5439-4BA7-8BEB-A22538C41DF6}"/>
              </a:ext>
            </a:extLst>
          </p:cNvPr>
          <p:cNvSpPr>
            <a:spLocks noGrp="1"/>
          </p:cNvSpPr>
          <p:nvPr>
            <p:ph type="title"/>
          </p:nvPr>
        </p:nvSpPr>
        <p:spPr>
          <a:xfrm>
            <a:off x="838200" y="365125"/>
            <a:ext cx="10515600" cy="808919"/>
          </a:xfrm>
        </p:spPr>
        <p:txBody>
          <a:bodyPr>
            <a:normAutofit/>
          </a:bodyPr>
          <a:lstStyle/>
          <a:p>
            <a:r>
              <a:rPr lang="en-US" dirty="0"/>
              <a:t>Reading Data Structured in Tabular Form</a:t>
            </a:r>
          </a:p>
        </p:txBody>
      </p:sp>
      <p:sp>
        <p:nvSpPr>
          <p:cNvPr id="7" name="Content Placeholder 6">
            <a:extLst>
              <a:ext uri="{FF2B5EF4-FFF2-40B4-BE49-F238E27FC236}">
                <a16:creationId xmlns:a16="http://schemas.microsoft.com/office/drawing/2014/main" id="{861DC93D-6362-4B03-A512-7C6B26BC75E6}"/>
              </a:ext>
            </a:extLst>
          </p:cNvPr>
          <p:cNvSpPr>
            <a:spLocks noGrp="1"/>
          </p:cNvSpPr>
          <p:nvPr>
            <p:ph idx="1"/>
          </p:nvPr>
        </p:nvSpPr>
        <p:spPr>
          <a:xfrm>
            <a:off x="838200" y="1320800"/>
            <a:ext cx="10515600" cy="4856163"/>
          </a:xfrm>
        </p:spPr>
        <p:txBody>
          <a:bodyPr/>
          <a:lstStyle/>
          <a:p>
            <a:pPr algn="just"/>
            <a:r>
              <a:rPr lang="en-US" dirty="0"/>
              <a:t>Let’s load in a dataset to demonstrate how we work with tabular data.</a:t>
            </a:r>
          </a:p>
          <a:p>
            <a:pPr algn="just"/>
            <a:r>
              <a:rPr lang="en-US" dirty="0"/>
              <a:t>#Change to where the data is stored</a:t>
            </a:r>
          </a:p>
          <a:p>
            <a:pPr algn="just"/>
            <a:r>
              <a:rPr lang="en-US" dirty="0">
                <a:solidFill>
                  <a:srgbClr val="FF0000"/>
                </a:solidFill>
              </a:rPr>
              <a:t>import </a:t>
            </a:r>
            <a:r>
              <a:rPr lang="en-US" dirty="0" err="1">
                <a:solidFill>
                  <a:srgbClr val="FF0000"/>
                </a:solidFill>
              </a:rPr>
              <a:t>os</a:t>
            </a:r>
            <a:endParaRPr lang="en-US" dirty="0">
              <a:solidFill>
                <a:srgbClr val="FF0000"/>
              </a:solidFill>
            </a:endParaRPr>
          </a:p>
          <a:p>
            <a:pPr algn="just"/>
            <a:r>
              <a:rPr lang="en-US" dirty="0" err="1">
                <a:solidFill>
                  <a:srgbClr val="FF0000"/>
                </a:solidFill>
              </a:rPr>
              <a:t>os.chdir</a:t>
            </a:r>
            <a:r>
              <a:rPr lang="en-US" dirty="0">
                <a:solidFill>
                  <a:srgbClr val="FF0000"/>
                </a:solidFill>
              </a:rPr>
              <a:t>(‘C:/</a:t>
            </a:r>
            <a:r>
              <a:rPr lang="en-US" dirty="0" err="1">
                <a:solidFill>
                  <a:srgbClr val="FF0000"/>
                </a:solidFill>
              </a:rPr>
              <a:t>ACity</a:t>
            </a:r>
            <a:r>
              <a:rPr lang="en-US" dirty="0">
                <a:solidFill>
                  <a:srgbClr val="FF0000"/>
                </a:solidFill>
              </a:rPr>
              <a:t>’)</a:t>
            </a:r>
          </a:p>
          <a:p>
            <a:pPr algn="just"/>
            <a:r>
              <a:rPr lang="en-US" dirty="0" err="1">
                <a:solidFill>
                  <a:srgbClr val="FF0000"/>
                </a:solidFill>
              </a:rPr>
              <a:t>pwd</a:t>
            </a:r>
            <a:endParaRPr lang="en-US" dirty="0">
              <a:solidFill>
                <a:srgbClr val="FF0000"/>
              </a:solidFill>
            </a:endParaRPr>
          </a:p>
        </p:txBody>
      </p:sp>
      <p:sp>
        <p:nvSpPr>
          <p:cNvPr id="5" name="Slide Number Placeholder 4">
            <a:extLst>
              <a:ext uri="{FF2B5EF4-FFF2-40B4-BE49-F238E27FC236}">
                <a16:creationId xmlns:a16="http://schemas.microsoft.com/office/drawing/2014/main" id="{8CE27837-19EC-4B34-BFDD-9F1BED3F1CC3}"/>
              </a:ext>
            </a:extLst>
          </p:cNvPr>
          <p:cNvSpPr>
            <a:spLocks noGrp="1"/>
          </p:cNvSpPr>
          <p:nvPr>
            <p:ph type="sldNum" sz="quarter" idx="12"/>
          </p:nvPr>
        </p:nvSpPr>
        <p:spPr/>
        <p:txBody>
          <a:bodyPr/>
          <a:lstStyle/>
          <a:p>
            <a:fld id="{6B97D948-30E8-43F7-AE10-F6E2D9F2BBB1}" type="slidenum">
              <a:rPr lang="en-US" smtClean="0"/>
              <a:t>195</a:t>
            </a:fld>
            <a:endParaRPr lang="en-US"/>
          </a:p>
        </p:txBody>
      </p:sp>
    </p:spTree>
    <p:extLst>
      <p:ext uri="{BB962C8B-B14F-4D97-AF65-F5344CB8AC3E}">
        <p14:creationId xmlns:p14="http://schemas.microsoft.com/office/powerpoint/2010/main" val="324929207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09EF0E-5F2C-43B5-859C-8E26376E5D71}"/>
              </a:ext>
            </a:extLst>
          </p:cNvPr>
          <p:cNvSpPr>
            <a:spLocks noGrp="1"/>
          </p:cNvSpPr>
          <p:nvPr>
            <p:ph idx="1"/>
          </p:nvPr>
        </p:nvSpPr>
        <p:spPr>
          <a:xfrm>
            <a:off x="838200" y="383822"/>
            <a:ext cx="10515600" cy="5793141"/>
          </a:xfrm>
        </p:spPr>
        <p:txBody>
          <a:bodyPr>
            <a:normAutofit/>
          </a:bodyPr>
          <a:lstStyle/>
          <a:p>
            <a:r>
              <a:rPr lang="en-US" dirty="0" err="1">
                <a:solidFill>
                  <a:srgbClr val="FF0000"/>
                </a:solidFill>
              </a:rPr>
              <a:t>smallworld</a:t>
            </a:r>
            <a:r>
              <a:rPr lang="en-US" dirty="0">
                <a:solidFill>
                  <a:srgbClr val="FF0000"/>
                </a:solidFill>
              </a:rPr>
              <a:t> = </a:t>
            </a:r>
            <a:r>
              <a:rPr lang="en-US" dirty="0" err="1">
                <a:solidFill>
                  <a:srgbClr val="FF0000"/>
                </a:solidFill>
              </a:rPr>
              <a:t>pd.read_csv</a:t>
            </a:r>
            <a:r>
              <a:rPr lang="en-US" dirty="0">
                <a:solidFill>
                  <a:srgbClr val="FF0000"/>
                </a:solidFill>
              </a:rPr>
              <a:t>('world-very-small.csv')</a:t>
            </a:r>
          </a:p>
          <a:p>
            <a:r>
              <a:rPr lang="en-US" dirty="0" err="1">
                <a:solidFill>
                  <a:srgbClr val="FF0000"/>
                </a:solidFill>
              </a:rPr>
              <a:t>smallworld</a:t>
            </a:r>
            <a:endParaRPr lang="en-US" dirty="0">
              <a:solidFill>
                <a:srgbClr val="FF0000"/>
              </a:solidFill>
            </a:endParaRPr>
          </a:p>
          <a:p>
            <a:endParaRPr lang="en-US" dirty="0"/>
          </a:p>
          <a:p>
            <a:r>
              <a:rPr lang="en-US" dirty="0"/>
              <a:t>      country      region  gdp_per_capita_2008</a:t>
            </a:r>
          </a:p>
          <a:p>
            <a:r>
              <a:rPr lang="en-US" dirty="0"/>
              <a:t>0      Brazil  S. America                10296</a:t>
            </a:r>
          </a:p>
          <a:p>
            <a:r>
              <a:rPr lang="en-US" dirty="0"/>
              <a:t>1     Germany   W. Europe                35613</a:t>
            </a:r>
          </a:p>
          <a:p>
            <a:r>
              <a:rPr lang="en-US" dirty="0"/>
              <a:t>2      Mexico  N. America                14495</a:t>
            </a:r>
          </a:p>
          <a:p>
            <a:r>
              <a:rPr lang="en-US" dirty="0"/>
              <a:t>3  Mozambique      Africa                  855</a:t>
            </a:r>
          </a:p>
          <a:p>
            <a:r>
              <a:rPr lang="en-US" dirty="0"/>
              <a:t>4      Russia  C&amp;E Europe                16139</a:t>
            </a:r>
          </a:p>
          <a:p>
            <a:r>
              <a:rPr lang="en-US" dirty="0"/>
              <a:t>5     Ukraine  C&amp;E Europe                 7271</a:t>
            </a:r>
          </a:p>
        </p:txBody>
      </p:sp>
      <p:sp>
        <p:nvSpPr>
          <p:cNvPr id="4" name="Slide Number Placeholder 3">
            <a:extLst>
              <a:ext uri="{FF2B5EF4-FFF2-40B4-BE49-F238E27FC236}">
                <a16:creationId xmlns:a16="http://schemas.microsoft.com/office/drawing/2014/main" id="{E2760A2C-1E0C-4715-8603-F5FBAFB1F7C9}"/>
              </a:ext>
            </a:extLst>
          </p:cNvPr>
          <p:cNvSpPr>
            <a:spLocks noGrp="1"/>
          </p:cNvSpPr>
          <p:nvPr>
            <p:ph type="sldNum" sz="quarter" idx="12"/>
          </p:nvPr>
        </p:nvSpPr>
        <p:spPr/>
        <p:txBody>
          <a:bodyPr/>
          <a:lstStyle/>
          <a:p>
            <a:fld id="{6B97D948-30E8-43F7-AE10-F6E2D9F2BBB1}" type="slidenum">
              <a:rPr lang="en-US" smtClean="0"/>
              <a:t>196</a:t>
            </a:fld>
            <a:endParaRPr lang="en-US"/>
          </a:p>
        </p:txBody>
      </p:sp>
    </p:spTree>
    <p:extLst>
      <p:ext uri="{BB962C8B-B14F-4D97-AF65-F5344CB8AC3E}">
        <p14:creationId xmlns:p14="http://schemas.microsoft.com/office/powerpoint/2010/main" val="184878990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3DA3D-84AF-41A3-8175-63E75609BA1A}"/>
              </a:ext>
            </a:extLst>
          </p:cNvPr>
          <p:cNvSpPr>
            <a:spLocks noGrp="1"/>
          </p:cNvSpPr>
          <p:nvPr>
            <p:ph type="title"/>
          </p:nvPr>
        </p:nvSpPr>
        <p:spPr>
          <a:xfrm>
            <a:off x="838200" y="365126"/>
            <a:ext cx="10515600" cy="763764"/>
          </a:xfrm>
        </p:spPr>
        <p:txBody>
          <a:bodyPr/>
          <a:lstStyle/>
          <a:p>
            <a:r>
              <a:rPr lang="en-US" dirty="0"/>
              <a:t>Describe / summarize your data</a:t>
            </a:r>
          </a:p>
        </p:txBody>
      </p:sp>
      <p:sp>
        <p:nvSpPr>
          <p:cNvPr id="3" name="Content Placeholder 2">
            <a:extLst>
              <a:ext uri="{FF2B5EF4-FFF2-40B4-BE49-F238E27FC236}">
                <a16:creationId xmlns:a16="http://schemas.microsoft.com/office/drawing/2014/main" id="{5A4BA816-9F19-4071-94E4-147FC630C64E}"/>
              </a:ext>
            </a:extLst>
          </p:cNvPr>
          <p:cNvSpPr>
            <a:spLocks noGrp="1"/>
          </p:cNvSpPr>
          <p:nvPr>
            <p:ph idx="1"/>
          </p:nvPr>
        </p:nvSpPr>
        <p:spPr>
          <a:xfrm>
            <a:off x="838200" y="1128890"/>
            <a:ext cx="10515600" cy="5048073"/>
          </a:xfrm>
        </p:spPr>
        <p:txBody>
          <a:bodyPr>
            <a:normAutofit fontScale="85000" lnSpcReduction="20000"/>
          </a:bodyPr>
          <a:lstStyle/>
          <a:p>
            <a:pPr algn="just"/>
            <a:r>
              <a:rPr lang="en-US" dirty="0"/>
              <a:t>With the use of a single pandas method, we can summarize the statistics of any fully-numerical columns of data:</a:t>
            </a:r>
          </a:p>
          <a:p>
            <a:pPr algn="just"/>
            <a:r>
              <a:rPr lang="en-US" dirty="0" err="1">
                <a:solidFill>
                  <a:srgbClr val="FF0000"/>
                </a:solidFill>
              </a:rPr>
              <a:t>smallworld.describe</a:t>
            </a:r>
            <a:r>
              <a:rPr lang="en-US" dirty="0">
                <a:solidFill>
                  <a:srgbClr val="FF0000"/>
                </a:solidFill>
              </a:rPr>
              <a:t>()</a:t>
            </a:r>
          </a:p>
          <a:p>
            <a:pPr algn="just"/>
            <a:endParaRPr lang="en-US" dirty="0"/>
          </a:p>
          <a:p>
            <a:pPr algn="just"/>
            <a:r>
              <a:rPr lang="en-US" dirty="0"/>
              <a:t>       gdp_per_capita_2008</a:t>
            </a:r>
          </a:p>
          <a:p>
            <a:pPr algn="just"/>
            <a:r>
              <a:rPr lang="en-US" dirty="0"/>
              <a:t>count             6.000000</a:t>
            </a:r>
          </a:p>
          <a:p>
            <a:pPr algn="just"/>
            <a:r>
              <a:rPr lang="en-US" dirty="0"/>
              <a:t>mean          14111.500000</a:t>
            </a:r>
          </a:p>
          <a:p>
            <a:pPr algn="just"/>
            <a:r>
              <a:rPr lang="en-US" dirty="0"/>
              <a:t>std           11863.031683</a:t>
            </a:r>
          </a:p>
          <a:p>
            <a:pPr algn="just"/>
            <a:r>
              <a:rPr lang="en-US" dirty="0"/>
              <a:t>min             855.000000</a:t>
            </a:r>
          </a:p>
          <a:p>
            <a:pPr algn="just"/>
            <a:r>
              <a:rPr lang="en-US" dirty="0"/>
              <a:t>25%            8027.250000</a:t>
            </a:r>
          </a:p>
          <a:p>
            <a:pPr algn="just"/>
            <a:r>
              <a:rPr lang="en-US" dirty="0"/>
              <a:t>50%           12395.500000</a:t>
            </a:r>
          </a:p>
          <a:p>
            <a:pPr algn="just"/>
            <a:r>
              <a:rPr lang="en-US" dirty="0"/>
              <a:t>75%           15728.000000</a:t>
            </a:r>
          </a:p>
          <a:p>
            <a:pPr algn="just"/>
            <a:r>
              <a:rPr lang="en-US" dirty="0"/>
              <a:t>max           35613.000000</a:t>
            </a:r>
          </a:p>
        </p:txBody>
      </p:sp>
      <p:sp>
        <p:nvSpPr>
          <p:cNvPr id="4" name="Slide Number Placeholder 3">
            <a:extLst>
              <a:ext uri="{FF2B5EF4-FFF2-40B4-BE49-F238E27FC236}">
                <a16:creationId xmlns:a16="http://schemas.microsoft.com/office/drawing/2014/main" id="{2AD09D35-07A8-4B7D-BC1D-EE76F376F230}"/>
              </a:ext>
            </a:extLst>
          </p:cNvPr>
          <p:cNvSpPr>
            <a:spLocks noGrp="1"/>
          </p:cNvSpPr>
          <p:nvPr>
            <p:ph type="sldNum" sz="quarter" idx="12"/>
          </p:nvPr>
        </p:nvSpPr>
        <p:spPr/>
        <p:txBody>
          <a:bodyPr/>
          <a:lstStyle/>
          <a:p>
            <a:fld id="{6B97D948-30E8-43F7-AE10-F6E2D9F2BBB1}" type="slidenum">
              <a:rPr lang="en-US" smtClean="0"/>
              <a:t>197</a:t>
            </a:fld>
            <a:endParaRPr lang="en-US"/>
          </a:p>
        </p:txBody>
      </p:sp>
    </p:spTree>
    <p:extLst>
      <p:ext uri="{BB962C8B-B14F-4D97-AF65-F5344CB8AC3E}">
        <p14:creationId xmlns:p14="http://schemas.microsoft.com/office/powerpoint/2010/main" val="122164438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5620-54A0-47B5-88D3-B3566B688002}"/>
              </a:ext>
            </a:extLst>
          </p:cNvPr>
          <p:cNvSpPr>
            <a:spLocks noGrp="1"/>
          </p:cNvSpPr>
          <p:nvPr>
            <p:ph type="title"/>
          </p:nvPr>
        </p:nvSpPr>
        <p:spPr>
          <a:xfrm>
            <a:off x="838200" y="365126"/>
            <a:ext cx="10515600" cy="741186"/>
          </a:xfrm>
        </p:spPr>
        <p:txBody>
          <a:bodyPr/>
          <a:lstStyle/>
          <a:p>
            <a:r>
              <a:rPr lang="en-US" dirty="0"/>
              <a:t>Querying the data</a:t>
            </a:r>
          </a:p>
        </p:txBody>
      </p:sp>
      <p:sp>
        <p:nvSpPr>
          <p:cNvPr id="3" name="Content Placeholder 2">
            <a:extLst>
              <a:ext uri="{FF2B5EF4-FFF2-40B4-BE49-F238E27FC236}">
                <a16:creationId xmlns:a16="http://schemas.microsoft.com/office/drawing/2014/main" id="{84E3C61B-0E39-4D65-BDE7-191299D865AA}"/>
              </a:ext>
            </a:extLst>
          </p:cNvPr>
          <p:cNvSpPr>
            <a:spLocks noGrp="1"/>
          </p:cNvSpPr>
          <p:nvPr>
            <p:ph idx="1"/>
          </p:nvPr>
        </p:nvSpPr>
        <p:spPr>
          <a:xfrm>
            <a:off x="838200" y="1106312"/>
            <a:ext cx="10515600" cy="5070651"/>
          </a:xfrm>
        </p:spPr>
        <p:txBody>
          <a:bodyPr/>
          <a:lstStyle/>
          <a:p>
            <a:pPr algn="just"/>
            <a:r>
              <a:rPr lang="en-US" dirty="0"/>
              <a:t>Not only can we load and describe our data quickly, but we can query our data quickly, too. </a:t>
            </a:r>
          </a:p>
          <a:p>
            <a:pPr algn="just"/>
            <a:r>
              <a:rPr lang="en-US" dirty="0"/>
              <a:t>Let’s say we wanted to find the countries on the list with per-capita GDP below $10,000. </a:t>
            </a:r>
          </a:p>
          <a:p>
            <a:pPr algn="just"/>
            <a:r>
              <a:rPr lang="en-US" dirty="0"/>
              <a:t>This is simply:</a:t>
            </a:r>
          </a:p>
          <a:p>
            <a:pPr algn="just"/>
            <a:r>
              <a:rPr lang="en-US" dirty="0" err="1">
                <a:solidFill>
                  <a:srgbClr val="FF0000"/>
                </a:solidFill>
              </a:rPr>
              <a:t>smallworld.loc</a:t>
            </a:r>
            <a:r>
              <a:rPr lang="en-US" dirty="0">
                <a:solidFill>
                  <a:srgbClr val="FF0000"/>
                </a:solidFill>
              </a:rPr>
              <a:t>[smallworld.gdp_per_capita_2008 &lt; 10000]</a:t>
            </a:r>
          </a:p>
          <a:p>
            <a:pPr algn="just"/>
            <a:endParaRPr lang="en-US" dirty="0"/>
          </a:p>
          <a:p>
            <a:pPr algn="just"/>
            <a:r>
              <a:rPr lang="en-US" dirty="0"/>
              <a:t>      country             region  gdp_per_capita_2008</a:t>
            </a:r>
          </a:p>
          <a:p>
            <a:pPr algn="just"/>
            <a:r>
              <a:rPr lang="en-US" dirty="0"/>
              <a:t>3  Mozambique      Africa                  855</a:t>
            </a:r>
          </a:p>
          <a:p>
            <a:pPr algn="just"/>
            <a:r>
              <a:rPr lang="en-US" dirty="0"/>
              <a:t>5     Ukraine  C&amp;E    Europe                7271</a:t>
            </a:r>
          </a:p>
        </p:txBody>
      </p:sp>
      <p:sp>
        <p:nvSpPr>
          <p:cNvPr id="4" name="Slide Number Placeholder 3">
            <a:extLst>
              <a:ext uri="{FF2B5EF4-FFF2-40B4-BE49-F238E27FC236}">
                <a16:creationId xmlns:a16="http://schemas.microsoft.com/office/drawing/2014/main" id="{7172E5D4-F5F0-40F5-81E6-8B604B93E786}"/>
              </a:ext>
            </a:extLst>
          </p:cNvPr>
          <p:cNvSpPr>
            <a:spLocks noGrp="1"/>
          </p:cNvSpPr>
          <p:nvPr>
            <p:ph type="sldNum" sz="quarter" idx="12"/>
          </p:nvPr>
        </p:nvSpPr>
        <p:spPr/>
        <p:txBody>
          <a:bodyPr/>
          <a:lstStyle/>
          <a:p>
            <a:fld id="{6B97D948-30E8-43F7-AE10-F6E2D9F2BBB1}" type="slidenum">
              <a:rPr lang="en-US" smtClean="0"/>
              <a:t>198</a:t>
            </a:fld>
            <a:endParaRPr lang="en-US"/>
          </a:p>
        </p:txBody>
      </p:sp>
    </p:spTree>
    <p:extLst>
      <p:ext uri="{BB962C8B-B14F-4D97-AF65-F5344CB8AC3E}">
        <p14:creationId xmlns:p14="http://schemas.microsoft.com/office/powerpoint/2010/main" val="411015732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F524-9631-4BB4-BE1A-96F67DD7C793}"/>
              </a:ext>
            </a:extLst>
          </p:cNvPr>
          <p:cNvSpPr>
            <a:spLocks noGrp="1"/>
          </p:cNvSpPr>
          <p:nvPr>
            <p:ph type="title"/>
          </p:nvPr>
        </p:nvSpPr>
        <p:spPr>
          <a:xfrm>
            <a:off x="838200" y="365126"/>
            <a:ext cx="10515600" cy="458964"/>
          </a:xfrm>
        </p:spPr>
        <p:txBody>
          <a:bodyPr>
            <a:normAutofit fontScale="90000"/>
          </a:bodyPr>
          <a:lstStyle/>
          <a:p>
            <a:r>
              <a:rPr lang="en-US" dirty="0"/>
              <a:t>Plotting the data</a:t>
            </a:r>
          </a:p>
        </p:txBody>
      </p:sp>
      <p:sp>
        <p:nvSpPr>
          <p:cNvPr id="3" name="Content Placeholder 2">
            <a:extLst>
              <a:ext uri="{FF2B5EF4-FFF2-40B4-BE49-F238E27FC236}">
                <a16:creationId xmlns:a16="http://schemas.microsoft.com/office/drawing/2014/main" id="{08C21CC4-F7B8-48FE-8833-09768ED0404C}"/>
              </a:ext>
            </a:extLst>
          </p:cNvPr>
          <p:cNvSpPr>
            <a:spLocks noGrp="1"/>
          </p:cNvSpPr>
          <p:nvPr>
            <p:ph idx="1"/>
          </p:nvPr>
        </p:nvSpPr>
        <p:spPr>
          <a:xfrm>
            <a:off x="838200" y="1095022"/>
            <a:ext cx="10515600" cy="5081941"/>
          </a:xfrm>
        </p:spPr>
        <p:txBody>
          <a:bodyPr/>
          <a:lstStyle/>
          <a:p>
            <a:pPr algn="just"/>
            <a:r>
              <a:rPr lang="en-US" dirty="0"/>
              <a:t>If you want/need a quick look at your data, we plot with matplotlib ecosystem for plotting. . . more on that later.</a:t>
            </a:r>
          </a:p>
          <a:p>
            <a:pPr algn="just"/>
            <a:r>
              <a:rPr lang="en-US" dirty="0"/>
              <a:t> Let’s create a bar plot of the GDP per capita for each of the countries in our list:</a:t>
            </a:r>
          </a:p>
          <a:p>
            <a:pPr algn="just"/>
            <a:r>
              <a:rPr lang="en-US" dirty="0">
                <a:solidFill>
                  <a:srgbClr val="FF0000"/>
                </a:solidFill>
              </a:rPr>
              <a:t> %matplotlib  </a:t>
            </a:r>
          </a:p>
          <a:p>
            <a:pPr algn="just"/>
            <a:r>
              <a:rPr lang="en-US" dirty="0"/>
              <a:t>Using matplotlib backend: </a:t>
            </a:r>
            <a:r>
              <a:rPr lang="en-US" dirty="0" err="1"/>
              <a:t>qtagg</a:t>
            </a:r>
            <a:endParaRPr lang="en-US" dirty="0"/>
          </a:p>
          <a:p>
            <a:pPr algn="just"/>
            <a:endParaRPr lang="en-US" dirty="0"/>
          </a:p>
          <a:p>
            <a:pPr algn="just"/>
            <a:r>
              <a:rPr lang="en-US" dirty="0" err="1">
                <a:solidFill>
                  <a:srgbClr val="FF0000"/>
                </a:solidFill>
              </a:rPr>
              <a:t>smallworld.plot.bar</a:t>
            </a:r>
            <a:r>
              <a:rPr lang="en-US" dirty="0">
                <a:solidFill>
                  <a:srgbClr val="FF0000"/>
                </a:solidFill>
              </a:rPr>
              <a:t>(x="country", y="gdp_per_capita_2008")</a:t>
            </a:r>
          </a:p>
          <a:p>
            <a:pPr algn="just"/>
            <a:endParaRPr lang="en-US" dirty="0"/>
          </a:p>
        </p:txBody>
      </p:sp>
      <p:sp>
        <p:nvSpPr>
          <p:cNvPr id="4" name="Slide Number Placeholder 3">
            <a:extLst>
              <a:ext uri="{FF2B5EF4-FFF2-40B4-BE49-F238E27FC236}">
                <a16:creationId xmlns:a16="http://schemas.microsoft.com/office/drawing/2014/main" id="{AFEF40D8-47F5-44C6-8E4C-8F8165332378}"/>
              </a:ext>
            </a:extLst>
          </p:cNvPr>
          <p:cNvSpPr>
            <a:spLocks noGrp="1"/>
          </p:cNvSpPr>
          <p:nvPr>
            <p:ph type="sldNum" sz="quarter" idx="12"/>
          </p:nvPr>
        </p:nvSpPr>
        <p:spPr/>
        <p:txBody>
          <a:bodyPr/>
          <a:lstStyle/>
          <a:p>
            <a:fld id="{6B97D948-30E8-43F7-AE10-F6E2D9F2BBB1}" type="slidenum">
              <a:rPr lang="en-US" smtClean="0"/>
              <a:t>199</a:t>
            </a:fld>
            <a:endParaRPr lang="en-US"/>
          </a:p>
        </p:txBody>
      </p:sp>
    </p:spTree>
    <p:extLst>
      <p:ext uri="{BB962C8B-B14F-4D97-AF65-F5344CB8AC3E}">
        <p14:creationId xmlns:p14="http://schemas.microsoft.com/office/powerpoint/2010/main" val="317980402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117CB48-F346-4939-BBB6-42667CD5BC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94399" y="609600"/>
            <a:ext cx="5255329" cy="5567363"/>
          </a:xfrm>
        </p:spPr>
      </p:pic>
      <p:sp>
        <p:nvSpPr>
          <p:cNvPr id="4" name="Slide Number Placeholder 3">
            <a:extLst>
              <a:ext uri="{FF2B5EF4-FFF2-40B4-BE49-F238E27FC236}">
                <a16:creationId xmlns:a16="http://schemas.microsoft.com/office/drawing/2014/main" id="{2CAB9373-587E-46F7-8238-F36E89AC2382}"/>
              </a:ext>
            </a:extLst>
          </p:cNvPr>
          <p:cNvSpPr>
            <a:spLocks noGrp="1"/>
          </p:cNvSpPr>
          <p:nvPr>
            <p:ph type="sldNum" sz="quarter" idx="12"/>
          </p:nvPr>
        </p:nvSpPr>
        <p:spPr/>
        <p:txBody>
          <a:bodyPr/>
          <a:lstStyle/>
          <a:p>
            <a:fld id="{6B97D948-30E8-43F7-AE10-F6E2D9F2BBB1}" type="slidenum">
              <a:rPr lang="en-US" smtClean="0"/>
              <a:t>200</a:t>
            </a:fld>
            <a:endParaRPr lang="en-US"/>
          </a:p>
        </p:txBody>
      </p:sp>
    </p:spTree>
    <p:extLst>
      <p:ext uri="{BB962C8B-B14F-4D97-AF65-F5344CB8AC3E}">
        <p14:creationId xmlns:p14="http://schemas.microsoft.com/office/powerpoint/2010/main" val="216890976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2B494-CC25-4925-9404-EE2108974CB2}"/>
              </a:ext>
            </a:extLst>
          </p:cNvPr>
          <p:cNvSpPr>
            <a:spLocks noGrp="1"/>
          </p:cNvSpPr>
          <p:nvPr>
            <p:ph type="title"/>
          </p:nvPr>
        </p:nvSpPr>
        <p:spPr>
          <a:xfrm>
            <a:off x="838200" y="365125"/>
            <a:ext cx="10515600" cy="696031"/>
          </a:xfrm>
        </p:spPr>
        <p:txBody>
          <a:bodyPr/>
          <a:lstStyle/>
          <a:p>
            <a:r>
              <a:rPr lang="en-US" dirty="0"/>
              <a:t>Deeper with Tabular Data using </a:t>
            </a:r>
            <a:r>
              <a:rPr lang="en-US" dirty="0" err="1"/>
              <a:t>DataFrames</a:t>
            </a:r>
            <a:endParaRPr lang="en-US" dirty="0"/>
          </a:p>
        </p:txBody>
      </p:sp>
      <p:sp>
        <p:nvSpPr>
          <p:cNvPr id="3" name="Content Placeholder 2">
            <a:extLst>
              <a:ext uri="{FF2B5EF4-FFF2-40B4-BE49-F238E27FC236}">
                <a16:creationId xmlns:a16="http://schemas.microsoft.com/office/drawing/2014/main" id="{07947D99-E946-4A73-AE27-F6EBBD569EC3}"/>
              </a:ext>
            </a:extLst>
          </p:cNvPr>
          <p:cNvSpPr>
            <a:spLocks noGrp="1"/>
          </p:cNvSpPr>
          <p:nvPr>
            <p:ph idx="1"/>
          </p:nvPr>
        </p:nvSpPr>
        <p:spPr>
          <a:xfrm>
            <a:off x="838200" y="1061156"/>
            <a:ext cx="10515600" cy="5115807"/>
          </a:xfrm>
        </p:spPr>
        <p:txBody>
          <a:bodyPr/>
          <a:lstStyle/>
          <a:p>
            <a:pPr algn="just"/>
            <a:r>
              <a:rPr lang="en-US" dirty="0"/>
              <a:t>Remember, we mentioned that pandas is made up of Series and </a:t>
            </a:r>
            <a:r>
              <a:rPr lang="en-US" dirty="0" err="1"/>
              <a:t>DataFrames</a:t>
            </a:r>
            <a:r>
              <a:rPr lang="en-US" dirty="0"/>
              <a:t>.</a:t>
            </a:r>
          </a:p>
          <a:p>
            <a:pPr algn="just"/>
            <a:endParaRPr lang="en-US" dirty="0"/>
          </a:p>
        </p:txBody>
      </p:sp>
      <p:sp>
        <p:nvSpPr>
          <p:cNvPr id="4" name="Slide Number Placeholder 3">
            <a:extLst>
              <a:ext uri="{FF2B5EF4-FFF2-40B4-BE49-F238E27FC236}">
                <a16:creationId xmlns:a16="http://schemas.microsoft.com/office/drawing/2014/main" id="{7A0C3D7A-79BA-4E3E-A906-B9BDDD051E80}"/>
              </a:ext>
            </a:extLst>
          </p:cNvPr>
          <p:cNvSpPr>
            <a:spLocks noGrp="1"/>
          </p:cNvSpPr>
          <p:nvPr>
            <p:ph type="sldNum" sz="quarter" idx="12"/>
          </p:nvPr>
        </p:nvSpPr>
        <p:spPr/>
        <p:txBody>
          <a:bodyPr/>
          <a:lstStyle/>
          <a:p>
            <a:fld id="{6B97D948-30E8-43F7-AE10-F6E2D9F2BBB1}" type="slidenum">
              <a:rPr lang="en-US" smtClean="0"/>
              <a:t>201</a:t>
            </a:fld>
            <a:endParaRPr lang="en-US"/>
          </a:p>
        </p:txBody>
      </p:sp>
      <p:pic>
        <p:nvPicPr>
          <p:cNvPr id="5" name="Picture 4">
            <a:extLst>
              <a:ext uri="{FF2B5EF4-FFF2-40B4-BE49-F238E27FC236}">
                <a16:creationId xmlns:a16="http://schemas.microsoft.com/office/drawing/2014/main" id="{25733113-FF42-4E11-B50F-B91823AAA2B0}"/>
              </a:ext>
            </a:extLst>
          </p:cNvPr>
          <p:cNvPicPr>
            <a:picLocks noChangeAspect="1"/>
          </p:cNvPicPr>
          <p:nvPr/>
        </p:nvPicPr>
        <p:blipFill>
          <a:blip r:embed="rId2"/>
          <a:stretch>
            <a:fillRect/>
          </a:stretch>
        </p:blipFill>
        <p:spPr>
          <a:xfrm>
            <a:off x="2109787" y="2230441"/>
            <a:ext cx="7972425" cy="3209925"/>
          </a:xfrm>
          <a:prstGeom prst="rect">
            <a:avLst/>
          </a:prstGeom>
        </p:spPr>
      </p:pic>
    </p:spTree>
    <p:extLst>
      <p:ext uri="{BB962C8B-B14F-4D97-AF65-F5344CB8AC3E}">
        <p14:creationId xmlns:p14="http://schemas.microsoft.com/office/powerpoint/2010/main" val="80290342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367E-7A03-407C-A7BE-AA942AC33D87}"/>
              </a:ext>
            </a:extLst>
          </p:cNvPr>
          <p:cNvSpPr>
            <a:spLocks noGrp="1"/>
          </p:cNvSpPr>
          <p:nvPr>
            <p:ph type="title"/>
          </p:nvPr>
        </p:nvSpPr>
        <p:spPr>
          <a:xfrm>
            <a:off x="838200" y="365125"/>
            <a:ext cx="10515600" cy="594431"/>
          </a:xfrm>
        </p:spPr>
        <p:txBody>
          <a:bodyPr>
            <a:normAutofit fontScale="90000"/>
          </a:bodyPr>
          <a:lstStyle/>
          <a:p>
            <a:r>
              <a:rPr lang="en-US" dirty="0"/>
              <a:t>Format of </a:t>
            </a:r>
            <a:r>
              <a:rPr lang="en-US" dirty="0" err="1"/>
              <a:t>DataFrames</a:t>
            </a:r>
            <a:endParaRPr lang="en-US" dirty="0"/>
          </a:p>
        </p:txBody>
      </p:sp>
      <p:sp>
        <p:nvSpPr>
          <p:cNvPr id="3" name="Content Placeholder 2">
            <a:extLst>
              <a:ext uri="{FF2B5EF4-FFF2-40B4-BE49-F238E27FC236}">
                <a16:creationId xmlns:a16="http://schemas.microsoft.com/office/drawing/2014/main" id="{9B794864-5064-4FFA-9F4A-1F3C6585EE0F}"/>
              </a:ext>
            </a:extLst>
          </p:cNvPr>
          <p:cNvSpPr>
            <a:spLocks noGrp="1"/>
          </p:cNvSpPr>
          <p:nvPr>
            <p:ph idx="1"/>
          </p:nvPr>
        </p:nvSpPr>
        <p:spPr>
          <a:xfrm>
            <a:off x="838200" y="959556"/>
            <a:ext cx="10515600" cy="5217407"/>
          </a:xfrm>
        </p:spPr>
        <p:txBody>
          <a:bodyPr>
            <a:normAutofit fontScale="92500" lnSpcReduction="10000"/>
          </a:bodyPr>
          <a:lstStyle/>
          <a:p>
            <a:pPr algn="just"/>
            <a:r>
              <a:rPr lang="en-US" dirty="0"/>
              <a:t>Pandas offers lots of tools for reading data in different formats.</a:t>
            </a:r>
          </a:p>
          <a:p>
            <a:pPr algn="just"/>
            <a:r>
              <a:rPr lang="en-US" dirty="0"/>
              <a:t>Here are few important methods to know about:</a:t>
            </a:r>
          </a:p>
          <a:p>
            <a:pPr algn="just"/>
            <a:r>
              <a:rPr lang="en-US" dirty="0"/>
              <a:t>    </a:t>
            </a:r>
            <a:r>
              <a:rPr lang="en-US" dirty="0" err="1">
                <a:solidFill>
                  <a:srgbClr val="FF0000"/>
                </a:solidFill>
              </a:rPr>
              <a:t>pd.read_csv</a:t>
            </a:r>
            <a:r>
              <a:rPr lang="en-US" dirty="0"/>
              <a:t>: Read in a comma-separated-value file</a:t>
            </a:r>
          </a:p>
          <a:p>
            <a:pPr algn="just"/>
            <a:endParaRPr lang="en-US" dirty="0"/>
          </a:p>
          <a:p>
            <a:pPr algn="just"/>
            <a:r>
              <a:rPr lang="en-US" dirty="0"/>
              <a:t>    </a:t>
            </a:r>
            <a:r>
              <a:rPr lang="en-US" dirty="0" err="1">
                <a:solidFill>
                  <a:srgbClr val="FF0000"/>
                </a:solidFill>
              </a:rPr>
              <a:t>pd.read_excel</a:t>
            </a:r>
            <a:r>
              <a:rPr lang="en-US" dirty="0"/>
              <a:t>: Read in an Excel (.</a:t>
            </a:r>
            <a:r>
              <a:rPr lang="en-US" dirty="0" err="1"/>
              <a:t>xls</a:t>
            </a:r>
            <a:r>
              <a:rPr lang="en-US" dirty="0"/>
              <a:t> and .xlsx) spreadsheet</a:t>
            </a:r>
          </a:p>
          <a:p>
            <a:pPr algn="just"/>
            <a:endParaRPr lang="en-US" dirty="0"/>
          </a:p>
          <a:p>
            <a:pPr algn="just"/>
            <a:r>
              <a:rPr lang="en-US" dirty="0"/>
              <a:t>    </a:t>
            </a:r>
            <a:r>
              <a:rPr lang="en-US" dirty="0" err="1">
                <a:solidFill>
                  <a:srgbClr val="FF0000"/>
                </a:solidFill>
              </a:rPr>
              <a:t>pd.read_stata</a:t>
            </a:r>
            <a:r>
              <a:rPr lang="en-US" dirty="0"/>
              <a:t>: Read Stata (.</a:t>
            </a:r>
            <a:r>
              <a:rPr lang="en-US" dirty="0" err="1"/>
              <a:t>dta</a:t>
            </a:r>
            <a:r>
              <a:rPr lang="en-US" dirty="0"/>
              <a:t>) datasets</a:t>
            </a:r>
          </a:p>
          <a:p>
            <a:pPr algn="just"/>
            <a:endParaRPr lang="en-US" dirty="0"/>
          </a:p>
          <a:p>
            <a:pPr algn="just"/>
            <a:r>
              <a:rPr lang="en-US" dirty="0"/>
              <a:t>    </a:t>
            </a:r>
            <a:r>
              <a:rPr lang="en-US" dirty="0" err="1">
                <a:solidFill>
                  <a:srgbClr val="FF0000"/>
                </a:solidFill>
              </a:rPr>
              <a:t>pd.read_hdf</a:t>
            </a:r>
            <a:r>
              <a:rPr lang="en-US" dirty="0"/>
              <a:t>: Read HDF (.</a:t>
            </a:r>
            <a:r>
              <a:rPr lang="en-US" dirty="0" err="1"/>
              <a:t>hdf</a:t>
            </a:r>
            <a:r>
              <a:rPr lang="en-US" dirty="0"/>
              <a:t>) datasets</a:t>
            </a:r>
          </a:p>
          <a:p>
            <a:pPr algn="just"/>
            <a:endParaRPr lang="en-US" dirty="0"/>
          </a:p>
          <a:p>
            <a:pPr algn="just"/>
            <a:r>
              <a:rPr lang="en-US" dirty="0"/>
              <a:t>    </a:t>
            </a:r>
            <a:r>
              <a:rPr lang="en-US" dirty="0" err="1">
                <a:solidFill>
                  <a:srgbClr val="FF0000"/>
                </a:solidFill>
              </a:rPr>
              <a:t>pd.read_sql</a:t>
            </a:r>
            <a:r>
              <a:rPr lang="en-US" dirty="0"/>
              <a:t>: Read from a SQL database</a:t>
            </a:r>
          </a:p>
          <a:p>
            <a:pPr algn="just"/>
            <a:endParaRPr lang="en-US" dirty="0"/>
          </a:p>
        </p:txBody>
      </p:sp>
      <p:sp>
        <p:nvSpPr>
          <p:cNvPr id="4" name="Slide Number Placeholder 3">
            <a:extLst>
              <a:ext uri="{FF2B5EF4-FFF2-40B4-BE49-F238E27FC236}">
                <a16:creationId xmlns:a16="http://schemas.microsoft.com/office/drawing/2014/main" id="{B7164E27-D50C-4883-9372-FEDEDDFDEFA3}"/>
              </a:ext>
            </a:extLst>
          </p:cNvPr>
          <p:cNvSpPr>
            <a:spLocks noGrp="1"/>
          </p:cNvSpPr>
          <p:nvPr>
            <p:ph type="sldNum" sz="quarter" idx="12"/>
          </p:nvPr>
        </p:nvSpPr>
        <p:spPr/>
        <p:txBody>
          <a:bodyPr/>
          <a:lstStyle/>
          <a:p>
            <a:fld id="{6B97D948-30E8-43F7-AE10-F6E2D9F2BBB1}" type="slidenum">
              <a:rPr lang="en-US" smtClean="0"/>
              <a:t>202</a:t>
            </a:fld>
            <a:endParaRPr lang="en-US"/>
          </a:p>
        </p:txBody>
      </p:sp>
    </p:spTree>
    <p:extLst>
      <p:ext uri="{BB962C8B-B14F-4D97-AF65-F5344CB8AC3E}">
        <p14:creationId xmlns:p14="http://schemas.microsoft.com/office/powerpoint/2010/main" val="353194340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0F79BC-A5CF-4122-9F24-4705E389EB9E}"/>
              </a:ext>
            </a:extLst>
          </p:cNvPr>
          <p:cNvSpPr>
            <a:spLocks noGrp="1"/>
          </p:cNvSpPr>
          <p:nvPr>
            <p:ph idx="1"/>
          </p:nvPr>
        </p:nvSpPr>
        <p:spPr>
          <a:xfrm>
            <a:off x="838200" y="361244"/>
            <a:ext cx="10515600" cy="5815719"/>
          </a:xfrm>
        </p:spPr>
        <p:txBody>
          <a:bodyPr>
            <a:normAutofit fontScale="92500" lnSpcReduction="10000"/>
          </a:bodyPr>
          <a:lstStyle/>
          <a:p>
            <a:pPr algn="just"/>
            <a:r>
              <a:rPr lang="en-US" dirty="0"/>
              <a:t>Similarly, if we have an existing </a:t>
            </a:r>
            <a:r>
              <a:rPr lang="en-US" dirty="0" err="1"/>
              <a:t>DataFrame</a:t>
            </a:r>
            <a:r>
              <a:rPr lang="en-US" dirty="0"/>
              <a:t> (let’s call it df) we want to output to a file or database, we can use complimentary methods of df to do so such as:</a:t>
            </a:r>
          </a:p>
          <a:p>
            <a:endParaRPr lang="en-US" dirty="0"/>
          </a:p>
          <a:p>
            <a:r>
              <a:rPr lang="en-US" dirty="0"/>
              <a:t>    </a:t>
            </a:r>
            <a:r>
              <a:rPr lang="en-US" dirty="0" err="1">
                <a:solidFill>
                  <a:srgbClr val="FF0000"/>
                </a:solidFill>
              </a:rPr>
              <a:t>df.to_csv</a:t>
            </a:r>
            <a:r>
              <a:rPr lang="en-US" dirty="0"/>
              <a:t>: Write to a comma-separated-value file</a:t>
            </a:r>
          </a:p>
          <a:p>
            <a:endParaRPr lang="en-US" dirty="0"/>
          </a:p>
          <a:p>
            <a:r>
              <a:rPr lang="en-US" dirty="0"/>
              <a:t>    </a:t>
            </a:r>
            <a:r>
              <a:rPr lang="en-US" dirty="0" err="1">
                <a:solidFill>
                  <a:srgbClr val="FF0000"/>
                </a:solidFill>
              </a:rPr>
              <a:t>df.to_excel</a:t>
            </a:r>
            <a:r>
              <a:rPr lang="en-US" dirty="0"/>
              <a:t>: Write to an Excel (.</a:t>
            </a:r>
            <a:r>
              <a:rPr lang="en-US" dirty="0" err="1"/>
              <a:t>xls</a:t>
            </a:r>
            <a:r>
              <a:rPr lang="en-US" dirty="0"/>
              <a:t> and .xlsx) spreadsheet</a:t>
            </a:r>
          </a:p>
          <a:p>
            <a:endParaRPr lang="en-US" dirty="0"/>
          </a:p>
          <a:p>
            <a:r>
              <a:rPr lang="en-US" dirty="0"/>
              <a:t>    </a:t>
            </a:r>
            <a:r>
              <a:rPr lang="en-US" dirty="0" err="1">
                <a:solidFill>
                  <a:srgbClr val="FF0000"/>
                </a:solidFill>
              </a:rPr>
              <a:t>df.to_stata</a:t>
            </a:r>
            <a:r>
              <a:rPr lang="en-US" dirty="0"/>
              <a:t>: Write to a </a:t>
            </a:r>
            <a:r>
              <a:rPr lang="en-US" dirty="0" err="1"/>
              <a:t>stata</a:t>
            </a:r>
            <a:r>
              <a:rPr lang="en-US" dirty="0"/>
              <a:t> (.</a:t>
            </a:r>
            <a:r>
              <a:rPr lang="en-US" dirty="0" err="1"/>
              <a:t>dta</a:t>
            </a:r>
            <a:r>
              <a:rPr lang="en-US" dirty="0"/>
              <a:t>) dataset</a:t>
            </a:r>
          </a:p>
          <a:p>
            <a:endParaRPr lang="en-US" dirty="0"/>
          </a:p>
          <a:p>
            <a:r>
              <a:rPr lang="en-US" dirty="0"/>
              <a:t>    </a:t>
            </a:r>
            <a:r>
              <a:rPr lang="en-US" dirty="0" err="1">
                <a:solidFill>
                  <a:srgbClr val="FF0000"/>
                </a:solidFill>
              </a:rPr>
              <a:t>df.to_hdf</a:t>
            </a:r>
            <a:r>
              <a:rPr lang="en-US" dirty="0"/>
              <a:t>: Write to an HDF (.</a:t>
            </a:r>
            <a:r>
              <a:rPr lang="en-US" dirty="0" err="1"/>
              <a:t>hdf</a:t>
            </a:r>
            <a:r>
              <a:rPr lang="en-US" dirty="0"/>
              <a:t>) dataset</a:t>
            </a:r>
          </a:p>
          <a:p>
            <a:endParaRPr lang="en-US" dirty="0"/>
          </a:p>
          <a:p>
            <a:r>
              <a:rPr lang="en-US" dirty="0"/>
              <a:t>    </a:t>
            </a:r>
            <a:r>
              <a:rPr lang="en-US" dirty="0" err="1">
                <a:solidFill>
                  <a:srgbClr val="FF0000"/>
                </a:solidFill>
              </a:rPr>
              <a:t>df.to_sql</a:t>
            </a:r>
            <a:r>
              <a:rPr lang="en-US" dirty="0"/>
              <a:t>: Write to a SQL database</a:t>
            </a:r>
          </a:p>
          <a:p>
            <a:endParaRPr lang="en-US" dirty="0"/>
          </a:p>
        </p:txBody>
      </p:sp>
      <p:sp>
        <p:nvSpPr>
          <p:cNvPr id="4" name="Slide Number Placeholder 3">
            <a:extLst>
              <a:ext uri="{FF2B5EF4-FFF2-40B4-BE49-F238E27FC236}">
                <a16:creationId xmlns:a16="http://schemas.microsoft.com/office/drawing/2014/main" id="{5CBED746-C80F-4470-BF2C-FDE91836B495}"/>
              </a:ext>
            </a:extLst>
          </p:cNvPr>
          <p:cNvSpPr>
            <a:spLocks noGrp="1"/>
          </p:cNvSpPr>
          <p:nvPr>
            <p:ph type="sldNum" sz="quarter" idx="12"/>
          </p:nvPr>
        </p:nvSpPr>
        <p:spPr/>
        <p:txBody>
          <a:bodyPr/>
          <a:lstStyle/>
          <a:p>
            <a:fld id="{6B97D948-30E8-43F7-AE10-F6E2D9F2BBB1}" type="slidenum">
              <a:rPr lang="en-US" smtClean="0"/>
              <a:t>203</a:t>
            </a:fld>
            <a:endParaRPr lang="en-US"/>
          </a:p>
        </p:txBody>
      </p:sp>
    </p:spTree>
    <p:extLst>
      <p:ext uri="{BB962C8B-B14F-4D97-AF65-F5344CB8AC3E}">
        <p14:creationId xmlns:p14="http://schemas.microsoft.com/office/powerpoint/2010/main" val="195852188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5CCF8-4848-4FDB-8AEC-C9CD5A6F5103}"/>
              </a:ext>
            </a:extLst>
          </p:cNvPr>
          <p:cNvSpPr>
            <a:spLocks noGrp="1"/>
          </p:cNvSpPr>
          <p:nvPr>
            <p:ph type="title"/>
          </p:nvPr>
        </p:nvSpPr>
        <p:spPr>
          <a:xfrm>
            <a:off x="838200" y="365125"/>
            <a:ext cx="10515600" cy="696031"/>
          </a:xfrm>
        </p:spPr>
        <p:txBody>
          <a:bodyPr/>
          <a:lstStyle/>
          <a:p>
            <a:r>
              <a:rPr lang="en-US" dirty="0"/>
              <a:t>Writing </a:t>
            </a:r>
            <a:r>
              <a:rPr lang="en-US" dirty="0" err="1"/>
              <a:t>DataFrames</a:t>
            </a:r>
            <a:r>
              <a:rPr lang="en-US" dirty="0"/>
              <a:t> by hand</a:t>
            </a:r>
          </a:p>
        </p:txBody>
      </p:sp>
      <p:sp>
        <p:nvSpPr>
          <p:cNvPr id="3" name="Content Placeholder 2">
            <a:extLst>
              <a:ext uri="{FF2B5EF4-FFF2-40B4-BE49-F238E27FC236}">
                <a16:creationId xmlns:a16="http://schemas.microsoft.com/office/drawing/2014/main" id="{E76B6F50-054B-4D13-89B9-DBAD6B23711C}"/>
              </a:ext>
            </a:extLst>
          </p:cNvPr>
          <p:cNvSpPr>
            <a:spLocks noGrp="1"/>
          </p:cNvSpPr>
          <p:nvPr>
            <p:ph idx="1"/>
          </p:nvPr>
        </p:nvSpPr>
        <p:spPr>
          <a:xfrm>
            <a:off x="838200" y="1061156"/>
            <a:ext cx="10515600" cy="5115807"/>
          </a:xfrm>
        </p:spPr>
        <p:txBody>
          <a:bodyPr>
            <a:normAutofit fontScale="92500" lnSpcReduction="10000"/>
          </a:bodyPr>
          <a:lstStyle/>
          <a:p>
            <a:pPr algn="just"/>
            <a:r>
              <a:rPr lang="en-US" dirty="0"/>
              <a:t>We can construct </a:t>
            </a:r>
            <a:r>
              <a:rPr lang="en-US" dirty="0" err="1"/>
              <a:t>DataFrames</a:t>
            </a:r>
            <a:r>
              <a:rPr lang="en-US" dirty="0"/>
              <a:t> by hand. </a:t>
            </a:r>
          </a:p>
          <a:p>
            <a:pPr algn="just"/>
            <a:r>
              <a:rPr lang="en-US" dirty="0"/>
              <a:t>The easiest (and most common) way is by passing in a Dictionary, where the keys will become column names and the values are column values:</a:t>
            </a:r>
          </a:p>
          <a:p>
            <a:pPr algn="just"/>
            <a:r>
              <a:rPr lang="en-US" dirty="0">
                <a:solidFill>
                  <a:srgbClr val="FF0000"/>
                </a:solidFill>
              </a:rPr>
              <a:t>df = </a:t>
            </a:r>
            <a:r>
              <a:rPr lang="en-US" dirty="0" err="1">
                <a:solidFill>
                  <a:srgbClr val="FF0000"/>
                </a:solidFill>
              </a:rPr>
              <a:t>pd.DataFrame</a:t>
            </a:r>
            <a:r>
              <a:rPr lang="en-US" dirty="0">
                <a:solidFill>
                  <a:srgbClr val="FF0000"/>
                </a:solidFill>
              </a:rPr>
              <a:t>(</a:t>
            </a:r>
          </a:p>
          <a:p>
            <a:pPr algn="just"/>
            <a:r>
              <a:rPr lang="en-US" dirty="0">
                <a:solidFill>
                  <a:srgbClr val="FF0000"/>
                </a:solidFill>
              </a:rPr>
              <a:t>    ...:     {</a:t>
            </a:r>
          </a:p>
          <a:p>
            <a:pPr algn="just"/>
            <a:r>
              <a:rPr lang="en-US" dirty="0">
                <a:solidFill>
                  <a:srgbClr val="FF0000"/>
                </a:solidFill>
              </a:rPr>
              <a:t>    ...:         "animals": ["dog", "cat", "bird", "fish"],</a:t>
            </a:r>
          </a:p>
          <a:p>
            <a:pPr algn="just"/>
            <a:r>
              <a:rPr lang="en-US" dirty="0">
                <a:solidFill>
                  <a:srgbClr val="FF0000"/>
                </a:solidFill>
              </a:rPr>
              <a:t>    ...:         "</a:t>
            </a:r>
            <a:r>
              <a:rPr lang="en-US" dirty="0" err="1">
                <a:solidFill>
                  <a:srgbClr val="FF0000"/>
                </a:solidFill>
              </a:rPr>
              <a:t>can_swim</a:t>
            </a:r>
            <a:r>
              <a:rPr lang="en-US" dirty="0">
                <a:solidFill>
                  <a:srgbClr val="FF0000"/>
                </a:solidFill>
              </a:rPr>
              <a:t>": [True, False, False, True],</a:t>
            </a:r>
          </a:p>
          <a:p>
            <a:pPr algn="just"/>
            <a:r>
              <a:rPr lang="en-US" dirty="0">
                <a:solidFill>
                  <a:srgbClr val="FF0000"/>
                </a:solidFill>
              </a:rPr>
              <a:t>    ...:         "</a:t>
            </a:r>
            <a:r>
              <a:rPr lang="en-US" dirty="0" err="1">
                <a:solidFill>
                  <a:srgbClr val="FF0000"/>
                </a:solidFill>
              </a:rPr>
              <a:t>has_fur</a:t>
            </a:r>
            <a:r>
              <a:rPr lang="en-US" dirty="0">
                <a:solidFill>
                  <a:srgbClr val="FF0000"/>
                </a:solidFill>
              </a:rPr>
              <a:t>": [True, True, False, False],</a:t>
            </a:r>
          </a:p>
          <a:p>
            <a:pPr algn="just"/>
            <a:r>
              <a:rPr lang="en-US" dirty="0">
                <a:solidFill>
                  <a:srgbClr val="FF0000"/>
                </a:solidFill>
              </a:rPr>
              <a:t>    ...:     }</a:t>
            </a:r>
          </a:p>
          <a:p>
            <a:pPr algn="just"/>
            <a:r>
              <a:rPr lang="en-US" dirty="0">
                <a:solidFill>
                  <a:srgbClr val="FF0000"/>
                </a:solidFill>
              </a:rPr>
              <a:t>    ...: )</a:t>
            </a:r>
          </a:p>
          <a:p>
            <a:pPr algn="just"/>
            <a:r>
              <a:rPr lang="en-US" dirty="0">
                <a:solidFill>
                  <a:srgbClr val="FF0000"/>
                </a:solidFill>
              </a:rPr>
              <a:t>df</a:t>
            </a:r>
          </a:p>
        </p:txBody>
      </p:sp>
      <p:sp>
        <p:nvSpPr>
          <p:cNvPr id="4" name="Slide Number Placeholder 3">
            <a:extLst>
              <a:ext uri="{FF2B5EF4-FFF2-40B4-BE49-F238E27FC236}">
                <a16:creationId xmlns:a16="http://schemas.microsoft.com/office/drawing/2014/main" id="{788B41FB-CBBD-4FB7-9284-BC0543D887BB}"/>
              </a:ext>
            </a:extLst>
          </p:cNvPr>
          <p:cNvSpPr>
            <a:spLocks noGrp="1"/>
          </p:cNvSpPr>
          <p:nvPr>
            <p:ph type="sldNum" sz="quarter" idx="12"/>
          </p:nvPr>
        </p:nvSpPr>
        <p:spPr/>
        <p:txBody>
          <a:bodyPr/>
          <a:lstStyle/>
          <a:p>
            <a:fld id="{6B97D948-30E8-43F7-AE10-F6E2D9F2BBB1}" type="slidenum">
              <a:rPr lang="en-US" smtClean="0"/>
              <a:t>204</a:t>
            </a:fld>
            <a:endParaRPr lang="en-US"/>
          </a:p>
        </p:txBody>
      </p:sp>
    </p:spTree>
    <p:extLst>
      <p:ext uri="{BB962C8B-B14F-4D97-AF65-F5344CB8AC3E}">
        <p14:creationId xmlns:p14="http://schemas.microsoft.com/office/powerpoint/2010/main" val="6815024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299873-8ABF-40D2-A80C-ECE6C55CEB9E}"/>
              </a:ext>
            </a:extLst>
          </p:cNvPr>
          <p:cNvSpPr>
            <a:spLocks noGrp="1"/>
          </p:cNvSpPr>
          <p:nvPr>
            <p:ph idx="1"/>
          </p:nvPr>
        </p:nvSpPr>
        <p:spPr>
          <a:xfrm>
            <a:off x="838200" y="462844"/>
            <a:ext cx="10515600" cy="5714119"/>
          </a:xfrm>
        </p:spPr>
        <p:txBody>
          <a:bodyPr/>
          <a:lstStyle/>
          <a:p>
            <a:r>
              <a:rPr lang="en-US" dirty="0"/>
              <a:t>Out[16]:</a:t>
            </a:r>
          </a:p>
          <a:p>
            <a:r>
              <a:rPr lang="en-US" dirty="0"/>
              <a:t>  animals  </a:t>
            </a:r>
            <a:r>
              <a:rPr lang="en-US" dirty="0" err="1"/>
              <a:t>can_swim</a:t>
            </a:r>
            <a:r>
              <a:rPr lang="en-US" dirty="0"/>
              <a:t>  </a:t>
            </a:r>
            <a:r>
              <a:rPr lang="en-US" dirty="0" err="1"/>
              <a:t>has_fur</a:t>
            </a:r>
            <a:endParaRPr lang="en-US" dirty="0"/>
          </a:p>
          <a:p>
            <a:r>
              <a:rPr lang="en-US" dirty="0"/>
              <a:t>0     dog      True     </a:t>
            </a:r>
            <a:r>
              <a:rPr lang="en-US" dirty="0" err="1"/>
              <a:t>True</a:t>
            </a:r>
            <a:endParaRPr lang="en-US" dirty="0"/>
          </a:p>
          <a:p>
            <a:r>
              <a:rPr lang="en-US" dirty="0"/>
              <a:t>1     cat     False     True</a:t>
            </a:r>
          </a:p>
          <a:p>
            <a:r>
              <a:rPr lang="en-US" dirty="0"/>
              <a:t>2    bird     False    </a:t>
            </a:r>
            <a:r>
              <a:rPr lang="en-US" dirty="0" err="1"/>
              <a:t>False</a:t>
            </a:r>
            <a:endParaRPr lang="en-US" dirty="0"/>
          </a:p>
          <a:p>
            <a:r>
              <a:rPr lang="en-US" dirty="0"/>
              <a:t>3    fish      True    False</a:t>
            </a:r>
          </a:p>
        </p:txBody>
      </p:sp>
      <p:sp>
        <p:nvSpPr>
          <p:cNvPr id="4" name="Slide Number Placeholder 3">
            <a:extLst>
              <a:ext uri="{FF2B5EF4-FFF2-40B4-BE49-F238E27FC236}">
                <a16:creationId xmlns:a16="http://schemas.microsoft.com/office/drawing/2014/main" id="{6CEE800D-3135-483F-9E83-368054E4B04F}"/>
              </a:ext>
            </a:extLst>
          </p:cNvPr>
          <p:cNvSpPr>
            <a:spLocks noGrp="1"/>
          </p:cNvSpPr>
          <p:nvPr>
            <p:ph type="sldNum" sz="quarter" idx="12"/>
          </p:nvPr>
        </p:nvSpPr>
        <p:spPr/>
        <p:txBody>
          <a:bodyPr/>
          <a:lstStyle/>
          <a:p>
            <a:fld id="{6B97D948-30E8-43F7-AE10-F6E2D9F2BBB1}" type="slidenum">
              <a:rPr lang="en-US" smtClean="0"/>
              <a:t>205</a:t>
            </a:fld>
            <a:endParaRPr lang="en-US"/>
          </a:p>
        </p:txBody>
      </p:sp>
    </p:spTree>
    <p:extLst>
      <p:ext uri="{BB962C8B-B14F-4D97-AF65-F5344CB8AC3E}">
        <p14:creationId xmlns:p14="http://schemas.microsoft.com/office/powerpoint/2010/main" val="80481210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93A99-8E7D-4E06-AA2E-76335188B9D0}"/>
              </a:ext>
            </a:extLst>
          </p:cNvPr>
          <p:cNvSpPr>
            <a:spLocks noGrp="1"/>
          </p:cNvSpPr>
          <p:nvPr>
            <p:ph idx="1"/>
          </p:nvPr>
        </p:nvSpPr>
        <p:spPr>
          <a:xfrm>
            <a:off x="838200" y="372533"/>
            <a:ext cx="10515600" cy="5804430"/>
          </a:xfrm>
        </p:spPr>
        <p:txBody>
          <a:bodyPr>
            <a:normAutofit/>
          </a:bodyPr>
          <a:lstStyle/>
          <a:p>
            <a:pPr algn="just"/>
            <a:r>
              <a:rPr lang="en-US" dirty="0"/>
              <a:t>Usually, unless that data size is small, we would rather prefer to load the data in the form of a </a:t>
            </a:r>
            <a:r>
              <a:rPr lang="en-US" dirty="0" err="1"/>
              <a:t>DataFrame</a:t>
            </a:r>
            <a:r>
              <a:rPr lang="en-US" dirty="0"/>
              <a:t> into Python.</a:t>
            </a:r>
          </a:p>
          <a:p>
            <a:pPr algn="just"/>
            <a:r>
              <a:rPr lang="en-US" dirty="0"/>
              <a:t>Let’s load the </a:t>
            </a:r>
            <a:r>
              <a:rPr lang="en-US" dirty="0" err="1"/>
              <a:t>smallworld</a:t>
            </a:r>
            <a:r>
              <a:rPr lang="en-US" dirty="0"/>
              <a:t> dataset where we have all countries of the world into Python instead of the 6 we had earlier.</a:t>
            </a:r>
          </a:p>
        </p:txBody>
      </p:sp>
      <p:sp>
        <p:nvSpPr>
          <p:cNvPr id="4" name="Slide Number Placeholder 3">
            <a:extLst>
              <a:ext uri="{FF2B5EF4-FFF2-40B4-BE49-F238E27FC236}">
                <a16:creationId xmlns:a16="http://schemas.microsoft.com/office/drawing/2014/main" id="{50C38E47-68EF-4092-BC6E-63782D8C3095}"/>
              </a:ext>
            </a:extLst>
          </p:cNvPr>
          <p:cNvSpPr>
            <a:spLocks noGrp="1"/>
          </p:cNvSpPr>
          <p:nvPr>
            <p:ph type="sldNum" sz="quarter" idx="12"/>
          </p:nvPr>
        </p:nvSpPr>
        <p:spPr/>
        <p:txBody>
          <a:bodyPr/>
          <a:lstStyle/>
          <a:p>
            <a:fld id="{6B97D948-30E8-43F7-AE10-F6E2D9F2BBB1}" type="slidenum">
              <a:rPr lang="en-US" smtClean="0"/>
              <a:t>206</a:t>
            </a:fld>
            <a:endParaRPr lang="en-US"/>
          </a:p>
        </p:txBody>
      </p:sp>
    </p:spTree>
    <p:extLst>
      <p:ext uri="{BB962C8B-B14F-4D97-AF65-F5344CB8AC3E}">
        <p14:creationId xmlns:p14="http://schemas.microsoft.com/office/powerpoint/2010/main" val="318241140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34C6FA-D69E-4705-8885-BA160F8AC998}"/>
              </a:ext>
            </a:extLst>
          </p:cNvPr>
          <p:cNvSpPr>
            <a:spLocks noGrp="1"/>
          </p:cNvSpPr>
          <p:nvPr>
            <p:ph idx="1"/>
          </p:nvPr>
        </p:nvSpPr>
        <p:spPr>
          <a:xfrm>
            <a:off x="838200" y="474133"/>
            <a:ext cx="10515600" cy="5702830"/>
          </a:xfrm>
        </p:spPr>
        <p:txBody>
          <a:bodyPr>
            <a:normAutofit fontScale="92500" lnSpcReduction="20000"/>
          </a:bodyPr>
          <a:lstStyle/>
          <a:p>
            <a:r>
              <a:rPr lang="en-US" dirty="0">
                <a:solidFill>
                  <a:srgbClr val="FF0000"/>
                </a:solidFill>
              </a:rPr>
              <a:t> world = </a:t>
            </a:r>
            <a:r>
              <a:rPr lang="en-US" dirty="0" err="1">
                <a:solidFill>
                  <a:srgbClr val="FF0000"/>
                </a:solidFill>
              </a:rPr>
              <a:t>pd.read_csv</a:t>
            </a:r>
            <a:r>
              <a:rPr lang="en-US" dirty="0">
                <a:solidFill>
                  <a:srgbClr val="FF0000"/>
                </a:solidFill>
              </a:rPr>
              <a:t>('world-small.csv')</a:t>
            </a:r>
          </a:p>
          <a:p>
            <a:endParaRPr lang="en-US" dirty="0"/>
          </a:p>
          <a:p>
            <a:r>
              <a:rPr lang="en-US" dirty="0"/>
              <a:t>       country        region  gdppcap08  </a:t>
            </a:r>
            <a:r>
              <a:rPr lang="en-US" dirty="0" err="1"/>
              <a:t>polityIV</a:t>
            </a:r>
            <a:endParaRPr lang="en-US" dirty="0"/>
          </a:p>
          <a:p>
            <a:r>
              <a:rPr lang="en-US" dirty="0"/>
              <a:t>0      Albania    C&amp;E Europe       7715      17.8</a:t>
            </a:r>
          </a:p>
          <a:p>
            <a:r>
              <a:rPr lang="en-US" dirty="0"/>
              <a:t>1      Algeria        Africa       8033      10.0</a:t>
            </a:r>
          </a:p>
          <a:p>
            <a:r>
              <a:rPr lang="en-US" dirty="0"/>
              <a:t>2       Angola        Africa       5899       8.0</a:t>
            </a:r>
          </a:p>
          <a:p>
            <a:r>
              <a:rPr lang="en-US" dirty="0"/>
              <a:t>3    Argentina    S. America      14333      18.0</a:t>
            </a:r>
          </a:p>
          <a:p>
            <a:r>
              <a:rPr lang="en-US" dirty="0"/>
              <a:t>4      Armenia    C&amp;E Europe       6070      15.0</a:t>
            </a:r>
          </a:p>
          <a:p>
            <a:r>
              <a:rPr lang="en-US" dirty="0"/>
              <a:t>..         ...           ...        ...       ...</a:t>
            </a:r>
          </a:p>
          <a:p>
            <a:r>
              <a:rPr lang="en-US" dirty="0"/>
              <a:t>140  Venezuela    S. America      12804      16.0</a:t>
            </a:r>
          </a:p>
          <a:p>
            <a:r>
              <a:rPr lang="en-US" dirty="0"/>
              <a:t>141    Vietnam  Asia-Pacific       2785       3.0</a:t>
            </a:r>
          </a:p>
          <a:p>
            <a:r>
              <a:rPr lang="en-US" dirty="0"/>
              <a:t>142      Yemen   Middle East       2400       8.0</a:t>
            </a:r>
          </a:p>
          <a:p>
            <a:r>
              <a:rPr lang="en-US" dirty="0"/>
              <a:t>143     Zambia        Africa       1356      15.0</a:t>
            </a:r>
          </a:p>
          <a:p>
            <a:r>
              <a:rPr lang="en-US" dirty="0"/>
              <a:t>144   Zimbabwe        Africa        188       6.0</a:t>
            </a:r>
          </a:p>
          <a:p>
            <a:endParaRPr lang="en-US" dirty="0"/>
          </a:p>
        </p:txBody>
      </p:sp>
      <p:sp>
        <p:nvSpPr>
          <p:cNvPr id="4" name="Slide Number Placeholder 3">
            <a:extLst>
              <a:ext uri="{FF2B5EF4-FFF2-40B4-BE49-F238E27FC236}">
                <a16:creationId xmlns:a16="http://schemas.microsoft.com/office/drawing/2014/main" id="{C9C00190-D4EE-44DC-B520-D883AD7A35CA}"/>
              </a:ext>
            </a:extLst>
          </p:cNvPr>
          <p:cNvSpPr>
            <a:spLocks noGrp="1"/>
          </p:cNvSpPr>
          <p:nvPr>
            <p:ph type="sldNum" sz="quarter" idx="12"/>
          </p:nvPr>
        </p:nvSpPr>
        <p:spPr/>
        <p:txBody>
          <a:bodyPr/>
          <a:lstStyle/>
          <a:p>
            <a:fld id="{6B97D948-30E8-43F7-AE10-F6E2D9F2BBB1}" type="slidenum">
              <a:rPr lang="en-US" smtClean="0"/>
              <a:t>207</a:t>
            </a:fld>
            <a:endParaRPr lang="en-US"/>
          </a:p>
        </p:txBody>
      </p:sp>
    </p:spTree>
    <p:extLst>
      <p:ext uri="{BB962C8B-B14F-4D97-AF65-F5344CB8AC3E}">
        <p14:creationId xmlns:p14="http://schemas.microsoft.com/office/powerpoint/2010/main" val="28402461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50202D-156D-4E36-985A-6CCCEBD47001}"/>
              </a:ext>
            </a:extLst>
          </p:cNvPr>
          <p:cNvSpPr>
            <a:spLocks noGrp="1"/>
          </p:cNvSpPr>
          <p:nvPr>
            <p:ph idx="1"/>
          </p:nvPr>
        </p:nvSpPr>
        <p:spPr>
          <a:xfrm>
            <a:off x="838200" y="316089"/>
            <a:ext cx="10515600" cy="5860874"/>
          </a:xfrm>
        </p:spPr>
        <p:txBody>
          <a:bodyPr/>
          <a:lstStyle/>
          <a:p>
            <a:pPr algn="just"/>
            <a:r>
              <a:rPr lang="en-US" dirty="0"/>
              <a:t>As you can see, pandas prints out a bunch of the rows, but not all the rows (note the ... in the middle) in an effort to not take over your monitor. </a:t>
            </a:r>
          </a:p>
          <a:p>
            <a:pPr algn="just"/>
            <a:r>
              <a:rPr lang="en-US" dirty="0"/>
              <a:t>This </a:t>
            </a:r>
            <a:r>
              <a:rPr lang="en-US" dirty="0" err="1"/>
              <a:t>DataFrame</a:t>
            </a:r>
            <a:r>
              <a:rPr lang="en-US" dirty="0"/>
              <a:t> could theoretically be printed out in its entirety but in the real world, we often work with datasets with hundreds of thousands or millions of rows where printing just isn’t possible. </a:t>
            </a:r>
          </a:p>
          <a:p>
            <a:pPr algn="just"/>
            <a:r>
              <a:rPr lang="en-US" dirty="0"/>
              <a:t>So here are some methods for “getting to know your data”:</a:t>
            </a:r>
          </a:p>
          <a:p>
            <a:pPr algn="just"/>
            <a:endParaRPr lang="en-US" dirty="0"/>
          </a:p>
          <a:p>
            <a:pPr algn="just"/>
            <a:r>
              <a:rPr lang="en-US" dirty="0"/>
              <a:t>Let’s look at the first 5 rows using .head():</a:t>
            </a:r>
          </a:p>
        </p:txBody>
      </p:sp>
      <p:sp>
        <p:nvSpPr>
          <p:cNvPr id="4" name="Slide Number Placeholder 3">
            <a:extLst>
              <a:ext uri="{FF2B5EF4-FFF2-40B4-BE49-F238E27FC236}">
                <a16:creationId xmlns:a16="http://schemas.microsoft.com/office/drawing/2014/main" id="{76B603B2-B75E-41CB-A141-AAFF60563975}"/>
              </a:ext>
            </a:extLst>
          </p:cNvPr>
          <p:cNvSpPr>
            <a:spLocks noGrp="1"/>
          </p:cNvSpPr>
          <p:nvPr>
            <p:ph type="sldNum" sz="quarter" idx="12"/>
          </p:nvPr>
        </p:nvSpPr>
        <p:spPr/>
        <p:txBody>
          <a:bodyPr/>
          <a:lstStyle/>
          <a:p>
            <a:fld id="{6B97D948-30E8-43F7-AE10-F6E2D9F2BBB1}" type="slidenum">
              <a:rPr lang="en-US" smtClean="0"/>
              <a:t>208</a:t>
            </a:fld>
            <a:endParaRPr lang="en-US"/>
          </a:p>
        </p:txBody>
      </p:sp>
    </p:spTree>
    <p:extLst>
      <p:ext uri="{BB962C8B-B14F-4D97-AF65-F5344CB8AC3E}">
        <p14:creationId xmlns:p14="http://schemas.microsoft.com/office/powerpoint/2010/main" val="104620948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EE2DF8-C081-41B9-95C7-B8BD8AA30F29}"/>
              </a:ext>
            </a:extLst>
          </p:cNvPr>
          <p:cNvSpPr>
            <a:spLocks noGrp="1"/>
          </p:cNvSpPr>
          <p:nvPr>
            <p:ph idx="1"/>
          </p:nvPr>
        </p:nvSpPr>
        <p:spPr>
          <a:xfrm>
            <a:off x="838200" y="519289"/>
            <a:ext cx="10515600" cy="5657674"/>
          </a:xfrm>
        </p:spPr>
        <p:txBody>
          <a:bodyPr/>
          <a:lstStyle/>
          <a:p>
            <a:r>
              <a:rPr lang="it-IT" dirty="0">
                <a:solidFill>
                  <a:srgbClr val="FF0000"/>
                </a:solidFill>
              </a:rPr>
              <a:t> world.head(5)</a:t>
            </a:r>
          </a:p>
          <a:p>
            <a:r>
              <a:rPr lang="it-IT" dirty="0"/>
              <a:t>Out[19]:</a:t>
            </a:r>
          </a:p>
          <a:p>
            <a:r>
              <a:rPr lang="it-IT" dirty="0"/>
              <a:t>     country      region                gdppcap08  polityIV</a:t>
            </a:r>
          </a:p>
          <a:p>
            <a:r>
              <a:rPr lang="it-IT" dirty="0"/>
              <a:t>0    Albania     C&amp;E Europe       7715             17.8</a:t>
            </a:r>
          </a:p>
          <a:p>
            <a:r>
              <a:rPr lang="it-IT" dirty="0"/>
              <a:t>1    Algeria      Africa                  8033             10.0</a:t>
            </a:r>
          </a:p>
          <a:p>
            <a:r>
              <a:rPr lang="it-IT" dirty="0"/>
              <a:t>2     Angola      Africa                 5899              8.0</a:t>
            </a:r>
          </a:p>
          <a:p>
            <a:r>
              <a:rPr lang="it-IT" dirty="0"/>
              <a:t>3  Argentina    S. America         14333           18.0</a:t>
            </a:r>
          </a:p>
          <a:p>
            <a:r>
              <a:rPr lang="it-IT" dirty="0"/>
              <a:t>4    Armenia    C&amp;E Europe       6070              15.0</a:t>
            </a:r>
            <a:endParaRPr lang="en-US" dirty="0"/>
          </a:p>
        </p:txBody>
      </p:sp>
      <p:sp>
        <p:nvSpPr>
          <p:cNvPr id="4" name="Slide Number Placeholder 3">
            <a:extLst>
              <a:ext uri="{FF2B5EF4-FFF2-40B4-BE49-F238E27FC236}">
                <a16:creationId xmlns:a16="http://schemas.microsoft.com/office/drawing/2014/main" id="{BF3EA029-644B-4153-873A-55D261AB75B9}"/>
              </a:ext>
            </a:extLst>
          </p:cNvPr>
          <p:cNvSpPr>
            <a:spLocks noGrp="1"/>
          </p:cNvSpPr>
          <p:nvPr>
            <p:ph type="sldNum" sz="quarter" idx="12"/>
          </p:nvPr>
        </p:nvSpPr>
        <p:spPr/>
        <p:txBody>
          <a:bodyPr/>
          <a:lstStyle/>
          <a:p>
            <a:fld id="{6B97D948-30E8-43F7-AE10-F6E2D9F2BBB1}" type="slidenum">
              <a:rPr lang="en-US" smtClean="0"/>
              <a:t>209</a:t>
            </a:fld>
            <a:endParaRPr lang="en-US"/>
          </a:p>
        </p:txBody>
      </p:sp>
    </p:spTree>
    <p:extLst>
      <p:ext uri="{BB962C8B-B14F-4D97-AF65-F5344CB8AC3E}">
        <p14:creationId xmlns:p14="http://schemas.microsoft.com/office/powerpoint/2010/main" val="326473394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EC17FF-4ECC-4AF2-B184-3B8B6D4A22EC}"/>
              </a:ext>
            </a:extLst>
          </p:cNvPr>
          <p:cNvSpPr>
            <a:spLocks noGrp="1"/>
          </p:cNvSpPr>
          <p:nvPr>
            <p:ph idx="1"/>
          </p:nvPr>
        </p:nvSpPr>
        <p:spPr>
          <a:xfrm>
            <a:off x="838200" y="383822"/>
            <a:ext cx="10515600" cy="5793141"/>
          </a:xfrm>
        </p:spPr>
        <p:txBody>
          <a:bodyPr/>
          <a:lstStyle/>
          <a:p>
            <a:r>
              <a:rPr lang="en-US" dirty="0"/>
              <a:t>And look at the last 5 rows with .tail():</a:t>
            </a:r>
          </a:p>
          <a:p>
            <a:r>
              <a:rPr lang="en-US" dirty="0" err="1">
                <a:solidFill>
                  <a:srgbClr val="FF0000"/>
                </a:solidFill>
              </a:rPr>
              <a:t>world.tail</a:t>
            </a:r>
            <a:r>
              <a:rPr lang="en-US" dirty="0">
                <a:solidFill>
                  <a:srgbClr val="FF0000"/>
                </a:solidFill>
              </a:rPr>
              <a:t>(5)</a:t>
            </a:r>
          </a:p>
          <a:p>
            <a:r>
              <a:rPr lang="en-US" dirty="0"/>
              <a:t>Out[20]:</a:t>
            </a:r>
          </a:p>
          <a:p>
            <a:r>
              <a:rPr lang="en-US" dirty="0"/>
              <a:t>       country        region  gdppcap08  </a:t>
            </a:r>
            <a:r>
              <a:rPr lang="en-US" dirty="0" err="1"/>
              <a:t>polityIV</a:t>
            </a:r>
            <a:endParaRPr lang="en-US" dirty="0"/>
          </a:p>
          <a:p>
            <a:r>
              <a:rPr lang="en-US" dirty="0"/>
              <a:t>140  Venezuela    S. America      12804      16.0</a:t>
            </a:r>
          </a:p>
          <a:p>
            <a:r>
              <a:rPr lang="en-US" dirty="0"/>
              <a:t>141    Vietnam  Asia-Pacific       2785       3.0</a:t>
            </a:r>
          </a:p>
          <a:p>
            <a:r>
              <a:rPr lang="en-US" dirty="0"/>
              <a:t>142      Yemen   Middle East       2400       8.0</a:t>
            </a:r>
          </a:p>
          <a:p>
            <a:r>
              <a:rPr lang="en-US" dirty="0"/>
              <a:t>143     Zambia        Africa       1356      15.0</a:t>
            </a:r>
          </a:p>
          <a:p>
            <a:r>
              <a:rPr lang="en-US" dirty="0"/>
              <a:t>144   Zimbabwe        Africa        188       6.0</a:t>
            </a:r>
          </a:p>
          <a:p>
            <a:endParaRPr lang="en-US" dirty="0"/>
          </a:p>
        </p:txBody>
      </p:sp>
      <p:sp>
        <p:nvSpPr>
          <p:cNvPr id="4" name="Slide Number Placeholder 3">
            <a:extLst>
              <a:ext uri="{FF2B5EF4-FFF2-40B4-BE49-F238E27FC236}">
                <a16:creationId xmlns:a16="http://schemas.microsoft.com/office/drawing/2014/main" id="{D7C74CD6-97C6-4F31-9DAB-9D4FE8F188F2}"/>
              </a:ext>
            </a:extLst>
          </p:cNvPr>
          <p:cNvSpPr>
            <a:spLocks noGrp="1"/>
          </p:cNvSpPr>
          <p:nvPr>
            <p:ph type="sldNum" sz="quarter" idx="12"/>
          </p:nvPr>
        </p:nvSpPr>
        <p:spPr/>
        <p:txBody>
          <a:bodyPr/>
          <a:lstStyle/>
          <a:p>
            <a:fld id="{6B97D948-30E8-43F7-AE10-F6E2D9F2BBB1}" type="slidenum">
              <a:rPr lang="en-US" smtClean="0"/>
              <a:t>210</a:t>
            </a:fld>
            <a:endParaRPr lang="en-US"/>
          </a:p>
        </p:txBody>
      </p:sp>
    </p:spTree>
    <p:extLst>
      <p:ext uri="{BB962C8B-B14F-4D97-AF65-F5344CB8AC3E}">
        <p14:creationId xmlns:p14="http://schemas.microsoft.com/office/powerpoint/2010/main" val="415136347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B61233-41C0-485D-A3D0-38F22AEBFC12}"/>
              </a:ext>
            </a:extLst>
          </p:cNvPr>
          <p:cNvSpPr>
            <a:spLocks noGrp="1"/>
          </p:cNvSpPr>
          <p:nvPr>
            <p:ph idx="1"/>
          </p:nvPr>
        </p:nvSpPr>
        <p:spPr>
          <a:xfrm>
            <a:off x="838200" y="417689"/>
            <a:ext cx="10515600" cy="5759274"/>
          </a:xfrm>
        </p:spPr>
        <p:txBody>
          <a:bodyPr/>
          <a:lstStyle/>
          <a:p>
            <a:r>
              <a:rPr lang="en-US" dirty="0" err="1">
                <a:solidFill>
                  <a:srgbClr val="FF0000"/>
                </a:solidFill>
              </a:rPr>
              <a:t>world.sample</a:t>
            </a:r>
            <a:r>
              <a:rPr lang="en-US" dirty="0">
                <a:solidFill>
                  <a:srgbClr val="FF0000"/>
                </a:solidFill>
              </a:rPr>
              <a:t>(5)</a:t>
            </a:r>
          </a:p>
          <a:p>
            <a:r>
              <a:rPr lang="en-US" dirty="0"/>
              <a:t>Out[21]:</a:t>
            </a:r>
          </a:p>
          <a:p>
            <a:r>
              <a:rPr lang="en-US" dirty="0"/>
              <a:t>       country        region  gdppcap08  </a:t>
            </a:r>
            <a:r>
              <a:rPr lang="en-US" dirty="0" err="1"/>
              <a:t>polityIV</a:t>
            </a:r>
            <a:endParaRPr lang="en-US" dirty="0"/>
          </a:p>
          <a:p>
            <a:r>
              <a:rPr lang="en-US" dirty="0"/>
              <a:t>64       Italy     W. Europe      30756      20.0</a:t>
            </a:r>
          </a:p>
          <a:p>
            <a:r>
              <a:rPr lang="en-US" dirty="0"/>
              <a:t>141    Vietnam  Asia-Pacific       2785       3.0</a:t>
            </a:r>
          </a:p>
          <a:p>
            <a:r>
              <a:rPr lang="en-US" dirty="0"/>
              <a:t>114  Singapore  Asia-Pacific      49284       8.0</a:t>
            </a:r>
          </a:p>
          <a:p>
            <a:r>
              <a:rPr lang="en-US" dirty="0"/>
              <a:t>51   Guatemala    S. America       4760      18.0</a:t>
            </a:r>
          </a:p>
          <a:p>
            <a:r>
              <a:rPr lang="en-US" dirty="0"/>
              <a:t>0      Albania    C&amp;E Europe       7715      17.8</a:t>
            </a:r>
          </a:p>
        </p:txBody>
      </p:sp>
      <p:sp>
        <p:nvSpPr>
          <p:cNvPr id="4" name="Slide Number Placeholder 3">
            <a:extLst>
              <a:ext uri="{FF2B5EF4-FFF2-40B4-BE49-F238E27FC236}">
                <a16:creationId xmlns:a16="http://schemas.microsoft.com/office/drawing/2014/main" id="{C20F2E1D-D501-4A69-B5B1-BD1BD416326F}"/>
              </a:ext>
            </a:extLst>
          </p:cNvPr>
          <p:cNvSpPr>
            <a:spLocks noGrp="1"/>
          </p:cNvSpPr>
          <p:nvPr>
            <p:ph type="sldNum" sz="quarter" idx="12"/>
          </p:nvPr>
        </p:nvSpPr>
        <p:spPr/>
        <p:txBody>
          <a:bodyPr/>
          <a:lstStyle/>
          <a:p>
            <a:fld id="{6B97D948-30E8-43F7-AE10-F6E2D9F2BBB1}" type="slidenum">
              <a:rPr lang="en-US" smtClean="0"/>
              <a:t>211</a:t>
            </a:fld>
            <a:endParaRPr lang="en-US"/>
          </a:p>
        </p:txBody>
      </p:sp>
    </p:spTree>
    <p:extLst>
      <p:ext uri="{BB962C8B-B14F-4D97-AF65-F5344CB8AC3E}">
        <p14:creationId xmlns:p14="http://schemas.microsoft.com/office/powerpoint/2010/main" val="330908978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0EBD44-7B93-4D73-B667-A09D54752942}"/>
              </a:ext>
            </a:extLst>
          </p:cNvPr>
          <p:cNvSpPr>
            <a:spLocks noGrp="1"/>
          </p:cNvSpPr>
          <p:nvPr>
            <p:ph idx="1"/>
          </p:nvPr>
        </p:nvSpPr>
        <p:spPr>
          <a:xfrm>
            <a:off x="838200" y="372533"/>
            <a:ext cx="10515600" cy="5804430"/>
          </a:xfrm>
        </p:spPr>
        <p:txBody>
          <a:bodyPr>
            <a:normAutofit fontScale="92500" lnSpcReduction="20000"/>
          </a:bodyPr>
          <a:lstStyle/>
          <a:p>
            <a:r>
              <a:rPr lang="en-US" dirty="0"/>
              <a:t>We can use </a:t>
            </a:r>
            <a:r>
              <a:rPr lang="en-US" dirty="0" err="1"/>
              <a:t>len</a:t>
            </a:r>
            <a:r>
              <a:rPr lang="en-US" dirty="0"/>
              <a:t>() to get the number of rows:</a:t>
            </a:r>
          </a:p>
          <a:p>
            <a:r>
              <a:rPr lang="en-US" dirty="0"/>
              <a:t> </a:t>
            </a:r>
            <a:r>
              <a:rPr lang="en-US" dirty="0" err="1">
                <a:solidFill>
                  <a:srgbClr val="FF0000"/>
                </a:solidFill>
              </a:rPr>
              <a:t>len</a:t>
            </a:r>
            <a:r>
              <a:rPr lang="en-US" dirty="0">
                <a:solidFill>
                  <a:srgbClr val="FF0000"/>
                </a:solidFill>
              </a:rPr>
              <a:t>(world)</a:t>
            </a:r>
          </a:p>
          <a:p>
            <a:r>
              <a:rPr lang="en-US" dirty="0"/>
              <a:t>Out[22]: 145</a:t>
            </a:r>
          </a:p>
          <a:p>
            <a:r>
              <a:rPr lang="en-US" dirty="0"/>
              <a:t>Or </a:t>
            </a:r>
            <a:r>
              <a:rPr lang="en-US" dirty="0" err="1"/>
              <a:t>len</a:t>
            </a:r>
            <a:r>
              <a:rPr lang="en-US" dirty="0"/>
              <a:t>() and .columns to get the number of columns:</a:t>
            </a:r>
          </a:p>
          <a:p>
            <a:r>
              <a:rPr lang="en-US" dirty="0" err="1">
                <a:solidFill>
                  <a:srgbClr val="FF0000"/>
                </a:solidFill>
              </a:rPr>
              <a:t>len</a:t>
            </a:r>
            <a:r>
              <a:rPr lang="en-US" dirty="0">
                <a:solidFill>
                  <a:srgbClr val="FF0000"/>
                </a:solidFill>
              </a:rPr>
              <a:t>(</a:t>
            </a:r>
            <a:r>
              <a:rPr lang="en-US" dirty="0" err="1">
                <a:solidFill>
                  <a:srgbClr val="FF0000"/>
                </a:solidFill>
              </a:rPr>
              <a:t>world.columns</a:t>
            </a:r>
            <a:r>
              <a:rPr lang="en-US" dirty="0">
                <a:solidFill>
                  <a:srgbClr val="FF0000"/>
                </a:solidFill>
              </a:rPr>
              <a:t>)</a:t>
            </a:r>
          </a:p>
          <a:p>
            <a:r>
              <a:rPr lang="en-US" dirty="0"/>
              <a:t>4</a:t>
            </a:r>
          </a:p>
          <a:p>
            <a:r>
              <a:rPr lang="en-US" dirty="0"/>
              <a:t>We can also check the data type of each column with .</a:t>
            </a:r>
            <a:r>
              <a:rPr lang="en-US" dirty="0" err="1"/>
              <a:t>dtypes</a:t>
            </a:r>
            <a:r>
              <a:rPr lang="en-US" dirty="0"/>
              <a:t> (note the s):</a:t>
            </a:r>
          </a:p>
          <a:p>
            <a:r>
              <a:rPr lang="en-US" dirty="0"/>
              <a:t> </a:t>
            </a:r>
            <a:r>
              <a:rPr lang="en-US" dirty="0" err="1">
                <a:solidFill>
                  <a:srgbClr val="FF0000"/>
                </a:solidFill>
              </a:rPr>
              <a:t>world.dtypes</a:t>
            </a:r>
            <a:endParaRPr lang="en-US" dirty="0">
              <a:solidFill>
                <a:srgbClr val="FF0000"/>
              </a:solidFill>
            </a:endParaRPr>
          </a:p>
          <a:p>
            <a:r>
              <a:rPr lang="en-US" dirty="0"/>
              <a:t>Out[24]:</a:t>
            </a:r>
          </a:p>
          <a:p>
            <a:r>
              <a:rPr lang="en-US" dirty="0"/>
              <a:t>country       object</a:t>
            </a:r>
          </a:p>
          <a:p>
            <a:r>
              <a:rPr lang="en-US" dirty="0"/>
              <a:t>region        object</a:t>
            </a:r>
          </a:p>
          <a:p>
            <a:r>
              <a:rPr lang="en-US" dirty="0"/>
              <a:t>gdppcap08      int64</a:t>
            </a:r>
          </a:p>
          <a:p>
            <a:r>
              <a:rPr lang="en-US" dirty="0" err="1"/>
              <a:t>polityIV</a:t>
            </a:r>
            <a:r>
              <a:rPr lang="en-US" dirty="0"/>
              <a:t>     float64</a:t>
            </a:r>
          </a:p>
          <a:p>
            <a:r>
              <a:rPr lang="en-US" dirty="0" err="1"/>
              <a:t>dtype</a:t>
            </a:r>
            <a:r>
              <a:rPr lang="en-US" dirty="0"/>
              <a:t>: object</a:t>
            </a:r>
          </a:p>
          <a:p>
            <a:endParaRPr lang="en-US" dirty="0"/>
          </a:p>
          <a:p>
            <a:endParaRPr lang="en-US" dirty="0"/>
          </a:p>
        </p:txBody>
      </p:sp>
      <p:sp>
        <p:nvSpPr>
          <p:cNvPr id="4" name="Slide Number Placeholder 3">
            <a:extLst>
              <a:ext uri="{FF2B5EF4-FFF2-40B4-BE49-F238E27FC236}">
                <a16:creationId xmlns:a16="http://schemas.microsoft.com/office/drawing/2014/main" id="{F3FA86B4-0AAF-4833-82AC-16BFB3449C9A}"/>
              </a:ext>
            </a:extLst>
          </p:cNvPr>
          <p:cNvSpPr>
            <a:spLocks noGrp="1"/>
          </p:cNvSpPr>
          <p:nvPr>
            <p:ph type="sldNum" sz="quarter" idx="12"/>
          </p:nvPr>
        </p:nvSpPr>
        <p:spPr/>
        <p:txBody>
          <a:bodyPr/>
          <a:lstStyle/>
          <a:p>
            <a:fld id="{6B97D948-30E8-43F7-AE10-F6E2D9F2BBB1}" type="slidenum">
              <a:rPr lang="en-US" smtClean="0"/>
              <a:t>212</a:t>
            </a:fld>
            <a:endParaRPr lang="en-US"/>
          </a:p>
        </p:txBody>
      </p:sp>
    </p:spTree>
    <p:extLst>
      <p:ext uri="{BB962C8B-B14F-4D97-AF65-F5344CB8AC3E}">
        <p14:creationId xmlns:p14="http://schemas.microsoft.com/office/powerpoint/2010/main" val="177924144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8E7AD4-6066-44B6-BCEF-46EED0DA13D3}"/>
              </a:ext>
            </a:extLst>
          </p:cNvPr>
          <p:cNvSpPr>
            <a:spLocks noGrp="1"/>
          </p:cNvSpPr>
          <p:nvPr>
            <p:ph idx="1"/>
          </p:nvPr>
        </p:nvSpPr>
        <p:spPr>
          <a:xfrm>
            <a:off x="838200" y="406400"/>
            <a:ext cx="10515600" cy="5770563"/>
          </a:xfrm>
        </p:spPr>
        <p:txBody>
          <a:bodyPr>
            <a:normAutofit/>
          </a:bodyPr>
          <a:lstStyle/>
          <a:p>
            <a:r>
              <a:rPr lang="en-US" dirty="0"/>
              <a:t>We could have used a slightly more nicely formatted summary with .info():</a:t>
            </a:r>
          </a:p>
          <a:p>
            <a:r>
              <a:rPr lang="en-US" dirty="0">
                <a:solidFill>
                  <a:srgbClr val="FF0000"/>
                </a:solidFill>
              </a:rPr>
              <a:t>world.info()</a:t>
            </a:r>
          </a:p>
          <a:p>
            <a:r>
              <a:rPr lang="en-US" dirty="0"/>
              <a:t>#   Column     Non-Null Count  </a:t>
            </a:r>
            <a:r>
              <a:rPr lang="en-US" dirty="0" err="1"/>
              <a:t>Dtype</a:t>
            </a:r>
            <a:endParaRPr lang="en-US" dirty="0"/>
          </a:p>
          <a:p>
            <a:r>
              <a:rPr lang="en-US" dirty="0"/>
              <a:t>---  ------     --------------  -----</a:t>
            </a:r>
          </a:p>
          <a:p>
            <a:r>
              <a:rPr lang="en-US" dirty="0"/>
              <a:t> 0   country    145 non-null    object</a:t>
            </a:r>
          </a:p>
          <a:p>
            <a:r>
              <a:rPr lang="en-US" dirty="0"/>
              <a:t> 1   region     145 non-null    object</a:t>
            </a:r>
          </a:p>
          <a:p>
            <a:r>
              <a:rPr lang="en-US" dirty="0"/>
              <a:t> 2   gdppcap08  145 non-null    int64</a:t>
            </a:r>
          </a:p>
          <a:p>
            <a:r>
              <a:rPr lang="en-US" dirty="0"/>
              <a:t> 3   </a:t>
            </a:r>
            <a:r>
              <a:rPr lang="en-US" dirty="0" err="1"/>
              <a:t>polityIV</a:t>
            </a:r>
            <a:r>
              <a:rPr lang="en-US" dirty="0"/>
              <a:t>   145 non-null    float64</a:t>
            </a:r>
          </a:p>
          <a:p>
            <a:r>
              <a:rPr lang="en-US" dirty="0" err="1"/>
              <a:t>dtypes</a:t>
            </a:r>
            <a:r>
              <a:rPr lang="en-US" dirty="0"/>
              <a:t>: float64(1), int64(1), object(2)</a:t>
            </a:r>
          </a:p>
          <a:p>
            <a:r>
              <a:rPr lang="en-US" dirty="0"/>
              <a:t>memory usage: 4.7+ KB</a:t>
            </a:r>
          </a:p>
          <a:p>
            <a:endParaRPr lang="en-US" dirty="0"/>
          </a:p>
        </p:txBody>
      </p:sp>
      <p:sp>
        <p:nvSpPr>
          <p:cNvPr id="4" name="Slide Number Placeholder 3">
            <a:extLst>
              <a:ext uri="{FF2B5EF4-FFF2-40B4-BE49-F238E27FC236}">
                <a16:creationId xmlns:a16="http://schemas.microsoft.com/office/drawing/2014/main" id="{782EE0CB-C418-4FAD-8DA0-18F456ED1025}"/>
              </a:ext>
            </a:extLst>
          </p:cNvPr>
          <p:cNvSpPr>
            <a:spLocks noGrp="1"/>
          </p:cNvSpPr>
          <p:nvPr>
            <p:ph type="sldNum" sz="quarter" idx="12"/>
          </p:nvPr>
        </p:nvSpPr>
        <p:spPr/>
        <p:txBody>
          <a:bodyPr/>
          <a:lstStyle/>
          <a:p>
            <a:fld id="{6B97D948-30E8-43F7-AE10-F6E2D9F2BBB1}" type="slidenum">
              <a:rPr lang="en-US" smtClean="0"/>
              <a:t>213</a:t>
            </a:fld>
            <a:endParaRPr lang="en-US"/>
          </a:p>
        </p:txBody>
      </p:sp>
    </p:spTree>
    <p:extLst>
      <p:ext uri="{BB962C8B-B14F-4D97-AF65-F5344CB8AC3E}">
        <p14:creationId xmlns:p14="http://schemas.microsoft.com/office/powerpoint/2010/main" val="2203302450"/>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BB686F-F176-40AE-852F-32A4F6629DC9}"/>
              </a:ext>
            </a:extLst>
          </p:cNvPr>
          <p:cNvSpPr>
            <a:spLocks noGrp="1"/>
          </p:cNvSpPr>
          <p:nvPr>
            <p:ph idx="1"/>
          </p:nvPr>
        </p:nvSpPr>
        <p:spPr>
          <a:xfrm>
            <a:off x="838200" y="406400"/>
            <a:ext cx="10515600" cy="5770563"/>
          </a:xfrm>
        </p:spPr>
        <p:txBody>
          <a:bodyPr>
            <a:normAutofit fontScale="92500" lnSpcReduction="10000"/>
          </a:bodyPr>
          <a:lstStyle/>
          <a:p>
            <a:pPr algn="just"/>
            <a:r>
              <a:rPr lang="en-US" dirty="0"/>
              <a:t>We can also summary statistics for each numeric column (objects are ignored) with .describe():</a:t>
            </a:r>
          </a:p>
          <a:p>
            <a:pPr algn="just"/>
            <a:r>
              <a:rPr lang="en-US" dirty="0" err="1">
                <a:solidFill>
                  <a:srgbClr val="FF0000"/>
                </a:solidFill>
              </a:rPr>
              <a:t>world.describe</a:t>
            </a:r>
            <a:r>
              <a:rPr lang="en-US" dirty="0">
                <a:solidFill>
                  <a:srgbClr val="FF0000"/>
                </a:solidFill>
              </a:rPr>
              <a:t>()</a:t>
            </a:r>
          </a:p>
          <a:p>
            <a:pPr algn="just"/>
            <a:r>
              <a:rPr lang="en-US" dirty="0"/>
              <a:t>Out[26]:</a:t>
            </a:r>
          </a:p>
          <a:p>
            <a:pPr algn="just"/>
            <a:r>
              <a:rPr lang="en-US" dirty="0"/>
              <a:t>          gdppcap08            </a:t>
            </a:r>
            <a:r>
              <a:rPr lang="en-US" dirty="0" err="1"/>
              <a:t>polityIV</a:t>
            </a:r>
            <a:endParaRPr lang="en-US" dirty="0"/>
          </a:p>
          <a:p>
            <a:pPr algn="just"/>
            <a:r>
              <a:rPr lang="en-US" dirty="0"/>
              <a:t>count    145.000000      145.000000</a:t>
            </a:r>
          </a:p>
          <a:p>
            <a:pPr algn="just"/>
            <a:r>
              <a:rPr lang="en-US" dirty="0"/>
              <a:t>mean    13251.993103   13.407816</a:t>
            </a:r>
          </a:p>
          <a:p>
            <a:pPr algn="just"/>
            <a:r>
              <a:rPr lang="en-US" dirty="0"/>
              <a:t>std         14802.581676    6.587626</a:t>
            </a:r>
          </a:p>
          <a:p>
            <a:pPr algn="just"/>
            <a:r>
              <a:rPr lang="en-US" dirty="0"/>
              <a:t>min        188.000000        0.000000</a:t>
            </a:r>
          </a:p>
          <a:p>
            <a:pPr algn="just"/>
            <a:r>
              <a:rPr lang="en-US" dirty="0"/>
              <a:t>25%        2153.000000    7.666667</a:t>
            </a:r>
          </a:p>
          <a:p>
            <a:pPr algn="just"/>
            <a:r>
              <a:rPr lang="en-US" dirty="0"/>
              <a:t>50%       7271.000000     16.000000</a:t>
            </a:r>
          </a:p>
          <a:p>
            <a:pPr algn="just"/>
            <a:r>
              <a:rPr lang="en-US" dirty="0"/>
              <a:t>75%       19330.000000   19.000000</a:t>
            </a:r>
          </a:p>
          <a:p>
            <a:pPr algn="just"/>
            <a:r>
              <a:rPr lang="en-US" dirty="0"/>
              <a:t>max       85868.000000   20.000000</a:t>
            </a:r>
          </a:p>
        </p:txBody>
      </p:sp>
      <p:sp>
        <p:nvSpPr>
          <p:cNvPr id="4" name="Slide Number Placeholder 3">
            <a:extLst>
              <a:ext uri="{FF2B5EF4-FFF2-40B4-BE49-F238E27FC236}">
                <a16:creationId xmlns:a16="http://schemas.microsoft.com/office/drawing/2014/main" id="{D81AB933-01F9-4363-BAFE-04FBF01FA712}"/>
              </a:ext>
            </a:extLst>
          </p:cNvPr>
          <p:cNvSpPr>
            <a:spLocks noGrp="1"/>
          </p:cNvSpPr>
          <p:nvPr>
            <p:ph type="sldNum" sz="quarter" idx="12"/>
          </p:nvPr>
        </p:nvSpPr>
        <p:spPr/>
        <p:txBody>
          <a:bodyPr/>
          <a:lstStyle/>
          <a:p>
            <a:fld id="{6B97D948-30E8-43F7-AE10-F6E2D9F2BBB1}" type="slidenum">
              <a:rPr lang="en-US" smtClean="0"/>
              <a:t>214</a:t>
            </a:fld>
            <a:endParaRPr lang="en-US"/>
          </a:p>
        </p:txBody>
      </p:sp>
    </p:spTree>
    <p:extLst>
      <p:ext uri="{BB962C8B-B14F-4D97-AF65-F5344CB8AC3E}">
        <p14:creationId xmlns:p14="http://schemas.microsoft.com/office/powerpoint/2010/main" val="68379420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979DC9-23F1-464D-9267-095DF74EC945}"/>
              </a:ext>
            </a:extLst>
          </p:cNvPr>
          <p:cNvSpPr>
            <a:spLocks noGrp="1"/>
          </p:cNvSpPr>
          <p:nvPr>
            <p:ph idx="1"/>
          </p:nvPr>
        </p:nvSpPr>
        <p:spPr>
          <a:xfrm>
            <a:off x="838200" y="474133"/>
            <a:ext cx="10515600" cy="5702830"/>
          </a:xfrm>
        </p:spPr>
        <p:txBody>
          <a:bodyPr/>
          <a:lstStyle/>
          <a:p>
            <a:r>
              <a:rPr lang="en-US" dirty="0"/>
              <a:t>Finally, we can list out all the column names.</a:t>
            </a:r>
          </a:p>
          <a:p>
            <a:r>
              <a:rPr lang="en-US" dirty="0">
                <a:solidFill>
                  <a:srgbClr val="FF0000"/>
                </a:solidFill>
              </a:rPr>
              <a:t> </a:t>
            </a:r>
            <a:r>
              <a:rPr lang="en-US" dirty="0" err="1">
                <a:solidFill>
                  <a:srgbClr val="FF0000"/>
                </a:solidFill>
              </a:rPr>
              <a:t>world.columns</a:t>
            </a:r>
            <a:endParaRPr lang="en-US" dirty="0">
              <a:solidFill>
                <a:srgbClr val="FF0000"/>
              </a:solidFill>
            </a:endParaRPr>
          </a:p>
          <a:p>
            <a:r>
              <a:rPr lang="en-US" dirty="0"/>
              <a:t>Out[27]: Index(['country', 'region', 'gdppcap08', '</a:t>
            </a:r>
            <a:r>
              <a:rPr lang="en-US" dirty="0" err="1"/>
              <a:t>polityIV</a:t>
            </a:r>
            <a:r>
              <a:rPr lang="en-US" dirty="0"/>
              <a:t>'], </a:t>
            </a:r>
            <a:r>
              <a:rPr lang="en-US" dirty="0" err="1"/>
              <a:t>dtype</a:t>
            </a:r>
            <a:r>
              <a:rPr lang="en-US" dirty="0"/>
              <a:t>='object') </a:t>
            </a:r>
          </a:p>
        </p:txBody>
      </p:sp>
      <p:sp>
        <p:nvSpPr>
          <p:cNvPr id="4" name="Slide Number Placeholder 3">
            <a:extLst>
              <a:ext uri="{FF2B5EF4-FFF2-40B4-BE49-F238E27FC236}">
                <a16:creationId xmlns:a16="http://schemas.microsoft.com/office/drawing/2014/main" id="{6C504648-18B0-410A-AD13-98D5DE1221A7}"/>
              </a:ext>
            </a:extLst>
          </p:cNvPr>
          <p:cNvSpPr>
            <a:spLocks noGrp="1"/>
          </p:cNvSpPr>
          <p:nvPr>
            <p:ph type="sldNum" sz="quarter" idx="12"/>
          </p:nvPr>
        </p:nvSpPr>
        <p:spPr/>
        <p:txBody>
          <a:bodyPr/>
          <a:lstStyle/>
          <a:p>
            <a:fld id="{6B97D948-30E8-43F7-AE10-F6E2D9F2BBB1}" type="slidenum">
              <a:rPr lang="en-US" smtClean="0"/>
              <a:t>215</a:t>
            </a:fld>
            <a:endParaRPr lang="en-US"/>
          </a:p>
        </p:txBody>
      </p:sp>
    </p:spTree>
    <p:extLst>
      <p:ext uri="{BB962C8B-B14F-4D97-AF65-F5344CB8AC3E}">
        <p14:creationId xmlns:p14="http://schemas.microsoft.com/office/powerpoint/2010/main" val="13679378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DA46D-FE7B-44D1-A3BF-E1AEAF830A9F}"/>
              </a:ext>
            </a:extLst>
          </p:cNvPr>
          <p:cNvSpPr>
            <a:spLocks noGrp="1"/>
          </p:cNvSpPr>
          <p:nvPr>
            <p:ph type="title"/>
          </p:nvPr>
        </p:nvSpPr>
        <p:spPr>
          <a:xfrm>
            <a:off x="838200" y="365125"/>
            <a:ext cx="10515600" cy="696031"/>
          </a:xfrm>
        </p:spPr>
        <p:txBody>
          <a:bodyPr/>
          <a:lstStyle/>
          <a:p>
            <a:r>
              <a:rPr lang="en-US" dirty="0" err="1"/>
              <a:t>Subsetting</a:t>
            </a:r>
            <a:r>
              <a:rPr lang="en-US" dirty="0"/>
              <a:t> a </a:t>
            </a:r>
            <a:r>
              <a:rPr lang="en-US" dirty="0" err="1"/>
              <a:t>DataFrame</a:t>
            </a:r>
            <a:endParaRPr lang="en-US" dirty="0"/>
          </a:p>
        </p:txBody>
      </p:sp>
      <p:sp>
        <p:nvSpPr>
          <p:cNvPr id="3" name="Content Placeholder 2">
            <a:extLst>
              <a:ext uri="{FF2B5EF4-FFF2-40B4-BE49-F238E27FC236}">
                <a16:creationId xmlns:a16="http://schemas.microsoft.com/office/drawing/2014/main" id="{757FBB1B-DD5B-43B7-9657-0A7E59F863A9}"/>
              </a:ext>
            </a:extLst>
          </p:cNvPr>
          <p:cNvSpPr>
            <a:spLocks noGrp="1"/>
          </p:cNvSpPr>
          <p:nvPr>
            <p:ph idx="1"/>
          </p:nvPr>
        </p:nvSpPr>
        <p:spPr>
          <a:xfrm>
            <a:off x="838200" y="1061156"/>
            <a:ext cx="10515600" cy="5115807"/>
          </a:xfrm>
        </p:spPr>
        <p:txBody>
          <a:bodyPr>
            <a:normAutofit/>
          </a:bodyPr>
          <a:lstStyle/>
          <a:p>
            <a:r>
              <a:rPr lang="en-US" dirty="0">
                <a:solidFill>
                  <a:srgbClr val="FF0000"/>
                </a:solidFill>
              </a:rPr>
              <a:t>.</a:t>
            </a:r>
            <a:r>
              <a:rPr lang="en-US" dirty="0" err="1">
                <a:solidFill>
                  <a:srgbClr val="FF0000"/>
                </a:solidFill>
              </a:rPr>
              <a:t>iloc</a:t>
            </a:r>
            <a:endParaRPr lang="en-US" dirty="0">
              <a:solidFill>
                <a:srgbClr val="FF0000"/>
              </a:solidFill>
            </a:endParaRPr>
          </a:p>
          <a:p>
            <a:pPr algn="just"/>
            <a:r>
              <a:rPr lang="en-US" dirty="0"/>
              <a:t>To subset a </a:t>
            </a:r>
            <a:r>
              <a:rPr lang="en-US" dirty="0" err="1"/>
              <a:t>DataFrame</a:t>
            </a:r>
            <a:r>
              <a:rPr lang="en-US" dirty="0"/>
              <a:t> using </a:t>
            </a:r>
            <a:r>
              <a:rPr lang="en-US" dirty="0" err="1"/>
              <a:t>iloc</a:t>
            </a:r>
            <a:r>
              <a:rPr lang="en-US" dirty="0"/>
              <a:t>, we now have to pass two arguments into </a:t>
            </a:r>
            <a:r>
              <a:rPr lang="en-US" dirty="0" err="1"/>
              <a:t>iloc</a:t>
            </a:r>
            <a:r>
              <a:rPr lang="en-US" dirty="0"/>
              <a:t> separated by a comma (the first entry subsets rows, the second columns, just like in </a:t>
            </a:r>
            <a:r>
              <a:rPr lang="en-US" dirty="0" err="1"/>
              <a:t>numpy</a:t>
            </a:r>
            <a:r>
              <a:rPr lang="en-US" dirty="0"/>
              <a:t>).</a:t>
            </a:r>
          </a:p>
          <a:p>
            <a:pPr algn="just"/>
            <a:r>
              <a:rPr lang="en-US" dirty="0"/>
              <a:t>For example, if we wanted the entry in the fourth row of the first column, we would use:</a:t>
            </a:r>
          </a:p>
          <a:p>
            <a:pPr algn="just"/>
            <a:r>
              <a:rPr lang="en-US" dirty="0" err="1">
                <a:solidFill>
                  <a:srgbClr val="FF0000"/>
                </a:solidFill>
              </a:rPr>
              <a:t>world.iloc</a:t>
            </a:r>
            <a:r>
              <a:rPr lang="en-US" dirty="0">
                <a:solidFill>
                  <a:srgbClr val="FF0000"/>
                </a:solidFill>
              </a:rPr>
              <a:t>[3, 0]</a:t>
            </a:r>
          </a:p>
          <a:p>
            <a:pPr algn="just"/>
            <a:r>
              <a:rPr lang="en-US" dirty="0"/>
              <a:t>Out[28]: 'Argentina’</a:t>
            </a:r>
          </a:p>
          <a:p>
            <a:pPr algn="just"/>
            <a:r>
              <a:rPr lang="en-US" dirty="0"/>
              <a:t>Again, Series and </a:t>
            </a:r>
            <a:r>
              <a:rPr lang="en-US" dirty="0" err="1"/>
              <a:t>numpy</a:t>
            </a:r>
            <a:r>
              <a:rPr lang="en-US" dirty="0"/>
              <a:t>, </a:t>
            </a:r>
            <a:r>
              <a:rPr lang="en-US" dirty="0" err="1"/>
              <a:t>iloc</a:t>
            </a:r>
            <a:r>
              <a:rPr lang="en-US" dirty="0"/>
              <a:t> supports slices. </a:t>
            </a:r>
          </a:p>
        </p:txBody>
      </p:sp>
      <p:sp>
        <p:nvSpPr>
          <p:cNvPr id="4" name="Slide Number Placeholder 3">
            <a:extLst>
              <a:ext uri="{FF2B5EF4-FFF2-40B4-BE49-F238E27FC236}">
                <a16:creationId xmlns:a16="http://schemas.microsoft.com/office/drawing/2014/main" id="{B5220EEE-39F2-4555-BEF9-8D84B0E64AB4}"/>
              </a:ext>
            </a:extLst>
          </p:cNvPr>
          <p:cNvSpPr>
            <a:spLocks noGrp="1"/>
          </p:cNvSpPr>
          <p:nvPr>
            <p:ph type="sldNum" sz="quarter" idx="12"/>
          </p:nvPr>
        </p:nvSpPr>
        <p:spPr/>
        <p:txBody>
          <a:bodyPr/>
          <a:lstStyle/>
          <a:p>
            <a:fld id="{6B97D948-30E8-43F7-AE10-F6E2D9F2BBB1}" type="slidenum">
              <a:rPr lang="en-US" smtClean="0"/>
              <a:t>216</a:t>
            </a:fld>
            <a:endParaRPr lang="en-US"/>
          </a:p>
        </p:txBody>
      </p:sp>
    </p:spTree>
    <p:extLst>
      <p:ext uri="{BB962C8B-B14F-4D97-AF65-F5344CB8AC3E}">
        <p14:creationId xmlns:p14="http://schemas.microsoft.com/office/powerpoint/2010/main" val="30015250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6F3111-4C71-4E9A-9E63-14D96095A881}"/>
              </a:ext>
            </a:extLst>
          </p:cNvPr>
          <p:cNvSpPr>
            <a:spLocks noGrp="1"/>
          </p:cNvSpPr>
          <p:nvPr>
            <p:ph idx="1"/>
          </p:nvPr>
        </p:nvSpPr>
        <p:spPr>
          <a:xfrm>
            <a:off x="838200" y="530578"/>
            <a:ext cx="10515600" cy="5646385"/>
          </a:xfrm>
        </p:spPr>
        <p:txBody>
          <a:bodyPr/>
          <a:lstStyle/>
          <a:p>
            <a:r>
              <a:rPr lang="en-US" dirty="0"/>
              <a:t>Here are the first two rows of the first three columns:</a:t>
            </a:r>
          </a:p>
          <a:p>
            <a:r>
              <a:rPr lang="en-US" dirty="0"/>
              <a:t> </a:t>
            </a:r>
            <a:r>
              <a:rPr lang="en-US" dirty="0" err="1">
                <a:solidFill>
                  <a:srgbClr val="FF0000"/>
                </a:solidFill>
              </a:rPr>
              <a:t>world.iloc</a:t>
            </a:r>
            <a:r>
              <a:rPr lang="en-US" dirty="0">
                <a:solidFill>
                  <a:srgbClr val="FF0000"/>
                </a:solidFill>
              </a:rPr>
              <a:t>[0:2, 0:3]</a:t>
            </a:r>
          </a:p>
          <a:p>
            <a:r>
              <a:rPr lang="en-US" dirty="0"/>
              <a:t>Out[29]:</a:t>
            </a:r>
          </a:p>
          <a:p>
            <a:r>
              <a:rPr lang="en-US" dirty="0"/>
              <a:t>   country      region  gdppcap08</a:t>
            </a:r>
          </a:p>
          <a:p>
            <a:r>
              <a:rPr lang="en-US" dirty="0"/>
              <a:t>0  Albania  C&amp;E Europe       7715</a:t>
            </a:r>
          </a:p>
          <a:p>
            <a:r>
              <a:rPr lang="en-US" dirty="0"/>
              <a:t>1  Algeria      Africa       8033</a:t>
            </a:r>
          </a:p>
          <a:p>
            <a:pPr algn="just"/>
            <a:r>
              <a:rPr lang="en-US" dirty="0"/>
              <a:t>If you want to get a subset on </a:t>
            </a:r>
            <a:r>
              <a:rPr lang="en-US" dirty="0">
                <a:solidFill>
                  <a:srgbClr val="FF0000"/>
                </a:solidFill>
              </a:rPr>
              <a:t>one dimension</a:t>
            </a:r>
            <a:r>
              <a:rPr lang="en-US" dirty="0"/>
              <a:t>, but all the entries on the other, just pass </a:t>
            </a:r>
            <a:r>
              <a:rPr lang="en-US" dirty="0">
                <a:solidFill>
                  <a:srgbClr val="FF0000"/>
                </a:solidFill>
              </a:rPr>
              <a:t>:</a:t>
            </a:r>
            <a:r>
              <a:rPr lang="en-US" dirty="0"/>
              <a:t> for the dimension on which you want all the data (just like in </a:t>
            </a:r>
            <a:r>
              <a:rPr lang="en-US" dirty="0" err="1"/>
              <a:t>numpy</a:t>
            </a:r>
            <a:r>
              <a:rPr lang="en-US" dirty="0"/>
              <a:t>). </a:t>
            </a:r>
          </a:p>
          <a:p>
            <a:pPr algn="just"/>
            <a:r>
              <a:rPr lang="en-US" dirty="0"/>
              <a:t>Here are the first two rows and all the columns:</a:t>
            </a:r>
          </a:p>
        </p:txBody>
      </p:sp>
      <p:sp>
        <p:nvSpPr>
          <p:cNvPr id="4" name="Slide Number Placeholder 3">
            <a:extLst>
              <a:ext uri="{FF2B5EF4-FFF2-40B4-BE49-F238E27FC236}">
                <a16:creationId xmlns:a16="http://schemas.microsoft.com/office/drawing/2014/main" id="{0198D65A-E5FF-40F5-9A38-3409C5AB8476}"/>
              </a:ext>
            </a:extLst>
          </p:cNvPr>
          <p:cNvSpPr>
            <a:spLocks noGrp="1"/>
          </p:cNvSpPr>
          <p:nvPr>
            <p:ph type="sldNum" sz="quarter" idx="12"/>
          </p:nvPr>
        </p:nvSpPr>
        <p:spPr/>
        <p:txBody>
          <a:bodyPr/>
          <a:lstStyle/>
          <a:p>
            <a:fld id="{6B97D948-30E8-43F7-AE10-F6E2D9F2BBB1}" type="slidenum">
              <a:rPr lang="en-US" smtClean="0"/>
              <a:t>217</a:t>
            </a:fld>
            <a:endParaRPr lang="en-US"/>
          </a:p>
        </p:txBody>
      </p:sp>
    </p:spTree>
    <p:extLst>
      <p:ext uri="{BB962C8B-B14F-4D97-AF65-F5344CB8AC3E}">
        <p14:creationId xmlns:p14="http://schemas.microsoft.com/office/powerpoint/2010/main" val="353039557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BC05AD-D1B9-4039-BF03-CE4115F03C07}"/>
              </a:ext>
            </a:extLst>
          </p:cNvPr>
          <p:cNvSpPr>
            <a:spLocks noGrp="1"/>
          </p:cNvSpPr>
          <p:nvPr>
            <p:ph idx="1"/>
          </p:nvPr>
        </p:nvSpPr>
        <p:spPr>
          <a:xfrm>
            <a:off x="838200" y="338667"/>
            <a:ext cx="10515600" cy="5838296"/>
          </a:xfrm>
        </p:spPr>
        <p:txBody>
          <a:bodyPr>
            <a:normAutofit fontScale="92500" lnSpcReduction="10000"/>
          </a:bodyPr>
          <a:lstStyle/>
          <a:p>
            <a:r>
              <a:rPr lang="en-US" dirty="0" err="1">
                <a:solidFill>
                  <a:srgbClr val="FF0000"/>
                </a:solidFill>
              </a:rPr>
              <a:t>world.iloc</a:t>
            </a:r>
            <a:r>
              <a:rPr lang="en-US" dirty="0">
                <a:solidFill>
                  <a:srgbClr val="FF0000"/>
                </a:solidFill>
              </a:rPr>
              <a:t>[0:2, :]</a:t>
            </a:r>
          </a:p>
          <a:p>
            <a:r>
              <a:rPr lang="en-US" dirty="0"/>
              <a:t>Out[30]:</a:t>
            </a:r>
          </a:p>
          <a:p>
            <a:r>
              <a:rPr lang="en-US" dirty="0"/>
              <a:t>   country      region  gdppcap08  </a:t>
            </a:r>
            <a:r>
              <a:rPr lang="en-US" dirty="0" err="1"/>
              <a:t>polityIV</a:t>
            </a:r>
            <a:endParaRPr lang="en-US" dirty="0"/>
          </a:p>
          <a:p>
            <a:r>
              <a:rPr lang="en-US" dirty="0"/>
              <a:t>0  Albania  C&amp;E Europe       7715      17.8</a:t>
            </a:r>
          </a:p>
          <a:p>
            <a:r>
              <a:rPr lang="en-US" dirty="0"/>
              <a:t>1  Algeria      Africa       8033      10.0</a:t>
            </a:r>
          </a:p>
          <a:p>
            <a:pPr algn="just"/>
            <a:r>
              <a:rPr lang="en-US" dirty="0"/>
              <a:t>If we ONLY pass one set of arguments, though, those will be applied to the first dimension (rows).</a:t>
            </a:r>
          </a:p>
          <a:p>
            <a:pPr algn="just"/>
            <a:r>
              <a:rPr lang="en-US" dirty="0"/>
              <a:t>Thus .</a:t>
            </a:r>
            <a:r>
              <a:rPr lang="en-US" dirty="0" err="1"/>
              <a:t>iloc</a:t>
            </a:r>
            <a:r>
              <a:rPr lang="en-US" dirty="0"/>
              <a:t>[0:2] is the same as .</a:t>
            </a:r>
            <a:r>
              <a:rPr lang="en-US" dirty="0" err="1"/>
              <a:t>iloc</a:t>
            </a:r>
            <a:r>
              <a:rPr lang="en-US" dirty="0"/>
              <a:t>[0:2, :].</a:t>
            </a:r>
          </a:p>
          <a:p>
            <a:pPr algn="just"/>
            <a:r>
              <a:rPr lang="en-US" dirty="0" err="1">
                <a:solidFill>
                  <a:srgbClr val="FF0000"/>
                </a:solidFill>
              </a:rPr>
              <a:t>world.iloc</a:t>
            </a:r>
            <a:r>
              <a:rPr lang="en-US" dirty="0">
                <a:solidFill>
                  <a:srgbClr val="FF0000"/>
                </a:solidFill>
              </a:rPr>
              <a:t>[0:2]</a:t>
            </a:r>
          </a:p>
          <a:p>
            <a:pPr algn="just"/>
            <a:r>
              <a:rPr lang="en-US" dirty="0"/>
              <a:t>Out[31]:</a:t>
            </a:r>
          </a:p>
          <a:p>
            <a:pPr algn="just"/>
            <a:r>
              <a:rPr lang="en-US" dirty="0"/>
              <a:t>   country      region  gdppcap08  </a:t>
            </a:r>
            <a:r>
              <a:rPr lang="en-US" dirty="0" err="1"/>
              <a:t>polityIV</a:t>
            </a:r>
            <a:endParaRPr lang="en-US" dirty="0"/>
          </a:p>
          <a:p>
            <a:pPr algn="just"/>
            <a:r>
              <a:rPr lang="en-US" dirty="0"/>
              <a:t>0  Albania  C&amp;E Europe       7715      17.8</a:t>
            </a:r>
          </a:p>
          <a:p>
            <a:pPr algn="just"/>
            <a:r>
              <a:rPr lang="en-US" dirty="0"/>
              <a:t>1  Algeria      Africa       8033      10.0</a:t>
            </a:r>
          </a:p>
        </p:txBody>
      </p:sp>
      <p:sp>
        <p:nvSpPr>
          <p:cNvPr id="4" name="Slide Number Placeholder 3">
            <a:extLst>
              <a:ext uri="{FF2B5EF4-FFF2-40B4-BE49-F238E27FC236}">
                <a16:creationId xmlns:a16="http://schemas.microsoft.com/office/drawing/2014/main" id="{C40D4BED-4472-402F-A892-5919DA95E7B1}"/>
              </a:ext>
            </a:extLst>
          </p:cNvPr>
          <p:cNvSpPr>
            <a:spLocks noGrp="1"/>
          </p:cNvSpPr>
          <p:nvPr>
            <p:ph type="sldNum" sz="quarter" idx="12"/>
          </p:nvPr>
        </p:nvSpPr>
        <p:spPr/>
        <p:txBody>
          <a:bodyPr/>
          <a:lstStyle/>
          <a:p>
            <a:fld id="{6B97D948-30E8-43F7-AE10-F6E2D9F2BBB1}" type="slidenum">
              <a:rPr lang="en-US" smtClean="0"/>
              <a:t>218</a:t>
            </a:fld>
            <a:endParaRPr lang="en-US"/>
          </a:p>
        </p:txBody>
      </p:sp>
    </p:spTree>
    <p:extLst>
      <p:ext uri="{BB962C8B-B14F-4D97-AF65-F5344CB8AC3E}">
        <p14:creationId xmlns:p14="http://schemas.microsoft.com/office/powerpoint/2010/main" val="155641182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D6DA5A-6843-471E-98E9-DD7CF9341C36}"/>
              </a:ext>
            </a:extLst>
          </p:cNvPr>
          <p:cNvSpPr>
            <a:spLocks noGrp="1"/>
          </p:cNvSpPr>
          <p:nvPr>
            <p:ph idx="1"/>
          </p:nvPr>
        </p:nvSpPr>
        <p:spPr>
          <a:xfrm>
            <a:off x="838200" y="440267"/>
            <a:ext cx="10515600" cy="5736696"/>
          </a:xfrm>
        </p:spPr>
        <p:txBody>
          <a:bodyPr/>
          <a:lstStyle/>
          <a:p>
            <a:r>
              <a:rPr lang="en-US" dirty="0"/>
              <a:t>loc</a:t>
            </a:r>
          </a:p>
          <a:p>
            <a:pPr algn="just"/>
            <a:r>
              <a:rPr lang="en-US" dirty="0"/>
              <a:t>.loc generalized from Series to </a:t>
            </a:r>
            <a:r>
              <a:rPr lang="en-US" dirty="0" err="1"/>
              <a:t>DataFrames</a:t>
            </a:r>
            <a:r>
              <a:rPr lang="en-US" dirty="0"/>
              <a:t> using the same tricks as .</a:t>
            </a:r>
            <a:r>
              <a:rPr lang="en-US" dirty="0" err="1"/>
              <a:t>iloc</a:t>
            </a:r>
            <a:r>
              <a:rPr lang="en-US" dirty="0"/>
              <a:t>:</a:t>
            </a:r>
          </a:p>
          <a:p>
            <a:pPr algn="just"/>
            <a:r>
              <a:rPr lang="en-US" dirty="0"/>
              <a:t>- if you pass two arguments, the first will subset rows (though for .loc, the </a:t>
            </a:r>
            <a:r>
              <a:rPr lang="en-US" dirty="0" err="1"/>
              <a:t>subsetting</a:t>
            </a:r>
            <a:r>
              <a:rPr lang="en-US" dirty="0"/>
              <a:t> is on index values, not row numbers), and </a:t>
            </a:r>
          </a:p>
          <a:p>
            <a:pPr algn="just"/>
            <a:r>
              <a:rPr lang="en-US" dirty="0"/>
              <a:t>- the second will subset columns (again, on column names, not column order).</a:t>
            </a:r>
          </a:p>
          <a:p>
            <a:pPr algn="just"/>
            <a:r>
              <a:rPr lang="en-US" dirty="0" err="1">
                <a:solidFill>
                  <a:srgbClr val="FF0000"/>
                </a:solidFill>
              </a:rPr>
              <a:t>world.loc</a:t>
            </a:r>
            <a:r>
              <a:rPr lang="en-US" dirty="0">
                <a:solidFill>
                  <a:srgbClr val="FF0000"/>
                </a:solidFill>
              </a:rPr>
              <a:t>[1, "country"]</a:t>
            </a:r>
          </a:p>
          <a:p>
            <a:pPr algn="just"/>
            <a:r>
              <a:rPr lang="en-US" dirty="0"/>
              <a:t>Out[32]: 'Algeria’</a:t>
            </a:r>
          </a:p>
          <a:p>
            <a:pPr algn="just"/>
            <a:r>
              <a:rPr lang="en-US" dirty="0"/>
              <a:t>And just like in Series, if you pass a range to .loc, the end points will be included (unlike with most Python functions)</a:t>
            </a:r>
          </a:p>
        </p:txBody>
      </p:sp>
      <p:sp>
        <p:nvSpPr>
          <p:cNvPr id="4" name="Slide Number Placeholder 3">
            <a:extLst>
              <a:ext uri="{FF2B5EF4-FFF2-40B4-BE49-F238E27FC236}">
                <a16:creationId xmlns:a16="http://schemas.microsoft.com/office/drawing/2014/main" id="{7B93B448-264A-4271-90B9-85CCDED8907B}"/>
              </a:ext>
            </a:extLst>
          </p:cNvPr>
          <p:cNvSpPr>
            <a:spLocks noGrp="1"/>
          </p:cNvSpPr>
          <p:nvPr>
            <p:ph type="sldNum" sz="quarter" idx="12"/>
          </p:nvPr>
        </p:nvSpPr>
        <p:spPr/>
        <p:txBody>
          <a:bodyPr/>
          <a:lstStyle/>
          <a:p>
            <a:fld id="{6B97D948-30E8-43F7-AE10-F6E2D9F2BBB1}" type="slidenum">
              <a:rPr lang="en-US" smtClean="0"/>
              <a:t>219</a:t>
            </a:fld>
            <a:endParaRPr lang="en-US"/>
          </a:p>
        </p:txBody>
      </p:sp>
    </p:spTree>
    <p:extLst>
      <p:ext uri="{BB962C8B-B14F-4D97-AF65-F5344CB8AC3E}">
        <p14:creationId xmlns:p14="http://schemas.microsoft.com/office/powerpoint/2010/main" val="245949742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3BC57A-33E5-446A-81B8-56ABDB37EEA5}"/>
              </a:ext>
            </a:extLst>
          </p:cNvPr>
          <p:cNvSpPr>
            <a:spLocks noGrp="1"/>
          </p:cNvSpPr>
          <p:nvPr>
            <p:ph idx="1"/>
          </p:nvPr>
        </p:nvSpPr>
        <p:spPr>
          <a:xfrm>
            <a:off x="838200" y="293511"/>
            <a:ext cx="10515600" cy="5883452"/>
          </a:xfrm>
        </p:spPr>
        <p:txBody>
          <a:bodyPr/>
          <a:lstStyle/>
          <a:p>
            <a:r>
              <a:rPr lang="en-US" dirty="0" err="1">
                <a:solidFill>
                  <a:srgbClr val="FF0000"/>
                </a:solidFill>
              </a:rPr>
              <a:t>world.loc</a:t>
            </a:r>
            <a:r>
              <a:rPr lang="en-US" dirty="0">
                <a:solidFill>
                  <a:srgbClr val="FF0000"/>
                </a:solidFill>
              </a:rPr>
              <a:t>[0:1, "country"]</a:t>
            </a:r>
          </a:p>
          <a:p>
            <a:r>
              <a:rPr lang="en-US" dirty="0"/>
              <a:t>Out[33]:</a:t>
            </a:r>
          </a:p>
          <a:p>
            <a:r>
              <a:rPr lang="en-US" dirty="0"/>
              <a:t>0    Albania</a:t>
            </a:r>
          </a:p>
          <a:p>
            <a:r>
              <a:rPr lang="en-US" dirty="0"/>
              <a:t>1    Algeria</a:t>
            </a:r>
          </a:p>
          <a:p>
            <a:r>
              <a:rPr lang="en-US" dirty="0"/>
              <a:t>Name: country, </a:t>
            </a:r>
            <a:r>
              <a:rPr lang="en-US" dirty="0" err="1"/>
              <a:t>dtype</a:t>
            </a:r>
            <a:r>
              <a:rPr lang="en-US" dirty="0"/>
              <a:t>: object</a:t>
            </a:r>
          </a:p>
        </p:txBody>
      </p:sp>
      <p:sp>
        <p:nvSpPr>
          <p:cNvPr id="4" name="Slide Number Placeholder 3">
            <a:extLst>
              <a:ext uri="{FF2B5EF4-FFF2-40B4-BE49-F238E27FC236}">
                <a16:creationId xmlns:a16="http://schemas.microsoft.com/office/drawing/2014/main" id="{759959E8-F33F-488E-8BB4-0C5C976D2328}"/>
              </a:ext>
            </a:extLst>
          </p:cNvPr>
          <p:cNvSpPr>
            <a:spLocks noGrp="1"/>
          </p:cNvSpPr>
          <p:nvPr>
            <p:ph type="sldNum" sz="quarter" idx="12"/>
          </p:nvPr>
        </p:nvSpPr>
        <p:spPr/>
        <p:txBody>
          <a:bodyPr/>
          <a:lstStyle/>
          <a:p>
            <a:fld id="{6B97D948-30E8-43F7-AE10-F6E2D9F2BBB1}" type="slidenum">
              <a:rPr lang="en-US" smtClean="0"/>
              <a:t>220</a:t>
            </a:fld>
            <a:endParaRPr lang="en-US"/>
          </a:p>
        </p:txBody>
      </p:sp>
    </p:spTree>
    <p:extLst>
      <p:ext uri="{BB962C8B-B14F-4D97-AF65-F5344CB8AC3E}">
        <p14:creationId xmlns:p14="http://schemas.microsoft.com/office/powerpoint/2010/main" val="3577453304"/>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FA52BD-DE32-4939-911F-FE2FD2EB456C}"/>
              </a:ext>
            </a:extLst>
          </p:cNvPr>
          <p:cNvSpPr>
            <a:spLocks noGrp="1"/>
          </p:cNvSpPr>
          <p:nvPr>
            <p:ph idx="1"/>
          </p:nvPr>
        </p:nvSpPr>
        <p:spPr>
          <a:xfrm>
            <a:off x="838200" y="372533"/>
            <a:ext cx="10515600" cy="5804430"/>
          </a:xfrm>
        </p:spPr>
        <p:txBody>
          <a:bodyPr/>
          <a:lstStyle/>
          <a:p>
            <a:pPr algn="just"/>
            <a:r>
              <a:rPr lang="en-US" dirty="0"/>
              <a:t>As with .</a:t>
            </a:r>
            <a:r>
              <a:rPr lang="en-US" dirty="0" err="1"/>
              <a:t>iloc</a:t>
            </a:r>
            <a:r>
              <a:rPr lang="en-US" dirty="0"/>
              <a:t>, if you pass a single argument to .loc, it will subset on the first dimension (rows):</a:t>
            </a:r>
          </a:p>
          <a:p>
            <a:r>
              <a:rPr lang="en-US" dirty="0" err="1">
                <a:solidFill>
                  <a:srgbClr val="FF0000"/>
                </a:solidFill>
              </a:rPr>
              <a:t>world.loc</a:t>
            </a:r>
            <a:r>
              <a:rPr lang="en-US" dirty="0">
                <a:solidFill>
                  <a:srgbClr val="FF0000"/>
                </a:solidFill>
              </a:rPr>
              <a:t>[0:3]</a:t>
            </a:r>
          </a:p>
          <a:p>
            <a:r>
              <a:rPr lang="it-IT" dirty="0"/>
              <a:t>Out[34]:</a:t>
            </a:r>
          </a:p>
          <a:p>
            <a:r>
              <a:rPr lang="it-IT" dirty="0"/>
              <a:t>     country      region  gdppcap08  polityIV</a:t>
            </a:r>
          </a:p>
          <a:p>
            <a:r>
              <a:rPr lang="it-IT" dirty="0"/>
              <a:t>0    Albania  C&amp;E Europe       7715      17.8</a:t>
            </a:r>
          </a:p>
          <a:p>
            <a:r>
              <a:rPr lang="it-IT" dirty="0"/>
              <a:t>1    Algeria      Africa       8033      10.0</a:t>
            </a:r>
          </a:p>
          <a:p>
            <a:r>
              <a:rPr lang="it-IT" dirty="0"/>
              <a:t>2     Angola      Africa       5899       8.0</a:t>
            </a:r>
          </a:p>
          <a:p>
            <a:r>
              <a:rPr lang="it-IT" dirty="0"/>
              <a:t>3  Argentina  S. America      14333      18.0</a:t>
            </a:r>
            <a:endParaRPr lang="en-US" dirty="0"/>
          </a:p>
          <a:p>
            <a:endParaRPr lang="en-US" dirty="0"/>
          </a:p>
        </p:txBody>
      </p:sp>
      <p:sp>
        <p:nvSpPr>
          <p:cNvPr id="4" name="Slide Number Placeholder 3">
            <a:extLst>
              <a:ext uri="{FF2B5EF4-FFF2-40B4-BE49-F238E27FC236}">
                <a16:creationId xmlns:a16="http://schemas.microsoft.com/office/drawing/2014/main" id="{6B354C21-4678-43EB-89C9-75250050B7A7}"/>
              </a:ext>
            </a:extLst>
          </p:cNvPr>
          <p:cNvSpPr>
            <a:spLocks noGrp="1"/>
          </p:cNvSpPr>
          <p:nvPr>
            <p:ph type="sldNum" sz="quarter" idx="12"/>
          </p:nvPr>
        </p:nvSpPr>
        <p:spPr/>
        <p:txBody>
          <a:bodyPr/>
          <a:lstStyle/>
          <a:p>
            <a:fld id="{6B97D948-30E8-43F7-AE10-F6E2D9F2BBB1}" type="slidenum">
              <a:rPr lang="en-US" smtClean="0"/>
              <a:t>221</a:t>
            </a:fld>
            <a:endParaRPr lang="en-US"/>
          </a:p>
        </p:txBody>
      </p:sp>
    </p:spTree>
    <p:extLst>
      <p:ext uri="{BB962C8B-B14F-4D97-AF65-F5344CB8AC3E}">
        <p14:creationId xmlns:p14="http://schemas.microsoft.com/office/powerpoint/2010/main" val="276754890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35281-303D-442A-9754-48C00E6DD2C9}"/>
              </a:ext>
            </a:extLst>
          </p:cNvPr>
          <p:cNvSpPr>
            <a:spLocks noGrp="1"/>
          </p:cNvSpPr>
          <p:nvPr>
            <p:ph type="title"/>
          </p:nvPr>
        </p:nvSpPr>
        <p:spPr>
          <a:xfrm>
            <a:off x="838200" y="365126"/>
            <a:ext cx="10515600" cy="617008"/>
          </a:xfrm>
        </p:spPr>
        <p:txBody>
          <a:bodyPr>
            <a:normAutofit fontScale="90000"/>
          </a:bodyPr>
          <a:lstStyle/>
          <a:p>
            <a:r>
              <a:rPr lang="en-US" dirty="0"/>
              <a:t>Logical Tests on </a:t>
            </a:r>
            <a:r>
              <a:rPr lang="en-US" dirty="0" err="1"/>
              <a:t>DataFrames</a:t>
            </a:r>
            <a:endParaRPr lang="en-US" dirty="0"/>
          </a:p>
        </p:txBody>
      </p:sp>
      <p:sp>
        <p:nvSpPr>
          <p:cNvPr id="3" name="Content Placeholder 2">
            <a:extLst>
              <a:ext uri="{FF2B5EF4-FFF2-40B4-BE49-F238E27FC236}">
                <a16:creationId xmlns:a16="http://schemas.microsoft.com/office/drawing/2014/main" id="{A420E8E8-1A23-47F7-97F2-0B66C6DD973B}"/>
              </a:ext>
            </a:extLst>
          </p:cNvPr>
          <p:cNvSpPr>
            <a:spLocks noGrp="1"/>
          </p:cNvSpPr>
          <p:nvPr>
            <p:ph idx="1"/>
          </p:nvPr>
        </p:nvSpPr>
        <p:spPr>
          <a:xfrm>
            <a:off x="838200" y="982134"/>
            <a:ext cx="10515600" cy="5194829"/>
          </a:xfrm>
        </p:spPr>
        <p:txBody>
          <a:bodyPr>
            <a:normAutofit fontScale="92500" lnSpcReduction="10000"/>
          </a:bodyPr>
          <a:lstStyle/>
          <a:p>
            <a:pPr algn="just"/>
            <a:r>
              <a:rPr lang="en-US" dirty="0" err="1"/>
              <a:t>Subsetting</a:t>
            </a:r>
            <a:r>
              <a:rPr lang="en-US" dirty="0"/>
              <a:t> with logical tests also works in a familiar manner for </a:t>
            </a:r>
            <a:r>
              <a:rPr lang="en-US" dirty="0" err="1"/>
              <a:t>DataFrames</a:t>
            </a:r>
            <a:r>
              <a:rPr lang="en-US" dirty="0"/>
              <a:t>:</a:t>
            </a:r>
          </a:p>
          <a:p>
            <a:pPr algn="just"/>
            <a:r>
              <a:rPr lang="en-US" dirty="0"/>
              <a:t>If you pass a single </a:t>
            </a:r>
            <a:r>
              <a:rPr lang="en-US" dirty="0" err="1"/>
              <a:t>boolean</a:t>
            </a:r>
            <a:r>
              <a:rPr lang="en-US" dirty="0"/>
              <a:t> array to .loc, it will subset on rows.</a:t>
            </a:r>
          </a:p>
          <a:p>
            <a:pPr algn="just"/>
            <a:endParaRPr lang="en-US" dirty="0"/>
          </a:p>
          <a:p>
            <a:pPr algn="just"/>
            <a:r>
              <a:rPr lang="en-US" dirty="0"/>
              <a:t>If the Boolean array has an Index (i.e. if it’s a Series), then alignment will take place on index values.</a:t>
            </a:r>
          </a:p>
          <a:p>
            <a:pPr algn="just"/>
            <a:endParaRPr lang="en-US" dirty="0"/>
          </a:p>
          <a:p>
            <a:pPr algn="just"/>
            <a:r>
              <a:rPr lang="en-US" dirty="0"/>
              <a:t>If the Boolean array does NOT have an index (i.e. it’s a list of Booleans), then alignment will take place on row order.</a:t>
            </a:r>
          </a:p>
          <a:p>
            <a:pPr algn="just"/>
            <a:endParaRPr lang="en-US" dirty="0"/>
          </a:p>
          <a:p>
            <a:pPr algn="just"/>
            <a:r>
              <a:rPr lang="en-US" dirty="0"/>
              <a:t>To subset columns based on a test, you have to use .loc[:, YOUR_TEST_HERE].</a:t>
            </a:r>
          </a:p>
          <a:p>
            <a:pPr algn="just"/>
            <a:endParaRPr lang="en-US" dirty="0"/>
          </a:p>
        </p:txBody>
      </p:sp>
      <p:sp>
        <p:nvSpPr>
          <p:cNvPr id="4" name="Slide Number Placeholder 3">
            <a:extLst>
              <a:ext uri="{FF2B5EF4-FFF2-40B4-BE49-F238E27FC236}">
                <a16:creationId xmlns:a16="http://schemas.microsoft.com/office/drawing/2014/main" id="{CDA5C979-311F-4A89-8551-9D8185F2C271}"/>
              </a:ext>
            </a:extLst>
          </p:cNvPr>
          <p:cNvSpPr>
            <a:spLocks noGrp="1"/>
          </p:cNvSpPr>
          <p:nvPr>
            <p:ph type="sldNum" sz="quarter" idx="12"/>
          </p:nvPr>
        </p:nvSpPr>
        <p:spPr/>
        <p:txBody>
          <a:bodyPr/>
          <a:lstStyle/>
          <a:p>
            <a:fld id="{6B97D948-30E8-43F7-AE10-F6E2D9F2BBB1}" type="slidenum">
              <a:rPr lang="en-US" smtClean="0"/>
              <a:t>222</a:t>
            </a:fld>
            <a:endParaRPr lang="en-US"/>
          </a:p>
        </p:txBody>
      </p:sp>
    </p:spTree>
    <p:extLst>
      <p:ext uri="{BB962C8B-B14F-4D97-AF65-F5344CB8AC3E}">
        <p14:creationId xmlns:p14="http://schemas.microsoft.com/office/powerpoint/2010/main" val="67373782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3F7244-4ED8-4C97-9C47-1EDACE384A81}"/>
              </a:ext>
            </a:extLst>
          </p:cNvPr>
          <p:cNvSpPr>
            <a:spLocks noGrp="1"/>
          </p:cNvSpPr>
          <p:nvPr>
            <p:ph idx="1"/>
          </p:nvPr>
        </p:nvSpPr>
        <p:spPr>
          <a:xfrm>
            <a:off x="838200" y="451556"/>
            <a:ext cx="10515600" cy="5725407"/>
          </a:xfrm>
        </p:spPr>
        <p:txBody>
          <a:bodyPr>
            <a:normAutofit/>
          </a:bodyPr>
          <a:lstStyle/>
          <a:p>
            <a:r>
              <a:rPr lang="en-US" dirty="0"/>
              <a:t> </a:t>
            </a:r>
            <a:r>
              <a:rPr lang="en-US" dirty="0">
                <a:solidFill>
                  <a:srgbClr val="FF0000"/>
                </a:solidFill>
              </a:rPr>
              <a:t>world = </a:t>
            </a:r>
            <a:r>
              <a:rPr lang="en-US" dirty="0" err="1">
                <a:solidFill>
                  <a:srgbClr val="FF0000"/>
                </a:solidFill>
              </a:rPr>
              <a:t>world.sort_values</a:t>
            </a:r>
            <a:r>
              <a:rPr lang="en-US" dirty="0">
                <a:solidFill>
                  <a:srgbClr val="FF0000"/>
                </a:solidFill>
              </a:rPr>
              <a:t>("gdppcap08")</a:t>
            </a:r>
          </a:p>
          <a:p>
            <a:r>
              <a:rPr lang="en-US" dirty="0">
                <a:solidFill>
                  <a:srgbClr val="FF0000"/>
                </a:solidFill>
              </a:rPr>
              <a:t> </a:t>
            </a:r>
            <a:r>
              <a:rPr lang="en-US" dirty="0" err="1">
                <a:solidFill>
                  <a:srgbClr val="FF0000"/>
                </a:solidFill>
              </a:rPr>
              <a:t>world.head</a:t>
            </a:r>
            <a:r>
              <a:rPr lang="en-US" dirty="0">
                <a:solidFill>
                  <a:srgbClr val="FF0000"/>
                </a:solidFill>
              </a:rPr>
              <a:t>()</a:t>
            </a:r>
          </a:p>
          <a:p>
            <a:r>
              <a:rPr lang="en-US" dirty="0"/>
              <a:t>Out[35]:</a:t>
            </a:r>
          </a:p>
          <a:p>
            <a:r>
              <a:rPr lang="en-US" dirty="0"/>
              <a:t>            country           region  gdppcap08  </a:t>
            </a:r>
            <a:r>
              <a:rPr lang="en-US" dirty="0" err="1"/>
              <a:t>polityIV</a:t>
            </a:r>
            <a:endParaRPr lang="en-US" dirty="0"/>
          </a:p>
          <a:p>
            <a:r>
              <a:rPr lang="en-US" dirty="0"/>
              <a:t>144        Zimbabwe     Africa        188       6.0</a:t>
            </a:r>
          </a:p>
          <a:p>
            <a:r>
              <a:rPr lang="en-US" dirty="0"/>
              <a:t>29   Congo Kinshasa   Africa        321      15.0</a:t>
            </a:r>
          </a:p>
          <a:p>
            <a:r>
              <a:rPr lang="en-US" dirty="0"/>
              <a:t>76          Liberia            Africa        388      10.0</a:t>
            </a:r>
          </a:p>
          <a:p>
            <a:r>
              <a:rPr lang="en-US" dirty="0"/>
              <a:t>53    Guinea-Bissau     Africa        538      11.0</a:t>
            </a:r>
          </a:p>
          <a:p>
            <a:r>
              <a:rPr lang="en-US" dirty="0"/>
              <a:t>40          Eritrea            Africa        632       3.0</a:t>
            </a:r>
          </a:p>
        </p:txBody>
      </p:sp>
      <p:sp>
        <p:nvSpPr>
          <p:cNvPr id="4" name="Slide Number Placeholder 3">
            <a:extLst>
              <a:ext uri="{FF2B5EF4-FFF2-40B4-BE49-F238E27FC236}">
                <a16:creationId xmlns:a16="http://schemas.microsoft.com/office/drawing/2014/main" id="{78A2FF00-FCB3-4048-B441-16189699481F}"/>
              </a:ext>
            </a:extLst>
          </p:cNvPr>
          <p:cNvSpPr>
            <a:spLocks noGrp="1"/>
          </p:cNvSpPr>
          <p:nvPr>
            <p:ph type="sldNum" sz="quarter" idx="12"/>
          </p:nvPr>
        </p:nvSpPr>
        <p:spPr/>
        <p:txBody>
          <a:bodyPr/>
          <a:lstStyle/>
          <a:p>
            <a:fld id="{6B97D948-30E8-43F7-AE10-F6E2D9F2BBB1}" type="slidenum">
              <a:rPr lang="en-US" smtClean="0"/>
              <a:t>223</a:t>
            </a:fld>
            <a:endParaRPr lang="en-US"/>
          </a:p>
        </p:txBody>
      </p:sp>
    </p:spTree>
    <p:extLst>
      <p:ext uri="{BB962C8B-B14F-4D97-AF65-F5344CB8AC3E}">
        <p14:creationId xmlns:p14="http://schemas.microsoft.com/office/powerpoint/2010/main" val="588604475"/>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6A10C1-C346-4A3E-8ABE-4D39DF7BEA20}"/>
              </a:ext>
            </a:extLst>
          </p:cNvPr>
          <p:cNvSpPr>
            <a:spLocks noGrp="1"/>
          </p:cNvSpPr>
          <p:nvPr>
            <p:ph idx="1"/>
          </p:nvPr>
        </p:nvSpPr>
        <p:spPr>
          <a:xfrm>
            <a:off x="838200" y="293511"/>
            <a:ext cx="10515600" cy="5883452"/>
          </a:xfrm>
        </p:spPr>
        <p:txBody>
          <a:bodyPr>
            <a:normAutofit/>
          </a:bodyPr>
          <a:lstStyle/>
          <a:p>
            <a:r>
              <a:rPr lang="en-US" dirty="0"/>
              <a:t> # Test with an index -&gt; subset rows, align on index</a:t>
            </a:r>
          </a:p>
          <a:p>
            <a:r>
              <a:rPr lang="en-US" dirty="0" err="1">
                <a:solidFill>
                  <a:srgbClr val="FF0000"/>
                </a:solidFill>
              </a:rPr>
              <a:t>relatively_democratic</a:t>
            </a:r>
            <a:r>
              <a:rPr lang="en-US" dirty="0">
                <a:solidFill>
                  <a:srgbClr val="FF0000"/>
                </a:solidFill>
              </a:rPr>
              <a:t> = </a:t>
            </a:r>
            <a:r>
              <a:rPr lang="en-US" dirty="0" err="1">
                <a:solidFill>
                  <a:srgbClr val="FF0000"/>
                </a:solidFill>
              </a:rPr>
              <a:t>world.loc</a:t>
            </a:r>
            <a:r>
              <a:rPr lang="en-US" dirty="0">
                <a:solidFill>
                  <a:srgbClr val="FF0000"/>
                </a:solidFill>
              </a:rPr>
              <a:t>[world["</a:t>
            </a:r>
            <a:r>
              <a:rPr lang="en-US" dirty="0" err="1">
                <a:solidFill>
                  <a:srgbClr val="FF0000"/>
                </a:solidFill>
              </a:rPr>
              <a:t>polityIV</a:t>
            </a:r>
            <a:r>
              <a:rPr lang="en-US" dirty="0">
                <a:solidFill>
                  <a:srgbClr val="FF0000"/>
                </a:solidFill>
              </a:rPr>
              <a:t>"] &gt; 10]</a:t>
            </a:r>
          </a:p>
          <a:p>
            <a:r>
              <a:rPr lang="en-US" dirty="0" err="1">
                <a:solidFill>
                  <a:srgbClr val="FF0000"/>
                </a:solidFill>
              </a:rPr>
              <a:t>relatively_democratic.head</a:t>
            </a:r>
            <a:r>
              <a:rPr lang="en-US" dirty="0">
                <a:solidFill>
                  <a:srgbClr val="FF0000"/>
                </a:solidFill>
              </a:rPr>
              <a:t>()</a:t>
            </a:r>
          </a:p>
          <a:p>
            <a:r>
              <a:rPr lang="en-US" dirty="0"/>
              <a:t>Out[36]:</a:t>
            </a:r>
          </a:p>
          <a:p>
            <a:r>
              <a:rPr lang="en-US" dirty="0"/>
              <a:t>                      country  region  gdppcap08   </a:t>
            </a:r>
            <a:r>
              <a:rPr lang="en-US" dirty="0" err="1"/>
              <a:t>polityIV</a:t>
            </a:r>
            <a:endParaRPr lang="en-US" dirty="0"/>
          </a:p>
          <a:p>
            <a:r>
              <a:rPr lang="en-US" dirty="0"/>
              <a:t>29             Congo Kinshasa  Africa        321  15.000000</a:t>
            </a:r>
          </a:p>
          <a:p>
            <a:r>
              <a:rPr lang="en-US" dirty="0"/>
              <a:t>53              Guinea-Bissau  Africa        538  11.000000</a:t>
            </a:r>
          </a:p>
          <a:p>
            <a:r>
              <a:rPr lang="en-US" dirty="0"/>
              <a:t>96                      Niger  Africa        684  15.333333</a:t>
            </a:r>
          </a:p>
          <a:p>
            <a:r>
              <a:rPr lang="en-US" dirty="0"/>
              <a:t>22   Central African Republic  Africa        736  10.200000</a:t>
            </a:r>
          </a:p>
          <a:p>
            <a:r>
              <a:rPr lang="en-US" dirty="0"/>
              <a:t>113              Sierra Leone  Africa        766  15.000000</a:t>
            </a:r>
          </a:p>
        </p:txBody>
      </p:sp>
      <p:sp>
        <p:nvSpPr>
          <p:cNvPr id="4" name="Slide Number Placeholder 3">
            <a:extLst>
              <a:ext uri="{FF2B5EF4-FFF2-40B4-BE49-F238E27FC236}">
                <a16:creationId xmlns:a16="http://schemas.microsoft.com/office/drawing/2014/main" id="{18DEB51F-EAF2-469E-B606-1C926ADF5ABC}"/>
              </a:ext>
            </a:extLst>
          </p:cNvPr>
          <p:cNvSpPr>
            <a:spLocks noGrp="1"/>
          </p:cNvSpPr>
          <p:nvPr>
            <p:ph type="sldNum" sz="quarter" idx="12"/>
          </p:nvPr>
        </p:nvSpPr>
        <p:spPr/>
        <p:txBody>
          <a:bodyPr/>
          <a:lstStyle/>
          <a:p>
            <a:fld id="{6B97D948-30E8-43F7-AE10-F6E2D9F2BBB1}" type="slidenum">
              <a:rPr lang="en-US" smtClean="0"/>
              <a:t>224</a:t>
            </a:fld>
            <a:endParaRPr lang="en-US"/>
          </a:p>
        </p:txBody>
      </p:sp>
    </p:spTree>
    <p:extLst>
      <p:ext uri="{BB962C8B-B14F-4D97-AF65-F5344CB8AC3E}">
        <p14:creationId xmlns:p14="http://schemas.microsoft.com/office/powerpoint/2010/main" val="171328425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EAC6C-D94D-4B12-BBDC-09E12B35C9A9}"/>
              </a:ext>
            </a:extLst>
          </p:cNvPr>
          <p:cNvSpPr>
            <a:spLocks noGrp="1"/>
          </p:cNvSpPr>
          <p:nvPr>
            <p:ph type="title"/>
          </p:nvPr>
        </p:nvSpPr>
        <p:spPr>
          <a:xfrm>
            <a:off x="838200" y="365125"/>
            <a:ext cx="10515600" cy="628297"/>
          </a:xfrm>
        </p:spPr>
        <p:txBody>
          <a:bodyPr>
            <a:normAutofit fontScale="90000"/>
          </a:bodyPr>
          <a:lstStyle/>
          <a:p>
            <a:r>
              <a:rPr lang="en-US" dirty="0"/>
              <a:t>[] Square brackets</a:t>
            </a:r>
          </a:p>
        </p:txBody>
      </p:sp>
      <p:sp>
        <p:nvSpPr>
          <p:cNvPr id="3" name="Content Placeholder 2">
            <a:extLst>
              <a:ext uri="{FF2B5EF4-FFF2-40B4-BE49-F238E27FC236}">
                <a16:creationId xmlns:a16="http://schemas.microsoft.com/office/drawing/2014/main" id="{9DDB4AFB-2D6F-4079-B732-64F77A6AA828}"/>
              </a:ext>
            </a:extLst>
          </p:cNvPr>
          <p:cNvSpPr>
            <a:spLocks noGrp="1"/>
          </p:cNvSpPr>
          <p:nvPr>
            <p:ph idx="1"/>
          </p:nvPr>
        </p:nvSpPr>
        <p:spPr>
          <a:xfrm>
            <a:off x="838200" y="993422"/>
            <a:ext cx="10515600" cy="5183541"/>
          </a:xfrm>
        </p:spPr>
        <p:txBody>
          <a:bodyPr>
            <a:normAutofit fontScale="92500" lnSpcReduction="20000"/>
          </a:bodyPr>
          <a:lstStyle/>
          <a:p>
            <a:pPr algn="just"/>
            <a:r>
              <a:rPr lang="en-US" dirty="0"/>
              <a:t>Single square brackets in pandas change their behavior depending on the values you pass them. </a:t>
            </a:r>
          </a:p>
          <a:p>
            <a:pPr algn="just"/>
            <a:r>
              <a:rPr lang="en-US" dirty="0"/>
              <a:t>There is nothing that one can do with square brackets that you can’t do with .loc and .</a:t>
            </a:r>
            <a:r>
              <a:rPr lang="en-US" dirty="0" err="1"/>
              <a:t>iloc</a:t>
            </a:r>
            <a:r>
              <a:rPr lang="en-US" dirty="0"/>
              <a:t>.</a:t>
            </a:r>
          </a:p>
          <a:p>
            <a:pPr algn="just"/>
            <a:r>
              <a:rPr lang="en-US" dirty="0"/>
              <a:t># Select one column</a:t>
            </a:r>
          </a:p>
          <a:p>
            <a:pPr algn="just"/>
            <a:r>
              <a:rPr lang="en-US" dirty="0">
                <a:solidFill>
                  <a:srgbClr val="FF0000"/>
                </a:solidFill>
              </a:rPr>
              <a:t>world["country"].head()</a:t>
            </a:r>
          </a:p>
          <a:p>
            <a:pPr algn="just"/>
            <a:r>
              <a:rPr lang="en-US" dirty="0"/>
              <a:t>Out[37]:</a:t>
            </a:r>
          </a:p>
          <a:p>
            <a:pPr algn="just"/>
            <a:r>
              <a:rPr lang="en-US" dirty="0"/>
              <a:t>144          Zimbabwe</a:t>
            </a:r>
          </a:p>
          <a:p>
            <a:pPr algn="just"/>
            <a:r>
              <a:rPr lang="en-US" dirty="0"/>
              <a:t>29     Congo Kinshasa</a:t>
            </a:r>
          </a:p>
          <a:p>
            <a:pPr algn="just"/>
            <a:r>
              <a:rPr lang="en-US" dirty="0"/>
              <a:t>76            Liberia</a:t>
            </a:r>
          </a:p>
          <a:p>
            <a:pPr algn="just"/>
            <a:r>
              <a:rPr lang="en-US" dirty="0"/>
              <a:t>53      Guinea-Bissau</a:t>
            </a:r>
          </a:p>
          <a:p>
            <a:pPr algn="just"/>
            <a:r>
              <a:rPr lang="en-US" dirty="0"/>
              <a:t>40            Eritrea</a:t>
            </a:r>
          </a:p>
          <a:p>
            <a:pPr algn="just"/>
            <a:r>
              <a:rPr lang="en-US" dirty="0"/>
              <a:t>Name: country, </a:t>
            </a:r>
            <a:r>
              <a:rPr lang="en-US" dirty="0" err="1"/>
              <a:t>dtype</a:t>
            </a:r>
            <a:r>
              <a:rPr lang="en-US" dirty="0"/>
              <a:t>: object</a:t>
            </a:r>
          </a:p>
        </p:txBody>
      </p:sp>
      <p:sp>
        <p:nvSpPr>
          <p:cNvPr id="4" name="Slide Number Placeholder 3">
            <a:extLst>
              <a:ext uri="{FF2B5EF4-FFF2-40B4-BE49-F238E27FC236}">
                <a16:creationId xmlns:a16="http://schemas.microsoft.com/office/drawing/2014/main" id="{14E0879F-979B-4859-BCFF-87AFD8208574}"/>
              </a:ext>
            </a:extLst>
          </p:cNvPr>
          <p:cNvSpPr>
            <a:spLocks noGrp="1"/>
          </p:cNvSpPr>
          <p:nvPr>
            <p:ph type="sldNum" sz="quarter" idx="12"/>
          </p:nvPr>
        </p:nvSpPr>
        <p:spPr/>
        <p:txBody>
          <a:bodyPr/>
          <a:lstStyle/>
          <a:p>
            <a:fld id="{6B97D948-30E8-43F7-AE10-F6E2D9F2BBB1}" type="slidenum">
              <a:rPr lang="en-US" smtClean="0"/>
              <a:t>225</a:t>
            </a:fld>
            <a:endParaRPr lang="en-US"/>
          </a:p>
        </p:txBody>
      </p:sp>
    </p:spTree>
    <p:extLst>
      <p:ext uri="{BB962C8B-B14F-4D97-AF65-F5344CB8AC3E}">
        <p14:creationId xmlns:p14="http://schemas.microsoft.com/office/powerpoint/2010/main" val="117282962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A6DC9-0C7A-4D5D-81B1-86702F2A6014}"/>
              </a:ext>
            </a:extLst>
          </p:cNvPr>
          <p:cNvSpPr>
            <a:spLocks noGrp="1"/>
          </p:cNvSpPr>
          <p:nvPr>
            <p:ph idx="1"/>
          </p:nvPr>
        </p:nvSpPr>
        <p:spPr>
          <a:xfrm>
            <a:off x="838200" y="383822"/>
            <a:ext cx="10515600" cy="5793141"/>
          </a:xfrm>
        </p:spPr>
        <p:txBody>
          <a:bodyPr>
            <a:normAutofit/>
          </a:bodyPr>
          <a:lstStyle/>
          <a:p>
            <a:r>
              <a:rPr lang="en-US" dirty="0"/>
              <a:t># Select multiple columns</a:t>
            </a:r>
          </a:p>
          <a:p>
            <a:r>
              <a:rPr lang="en-US" dirty="0">
                <a:solidFill>
                  <a:srgbClr val="FF0000"/>
                </a:solidFill>
              </a:rPr>
              <a:t>world[["country", "gdppcap08"]].head()</a:t>
            </a:r>
          </a:p>
          <a:p>
            <a:r>
              <a:rPr lang="en-US" dirty="0"/>
              <a:t>Out[38]:</a:t>
            </a:r>
          </a:p>
          <a:p>
            <a:r>
              <a:rPr lang="en-US" dirty="0"/>
              <a:t>            country            gdppcap08</a:t>
            </a:r>
          </a:p>
          <a:p>
            <a:r>
              <a:rPr lang="en-US" dirty="0"/>
              <a:t>144        Zimbabwe        188</a:t>
            </a:r>
          </a:p>
          <a:p>
            <a:r>
              <a:rPr lang="en-US" dirty="0"/>
              <a:t>29   Congo Kinshasa        321</a:t>
            </a:r>
          </a:p>
          <a:p>
            <a:r>
              <a:rPr lang="en-US" dirty="0"/>
              <a:t>76          Liberia         	388</a:t>
            </a:r>
          </a:p>
          <a:p>
            <a:r>
              <a:rPr lang="en-US" dirty="0"/>
              <a:t>53    Guinea-Bissau        538</a:t>
            </a:r>
          </a:p>
          <a:p>
            <a:r>
              <a:rPr lang="en-US" dirty="0"/>
              <a:t>40          Eritrea        	632</a:t>
            </a:r>
          </a:p>
        </p:txBody>
      </p:sp>
      <p:sp>
        <p:nvSpPr>
          <p:cNvPr id="4" name="Slide Number Placeholder 3">
            <a:extLst>
              <a:ext uri="{FF2B5EF4-FFF2-40B4-BE49-F238E27FC236}">
                <a16:creationId xmlns:a16="http://schemas.microsoft.com/office/drawing/2014/main" id="{90B3CED8-6ACF-4A4F-B7BE-5DA51B7A957C}"/>
              </a:ext>
            </a:extLst>
          </p:cNvPr>
          <p:cNvSpPr>
            <a:spLocks noGrp="1"/>
          </p:cNvSpPr>
          <p:nvPr>
            <p:ph type="sldNum" sz="quarter" idx="12"/>
          </p:nvPr>
        </p:nvSpPr>
        <p:spPr/>
        <p:txBody>
          <a:bodyPr/>
          <a:lstStyle/>
          <a:p>
            <a:fld id="{6B97D948-30E8-43F7-AE10-F6E2D9F2BBB1}" type="slidenum">
              <a:rPr lang="en-US" smtClean="0"/>
              <a:t>226</a:t>
            </a:fld>
            <a:endParaRPr lang="en-US"/>
          </a:p>
        </p:txBody>
      </p:sp>
    </p:spTree>
    <p:extLst>
      <p:ext uri="{BB962C8B-B14F-4D97-AF65-F5344CB8AC3E}">
        <p14:creationId xmlns:p14="http://schemas.microsoft.com/office/powerpoint/2010/main" val="3057173996"/>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9BE8E5-95D4-4749-A3AE-75DC3F27B6B6}"/>
              </a:ext>
            </a:extLst>
          </p:cNvPr>
          <p:cNvSpPr>
            <a:spLocks noGrp="1"/>
          </p:cNvSpPr>
          <p:nvPr>
            <p:ph idx="1"/>
          </p:nvPr>
        </p:nvSpPr>
        <p:spPr>
          <a:xfrm>
            <a:off x="838200" y="417689"/>
            <a:ext cx="10515600" cy="5759274"/>
          </a:xfrm>
        </p:spPr>
        <p:txBody>
          <a:bodyPr>
            <a:normAutofit/>
          </a:bodyPr>
          <a:lstStyle/>
          <a:p>
            <a:r>
              <a:rPr lang="en-US" dirty="0"/>
              <a:t># Boolean test</a:t>
            </a:r>
          </a:p>
          <a:p>
            <a:r>
              <a:rPr lang="en-US" dirty="0">
                <a:solidFill>
                  <a:srgbClr val="FF0000"/>
                </a:solidFill>
              </a:rPr>
              <a:t>world[world["gdppcap08"] &gt; 10000].head()</a:t>
            </a:r>
          </a:p>
          <a:p>
            <a:r>
              <a:rPr lang="en-US" dirty="0"/>
              <a:t>Out[40]:</a:t>
            </a:r>
          </a:p>
          <a:p>
            <a:r>
              <a:rPr lang="en-US" dirty="0"/>
              <a:t>          country      	region  	gdppcap08  </a:t>
            </a:r>
            <a:r>
              <a:rPr lang="en-US" dirty="0" err="1"/>
              <a:t>polityIV</a:t>
            </a:r>
            <a:endParaRPr lang="en-US" dirty="0"/>
          </a:p>
          <a:p>
            <a:r>
              <a:rPr lang="en-US" dirty="0"/>
              <a:t>79      Macedonia  C&amp;E Europe      10041      19.0</a:t>
            </a:r>
          </a:p>
          <a:p>
            <a:r>
              <a:rPr lang="en-US" dirty="0"/>
              <a:t>118  South Africa      </a:t>
            </a:r>
            <a:r>
              <a:rPr lang="en-US" dirty="0" err="1"/>
              <a:t>Africa</a:t>
            </a:r>
            <a:r>
              <a:rPr lang="en-US" dirty="0"/>
              <a:t>      	      10109      19.0</a:t>
            </a:r>
          </a:p>
          <a:p>
            <a:r>
              <a:rPr lang="en-US" dirty="0"/>
              <a:t>16         Brazil  	    S. America      10296      18.0</a:t>
            </a:r>
          </a:p>
          <a:p>
            <a:r>
              <a:rPr lang="en-US" dirty="0"/>
              <a:t>30     Costa Rica  	    S. America      11241      20.0</a:t>
            </a:r>
          </a:p>
          <a:p>
            <a:r>
              <a:rPr lang="en-US" dirty="0"/>
              <a:t>68     Kazakhstan      C&amp;E Europe    11315       4.0</a:t>
            </a:r>
          </a:p>
        </p:txBody>
      </p:sp>
      <p:sp>
        <p:nvSpPr>
          <p:cNvPr id="4" name="Slide Number Placeholder 3">
            <a:extLst>
              <a:ext uri="{FF2B5EF4-FFF2-40B4-BE49-F238E27FC236}">
                <a16:creationId xmlns:a16="http://schemas.microsoft.com/office/drawing/2014/main" id="{0CAFD71B-32A7-4DAD-BCF7-E0829607DD8F}"/>
              </a:ext>
            </a:extLst>
          </p:cNvPr>
          <p:cNvSpPr>
            <a:spLocks noGrp="1"/>
          </p:cNvSpPr>
          <p:nvPr>
            <p:ph type="sldNum" sz="quarter" idx="12"/>
          </p:nvPr>
        </p:nvSpPr>
        <p:spPr/>
        <p:txBody>
          <a:bodyPr/>
          <a:lstStyle/>
          <a:p>
            <a:fld id="{6B97D948-30E8-43F7-AE10-F6E2D9F2BBB1}" type="slidenum">
              <a:rPr lang="en-US" smtClean="0"/>
              <a:t>227</a:t>
            </a:fld>
            <a:endParaRPr lang="en-US"/>
          </a:p>
        </p:txBody>
      </p:sp>
    </p:spTree>
    <p:extLst>
      <p:ext uri="{BB962C8B-B14F-4D97-AF65-F5344CB8AC3E}">
        <p14:creationId xmlns:p14="http://schemas.microsoft.com/office/powerpoint/2010/main" val="54202092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C4C4C9-D30E-473E-89AC-65B5CC3D609D}"/>
              </a:ext>
            </a:extLst>
          </p:cNvPr>
          <p:cNvSpPr>
            <a:spLocks noGrp="1"/>
          </p:cNvSpPr>
          <p:nvPr>
            <p:ph idx="1"/>
          </p:nvPr>
        </p:nvSpPr>
        <p:spPr>
          <a:xfrm>
            <a:off x="838200" y="395111"/>
            <a:ext cx="10515600" cy="5781852"/>
          </a:xfrm>
        </p:spPr>
        <p:txBody>
          <a:bodyPr/>
          <a:lstStyle/>
          <a:p>
            <a:r>
              <a:rPr lang="en-US" dirty="0"/>
              <a:t># Slice of rows</a:t>
            </a:r>
          </a:p>
          <a:p>
            <a:r>
              <a:rPr lang="en-US" dirty="0">
                <a:solidFill>
                  <a:srgbClr val="FF0000"/>
                </a:solidFill>
              </a:rPr>
              <a:t>world[0:3]</a:t>
            </a:r>
          </a:p>
          <a:p>
            <a:r>
              <a:rPr lang="en-US" dirty="0"/>
              <a:t>Out[41]:</a:t>
            </a:r>
          </a:p>
          <a:p>
            <a:r>
              <a:rPr lang="en-US" dirty="0"/>
              <a:t>            country  		region  gdppcap08  </a:t>
            </a:r>
            <a:r>
              <a:rPr lang="en-US" dirty="0" err="1"/>
              <a:t>polityIV</a:t>
            </a:r>
            <a:endParaRPr lang="en-US" dirty="0"/>
          </a:p>
          <a:p>
            <a:r>
              <a:rPr lang="en-US" dirty="0"/>
              <a:t>144        Zimbabwe  	Africa        188       6.0</a:t>
            </a:r>
          </a:p>
          <a:p>
            <a:r>
              <a:rPr lang="en-US" dirty="0"/>
              <a:t>29   Congo Kinshasa  	Africa        321      15.0</a:t>
            </a:r>
          </a:p>
          <a:p>
            <a:r>
              <a:rPr lang="en-US" dirty="0"/>
              <a:t>76          Liberia  		Africa        388      10.0</a:t>
            </a:r>
          </a:p>
        </p:txBody>
      </p:sp>
      <p:sp>
        <p:nvSpPr>
          <p:cNvPr id="4" name="Slide Number Placeholder 3">
            <a:extLst>
              <a:ext uri="{FF2B5EF4-FFF2-40B4-BE49-F238E27FC236}">
                <a16:creationId xmlns:a16="http://schemas.microsoft.com/office/drawing/2014/main" id="{982F3910-37AD-4A55-AA4C-5AE9051B3EE8}"/>
              </a:ext>
            </a:extLst>
          </p:cNvPr>
          <p:cNvSpPr>
            <a:spLocks noGrp="1"/>
          </p:cNvSpPr>
          <p:nvPr>
            <p:ph type="sldNum" sz="quarter" idx="12"/>
          </p:nvPr>
        </p:nvSpPr>
        <p:spPr/>
        <p:txBody>
          <a:bodyPr/>
          <a:lstStyle/>
          <a:p>
            <a:fld id="{6B97D948-30E8-43F7-AE10-F6E2D9F2BBB1}" type="slidenum">
              <a:rPr lang="en-US" smtClean="0"/>
              <a:t>228</a:t>
            </a:fld>
            <a:endParaRPr lang="en-US"/>
          </a:p>
        </p:txBody>
      </p:sp>
    </p:spTree>
    <p:extLst>
      <p:ext uri="{BB962C8B-B14F-4D97-AF65-F5344CB8AC3E}">
        <p14:creationId xmlns:p14="http://schemas.microsoft.com/office/powerpoint/2010/main" val="376172781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080C7-2127-41E5-9258-B74C482C8D57}"/>
              </a:ext>
            </a:extLst>
          </p:cNvPr>
          <p:cNvSpPr>
            <a:spLocks noGrp="1"/>
          </p:cNvSpPr>
          <p:nvPr>
            <p:ph type="title"/>
          </p:nvPr>
        </p:nvSpPr>
        <p:spPr>
          <a:xfrm>
            <a:off x="838200" y="365125"/>
            <a:ext cx="10515600" cy="605719"/>
          </a:xfrm>
        </p:spPr>
        <p:txBody>
          <a:bodyPr>
            <a:normAutofit fontScale="90000"/>
          </a:bodyPr>
          <a:lstStyle/>
          <a:p>
            <a:r>
              <a:rPr lang="en-US" dirty="0"/>
              <a:t>Note</a:t>
            </a:r>
          </a:p>
        </p:txBody>
      </p:sp>
      <p:sp>
        <p:nvSpPr>
          <p:cNvPr id="3" name="Content Placeholder 2">
            <a:extLst>
              <a:ext uri="{FF2B5EF4-FFF2-40B4-BE49-F238E27FC236}">
                <a16:creationId xmlns:a16="http://schemas.microsoft.com/office/drawing/2014/main" id="{E57D1767-4AEC-432B-8C4A-4DF964692946}"/>
              </a:ext>
            </a:extLst>
          </p:cNvPr>
          <p:cNvSpPr>
            <a:spLocks noGrp="1"/>
          </p:cNvSpPr>
          <p:nvPr>
            <p:ph idx="1"/>
          </p:nvPr>
        </p:nvSpPr>
        <p:spPr>
          <a:xfrm>
            <a:off x="838200" y="970844"/>
            <a:ext cx="10515600" cy="5206119"/>
          </a:xfrm>
        </p:spPr>
        <p:txBody>
          <a:bodyPr/>
          <a:lstStyle/>
          <a:p>
            <a:r>
              <a:rPr lang="en-US" dirty="0"/>
              <a:t># Slice of rows</a:t>
            </a:r>
          </a:p>
          <a:p>
            <a:r>
              <a:rPr lang="en-US" dirty="0">
                <a:solidFill>
                  <a:srgbClr val="FF0000"/>
                </a:solidFill>
              </a:rPr>
              <a:t>type(world['country'])</a:t>
            </a:r>
          </a:p>
          <a:p>
            <a:r>
              <a:rPr lang="en-US" dirty="0"/>
              <a:t>Out[42]: </a:t>
            </a:r>
            <a:r>
              <a:rPr lang="en-US" dirty="0" err="1"/>
              <a:t>pandas.core.series.Series</a:t>
            </a:r>
            <a:endParaRPr lang="en-US" dirty="0"/>
          </a:p>
          <a:p>
            <a:endParaRPr lang="en-US" dirty="0"/>
          </a:p>
          <a:p>
            <a:r>
              <a:rPr lang="en-US" dirty="0"/>
              <a:t># Slice of rows</a:t>
            </a:r>
          </a:p>
          <a:p>
            <a:r>
              <a:rPr lang="en-US" dirty="0">
                <a:solidFill>
                  <a:srgbClr val="FF0000"/>
                </a:solidFill>
              </a:rPr>
              <a:t>type(world[['country']])</a:t>
            </a:r>
          </a:p>
          <a:p>
            <a:r>
              <a:rPr lang="en-US" dirty="0"/>
              <a:t>Out[43]: </a:t>
            </a:r>
            <a:r>
              <a:rPr lang="en-US" dirty="0" err="1"/>
              <a:t>pandas.core.frame.DataFrame</a:t>
            </a:r>
            <a:endParaRPr lang="en-US" dirty="0"/>
          </a:p>
        </p:txBody>
      </p:sp>
      <p:sp>
        <p:nvSpPr>
          <p:cNvPr id="4" name="Slide Number Placeholder 3">
            <a:extLst>
              <a:ext uri="{FF2B5EF4-FFF2-40B4-BE49-F238E27FC236}">
                <a16:creationId xmlns:a16="http://schemas.microsoft.com/office/drawing/2014/main" id="{0343F961-064E-4871-8EBC-BF710A5B2934}"/>
              </a:ext>
            </a:extLst>
          </p:cNvPr>
          <p:cNvSpPr>
            <a:spLocks noGrp="1"/>
          </p:cNvSpPr>
          <p:nvPr>
            <p:ph type="sldNum" sz="quarter" idx="12"/>
          </p:nvPr>
        </p:nvSpPr>
        <p:spPr/>
        <p:txBody>
          <a:bodyPr/>
          <a:lstStyle/>
          <a:p>
            <a:fld id="{6B97D948-30E8-43F7-AE10-F6E2D9F2BBB1}" type="slidenum">
              <a:rPr lang="en-US" smtClean="0"/>
              <a:t>229</a:t>
            </a:fld>
            <a:endParaRPr lang="en-US"/>
          </a:p>
        </p:txBody>
      </p:sp>
    </p:spTree>
    <p:extLst>
      <p:ext uri="{BB962C8B-B14F-4D97-AF65-F5344CB8AC3E}">
        <p14:creationId xmlns:p14="http://schemas.microsoft.com/office/powerpoint/2010/main" val="428419869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E1ACA-AB88-453E-A79A-F58A58DA541B}"/>
              </a:ext>
            </a:extLst>
          </p:cNvPr>
          <p:cNvSpPr>
            <a:spLocks noGrp="1"/>
          </p:cNvSpPr>
          <p:nvPr>
            <p:ph type="title"/>
          </p:nvPr>
        </p:nvSpPr>
        <p:spPr>
          <a:xfrm>
            <a:off x="838200" y="365126"/>
            <a:ext cx="10515600" cy="662164"/>
          </a:xfrm>
        </p:spPr>
        <p:txBody>
          <a:bodyPr>
            <a:normAutofit fontScale="90000"/>
          </a:bodyPr>
          <a:lstStyle/>
          <a:p>
            <a:r>
              <a:rPr lang="en-US" dirty="0"/>
              <a:t>Data Wrangling</a:t>
            </a:r>
          </a:p>
        </p:txBody>
      </p:sp>
      <p:sp>
        <p:nvSpPr>
          <p:cNvPr id="3" name="Content Placeholder 2">
            <a:extLst>
              <a:ext uri="{FF2B5EF4-FFF2-40B4-BE49-F238E27FC236}">
                <a16:creationId xmlns:a16="http://schemas.microsoft.com/office/drawing/2014/main" id="{E482333C-5904-4532-85BB-ACD7B6C45DAD}"/>
              </a:ext>
            </a:extLst>
          </p:cNvPr>
          <p:cNvSpPr>
            <a:spLocks noGrp="1"/>
          </p:cNvSpPr>
          <p:nvPr>
            <p:ph idx="1"/>
          </p:nvPr>
        </p:nvSpPr>
        <p:spPr>
          <a:xfrm>
            <a:off x="838200" y="1027290"/>
            <a:ext cx="10515600" cy="5149673"/>
          </a:xfrm>
        </p:spPr>
        <p:txBody>
          <a:bodyPr/>
          <a:lstStyle/>
          <a:p>
            <a:pPr algn="just"/>
            <a:r>
              <a:rPr lang="en-US" dirty="0"/>
              <a:t>One of the foundational pillars of data science is data wrangling. </a:t>
            </a:r>
          </a:p>
          <a:p>
            <a:pPr algn="just"/>
            <a:r>
              <a:rPr lang="en-US" dirty="0"/>
              <a:t>Data wrangling (often known as data munging) is the process of </a:t>
            </a:r>
            <a:r>
              <a:rPr lang="en-US" dirty="0">
                <a:solidFill>
                  <a:srgbClr val="FF0000"/>
                </a:solidFill>
              </a:rPr>
              <a:t>transforming raw data into a more digestible and usable format for analysis</a:t>
            </a:r>
            <a:r>
              <a:rPr lang="en-US" dirty="0"/>
              <a:t>. </a:t>
            </a:r>
          </a:p>
          <a:p>
            <a:pPr algn="just"/>
            <a:r>
              <a:rPr lang="en-US" dirty="0"/>
              <a:t>In the context of Python, data wrangling becomes an essential skill for any data enthusiast. </a:t>
            </a:r>
          </a:p>
          <a:p>
            <a:pPr algn="just"/>
            <a:r>
              <a:rPr lang="en-US" dirty="0"/>
              <a:t>It is a ‘must-have’ skill imparting practical knowledge on various data manipulation, import, and summarization techniques. </a:t>
            </a:r>
          </a:p>
          <a:p>
            <a:pPr algn="just"/>
            <a:r>
              <a:rPr lang="en-US" dirty="0"/>
              <a:t>At the end of it all, you will be equipped with the tools and techniques to handle, transform, and visualize data efficiently.</a:t>
            </a:r>
          </a:p>
        </p:txBody>
      </p:sp>
      <p:sp>
        <p:nvSpPr>
          <p:cNvPr id="4" name="Slide Number Placeholder 3">
            <a:extLst>
              <a:ext uri="{FF2B5EF4-FFF2-40B4-BE49-F238E27FC236}">
                <a16:creationId xmlns:a16="http://schemas.microsoft.com/office/drawing/2014/main" id="{2B9E3038-8893-431C-ABA9-FA3C7FE5E2D8}"/>
              </a:ext>
            </a:extLst>
          </p:cNvPr>
          <p:cNvSpPr>
            <a:spLocks noGrp="1"/>
          </p:cNvSpPr>
          <p:nvPr>
            <p:ph type="sldNum" sz="quarter" idx="12"/>
          </p:nvPr>
        </p:nvSpPr>
        <p:spPr/>
        <p:txBody>
          <a:bodyPr/>
          <a:lstStyle/>
          <a:p>
            <a:fld id="{6B97D948-30E8-43F7-AE10-F6E2D9F2BBB1}" type="slidenum">
              <a:rPr lang="en-US" smtClean="0"/>
              <a:t>230</a:t>
            </a:fld>
            <a:endParaRPr lang="en-US"/>
          </a:p>
        </p:txBody>
      </p:sp>
    </p:spTree>
    <p:extLst>
      <p:ext uri="{BB962C8B-B14F-4D97-AF65-F5344CB8AC3E}">
        <p14:creationId xmlns:p14="http://schemas.microsoft.com/office/powerpoint/2010/main" val="285385976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1B1F-E793-4A48-9833-C971CCAAD4E4}"/>
              </a:ext>
            </a:extLst>
          </p:cNvPr>
          <p:cNvSpPr>
            <a:spLocks noGrp="1"/>
          </p:cNvSpPr>
          <p:nvPr>
            <p:ph type="title"/>
          </p:nvPr>
        </p:nvSpPr>
        <p:spPr>
          <a:xfrm>
            <a:off x="838200" y="365126"/>
            <a:ext cx="10515600" cy="741186"/>
          </a:xfrm>
        </p:spPr>
        <p:txBody>
          <a:bodyPr/>
          <a:lstStyle/>
          <a:p>
            <a:r>
              <a:rPr lang="en-US" dirty="0"/>
              <a:t>Identifying Data Problems</a:t>
            </a:r>
          </a:p>
        </p:txBody>
      </p:sp>
      <p:sp>
        <p:nvSpPr>
          <p:cNvPr id="3" name="Content Placeholder 2">
            <a:extLst>
              <a:ext uri="{FF2B5EF4-FFF2-40B4-BE49-F238E27FC236}">
                <a16:creationId xmlns:a16="http://schemas.microsoft.com/office/drawing/2014/main" id="{E579F0DF-50C9-4C7B-84C7-2482B9E57EDD}"/>
              </a:ext>
            </a:extLst>
          </p:cNvPr>
          <p:cNvSpPr>
            <a:spLocks noGrp="1"/>
          </p:cNvSpPr>
          <p:nvPr>
            <p:ph idx="1"/>
          </p:nvPr>
        </p:nvSpPr>
        <p:spPr>
          <a:xfrm>
            <a:off x="838200" y="1106312"/>
            <a:ext cx="10515600" cy="5070651"/>
          </a:xfrm>
        </p:spPr>
        <p:txBody>
          <a:bodyPr/>
          <a:lstStyle/>
          <a:p>
            <a:pPr algn="just"/>
            <a:r>
              <a:rPr lang="en-US" dirty="0"/>
              <a:t>In a totally perfect world, our datasets would all arrive containing only accurate data formatted in exactly the way we need. </a:t>
            </a:r>
          </a:p>
          <a:p>
            <a:pPr algn="just"/>
            <a:r>
              <a:rPr lang="en-US" dirty="0"/>
              <a:t>Unfortunately, that is not the case we would meet in our career.</a:t>
            </a:r>
          </a:p>
          <a:p>
            <a:pPr algn="just"/>
            <a:r>
              <a:rPr lang="en-US" dirty="0"/>
              <a:t>Data is going to be ‘dirty’ because of clumsy data entry, bad translation between data formats, survey participants no particularly careful, the coding errors of other data scientists, etc. </a:t>
            </a:r>
          </a:p>
          <a:p>
            <a:pPr algn="just"/>
            <a:r>
              <a:rPr lang="en-US" dirty="0">
                <a:solidFill>
                  <a:srgbClr val="FF0000"/>
                </a:solidFill>
              </a:rPr>
              <a:t>Messy data is a fact of life</a:t>
            </a:r>
            <a:r>
              <a:rPr lang="en-US" dirty="0"/>
              <a:t>. </a:t>
            </a:r>
          </a:p>
          <a:p>
            <a:pPr algn="just"/>
            <a:r>
              <a:rPr lang="en-US" dirty="0"/>
              <a:t>As a result, a key part of being a data scientist is to learn to (a) seek out and identify data cleanliness problems, and (b) learn to correct them.</a:t>
            </a:r>
          </a:p>
        </p:txBody>
      </p:sp>
      <p:sp>
        <p:nvSpPr>
          <p:cNvPr id="4" name="Slide Number Placeholder 3">
            <a:extLst>
              <a:ext uri="{FF2B5EF4-FFF2-40B4-BE49-F238E27FC236}">
                <a16:creationId xmlns:a16="http://schemas.microsoft.com/office/drawing/2014/main" id="{E70074EF-2D48-4C39-B486-33DB17AE030B}"/>
              </a:ext>
            </a:extLst>
          </p:cNvPr>
          <p:cNvSpPr>
            <a:spLocks noGrp="1"/>
          </p:cNvSpPr>
          <p:nvPr>
            <p:ph type="sldNum" sz="quarter" idx="12"/>
          </p:nvPr>
        </p:nvSpPr>
        <p:spPr/>
        <p:txBody>
          <a:bodyPr/>
          <a:lstStyle/>
          <a:p>
            <a:fld id="{6B97D948-30E8-43F7-AE10-F6E2D9F2BBB1}" type="slidenum">
              <a:rPr lang="en-US" smtClean="0"/>
              <a:t>231</a:t>
            </a:fld>
            <a:endParaRPr lang="en-US"/>
          </a:p>
        </p:txBody>
      </p:sp>
    </p:spTree>
    <p:extLst>
      <p:ext uri="{BB962C8B-B14F-4D97-AF65-F5344CB8AC3E}">
        <p14:creationId xmlns:p14="http://schemas.microsoft.com/office/powerpoint/2010/main" val="322831167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01923-D06F-4D3F-94C8-D59F5622E330}"/>
              </a:ext>
            </a:extLst>
          </p:cNvPr>
          <p:cNvSpPr>
            <a:spLocks noGrp="1"/>
          </p:cNvSpPr>
          <p:nvPr>
            <p:ph type="title"/>
          </p:nvPr>
        </p:nvSpPr>
        <p:spPr>
          <a:xfrm>
            <a:off x="838200" y="365126"/>
            <a:ext cx="10515600" cy="617008"/>
          </a:xfrm>
        </p:spPr>
        <p:txBody>
          <a:bodyPr>
            <a:normAutofit fontScale="90000"/>
          </a:bodyPr>
          <a:lstStyle/>
          <a:p>
            <a:r>
              <a:rPr lang="en-US" dirty="0"/>
              <a:t>Some facts . . . </a:t>
            </a:r>
          </a:p>
        </p:txBody>
      </p:sp>
      <p:sp>
        <p:nvSpPr>
          <p:cNvPr id="3" name="Content Placeholder 2">
            <a:extLst>
              <a:ext uri="{FF2B5EF4-FFF2-40B4-BE49-F238E27FC236}">
                <a16:creationId xmlns:a16="http://schemas.microsoft.com/office/drawing/2014/main" id="{D6F9B811-8CBD-4D11-AEBE-3F9FBFDBE432}"/>
              </a:ext>
            </a:extLst>
          </p:cNvPr>
          <p:cNvSpPr>
            <a:spLocks noGrp="1"/>
          </p:cNvSpPr>
          <p:nvPr>
            <p:ph idx="1"/>
          </p:nvPr>
        </p:nvSpPr>
        <p:spPr>
          <a:xfrm>
            <a:off x="838200" y="982134"/>
            <a:ext cx="10515600" cy="5194829"/>
          </a:xfrm>
        </p:spPr>
        <p:txBody>
          <a:bodyPr/>
          <a:lstStyle/>
          <a:p>
            <a:pPr algn="just"/>
            <a:r>
              <a:rPr lang="en-US" dirty="0"/>
              <a:t>A recent survey by Anaconda found that the average data scientists reported data that wrangling took up about 45% of their time.</a:t>
            </a:r>
          </a:p>
          <a:p>
            <a:pPr algn="just"/>
            <a:endParaRPr lang="en-US" dirty="0"/>
          </a:p>
          <a:p>
            <a:pPr algn="just"/>
            <a:r>
              <a:rPr lang="en-US" dirty="0"/>
              <a:t>Being familiar with data wrangling is important to being a successful data scientist. </a:t>
            </a:r>
          </a:p>
          <a:p>
            <a:pPr algn="just"/>
            <a:r>
              <a:rPr lang="en-US" dirty="0"/>
              <a:t>It is often said that “data scientists spend 80% of their time cleaning data and only 20% doing analyses”.</a:t>
            </a:r>
          </a:p>
          <a:p>
            <a:pPr algn="just"/>
            <a:r>
              <a:rPr lang="en-US" dirty="0"/>
              <a:t> pandas is a powerful tool for identifying problems and cleaning data  before we turn to modeling.</a:t>
            </a:r>
          </a:p>
        </p:txBody>
      </p:sp>
      <p:sp>
        <p:nvSpPr>
          <p:cNvPr id="4" name="Slide Number Placeholder 3">
            <a:extLst>
              <a:ext uri="{FF2B5EF4-FFF2-40B4-BE49-F238E27FC236}">
                <a16:creationId xmlns:a16="http://schemas.microsoft.com/office/drawing/2014/main" id="{99547513-B843-426F-9728-DBCE833615C4}"/>
              </a:ext>
            </a:extLst>
          </p:cNvPr>
          <p:cNvSpPr>
            <a:spLocks noGrp="1"/>
          </p:cNvSpPr>
          <p:nvPr>
            <p:ph type="sldNum" sz="quarter" idx="12"/>
          </p:nvPr>
        </p:nvSpPr>
        <p:spPr/>
        <p:txBody>
          <a:bodyPr/>
          <a:lstStyle/>
          <a:p>
            <a:fld id="{6B97D948-30E8-43F7-AE10-F6E2D9F2BBB1}" type="slidenum">
              <a:rPr lang="en-US" smtClean="0"/>
              <a:t>232</a:t>
            </a:fld>
            <a:endParaRPr lang="en-US"/>
          </a:p>
        </p:txBody>
      </p:sp>
    </p:spTree>
    <p:extLst>
      <p:ext uri="{BB962C8B-B14F-4D97-AF65-F5344CB8AC3E}">
        <p14:creationId xmlns:p14="http://schemas.microsoft.com/office/powerpoint/2010/main" val="205317828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C222-3C56-4299-9224-DC1984229D54}"/>
              </a:ext>
            </a:extLst>
          </p:cNvPr>
          <p:cNvSpPr>
            <a:spLocks noGrp="1"/>
          </p:cNvSpPr>
          <p:nvPr>
            <p:ph type="title"/>
          </p:nvPr>
        </p:nvSpPr>
        <p:spPr>
          <a:xfrm>
            <a:off x="838200" y="365126"/>
            <a:ext cx="10515600" cy="458964"/>
          </a:xfrm>
        </p:spPr>
        <p:txBody>
          <a:bodyPr>
            <a:normAutofit fontScale="90000"/>
          </a:bodyPr>
          <a:lstStyle/>
          <a:p>
            <a:r>
              <a:rPr lang="en-US" dirty="0"/>
              <a:t>Exercise</a:t>
            </a:r>
          </a:p>
        </p:txBody>
      </p:sp>
      <p:sp>
        <p:nvSpPr>
          <p:cNvPr id="3" name="Content Placeholder 2">
            <a:extLst>
              <a:ext uri="{FF2B5EF4-FFF2-40B4-BE49-F238E27FC236}">
                <a16:creationId xmlns:a16="http://schemas.microsoft.com/office/drawing/2014/main" id="{A96E3B02-EFF9-4A0D-8FE3-FF6FC2A513D9}"/>
              </a:ext>
            </a:extLst>
          </p:cNvPr>
          <p:cNvSpPr>
            <a:spLocks noGrp="1"/>
          </p:cNvSpPr>
          <p:nvPr>
            <p:ph idx="1"/>
          </p:nvPr>
        </p:nvSpPr>
        <p:spPr>
          <a:xfrm>
            <a:off x="838200" y="824090"/>
            <a:ext cx="10515600" cy="5352873"/>
          </a:xfrm>
        </p:spPr>
        <p:txBody>
          <a:bodyPr/>
          <a:lstStyle/>
          <a:p>
            <a:pPr algn="just"/>
            <a:r>
              <a:rPr lang="en-US" dirty="0"/>
              <a:t>Suppose you have been asked to calculate the overall employment rate and average incomes for men and women, as well as the employment rate and average income of people in their 30s and 40s. </a:t>
            </a:r>
          </a:p>
          <a:p>
            <a:pPr algn="just"/>
            <a:r>
              <a:rPr lang="en-US" dirty="0"/>
              <a:t>To accomplish this task, we’ve have been handed a 0.1% sample of the US American Community Survey—a representative survey of residents of the United States published by the US Census Bureau. </a:t>
            </a:r>
          </a:p>
          <a:p>
            <a:pPr algn="just"/>
            <a:r>
              <a:rPr lang="en-US" dirty="0"/>
              <a:t>Now, this is real data, and like all real data comes with lots of quirks and oddities we’ll need to navigate.</a:t>
            </a:r>
          </a:p>
          <a:p>
            <a:pPr algn="just"/>
            <a:r>
              <a:rPr lang="en-US" dirty="0"/>
              <a:t>Suppose, we’ve even been told that the variable for gender in the dataset is </a:t>
            </a:r>
            <a:r>
              <a:rPr lang="en-US" dirty="0">
                <a:solidFill>
                  <a:srgbClr val="FF0000"/>
                </a:solidFill>
              </a:rPr>
              <a:t>sex</a:t>
            </a:r>
            <a:r>
              <a:rPr lang="en-US" dirty="0"/>
              <a:t>, the variable for age is </a:t>
            </a:r>
            <a:r>
              <a:rPr lang="en-US" dirty="0">
                <a:solidFill>
                  <a:srgbClr val="FF0000"/>
                </a:solidFill>
              </a:rPr>
              <a:t>age</a:t>
            </a:r>
            <a:r>
              <a:rPr lang="en-US" dirty="0"/>
              <a:t>, the variable for income is </a:t>
            </a:r>
            <a:r>
              <a:rPr lang="en-US" dirty="0" err="1">
                <a:solidFill>
                  <a:srgbClr val="FF0000"/>
                </a:solidFill>
              </a:rPr>
              <a:t>inctot</a:t>
            </a:r>
            <a:r>
              <a:rPr lang="en-US" dirty="0"/>
              <a:t>, and the variable for whether someone is employed is </a:t>
            </a:r>
            <a:r>
              <a:rPr lang="en-US" dirty="0" err="1">
                <a:solidFill>
                  <a:srgbClr val="FF0000"/>
                </a:solidFill>
              </a:rPr>
              <a:t>empstat</a:t>
            </a:r>
            <a:r>
              <a:rPr lang="en-US" dirty="0"/>
              <a:t>. </a:t>
            </a:r>
          </a:p>
          <a:p>
            <a:pPr algn="just"/>
            <a:r>
              <a:rPr lang="en-US" dirty="0"/>
              <a:t>Let’s do it!</a:t>
            </a:r>
          </a:p>
        </p:txBody>
      </p:sp>
      <p:sp>
        <p:nvSpPr>
          <p:cNvPr id="4" name="Slide Number Placeholder 3">
            <a:extLst>
              <a:ext uri="{FF2B5EF4-FFF2-40B4-BE49-F238E27FC236}">
                <a16:creationId xmlns:a16="http://schemas.microsoft.com/office/drawing/2014/main" id="{CC53893B-B955-41CD-8323-976E929AB163}"/>
              </a:ext>
            </a:extLst>
          </p:cNvPr>
          <p:cNvSpPr>
            <a:spLocks noGrp="1"/>
          </p:cNvSpPr>
          <p:nvPr>
            <p:ph type="sldNum" sz="quarter" idx="12"/>
          </p:nvPr>
        </p:nvSpPr>
        <p:spPr/>
        <p:txBody>
          <a:bodyPr/>
          <a:lstStyle/>
          <a:p>
            <a:fld id="{6B97D948-30E8-43F7-AE10-F6E2D9F2BBB1}" type="slidenum">
              <a:rPr lang="en-US" smtClean="0"/>
              <a:t>233</a:t>
            </a:fld>
            <a:endParaRPr lang="en-US"/>
          </a:p>
        </p:txBody>
      </p:sp>
    </p:spTree>
    <p:extLst>
      <p:ext uri="{BB962C8B-B14F-4D97-AF65-F5344CB8AC3E}">
        <p14:creationId xmlns:p14="http://schemas.microsoft.com/office/powerpoint/2010/main" val="29507956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D862-589B-462C-B18B-37236E5ECC9A}"/>
              </a:ext>
            </a:extLst>
          </p:cNvPr>
          <p:cNvSpPr>
            <a:spLocks noGrp="1"/>
          </p:cNvSpPr>
          <p:nvPr>
            <p:ph type="title"/>
          </p:nvPr>
        </p:nvSpPr>
        <p:spPr>
          <a:xfrm>
            <a:off x="838200" y="365126"/>
            <a:ext cx="10515600" cy="515408"/>
          </a:xfrm>
        </p:spPr>
        <p:txBody>
          <a:bodyPr>
            <a:normAutofit fontScale="90000"/>
          </a:bodyPr>
          <a:lstStyle/>
          <a:p>
            <a:r>
              <a:rPr lang="en-US" dirty="0"/>
              <a:t>Code</a:t>
            </a:r>
          </a:p>
        </p:txBody>
      </p:sp>
      <p:sp>
        <p:nvSpPr>
          <p:cNvPr id="3" name="Content Placeholder 2">
            <a:extLst>
              <a:ext uri="{FF2B5EF4-FFF2-40B4-BE49-F238E27FC236}">
                <a16:creationId xmlns:a16="http://schemas.microsoft.com/office/drawing/2014/main" id="{49A08670-A59C-4150-A98B-9EF929E012F7}"/>
              </a:ext>
            </a:extLst>
          </p:cNvPr>
          <p:cNvSpPr>
            <a:spLocks noGrp="1"/>
          </p:cNvSpPr>
          <p:nvPr>
            <p:ph idx="1"/>
          </p:nvPr>
        </p:nvSpPr>
        <p:spPr>
          <a:xfrm>
            <a:off x="838200" y="880534"/>
            <a:ext cx="10515600" cy="5296429"/>
          </a:xfrm>
        </p:spPr>
        <p:txBody>
          <a:bodyPr/>
          <a:lstStyle/>
          <a:p>
            <a:r>
              <a:rPr lang="en-US" dirty="0"/>
              <a:t>import pandas as pd</a:t>
            </a:r>
          </a:p>
          <a:p>
            <a:r>
              <a:rPr lang="en-US" dirty="0"/>
              <a:t>import </a:t>
            </a:r>
            <a:r>
              <a:rPr lang="en-US" dirty="0" err="1"/>
              <a:t>numpy</a:t>
            </a:r>
            <a:r>
              <a:rPr lang="en-US" dirty="0"/>
              <a:t> as np</a:t>
            </a:r>
          </a:p>
          <a:p>
            <a:r>
              <a:rPr lang="en-US" dirty="0" err="1"/>
              <a:t>acs</a:t>
            </a:r>
            <a:r>
              <a:rPr lang="en-US" dirty="0"/>
              <a:t> = </a:t>
            </a:r>
            <a:r>
              <a:rPr lang="en-US" dirty="0" err="1"/>
              <a:t>pd.read_csv</a:t>
            </a:r>
            <a:r>
              <a:rPr lang="en-US" dirty="0"/>
              <a:t>(‘US_ACS_2017_10pct_sample.csv’)</a:t>
            </a:r>
          </a:p>
          <a:p>
            <a:r>
              <a:rPr lang="en-US" dirty="0" err="1"/>
              <a:t>acs.head</a:t>
            </a:r>
            <a:r>
              <a:rPr lang="en-US" dirty="0"/>
              <a:t>()</a:t>
            </a:r>
          </a:p>
          <a:p>
            <a:r>
              <a:rPr lang="en-US" dirty="0" err="1"/>
              <a:t>acs</a:t>
            </a:r>
            <a:r>
              <a:rPr lang="en-US" dirty="0"/>
              <a:t> = </a:t>
            </a:r>
            <a:r>
              <a:rPr lang="en-US" dirty="0" err="1"/>
              <a:t>acs</a:t>
            </a:r>
            <a:r>
              <a:rPr lang="en-US" dirty="0"/>
              <a:t>[[‘year’, ‘sex’, ‘age’, ‘</a:t>
            </a:r>
            <a:r>
              <a:rPr lang="en-US" dirty="0" err="1"/>
              <a:t>inctot</a:t>
            </a:r>
            <a:r>
              <a:rPr lang="en-US" dirty="0"/>
              <a:t>’, ‘</a:t>
            </a:r>
            <a:r>
              <a:rPr lang="en-US" dirty="0" err="1"/>
              <a:t>empstat</a:t>
            </a:r>
            <a:r>
              <a:rPr lang="en-US" dirty="0"/>
              <a:t>’]]</a:t>
            </a:r>
          </a:p>
          <a:p>
            <a:r>
              <a:rPr lang="en-US" dirty="0" err="1"/>
              <a:t>acs.head</a:t>
            </a:r>
            <a:r>
              <a:rPr lang="en-US" dirty="0"/>
              <a:t>()</a:t>
            </a:r>
          </a:p>
        </p:txBody>
      </p:sp>
      <p:sp>
        <p:nvSpPr>
          <p:cNvPr id="4" name="Slide Number Placeholder 3">
            <a:extLst>
              <a:ext uri="{FF2B5EF4-FFF2-40B4-BE49-F238E27FC236}">
                <a16:creationId xmlns:a16="http://schemas.microsoft.com/office/drawing/2014/main" id="{39BBE084-2676-4E4B-876F-256D016129B5}"/>
              </a:ext>
            </a:extLst>
          </p:cNvPr>
          <p:cNvSpPr>
            <a:spLocks noGrp="1"/>
          </p:cNvSpPr>
          <p:nvPr>
            <p:ph type="sldNum" sz="quarter" idx="12"/>
          </p:nvPr>
        </p:nvSpPr>
        <p:spPr/>
        <p:txBody>
          <a:bodyPr/>
          <a:lstStyle/>
          <a:p>
            <a:fld id="{6B97D948-30E8-43F7-AE10-F6E2D9F2BBB1}" type="slidenum">
              <a:rPr lang="en-US" smtClean="0"/>
              <a:t>234</a:t>
            </a:fld>
            <a:endParaRPr lang="en-US"/>
          </a:p>
        </p:txBody>
      </p:sp>
    </p:spTree>
    <p:extLst>
      <p:ext uri="{BB962C8B-B14F-4D97-AF65-F5344CB8AC3E}">
        <p14:creationId xmlns:p14="http://schemas.microsoft.com/office/powerpoint/2010/main" val="16842176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32F542-2899-4B49-BE28-0C448B3670C3}"/>
              </a:ext>
            </a:extLst>
          </p:cNvPr>
          <p:cNvSpPr>
            <a:spLocks noGrp="1"/>
          </p:cNvSpPr>
          <p:nvPr>
            <p:ph idx="1"/>
          </p:nvPr>
        </p:nvSpPr>
        <p:spPr>
          <a:xfrm>
            <a:off x="838200" y="417689"/>
            <a:ext cx="10515600" cy="5759274"/>
          </a:xfrm>
        </p:spPr>
        <p:txBody>
          <a:bodyPr>
            <a:normAutofit lnSpcReduction="10000"/>
          </a:bodyPr>
          <a:lstStyle/>
          <a:p>
            <a:pPr algn="just"/>
            <a:r>
              <a:rPr lang="en-US" dirty="0"/>
              <a:t>Now let’s start to analyze our data. </a:t>
            </a:r>
          </a:p>
          <a:p>
            <a:pPr algn="just"/>
            <a:r>
              <a:rPr lang="en-US" dirty="0"/>
              <a:t>For starters, let’s get warmed up by just getting the average income in our data:</a:t>
            </a:r>
          </a:p>
          <a:p>
            <a:pPr algn="just"/>
            <a:r>
              <a:rPr lang="en-US" dirty="0" err="1">
                <a:solidFill>
                  <a:srgbClr val="FF0000"/>
                </a:solidFill>
              </a:rPr>
              <a:t>acs</a:t>
            </a:r>
            <a:r>
              <a:rPr lang="en-US" dirty="0">
                <a:solidFill>
                  <a:srgbClr val="FF0000"/>
                </a:solidFill>
              </a:rPr>
              <a:t>[‘</a:t>
            </a:r>
            <a:r>
              <a:rPr lang="en-US" dirty="0" err="1">
                <a:solidFill>
                  <a:srgbClr val="FF0000"/>
                </a:solidFill>
              </a:rPr>
              <a:t>inctot</a:t>
            </a:r>
            <a:r>
              <a:rPr lang="en-US" dirty="0">
                <a:solidFill>
                  <a:srgbClr val="FF0000"/>
                </a:solidFill>
              </a:rPr>
              <a:t>’].mean()</a:t>
            </a:r>
          </a:p>
          <a:p>
            <a:pPr algn="just"/>
            <a:r>
              <a:rPr lang="en-US" dirty="0"/>
              <a:t>Out[54]: 1723646.2703978634</a:t>
            </a:r>
          </a:p>
          <a:p>
            <a:pPr algn="just"/>
            <a:r>
              <a:rPr lang="en-US" dirty="0"/>
              <a:t># Made pretty and better formatted:</a:t>
            </a:r>
          </a:p>
          <a:p>
            <a:r>
              <a:rPr lang="en-US" dirty="0">
                <a:solidFill>
                  <a:srgbClr val="FF0000"/>
                </a:solidFill>
              </a:rPr>
              <a:t>print(</a:t>
            </a:r>
            <a:r>
              <a:rPr lang="en-US" dirty="0" err="1">
                <a:solidFill>
                  <a:srgbClr val="FF0000"/>
                </a:solidFill>
              </a:rPr>
              <a:t>f"The</a:t>
            </a:r>
            <a:r>
              <a:rPr lang="en-US" dirty="0">
                <a:solidFill>
                  <a:srgbClr val="FF0000"/>
                </a:solidFill>
              </a:rPr>
              <a:t> average income of Americans is ${</a:t>
            </a:r>
            <a:r>
              <a:rPr lang="en-US" dirty="0" err="1">
                <a:solidFill>
                  <a:srgbClr val="FF0000"/>
                </a:solidFill>
              </a:rPr>
              <a:t>acs</a:t>
            </a:r>
            <a:r>
              <a:rPr lang="en-US" dirty="0">
                <a:solidFill>
                  <a:srgbClr val="FF0000"/>
                </a:solidFill>
              </a:rPr>
              <a:t>['</a:t>
            </a:r>
            <a:r>
              <a:rPr lang="en-US" dirty="0" err="1">
                <a:solidFill>
                  <a:srgbClr val="FF0000"/>
                </a:solidFill>
              </a:rPr>
              <a:t>inctot</a:t>
            </a:r>
            <a:r>
              <a:rPr lang="en-US" dirty="0">
                <a:solidFill>
                  <a:srgbClr val="FF0000"/>
                </a:solidFill>
              </a:rPr>
              <a:t>'].mean():,.2f}")</a:t>
            </a:r>
          </a:p>
          <a:p>
            <a:pPr algn="just"/>
            <a:r>
              <a:rPr lang="en-US" dirty="0"/>
              <a:t>The average income of Americans is $1,723,646.27</a:t>
            </a:r>
          </a:p>
          <a:p>
            <a:pPr algn="just"/>
            <a:r>
              <a:rPr lang="en-US" dirty="0"/>
              <a:t>Let’s look at the mean of the employed.</a:t>
            </a:r>
          </a:p>
          <a:p>
            <a:pPr algn="just"/>
            <a:r>
              <a:rPr lang="en-US" dirty="0">
                <a:solidFill>
                  <a:srgbClr val="FF0000"/>
                </a:solidFill>
              </a:rPr>
              <a:t>(</a:t>
            </a:r>
            <a:r>
              <a:rPr lang="en-US" dirty="0" err="1">
                <a:solidFill>
                  <a:srgbClr val="FF0000"/>
                </a:solidFill>
              </a:rPr>
              <a:t>acs</a:t>
            </a:r>
            <a:r>
              <a:rPr lang="en-US" dirty="0">
                <a:solidFill>
                  <a:srgbClr val="FF0000"/>
                </a:solidFill>
              </a:rPr>
              <a:t>["</a:t>
            </a:r>
            <a:r>
              <a:rPr lang="en-US" dirty="0" err="1">
                <a:solidFill>
                  <a:srgbClr val="FF0000"/>
                </a:solidFill>
              </a:rPr>
              <a:t>empstat</a:t>
            </a:r>
            <a:r>
              <a:rPr lang="en-US" dirty="0">
                <a:solidFill>
                  <a:srgbClr val="FF0000"/>
                </a:solidFill>
              </a:rPr>
              <a:t>"] == "employed").mean()</a:t>
            </a:r>
          </a:p>
          <a:p>
            <a:pPr algn="just"/>
            <a:r>
              <a:rPr lang="en-US" dirty="0"/>
              <a:t>Out[56]: 0.46632017153389926</a:t>
            </a:r>
          </a:p>
          <a:p>
            <a:pPr algn="just"/>
            <a:endParaRPr lang="en-US" dirty="0"/>
          </a:p>
        </p:txBody>
      </p:sp>
      <p:sp>
        <p:nvSpPr>
          <p:cNvPr id="4" name="Slide Number Placeholder 3">
            <a:extLst>
              <a:ext uri="{FF2B5EF4-FFF2-40B4-BE49-F238E27FC236}">
                <a16:creationId xmlns:a16="http://schemas.microsoft.com/office/drawing/2014/main" id="{5DC8CFC3-0F6A-4F1C-88E0-FAD84C4C0424}"/>
              </a:ext>
            </a:extLst>
          </p:cNvPr>
          <p:cNvSpPr>
            <a:spLocks noGrp="1"/>
          </p:cNvSpPr>
          <p:nvPr>
            <p:ph type="sldNum" sz="quarter" idx="12"/>
          </p:nvPr>
        </p:nvSpPr>
        <p:spPr/>
        <p:txBody>
          <a:bodyPr/>
          <a:lstStyle/>
          <a:p>
            <a:fld id="{6B97D948-30E8-43F7-AE10-F6E2D9F2BBB1}" type="slidenum">
              <a:rPr lang="en-US" smtClean="0"/>
              <a:t>235</a:t>
            </a:fld>
            <a:endParaRPr lang="en-US"/>
          </a:p>
        </p:txBody>
      </p:sp>
    </p:spTree>
    <p:extLst>
      <p:ext uri="{BB962C8B-B14F-4D97-AF65-F5344CB8AC3E}">
        <p14:creationId xmlns:p14="http://schemas.microsoft.com/office/powerpoint/2010/main" val="371879902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DD5EA-32F9-4A2F-8CDB-D10667E5D127}"/>
              </a:ext>
            </a:extLst>
          </p:cNvPr>
          <p:cNvSpPr>
            <a:spLocks noGrp="1"/>
          </p:cNvSpPr>
          <p:nvPr>
            <p:ph type="title"/>
          </p:nvPr>
        </p:nvSpPr>
        <p:spPr>
          <a:xfrm>
            <a:off x="838200" y="365125"/>
            <a:ext cx="10515600" cy="594431"/>
          </a:xfrm>
        </p:spPr>
        <p:txBody>
          <a:bodyPr>
            <a:normAutofit fontScale="90000"/>
          </a:bodyPr>
          <a:lstStyle/>
          <a:p>
            <a:r>
              <a:rPr lang="en-US" dirty="0"/>
              <a:t>Introspection Methods</a:t>
            </a:r>
          </a:p>
        </p:txBody>
      </p:sp>
      <p:sp>
        <p:nvSpPr>
          <p:cNvPr id="3" name="Content Placeholder 2">
            <a:extLst>
              <a:ext uri="{FF2B5EF4-FFF2-40B4-BE49-F238E27FC236}">
                <a16:creationId xmlns:a16="http://schemas.microsoft.com/office/drawing/2014/main" id="{0AB4A6F7-FC75-4DE1-826D-CCDD30790FAA}"/>
              </a:ext>
            </a:extLst>
          </p:cNvPr>
          <p:cNvSpPr>
            <a:spLocks noGrp="1"/>
          </p:cNvSpPr>
          <p:nvPr>
            <p:ph idx="1"/>
          </p:nvPr>
        </p:nvSpPr>
        <p:spPr>
          <a:xfrm>
            <a:off x="838200" y="959556"/>
            <a:ext cx="10515600" cy="5217407"/>
          </a:xfrm>
        </p:spPr>
        <p:txBody>
          <a:bodyPr>
            <a:normAutofit fontScale="85000" lnSpcReduction="20000"/>
          </a:bodyPr>
          <a:lstStyle/>
          <a:p>
            <a:pPr algn="just"/>
            <a:r>
              <a:rPr lang="en-US" dirty="0"/>
              <a:t>Some methods are </a:t>
            </a:r>
            <a:r>
              <a:rPr lang="en-US" dirty="0">
                <a:solidFill>
                  <a:srgbClr val="FF0000"/>
                </a:solidFill>
              </a:rPr>
              <a:t>.</a:t>
            </a:r>
            <a:r>
              <a:rPr lang="en-US" dirty="0" err="1">
                <a:solidFill>
                  <a:srgbClr val="FF0000"/>
                </a:solidFill>
              </a:rPr>
              <a:t>value_counts</a:t>
            </a:r>
            <a:r>
              <a:rPr lang="en-US" dirty="0">
                <a:solidFill>
                  <a:srgbClr val="FF0000"/>
                </a:solidFill>
              </a:rPr>
              <a:t>()</a:t>
            </a:r>
            <a:r>
              <a:rPr lang="en-US" dirty="0"/>
              <a:t> and </a:t>
            </a:r>
            <a:r>
              <a:rPr lang="en-US" dirty="0">
                <a:solidFill>
                  <a:srgbClr val="FF0000"/>
                </a:solidFill>
              </a:rPr>
              <a:t>.describe()</a:t>
            </a:r>
            <a:r>
              <a:rPr lang="en-US" dirty="0"/>
              <a:t>. </a:t>
            </a:r>
          </a:p>
          <a:p>
            <a:pPr algn="just"/>
            <a:endParaRPr lang="en-US" dirty="0"/>
          </a:p>
          <a:p>
            <a:pPr algn="just"/>
            <a:r>
              <a:rPr lang="en-US" dirty="0"/>
              <a:t>These are methods to tell you about all the values in a single variable.</a:t>
            </a:r>
          </a:p>
          <a:p>
            <a:pPr algn="just"/>
            <a:r>
              <a:rPr lang="en-US" dirty="0">
                <a:solidFill>
                  <a:srgbClr val="FF0000"/>
                </a:solidFill>
              </a:rPr>
              <a:t>.</a:t>
            </a:r>
            <a:r>
              <a:rPr lang="en-US" dirty="0" err="1">
                <a:solidFill>
                  <a:srgbClr val="FF0000"/>
                </a:solidFill>
              </a:rPr>
              <a:t>value_counts</a:t>
            </a:r>
            <a:r>
              <a:rPr lang="en-US" dirty="0">
                <a:solidFill>
                  <a:srgbClr val="FF0000"/>
                </a:solidFill>
              </a:rPr>
              <a:t>()</a:t>
            </a:r>
            <a:r>
              <a:rPr lang="en-US" dirty="0"/>
              <a:t>, shows all the unique values a variable takes on and the number of occurrences of each value. </a:t>
            </a:r>
          </a:p>
          <a:p>
            <a:pPr algn="just"/>
            <a:r>
              <a:rPr lang="en-US" dirty="0"/>
              <a:t>For example, using </a:t>
            </a:r>
            <a:r>
              <a:rPr lang="en-US" dirty="0" err="1"/>
              <a:t>value_counts</a:t>
            </a:r>
            <a:r>
              <a:rPr lang="en-US" dirty="0"/>
              <a:t>() we can see that </a:t>
            </a:r>
            <a:r>
              <a:rPr lang="en-US" dirty="0" err="1"/>
              <a:t>empstat</a:t>
            </a:r>
            <a:r>
              <a:rPr lang="en-US" dirty="0"/>
              <a:t> takes on 4 values:</a:t>
            </a:r>
          </a:p>
          <a:p>
            <a:pPr algn="just"/>
            <a:r>
              <a:rPr lang="en-US" dirty="0" err="1">
                <a:solidFill>
                  <a:srgbClr val="FF0000"/>
                </a:solidFill>
              </a:rPr>
              <a:t>acs.empstat.value_counts</a:t>
            </a:r>
            <a:r>
              <a:rPr lang="en-US" dirty="0">
                <a:solidFill>
                  <a:srgbClr val="FF0000"/>
                </a:solidFill>
              </a:rPr>
              <a:t>()</a:t>
            </a:r>
          </a:p>
          <a:p>
            <a:pPr algn="just"/>
            <a:r>
              <a:rPr lang="en-US" dirty="0"/>
              <a:t>Out[57]:</a:t>
            </a:r>
          </a:p>
          <a:p>
            <a:pPr algn="just"/>
            <a:r>
              <a:rPr lang="en-US" dirty="0" err="1"/>
              <a:t>empstat</a:t>
            </a:r>
            <a:endParaRPr lang="en-US" dirty="0"/>
          </a:p>
          <a:p>
            <a:pPr algn="just"/>
            <a:r>
              <a:rPr lang="en-US" dirty="0"/>
              <a:t>employed              	148758</a:t>
            </a:r>
          </a:p>
          <a:p>
            <a:pPr algn="just"/>
            <a:r>
              <a:rPr lang="en-US" dirty="0"/>
              <a:t>not in labor force    104676</a:t>
            </a:r>
          </a:p>
          <a:p>
            <a:pPr algn="just"/>
            <a:r>
              <a:rPr lang="en-US" dirty="0"/>
              <a:t>n/a                    	57843</a:t>
            </a:r>
          </a:p>
          <a:p>
            <a:pPr algn="just"/>
            <a:r>
              <a:rPr lang="en-US" dirty="0"/>
              <a:t>unemployed              7727</a:t>
            </a:r>
          </a:p>
        </p:txBody>
      </p:sp>
      <p:sp>
        <p:nvSpPr>
          <p:cNvPr id="4" name="Slide Number Placeholder 3">
            <a:extLst>
              <a:ext uri="{FF2B5EF4-FFF2-40B4-BE49-F238E27FC236}">
                <a16:creationId xmlns:a16="http://schemas.microsoft.com/office/drawing/2014/main" id="{858091A4-4421-44BC-A53D-B26C5E29133C}"/>
              </a:ext>
            </a:extLst>
          </p:cNvPr>
          <p:cNvSpPr>
            <a:spLocks noGrp="1"/>
          </p:cNvSpPr>
          <p:nvPr>
            <p:ph type="sldNum" sz="quarter" idx="12"/>
          </p:nvPr>
        </p:nvSpPr>
        <p:spPr/>
        <p:txBody>
          <a:bodyPr/>
          <a:lstStyle/>
          <a:p>
            <a:fld id="{6B97D948-30E8-43F7-AE10-F6E2D9F2BBB1}" type="slidenum">
              <a:rPr lang="en-US" smtClean="0"/>
              <a:t>236</a:t>
            </a:fld>
            <a:endParaRPr lang="en-US"/>
          </a:p>
        </p:txBody>
      </p:sp>
    </p:spTree>
    <p:extLst>
      <p:ext uri="{BB962C8B-B14F-4D97-AF65-F5344CB8AC3E}">
        <p14:creationId xmlns:p14="http://schemas.microsoft.com/office/powerpoint/2010/main" val="125350120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8A6952-89B2-464F-AB06-517D824B70AC}"/>
              </a:ext>
            </a:extLst>
          </p:cNvPr>
          <p:cNvSpPr>
            <a:spLocks noGrp="1"/>
          </p:cNvSpPr>
          <p:nvPr>
            <p:ph idx="1"/>
          </p:nvPr>
        </p:nvSpPr>
        <p:spPr>
          <a:xfrm>
            <a:off x="838200" y="406400"/>
            <a:ext cx="10515600" cy="5770563"/>
          </a:xfrm>
        </p:spPr>
        <p:txBody>
          <a:bodyPr/>
          <a:lstStyle/>
          <a:p>
            <a:pPr algn="just"/>
            <a:r>
              <a:rPr lang="en-US" dirty="0"/>
              <a:t>To see proportions instead of counts, we pass the keyword </a:t>
            </a:r>
            <a:r>
              <a:rPr lang="en-US" dirty="0">
                <a:solidFill>
                  <a:srgbClr val="FF0000"/>
                </a:solidFill>
              </a:rPr>
              <a:t>normalize=True</a:t>
            </a:r>
            <a:r>
              <a:rPr lang="en-US" dirty="0"/>
              <a:t>.</a:t>
            </a:r>
          </a:p>
          <a:p>
            <a:pPr algn="just"/>
            <a:r>
              <a:rPr lang="en-US" dirty="0" err="1">
                <a:solidFill>
                  <a:srgbClr val="FF0000"/>
                </a:solidFill>
              </a:rPr>
              <a:t>acs.empstat.value_counts</a:t>
            </a:r>
            <a:r>
              <a:rPr lang="en-US" dirty="0">
                <a:solidFill>
                  <a:srgbClr val="FF0000"/>
                </a:solidFill>
              </a:rPr>
              <a:t>(normalize=True)</a:t>
            </a:r>
          </a:p>
          <a:p>
            <a:pPr algn="just"/>
            <a:r>
              <a:rPr lang="en-US" dirty="0"/>
              <a:t>Out[58]:</a:t>
            </a:r>
          </a:p>
          <a:p>
            <a:pPr algn="just"/>
            <a:r>
              <a:rPr lang="en-US" dirty="0" err="1"/>
              <a:t>empstat</a:t>
            </a:r>
            <a:endParaRPr lang="en-US" dirty="0"/>
          </a:p>
          <a:p>
            <a:pPr algn="just"/>
            <a:r>
              <a:rPr lang="en-US" dirty="0"/>
              <a:t>employed              0.466320</a:t>
            </a:r>
          </a:p>
          <a:p>
            <a:pPr algn="just"/>
            <a:r>
              <a:rPr lang="en-US" dirty="0"/>
              <a:t>not in labor force    0.328134</a:t>
            </a:r>
          </a:p>
          <a:p>
            <a:pPr algn="just"/>
            <a:r>
              <a:rPr lang="en-US" dirty="0"/>
              <a:t>n/a                   0.181324</a:t>
            </a:r>
          </a:p>
          <a:p>
            <a:pPr algn="just"/>
            <a:r>
              <a:rPr lang="en-US" dirty="0"/>
              <a:t>unemployed            0.024222</a:t>
            </a:r>
          </a:p>
        </p:txBody>
      </p:sp>
      <p:sp>
        <p:nvSpPr>
          <p:cNvPr id="4" name="Slide Number Placeholder 3">
            <a:extLst>
              <a:ext uri="{FF2B5EF4-FFF2-40B4-BE49-F238E27FC236}">
                <a16:creationId xmlns:a16="http://schemas.microsoft.com/office/drawing/2014/main" id="{1BD15F67-4228-4801-B44F-F79C46FA952F}"/>
              </a:ext>
            </a:extLst>
          </p:cNvPr>
          <p:cNvSpPr>
            <a:spLocks noGrp="1"/>
          </p:cNvSpPr>
          <p:nvPr>
            <p:ph type="sldNum" sz="quarter" idx="12"/>
          </p:nvPr>
        </p:nvSpPr>
        <p:spPr/>
        <p:txBody>
          <a:bodyPr/>
          <a:lstStyle/>
          <a:p>
            <a:fld id="{6B97D948-30E8-43F7-AE10-F6E2D9F2BBB1}" type="slidenum">
              <a:rPr lang="en-US" smtClean="0"/>
              <a:t>237</a:t>
            </a:fld>
            <a:endParaRPr lang="en-US"/>
          </a:p>
        </p:txBody>
      </p:sp>
    </p:spTree>
    <p:extLst>
      <p:ext uri="{BB962C8B-B14F-4D97-AF65-F5344CB8AC3E}">
        <p14:creationId xmlns:p14="http://schemas.microsoft.com/office/powerpoint/2010/main" val="273597375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DDF93E-462C-4F47-8BC6-F82FB987D9D4}"/>
              </a:ext>
            </a:extLst>
          </p:cNvPr>
          <p:cNvSpPr>
            <a:spLocks noGrp="1"/>
          </p:cNvSpPr>
          <p:nvPr>
            <p:ph idx="1"/>
          </p:nvPr>
        </p:nvSpPr>
        <p:spPr>
          <a:xfrm>
            <a:off x="838200" y="541421"/>
            <a:ext cx="10515600" cy="5635542"/>
          </a:xfrm>
        </p:spPr>
        <p:txBody>
          <a:bodyPr>
            <a:normAutofit fontScale="92500" lnSpcReduction="10000"/>
          </a:bodyPr>
          <a:lstStyle/>
          <a:p>
            <a:r>
              <a:rPr lang="en-US" dirty="0">
                <a:solidFill>
                  <a:srgbClr val="FF0000"/>
                </a:solidFill>
              </a:rPr>
              <a:t>.describe()</a:t>
            </a:r>
          </a:p>
          <a:p>
            <a:pPr algn="just"/>
            <a:r>
              <a:rPr lang="en-US" dirty="0"/>
              <a:t>For continuous numeric variables, we use .describe() to provide summary statistics for a variable. </a:t>
            </a:r>
          </a:p>
          <a:p>
            <a:pPr algn="just"/>
            <a:r>
              <a:rPr lang="en-US" dirty="0" err="1">
                <a:solidFill>
                  <a:srgbClr val="FF0000"/>
                </a:solidFill>
              </a:rPr>
              <a:t>acs</a:t>
            </a:r>
            <a:r>
              <a:rPr lang="en-US" dirty="0">
                <a:solidFill>
                  <a:srgbClr val="FF0000"/>
                </a:solidFill>
              </a:rPr>
              <a:t>["</a:t>
            </a:r>
            <a:r>
              <a:rPr lang="en-US" dirty="0" err="1">
                <a:solidFill>
                  <a:srgbClr val="FF0000"/>
                </a:solidFill>
              </a:rPr>
              <a:t>inctot</a:t>
            </a:r>
            <a:r>
              <a:rPr lang="en-US" dirty="0">
                <a:solidFill>
                  <a:srgbClr val="FF0000"/>
                </a:solidFill>
              </a:rPr>
              <a:t>"].describe()</a:t>
            </a:r>
          </a:p>
          <a:p>
            <a:pPr algn="just"/>
            <a:r>
              <a:rPr lang="en-US" dirty="0"/>
              <a:t>Out[59]:</a:t>
            </a:r>
          </a:p>
          <a:p>
            <a:pPr algn="just"/>
            <a:r>
              <a:rPr lang="en-US" dirty="0"/>
              <a:t>count    3.190040e+05</a:t>
            </a:r>
          </a:p>
          <a:p>
            <a:pPr algn="just"/>
            <a:r>
              <a:rPr lang="en-US" dirty="0"/>
              <a:t>mean     1.723646e+06</a:t>
            </a:r>
          </a:p>
          <a:p>
            <a:pPr algn="just"/>
            <a:r>
              <a:rPr lang="en-US" dirty="0"/>
              <a:t>std      3.732326e+06</a:t>
            </a:r>
          </a:p>
          <a:p>
            <a:pPr algn="just"/>
            <a:r>
              <a:rPr lang="en-US" dirty="0"/>
              <a:t>min     -9.000000e+03</a:t>
            </a:r>
          </a:p>
          <a:p>
            <a:pPr algn="just"/>
            <a:r>
              <a:rPr lang="en-US" dirty="0"/>
              <a:t>25%      1.050000e+04</a:t>
            </a:r>
          </a:p>
          <a:p>
            <a:pPr algn="just"/>
            <a:r>
              <a:rPr lang="en-US" dirty="0"/>
              <a:t>50%      3.370000e+04</a:t>
            </a:r>
          </a:p>
          <a:p>
            <a:pPr algn="just"/>
            <a:r>
              <a:rPr lang="en-US" dirty="0"/>
              <a:t>75%      9.140000e+04</a:t>
            </a:r>
          </a:p>
          <a:p>
            <a:pPr algn="just"/>
            <a:r>
              <a:rPr lang="en-US" dirty="0"/>
              <a:t>max      9.999999e+06</a:t>
            </a:r>
          </a:p>
        </p:txBody>
      </p:sp>
      <p:sp>
        <p:nvSpPr>
          <p:cNvPr id="4" name="Slide Number Placeholder 3">
            <a:extLst>
              <a:ext uri="{FF2B5EF4-FFF2-40B4-BE49-F238E27FC236}">
                <a16:creationId xmlns:a16="http://schemas.microsoft.com/office/drawing/2014/main" id="{08D33682-9B48-4A3B-947D-8C38D20C56BE}"/>
              </a:ext>
            </a:extLst>
          </p:cNvPr>
          <p:cNvSpPr>
            <a:spLocks noGrp="1"/>
          </p:cNvSpPr>
          <p:nvPr>
            <p:ph type="sldNum" sz="quarter" idx="12"/>
          </p:nvPr>
        </p:nvSpPr>
        <p:spPr/>
        <p:txBody>
          <a:bodyPr/>
          <a:lstStyle/>
          <a:p>
            <a:fld id="{6B97D948-30E8-43F7-AE10-F6E2D9F2BBB1}" type="slidenum">
              <a:rPr lang="en-US" smtClean="0"/>
              <a:t>238</a:t>
            </a:fld>
            <a:endParaRPr lang="en-US"/>
          </a:p>
        </p:txBody>
      </p:sp>
    </p:spTree>
    <p:extLst>
      <p:ext uri="{BB962C8B-B14F-4D97-AF65-F5344CB8AC3E}">
        <p14:creationId xmlns:p14="http://schemas.microsoft.com/office/powerpoint/2010/main" val="293754257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C4074-5217-4FB0-97CD-B774426076DB}"/>
              </a:ext>
            </a:extLst>
          </p:cNvPr>
          <p:cNvSpPr>
            <a:spLocks noGrp="1"/>
          </p:cNvSpPr>
          <p:nvPr>
            <p:ph type="title"/>
          </p:nvPr>
        </p:nvSpPr>
        <p:spPr>
          <a:xfrm>
            <a:off x="838200" y="365126"/>
            <a:ext cx="10515600" cy="621464"/>
          </a:xfrm>
        </p:spPr>
        <p:txBody>
          <a:bodyPr>
            <a:normAutofit fontScale="90000"/>
          </a:bodyPr>
          <a:lstStyle/>
          <a:p>
            <a:r>
              <a:rPr lang="en-US" dirty="0"/>
              <a:t>Cleaning Data Types</a:t>
            </a:r>
          </a:p>
        </p:txBody>
      </p:sp>
      <p:sp>
        <p:nvSpPr>
          <p:cNvPr id="3" name="Content Placeholder 2">
            <a:extLst>
              <a:ext uri="{FF2B5EF4-FFF2-40B4-BE49-F238E27FC236}">
                <a16:creationId xmlns:a16="http://schemas.microsoft.com/office/drawing/2014/main" id="{81B098CD-9A3E-4E1C-9CAD-7BFE854F2865}"/>
              </a:ext>
            </a:extLst>
          </p:cNvPr>
          <p:cNvSpPr>
            <a:spLocks noGrp="1"/>
          </p:cNvSpPr>
          <p:nvPr>
            <p:ph idx="1"/>
          </p:nvPr>
        </p:nvSpPr>
        <p:spPr>
          <a:xfrm>
            <a:off x="838200" y="986590"/>
            <a:ext cx="10515600" cy="5190373"/>
          </a:xfrm>
        </p:spPr>
        <p:txBody>
          <a:bodyPr>
            <a:normAutofit/>
          </a:bodyPr>
          <a:lstStyle/>
          <a:p>
            <a:pPr algn="just"/>
            <a:r>
              <a:rPr lang="en-US" dirty="0"/>
              <a:t>It is very common to load data that you think should be numeric (say, float64), only to discover that pandas has loaded it as Categorical or Object type.</a:t>
            </a:r>
          </a:p>
          <a:p>
            <a:pPr algn="just"/>
            <a:r>
              <a:rPr lang="en-US" dirty="0"/>
              <a:t>There are restricted operations on some types of data (e.g., mean, median, etc.).</a:t>
            </a:r>
          </a:p>
          <a:p>
            <a:pPr algn="just"/>
            <a:r>
              <a:rPr lang="en-US" dirty="0"/>
              <a:t>There are two main reasons that this can happen:</a:t>
            </a:r>
          </a:p>
          <a:p>
            <a:pPr algn="just"/>
            <a:r>
              <a:rPr lang="en-US" dirty="0"/>
              <a:t>There are observations that are accidentally being parsed as non-numeric, or</a:t>
            </a:r>
          </a:p>
          <a:p>
            <a:pPr algn="just"/>
            <a:endParaRPr lang="en-US" dirty="0"/>
          </a:p>
          <a:p>
            <a:pPr algn="just"/>
            <a:r>
              <a:rPr lang="en-US" dirty="0"/>
              <a:t>There are observations that are deliberately non-numeric you didn’t realize were there.</a:t>
            </a:r>
          </a:p>
          <a:p>
            <a:pPr algn="just"/>
            <a:endParaRPr lang="en-US" dirty="0"/>
          </a:p>
        </p:txBody>
      </p:sp>
      <p:sp>
        <p:nvSpPr>
          <p:cNvPr id="4" name="Slide Number Placeholder 3">
            <a:extLst>
              <a:ext uri="{FF2B5EF4-FFF2-40B4-BE49-F238E27FC236}">
                <a16:creationId xmlns:a16="http://schemas.microsoft.com/office/drawing/2014/main" id="{0B4BE75A-5C58-43AB-84B0-C7BFEC0246D8}"/>
              </a:ext>
            </a:extLst>
          </p:cNvPr>
          <p:cNvSpPr>
            <a:spLocks noGrp="1"/>
          </p:cNvSpPr>
          <p:nvPr>
            <p:ph type="sldNum" sz="quarter" idx="12"/>
          </p:nvPr>
        </p:nvSpPr>
        <p:spPr/>
        <p:txBody>
          <a:bodyPr/>
          <a:lstStyle/>
          <a:p>
            <a:fld id="{6B97D948-30E8-43F7-AE10-F6E2D9F2BBB1}" type="slidenum">
              <a:rPr lang="en-US" smtClean="0"/>
              <a:t>239</a:t>
            </a:fld>
            <a:endParaRPr lang="en-US"/>
          </a:p>
        </p:txBody>
      </p:sp>
    </p:spTree>
    <p:extLst>
      <p:ext uri="{BB962C8B-B14F-4D97-AF65-F5344CB8AC3E}">
        <p14:creationId xmlns:p14="http://schemas.microsoft.com/office/powerpoint/2010/main" val="74387428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51F9D-98E9-4969-8B2D-94A2B0AE3F48}"/>
              </a:ext>
            </a:extLst>
          </p:cNvPr>
          <p:cNvSpPr>
            <a:spLocks noGrp="1"/>
          </p:cNvSpPr>
          <p:nvPr>
            <p:ph type="title"/>
          </p:nvPr>
        </p:nvSpPr>
        <p:spPr>
          <a:xfrm>
            <a:off x="838200" y="365125"/>
            <a:ext cx="10515600" cy="708821"/>
          </a:xfrm>
        </p:spPr>
        <p:txBody>
          <a:bodyPr/>
          <a:lstStyle/>
          <a:p>
            <a:pPr algn="ctr"/>
            <a:r>
              <a:rPr lang="en-US" dirty="0"/>
              <a:t>Visualization</a:t>
            </a:r>
          </a:p>
        </p:txBody>
      </p:sp>
      <p:pic>
        <p:nvPicPr>
          <p:cNvPr id="5" name="Content Placeholder 4">
            <a:extLst>
              <a:ext uri="{FF2B5EF4-FFF2-40B4-BE49-F238E27FC236}">
                <a16:creationId xmlns:a16="http://schemas.microsoft.com/office/drawing/2014/main" id="{08242139-729D-4D23-898F-F48C9B700204}"/>
              </a:ext>
            </a:extLst>
          </p:cNvPr>
          <p:cNvPicPr>
            <a:picLocks noGrp="1" noChangeAspect="1"/>
          </p:cNvPicPr>
          <p:nvPr>
            <p:ph idx="1"/>
          </p:nvPr>
        </p:nvPicPr>
        <p:blipFill>
          <a:blip r:embed="rId2"/>
          <a:stretch>
            <a:fillRect/>
          </a:stretch>
        </p:blipFill>
        <p:spPr>
          <a:xfrm>
            <a:off x="2392701" y="1690689"/>
            <a:ext cx="6489362" cy="4048918"/>
          </a:xfrm>
          <a:prstGeom prst="rect">
            <a:avLst/>
          </a:prstGeom>
        </p:spPr>
      </p:pic>
      <p:sp>
        <p:nvSpPr>
          <p:cNvPr id="4" name="Slide Number Placeholder 3">
            <a:extLst>
              <a:ext uri="{FF2B5EF4-FFF2-40B4-BE49-F238E27FC236}">
                <a16:creationId xmlns:a16="http://schemas.microsoft.com/office/drawing/2014/main" id="{CACA557D-5686-4559-B18F-F042DCFE9C34}"/>
              </a:ext>
            </a:extLst>
          </p:cNvPr>
          <p:cNvSpPr>
            <a:spLocks noGrp="1"/>
          </p:cNvSpPr>
          <p:nvPr>
            <p:ph type="sldNum" sz="quarter" idx="12"/>
          </p:nvPr>
        </p:nvSpPr>
        <p:spPr/>
        <p:txBody>
          <a:bodyPr/>
          <a:lstStyle/>
          <a:p>
            <a:fld id="{6B97D948-30E8-43F7-AE10-F6E2D9F2BBB1}" type="slidenum">
              <a:rPr lang="en-US" smtClean="0"/>
              <a:t>240</a:t>
            </a:fld>
            <a:endParaRPr lang="en-US"/>
          </a:p>
        </p:txBody>
      </p:sp>
    </p:spTree>
    <p:extLst>
      <p:ext uri="{BB962C8B-B14F-4D97-AF65-F5344CB8AC3E}">
        <p14:creationId xmlns:p14="http://schemas.microsoft.com/office/powerpoint/2010/main" val="137340172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A786B-AEB4-43E6-950F-D2F3BAE0D99C}"/>
              </a:ext>
            </a:extLst>
          </p:cNvPr>
          <p:cNvSpPr>
            <a:spLocks noGrp="1"/>
          </p:cNvSpPr>
          <p:nvPr>
            <p:ph type="title"/>
          </p:nvPr>
        </p:nvSpPr>
        <p:spPr>
          <a:xfrm>
            <a:off x="838200" y="365126"/>
            <a:ext cx="10515600" cy="692150"/>
          </a:xfrm>
        </p:spPr>
        <p:txBody>
          <a:bodyPr>
            <a:normAutofit fontScale="90000"/>
          </a:bodyPr>
          <a:lstStyle/>
          <a:p>
            <a:r>
              <a:rPr lang="en-US" dirty="0"/>
              <a:t>Plotting Best Practices</a:t>
            </a:r>
          </a:p>
        </p:txBody>
      </p:sp>
      <p:sp>
        <p:nvSpPr>
          <p:cNvPr id="3" name="Content Placeholder 2">
            <a:extLst>
              <a:ext uri="{FF2B5EF4-FFF2-40B4-BE49-F238E27FC236}">
                <a16:creationId xmlns:a16="http://schemas.microsoft.com/office/drawing/2014/main" id="{F0CF26AA-5BA5-4A52-BBFC-A89A0CFFD3F8}"/>
              </a:ext>
            </a:extLst>
          </p:cNvPr>
          <p:cNvSpPr>
            <a:spLocks noGrp="1"/>
          </p:cNvSpPr>
          <p:nvPr>
            <p:ph idx="1"/>
          </p:nvPr>
        </p:nvSpPr>
        <p:spPr>
          <a:xfrm>
            <a:off x="838200" y="1057276"/>
            <a:ext cx="10515600" cy="5119687"/>
          </a:xfrm>
        </p:spPr>
        <p:txBody>
          <a:bodyPr/>
          <a:lstStyle/>
          <a:p>
            <a:pPr algn="just"/>
            <a:r>
              <a:rPr lang="en-US" dirty="0"/>
              <a:t>Plotting effectively is more than just displaying data accurately.</a:t>
            </a:r>
          </a:p>
          <a:p>
            <a:pPr algn="just"/>
            <a:endParaRPr lang="en-US" dirty="0"/>
          </a:p>
          <a:p>
            <a:pPr algn="just"/>
            <a:r>
              <a:rPr lang="en-US" dirty="0"/>
              <a:t>It’s communicating effectively. </a:t>
            </a:r>
          </a:p>
          <a:p>
            <a:pPr algn="just"/>
            <a:endParaRPr lang="en-US" dirty="0"/>
          </a:p>
          <a:p>
            <a:pPr algn="just"/>
            <a:r>
              <a:rPr lang="en-US" dirty="0"/>
              <a:t>This is a learned skill and likely does not come intuitively to most.</a:t>
            </a:r>
          </a:p>
        </p:txBody>
      </p:sp>
      <p:sp>
        <p:nvSpPr>
          <p:cNvPr id="4" name="Slide Number Placeholder 3">
            <a:extLst>
              <a:ext uri="{FF2B5EF4-FFF2-40B4-BE49-F238E27FC236}">
                <a16:creationId xmlns:a16="http://schemas.microsoft.com/office/drawing/2014/main" id="{8EEA0879-9E61-41C1-8723-045AFCE33543}"/>
              </a:ext>
            </a:extLst>
          </p:cNvPr>
          <p:cNvSpPr>
            <a:spLocks noGrp="1"/>
          </p:cNvSpPr>
          <p:nvPr>
            <p:ph type="sldNum" sz="quarter" idx="12"/>
          </p:nvPr>
        </p:nvSpPr>
        <p:spPr/>
        <p:txBody>
          <a:bodyPr/>
          <a:lstStyle/>
          <a:p>
            <a:fld id="{6B97D948-30E8-43F7-AE10-F6E2D9F2BBB1}" type="slidenum">
              <a:rPr lang="en-US" smtClean="0"/>
              <a:t>241</a:t>
            </a:fld>
            <a:endParaRPr lang="en-US"/>
          </a:p>
        </p:txBody>
      </p:sp>
    </p:spTree>
    <p:extLst>
      <p:ext uri="{BB962C8B-B14F-4D97-AF65-F5344CB8AC3E}">
        <p14:creationId xmlns:p14="http://schemas.microsoft.com/office/powerpoint/2010/main" val="3547903760"/>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8D5BB-3FA4-4E64-8B71-7353DFECDECA}"/>
              </a:ext>
            </a:extLst>
          </p:cNvPr>
          <p:cNvSpPr>
            <a:spLocks noGrp="1"/>
          </p:cNvSpPr>
          <p:nvPr>
            <p:ph type="title"/>
          </p:nvPr>
        </p:nvSpPr>
        <p:spPr>
          <a:xfrm>
            <a:off x="838200" y="365125"/>
            <a:ext cx="10515600" cy="792163"/>
          </a:xfrm>
        </p:spPr>
        <p:txBody>
          <a:bodyPr/>
          <a:lstStyle/>
          <a:p>
            <a:r>
              <a:rPr lang="en-US" dirty="0"/>
              <a:t>Principles of Visualization</a:t>
            </a:r>
          </a:p>
        </p:txBody>
      </p:sp>
      <p:sp>
        <p:nvSpPr>
          <p:cNvPr id="3" name="Content Placeholder 2">
            <a:extLst>
              <a:ext uri="{FF2B5EF4-FFF2-40B4-BE49-F238E27FC236}">
                <a16:creationId xmlns:a16="http://schemas.microsoft.com/office/drawing/2014/main" id="{72486E2B-EE45-4F81-9374-98155D565F9A}"/>
              </a:ext>
            </a:extLst>
          </p:cNvPr>
          <p:cNvSpPr>
            <a:spLocks noGrp="1"/>
          </p:cNvSpPr>
          <p:nvPr>
            <p:ph idx="1"/>
          </p:nvPr>
        </p:nvSpPr>
        <p:spPr>
          <a:xfrm>
            <a:off x="838200" y="1157288"/>
            <a:ext cx="10515600" cy="5019675"/>
          </a:xfrm>
        </p:spPr>
        <p:txBody>
          <a:bodyPr>
            <a:normAutofit lnSpcReduction="10000"/>
          </a:bodyPr>
          <a:lstStyle/>
          <a:p>
            <a:r>
              <a:rPr lang="en-US" dirty="0">
                <a:solidFill>
                  <a:srgbClr val="FF0000"/>
                </a:solidFill>
              </a:rPr>
              <a:t>Focus on your goal</a:t>
            </a:r>
            <a:endParaRPr lang="en-US" dirty="0"/>
          </a:p>
          <a:p>
            <a:pPr algn="just"/>
            <a:r>
              <a:rPr lang="en-US" dirty="0"/>
              <a:t>Every plot should have a communicative purpose, and that purpose is typically either to inform or to persuade (although NEVER to mislead) through evidence. </a:t>
            </a:r>
          </a:p>
          <a:p>
            <a:pPr algn="just"/>
            <a:r>
              <a:rPr lang="en-US" dirty="0"/>
              <a:t>This means that every plot should have a message that it communicates. </a:t>
            </a:r>
          </a:p>
          <a:p>
            <a:pPr algn="just"/>
            <a:endParaRPr lang="en-US" dirty="0"/>
          </a:p>
          <a:p>
            <a:pPr algn="just"/>
            <a:r>
              <a:rPr lang="en-US" dirty="0"/>
              <a:t>Be sure you know what message you want to convey and keep your focus on that message. </a:t>
            </a:r>
          </a:p>
          <a:p>
            <a:pPr algn="just"/>
            <a:endParaRPr lang="en-US" dirty="0"/>
          </a:p>
          <a:p>
            <a:pPr algn="just"/>
            <a:r>
              <a:rPr lang="en-US" dirty="0"/>
              <a:t>If you’re not able to identify your plot’s message, neither will a viewer.</a:t>
            </a:r>
          </a:p>
        </p:txBody>
      </p:sp>
      <p:sp>
        <p:nvSpPr>
          <p:cNvPr id="4" name="Slide Number Placeholder 3">
            <a:extLst>
              <a:ext uri="{FF2B5EF4-FFF2-40B4-BE49-F238E27FC236}">
                <a16:creationId xmlns:a16="http://schemas.microsoft.com/office/drawing/2014/main" id="{587A2902-3408-4710-9689-194025D1D0F2}"/>
              </a:ext>
            </a:extLst>
          </p:cNvPr>
          <p:cNvSpPr>
            <a:spLocks noGrp="1"/>
          </p:cNvSpPr>
          <p:nvPr>
            <p:ph type="sldNum" sz="quarter" idx="12"/>
          </p:nvPr>
        </p:nvSpPr>
        <p:spPr/>
        <p:txBody>
          <a:bodyPr/>
          <a:lstStyle/>
          <a:p>
            <a:fld id="{6B97D948-30E8-43F7-AE10-F6E2D9F2BBB1}" type="slidenum">
              <a:rPr lang="en-US" smtClean="0"/>
              <a:t>242</a:t>
            </a:fld>
            <a:endParaRPr lang="en-US"/>
          </a:p>
        </p:txBody>
      </p:sp>
    </p:spTree>
    <p:extLst>
      <p:ext uri="{BB962C8B-B14F-4D97-AF65-F5344CB8AC3E}">
        <p14:creationId xmlns:p14="http://schemas.microsoft.com/office/powerpoint/2010/main" val="255831918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A962B5-F601-46B4-914B-0D3AE97FAEE7}"/>
              </a:ext>
            </a:extLst>
          </p:cNvPr>
          <p:cNvSpPr>
            <a:spLocks noGrp="1"/>
          </p:cNvSpPr>
          <p:nvPr>
            <p:ph idx="1"/>
          </p:nvPr>
        </p:nvSpPr>
        <p:spPr>
          <a:xfrm>
            <a:off x="838200" y="528638"/>
            <a:ext cx="10515600" cy="5648325"/>
          </a:xfrm>
        </p:spPr>
        <p:txBody>
          <a:bodyPr/>
          <a:lstStyle/>
          <a:p>
            <a:pPr algn="just"/>
            <a:r>
              <a:rPr lang="en-US" dirty="0">
                <a:solidFill>
                  <a:srgbClr val="FF0000"/>
                </a:solidFill>
              </a:rPr>
              <a:t>Know your audience</a:t>
            </a:r>
          </a:p>
          <a:p>
            <a:pPr algn="just"/>
            <a:r>
              <a:rPr lang="en-US" dirty="0"/>
              <a:t>You’re communicating to people with lived experiences.</a:t>
            </a:r>
          </a:p>
          <a:p>
            <a:pPr algn="just"/>
            <a:endParaRPr lang="en-US" dirty="0"/>
          </a:p>
          <a:p>
            <a:pPr algn="just"/>
            <a:r>
              <a:rPr lang="en-US" dirty="0"/>
              <a:t>These experiences may or may not include what you plan to show them with your plot. </a:t>
            </a:r>
          </a:p>
          <a:p>
            <a:pPr algn="just"/>
            <a:endParaRPr lang="en-US" dirty="0"/>
          </a:p>
          <a:p>
            <a:pPr algn="just"/>
            <a:r>
              <a:rPr lang="en-US" dirty="0"/>
              <a:t>Target what you plot and how you plot it, annotate it, and caption it to reach your intended audience and accomplish your goal.</a:t>
            </a:r>
          </a:p>
        </p:txBody>
      </p:sp>
      <p:sp>
        <p:nvSpPr>
          <p:cNvPr id="4" name="Slide Number Placeholder 3">
            <a:extLst>
              <a:ext uri="{FF2B5EF4-FFF2-40B4-BE49-F238E27FC236}">
                <a16:creationId xmlns:a16="http://schemas.microsoft.com/office/drawing/2014/main" id="{6109F3CA-9D48-49C6-AB40-820671B837C6}"/>
              </a:ext>
            </a:extLst>
          </p:cNvPr>
          <p:cNvSpPr>
            <a:spLocks noGrp="1"/>
          </p:cNvSpPr>
          <p:nvPr>
            <p:ph type="sldNum" sz="quarter" idx="12"/>
          </p:nvPr>
        </p:nvSpPr>
        <p:spPr/>
        <p:txBody>
          <a:bodyPr/>
          <a:lstStyle/>
          <a:p>
            <a:fld id="{6B97D948-30E8-43F7-AE10-F6E2D9F2BBB1}" type="slidenum">
              <a:rPr lang="en-US" smtClean="0"/>
              <a:t>243</a:t>
            </a:fld>
            <a:endParaRPr lang="en-US"/>
          </a:p>
        </p:txBody>
      </p:sp>
    </p:spTree>
    <p:extLst>
      <p:ext uri="{BB962C8B-B14F-4D97-AF65-F5344CB8AC3E}">
        <p14:creationId xmlns:p14="http://schemas.microsoft.com/office/powerpoint/2010/main" val="197248947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3268B3-341E-4B74-B2C2-C8BB29DF5BC2}"/>
              </a:ext>
            </a:extLst>
          </p:cNvPr>
          <p:cNvSpPr>
            <a:spLocks noGrp="1"/>
          </p:cNvSpPr>
          <p:nvPr>
            <p:ph idx="1"/>
          </p:nvPr>
        </p:nvSpPr>
        <p:spPr>
          <a:xfrm>
            <a:off x="838200" y="528638"/>
            <a:ext cx="10515600" cy="5648325"/>
          </a:xfrm>
        </p:spPr>
        <p:txBody>
          <a:bodyPr/>
          <a:lstStyle/>
          <a:p>
            <a:pPr algn="just"/>
            <a:r>
              <a:rPr lang="en-US" dirty="0">
                <a:solidFill>
                  <a:srgbClr val="FF0000"/>
                </a:solidFill>
              </a:rPr>
              <a:t>Make it professional</a:t>
            </a:r>
          </a:p>
          <a:p>
            <a:pPr algn="just"/>
            <a:r>
              <a:rPr lang="en-US" dirty="0"/>
              <a:t>Not every plot needs to be beautiful; but every plot that is shared with others should be sufficiently professional for that audience. </a:t>
            </a:r>
          </a:p>
          <a:p>
            <a:pPr algn="just"/>
            <a:endParaRPr lang="en-US" dirty="0"/>
          </a:p>
          <a:p>
            <a:pPr algn="just"/>
            <a:r>
              <a:rPr lang="en-US" dirty="0"/>
              <a:t>If you’re sharing some quick results with colleagues, the plot likely needs to be clean and readable.</a:t>
            </a:r>
          </a:p>
          <a:p>
            <a:pPr algn="just"/>
            <a:endParaRPr lang="en-US" dirty="0"/>
          </a:p>
          <a:p>
            <a:pPr algn="just"/>
            <a:r>
              <a:rPr lang="en-US" dirty="0"/>
              <a:t>If you’re sharing a plot publicly, you want that plot to be a reflection of the level of professionalism that went into the data within it. </a:t>
            </a:r>
          </a:p>
          <a:p>
            <a:pPr algn="just"/>
            <a:endParaRPr lang="en-US" dirty="0"/>
          </a:p>
          <a:p>
            <a:pPr algn="just"/>
            <a:r>
              <a:rPr lang="en-US" dirty="0"/>
              <a:t>This also helps to build trust and credibility.</a:t>
            </a:r>
          </a:p>
        </p:txBody>
      </p:sp>
      <p:sp>
        <p:nvSpPr>
          <p:cNvPr id="4" name="Slide Number Placeholder 3">
            <a:extLst>
              <a:ext uri="{FF2B5EF4-FFF2-40B4-BE49-F238E27FC236}">
                <a16:creationId xmlns:a16="http://schemas.microsoft.com/office/drawing/2014/main" id="{B07F03BF-6F5A-474C-A27C-76EDBEA7F6F8}"/>
              </a:ext>
            </a:extLst>
          </p:cNvPr>
          <p:cNvSpPr>
            <a:spLocks noGrp="1"/>
          </p:cNvSpPr>
          <p:nvPr>
            <p:ph type="sldNum" sz="quarter" idx="12"/>
          </p:nvPr>
        </p:nvSpPr>
        <p:spPr/>
        <p:txBody>
          <a:bodyPr/>
          <a:lstStyle/>
          <a:p>
            <a:fld id="{6B97D948-30E8-43F7-AE10-F6E2D9F2BBB1}" type="slidenum">
              <a:rPr lang="en-US" smtClean="0"/>
              <a:t>244</a:t>
            </a:fld>
            <a:endParaRPr lang="en-US"/>
          </a:p>
        </p:txBody>
      </p:sp>
    </p:spTree>
    <p:extLst>
      <p:ext uri="{BB962C8B-B14F-4D97-AF65-F5344CB8AC3E}">
        <p14:creationId xmlns:p14="http://schemas.microsoft.com/office/powerpoint/2010/main" val="409111967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72CCA-0830-420C-9A6D-851AE927B14E}"/>
              </a:ext>
            </a:extLst>
          </p:cNvPr>
          <p:cNvSpPr>
            <a:spLocks noGrp="1"/>
          </p:cNvSpPr>
          <p:nvPr>
            <p:ph type="title"/>
          </p:nvPr>
        </p:nvSpPr>
        <p:spPr>
          <a:xfrm>
            <a:off x="838200" y="365125"/>
            <a:ext cx="10515600" cy="735013"/>
          </a:xfrm>
        </p:spPr>
        <p:txBody>
          <a:bodyPr/>
          <a:lstStyle/>
          <a:p>
            <a:r>
              <a:rPr lang="en-US" dirty="0"/>
              <a:t>Plotting with matplotlib</a:t>
            </a:r>
          </a:p>
        </p:txBody>
      </p:sp>
      <p:sp>
        <p:nvSpPr>
          <p:cNvPr id="3" name="Content Placeholder 2">
            <a:extLst>
              <a:ext uri="{FF2B5EF4-FFF2-40B4-BE49-F238E27FC236}">
                <a16:creationId xmlns:a16="http://schemas.microsoft.com/office/drawing/2014/main" id="{09F953EA-EDDD-4407-8021-A775B0591630}"/>
              </a:ext>
            </a:extLst>
          </p:cNvPr>
          <p:cNvSpPr>
            <a:spLocks noGrp="1"/>
          </p:cNvSpPr>
          <p:nvPr>
            <p:ph idx="1"/>
          </p:nvPr>
        </p:nvSpPr>
        <p:spPr>
          <a:xfrm>
            <a:off x="838200" y="1100138"/>
            <a:ext cx="10515600" cy="5076825"/>
          </a:xfrm>
        </p:spPr>
        <p:txBody>
          <a:bodyPr/>
          <a:lstStyle/>
          <a:p>
            <a:pPr algn="just"/>
            <a:r>
              <a:rPr lang="en-US" dirty="0"/>
              <a:t>We came across the basic plotting features of matplotlib.</a:t>
            </a:r>
          </a:p>
          <a:p>
            <a:pPr algn="just"/>
            <a:endParaRPr lang="en-US" dirty="0"/>
          </a:p>
          <a:p>
            <a:pPr algn="just"/>
            <a:r>
              <a:rPr lang="en-US" dirty="0"/>
              <a:t>However, advanced plotting and customization requires a deeper knowledge of this plotting tool. </a:t>
            </a:r>
          </a:p>
          <a:p>
            <a:pPr algn="just"/>
            <a:endParaRPr lang="en-US" dirty="0"/>
          </a:p>
          <a:p>
            <a:pPr algn="just"/>
            <a:r>
              <a:rPr lang="en-US" dirty="0"/>
              <a:t>Becoming proficient with using matplotlib is well-worth it, since many Python data science tools and APIs use matplotlib as a native plotting tool, including pandas and </a:t>
            </a:r>
            <a:r>
              <a:rPr lang="en-US" dirty="0" err="1"/>
              <a:t>xarray</a:t>
            </a:r>
            <a:r>
              <a:rPr lang="en-US" dirty="0"/>
              <a:t>.</a:t>
            </a:r>
          </a:p>
        </p:txBody>
      </p:sp>
      <p:sp>
        <p:nvSpPr>
          <p:cNvPr id="4" name="Slide Number Placeholder 3">
            <a:extLst>
              <a:ext uri="{FF2B5EF4-FFF2-40B4-BE49-F238E27FC236}">
                <a16:creationId xmlns:a16="http://schemas.microsoft.com/office/drawing/2014/main" id="{AFBB4549-B38D-46A2-A03D-785FA0E3F189}"/>
              </a:ext>
            </a:extLst>
          </p:cNvPr>
          <p:cNvSpPr>
            <a:spLocks noGrp="1"/>
          </p:cNvSpPr>
          <p:nvPr>
            <p:ph type="sldNum" sz="quarter" idx="12"/>
          </p:nvPr>
        </p:nvSpPr>
        <p:spPr/>
        <p:txBody>
          <a:bodyPr/>
          <a:lstStyle/>
          <a:p>
            <a:fld id="{6B97D948-30E8-43F7-AE10-F6E2D9F2BBB1}" type="slidenum">
              <a:rPr lang="en-US" smtClean="0"/>
              <a:t>245</a:t>
            </a:fld>
            <a:endParaRPr lang="en-US"/>
          </a:p>
        </p:txBody>
      </p:sp>
    </p:spTree>
    <p:extLst>
      <p:ext uri="{BB962C8B-B14F-4D97-AF65-F5344CB8AC3E}">
        <p14:creationId xmlns:p14="http://schemas.microsoft.com/office/powerpoint/2010/main" val="297311431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B88D-CA04-40B4-A022-812BAD91A1AF}"/>
              </a:ext>
            </a:extLst>
          </p:cNvPr>
          <p:cNvSpPr>
            <a:spLocks noGrp="1"/>
          </p:cNvSpPr>
          <p:nvPr>
            <p:ph type="title"/>
          </p:nvPr>
        </p:nvSpPr>
        <p:spPr>
          <a:xfrm>
            <a:off x="838200" y="365126"/>
            <a:ext cx="10515600" cy="706438"/>
          </a:xfrm>
        </p:spPr>
        <p:txBody>
          <a:bodyPr/>
          <a:lstStyle/>
          <a:p>
            <a:r>
              <a:rPr lang="en-US" dirty="0"/>
              <a:t>Basic Plotting</a:t>
            </a:r>
          </a:p>
        </p:txBody>
      </p:sp>
      <p:sp>
        <p:nvSpPr>
          <p:cNvPr id="3" name="Content Placeholder 2">
            <a:extLst>
              <a:ext uri="{FF2B5EF4-FFF2-40B4-BE49-F238E27FC236}">
                <a16:creationId xmlns:a16="http://schemas.microsoft.com/office/drawing/2014/main" id="{579771CB-AF61-449C-9932-AE4ECEFE6417}"/>
              </a:ext>
            </a:extLst>
          </p:cNvPr>
          <p:cNvSpPr>
            <a:spLocks noGrp="1"/>
          </p:cNvSpPr>
          <p:nvPr>
            <p:ph idx="1"/>
          </p:nvPr>
        </p:nvSpPr>
        <p:spPr>
          <a:xfrm>
            <a:off x="838200" y="1071564"/>
            <a:ext cx="10515600" cy="5105399"/>
          </a:xfrm>
        </p:spPr>
        <p:txBody>
          <a:bodyPr>
            <a:normAutofit fontScale="92500" lnSpcReduction="10000"/>
          </a:bodyPr>
          <a:lstStyle/>
          <a:p>
            <a:r>
              <a:rPr lang="en-US" dirty="0"/>
              <a:t># Create some data to plot</a:t>
            </a:r>
          </a:p>
          <a:p>
            <a:r>
              <a:rPr lang="en-US" dirty="0">
                <a:solidFill>
                  <a:srgbClr val="FF0000"/>
                </a:solidFill>
              </a:rPr>
              <a:t>x = [1, 2, 3, 4, 5]</a:t>
            </a:r>
          </a:p>
          <a:p>
            <a:r>
              <a:rPr lang="en-US" dirty="0">
                <a:solidFill>
                  <a:srgbClr val="FF0000"/>
                </a:solidFill>
              </a:rPr>
              <a:t>y = [1, -2, 3, -4, 5]</a:t>
            </a:r>
          </a:p>
          <a:p>
            <a:pPr algn="just"/>
            <a:r>
              <a:rPr lang="en-US" dirty="0"/>
              <a:t> We start by importing the </a:t>
            </a:r>
            <a:r>
              <a:rPr lang="en-US" dirty="0" err="1">
                <a:solidFill>
                  <a:srgbClr val="FF0000"/>
                </a:solidFill>
              </a:rPr>
              <a:t>pyplot</a:t>
            </a:r>
            <a:r>
              <a:rPr lang="en-US" dirty="0"/>
              <a:t> module from the </a:t>
            </a:r>
            <a:r>
              <a:rPr lang="en-US" dirty="0">
                <a:solidFill>
                  <a:srgbClr val="FF0000"/>
                </a:solidFill>
              </a:rPr>
              <a:t>matplotlib package</a:t>
            </a:r>
            <a:r>
              <a:rPr lang="en-US" dirty="0"/>
              <a:t>. </a:t>
            </a:r>
          </a:p>
          <a:p>
            <a:pPr algn="just"/>
            <a:r>
              <a:rPr lang="en-US" dirty="0"/>
              <a:t>As a convention we import it as </a:t>
            </a:r>
            <a:r>
              <a:rPr lang="en-US" dirty="0" err="1">
                <a:solidFill>
                  <a:srgbClr val="FF0000"/>
                </a:solidFill>
              </a:rPr>
              <a:t>plt</a:t>
            </a:r>
            <a:r>
              <a:rPr lang="en-US" dirty="0"/>
              <a:t> with the command </a:t>
            </a:r>
          </a:p>
          <a:p>
            <a:pPr algn="just"/>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p>
          <a:p>
            <a:pPr algn="just"/>
            <a:r>
              <a:rPr lang="en-US" dirty="0"/>
              <a:t>You’ll want to start every plotting session with this command. </a:t>
            </a:r>
          </a:p>
          <a:p>
            <a:pPr algn="just"/>
            <a:r>
              <a:rPr lang="en-US" dirty="0"/>
              <a:t>The next step is to create our canvas on which we’ll add out plots. </a:t>
            </a:r>
          </a:p>
          <a:p>
            <a:pPr algn="just"/>
            <a:r>
              <a:rPr lang="en-US" dirty="0"/>
              <a:t>We can use </a:t>
            </a:r>
            <a:r>
              <a:rPr lang="en-US" dirty="0" err="1"/>
              <a:t>plt.subplots</a:t>
            </a:r>
            <a:r>
              <a:rPr lang="en-US" dirty="0"/>
              <a:t>() to create a figure that contains a set of axes on which to place the plot through the command </a:t>
            </a:r>
          </a:p>
          <a:p>
            <a:r>
              <a:rPr lang="en-US" dirty="0">
                <a:solidFill>
                  <a:srgbClr val="FF0000"/>
                </a:solidFill>
              </a:rPr>
              <a:t>fig, ax = </a:t>
            </a:r>
            <a:r>
              <a:rPr lang="en-US" dirty="0" err="1">
                <a:solidFill>
                  <a:srgbClr val="FF0000"/>
                </a:solidFill>
              </a:rPr>
              <a:t>plt.subplots</a:t>
            </a:r>
            <a:r>
              <a:rPr lang="en-US" dirty="0">
                <a:solidFill>
                  <a:srgbClr val="FF0000"/>
                </a:solidFill>
              </a:rPr>
              <a:t>()</a:t>
            </a:r>
          </a:p>
        </p:txBody>
      </p:sp>
      <p:sp>
        <p:nvSpPr>
          <p:cNvPr id="4" name="Slide Number Placeholder 3">
            <a:extLst>
              <a:ext uri="{FF2B5EF4-FFF2-40B4-BE49-F238E27FC236}">
                <a16:creationId xmlns:a16="http://schemas.microsoft.com/office/drawing/2014/main" id="{0BD46482-4303-46DA-B699-4A0784D36FE0}"/>
              </a:ext>
            </a:extLst>
          </p:cNvPr>
          <p:cNvSpPr>
            <a:spLocks noGrp="1"/>
          </p:cNvSpPr>
          <p:nvPr>
            <p:ph type="sldNum" sz="quarter" idx="12"/>
          </p:nvPr>
        </p:nvSpPr>
        <p:spPr/>
        <p:txBody>
          <a:bodyPr/>
          <a:lstStyle/>
          <a:p>
            <a:fld id="{6B97D948-30E8-43F7-AE10-F6E2D9F2BBB1}" type="slidenum">
              <a:rPr lang="en-US" smtClean="0"/>
              <a:t>246</a:t>
            </a:fld>
            <a:endParaRPr lang="en-US"/>
          </a:p>
        </p:txBody>
      </p:sp>
    </p:spTree>
    <p:extLst>
      <p:ext uri="{BB962C8B-B14F-4D97-AF65-F5344CB8AC3E}">
        <p14:creationId xmlns:p14="http://schemas.microsoft.com/office/powerpoint/2010/main" val="7883494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7D9D73-71F8-4D86-B1A7-2EE787A97A9E}"/>
              </a:ext>
            </a:extLst>
          </p:cNvPr>
          <p:cNvSpPr>
            <a:spLocks noGrp="1"/>
          </p:cNvSpPr>
          <p:nvPr>
            <p:ph idx="1"/>
          </p:nvPr>
        </p:nvSpPr>
        <p:spPr>
          <a:xfrm>
            <a:off x="838200" y="442913"/>
            <a:ext cx="10515600" cy="5734050"/>
          </a:xfrm>
        </p:spPr>
        <p:txBody>
          <a:bodyPr/>
          <a:lstStyle/>
          <a:p>
            <a:pPr algn="just"/>
            <a:r>
              <a:rPr lang="en-US" dirty="0"/>
              <a:t>Then, we can create a line plot of the data on the specified axes using </a:t>
            </a:r>
          </a:p>
          <a:p>
            <a:pPr algn="just"/>
            <a:r>
              <a:rPr lang="en-US" dirty="0" err="1">
                <a:solidFill>
                  <a:srgbClr val="FF0000"/>
                </a:solidFill>
              </a:rPr>
              <a:t>ax.plot</a:t>
            </a:r>
            <a:r>
              <a:rPr lang="en-US" dirty="0">
                <a:solidFill>
                  <a:srgbClr val="FF0000"/>
                </a:solidFill>
              </a:rPr>
              <a:t>(</a:t>
            </a:r>
            <a:r>
              <a:rPr lang="en-US" dirty="0" err="1">
                <a:solidFill>
                  <a:srgbClr val="FF0000"/>
                </a:solidFill>
              </a:rPr>
              <a:t>x,y</a:t>
            </a:r>
            <a:r>
              <a:rPr lang="en-US" dirty="0">
                <a:solidFill>
                  <a:srgbClr val="FF0000"/>
                </a:solidFill>
              </a:rPr>
              <a:t>)</a:t>
            </a:r>
            <a:r>
              <a:rPr lang="en-US" dirty="0"/>
              <a:t> </a:t>
            </a:r>
          </a:p>
          <a:p>
            <a:pPr algn="just"/>
            <a:r>
              <a:rPr lang="en-US" dirty="0"/>
              <a:t>Lastly, we specify that the plot be rendered on the screen using </a:t>
            </a:r>
          </a:p>
          <a:p>
            <a:pPr algn="just"/>
            <a:r>
              <a:rPr lang="en-US" dirty="0" err="1">
                <a:solidFill>
                  <a:srgbClr val="FF0000"/>
                </a:solidFill>
              </a:rPr>
              <a:t>plt.show</a:t>
            </a:r>
            <a:r>
              <a:rPr lang="en-US" dirty="0">
                <a:solidFill>
                  <a:srgbClr val="FF0000"/>
                </a:solidFill>
              </a:rPr>
              <a:t>()</a:t>
            </a:r>
          </a:p>
          <a:p>
            <a:pPr algn="just"/>
            <a:endParaRPr lang="en-US" dirty="0">
              <a:solidFill>
                <a:srgbClr val="FF0000"/>
              </a:solidFill>
            </a:endParaRPr>
          </a:p>
          <a:p>
            <a:pPr algn="just"/>
            <a:r>
              <a:rPr lang="en-US" dirty="0"/>
              <a:t>In place of the above, we can use %matplotlib in </a:t>
            </a:r>
            <a:r>
              <a:rPr lang="en-US" dirty="0" err="1"/>
              <a:t>ipython</a:t>
            </a:r>
            <a:r>
              <a:rPr lang="en-US" dirty="0"/>
              <a:t> and %matplotlib inline in </a:t>
            </a:r>
            <a:r>
              <a:rPr lang="en-US" dirty="0" err="1"/>
              <a:t>Jupyter</a:t>
            </a:r>
            <a:r>
              <a:rPr lang="en-US" dirty="0"/>
              <a:t>.</a:t>
            </a:r>
          </a:p>
          <a:p>
            <a:pPr algn="just"/>
            <a:endParaRPr lang="en-US" dirty="0"/>
          </a:p>
          <a:p>
            <a:pPr algn="just"/>
            <a:r>
              <a:rPr lang="en-US" dirty="0"/>
              <a:t>This last item is not always required in an interactive terminal or in </a:t>
            </a:r>
            <a:r>
              <a:rPr lang="en-US" dirty="0" err="1"/>
              <a:t>Jupyter</a:t>
            </a:r>
            <a:r>
              <a:rPr lang="en-US" dirty="0"/>
              <a:t> notebooks, but is generally required to guarantee the plot is displayed.</a:t>
            </a:r>
          </a:p>
        </p:txBody>
      </p:sp>
      <p:sp>
        <p:nvSpPr>
          <p:cNvPr id="4" name="Slide Number Placeholder 3">
            <a:extLst>
              <a:ext uri="{FF2B5EF4-FFF2-40B4-BE49-F238E27FC236}">
                <a16:creationId xmlns:a16="http://schemas.microsoft.com/office/drawing/2014/main" id="{8C57C8B5-4A2C-46D5-992B-62505392278A}"/>
              </a:ext>
            </a:extLst>
          </p:cNvPr>
          <p:cNvSpPr>
            <a:spLocks noGrp="1"/>
          </p:cNvSpPr>
          <p:nvPr>
            <p:ph type="sldNum" sz="quarter" idx="12"/>
          </p:nvPr>
        </p:nvSpPr>
        <p:spPr/>
        <p:txBody>
          <a:bodyPr/>
          <a:lstStyle/>
          <a:p>
            <a:fld id="{6B97D948-30E8-43F7-AE10-F6E2D9F2BBB1}" type="slidenum">
              <a:rPr lang="en-US" smtClean="0"/>
              <a:t>247</a:t>
            </a:fld>
            <a:endParaRPr lang="en-US"/>
          </a:p>
        </p:txBody>
      </p:sp>
    </p:spTree>
    <p:extLst>
      <p:ext uri="{BB962C8B-B14F-4D97-AF65-F5344CB8AC3E}">
        <p14:creationId xmlns:p14="http://schemas.microsoft.com/office/powerpoint/2010/main" val="323091185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3A34C-FCDE-42FE-BF45-34A775697522}"/>
              </a:ext>
            </a:extLst>
          </p:cNvPr>
          <p:cNvSpPr>
            <a:spLocks noGrp="1"/>
          </p:cNvSpPr>
          <p:nvPr>
            <p:ph type="title"/>
          </p:nvPr>
        </p:nvSpPr>
        <p:spPr>
          <a:xfrm>
            <a:off x="838200" y="365126"/>
            <a:ext cx="10515600" cy="706438"/>
          </a:xfrm>
        </p:spPr>
        <p:txBody>
          <a:bodyPr/>
          <a:lstStyle/>
          <a:p>
            <a:r>
              <a:rPr lang="en-US" dirty="0"/>
              <a:t>Example</a:t>
            </a:r>
          </a:p>
        </p:txBody>
      </p:sp>
      <p:sp>
        <p:nvSpPr>
          <p:cNvPr id="3" name="Content Placeholder 2">
            <a:extLst>
              <a:ext uri="{FF2B5EF4-FFF2-40B4-BE49-F238E27FC236}">
                <a16:creationId xmlns:a16="http://schemas.microsoft.com/office/drawing/2014/main" id="{0FCDCC93-B03E-4219-9D10-99E8BCF53BBF}"/>
              </a:ext>
            </a:extLst>
          </p:cNvPr>
          <p:cNvSpPr>
            <a:spLocks noGrp="1"/>
          </p:cNvSpPr>
          <p:nvPr>
            <p:ph idx="1"/>
          </p:nvPr>
        </p:nvSpPr>
        <p:spPr>
          <a:xfrm>
            <a:off x="838200" y="1071564"/>
            <a:ext cx="10515600" cy="5105399"/>
          </a:xfrm>
        </p:spPr>
        <p:txBody>
          <a:bodyPr/>
          <a:lstStyle/>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r>
              <a:rPr lang="en-US" dirty="0">
                <a:solidFill>
                  <a:srgbClr val="FF0000"/>
                </a:solidFill>
              </a:rPr>
              <a:t>fig, ax = </a:t>
            </a:r>
            <a:r>
              <a:rPr lang="en-US" dirty="0" err="1">
                <a:solidFill>
                  <a:srgbClr val="FF0000"/>
                </a:solidFill>
              </a:rPr>
              <a:t>plt.subplots</a:t>
            </a:r>
            <a:r>
              <a:rPr lang="en-US" dirty="0">
                <a:solidFill>
                  <a:srgbClr val="FF0000"/>
                </a:solidFill>
              </a:rPr>
              <a:t>()</a:t>
            </a:r>
          </a:p>
          <a:p>
            <a:r>
              <a:rPr lang="en-US" dirty="0" err="1">
                <a:solidFill>
                  <a:srgbClr val="FF0000"/>
                </a:solidFill>
              </a:rPr>
              <a:t>ax.plot</a:t>
            </a:r>
            <a:r>
              <a:rPr lang="en-US" dirty="0">
                <a:solidFill>
                  <a:srgbClr val="FF0000"/>
                </a:solidFill>
              </a:rPr>
              <a:t>(x, y)</a:t>
            </a:r>
          </a:p>
          <a:p>
            <a:r>
              <a:rPr lang="en-US" dirty="0" err="1">
                <a:solidFill>
                  <a:srgbClr val="FF0000"/>
                </a:solidFill>
              </a:rPr>
              <a:t>plt.show</a:t>
            </a:r>
            <a:r>
              <a:rPr lang="en-US" dirty="0">
                <a:solidFill>
                  <a:srgbClr val="FF0000"/>
                </a:solidFill>
              </a:rPr>
              <a:t>()</a:t>
            </a:r>
          </a:p>
        </p:txBody>
      </p:sp>
      <p:sp>
        <p:nvSpPr>
          <p:cNvPr id="4" name="Slide Number Placeholder 3">
            <a:extLst>
              <a:ext uri="{FF2B5EF4-FFF2-40B4-BE49-F238E27FC236}">
                <a16:creationId xmlns:a16="http://schemas.microsoft.com/office/drawing/2014/main" id="{79686021-ADCD-4662-8ACC-03758E3997F8}"/>
              </a:ext>
            </a:extLst>
          </p:cNvPr>
          <p:cNvSpPr>
            <a:spLocks noGrp="1"/>
          </p:cNvSpPr>
          <p:nvPr>
            <p:ph type="sldNum" sz="quarter" idx="12"/>
          </p:nvPr>
        </p:nvSpPr>
        <p:spPr/>
        <p:txBody>
          <a:bodyPr/>
          <a:lstStyle/>
          <a:p>
            <a:fld id="{6B97D948-30E8-43F7-AE10-F6E2D9F2BBB1}" type="slidenum">
              <a:rPr lang="en-US" smtClean="0"/>
              <a:t>248</a:t>
            </a:fld>
            <a:endParaRPr lang="en-US"/>
          </a:p>
        </p:txBody>
      </p:sp>
    </p:spTree>
    <p:extLst>
      <p:ext uri="{BB962C8B-B14F-4D97-AF65-F5344CB8AC3E}">
        <p14:creationId xmlns:p14="http://schemas.microsoft.com/office/powerpoint/2010/main" val="547172464"/>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AB668D-287F-4F27-88A9-046458D2A600}"/>
              </a:ext>
            </a:extLst>
          </p:cNvPr>
          <p:cNvSpPr>
            <a:spLocks noGrp="1"/>
          </p:cNvSpPr>
          <p:nvPr>
            <p:ph idx="1"/>
          </p:nvPr>
        </p:nvSpPr>
        <p:spPr>
          <a:xfrm>
            <a:off x="838200" y="500063"/>
            <a:ext cx="10515600" cy="5676900"/>
          </a:xfrm>
        </p:spPr>
        <p:txBody>
          <a:bodyPr/>
          <a:lstStyle/>
          <a:p>
            <a:pPr algn="just"/>
            <a:r>
              <a:rPr lang="en-US" dirty="0"/>
              <a:t>Following the same approach, we can create a simple bar plot and a scatter plot of the same data.</a:t>
            </a:r>
          </a:p>
          <a:p>
            <a:pPr algn="just"/>
            <a:r>
              <a:rPr lang="en-US" dirty="0">
                <a:solidFill>
                  <a:srgbClr val="FF0000"/>
                </a:solidFill>
              </a:rPr>
              <a:t>fig, ax = </a:t>
            </a:r>
            <a:r>
              <a:rPr lang="en-US" dirty="0" err="1">
                <a:solidFill>
                  <a:srgbClr val="FF0000"/>
                </a:solidFill>
              </a:rPr>
              <a:t>plt.subplots</a:t>
            </a:r>
            <a:r>
              <a:rPr lang="en-US" dirty="0">
                <a:solidFill>
                  <a:srgbClr val="FF0000"/>
                </a:solidFill>
              </a:rPr>
              <a:t>()</a:t>
            </a:r>
          </a:p>
          <a:p>
            <a:pPr algn="just"/>
            <a:r>
              <a:rPr lang="en-US" dirty="0" err="1">
                <a:solidFill>
                  <a:srgbClr val="FF0000"/>
                </a:solidFill>
              </a:rPr>
              <a:t>ax.bar</a:t>
            </a:r>
            <a:r>
              <a:rPr lang="en-US" dirty="0">
                <a:solidFill>
                  <a:srgbClr val="FF0000"/>
                </a:solidFill>
              </a:rPr>
              <a:t>(x, y)</a:t>
            </a:r>
          </a:p>
          <a:p>
            <a:pPr algn="just"/>
            <a:r>
              <a:rPr lang="en-US" dirty="0" err="1">
                <a:solidFill>
                  <a:srgbClr val="FF0000"/>
                </a:solidFill>
              </a:rPr>
              <a:t>plt.show</a:t>
            </a:r>
            <a:r>
              <a:rPr lang="en-US" dirty="0">
                <a:solidFill>
                  <a:srgbClr val="FF0000"/>
                </a:solidFill>
              </a:rPr>
              <a:t>()</a:t>
            </a:r>
          </a:p>
          <a:p>
            <a:pPr algn="just"/>
            <a:endParaRPr lang="en-US" dirty="0"/>
          </a:p>
          <a:p>
            <a:pPr algn="just"/>
            <a:r>
              <a:rPr lang="en-US" dirty="0"/>
              <a:t>For a scatter plot. . . </a:t>
            </a:r>
          </a:p>
          <a:p>
            <a:pPr algn="just"/>
            <a:r>
              <a:rPr lang="en-US" dirty="0">
                <a:solidFill>
                  <a:srgbClr val="FF0000"/>
                </a:solidFill>
              </a:rPr>
              <a:t>fig, ax = </a:t>
            </a:r>
            <a:r>
              <a:rPr lang="en-US" dirty="0" err="1">
                <a:solidFill>
                  <a:srgbClr val="FF0000"/>
                </a:solidFill>
              </a:rPr>
              <a:t>plt.subplots</a:t>
            </a:r>
            <a:r>
              <a:rPr lang="en-US" dirty="0">
                <a:solidFill>
                  <a:srgbClr val="FF0000"/>
                </a:solidFill>
              </a:rPr>
              <a:t>()</a:t>
            </a:r>
          </a:p>
          <a:p>
            <a:pPr algn="just"/>
            <a:r>
              <a:rPr lang="en-US" dirty="0" err="1">
                <a:solidFill>
                  <a:srgbClr val="FF0000"/>
                </a:solidFill>
              </a:rPr>
              <a:t>ax.scatter</a:t>
            </a:r>
            <a:r>
              <a:rPr lang="en-US" dirty="0">
                <a:solidFill>
                  <a:srgbClr val="FF0000"/>
                </a:solidFill>
              </a:rPr>
              <a:t>(x, y)</a:t>
            </a:r>
          </a:p>
          <a:p>
            <a:pPr algn="just"/>
            <a:r>
              <a:rPr lang="en-US" dirty="0" err="1">
                <a:solidFill>
                  <a:srgbClr val="FF0000"/>
                </a:solidFill>
              </a:rPr>
              <a:t>plt.show</a:t>
            </a:r>
            <a:r>
              <a:rPr lang="en-US" dirty="0">
                <a:solidFill>
                  <a:srgbClr val="FF0000"/>
                </a:solidFill>
              </a:rPr>
              <a:t>()</a:t>
            </a:r>
          </a:p>
        </p:txBody>
      </p:sp>
      <p:sp>
        <p:nvSpPr>
          <p:cNvPr id="4" name="Slide Number Placeholder 3">
            <a:extLst>
              <a:ext uri="{FF2B5EF4-FFF2-40B4-BE49-F238E27FC236}">
                <a16:creationId xmlns:a16="http://schemas.microsoft.com/office/drawing/2014/main" id="{CA1D8BAF-15A6-4887-93EE-5EA685660673}"/>
              </a:ext>
            </a:extLst>
          </p:cNvPr>
          <p:cNvSpPr>
            <a:spLocks noGrp="1"/>
          </p:cNvSpPr>
          <p:nvPr>
            <p:ph type="sldNum" sz="quarter" idx="12"/>
          </p:nvPr>
        </p:nvSpPr>
        <p:spPr/>
        <p:txBody>
          <a:bodyPr/>
          <a:lstStyle/>
          <a:p>
            <a:fld id="{6B97D948-30E8-43F7-AE10-F6E2D9F2BBB1}" type="slidenum">
              <a:rPr lang="en-US" smtClean="0"/>
              <a:t>249</a:t>
            </a:fld>
            <a:endParaRPr lang="en-US"/>
          </a:p>
        </p:txBody>
      </p:sp>
    </p:spTree>
    <p:extLst>
      <p:ext uri="{BB962C8B-B14F-4D97-AF65-F5344CB8AC3E}">
        <p14:creationId xmlns:p14="http://schemas.microsoft.com/office/powerpoint/2010/main" val="325982560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0407-19C5-4477-8E50-E5215D6AB4F4}"/>
              </a:ext>
            </a:extLst>
          </p:cNvPr>
          <p:cNvSpPr>
            <a:spLocks noGrp="1"/>
          </p:cNvSpPr>
          <p:nvPr>
            <p:ph type="title"/>
          </p:nvPr>
        </p:nvSpPr>
        <p:spPr>
          <a:xfrm>
            <a:off x="838200" y="365125"/>
            <a:ext cx="10515600" cy="777875"/>
          </a:xfrm>
        </p:spPr>
        <p:txBody>
          <a:bodyPr/>
          <a:lstStyle/>
          <a:p>
            <a:r>
              <a:rPr lang="en-US" dirty="0"/>
              <a:t>Customization of matplotlib</a:t>
            </a:r>
          </a:p>
        </p:txBody>
      </p:sp>
      <p:sp>
        <p:nvSpPr>
          <p:cNvPr id="3" name="Content Placeholder 2">
            <a:extLst>
              <a:ext uri="{FF2B5EF4-FFF2-40B4-BE49-F238E27FC236}">
                <a16:creationId xmlns:a16="http://schemas.microsoft.com/office/drawing/2014/main" id="{86787763-F231-4315-8E52-EA65E61C3CF3}"/>
              </a:ext>
            </a:extLst>
          </p:cNvPr>
          <p:cNvSpPr>
            <a:spLocks noGrp="1"/>
          </p:cNvSpPr>
          <p:nvPr>
            <p:ph idx="1"/>
          </p:nvPr>
        </p:nvSpPr>
        <p:spPr>
          <a:xfrm>
            <a:off x="838200" y="1143000"/>
            <a:ext cx="10515600" cy="5033963"/>
          </a:xfrm>
        </p:spPr>
        <p:txBody>
          <a:bodyPr/>
          <a:lstStyle/>
          <a:p>
            <a:pPr algn="just"/>
            <a:r>
              <a:rPr lang="en-US" dirty="0"/>
              <a:t>The power of matplotlib comes from customization of its plots for visualization.</a:t>
            </a:r>
          </a:p>
          <a:p>
            <a:pPr algn="just"/>
            <a:r>
              <a:rPr lang="en-US" dirty="0"/>
              <a:t>There is so much that can be customized, but most customizations require adding additional code, and additional code means additional time. </a:t>
            </a:r>
          </a:p>
          <a:p>
            <a:pPr algn="just"/>
            <a:endParaRPr lang="en-US" dirty="0"/>
          </a:p>
          <a:p>
            <a:pPr algn="just"/>
            <a:r>
              <a:rPr lang="en-US" dirty="0"/>
              <a:t>Understanding all of the pieces of a plot and how to adjust them takes time.</a:t>
            </a:r>
          </a:p>
        </p:txBody>
      </p:sp>
      <p:sp>
        <p:nvSpPr>
          <p:cNvPr id="4" name="Slide Number Placeholder 3">
            <a:extLst>
              <a:ext uri="{FF2B5EF4-FFF2-40B4-BE49-F238E27FC236}">
                <a16:creationId xmlns:a16="http://schemas.microsoft.com/office/drawing/2014/main" id="{8CB63FBC-319D-45B8-819C-1E00AD0A0358}"/>
              </a:ext>
            </a:extLst>
          </p:cNvPr>
          <p:cNvSpPr>
            <a:spLocks noGrp="1"/>
          </p:cNvSpPr>
          <p:nvPr>
            <p:ph type="sldNum" sz="quarter" idx="12"/>
          </p:nvPr>
        </p:nvSpPr>
        <p:spPr/>
        <p:txBody>
          <a:bodyPr/>
          <a:lstStyle/>
          <a:p>
            <a:fld id="{6B97D948-30E8-43F7-AE10-F6E2D9F2BBB1}" type="slidenum">
              <a:rPr lang="en-US" smtClean="0"/>
              <a:t>250</a:t>
            </a:fld>
            <a:endParaRPr lang="en-US"/>
          </a:p>
        </p:txBody>
      </p:sp>
    </p:spTree>
    <p:extLst>
      <p:ext uri="{BB962C8B-B14F-4D97-AF65-F5344CB8AC3E}">
        <p14:creationId xmlns:p14="http://schemas.microsoft.com/office/powerpoint/2010/main" val="2533558600"/>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9206DD-0CF3-4CB2-B7E8-A5DEE19AAD70}"/>
              </a:ext>
            </a:extLst>
          </p:cNvPr>
          <p:cNvSpPr>
            <a:spLocks noGrp="1"/>
          </p:cNvSpPr>
          <p:nvPr>
            <p:ph idx="1"/>
          </p:nvPr>
        </p:nvSpPr>
        <p:spPr>
          <a:xfrm>
            <a:off x="838200" y="339713"/>
            <a:ext cx="10515600" cy="846138"/>
          </a:xfrm>
        </p:spPr>
        <p:txBody>
          <a:bodyPr>
            <a:normAutofit lnSpcReduction="10000"/>
          </a:bodyPr>
          <a:lstStyle/>
          <a:p>
            <a:pPr algn="just"/>
            <a:r>
              <a:rPr lang="en-US" dirty="0"/>
              <a:t>Here is the final product with every item included in a customized plot.</a:t>
            </a:r>
          </a:p>
        </p:txBody>
      </p:sp>
      <p:sp>
        <p:nvSpPr>
          <p:cNvPr id="4" name="Slide Number Placeholder 3">
            <a:extLst>
              <a:ext uri="{FF2B5EF4-FFF2-40B4-BE49-F238E27FC236}">
                <a16:creationId xmlns:a16="http://schemas.microsoft.com/office/drawing/2014/main" id="{154AB205-5738-4ABF-9939-E6B0DB5B10C8}"/>
              </a:ext>
            </a:extLst>
          </p:cNvPr>
          <p:cNvSpPr>
            <a:spLocks noGrp="1"/>
          </p:cNvSpPr>
          <p:nvPr>
            <p:ph type="sldNum" sz="quarter" idx="12"/>
          </p:nvPr>
        </p:nvSpPr>
        <p:spPr/>
        <p:txBody>
          <a:bodyPr/>
          <a:lstStyle/>
          <a:p>
            <a:fld id="{6B97D948-30E8-43F7-AE10-F6E2D9F2BBB1}" type="slidenum">
              <a:rPr lang="en-US" smtClean="0"/>
              <a:t>251</a:t>
            </a:fld>
            <a:endParaRPr lang="en-US"/>
          </a:p>
        </p:txBody>
      </p:sp>
      <p:pic>
        <p:nvPicPr>
          <p:cNvPr id="5" name="Picture 4">
            <a:extLst>
              <a:ext uri="{FF2B5EF4-FFF2-40B4-BE49-F238E27FC236}">
                <a16:creationId xmlns:a16="http://schemas.microsoft.com/office/drawing/2014/main" id="{8DD9592F-9F64-48A0-AC9B-063A6C71F7EB}"/>
              </a:ext>
            </a:extLst>
          </p:cNvPr>
          <p:cNvPicPr>
            <a:picLocks noChangeAspect="1"/>
          </p:cNvPicPr>
          <p:nvPr/>
        </p:nvPicPr>
        <p:blipFill>
          <a:blip r:embed="rId2"/>
          <a:stretch>
            <a:fillRect/>
          </a:stretch>
        </p:blipFill>
        <p:spPr>
          <a:xfrm>
            <a:off x="1828177" y="1143000"/>
            <a:ext cx="8782253" cy="5243512"/>
          </a:xfrm>
          <a:prstGeom prst="rect">
            <a:avLst/>
          </a:prstGeom>
        </p:spPr>
      </p:pic>
    </p:spTree>
    <p:extLst>
      <p:ext uri="{BB962C8B-B14F-4D97-AF65-F5344CB8AC3E}">
        <p14:creationId xmlns:p14="http://schemas.microsoft.com/office/powerpoint/2010/main" val="360867820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0DFAB-E818-4D02-9FE1-4F4ED9971894}"/>
              </a:ext>
            </a:extLst>
          </p:cNvPr>
          <p:cNvSpPr>
            <a:spLocks noGrp="1"/>
          </p:cNvSpPr>
          <p:nvPr>
            <p:ph type="title"/>
          </p:nvPr>
        </p:nvSpPr>
        <p:spPr>
          <a:xfrm>
            <a:off x="838200" y="365125"/>
            <a:ext cx="10515600" cy="735013"/>
          </a:xfrm>
        </p:spPr>
        <p:txBody>
          <a:bodyPr/>
          <a:lstStyle/>
          <a:p>
            <a:r>
              <a:rPr lang="en-US" dirty="0"/>
              <a:t>Some Code</a:t>
            </a:r>
          </a:p>
        </p:txBody>
      </p:sp>
      <p:sp>
        <p:nvSpPr>
          <p:cNvPr id="3" name="Content Placeholder 2">
            <a:extLst>
              <a:ext uri="{FF2B5EF4-FFF2-40B4-BE49-F238E27FC236}">
                <a16:creationId xmlns:a16="http://schemas.microsoft.com/office/drawing/2014/main" id="{33D2A6A3-05D6-4119-B1A4-8BF8CB6C7D1B}"/>
              </a:ext>
            </a:extLst>
          </p:cNvPr>
          <p:cNvSpPr>
            <a:spLocks noGrp="1"/>
          </p:cNvSpPr>
          <p:nvPr>
            <p:ph idx="1"/>
          </p:nvPr>
        </p:nvSpPr>
        <p:spPr>
          <a:xfrm>
            <a:off x="838200" y="1100138"/>
            <a:ext cx="10515600" cy="5076825"/>
          </a:xfrm>
        </p:spPr>
        <p:txBody>
          <a:bodyPr/>
          <a:lstStyle/>
          <a:p>
            <a:pPr algn="just"/>
            <a:r>
              <a:rPr lang="en-US" dirty="0"/>
              <a:t>Let’s create some toy data for us to work with. </a:t>
            </a:r>
          </a:p>
          <a:p>
            <a:pPr algn="just"/>
            <a:r>
              <a:rPr lang="en-US" dirty="0"/>
              <a:t>We’ll create variables </a:t>
            </a:r>
            <a:r>
              <a:rPr lang="en-US" dirty="0" err="1"/>
              <a:t>y_model</a:t>
            </a:r>
            <a:r>
              <a:rPr lang="en-US" dirty="0"/>
              <a:t> and </a:t>
            </a:r>
            <a:r>
              <a:rPr lang="en-US" dirty="0" err="1"/>
              <a:t>y_data</a:t>
            </a:r>
            <a:r>
              <a:rPr lang="en-US" dirty="0"/>
              <a:t> which represent some data and a model for those data.</a:t>
            </a:r>
          </a:p>
        </p:txBody>
      </p:sp>
      <p:sp>
        <p:nvSpPr>
          <p:cNvPr id="4" name="Slide Number Placeholder 3">
            <a:extLst>
              <a:ext uri="{FF2B5EF4-FFF2-40B4-BE49-F238E27FC236}">
                <a16:creationId xmlns:a16="http://schemas.microsoft.com/office/drawing/2014/main" id="{9558A633-688C-4053-BB29-9E32F931E628}"/>
              </a:ext>
            </a:extLst>
          </p:cNvPr>
          <p:cNvSpPr>
            <a:spLocks noGrp="1"/>
          </p:cNvSpPr>
          <p:nvPr>
            <p:ph type="sldNum" sz="quarter" idx="12"/>
          </p:nvPr>
        </p:nvSpPr>
        <p:spPr/>
        <p:txBody>
          <a:bodyPr/>
          <a:lstStyle/>
          <a:p>
            <a:fld id="{6B97D948-30E8-43F7-AE10-F6E2D9F2BBB1}" type="slidenum">
              <a:rPr lang="en-US" smtClean="0"/>
              <a:t>252</a:t>
            </a:fld>
            <a:endParaRPr lang="en-US"/>
          </a:p>
        </p:txBody>
      </p:sp>
    </p:spTree>
    <p:extLst>
      <p:ext uri="{BB962C8B-B14F-4D97-AF65-F5344CB8AC3E}">
        <p14:creationId xmlns:p14="http://schemas.microsoft.com/office/powerpoint/2010/main" val="1453625161"/>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EE761-C32F-47F2-92B7-16FE6D2ADAFD}"/>
              </a:ext>
            </a:extLst>
          </p:cNvPr>
          <p:cNvSpPr>
            <a:spLocks noGrp="1"/>
          </p:cNvSpPr>
          <p:nvPr>
            <p:ph idx="1"/>
          </p:nvPr>
        </p:nvSpPr>
        <p:spPr>
          <a:xfrm>
            <a:off x="838200" y="571500"/>
            <a:ext cx="10515600" cy="5605463"/>
          </a:xfrm>
        </p:spPr>
        <p:txBody>
          <a:bodyPr>
            <a:normAutofit/>
          </a:bodyPr>
          <a:lstStyle/>
          <a:p>
            <a:r>
              <a:rPr lang="en-US" dirty="0">
                <a:solidFill>
                  <a:srgbClr val="FF0000"/>
                </a:solidFill>
              </a:rPr>
              <a:t>import </a:t>
            </a:r>
            <a:r>
              <a:rPr lang="en-US" dirty="0" err="1">
                <a:solidFill>
                  <a:srgbClr val="FF0000"/>
                </a:solidFill>
              </a:rPr>
              <a:t>numpy</a:t>
            </a:r>
            <a:r>
              <a:rPr lang="en-US" dirty="0">
                <a:solidFill>
                  <a:srgbClr val="FF0000"/>
                </a:solidFill>
              </a:rPr>
              <a:t> as np</a:t>
            </a:r>
          </a:p>
          <a:p>
            <a:endParaRPr lang="en-US" dirty="0">
              <a:solidFill>
                <a:srgbClr val="FF0000"/>
              </a:solidFill>
            </a:endParaRPr>
          </a:p>
          <a:p>
            <a:r>
              <a:rPr lang="en-US" dirty="0">
                <a:solidFill>
                  <a:srgbClr val="FF0000"/>
                </a:solidFill>
              </a:rPr>
              <a:t># Create noise-free data</a:t>
            </a:r>
          </a:p>
          <a:p>
            <a:r>
              <a:rPr lang="en-US" dirty="0" err="1">
                <a:solidFill>
                  <a:srgbClr val="FF0000"/>
                </a:solidFill>
              </a:rPr>
              <a:t>maxval</a:t>
            </a:r>
            <a:r>
              <a:rPr lang="en-US" dirty="0">
                <a:solidFill>
                  <a:srgbClr val="FF0000"/>
                </a:solidFill>
              </a:rPr>
              <a:t> = 2 * </a:t>
            </a:r>
            <a:r>
              <a:rPr lang="en-US" dirty="0" err="1">
                <a:solidFill>
                  <a:srgbClr val="FF0000"/>
                </a:solidFill>
              </a:rPr>
              <a:t>np.pi</a:t>
            </a:r>
            <a:endParaRPr lang="en-US" dirty="0">
              <a:solidFill>
                <a:srgbClr val="FF0000"/>
              </a:solidFill>
            </a:endParaRPr>
          </a:p>
          <a:p>
            <a:r>
              <a:rPr lang="en-US" dirty="0" err="1">
                <a:solidFill>
                  <a:srgbClr val="FF0000"/>
                </a:solidFill>
              </a:rPr>
              <a:t>x_model</a:t>
            </a:r>
            <a:r>
              <a:rPr lang="en-US" dirty="0">
                <a:solidFill>
                  <a:srgbClr val="FF0000"/>
                </a:solidFill>
              </a:rPr>
              <a:t> = </a:t>
            </a:r>
            <a:r>
              <a:rPr lang="en-US" dirty="0" err="1">
                <a:solidFill>
                  <a:srgbClr val="FF0000"/>
                </a:solidFill>
              </a:rPr>
              <a:t>np.linspace</a:t>
            </a:r>
            <a:r>
              <a:rPr lang="en-US" dirty="0">
                <a:solidFill>
                  <a:srgbClr val="FF0000"/>
                </a:solidFill>
              </a:rPr>
              <a:t>(0, </a:t>
            </a:r>
            <a:r>
              <a:rPr lang="en-US" dirty="0" err="1">
                <a:solidFill>
                  <a:srgbClr val="FF0000"/>
                </a:solidFill>
              </a:rPr>
              <a:t>maxval</a:t>
            </a:r>
            <a:r>
              <a:rPr lang="en-US" dirty="0">
                <a:solidFill>
                  <a:srgbClr val="FF0000"/>
                </a:solidFill>
              </a:rPr>
              <a:t>, 1000)</a:t>
            </a:r>
          </a:p>
          <a:p>
            <a:r>
              <a:rPr lang="en-US" dirty="0">
                <a:solidFill>
                  <a:srgbClr val="FF0000"/>
                </a:solidFill>
              </a:rPr>
              <a:t>f = lambda x: </a:t>
            </a:r>
            <a:r>
              <a:rPr lang="en-US" dirty="0" err="1">
                <a:solidFill>
                  <a:srgbClr val="FF0000"/>
                </a:solidFill>
              </a:rPr>
              <a:t>np.sin</a:t>
            </a:r>
            <a:r>
              <a:rPr lang="en-US" dirty="0">
                <a:solidFill>
                  <a:srgbClr val="FF0000"/>
                </a:solidFill>
              </a:rPr>
              <a:t>(x) * x</a:t>
            </a:r>
          </a:p>
          <a:p>
            <a:r>
              <a:rPr lang="en-US" dirty="0" err="1">
                <a:solidFill>
                  <a:srgbClr val="FF0000"/>
                </a:solidFill>
              </a:rPr>
              <a:t>y_model</a:t>
            </a:r>
            <a:r>
              <a:rPr lang="en-US" dirty="0">
                <a:solidFill>
                  <a:srgbClr val="FF0000"/>
                </a:solidFill>
              </a:rPr>
              <a:t> = f(</a:t>
            </a:r>
            <a:r>
              <a:rPr lang="en-US" dirty="0" err="1">
                <a:solidFill>
                  <a:srgbClr val="FF0000"/>
                </a:solidFill>
              </a:rPr>
              <a:t>x_model</a:t>
            </a:r>
            <a:r>
              <a:rPr lang="en-US" dirty="0">
                <a:solidFill>
                  <a:srgbClr val="FF0000"/>
                </a:solidFill>
              </a:rPr>
              <a:t>)</a:t>
            </a:r>
          </a:p>
          <a:p>
            <a:endParaRPr lang="en-US" dirty="0">
              <a:solidFill>
                <a:srgbClr val="FF0000"/>
              </a:solidFill>
            </a:endParaRPr>
          </a:p>
          <a:p>
            <a:r>
              <a:rPr lang="en-US" dirty="0">
                <a:solidFill>
                  <a:srgbClr val="FF0000"/>
                </a:solidFill>
              </a:rPr>
              <a:t># Create noisy data</a:t>
            </a:r>
          </a:p>
          <a:p>
            <a:r>
              <a:rPr lang="en-US" dirty="0" err="1">
                <a:solidFill>
                  <a:srgbClr val="FF0000"/>
                </a:solidFill>
              </a:rPr>
              <a:t>x_data</a:t>
            </a:r>
            <a:r>
              <a:rPr lang="en-US" dirty="0">
                <a:solidFill>
                  <a:srgbClr val="FF0000"/>
                </a:solidFill>
              </a:rPr>
              <a:t> = </a:t>
            </a:r>
            <a:r>
              <a:rPr lang="en-US" dirty="0" err="1">
                <a:solidFill>
                  <a:srgbClr val="FF0000"/>
                </a:solidFill>
              </a:rPr>
              <a:t>np.random.rand</a:t>
            </a:r>
            <a:r>
              <a:rPr lang="en-US" dirty="0">
                <a:solidFill>
                  <a:srgbClr val="FF0000"/>
                </a:solidFill>
              </a:rPr>
              <a:t>(25) * </a:t>
            </a:r>
            <a:r>
              <a:rPr lang="en-US" dirty="0" err="1">
                <a:solidFill>
                  <a:srgbClr val="FF0000"/>
                </a:solidFill>
              </a:rPr>
              <a:t>maxval</a:t>
            </a:r>
            <a:endParaRPr lang="en-US" dirty="0">
              <a:solidFill>
                <a:srgbClr val="FF0000"/>
              </a:solidFill>
            </a:endParaRPr>
          </a:p>
          <a:p>
            <a:r>
              <a:rPr lang="en-US" dirty="0" err="1">
                <a:solidFill>
                  <a:srgbClr val="FF0000"/>
                </a:solidFill>
              </a:rPr>
              <a:t>y_data</a:t>
            </a:r>
            <a:r>
              <a:rPr lang="en-US" dirty="0">
                <a:solidFill>
                  <a:srgbClr val="FF0000"/>
                </a:solidFill>
              </a:rPr>
              <a:t> = f(</a:t>
            </a:r>
            <a:r>
              <a:rPr lang="en-US" dirty="0" err="1">
                <a:solidFill>
                  <a:srgbClr val="FF0000"/>
                </a:solidFill>
              </a:rPr>
              <a:t>x_data</a:t>
            </a:r>
            <a:r>
              <a:rPr lang="en-US" dirty="0">
                <a:solidFill>
                  <a:srgbClr val="FF0000"/>
                </a:solidFill>
              </a:rPr>
              <a:t>) + </a:t>
            </a:r>
            <a:r>
              <a:rPr lang="en-US" dirty="0" err="1">
                <a:solidFill>
                  <a:srgbClr val="FF0000"/>
                </a:solidFill>
              </a:rPr>
              <a:t>np.random.randn</a:t>
            </a:r>
            <a:r>
              <a:rPr lang="en-US" dirty="0">
                <a:solidFill>
                  <a:srgbClr val="FF0000"/>
                </a:solidFill>
              </a:rPr>
              <a:t>(*</a:t>
            </a:r>
            <a:r>
              <a:rPr lang="en-US" dirty="0" err="1">
                <a:solidFill>
                  <a:srgbClr val="FF0000"/>
                </a:solidFill>
              </a:rPr>
              <a:t>x_data.shape</a:t>
            </a:r>
            <a:r>
              <a:rPr lang="en-US" dirty="0">
                <a:solidFill>
                  <a:srgbClr val="FF0000"/>
                </a:solidFill>
              </a:rPr>
              <a:t>) * 0.5</a:t>
            </a:r>
          </a:p>
        </p:txBody>
      </p:sp>
      <p:sp>
        <p:nvSpPr>
          <p:cNvPr id="4" name="Slide Number Placeholder 3">
            <a:extLst>
              <a:ext uri="{FF2B5EF4-FFF2-40B4-BE49-F238E27FC236}">
                <a16:creationId xmlns:a16="http://schemas.microsoft.com/office/drawing/2014/main" id="{EF6B5B80-8196-4AE4-9D2E-D3459871CE45}"/>
              </a:ext>
            </a:extLst>
          </p:cNvPr>
          <p:cNvSpPr>
            <a:spLocks noGrp="1"/>
          </p:cNvSpPr>
          <p:nvPr>
            <p:ph type="sldNum" sz="quarter" idx="12"/>
          </p:nvPr>
        </p:nvSpPr>
        <p:spPr/>
        <p:txBody>
          <a:bodyPr/>
          <a:lstStyle/>
          <a:p>
            <a:fld id="{6B97D948-30E8-43F7-AE10-F6E2D9F2BBB1}" type="slidenum">
              <a:rPr lang="en-US" smtClean="0"/>
              <a:t>253</a:t>
            </a:fld>
            <a:endParaRPr lang="en-US"/>
          </a:p>
        </p:txBody>
      </p:sp>
    </p:spTree>
    <p:extLst>
      <p:ext uri="{BB962C8B-B14F-4D97-AF65-F5344CB8AC3E}">
        <p14:creationId xmlns:p14="http://schemas.microsoft.com/office/powerpoint/2010/main" val="2396940654"/>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76FA-BAF9-4802-BF5D-2FBA2E7B708F}"/>
              </a:ext>
            </a:extLst>
          </p:cNvPr>
          <p:cNvSpPr>
            <a:spLocks noGrp="1"/>
          </p:cNvSpPr>
          <p:nvPr>
            <p:ph type="title"/>
          </p:nvPr>
        </p:nvSpPr>
        <p:spPr>
          <a:xfrm>
            <a:off x="838200" y="365125"/>
            <a:ext cx="10515600" cy="720725"/>
          </a:xfrm>
        </p:spPr>
        <p:txBody>
          <a:bodyPr/>
          <a:lstStyle/>
          <a:p>
            <a:r>
              <a:rPr lang="en-US" dirty="0"/>
              <a:t>Figures and axes</a:t>
            </a:r>
          </a:p>
        </p:txBody>
      </p:sp>
      <p:sp>
        <p:nvSpPr>
          <p:cNvPr id="3" name="Content Placeholder 2">
            <a:extLst>
              <a:ext uri="{FF2B5EF4-FFF2-40B4-BE49-F238E27FC236}">
                <a16:creationId xmlns:a16="http://schemas.microsoft.com/office/drawing/2014/main" id="{40B60809-2332-4798-9FDC-D317EBACE925}"/>
              </a:ext>
            </a:extLst>
          </p:cNvPr>
          <p:cNvSpPr>
            <a:spLocks noGrp="1"/>
          </p:cNvSpPr>
          <p:nvPr>
            <p:ph idx="1"/>
          </p:nvPr>
        </p:nvSpPr>
        <p:spPr>
          <a:xfrm>
            <a:off x="838200" y="1085850"/>
            <a:ext cx="10515600" cy="5091113"/>
          </a:xfrm>
        </p:spPr>
        <p:txBody>
          <a:bodyPr/>
          <a:lstStyle/>
          <a:p>
            <a:pPr algn="just"/>
            <a:r>
              <a:rPr lang="en-US" dirty="0"/>
              <a:t>Every plot is composed of a few key pieces: the </a:t>
            </a:r>
            <a:r>
              <a:rPr lang="en-US" dirty="0">
                <a:solidFill>
                  <a:srgbClr val="FF0000"/>
                </a:solidFill>
              </a:rPr>
              <a:t>figure</a:t>
            </a:r>
            <a:r>
              <a:rPr lang="en-US" dirty="0"/>
              <a:t>, which contains one or more </a:t>
            </a:r>
            <a:r>
              <a:rPr lang="en-US" dirty="0">
                <a:solidFill>
                  <a:srgbClr val="FF0000"/>
                </a:solidFill>
              </a:rPr>
              <a:t>axes</a:t>
            </a:r>
            <a:r>
              <a:rPr lang="en-US" dirty="0"/>
              <a:t>, and the </a:t>
            </a:r>
            <a:r>
              <a:rPr lang="en-US" dirty="0">
                <a:solidFill>
                  <a:srgbClr val="FF0000"/>
                </a:solidFill>
              </a:rPr>
              <a:t>axes</a:t>
            </a:r>
            <a:r>
              <a:rPr lang="en-US" dirty="0"/>
              <a:t> themselves, onto which you can add plots that share the same axes. </a:t>
            </a:r>
          </a:p>
          <a:p>
            <a:pPr algn="just"/>
            <a:r>
              <a:rPr lang="en-US" dirty="0"/>
              <a:t>This is created for you with the </a:t>
            </a:r>
          </a:p>
          <a:p>
            <a:pPr marL="0" indent="0" algn="just">
              <a:buNone/>
            </a:pPr>
            <a:r>
              <a:rPr lang="en-US" dirty="0"/>
              <a:t>			</a:t>
            </a:r>
            <a:r>
              <a:rPr lang="en-US" dirty="0">
                <a:solidFill>
                  <a:srgbClr val="FF0000"/>
                </a:solidFill>
              </a:rPr>
              <a:t>fig, ax = </a:t>
            </a:r>
            <a:r>
              <a:rPr lang="en-US" dirty="0" err="1">
                <a:solidFill>
                  <a:srgbClr val="FF0000"/>
                </a:solidFill>
              </a:rPr>
              <a:t>plt.subplots</a:t>
            </a:r>
            <a:r>
              <a:rPr lang="en-US" dirty="0">
                <a:solidFill>
                  <a:srgbClr val="FF0000"/>
                </a:solidFill>
              </a:rPr>
              <a:t>() </a:t>
            </a:r>
          </a:p>
          <a:p>
            <a:pPr algn="just"/>
            <a:r>
              <a:rPr lang="en-US" dirty="0"/>
              <a:t>command, where fig is your figure object and ax is your axes object. </a:t>
            </a:r>
          </a:p>
          <a:p>
            <a:pPr algn="just"/>
            <a:r>
              <a:rPr lang="en-US" dirty="0"/>
              <a:t>We have the optional command to make the figures high resolution.</a:t>
            </a:r>
          </a:p>
          <a:p>
            <a:pPr algn="just"/>
            <a:endParaRPr lang="en-US" dirty="0"/>
          </a:p>
        </p:txBody>
      </p:sp>
      <p:sp>
        <p:nvSpPr>
          <p:cNvPr id="4" name="Slide Number Placeholder 3">
            <a:extLst>
              <a:ext uri="{FF2B5EF4-FFF2-40B4-BE49-F238E27FC236}">
                <a16:creationId xmlns:a16="http://schemas.microsoft.com/office/drawing/2014/main" id="{AED24416-4DAD-486B-9372-DA47351D9C0F}"/>
              </a:ext>
            </a:extLst>
          </p:cNvPr>
          <p:cNvSpPr>
            <a:spLocks noGrp="1"/>
          </p:cNvSpPr>
          <p:nvPr>
            <p:ph type="sldNum" sz="quarter" idx="12"/>
          </p:nvPr>
        </p:nvSpPr>
        <p:spPr/>
        <p:txBody>
          <a:bodyPr/>
          <a:lstStyle/>
          <a:p>
            <a:fld id="{6B97D948-30E8-43F7-AE10-F6E2D9F2BBB1}" type="slidenum">
              <a:rPr lang="en-US" smtClean="0"/>
              <a:t>254</a:t>
            </a:fld>
            <a:endParaRPr lang="en-US"/>
          </a:p>
        </p:txBody>
      </p:sp>
    </p:spTree>
    <p:extLst>
      <p:ext uri="{BB962C8B-B14F-4D97-AF65-F5344CB8AC3E}">
        <p14:creationId xmlns:p14="http://schemas.microsoft.com/office/powerpoint/2010/main" val="2081306484"/>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3E6FC-ED67-4FA0-8C28-60C41D6C056C}"/>
              </a:ext>
            </a:extLst>
          </p:cNvPr>
          <p:cNvSpPr>
            <a:spLocks noGrp="1"/>
          </p:cNvSpPr>
          <p:nvPr>
            <p:ph idx="1"/>
          </p:nvPr>
        </p:nvSpPr>
        <p:spPr>
          <a:xfrm>
            <a:off x="838200" y="328613"/>
            <a:ext cx="10515600" cy="5848350"/>
          </a:xfrm>
        </p:spPr>
        <p:txBody>
          <a:bodyPr/>
          <a:lstStyle/>
          <a:p>
            <a:r>
              <a:rPr lang="en-US" dirty="0">
                <a:solidFill>
                  <a:srgbClr val="FF0000"/>
                </a:solidFill>
              </a:rPr>
              <a:t>import </a:t>
            </a:r>
            <a:r>
              <a:rPr lang="en-US" dirty="0" err="1">
                <a:solidFill>
                  <a:srgbClr val="FF0000"/>
                </a:solidFill>
              </a:rPr>
              <a:t>matplotlib_inline</a:t>
            </a:r>
            <a:endParaRPr lang="en-US" dirty="0">
              <a:solidFill>
                <a:srgbClr val="FF0000"/>
              </a:solidFill>
            </a:endParaRPr>
          </a:p>
          <a:p>
            <a:r>
              <a:rPr lang="en-US" dirty="0" err="1">
                <a:solidFill>
                  <a:srgbClr val="FF0000"/>
                </a:solidFill>
              </a:rPr>
              <a:t>matplotlib_inline.backend_inline.set_matplotlib_formats</a:t>
            </a:r>
            <a:r>
              <a:rPr lang="en-US" dirty="0">
                <a:solidFill>
                  <a:srgbClr val="FF0000"/>
                </a:solidFill>
              </a:rPr>
              <a:t>("retina")</a:t>
            </a:r>
          </a:p>
          <a:p>
            <a:r>
              <a:rPr lang="en-US" dirty="0"/>
              <a:t># You can also use:</a:t>
            </a:r>
          </a:p>
          <a:p>
            <a:r>
              <a:rPr lang="en-US" dirty="0"/>
              <a:t># %config </a:t>
            </a:r>
            <a:r>
              <a:rPr lang="en-US" dirty="0" err="1"/>
              <a:t>InlineBackend.figure_format</a:t>
            </a:r>
            <a:r>
              <a:rPr lang="en-US" dirty="0"/>
              <a:t> = 'retina’</a:t>
            </a:r>
          </a:p>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r>
              <a:rPr lang="en-US" dirty="0">
                <a:solidFill>
                  <a:srgbClr val="FF0000"/>
                </a:solidFill>
              </a:rPr>
              <a:t>fig, ax = </a:t>
            </a:r>
            <a:r>
              <a:rPr lang="en-US" dirty="0" err="1">
                <a:solidFill>
                  <a:srgbClr val="FF0000"/>
                </a:solidFill>
              </a:rPr>
              <a:t>plt.subplots</a:t>
            </a:r>
            <a:r>
              <a:rPr lang="en-US" dirty="0">
                <a:solidFill>
                  <a:srgbClr val="FF0000"/>
                </a:solidFill>
              </a:rPr>
              <a:t>(</a:t>
            </a:r>
            <a:r>
              <a:rPr lang="en-US" dirty="0" err="1">
                <a:solidFill>
                  <a:srgbClr val="FF0000"/>
                </a:solidFill>
              </a:rPr>
              <a:t>figsize</a:t>
            </a:r>
            <a:r>
              <a:rPr lang="en-US" dirty="0">
                <a:solidFill>
                  <a:srgbClr val="FF0000"/>
                </a:solidFill>
              </a:rPr>
              <a:t>=(7, 7))</a:t>
            </a:r>
          </a:p>
          <a:p>
            <a:r>
              <a:rPr lang="en-US" dirty="0">
                <a:solidFill>
                  <a:srgbClr val="FF0000"/>
                </a:solidFill>
              </a:rPr>
              <a:t>%matplotlib</a:t>
            </a:r>
          </a:p>
        </p:txBody>
      </p:sp>
      <p:sp>
        <p:nvSpPr>
          <p:cNvPr id="4" name="Slide Number Placeholder 3">
            <a:extLst>
              <a:ext uri="{FF2B5EF4-FFF2-40B4-BE49-F238E27FC236}">
                <a16:creationId xmlns:a16="http://schemas.microsoft.com/office/drawing/2014/main" id="{45B2A4CE-4434-43EB-954E-2064F0986028}"/>
              </a:ext>
            </a:extLst>
          </p:cNvPr>
          <p:cNvSpPr>
            <a:spLocks noGrp="1"/>
          </p:cNvSpPr>
          <p:nvPr>
            <p:ph type="sldNum" sz="quarter" idx="12"/>
          </p:nvPr>
        </p:nvSpPr>
        <p:spPr/>
        <p:txBody>
          <a:bodyPr/>
          <a:lstStyle/>
          <a:p>
            <a:fld id="{6B97D948-30E8-43F7-AE10-F6E2D9F2BBB1}" type="slidenum">
              <a:rPr lang="en-US" smtClean="0"/>
              <a:t>255</a:t>
            </a:fld>
            <a:endParaRPr lang="en-US"/>
          </a:p>
        </p:txBody>
      </p:sp>
    </p:spTree>
    <p:extLst>
      <p:ext uri="{BB962C8B-B14F-4D97-AF65-F5344CB8AC3E}">
        <p14:creationId xmlns:p14="http://schemas.microsoft.com/office/powerpoint/2010/main" val="158414339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559770-5642-4B74-BAF2-4A2624AD363A}"/>
              </a:ext>
            </a:extLst>
          </p:cNvPr>
          <p:cNvPicPr>
            <a:picLocks noGrp="1" noChangeAspect="1"/>
          </p:cNvPicPr>
          <p:nvPr>
            <p:ph idx="1"/>
          </p:nvPr>
        </p:nvPicPr>
        <p:blipFill>
          <a:blip r:embed="rId2"/>
          <a:stretch>
            <a:fillRect/>
          </a:stretch>
        </p:blipFill>
        <p:spPr>
          <a:xfrm>
            <a:off x="3271843" y="799221"/>
            <a:ext cx="6077145" cy="5906384"/>
          </a:xfrm>
          <a:prstGeom prst="rect">
            <a:avLst/>
          </a:prstGeom>
        </p:spPr>
      </p:pic>
      <p:sp>
        <p:nvSpPr>
          <p:cNvPr id="4" name="Slide Number Placeholder 3">
            <a:extLst>
              <a:ext uri="{FF2B5EF4-FFF2-40B4-BE49-F238E27FC236}">
                <a16:creationId xmlns:a16="http://schemas.microsoft.com/office/drawing/2014/main" id="{EA0331D8-B245-4EE5-B07F-8719A6693164}"/>
              </a:ext>
            </a:extLst>
          </p:cNvPr>
          <p:cNvSpPr>
            <a:spLocks noGrp="1"/>
          </p:cNvSpPr>
          <p:nvPr>
            <p:ph type="sldNum" sz="quarter" idx="12"/>
          </p:nvPr>
        </p:nvSpPr>
        <p:spPr/>
        <p:txBody>
          <a:bodyPr/>
          <a:lstStyle/>
          <a:p>
            <a:fld id="{6B97D948-30E8-43F7-AE10-F6E2D9F2BBB1}" type="slidenum">
              <a:rPr lang="en-US" smtClean="0"/>
              <a:t>256</a:t>
            </a:fld>
            <a:endParaRPr lang="en-US"/>
          </a:p>
        </p:txBody>
      </p:sp>
    </p:spTree>
    <p:extLst>
      <p:ext uri="{BB962C8B-B14F-4D97-AF65-F5344CB8AC3E}">
        <p14:creationId xmlns:p14="http://schemas.microsoft.com/office/powerpoint/2010/main" val="2166575167"/>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F14A3-32A9-45D3-BAA9-B8BDF21FF89B}"/>
              </a:ext>
            </a:extLst>
          </p:cNvPr>
          <p:cNvSpPr>
            <a:spLocks noGrp="1"/>
          </p:cNvSpPr>
          <p:nvPr>
            <p:ph type="title"/>
          </p:nvPr>
        </p:nvSpPr>
        <p:spPr>
          <a:xfrm>
            <a:off x="838200" y="365126"/>
            <a:ext cx="10515600" cy="649288"/>
          </a:xfrm>
        </p:spPr>
        <p:txBody>
          <a:bodyPr>
            <a:normAutofit fontScale="90000"/>
          </a:bodyPr>
          <a:lstStyle/>
          <a:p>
            <a:r>
              <a:rPr lang="en-US" dirty="0"/>
              <a:t>Line and scatter plots</a:t>
            </a:r>
          </a:p>
        </p:txBody>
      </p:sp>
      <p:sp>
        <p:nvSpPr>
          <p:cNvPr id="3" name="Content Placeholder 2">
            <a:extLst>
              <a:ext uri="{FF2B5EF4-FFF2-40B4-BE49-F238E27FC236}">
                <a16:creationId xmlns:a16="http://schemas.microsoft.com/office/drawing/2014/main" id="{4FFBAE6E-EF9E-4611-AAEF-9008D6700E15}"/>
              </a:ext>
            </a:extLst>
          </p:cNvPr>
          <p:cNvSpPr>
            <a:spLocks noGrp="1"/>
          </p:cNvSpPr>
          <p:nvPr>
            <p:ph idx="1"/>
          </p:nvPr>
        </p:nvSpPr>
        <p:spPr>
          <a:xfrm>
            <a:off x="838200" y="1014414"/>
            <a:ext cx="10515600" cy="5162549"/>
          </a:xfrm>
        </p:spPr>
        <p:txBody>
          <a:bodyPr/>
          <a:lstStyle/>
          <a:p>
            <a:pPr algn="just"/>
            <a:r>
              <a:rPr lang="en-US" dirty="0"/>
              <a:t>Plotting lines in matplotlib allows for significant amounts of customizations.</a:t>
            </a:r>
          </a:p>
          <a:p>
            <a:pPr algn="just"/>
            <a:r>
              <a:rPr lang="en-US" dirty="0"/>
              <a:t>Let’s simply create a line plot of </a:t>
            </a:r>
            <a:r>
              <a:rPr lang="en-US" dirty="0" err="1">
                <a:solidFill>
                  <a:srgbClr val="FF0000"/>
                </a:solidFill>
              </a:rPr>
              <a:t>y_model</a:t>
            </a:r>
            <a:r>
              <a:rPr lang="en-US" dirty="0">
                <a:solidFill>
                  <a:srgbClr val="FF0000"/>
                </a:solidFill>
              </a:rPr>
              <a:t> </a:t>
            </a:r>
            <a:r>
              <a:rPr lang="en-US" dirty="0"/>
              <a:t>and a scatter plot of </a:t>
            </a:r>
            <a:r>
              <a:rPr lang="en-US" dirty="0" err="1">
                <a:solidFill>
                  <a:srgbClr val="FF0000"/>
                </a:solidFill>
              </a:rPr>
              <a:t>y_data</a:t>
            </a:r>
            <a:r>
              <a:rPr lang="en-US" dirty="0"/>
              <a:t>. </a:t>
            </a:r>
          </a:p>
          <a:p>
            <a:pPr algn="just"/>
            <a:r>
              <a:rPr lang="en-US" dirty="0"/>
              <a:t>We’ll adjust the scatter plot color to be black to make sure it’s distinguishable from the blue line of </a:t>
            </a:r>
            <a:r>
              <a:rPr lang="en-US" dirty="0" err="1"/>
              <a:t>y_model</a:t>
            </a:r>
            <a:r>
              <a:rPr lang="en-US" dirty="0"/>
              <a:t>.</a:t>
            </a:r>
          </a:p>
          <a:p>
            <a:pPr algn="just"/>
            <a:r>
              <a:rPr lang="en-US" dirty="0">
                <a:solidFill>
                  <a:srgbClr val="FF0000"/>
                </a:solidFill>
              </a:rPr>
              <a:t>fig, ax = </a:t>
            </a:r>
            <a:r>
              <a:rPr lang="en-US" dirty="0" err="1">
                <a:solidFill>
                  <a:srgbClr val="FF0000"/>
                </a:solidFill>
              </a:rPr>
              <a:t>plt.subplots</a:t>
            </a:r>
            <a:r>
              <a:rPr lang="en-US" dirty="0">
                <a:solidFill>
                  <a:srgbClr val="FF0000"/>
                </a:solidFill>
              </a:rPr>
              <a:t>(</a:t>
            </a:r>
            <a:r>
              <a:rPr lang="en-US" dirty="0" err="1">
                <a:solidFill>
                  <a:srgbClr val="FF0000"/>
                </a:solidFill>
              </a:rPr>
              <a:t>figsize</a:t>
            </a:r>
            <a:r>
              <a:rPr lang="en-US" dirty="0">
                <a:solidFill>
                  <a:srgbClr val="FF0000"/>
                </a:solidFill>
              </a:rPr>
              <a:t>=(7, 7))</a:t>
            </a:r>
          </a:p>
          <a:p>
            <a:pPr algn="just"/>
            <a:r>
              <a:rPr lang="en-US" dirty="0" err="1">
                <a:solidFill>
                  <a:srgbClr val="FF0000"/>
                </a:solidFill>
              </a:rPr>
              <a:t>ax.plot</a:t>
            </a:r>
            <a:r>
              <a:rPr lang="en-US" dirty="0">
                <a:solidFill>
                  <a:srgbClr val="FF0000"/>
                </a:solidFill>
              </a:rPr>
              <a:t>(</a:t>
            </a:r>
            <a:r>
              <a:rPr lang="en-US" dirty="0" err="1">
                <a:solidFill>
                  <a:srgbClr val="FF0000"/>
                </a:solidFill>
              </a:rPr>
              <a:t>x_model</a:t>
            </a:r>
            <a:r>
              <a:rPr lang="en-US" dirty="0">
                <a:solidFill>
                  <a:srgbClr val="FF0000"/>
                </a:solidFill>
              </a:rPr>
              <a:t>, </a:t>
            </a:r>
            <a:r>
              <a:rPr lang="en-US" dirty="0" err="1">
                <a:solidFill>
                  <a:srgbClr val="FF0000"/>
                </a:solidFill>
              </a:rPr>
              <a:t>y_model</a:t>
            </a:r>
            <a:r>
              <a:rPr lang="en-US" dirty="0">
                <a:solidFill>
                  <a:srgbClr val="FF0000"/>
                </a:solidFill>
              </a:rPr>
              <a:t>)</a:t>
            </a:r>
          </a:p>
          <a:p>
            <a:pPr algn="just"/>
            <a:r>
              <a:rPr lang="en-US" dirty="0" err="1">
                <a:solidFill>
                  <a:srgbClr val="FF0000"/>
                </a:solidFill>
              </a:rPr>
              <a:t>ax.scatter</a:t>
            </a:r>
            <a:r>
              <a:rPr lang="en-US" dirty="0">
                <a:solidFill>
                  <a:srgbClr val="FF0000"/>
                </a:solidFill>
              </a:rPr>
              <a:t>(</a:t>
            </a:r>
            <a:r>
              <a:rPr lang="en-US" dirty="0" err="1">
                <a:solidFill>
                  <a:srgbClr val="FF0000"/>
                </a:solidFill>
              </a:rPr>
              <a:t>x_data</a:t>
            </a:r>
            <a:r>
              <a:rPr lang="en-US" dirty="0">
                <a:solidFill>
                  <a:srgbClr val="FF0000"/>
                </a:solidFill>
              </a:rPr>
              <a:t>, </a:t>
            </a:r>
            <a:r>
              <a:rPr lang="en-US" dirty="0" err="1">
                <a:solidFill>
                  <a:srgbClr val="FF0000"/>
                </a:solidFill>
              </a:rPr>
              <a:t>y_data</a:t>
            </a:r>
            <a:r>
              <a:rPr lang="en-US" dirty="0">
                <a:solidFill>
                  <a:srgbClr val="FF0000"/>
                </a:solidFill>
              </a:rPr>
              <a:t>, color="black")</a:t>
            </a:r>
          </a:p>
          <a:p>
            <a:pPr algn="just"/>
            <a:endParaRPr lang="en-US" dirty="0"/>
          </a:p>
        </p:txBody>
      </p:sp>
      <p:sp>
        <p:nvSpPr>
          <p:cNvPr id="4" name="Slide Number Placeholder 3">
            <a:extLst>
              <a:ext uri="{FF2B5EF4-FFF2-40B4-BE49-F238E27FC236}">
                <a16:creationId xmlns:a16="http://schemas.microsoft.com/office/drawing/2014/main" id="{A6A04A7D-D83A-4353-8298-864D70752C59}"/>
              </a:ext>
            </a:extLst>
          </p:cNvPr>
          <p:cNvSpPr>
            <a:spLocks noGrp="1"/>
          </p:cNvSpPr>
          <p:nvPr>
            <p:ph type="sldNum" sz="quarter" idx="12"/>
          </p:nvPr>
        </p:nvSpPr>
        <p:spPr/>
        <p:txBody>
          <a:bodyPr/>
          <a:lstStyle/>
          <a:p>
            <a:fld id="{6B97D948-30E8-43F7-AE10-F6E2D9F2BBB1}" type="slidenum">
              <a:rPr lang="en-US" smtClean="0"/>
              <a:t>257</a:t>
            </a:fld>
            <a:endParaRPr lang="en-US"/>
          </a:p>
        </p:txBody>
      </p:sp>
    </p:spTree>
    <p:extLst>
      <p:ext uri="{BB962C8B-B14F-4D97-AF65-F5344CB8AC3E}">
        <p14:creationId xmlns:p14="http://schemas.microsoft.com/office/powerpoint/2010/main" val="2645569504"/>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62CBE3-D0D8-44A2-A4DA-90D19EAFA55B}"/>
              </a:ext>
            </a:extLst>
          </p:cNvPr>
          <p:cNvPicPr>
            <a:picLocks noGrp="1" noChangeAspect="1"/>
          </p:cNvPicPr>
          <p:nvPr>
            <p:ph idx="1"/>
          </p:nvPr>
        </p:nvPicPr>
        <p:blipFill>
          <a:blip r:embed="rId2"/>
          <a:stretch>
            <a:fillRect/>
          </a:stretch>
        </p:blipFill>
        <p:spPr>
          <a:xfrm>
            <a:off x="3057530" y="736312"/>
            <a:ext cx="5722981" cy="5626391"/>
          </a:xfrm>
          <a:prstGeom prst="rect">
            <a:avLst/>
          </a:prstGeom>
        </p:spPr>
      </p:pic>
      <p:sp>
        <p:nvSpPr>
          <p:cNvPr id="4" name="Slide Number Placeholder 3">
            <a:extLst>
              <a:ext uri="{FF2B5EF4-FFF2-40B4-BE49-F238E27FC236}">
                <a16:creationId xmlns:a16="http://schemas.microsoft.com/office/drawing/2014/main" id="{BF535C6D-03A0-43E5-BA79-76716192F4F1}"/>
              </a:ext>
            </a:extLst>
          </p:cNvPr>
          <p:cNvSpPr>
            <a:spLocks noGrp="1"/>
          </p:cNvSpPr>
          <p:nvPr>
            <p:ph type="sldNum" sz="quarter" idx="12"/>
          </p:nvPr>
        </p:nvSpPr>
        <p:spPr/>
        <p:txBody>
          <a:bodyPr/>
          <a:lstStyle/>
          <a:p>
            <a:fld id="{6B97D948-30E8-43F7-AE10-F6E2D9F2BBB1}" type="slidenum">
              <a:rPr lang="en-US" smtClean="0"/>
              <a:t>258</a:t>
            </a:fld>
            <a:endParaRPr lang="en-US"/>
          </a:p>
        </p:txBody>
      </p:sp>
    </p:spTree>
    <p:extLst>
      <p:ext uri="{BB962C8B-B14F-4D97-AF65-F5344CB8AC3E}">
        <p14:creationId xmlns:p14="http://schemas.microsoft.com/office/powerpoint/2010/main" val="241028503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EA4F6-6959-413D-A5F9-DF6B4DF9FEA5}"/>
              </a:ext>
            </a:extLst>
          </p:cNvPr>
          <p:cNvSpPr>
            <a:spLocks noGrp="1"/>
          </p:cNvSpPr>
          <p:nvPr>
            <p:ph type="title"/>
          </p:nvPr>
        </p:nvSpPr>
        <p:spPr>
          <a:xfrm>
            <a:off x="838200" y="365125"/>
            <a:ext cx="10515600" cy="677863"/>
          </a:xfrm>
        </p:spPr>
        <p:txBody>
          <a:bodyPr>
            <a:normAutofit fontScale="90000"/>
          </a:bodyPr>
          <a:lstStyle/>
          <a:p>
            <a:r>
              <a:rPr lang="en-US" dirty="0"/>
              <a:t>Axis labels</a:t>
            </a:r>
          </a:p>
        </p:txBody>
      </p:sp>
      <p:sp>
        <p:nvSpPr>
          <p:cNvPr id="3" name="Content Placeholder 2">
            <a:extLst>
              <a:ext uri="{FF2B5EF4-FFF2-40B4-BE49-F238E27FC236}">
                <a16:creationId xmlns:a16="http://schemas.microsoft.com/office/drawing/2014/main" id="{D7801570-42F2-427D-B1F8-184997760F8E}"/>
              </a:ext>
            </a:extLst>
          </p:cNvPr>
          <p:cNvSpPr>
            <a:spLocks noGrp="1"/>
          </p:cNvSpPr>
          <p:nvPr>
            <p:ph idx="1"/>
          </p:nvPr>
        </p:nvSpPr>
        <p:spPr>
          <a:xfrm>
            <a:off x="838200" y="1042988"/>
            <a:ext cx="10515600" cy="5313361"/>
          </a:xfrm>
        </p:spPr>
        <p:txBody>
          <a:bodyPr/>
          <a:lstStyle/>
          <a:p>
            <a:pPr algn="just"/>
            <a:r>
              <a:rPr lang="en-US" dirty="0"/>
              <a:t>The next things to add to any good plot are the axis labels so we know the content we’re plotting. </a:t>
            </a:r>
          </a:p>
          <a:p>
            <a:pPr algn="just"/>
            <a:r>
              <a:rPr lang="en-US" dirty="0"/>
              <a:t>Let’s label these simply x and y.</a:t>
            </a:r>
          </a:p>
          <a:p>
            <a:pPr algn="just"/>
            <a:endParaRPr lang="en-US" dirty="0"/>
          </a:p>
          <a:p>
            <a:pPr algn="just"/>
            <a:r>
              <a:rPr lang="en-US" dirty="0">
                <a:solidFill>
                  <a:srgbClr val="FF0000"/>
                </a:solidFill>
              </a:rPr>
              <a:t>fig, ax = </a:t>
            </a:r>
            <a:r>
              <a:rPr lang="en-US" dirty="0" err="1">
                <a:solidFill>
                  <a:srgbClr val="FF0000"/>
                </a:solidFill>
              </a:rPr>
              <a:t>plt.subplots</a:t>
            </a:r>
            <a:r>
              <a:rPr lang="en-US" dirty="0">
                <a:solidFill>
                  <a:srgbClr val="FF0000"/>
                </a:solidFill>
              </a:rPr>
              <a:t>(</a:t>
            </a:r>
            <a:r>
              <a:rPr lang="en-US" dirty="0" err="1">
                <a:solidFill>
                  <a:srgbClr val="FF0000"/>
                </a:solidFill>
              </a:rPr>
              <a:t>figsize</a:t>
            </a:r>
            <a:r>
              <a:rPr lang="en-US" dirty="0">
                <a:solidFill>
                  <a:srgbClr val="FF0000"/>
                </a:solidFill>
              </a:rPr>
              <a:t>=(7, 7))</a:t>
            </a:r>
          </a:p>
          <a:p>
            <a:pPr algn="just"/>
            <a:r>
              <a:rPr lang="en-US" dirty="0" err="1">
                <a:solidFill>
                  <a:srgbClr val="FF0000"/>
                </a:solidFill>
              </a:rPr>
              <a:t>ax.plot</a:t>
            </a:r>
            <a:r>
              <a:rPr lang="en-US" dirty="0">
                <a:solidFill>
                  <a:srgbClr val="FF0000"/>
                </a:solidFill>
              </a:rPr>
              <a:t>(</a:t>
            </a:r>
            <a:r>
              <a:rPr lang="en-US" dirty="0" err="1">
                <a:solidFill>
                  <a:srgbClr val="FF0000"/>
                </a:solidFill>
              </a:rPr>
              <a:t>x_model</a:t>
            </a:r>
            <a:r>
              <a:rPr lang="en-US" dirty="0">
                <a:solidFill>
                  <a:srgbClr val="FF0000"/>
                </a:solidFill>
              </a:rPr>
              <a:t>, </a:t>
            </a:r>
            <a:r>
              <a:rPr lang="en-US" dirty="0" err="1">
                <a:solidFill>
                  <a:srgbClr val="FF0000"/>
                </a:solidFill>
              </a:rPr>
              <a:t>y_model</a:t>
            </a:r>
            <a:r>
              <a:rPr lang="en-US" dirty="0">
                <a:solidFill>
                  <a:srgbClr val="FF0000"/>
                </a:solidFill>
              </a:rPr>
              <a:t>)</a:t>
            </a:r>
          </a:p>
          <a:p>
            <a:pPr algn="just"/>
            <a:r>
              <a:rPr lang="en-US" dirty="0" err="1">
                <a:solidFill>
                  <a:srgbClr val="FF0000"/>
                </a:solidFill>
              </a:rPr>
              <a:t>ax.scatter</a:t>
            </a:r>
            <a:r>
              <a:rPr lang="en-US" dirty="0">
                <a:solidFill>
                  <a:srgbClr val="FF0000"/>
                </a:solidFill>
              </a:rPr>
              <a:t>(</a:t>
            </a:r>
            <a:r>
              <a:rPr lang="en-US" dirty="0" err="1">
                <a:solidFill>
                  <a:srgbClr val="FF0000"/>
                </a:solidFill>
              </a:rPr>
              <a:t>x_data</a:t>
            </a:r>
            <a:r>
              <a:rPr lang="en-US" dirty="0">
                <a:solidFill>
                  <a:srgbClr val="FF0000"/>
                </a:solidFill>
              </a:rPr>
              <a:t>, </a:t>
            </a:r>
            <a:r>
              <a:rPr lang="en-US" dirty="0" err="1">
                <a:solidFill>
                  <a:srgbClr val="FF0000"/>
                </a:solidFill>
              </a:rPr>
              <a:t>y_data</a:t>
            </a:r>
            <a:r>
              <a:rPr lang="en-US" dirty="0">
                <a:solidFill>
                  <a:srgbClr val="FF0000"/>
                </a:solidFill>
              </a:rPr>
              <a:t>, color = "black")</a:t>
            </a:r>
          </a:p>
          <a:p>
            <a:pPr algn="just"/>
            <a:r>
              <a:rPr lang="en-US" dirty="0" err="1">
                <a:solidFill>
                  <a:srgbClr val="FF0000"/>
                </a:solidFill>
              </a:rPr>
              <a:t>ax.set_xlabel</a:t>
            </a:r>
            <a:r>
              <a:rPr lang="en-US" dirty="0">
                <a:solidFill>
                  <a:srgbClr val="FF0000"/>
                </a:solidFill>
              </a:rPr>
              <a:t>("x")</a:t>
            </a:r>
          </a:p>
          <a:p>
            <a:pPr algn="just"/>
            <a:r>
              <a:rPr lang="en-US" dirty="0" err="1">
                <a:solidFill>
                  <a:srgbClr val="FF0000"/>
                </a:solidFill>
              </a:rPr>
              <a:t>ax.set_ylabel</a:t>
            </a:r>
            <a:r>
              <a:rPr lang="en-US" dirty="0">
                <a:solidFill>
                  <a:srgbClr val="FF0000"/>
                </a:solidFill>
              </a:rPr>
              <a:t>("y")</a:t>
            </a:r>
          </a:p>
          <a:p>
            <a:pPr algn="just"/>
            <a:endParaRPr lang="en-US" dirty="0"/>
          </a:p>
          <a:p>
            <a:pPr algn="just"/>
            <a:endParaRPr lang="en-US" dirty="0"/>
          </a:p>
        </p:txBody>
      </p:sp>
      <p:sp>
        <p:nvSpPr>
          <p:cNvPr id="4" name="Slide Number Placeholder 3">
            <a:extLst>
              <a:ext uri="{FF2B5EF4-FFF2-40B4-BE49-F238E27FC236}">
                <a16:creationId xmlns:a16="http://schemas.microsoft.com/office/drawing/2014/main" id="{41879F18-11E0-455A-BADF-38954C302841}"/>
              </a:ext>
            </a:extLst>
          </p:cNvPr>
          <p:cNvSpPr>
            <a:spLocks noGrp="1"/>
          </p:cNvSpPr>
          <p:nvPr>
            <p:ph type="sldNum" sz="quarter" idx="12"/>
          </p:nvPr>
        </p:nvSpPr>
        <p:spPr/>
        <p:txBody>
          <a:bodyPr/>
          <a:lstStyle/>
          <a:p>
            <a:fld id="{6B97D948-30E8-43F7-AE10-F6E2D9F2BBB1}" type="slidenum">
              <a:rPr lang="en-US" smtClean="0"/>
              <a:t>259</a:t>
            </a:fld>
            <a:endParaRPr lang="en-US"/>
          </a:p>
        </p:txBody>
      </p:sp>
    </p:spTree>
    <p:extLst>
      <p:ext uri="{BB962C8B-B14F-4D97-AF65-F5344CB8AC3E}">
        <p14:creationId xmlns:p14="http://schemas.microsoft.com/office/powerpoint/2010/main" val="3142476114"/>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319E88B-E000-4ADB-8AB0-F94E787958AA}"/>
              </a:ext>
            </a:extLst>
          </p:cNvPr>
          <p:cNvPicPr>
            <a:picLocks noGrp="1" noChangeAspect="1"/>
          </p:cNvPicPr>
          <p:nvPr>
            <p:ph idx="1"/>
          </p:nvPr>
        </p:nvPicPr>
        <p:blipFill>
          <a:blip r:embed="rId2"/>
          <a:stretch>
            <a:fillRect/>
          </a:stretch>
        </p:blipFill>
        <p:spPr>
          <a:xfrm>
            <a:off x="2814640" y="919462"/>
            <a:ext cx="5678909" cy="5586117"/>
          </a:xfrm>
          <a:prstGeom prst="rect">
            <a:avLst/>
          </a:prstGeom>
        </p:spPr>
      </p:pic>
      <p:sp>
        <p:nvSpPr>
          <p:cNvPr id="4" name="Slide Number Placeholder 3">
            <a:extLst>
              <a:ext uri="{FF2B5EF4-FFF2-40B4-BE49-F238E27FC236}">
                <a16:creationId xmlns:a16="http://schemas.microsoft.com/office/drawing/2014/main" id="{3381043A-EEAE-4EAF-97E6-36D4D70F5D29}"/>
              </a:ext>
            </a:extLst>
          </p:cNvPr>
          <p:cNvSpPr>
            <a:spLocks noGrp="1"/>
          </p:cNvSpPr>
          <p:nvPr>
            <p:ph type="sldNum" sz="quarter" idx="12"/>
          </p:nvPr>
        </p:nvSpPr>
        <p:spPr/>
        <p:txBody>
          <a:bodyPr/>
          <a:lstStyle/>
          <a:p>
            <a:fld id="{6B97D948-30E8-43F7-AE10-F6E2D9F2BBB1}" type="slidenum">
              <a:rPr lang="en-US" smtClean="0"/>
              <a:t>260</a:t>
            </a:fld>
            <a:endParaRPr lang="en-US"/>
          </a:p>
        </p:txBody>
      </p:sp>
    </p:spTree>
    <p:extLst>
      <p:ext uri="{BB962C8B-B14F-4D97-AF65-F5344CB8AC3E}">
        <p14:creationId xmlns:p14="http://schemas.microsoft.com/office/powerpoint/2010/main" val="282026740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24345-2AC9-4226-B69A-2927F340523A}"/>
              </a:ext>
            </a:extLst>
          </p:cNvPr>
          <p:cNvSpPr>
            <a:spLocks noGrp="1"/>
          </p:cNvSpPr>
          <p:nvPr>
            <p:ph type="title"/>
          </p:nvPr>
        </p:nvSpPr>
        <p:spPr>
          <a:xfrm>
            <a:off x="838200" y="365126"/>
            <a:ext cx="10515600" cy="763588"/>
          </a:xfrm>
        </p:spPr>
        <p:txBody>
          <a:bodyPr/>
          <a:lstStyle/>
          <a:p>
            <a:r>
              <a:rPr lang="en-US" dirty="0"/>
              <a:t>Ticks and tick labels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2E95509-D3D7-4208-B8D7-422F95B9997A}"/>
                  </a:ext>
                </a:extLst>
              </p:cNvPr>
              <p:cNvSpPr>
                <a:spLocks noGrp="1"/>
              </p:cNvSpPr>
              <p:nvPr>
                <p:ph idx="1"/>
              </p:nvPr>
            </p:nvSpPr>
            <p:spPr>
              <a:xfrm>
                <a:off x="838200" y="1128714"/>
                <a:ext cx="10515600" cy="5048249"/>
              </a:xfrm>
            </p:spPr>
            <p:txBody>
              <a:bodyPr>
                <a:normAutofit fontScale="92500" lnSpcReduction="10000"/>
              </a:bodyPr>
              <a:lstStyle/>
              <a:p>
                <a:pPr algn="just"/>
                <a:r>
                  <a:rPr lang="en-US" dirty="0"/>
                  <a:t>Sometimes we want to customize the locations of ticks on a plot or even how the data are labeled. </a:t>
                </a:r>
              </a:p>
              <a:p>
                <a:pPr algn="just"/>
                <a:r>
                  <a:rPr lang="en-US" dirty="0"/>
                  <a:t>For the y-axis, let’s make the ticks be every 2 units from -6 to 4. </a:t>
                </a:r>
              </a:p>
              <a:p>
                <a:pPr algn="just"/>
                <a:r>
                  <a:rPr lang="en-US" dirty="0"/>
                  <a:t>In this case, the x-axis for our plot covers the range 0 to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oMath>
                </a14:m>
                <a:r>
                  <a:rPr lang="en-US" dirty="0"/>
                  <a:t>, where </a:t>
                </a: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i="1" smtClean="0">
                        <a:latin typeface="Cambria Math" panose="02040503050406030204" pitchFamily="18" charset="0"/>
                        <a:ea typeface="Cambria Math" panose="02040503050406030204" pitchFamily="18" charset="0"/>
                      </a:rPr>
                      <m:t>≈3.14</m:t>
                    </m:r>
                  </m:oMath>
                </a14:m>
                <a:r>
                  <a:rPr lang="en-US" dirty="0"/>
                  <a:t>.</a:t>
                </a:r>
              </a:p>
              <a:p>
                <a:pPr algn="just"/>
                <a:r>
                  <a:rPr lang="en-US" dirty="0"/>
                  <a:t>Here, we want ticks at the locations </a:t>
                </a:r>
                <a14:m>
                  <m:oMath xmlns:m="http://schemas.openxmlformats.org/officeDocument/2006/math">
                    <m:r>
                      <a:rPr lang="en-US" b="0" i="1" smtClean="0">
                        <a:latin typeface="Cambria Math" panose="02040503050406030204" pitchFamily="18" charset="0"/>
                      </a:rPr>
                      <m:t>[0,</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rPr>
                      <m:t>]</m:t>
                    </m:r>
                  </m:oMath>
                </a14:m>
                <a:r>
                  <a:rPr lang="en-US" dirty="0"/>
                  <a:t>, in </a:t>
                </a:r>
                <a:r>
                  <a:rPr lang="en-US" dirty="0">
                    <a:solidFill>
                      <a:srgbClr val="FF0000"/>
                    </a:solidFill>
                  </a:rPr>
                  <a:t>units of radians</a:t>
                </a:r>
                <a:r>
                  <a:rPr lang="en-US" dirty="0"/>
                  <a:t>. </a:t>
                </a:r>
              </a:p>
              <a:p>
                <a:pPr algn="just"/>
                <a:r>
                  <a:rPr lang="en-US" dirty="0"/>
                  <a:t>Let’s say we want to represent this by labeling the axes in units of degrees instead. </a:t>
                </a:r>
              </a:p>
              <a:p>
                <a:pPr algn="just"/>
                <a:r>
                  <a:rPr lang="en-US" dirty="0"/>
                  <a:t>In that case, </a:t>
                </a:r>
                <a14:m>
                  <m:oMath xmlns:m="http://schemas.openxmlformats.org/officeDocument/2006/math">
                    <m:r>
                      <a:rPr lang="en-US" i="1" smtClean="0">
                        <a:latin typeface="Cambria Math" panose="02040503050406030204" pitchFamily="18" charset="0"/>
                        <a:ea typeface="Cambria Math" panose="02040503050406030204" pitchFamily="18" charset="0"/>
                      </a:rPr>
                      <m:t>𝜋</m:t>
                    </m:r>
                  </m:oMath>
                </a14:m>
                <a:r>
                  <a:rPr lang="en-US" dirty="0"/>
                  <a:t> radians is 180 degrees, so the number of degrees that represent each of the above units is[0, 90, 180, 270, 360]. </a:t>
                </a:r>
              </a:p>
              <a:p>
                <a:pPr algn="just"/>
                <a:r>
                  <a:rPr lang="en-US" dirty="0"/>
                  <a:t>Now, let’s update our plot accordingly and label the units of the x-axis as degrees.</a:t>
                </a:r>
              </a:p>
            </p:txBody>
          </p:sp>
        </mc:Choice>
        <mc:Fallback>
          <p:sp>
            <p:nvSpPr>
              <p:cNvPr id="3" name="Content Placeholder 2">
                <a:extLst>
                  <a:ext uri="{FF2B5EF4-FFF2-40B4-BE49-F238E27FC236}">
                    <a16:creationId xmlns:a16="http://schemas.microsoft.com/office/drawing/2014/main" id="{E2E95509-D3D7-4208-B8D7-422F95B9997A}"/>
                  </a:ext>
                </a:extLst>
              </p:cNvPr>
              <p:cNvSpPr>
                <a:spLocks noGrp="1" noRot="1" noChangeAspect="1" noMove="1" noResize="1" noEditPoints="1" noAdjustHandles="1" noChangeArrowheads="1" noChangeShapeType="1" noTextEdit="1"/>
              </p:cNvSpPr>
              <p:nvPr>
                <p:ph idx="1"/>
              </p:nvPr>
            </p:nvSpPr>
            <p:spPr>
              <a:xfrm>
                <a:off x="838200" y="1128714"/>
                <a:ext cx="10515600" cy="5048249"/>
              </a:xfrm>
              <a:blipFill>
                <a:blip r:embed="rId2"/>
                <a:stretch>
                  <a:fillRect l="-928" t="-2415" r="-9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4C537C1-8B5F-4C5E-BF7D-5B586C97B728}"/>
              </a:ext>
            </a:extLst>
          </p:cNvPr>
          <p:cNvSpPr>
            <a:spLocks noGrp="1"/>
          </p:cNvSpPr>
          <p:nvPr>
            <p:ph type="sldNum" sz="quarter" idx="12"/>
          </p:nvPr>
        </p:nvSpPr>
        <p:spPr/>
        <p:txBody>
          <a:bodyPr/>
          <a:lstStyle/>
          <a:p>
            <a:fld id="{6B97D948-30E8-43F7-AE10-F6E2D9F2BBB1}" type="slidenum">
              <a:rPr lang="en-US" smtClean="0"/>
              <a:t>261</a:t>
            </a:fld>
            <a:endParaRPr lang="en-US"/>
          </a:p>
        </p:txBody>
      </p:sp>
    </p:spTree>
    <p:extLst>
      <p:ext uri="{BB962C8B-B14F-4D97-AF65-F5344CB8AC3E}">
        <p14:creationId xmlns:p14="http://schemas.microsoft.com/office/powerpoint/2010/main" val="631722795"/>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0E733C-ED68-4801-AC2B-FBA32CA2CFA9}"/>
              </a:ext>
            </a:extLst>
          </p:cNvPr>
          <p:cNvSpPr>
            <a:spLocks noGrp="1"/>
          </p:cNvSpPr>
          <p:nvPr>
            <p:ph idx="1"/>
          </p:nvPr>
        </p:nvSpPr>
        <p:spPr>
          <a:xfrm>
            <a:off x="838200" y="442913"/>
            <a:ext cx="10515600" cy="5734050"/>
          </a:xfrm>
        </p:spPr>
        <p:txBody>
          <a:bodyPr/>
          <a:lstStyle/>
          <a:p>
            <a:r>
              <a:rPr lang="en-US" dirty="0"/>
              <a:t>fig, ax = </a:t>
            </a:r>
            <a:r>
              <a:rPr lang="en-US" dirty="0" err="1"/>
              <a:t>plt.subplots</a:t>
            </a:r>
            <a:r>
              <a:rPr lang="en-US" dirty="0"/>
              <a:t>(</a:t>
            </a:r>
            <a:r>
              <a:rPr lang="en-US" dirty="0" err="1"/>
              <a:t>figsize</a:t>
            </a:r>
            <a:r>
              <a:rPr lang="en-US" dirty="0"/>
              <a:t>=(7, 7))</a:t>
            </a:r>
          </a:p>
          <a:p>
            <a:r>
              <a:rPr lang="en-US" dirty="0" err="1"/>
              <a:t>ax.plot</a:t>
            </a:r>
            <a:r>
              <a:rPr lang="en-US" dirty="0"/>
              <a:t>(</a:t>
            </a:r>
            <a:r>
              <a:rPr lang="en-US" dirty="0" err="1"/>
              <a:t>x_model</a:t>
            </a:r>
            <a:r>
              <a:rPr lang="en-US" dirty="0"/>
              <a:t>, </a:t>
            </a:r>
            <a:r>
              <a:rPr lang="en-US" dirty="0" err="1"/>
              <a:t>y_model</a:t>
            </a:r>
            <a:r>
              <a:rPr lang="en-US" dirty="0"/>
              <a:t>)</a:t>
            </a:r>
          </a:p>
          <a:p>
            <a:r>
              <a:rPr lang="en-US" dirty="0" err="1"/>
              <a:t>ax.scatter</a:t>
            </a:r>
            <a:r>
              <a:rPr lang="en-US" dirty="0"/>
              <a:t>(</a:t>
            </a:r>
            <a:r>
              <a:rPr lang="en-US" dirty="0" err="1"/>
              <a:t>x_data</a:t>
            </a:r>
            <a:r>
              <a:rPr lang="en-US" dirty="0"/>
              <a:t>, </a:t>
            </a:r>
            <a:r>
              <a:rPr lang="en-US" dirty="0" err="1"/>
              <a:t>y_data</a:t>
            </a:r>
            <a:r>
              <a:rPr lang="en-US" dirty="0"/>
              <a:t>, color = 'black')</a:t>
            </a:r>
          </a:p>
          <a:p>
            <a:r>
              <a:rPr lang="en-US" dirty="0" err="1"/>
              <a:t>ax.set_xlabel</a:t>
            </a:r>
            <a:r>
              <a:rPr lang="en-US" dirty="0"/>
              <a:t>('x [degrees]')</a:t>
            </a:r>
          </a:p>
          <a:p>
            <a:r>
              <a:rPr lang="en-US" dirty="0" err="1"/>
              <a:t>ax.set_ylabel</a:t>
            </a:r>
            <a:r>
              <a:rPr lang="en-US" dirty="0"/>
              <a:t>('y')</a:t>
            </a:r>
          </a:p>
          <a:p>
            <a:r>
              <a:rPr lang="en-US" dirty="0" err="1"/>
              <a:t>ax.set_xticks</a:t>
            </a:r>
            <a:r>
              <a:rPr lang="en-US" dirty="0"/>
              <a:t>([0, </a:t>
            </a:r>
            <a:r>
              <a:rPr lang="en-US" dirty="0" err="1"/>
              <a:t>np.pi</a:t>
            </a:r>
            <a:r>
              <a:rPr lang="en-US" dirty="0"/>
              <a:t> / 2, </a:t>
            </a:r>
            <a:r>
              <a:rPr lang="en-US" dirty="0" err="1"/>
              <a:t>np.pi</a:t>
            </a:r>
            <a:r>
              <a:rPr lang="en-US" dirty="0"/>
              <a:t>, 3 / 2 * </a:t>
            </a:r>
            <a:r>
              <a:rPr lang="en-US" dirty="0" err="1"/>
              <a:t>np.pi</a:t>
            </a:r>
            <a:r>
              <a:rPr lang="en-US" dirty="0"/>
              <a:t>, 2 * </a:t>
            </a:r>
            <a:r>
              <a:rPr lang="en-US" dirty="0" err="1"/>
              <a:t>np.pi</a:t>
            </a:r>
            <a:r>
              <a:rPr lang="en-US" dirty="0"/>
              <a:t>])</a:t>
            </a:r>
          </a:p>
          <a:p>
            <a:r>
              <a:rPr lang="en-US" dirty="0" err="1"/>
              <a:t>ax.set_xticklabels</a:t>
            </a:r>
            <a:r>
              <a:rPr lang="en-US" dirty="0"/>
              <a:t>([0, 90, 180, 270, 360])</a:t>
            </a:r>
          </a:p>
          <a:p>
            <a:r>
              <a:rPr lang="en-US" dirty="0" err="1"/>
              <a:t>ax.set_yticks</a:t>
            </a:r>
            <a:r>
              <a:rPr lang="en-US" dirty="0"/>
              <a:t>([-6, -4, -2, 0, 2, 4])</a:t>
            </a:r>
          </a:p>
        </p:txBody>
      </p:sp>
      <p:sp>
        <p:nvSpPr>
          <p:cNvPr id="4" name="Slide Number Placeholder 3">
            <a:extLst>
              <a:ext uri="{FF2B5EF4-FFF2-40B4-BE49-F238E27FC236}">
                <a16:creationId xmlns:a16="http://schemas.microsoft.com/office/drawing/2014/main" id="{6E189EAA-9A26-4F46-A339-7DDACF84015A}"/>
              </a:ext>
            </a:extLst>
          </p:cNvPr>
          <p:cNvSpPr>
            <a:spLocks noGrp="1"/>
          </p:cNvSpPr>
          <p:nvPr>
            <p:ph type="sldNum" sz="quarter" idx="12"/>
          </p:nvPr>
        </p:nvSpPr>
        <p:spPr/>
        <p:txBody>
          <a:bodyPr/>
          <a:lstStyle/>
          <a:p>
            <a:fld id="{6B97D948-30E8-43F7-AE10-F6E2D9F2BBB1}" type="slidenum">
              <a:rPr lang="en-US" smtClean="0"/>
              <a:t>262</a:t>
            </a:fld>
            <a:endParaRPr lang="en-US"/>
          </a:p>
        </p:txBody>
      </p:sp>
    </p:spTree>
    <p:extLst>
      <p:ext uri="{BB962C8B-B14F-4D97-AF65-F5344CB8AC3E}">
        <p14:creationId xmlns:p14="http://schemas.microsoft.com/office/powerpoint/2010/main" val="166869019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27CD736-3EDD-4A11-BA6D-BE78E60FC1CE}"/>
              </a:ext>
            </a:extLst>
          </p:cNvPr>
          <p:cNvPicPr>
            <a:picLocks noGrp="1" noChangeAspect="1"/>
          </p:cNvPicPr>
          <p:nvPr>
            <p:ph idx="1"/>
          </p:nvPr>
        </p:nvPicPr>
        <p:blipFill>
          <a:blip r:embed="rId2"/>
          <a:stretch>
            <a:fillRect/>
          </a:stretch>
        </p:blipFill>
        <p:spPr>
          <a:xfrm>
            <a:off x="3314708" y="518824"/>
            <a:ext cx="5930347" cy="5886742"/>
          </a:xfrm>
          <a:prstGeom prst="rect">
            <a:avLst/>
          </a:prstGeom>
        </p:spPr>
      </p:pic>
      <p:sp>
        <p:nvSpPr>
          <p:cNvPr id="4" name="Slide Number Placeholder 3">
            <a:extLst>
              <a:ext uri="{FF2B5EF4-FFF2-40B4-BE49-F238E27FC236}">
                <a16:creationId xmlns:a16="http://schemas.microsoft.com/office/drawing/2014/main" id="{67D5E478-9F85-449B-8C15-60572C3137DB}"/>
              </a:ext>
            </a:extLst>
          </p:cNvPr>
          <p:cNvSpPr>
            <a:spLocks noGrp="1"/>
          </p:cNvSpPr>
          <p:nvPr>
            <p:ph type="sldNum" sz="quarter" idx="12"/>
          </p:nvPr>
        </p:nvSpPr>
        <p:spPr/>
        <p:txBody>
          <a:bodyPr/>
          <a:lstStyle/>
          <a:p>
            <a:fld id="{6B97D948-30E8-43F7-AE10-F6E2D9F2BBB1}" type="slidenum">
              <a:rPr lang="en-US" smtClean="0"/>
              <a:t>263</a:t>
            </a:fld>
            <a:endParaRPr lang="en-US"/>
          </a:p>
        </p:txBody>
      </p:sp>
    </p:spTree>
    <p:extLst>
      <p:ext uri="{BB962C8B-B14F-4D97-AF65-F5344CB8AC3E}">
        <p14:creationId xmlns:p14="http://schemas.microsoft.com/office/powerpoint/2010/main" val="2801913523"/>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1CD59-EE07-40F5-9AA1-F6465D7BCFFD}"/>
              </a:ext>
            </a:extLst>
          </p:cNvPr>
          <p:cNvSpPr>
            <a:spLocks noGrp="1"/>
          </p:cNvSpPr>
          <p:nvPr>
            <p:ph type="title"/>
          </p:nvPr>
        </p:nvSpPr>
        <p:spPr>
          <a:xfrm>
            <a:off x="838200" y="365125"/>
            <a:ext cx="10515600" cy="620713"/>
          </a:xfrm>
        </p:spPr>
        <p:txBody>
          <a:bodyPr>
            <a:normAutofit fontScale="90000"/>
          </a:bodyPr>
          <a:lstStyle/>
          <a:p>
            <a:r>
              <a:rPr lang="en-US" dirty="0"/>
              <a:t>Axis limits</a:t>
            </a:r>
          </a:p>
        </p:txBody>
      </p:sp>
      <p:sp>
        <p:nvSpPr>
          <p:cNvPr id="3" name="Content Placeholder 2">
            <a:extLst>
              <a:ext uri="{FF2B5EF4-FFF2-40B4-BE49-F238E27FC236}">
                <a16:creationId xmlns:a16="http://schemas.microsoft.com/office/drawing/2014/main" id="{5D553C56-2A96-4725-BCF1-B3F45CF08F29}"/>
              </a:ext>
            </a:extLst>
          </p:cNvPr>
          <p:cNvSpPr>
            <a:spLocks noGrp="1"/>
          </p:cNvSpPr>
          <p:nvPr>
            <p:ph idx="1"/>
          </p:nvPr>
        </p:nvSpPr>
        <p:spPr>
          <a:xfrm>
            <a:off x="838200" y="985838"/>
            <a:ext cx="10515600" cy="5191125"/>
          </a:xfrm>
        </p:spPr>
        <p:txBody>
          <a:bodyPr/>
          <a:lstStyle/>
          <a:p>
            <a:pPr algn="just"/>
            <a:r>
              <a:rPr lang="en-US" dirty="0"/>
              <a:t>Sometimes a plot’s automatically chosen limits don’t align with what you want. </a:t>
            </a:r>
          </a:p>
          <a:p>
            <a:pPr algn="just"/>
            <a:r>
              <a:rPr lang="en-US" dirty="0"/>
              <a:t>For example, in the above plot, the plot includes values below 0 degrees and above 360. </a:t>
            </a:r>
          </a:p>
          <a:p>
            <a:pPr algn="just"/>
            <a:r>
              <a:rPr lang="en-US" dirty="0"/>
              <a:t>Let’s place a limit on the x-values (in the original units of radians since those match the values being input into the plot).</a:t>
            </a:r>
          </a:p>
        </p:txBody>
      </p:sp>
      <p:sp>
        <p:nvSpPr>
          <p:cNvPr id="4" name="Slide Number Placeholder 3">
            <a:extLst>
              <a:ext uri="{FF2B5EF4-FFF2-40B4-BE49-F238E27FC236}">
                <a16:creationId xmlns:a16="http://schemas.microsoft.com/office/drawing/2014/main" id="{B78E494E-971A-4FF4-A41A-62CB59412E73}"/>
              </a:ext>
            </a:extLst>
          </p:cNvPr>
          <p:cNvSpPr>
            <a:spLocks noGrp="1"/>
          </p:cNvSpPr>
          <p:nvPr>
            <p:ph type="sldNum" sz="quarter" idx="12"/>
          </p:nvPr>
        </p:nvSpPr>
        <p:spPr/>
        <p:txBody>
          <a:bodyPr/>
          <a:lstStyle/>
          <a:p>
            <a:fld id="{6B97D948-30E8-43F7-AE10-F6E2D9F2BBB1}" type="slidenum">
              <a:rPr lang="en-US" smtClean="0"/>
              <a:t>264</a:t>
            </a:fld>
            <a:endParaRPr lang="en-US"/>
          </a:p>
        </p:txBody>
      </p:sp>
    </p:spTree>
    <p:extLst>
      <p:ext uri="{BB962C8B-B14F-4D97-AF65-F5344CB8AC3E}">
        <p14:creationId xmlns:p14="http://schemas.microsoft.com/office/powerpoint/2010/main" val="1942478134"/>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92D83C-C75E-430B-BB08-895231DD572C}"/>
              </a:ext>
            </a:extLst>
          </p:cNvPr>
          <p:cNvSpPr>
            <a:spLocks noGrp="1"/>
          </p:cNvSpPr>
          <p:nvPr>
            <p:ph idx="1"/>
          </p:nvPr>
        </p:nvSpPr>
        <p:spPr>
          <a:xfrm>
            <a:off x="838200" y="300038"/>
            <a:ext cx="10515600" cy="5876925"/>
          </a:xfrm>
        </p:spPr>
        <p:txBody>
          <a:bodyPr>
            <a:normAutofit/>
          </a:bodyPr>
          <a:lstStyle/>
          <a:p>
            <a:r>
              <a:rPr lang="en-US" dirty="0">
                <a:solidFill>
                  <a:srgbClr val="FF0000"/>
                </a:solidFill>
              </a:rPr>
              <a:t>fig, ax = </a:t>
            </a:r>
            <a:r>
              <a:rPr lang="en-US" dirty="0" err="1">
                <a:solidFill>
                  <a:srgbClr val="FF0000"/>
                </a:solidFill>
              </a:rPr>
              <a:t>plt.subplots</a:t>
            </a:r>
            <a:r>
              <a:rPr lang="en-US" dirty="0">
                <a:solidFill>
                  <a:srgbClr val="FF0000"/>
                </a:solidFill>
              </a:rPr>
              <a:t>(</a:t>
            </a:r>
            <a:r>
              <a:rPr lang="en-US" dirty="0" err="1">
                <a:solidFill>
                  <a:srgbClr val="FF0000"/>
                </a:solidFill>
              </a:rPr>
              <a:t>figsize</a:t>
            </a:r>
            <a:r>
              <a:rPr lang="en-US" dirty="0">
                <a:solidFill>
                  <a:srgbClr val="FF0000"/>
                </a:solidFill>
              </a:rPr>
              <a:t>=(7, 7))</a:t>
            </a:r>
          </a:p>
          <a:p>
            <a:r>
              <a:rPr lang="en-US" dirty="0" err="1">
                <a:solidFill>
                  <a:srgbClr val="FF0000"/>
                </a:solidFill>
              </a:rPr>
              <a:t>ax.plot</a:t>
            </a:r>
            <a:r>
              <a:rPr lang="en-US" dirty="0">
                <a:solidFill>
                  <a:srgbClr val="FF0000"/>
                </a:solidFill>
              </a:rPr>
              <a:t>(</a:t>
            </a:r>
            <a:r>
              <a:rPr lang="en-US" dirty="0" err="1">
                <a:solidFill>
                  <a:srgbClr val="FF0000"/>
                </a:solidFill>
              </a:rPr>
              <a:t>x_model</a:t>
            </a:r>
            <a:r>
              <a:rPr lang="en-US" dirty="0">
                <a:solidFill>
                  <a:srgbClr val="FF0000"/>
                </a:solidFill>
              </a:rPr>
              <a:t>, </a:t>
            </a:r>
            <a:r>
              <a:rPr lang="en-US" dirty="0" err="1">
                <a:solidFill>
                  <a:srgbClr val="FF0000"/>
                </a:solidFill>
              </a:rPr>
              <a:t>y_model</a:t>
            </a:r>
            <a:r>
              <a:rPr lang="en-US" dirty="0">
                <a:solidFill>
                  <a:srgbClr val="FF0000"/>
                </a:solidFill>
              </a:rPr>
              <a:t>)</a:t>
            </a:r>
          </a:p>
          <a:p>
            <a:r>
              <a:rPr lang="en-US" dirty="0" err="1">
                <a:solidFill>
                  <a:srgbClr val="FF0000"/>
                </a:solidFill>
              </a:rPr>
              <a:t>ax.scatter</a:t>
            </a:r>
            <a:r>
              <a:rPr lang="en-US" dirty="0">
                <a:solidFill>
                  <a:srgbClr val="FF0000"/>
                </a:solidFill>
              </a:rPr>
              <a:t>(</a:t>
            </a:r>
            <a:r>
              <a:rPr lang="en-US" dirty="0" err="1">
                <a:solidFill>
                  <a:srgbClr val="FF0000"/>
                </a:solidFill>
              </a:rPr>
              <a:t>x_data</a:t>
            </a:r>
            <a:r>
              <a:rPr lang="en-US" dirty="0">
                <a:solidFill>
                  <a:srgbClr val="FF0000"/>
                </a:solidFill>
              </a:rPr>
              <a:t>, </a:t>
            </a:r>
            <a:r>
              <a:rPr lang="en-US" dirty="0" err="1">
                <a:solidFill>
                  <a:srgbClr val="FF0000"/>
                </a:solidFill>
              </a:rPr>
              <a:t>y_data</a:t>
            </a:r>
            <a:r>
              <a:rPr lang="en-US" dirty="0">
                <a:solidFill>
                  <a:srgbClr val="FF0000"/>
                </a:solidFill>
              </a:rPr>
              <a:t>, color='black')</a:t>
            </a:r>
          </a:p>
          <a:p>
            <a:r>
              <a:rPr lang="en-US" dirty="0" err="1">
                <a:solidFill>
                  <a:srgbClr val="FF0000"/>
                </a:solidFill>
              </a:rPr>
              <a:t>ax.set_xlabel</a:t>
            </a:r>
            <a:r>
              <a:rPr lang="en-US" dirty="0">
                <a:solidFill>
                  <a:srgbClr val="FF0000"/>
                </a:solidFill>
              </a:rPr>
              <a:t>('x [degrees]')</a:t>
            </a:r>
          </a:p>
          <a:p>
            <a:r>
              <a:rPr lang="en-US" dirty="0" err="1">
                <a:solidFill>
                  <a:srgbClr val="FF0000"/>
                </a:solidFill>
              </a:rPr>
              <a:t>ax.set_ylabel</a:t>
            </a:r>
            <a:r>
              <a:rPr lang="en-US" dirty="0">
                <a:solidFill>
                  <a:srgbClr val="FF0000"/>
                </a:solidFill>
              </a:rPr>
              <a:t>('y')</a:t>
            </a:r>
          </a:p>
          <a:p>
            <a:r>
              <a:rPr lang="en-US" dirty="0" err="1">
                <a:solidFill>
                  <a:srgbClr val="FF0000"/>
                </a:solidFill>
              </a:rPr>
              <a:t>ax.set_xticks</a:t>
            </a:r>
            <a:r>
              <a:rPr lang="en-US" dirty="0">
                <a:solidFill>
                  <a:srgbClr val="FF0000"/>
                </a:solidFill>
              </a:rPr>
              <a:t>([0, </a:t>
            </a:r>
            <a:r>
              <a:rPr lang="en-US" dirty="0" err="1">
                <a:solidFill>
                  <a:srgbClr val="FF0000"/>
                </a:solidFill>
              </a:rPr>
              <a:t>np.pi</a:t>
            </a:r>
            <a:r>
              <a:rPr lang="en-US" dirty="0">
                <a:solidFill>
                  <a:srgbClr val="FF0000"/>
                </a:solidFill>
              </a:rPr>
              <a:t> / 2, </a:t>
            </a:r>
            <a:r>
              <a:rPr lang="en-US" dirty="0" err="1">
                <a:solidFill>
                  <a:srgbClr val="FF0000"/>
                </a:solidFill>
              </a:rPr>
              <a:t>np.pi</a:t>
            </a:r>
            <a:r>
              <a:rPr lang="en-US" dirty="0">
                <a:solidFill>
                  <a:srgbClr val="FF0000"/>
                </a:solidFill>
              </a:rPr>
              <a:t>, 3 / 2 * </a:t>
            </a:r>
            <a:r>
              <a:rPr lang="en-US" dirty="0" err="1">
                <a:solidFill>
                  <a:srgbClr val="FF0000"/>
                </a:solidFill>
              </a:rPr>
              <a:t>np.pi</a:t>
            </a:r>
            <a:r>
              <a:rPr lang="en-US" dirty="0">
                <a:solidFill>
                  <a:srgbClr val="FF0000"/>
                </a:solidFill>
              </a:rPr>
              <a:t>, 2 * </a:t>
            </a:r>
            <a:r>
              <a:rPr lang="en-US" dirty="0" err="1">
                <a:solidFill>
                  <a:srgbClr val="FF0000"/>
                </a:solidFill>
              </a:rPr>
              <a:t>np.pi</a:t>
            </a:r>
            <a:r>
              <a:rPr lang="en-US" dirty="0">
                <a:solidFill>
                  <a:srgbClr val="FF0000"/>
                </a:solidFill>
              </a:rPr>
              <a:t>])</a:t>
            </a:r>
          </a:p>
          <a:p>
            <a:r>
              <a:rPr lang="en-US" dirty="0" err="1">
                <a:solidFill>
                  <a:srgbClr val="FF0000"/>
                </a:solidFill>
              </a:rPr>
              <a:t>ax.set_xticklabels</a:t>
            </a:r>
            <a:r>
              <a:rPr lang="en-US" dirty="0">
                <a:solidFill>
                  <a:srgbClr val="FF0000"/>
                </a:solidFill>
              </a:rPr>
              <a:t>([0, 90, 180, 270, 360])</a:t>
            </a:r>
          </a:p>
          <a:p>
            <a:r>
              <a:rPr lang="en-US" dirty="0" err="1">
                <a:solidFill>
                  <a:srgbClr val="FF0000"/>
                </a:solidFill>
              </a:rPr>
              <a:t>ax.set_yticks</a:t>
            </a:r>
            <a:r>
              <a:rPr lang="en-US" dirty="0">
                <a:solidFill>
                  <a:srgbClr val="FF0000"/>
                </a:solidFill>
              </a:rPr>
              <a:t>([-6, -4, -2, 0, 2, 4])</a:t>
            </a:r>
          </a:p>
          <a:p>
            <a:r>
              <a:rPr lang="en-US" dirty="0" err="1">
                <a:solidFill>
                  <a:srgbClr val="FF0000"/>
                </a:solidFill>
              </a:rPr>
              <a:t>ax.set_xlim</a:t>
            </a:r>
            <a:r>
              <a:rPr lang="en-US" dirty="0">
                <a:solidFill>
                  <a:srgbClr val="FF0000"/>
                </a:solidFill>
              </a:rPr>
              <a:t>([0, 2 * </a:t>
            </a:r>
            <a:r>
              <a:rPr lang="en-US" dirty="0" err="1">
                <a:solidFill>
                  <a:srgbClr val="FF0000"/>
                </a:solidFill>
              </a:rPr>
              <a:t>np.pi</a:t>
            </a:r>
            <a:r>
              <a:rPr lang="en-US" dirty="0">
                <a:solidFill>
                  <a:srgbClr val="FF0000"/>
                </a:solidFill>
              </a:rPr>
              <a:t>])</a:t>
            </a:r>
          </a:p>
        </p:txBody>
      </p:sp>
      <p:sp>
        <p:nvSpPr>
          <p:cNvPr id="4" name="Slide Number Placeholder 3">
            <a:extLst>
              <a:ext uri="{FF2B5EF4-FFF2-40B4-BE49-F238E27FC236}">
                <a16:creationId xmlns:a16="http://schemas.microsoft.com/office/drawing/2014/main" id="{30AB2266-4CC6-4933-978A-F4D967842352}"/>
              </a:ext>
            </a:extLst>
          </p:cNvPr>
          <p:cNvSpPr>
            <a:spLocks noGrp="1"/>
          </p:cNvSpPr>
          <p:nvPr>
            <p:ph type="sldNum" sz="quarter" idx="12"/>
          </p:nvPr>
        </p:nvSpPr>
        <p:spPr/>
        <p:txBody>
          <a:bodyPr/>
          <a:lstStyle/>
          <a:p>
            <a:fld id="{6B97D948-30E8-43F7-AE10-F6E2D9F2BBB1}" type="slidenum">
              <a:rPr lang="en-US" smtClean="0"/>
              <a:t>265</a:t>
            </a:fld>
            <a:endParaRPr lang="en-US"/>
          </a:p>
        </p:txBody>
      </p:sp>
    </p:spTree>
    <p:extLst>
      <p:ext uri="{BB962C8B-B14F-4D97-AF65-F5344CB8AC3E}">
        <p14:creationId xmlns:p14="http://schemas.microsoft.com/office/powerpoint/2010/main" val="2982856993"/>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23CC06-5B54-426B-B237-81A7540682A9}"/>
              </a:ext>
            </a:extLst>
          </p:cNvPr>
          <p:cNvPicPr>
            <a:picLocks noGrp="1" noChangeAspect="1"/>
          </p:cNvPicPr>
          <p:nvPr>
            <p:ph idx="1"/>
          </p:nvPr>
        </p:nvPicPr>
        <p:blipFill>
          <a:blip r:embed="rId2"/>
          <a:stretch>
            <a:fillRect/>
          </a:stretch>
        </p:blipFill>
        <p:spPr>
          <a:xfrm>
            <a:off x="3157544" y="437250"/>
            <a:ext cx="5919754" cy="5754001"/>
          </a:xfrm>
          <a:prstGeom prst="rect">
            <a:avLst/>
          </a:prstGeom>
        </p:spPr>
      </p:pic>
      <p:sp>
        <p:nvSpPr>
          <p:cNvPr id="4" name="Slide Number Placeholder 3">
            <a:extLst>
              <a:ext uri="{FF2B5EF4-FFF2-40B4-BE49-F238E27FC236}">
                <a16:creationId xmlns:a16="http://schemas.microsoft.com/office/drawing/2014/main" id="{62071124-207E-424A-BBCF-40A027E47C5A}"/>
              </a:ext>
            </a:extLst>
          </p:cNvPr>
          <p:cNvSpPr>
            <a:spLocks noGrp="1"/>
          </p:cNvSpPr>
          <p:nvPr>
            <p:ph type="sldNum" sz="quarter" idx="12"/>
          </p:nvPr>
        </p:nvSpPr>
        <p:spPr/>
        <p:txBody>
          <a:bodyPr/>
          <a:lstStyle/>
          <a:p>
            <a:fld id="{6B97D948-30E8-43F7-AE10-F6E2D9F2BBB1}" type="slidenum">
              <a:rPr lang="en-US" smtClean="0"/>
              <a:t>266</a:t>
            </a:fld>
            <a:endParaRPr lang="en-US"/>
          </a:p>
        </p:txBody>
      </p:sp>
    </p:spTree>
    <p:extLst>
      <p:ext uri="{BB962C8B-B14F-4D97-AF65-F5344CB8AC3E}">
        <p14:creationId xmlns:p14="http://schemas.microsoft.com/office/powerpoint/2010/main" val="1138179013"/>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D83E-0822-4CC3-969D-ED3727EAAB70}"/>
              </a:ext>
            </a:extLst>
          </p:cNvPr>
          <p:cNvSpPr>
            <a:spLocks noGrp="1"/>
          </p:cNvSpPr>
          <p:nvPr>
            <p:ph type="title"/>
          </p:nvPr>
        </p:nvSpPr>
        <p:spPr>
          <a:xfrm>
            <a:off x="838200" y="365126"/>
            <a:ext cx="10515600" cy="692150"/>
          </a:xfrm>
        </p:spPr>
        <p:txBody>
          <a:bodyPr>
            <a:normAutofit fontScale="90000"/>
          </a:bodyPr>
          <a:lstStyle/>
          <a:p>
            <a:r>
              <a:rPr lang="en-US" dirty="0"/>
              <a:t>Grid lines</a:t>
            </a:r>
          </a:p>
        </p:txBody>
      </p:sp>
      <p:sp>
        <p:nvSpPr>
          <p:cNvPr id="3" name="Content Placeholder 2">
            <a:extLst>
              <a:ext uri="{FF2B5EF4-FFF2-40B4-BE49-F238E27FC236}">
                <a16:creationId xmlns:a16="http://schemas.microsoft.com/office/drawing/2014/main" id="{94A21BF0-8A60-43D2-9DBB-84164ABE2C95}"/>
              </a:ext>
            </a:extLst>
          </p:cNvPr>
          <p:cNvSpPr>
            <a:spLocks noGrp="1"/>
          </p:cNvSpPr>
          <p:nvPr>
            <p:ph idx="1"/>
          </p:nvPr>
        </p:nvSpPr>
        <p:spPr>
          <a:xfrm>
            <a:off x="838200" y="1057276"/>
            <a:ext cx="10515600" cy="5119687"/>
          </a:xfrm>
        </p:spPr>
        <p:txBody>
          <a:bodyPr/>
          <a:lstStyle/>
          <a:p>
            <a:r>
              <a:rPr lang="en-US" dirty="0"/>
              <a:t>Adding a grid can often allow the plot to be more easily read. </a:t>
            </a:r>
          </a:p>
          <a:p>
            <a:r>
              <a:rPr lang="en-US" dirty="0"/>
              <a:t>It’s not necessary, but can be helpful for effective interpretation of the data.</a:t>
            </a:r>
          </a:p>
          <a:p>
            <a:endParaRPr lang="en-US" dirty="0"/>
          </a:p>
        </p:txBody>
      </p:sp>
      <p:sp>
        <p:nvSpPr>
          <p:cNvPr id="4" name="Slide Number Placeholder 3">
            <a:extLst>
              <a:ext uri="{FF2B5EF4-FFF2-40B4-BE49-F238E27FC236}">
                <a16:creationId xmlns:a16="http://schemas.microsoft.com/office/drawing/2014/main" id="{D3705228-EF0F-46E7-BE17-65CDFB7507BB}"/>
              </a:ext>
            </a:extLst>
          </p:cNvPr>
          <p:cNvSpPr>
            <a:spLocks noGrp="1"/>
          </p:cNvSpPr>
          <p:nvPr>
            <p:ph type="sldNum" sz="quarter" idx="12"/>
          </p:nvPr>
        </p:nvSpPr>
        <p:spPr/>
        <p:txBody>
          <a:bodyPr/>
          <a:lstStyle/>
          <a:p>
            <a:fld id="{6B97D948-30E8-43F7-AE10-F6E2D9F2BBB1}" type="slidenum">
              <a:rPr lang="en-US" smtClean="0"/>
              <a:t>267</a:t>
            </a:fld>
            <a:endParaRPr lang="en-US"/>
          </a:p>
        </p:txBody>
      </p:sp>
    </p:spTree>
    <p:extLst>
      <p:ext uri="{BB962C8B-B14F-4D97-AF65-F5344CB8AC3E}">
        <p14:creationId xmlns:p14="http://schemas.microsoft.com/office/powerpoint/2010/main" val="3961973239"/>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3C607B-0FD3-470B-A206-998898DD87C3}"/>
              </a:ext>
            </a:extLst>
          </p:cNvPr>
          <p:cNvSpPr>
            <a:spLocks noGrp="1"/>
          </p:cNvSpPr>
          <p:nvPr>
            <p:ph idx="1"/>
          </p:nvPr>
        </p:nvSpPr>
        <p:spPr>
          <a:xfrm>
            <a:off x="838200" y="657225"/>
            <a:ext cx="10515600" cy="5519738"/>
          </a:xfrm>
        </p:spPr>
        <p:txBody>
          <a:bodyPr>
            <a:normAutofit/>
          </a:bodyPr>
          <a:lstStyle/>
          <a:p>
            <a:r>
              <a:rPr lang="en-US" dirty="0"/>
              <a:t>fig, ax = </a:t>
            </a:r>
            <a:r>
              <a:rPr lang="en-US" dirty="0" err="1"/>
              <a:t>plt.subplots</a:t>
            </a:r>
            <a:r>
              <a:rPr lang="en-US" dirty="0"/>
              <a:t>(</a:t>
            </a:r>
            <a:r>
              <a:rPr lang="en-US" dirty="0" err="1"/>
              <a:t>figsize</a:t>
            </a:r>
            <a:r>
              <a:rPr lang="en-US" dirty="0"/>
              <a:t>=(7, 7))</a:t>
            </a:r>
          </a:p>
          <a:p>
            <a:r>
              <a:rPr lang="en-US" dirty="0" err="1"/>
              <a:t>ax.plot</a:t>
            </a:r>
            <a:r>
              <a:rPr lang="en-US" dirty="0"/>
              <a:t>(</a:t>
            </a:r>
            <a:r>
              <a:rPr lang="en-US" dirty="0" err="1"/>
              <a:t>x_model</a:t>
            </a:r>
            <a:r>
              <a:rPr lang="en-US" dirty="0"/>
              <a:t>, </a:t>
            </a:r>
            <a:r>
              <a:rPr lang="en-US" dirty="0" err="1"/>
              <a:t>y_model</a:t>
            </a:r>
            <a:r>
              <a:rPr lang="en-US" dirty="0"/>
              <a:t>)</a:t>
            </a:r>
          </a:p>
          <a:p>
            <a:r>
              <a:rPr lang="en-US" dirty="0" err="1"/>
              <a:t>ax.scatter</a:t>
            </a:r>
            <a:r>
              <a:rPr lang="en-US" dirty="0"/>
              <a:t>(</a:t>
            </a:r>
            <a:r>
              <a:rPr lang="en-US" dirty="0" err="1"/>
              <a:t>x_data</a:t>
            </a:r>
            <a:r>
              <a:rPr lang="en-US" dirty="0"/>
              <a:t>, </a:t>
            </a:r>
            <a:r>
              <a:rPr lang="en-US" dirty="0" err="1"/>
              <a:t>y_data</a:t>
            </a:r>
            <a:r>
              <a:rPr lang="en-US" dirty="0"/>
              <a:t>, color = 'black')</a:t>
            </a:r>
          </a:p>
          <a:p>
            <a:r>
              <a:rPr lang="en-US" dirty="0" err="1"/>
              <a:t>ax.set_xlabel</a:t>
            </a:r>
            <a:r>
              <a:rPr lang="en-US" dirty="0"/>
              <a:t>('x [degrees]')</a:t>
            </a:r>
          </a:p>
          <a:p>
            <a:r>
              <a:rPr lang="en-US" dirty="0" err="1"/>
              <a:t>ax.set_ylabel</a:t>
            </a:r>
            <a:r>
              <a:rPr lang="en-US" dirty="0"/>
              <a:t>('y')</a:t>
            </a:r>
          </a:p>
          <a:p>
            <a:r>
              <a:rPr lang="en-US" dirty="0" err="1"/>
              <a:t>ax.set_xticks</a:t>
            </a:r>
            <a:r>
              <a:rPr lang="en-US" dirty="0"/>
              <a:t>([0, </a:t>
            </a:r>
            <a:r>
              <a:rPr lang="en-US" dirty="0" err="1"/>
              <a:t>np.pi</a:t>
            </a:r>
            <a:r>
              <a:rPr lang="en-US" dirty="0"/>
              <a:t> / 2, </a:t>
            </a:r>
            <a:r>
              <a:rPr lang="en-US" dirty="0" err="1"/>
              <a:t>np.pi</a:t>
            </a:r>
            <a:r>
              <a:rPr lang="en-US" dirty="0"/>
              <a:t>, 3 / 2 * </a:t>
            </a:r>
            <a:r>
              <a:rPr lang="en-US" dirty="0" err="1"/>
              <a:t>np.pi</a:t>
            </a:r>
            <a:r>
              <a:rPr lang="en-US" dirty="0"/>
              <a:t>, 2 * </a:t>
            </a:r>
            <a:r>
              <a:rPr lang="en-US" dirty="0" err="1"/>
              <a:t>np.pi</a:t>
            </a:r>
            <a:r>
              <a:rPr lang="en-US" dirty="0"/>
              <a:t>])</a:t>
            </a:r>
          </a:p>
          <a:p>
            <a:r>
              <a:rPr lang="en-US" dirty="0" err="1"/>
              <a:t>ax.set_xticklabels</a:t>
            </a:r>
            <a:r>
              <a:rPr lang="en-US" dirty="0"/>
              <a:t>([0, 90, 180, 270, 360])</a:t>
            </a:r>
          </a:p>
          <a:p>
            <a:r>
              <a:rPr lang="en-US" dirty="0" err="1"/>
              <a:t>ax.set_yticks</a:t>
            </a:r>
            <a:r>
              <a:rPr lang="en-US" dirty="0"/>
              <a:t>([-6, -4, -2, 0, 2, 4])</a:t>
            </a:r>
          </a:p>
          <a:p>
            <a:r>
              <a:rPr lang="en-US" dirty="0" err="1"/>
              <a:t>ax.set_xlim</a:t>
            </a:r>
            <a:r>
              <a:rPr lang="en-US" dirty="0"/>
              <a:t>([0, 2 * </a:t>
            </a:r>
            <a:r>
              <a:rPr lang="en-US" dirty="0" err="1"/>
              <a:t>np.pi</a:t>
            </a:r>
            <a:r>
              <a:rPr lang="en-US" dirty="0"/>
              <a:t>])</a:t>
            </a:r>
          </a:p>
          <a:p>
            <a:r>
              <a:rPr lang="en-US" dirty="0" err="1"/>
              <a:t>ax.grid</a:t>
            </a:r>
            <a:r>
              <a:rPr lang="en-US" dirty="0"/>
              <a:t>(True)</a:t>
            </a:r>
          </a:p>
        </p:txBody>
      </p:sp>
      <p:sp>
        <p:nvSpPr>
          <p:cNvPr id="4" name="Slide Number Placeholder 3">
            <a:extLst>
              <a:ext uri="{FF2B5EF4-FFF2-40B4-BE49-F238E27FC236}">
                <a16:creationId xmlns:a16="http://schemas.microsoft.com/office/drawing/2014/main" id="{7E35598A-7373-40BE-B77F-2E857B1E98A7}"/>
              </a:ext>
            </a:extLst>
          </p:cNvPr>
          <p:cNvSpPr>
            <a:spLocks noGrp="1"/>
          </p:cNvSpPr>
          <p:nvPr>
            <p:ph type="sldNum" sz="quarter" idx="12"/>
          </p:nvPr>
        </p:nvSpPr>
        <p:spPr/>
        <p:txBody>
          <a:bodyPr/>
          <a:lstStyle/>
          <a:p>
            <a:fld id="{6B97D948-30E8-43F7-AE10-F6E2D9F2BBB1}" type="slidenum">
              <a:rPr lang="en-US" smtClean="0"/>
              <a:t>268</a:t>
            </a:fld>
            <a:endParaRPr lang="en-US"/>
          </a:p>
        </p:txBody>
      </p:sp>
    </p:spTree>
    <p:extLst>
      <p:ext uri="{BB962C8B-B14F-4D97-AF65-F5344CB8AC3E}">
        <p14:creationId xmlns:p14="http://schemas.microsoft.com/office/powerpoint/2010/main" val="3759180523"/>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269DC78-166C-4D13-AD55-821472D8984F}"/>
              </a:ext>
            </a:extLst>
          </p:cNvPr>
          <p:cNvPicPr>
            <a:picLocks noGrp="1" noChangeAspect="1"/>
          </p:cNvPicPr>
          <p:nvPr>
            <p:ph idx="1"/>
          </p:nvPr>
        </p:nvPicPr>
        <p:blipFill>
          <a:blip r:embed="rId2"/>
          <a:stretch>
            <a:fillRect/>
          </a:stretch>
        </p:blipFill>
        <p:spPr>
          <a:xfrm>
            <a:off x="3243268" y="482514"/>
            <a:ext cx="6005479" cy="5837326"/>
          </a:xfrm>
          <a:prstGeom prst="rect">
            <a:avLst/>
          </a:prstGeom>
        </p:spPr>
      </p:pic>
      <p:sp>
        <p:nvSpPr>
          <p:cNvPr id="4" name="Slide Number Placeholder 3">
            <a:extLst>
              <a:ext uri="{FF2B5EF4-FFF2-40B4-BE49-F238E27FC236}">
                <a16:creationId xmlns:a16="http://schemas.microsoft.com/office/drawing/2014/main" id="{192EB67F-BC35-469B-B1C7-D7786B1BFCFC}"/>
              </a:ext>
            </a:extLst>
          </p:cNvPr>
          <p:cNvSpPr>
            <a:spLocks noGrp="1"/>
          </p:cNvSpPr>
          <p:nvPr>
            <p:ph type="sldNum" sz="quarter" idx="12"/>
          </p:nvPr>
        </p:nvSpPr>
        <p:spPr/>
        <p:txBody>
          <a:bodyPr/>
          <a:lstStyle/>
          <a:p>
            <a:fld id="{6B97D948-30E8-43F7-AE10-F6E2D9F2BBB1}" type="slidenum">
              <a:rPr lang="en-US" smtClean="0"/>
              <a:t>269</a:t>
            </a:fld>
            <a:endParaRPr lang="en-US"/>
          </a:p>
        </p:txBody>
      </p:sp>
    </p:spTree>
    <p:extLst>
      <p:ext uri="{BB962C8B-B14F-4D97-AF65-F5344CB8AC3E}">
        <p14:creationId xmlns:p14="http://schemas.microsoft.com/office/powerpoint/2010/main" val="2694359871"/>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2CD36-3F57-4446-A7E8-5FF949D7730E}"/>
              </a:ext>
            </a:extLst>
          </p:cNvPr>
          <p:cNvSpPr>
            <a:spLocks noGrp="1"/>
          </p:cNvSpPr>
          <p:nvPr>
            <p:ph type="title"/>
          </p:nvPr>
        </p:nvSpPr>
        <p:spPr>
          <a:xfrm>
            <a:off x="838200" y="365126"/>
            <a:ext cx="10515600" cy="820738"/>
          </a:xfrm>
        </p:spPr>
        <p:txBody>
          <a:bodyPr/>
          <a:lstStyle/>
          <a:p>
            <a:r>
              <a:rPr lang="en-US" dirty="0"/>
              <a:t>Legend</a:t>
            </a:r>
          </a:p>
        </p:txBody>
      </p:sp>
      <p:sp>
        <p:nvSpPr>
          <p:cNvPr id="3" name="Content Placeholder 2">
            <a:extLst>
              <a:ext uri="{FF2B5EF4-FFF2-40B4-BE49-F238E27FC236}">
                <a16:creationId xmlns:a16="http://schemas.microsoft.com/office/drawing/2014/main" id="{D7527EFE-1A0B-4309-AA18-CF6A6DEA1CDC}"/>
              </a:ext>
            </a:extLst>
          </p:cNvPr>
          <p:cNvSpPr>
            <a:spLocks noGrp="1"/>
          </p:cNvSpPr>
          <p:nvPr>
            <p:ph idx="1"/>
          </p:nvPr>
        </p:nvSpPr>
        <p:spPr>
          <a:xfrm>
            <a:off x="838200" y="1185864"/>
            <a:ext cx="10515600" cy="4991099"/>
          </a:xfrm>
        </p:spPr>
        <p:txBody>
          <a:bodyPr/>
          <a:lstStyle/>
          <a:p>
            <a:pPr algn="just"/>
            <a:r>
              <a:rPr lang="en-US" dirty="0"/>
              <a:t>Our understanding our data is among the most important aspects of any plot and a legend is key to making that happen. </a:t>
            </a:r>
          </a:p>
          <a:p>
            <a:pPr algn="just"/>
            <a:r>
              <a:rPr lang="en-US" dirty="0"/>
              <a:t>To add a legend, we have to label each of the items that we’re plotting, which is done most easily by adding a </a:t>
            </a:r>
            <a:r>
              <a:rPr lang="en-US" dirty="0">
                <a:solidFill>
                  <a:srgbClr val="FF0000"/>
                </a:solidFill>
              </a:rPr>
              <a:t>label</a:t>
            </a:r>
            <a:r>
              <a:rPr lang="en-US" dirty="0"/>
              <a:t> keyword argument to the plotting method call. </a:t>
            </a:r>
          </a:p>
          <a:p>
            <a:pPr algn="just"/>
            <a:r>
              <a:rPr lang="en-US" dirty="0"/>
              <a:t>We’ll call the line plot “Our Model” and the scatter plot data “Sample data”.</a:t>
            </a:r>
          </a:p>
        </p:txBody>
      </p:sp>
      <p:sp>
        <p:nvSpPr>
          <p:cNvPr id="4" name="Slide Number Placeholder 3">
            <a:extLst>
              <a:ext uri="{FF2B5EF4-FFF2-40B4-BE49-F238E27FC236}">
                <a16:creationId xmlns:a16="http://schemas.microsoft.com/office/drawing/2014/main" id="{7C8BCB6B-BD7D-4EE0-8774-22AC37CDB07C}"/>
              </a:ext>
            </a:extLst>
          </p:cNvPr>
          <p:cNvSpPr>
            <a:spLocks noGrp="1"/>
          </p:cNvSpPr>
          <p:nvPr>
            <p:ph type="sldNum" sz="quarter" idx="12"/>
          </p:nvPr>
        </p:nvSpPr>
        <p:spPr/>
        <p:txBody>
          <a:bodyPr/>
          <a:lstStyle/>
          <a:p>
            <a:fld id="{6B97D948-30E8-43F7-AE10-F6E2D9F2BBB1}" type="slidenum">
              <a:rPr lang="en-US" smtClean="0"/>
              <a:t>270</a:t>
            </a:fld>
            <a:endParaRPr lang="en-US"/>
          </a:p>
        </p:txBody>
      </p:sp>
    </p:spTree>
    <p:extLst>
      <p:ext uri="{BB962C8B-B14F-4D97-AF65-F5344CB8AC3E}">
        <p14:creationId xmlns:p14="http://schemas.microsoft.com/office/powerpoint/2010/main" val="3541318781"/>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0C5E11-4CA2-4FD1-9BE4-48B9DA4DAB16}"/>
              </a:ext>
            </a:extLst>
          </p:cNvPr>
          <p:cNvSpPr>
            <a:spLocks noGrp="1"/>
          </p:cNvSpPr>
          <p:nvPr>
            <p:ph idx="1"/>
          </p:nvPr>
        </p:nvSpPr>
        <p:spPr>
          <a:xfrm>
            <a:off x="838200" y="400050"/>
            <a:ext cx="10515600" cy="5776913"/>
          </a:xfrm>
        </p:spPr>
        <p:txBody>
          <a:bodyPr>
            <a:normAutofit/>
          </a:bodyPr>
          <a:lstStyle/>
          <a:p>
            <a:r>
              <a:rPr lang="en-US" dirty="0">
                <a:solidFill>
                  <a:srgbClr val="FF0000"/>
                </a:solidFill>
              </a:rPr>
              <a:t>fig, ax = </a:t>
            </a:r>
            <a:r>
              <a:rPr lang="en-US" dirty="0" err="1">
                <a:solidFill>
                  <a:srgbClr val="FF0000"/>
                </a:solidFill>
              </a:rPr>
              <a:t>plt.subplots</a:t>
            </a:r>
            <a:r>
              <a:rPr lang="en-US" dirty="0">
                <a:solidFill>
                  <a:srgbClr val="FF0000"/>
                </a:solidFill>
              </a:rPr>
              <a:t>(</a:t>
            </a:r>
            <a:r>
              <a:rPr lang="en-US" dirty="0" err="1">
                <a:solidFill>
                  <a:srgbClr val="FF0000"/>
                </a:solidFill>
              </a:rPr>
              <a:t>figsize</a:t>
            </a:r>
            <a:r>
              <a:rPr lang="en-US" dirty="0">
                <a:solidFill>
                  <a:srgbClr val="FF0000"/>
                </a:solidFill>
              </a:rPr>
              <a:t>=(7, 7))</a:t>
            </a:r>
          </a:p>
          <a:p>
            <a:r>
              <a:rPr lang="en-US" dirty="0" err="1">
                <a:solidFill>
                  <a:srgbClr val="FF0000"/>
                </a:solidFill>
              </a:rPr>
              <a:t>ax.plot</a:t>
            </a:r>
            <a:r>
              <a:rPr lang="en-US" dirty="0">
                <a:solidFill>
                  <a:srgbClr val="FF0000"/>
                </a:solidFill>
              </a:rPr>
              <a:t>(</a:t>
            </a:r>
            <a:r>
              <a:rPr lang="en-US" dirty="0" err="1">
                <a:solidFill>
                  <a:srgbClr val="FF0000"/>
                </a:solidFill>
              </a:rPr>
              <a:t>x_model</a:t>
            </a:r>
            <a:r>
              <a:rPr lang="en-US" dirty="0">
                <a:solidFill>
                  <a:srgbClr val="FF0000"/>
                </a:solidFill>
              </a:rPr>
              <a:t>, </a:t>
            </a:r>
            <a:r>
              <a:rPr lang="en-US" dirty="0" err="1">
                <a:solidFill>
                  <a:srgbClr val="FF0000"/>
                </a:solidFill>
              </a:rPr>
              <a:t>y_model</a:t>
            </a:r>
            <a:r>
              <a:rPr lang="en-US" dirty="0">
                <a:solidFill>
                  <a:srgbClr val="FF0000"/>
                </a:solidFill>
              </a:rPr>
              <a:t>, label = 'Our Model')</a:t>
            </a:r>
          </a:p>
          <a:p>
            <a:r>
              <a:rPr lang="en-US" dirty="0" err="1">
                <a:solidFill>
                  <a:srgbClr val="FF0000"/>
                </a:solidFill>
              </a:rPr>
              <a:t>ax.scatter</a:t>
            </a:r>
            <a:r>
              <a:rPr lang="en-US" dirty="0">
                <a:solidFill>
                  <a:srgbClr val="FF0000"/>
                </a:solidFill>
              </a:rPr>
              <a:t>(</a:t>
            </a:r>
            <a:r>
              <a:rPr lang="en-US" dirty="0" err="1">
                <a:solidFill>
                  <a:srgbClr val="FF0000"/>
                </a:solidFill>
              </a:rPr>
              <a:t>x_data</a:t>
            </a:r>
            <a:r>
              <a:rPr lang="en-US" dirty="0">
                <a:solidFill>
                  <a:srgbClr val="FF0000"/>
                </a:solidFill>
              </a:rPr>
              <a:t>, </a:t>
            </a:r>
            <a:r>
              <a:rPr lang="en-US" dirty="0" err="1">
                <a:solidFill>
                  <a:srgbClr val="FF0000"/>
                </a:solidFill>
              </a:rPr>
              <a:t>y_data</a:t>
            </a:r>
            <a:r>
              <a:rPr lang="en-US" dirty="0">
                <a:solidFill>
                  <a:srgbClr val="FF0000"/>
                </a:solidFill>
              </a:rPr>
              <a:t>, color ='blue', label = 'Sample Data')</a:t>
            </a:r>
          </a:p>
          <a:p>
            <a:r>
              <a:rPr lang="en-US" dirty="0" err="1">
                <a:solidFill>
                  <a:srgbClr val="FF0000"/>
                </a:solidFill>
              </a:rPr>
              <a:t>ax.set_xlabel</a:t>
            </a:r>
            <a:r>
              <a:rPr lang="en-US" dirty="0">
                <a:solidFill>
                  <a:srgbClr val="FF0000"/>
                </a:solidFill>
              </a:rPr>
              <a:t>('x [degrees]')</a:t>
            </a:r>
          </a:p>
          <a:p>
            <a:r>
              <a:rPr lang="en-US" dirty="0" err="1">
                <a:solidFill>
                  <a:srgbClr val="FF0000"/>
                </a:solidFill>
              </a:rPr>
              <a:t>ax.set_ylabel</a:t>
            </a:r>
            <a:r>
              <a:rPr lang="en-US" dirty="0">
                <a:solidFill>
                  <a:srgbClr val="FF0000"/>
                </a:solidFill>
              </a:rPr>
              <a:t>('y')</a:t>
            </a:r>
          </a:p>
          <a:p>
            <a:r>
              <a:rPr lang="en-US" dirty="0" err="1">
                <a:solidFill>
                  <a:srgbClr val="FF0000"/>
                </a:solidFill>
              </a:rPr>
              <a:t>ax.set_xticks</a:t>
            </a:r>
            <a:r>
              <a:rPr lang="en-US" dirty="0">
                <a:solidFill>
                  <a:srgbClr val="FF0000"/>
                </a:solidFill>
              </a:rPr>
              <a:t>([0, </a:t>
            </a:r>
            <a:r>
              <a:rPr lang="en-US" dirty="0" err="1">
                <a:solidFill>
                  <a:srgbClr val="FF0000"/>
                </a:solidFill>
              </a:rPr>
              <a:t>np.pi</a:t>
            </a:r>
            <a:r>
              <a:rPr lang="en-US" dirty="0">
                <a:solidFill>
                  <a:srgbClr val="FF0000"/>
                </a:solidFill>
              </a:rPr>
              <a:t> / 2, </a:t>
            </a:r>
            <a:r>
              <a:rPr lang="en-US" dirty="0" err="1">
                <a:solidFill>
                  <a:srgbClr val="FF0000"/>
                </a:solidFill>
              </a:rPr>
              <a:t>np.pi</a:t>
            </a:r>
            <a:r>
              <a:rPr lang="en-US" dirty="0">
                <a:solidFill>
                  <a:srgbClr val="FF0000"/>
                </a:solidFill>
              </a:rPr>
              <a:t>, 3 / 2 * </a:t>
            </a:r>
            <a:r>
              <a:rPr lang="en-US" dirty="0" err="1">
                <a:solidFill>
                  <a:srgbClr val="FF0000"/>
                </a:solidFill>
              </a:rPr>
              <a:t>np.pi</a:t>
            </a:r>
            <a:r>
              <a:rPr lang="en-US" dirty="0">
                <a:solidFill>
                  <a:srgbClr val="FF0000"/>
                </a:solidFill>
              </a:rPr>
              <a:t>, 2 * </a:t>
            </a:r>
            <a:r>
              <a:rPr lang="en-US" dirty="0" err="1">
                <a:solidFill>
                  <a:srgbClr val="FF0000"/>
                </a:solidFill>
              </a:rPr>
              <a:t>np.pi</a:t>
            </a:r>
            <a:r>
              <a:rPr lang="en-US" dirty="0">
                <a:solidFill>
                  <a:srgbClr val="FF0000"/>
                </a:solidFill>
              </a:rPr>
              <a:t>])</a:t>
            </a:r>
          </a:p>
          <a:p>
            <a:r>
              <a:rPr lang="en-US" dirty="0" err="1">
                <a:solidFill>
                  <a:srgbClr val="FF0000"/>
                </a:solidFill>
              </a:rPr>
              <a:t>ax.set_xticklabels</a:t>
            </a:r>
            <a:r>
              <a:rPr lang="en-US" dirty="0">
                <a:solidFill>
                  <a:srgbClr val="FF0000"/>
                </a:solidFill>
              </a:rPr>
              <a:t>([0, 90, 180, 270, 360])</a:t>
            </a:r>
          </a:p>
          <a:p>
            <a:r>
              <a:rPr lang="en-US" dirty="0" err="1">
                <a:solidFill>
                  <a:srgbClr val="FF0000"/>
                </a:solidFill>
              </a:rPr>
              <a:t>ax.set_yticks</a:t>
            </a:r>
            <a:r>
              <a:rPr lang="en-US" dirty="0">
                <a:solidFill>
                  <a:srgbClr val="FF0000"/>
                </a:solidFill>
              </a:rPr>
              <a:t>([-6, -4, -2, 0, 2, 4])</a:t>
            </a:r>
          </a:p>
          <a:p>
            <a:r>
              <a:rPr lang="en-US" dirty="0" err="1">
                <a:solidFill>
                  <a:srgbClr val="FF0000"/>
                </a:solidFill>
              </a:rPr>
              <a:t>ax.set_xlim</a:t>
            </a:r>
            <a:r>
              <a:rPr lang="en-US" dirty="0">
                <a:solidFill>
                  <a:srgbClr val="FF0000"/>
                </a:solidFill>
              </a:rPr>
              <a:t>([0, 2 * </a:t>
            </a:r>
            <a:r>
              <a:rPr lang="en-US" dirty="0" err="1">
                <a:solidFill>
                  <a:srgbClr val="FF0000"/>
                </a:solidFill>
              </a:rPr>
              <a:t>np.pi</a:t>
            </a:r>
            <a:r>
              <a:rPr lang="en-US" dirty="0">
                <a:solidFill>
                  <a:srgbClr val="FF0000"/>
                </a:solidFill>
              </a:rPr>
              <a:t>])</a:t>
            </a:r>
          </a:p>
          <a:p>
            <a:r>
              <a:rPr lang="en-US" dirty="0" err="1">
                <a:solidFill>
                  <a:srgbClr val="FF0000"/>
                </a:solidFill>
              </a:rPr>
              <a:t>ax.grid</a:t>
            </a:r>
            <a:r>
              <a:rPr lang="en-US" dirty="0">
                <a:solidFill>
                  <a:srgbClr val="FF0000"/>
                </a:solidFill>
              </a:rPr>
              <a:t>(True)</a:t>
            </a:r>
          </a:p>
          <a:p>
            <a:r>
              <a:rPr lang="en-US" dirty="0" err="1">
                <a:solidFill>
                  <a:srgbClr val="FF0000"/>
                </a:solidFill>
              </a:rPr>
              <a:t>ax.legend</a:t>
            </a:r>
            <a:r>
              <a:rPr lang="en-US" dirty="0">
                <a:solidFill>
                  <a:srgbClr val="FF0000"/>
                </a:solidFill>
              </a:rPr>
              <a:t>()</a:t>
            </a:r>
          </a:p>
        </p:txBody>
      </p:sp>
      <p:sp>
        <p:nvSpPr>
          <p:cNvPr id="4" name="Slide Number Placeholder 3">
            <a:extLst>
              <a:ext uri="{FF2B5EF4-FFF2-40B4-BE49-F238E27FC236}">
                <a16:creationId xmlns:a16="http://schemas.microsoft.com/office/drawing/2014/main" id="{663568D5-9936-4ECB-A583-D9BE774AF9DB}"/>
              </a:ext>
            </a:extLst>
          </p:cNvPr>
          <p:cNvSpPr>
            <a:spLocks noGrp="1"/>
          </p:cNvSpPr>
          <p:nvPr>
            <p:ph type="sldNum" sz="quarter" idx="12"/>
          </p:nvPr>
        </p:nvSpPr>
        <p:spPr/>
        <p:txBody>
          <a:bodyPr/>
          <a:lstStyle/>
          <a:p>
            <a:fld id="{6B97D948-30E8-43F7-AE10-F6E2D9F2BBB1}" type="slidenum">
              <a:rPr lang="en-US" smtClean="0"/>
              <a:t>271</a:t>
            </a:fld>
            <a:endParaRPr lang="en-US"/>
          </a:p>
        </p:txBody>
      </p:sp>
    </p:spTree>
    <p:extLst>
      <p:ext uri="{BB962C8B-B14F-4D97-AF65-F5344CB8AC3E}">
        <p14:creationId xmlns:p14="http://schemas.microsoft.com/office/powerpoint/2010/main" val="2349433173"/>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6B70551-A088-42C9-864F-4C2E9B5600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4769" y="885825"/>
            <a:ext cx="6014244" cy="5291138"/>
          </a:xfrm>
        </p:spPr>
      </p:pic>
      <p:sp>
        <p:nvSpPr>
          <p:cNvPr id="4" name="Slide Number Placeholder 3">
            <a:extLst>
              <a:ext uri="{FF2B5EF4-FFF2-40B4-BE49-F238E27FC236}">
                <a16:creationId xmlns:a16="http://schemas.microsoft.com/office/drawing/2014/main" id="{7F1413FB-5811-4899-B487-7CC8EB6CB3D3}"/>
              </a:ext>
            </a:extLst>
          </p:cNvPr>
          <p:cNvSpPr>
            <a:spLocks noGrp="1"/>
          </p:cNvSpPr>
          <p:nvPr>
            <p:ph type="sldNum" sz="quarter" idx="12"/>
          </p:nvPr>
        </p:nvSpPr>
        <p:spPr/>
        <p:txBody>
          <a:bodyPr/>
          <a:lstStyle/>
          <a:p>
            <a:fld id="{6B97D948-30E8-43F7-AE10-F6E2D9F2BBB1}" type="slidenum">
              <a:rPr lang="en-US" smtClean="0"/>
              <a:t>272</a:t>
            </a:fld>
            <a:endParaRPr lang="en-US"/>
          </a:p>
        </p:txBody>
      </p:sp>
    </p:spTree>
    <p:extLst>
      <p:ext uri="{BB962C8B-B14F-4D97-AF65-F5344CB8AC3E}">
        <p14:creationId xmlns:p14="http://schemas.microsoft.com/office/powerpoint/2010/main" val="2072276953"/>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81935-37FB-412C-B715-892C688FFA88}"/>
              </a:ext>
            </a:extLst>
          </p:cNvPr>
          <p:cNvSpPr>
            <a:spLocks noGrp="1"/>
          </p:cNvSpPr>
          <p:nvPr>
            <p:ph type="title"/>
          </p:nvPr>
        </p:nvSpPr>
        <p:spPr>
          <a:xfrm>
            <a:off x="838200" y="365125"/>
            <a:ext cx="10515600" cy="663575"/>
          </a:xfrm>
        </p:spPr>
        <p:txBody>
          <a:bodyPr>
            <a:normAutofit fontScale="90000"/>
          </a:bodyPr>
          <a:lstStyle/>
          <a:p>
            <a:r>
              <a:rPr lang="en-US" dirty="0"/>
              <a:t>Title</a:t>
            </a:r>
          </a:p>
        </p:txBody>
      </p:sp>
      <p:sp>
        <p:nvSpPr>
          <p:cNvPr id="3" name="Content Placeholder 2">
            <a:extLst>
              <a:ext uri="{FF2B5EF4-FFF2-40B4-BE49-F238E27FC236}">
                <a16:creationId xmlns:a16="http://schemas.microsoft.com/office/drawing/2014/main" id="{CFE174CE-FE6B-444B-9BBD-C62516345369}"/>
              </a:ext>
            </a:extLst>
          </p:cNvPr>
          <p:cNvSpPr>
            <a:spLocks noGrp="1"/>
          </p:cNvSpPr>
          <p:nvPr>
            <p:ph idx="1"/>
          </p:nvPr>
        </p:nvSpPr>
        <p:spPr>
          <a:xfrm>
            <a:off x="838200" y="1028700"/>
            <a:ext cx="10515600" cy="5148263"/>
          </a:xfrm>
        </p:spPr>
        <p:txBody>
          <a:bodyPr/>
          <a:lstStyle/>
          <a:p>
            <a:pPr algn="just"/>
            <a:r>
              <a:rPr lang="en-US" dirty="0"/>
              <a:t>While a title can be added to any plot, it can be especially useful in subplots when you need to label each of the subplots to make sure it’s clear what they represent. </a:t>
            </a:r>
          </a:p>
          <a:p>
            <a:pPr algn="just"/>
            <a:r>
              <a:rPr lang="en-US" dirty="0"/>
              <a:t>Let’s add a title to our plot.</a:t>
            </a:r>
          </a:p>
        </p:txBody>
      </p:sp>
      <p:sp>
        <p:nvSpPr>
          <p:cNvPr id="4" name="Slide Number Placeholder 3">
            <a:extLst>
              <a:ext uri="{FF2B5EF4-FFF2-40B4-BE49-F238E27FC236}">
                <a16:creationId xmlns:a16="http://schemas.microsoft.com/office/drawing/2014/main" id="{F3690AF9-F009-438C-877C-B98EB15FE06D}"/>
              </a:ext>
            </a:extLst>
          </p:cNvPr>
          <p:cNvSpPr>
            <a:spLocks noGrp="1"/>
          </p:cNvSpPr>
          <p:nvPr>
            <p:ph type="sldNum" sz="quarter" idx="12"/>
          </p:nvPr>
        </p:nvSpPr>
        <p:spPr/>
        <p:txBody>
          <a:bodyPr/>
          <a:lstStyle/>
          <a:p>
            <a:fld id="{6B97D948-30E8-43F7-AE10-F6E2D9F2BBB1}" type="slidenum">
              <a:rPr lang="en-US" smtClean="0"/>
              <a:t>273</a:t>
            </a:fld>
            <a:endParaRPr lang="en-US"/>
          </a:p>
        </p:txBody>
      </p:sp>
    </p:spTree>
    <p:extLst>
      <p:ext uri="{BB962C8B-B14F-4D97-AF65-F5344CB8AC3E}">
        <p14:creationId xmlns:p14="http://schemas.microsoft.com/office/powerpoint/2010/main" val="167365361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49B63F-36D5-4C9F-9D54-B43532217104}"/>
              </a:ext>
            </a:extLst>
          </p:cNvPr>
          <p:cNvSpPr>
            <a:spLocks noGrp="1"/>
          </p:cNvSpPr>
          <p:nvPr>
            <p:ph idx="1"/>
          </p:nvPr>
        </p:nvSpPr>
        <p:spPr>
          <a:xfrm>
            <a:off x="838200" y="428625"/>
            <a:ext cx="10515600" cy="5748338"/>
          </a:xfrm>
        </p:spPr>
        <p:txBody>
          <a:bodyPr>
            <a:normAutofit fontScale="92500" lnSpcReduction="10000"/>
          </a:bodyPr>
          <a:lstStyle/>
          <a:p>
            <a:r>
              <a:rPr lang="en-US" dirty="0">
                <a:solidFill>
                  <a:srgbClr val="FF0000"/>
                </a:solidFill>
              </a:rPr>
              <a:t>fig, ax = </a:t>
            </a:r>
            <a:r>
              <a:rPr lang="en-US" dirty="0" err="1">
                <a:solidFill>
                  <a:srgbClr val="FF0000"/>
                </a:solidFill>
              </a:rPr>
              <a:t>plt.subplots</a:t>
            </a:r>
            <a:r>
              <a:rPr lang="en-US" dirty="0">
                <a:solidFill>
                  <a:srgbClr val="FF0000"/>
                </a:solidFill>
              </a:rPr>
              <a:t>(</a:t>
            </a:r>
            <a:r>
              <a:rPr lang="en-US" dirty="0" err="1">
                <a:solidFill>
                  <a:srgbClr val="FF0000"/>
                </a:solidFill>
              </a:rPr>
              <a:t>figsize</a:t>
            </a:r>
            <a:r>
              <a:rPr lang="en-US" dirty="0">
                <a:solidFill>
                  <a:srgbClr val="FF0000"/>
                </a:solidFill>
              </a:rPr>
              <a:t>=(7, 7))</a:t>
            </a:r>
          </a:p>
          <a:p>
            <a:r>
              <a:rPr lang="en-US" dirty="0" err="1">
                <a:solidFill>
                  <a:srgbClr val="FF0000"/>
                </a:solidFill>
              </a:rPr>
              <a:t>ax.plot</a:t>
            </a:r>
            <a:r>
              <a:rPr lang="en-US" dirty="0">
                <a:solidFill>
                  <a:srgbClr val="FF0000"/>
                </a:solidFill>
              </a:rPr>
              <a:t>(</a:t>
            </a:r>
            <a:r>
              <a:rPr lang="en-US" dirty="0" err="1">
                <a:solidFill>
                  <a:srgbClr val="FF0000"/>
                </a:solidFill>
              </a:rPr>
              <a:t>x_model</a:t>
            </a:r>
            <a:r>
              <a:rPr lang="en-US" dirty="0">
                <a:solidFill>
                  <a:srgbClr val="FF0000"/>
                </a:solidFill>
              </a:rPr>
              <a:t>, </a:t>
            </a:r>
            <a:r>
              <a:rPr lang="en-US" dirty="0" err="1">
                <a:solidFill>
                  <a:srgbClr val="FF0000"/>
                </a:solidFill>
              </a:rPr>
              <a:t>y_model</a:t>
            </a:r>
            <a:r>
              <a:rPr lang="en-US" dirty="0">
                <a:solidFill>
                  <a:srgbClr val="FF0000"/>
                </a:solidFill>
              </a:rPr>
              <a:t>, label = 'Our Model')</a:t>
            </a:r>
          </a:p>
          <a:p>
            <a:r>
              <a:rPr lang="en-US" dirty="0" err="1">
                <a:solidFill>
                  <a:srgbClr val="FF0000"/>
                </a:solidFill>
              </a:rPr>
              <a:t>ax.scatter</a:t>
            </a:r>
            <a:r>
              <a:rPr lang="en-US" dirty="0">
                <a:solidFill>
                  <a:srgbClr val="FF0000"/>
                </a:solidFill>
              </a:rPr>
              <a:t>(</a:t>
            </a:r>
            <a:r>
              <a:rPr lang="en-US" dirty="0" err="1">
                <a:solidFill>
                  <a:srgbClr val="FF0000"/>
                </a:solidFill>
              </a:rPr>
              <a:t>x_data</a:t>
            </a:r>
            <a:r>
              <a:rPr lang="en-US" dirty="0">
                <a:solidFill>
                  <a:srgbClr val="FF0000"/>
                </a:solidFill>
              </a:rPr>
              <a:t>, </a:t>
            </a:r>
            <a:r>
              <a:rPr lang="en-US" dirty="0" err="1">
                <a:solidFill>
                  <a:srgbClr val="FF0000"/>
                </a:solidFill>
              </a:rPr>
              <a:t>y_data</a:t>
            </a:r>
            <a:r>
              <a:rPr lang="en-US" dirty="0">
                <a:solidFill>
                  <a:srgbClr val="FF0000"/>
                </a:solidFill>
              </a:rPr>
              <a:t>, color ='blue', label = 'Sample Data')</a:t>
            </a:r>
          </a:p>
          <a:p>
            <a:r>
              <a:rPr lang="en-US" dirty="0" err="1">
                <a:solidFill>
                  <a:srgbClr val="FF0000"/>
                </a:solidFill>
              </a:rPr>
              <a:t>ax.set_xlabel</a:t>
            </a:r>
            <a:r>
              <a:rPr lang="en-US" dirty="0">
                <a:solidFill>
                  <a:srgbClr val="FF0000"/>
                </a:solidFill>
              </a:rPr>
              <a:t>('x [degrees]')</a:t>
            </a:r>
          </a:p>
          <a:p>
            <a:r>
              <a:rPr lang="en-US" dirty="0" err="1">
                <a:solidFill>
                  <a:srgbClr val="FF0000"/>
                </a:solidFill>
              </a:rPr>
              <a:t>ax.set_ylabel</a:t>
            </a:r>
            <a:r>
              <a:rPr lang="en-US" dirty="0">
                <a:solidFill>
                  <a:srgbClr val="FF0000"/>
                </a:solidFill>
              </a:rPr>
              <a:t>('y')</a:t>
            </a:r>
          </a:p>
          <a:p>
            <a:r>
              <a:rPr lang="en-US" dirty="0" err="1">
                <a:solidFill>
                  <a:srgbClr val="FF0000"/>
                </a:solidFill>
              </a:rPr>
              <a:t>ax.set_xticks</a:t>
            </a:r>
            <a:r>
              <a:rPr lang="en-US" dirty="0">
                <a:solidFill>
                  <a:srgbClr val="FF0000"/>
                </a:solidFill>
              </a:rPr>
              <a:t>([0, </a:t>
            </a:r>
            <a:r>
              <a:rPr lang="en-US" dirty="0" err="1">
                <a:solidFill>
                  <a:srgbClr val="FF0000"/>
                </a:solidFill>
              </a:rPr>
              <a:t>np.pi</a:t>
            </a:r>
            <a:r>
              <a:rPr lang="en-US" dirty="0">
                <a:solidFill>
                  <a:srgbClr val="FF0000"/>
                </a:solidFill>
              </a:rPr>
              <a:t> / 2, </a:t>
            </a:r>
            <a:r>
              <a:rPr lang="en-US" dirty="0" err="1">
                <a:solidFill>
                  <a:srgbClr val="FF0000"/>
                </a:solidFill>
              </a:rPr>
              <a:t>np.pi</a:t>
            </a:r>
            <a:r>
              <a:rPr lang="en-US" dirty="0">
                <a:solidFill>
                  <a:srgbClr val="FF0000"/>
                </a:solidFill>
              </a:rPr>
              <a:t>, 3 / 2 * </a:t>
            </a:r>
            <a:r>
              <a:rPr lang="en-US" dirty="0" err="1">
                <a:solidFill>
                  <a:srgbClr val="FF0000"/>
                </a:solidFill>
              </a:rPr>
              <a:t>np.pi</a:t>
            </a:r>
            <a:r>
              <a:rPr lang="en-US" dirty="0">
                <a:solidFill>
                  <a:srgbClr val="FF0000"/>
                </a:solidFill>
              </a:rPr>
              <a:t>, 2 * </a:t>
            </a:r>
            <a:r>
              <a:rPr lang="en-US" dirty="0" err="1">
                <a:solidFill>
                  <a:srgbClr val="FF0000"/>
                </a:solidFill>
              </a:rPr>
              <a:t>np.pi</a:t>
            </a:r>
            <a:r>
              <a:rPr lang="en-US" dirty="0">
                <a:solidFill>
                  <a:srgbClr val="FF0000"/>
                </a:solidFill>
              </a:rPr>
              <a:t>])</a:t>
            </a:r>
          </a:p>
          <a:p>
            <a:r>
              <a:rPr lang="en-US" dirty="0" err="1">
                <a:solidFill>
                  <a:srgbClr val="FF0000"/>
                </a:solidFill>
              </a:rPr>
              <a:t>ax.set_xticklabels</a:t>
            </a:r>
            <a:r>
              <a:rPr lang="en-US" dirty="0">
                <a:solidFill>
                  <a:srgbClr val="FF0000"/>
                </a:solidFill>
              </a:rPr>
              <a:t>([0, 90, 180, 270, 360])</a:t>
            </a:r>
          </a:p>
          <a:p>
            <a:r>
              <a:rPr lang="en-US" dirty="0" err="1">
                <a:solidFill>
                  <a:srgbClr val="FF0000"/>
                </a:solidFill>
              </a:rPr>
              <a:t>ax.set_yticks</a:t>
            </a:r>
            <a:r>
              <a:rPr lang="en-US" dirty="0">
                <a:solidFill>
                  <a:srgbClr val="FF0000"/>
                </a:solidFill>
              </a:rPr>
              <a:t>([-6, -4, -2, 0, 2, 4])</a:t>
            </a:r>
          </a:p>
          <a:p>
            <a:r>
              <a:rPr lang="en-US" dirty="0" err="1">
                <a:solidFill>
                  <a:srgbClr val="FF0000"/>
                </a:solidFill>
              </a:rPr>
              <a:t>ax.set_xlim</a:t>
            </a:r>
            <a:r>
              <a:rPr lang="en-US" dirty="0">
                <a:solidFill>
                  <a:srgbClr val="FF0000"/>
                </a:solidFill>
              </a:rPr>
              <a:t>([0, 2 * </a:t>
            </a:r>
            <a:r>
              <a:rPr lang="en-US" dirty="0" err="1">
                <a:solidFill>
                  <a:srgbClr val="FF0000"/>
                </a:solidFill>
              </a:rPr>
              <a:t>np.pi</a:t>
            </a:r>
            <a:r>
              <a:rPr lang="en-US" dirty="0">
                <a:solidFill>
                  <a:srgbClr val="FF0000"/>
                </a:solidFill>
              </a:rPr>
              <a:t>])</a:t>
            </a:r>
          </a:p>
          <a:p>
            <a:r>
              <a:rPr lang="en-US" dirty="0" err="1">
                <a:solidFill>
                  <a:srgbClr val="FF0000"/>
                </a:solidFill>
              </a:rPr>
              <a:t>ax.grid</a:t>
            </a:r>
            <a:r>
              <a:rPr lang="en-US" dirty="0">
                <a:solidFill>
                  <a:srgbClr val="FF0000"/>
                </a:solidFill>
              </a:rPr>
              <a:t>(True)</a:t>
            </a:r>
          </a:p>
          <a:p>
            <a:r>
              <a:rPr lang="en-US" dirty="0" err="1">
                <a:solidFill>
                  <a:srgbClr val="FF0000"/>
                </a:solidFill>
              </a:rPr>
              <a:t>ax.set_title</a:t>
            </a:r>
            <a:r>
              <a:rPr lang="en-US" dirty="0">
                <a:solidFill>
                  <a:srgbClr val="FF0000"/>
                </a:solidFill>
              </a:rPr>
              <a:t>('Model performance compared to sample data')</a:t>
            </a:r>
          </a:p>
          <a:p>
            <a:r>
              <a:rPr lang="en-US" dirty="0" err="1">
                <a:solidFill>
                  <a:srgbClr val="FF0000"/>
                </a:solidFill>
              </a:rPr>
              <a:t>ax.legend</a:t>
            </a:r>
            <a:r>
              <a:rPr lang="en-US" dirty="0">
                <a:solidFill>
                  <a:srgbClr val="FF0000"/>
                </a:solidFill>
              </a:rPr>
              <a:t>()</a:t>
            </a:r>
          </a:p>
        </p:txBody>
      </p:sp>
      <p:sp>
        <p:nvSpPr>
          <p:cNvPr id="4" name="Slide Number Placeholder 3">
            <a:extLst>
              <a:ext uri="{FF2B5EF4-FFF2-40B4-BE49-F238E27FC236}">
                <a16:creationId xmlns:a16="http://schemas.microsoft.com/office/drawing/2014/main" id="{43071006-3091-4DF5-A6A6-FFB022832F57}"/>
              </a:ext>
            </a:extLst>
          </p:cNvPr>
          <p:cNvSpPr>
            <a:spLocks noGrp="1"/>
          </p:cNvSpPr>
          <p:nvPr>
            <p:ph type="sldNum" sz="quarter" idx="12"/>
          </p:nvPr>
        </p:nvSpPr>
        <p:spPr/>
        <p:txBody>
          <a:bodyPr/>
          <a:lstStyle/>
          <a:p>
            <a:fld id="{6B97D948-30E8-43F7-AE10-F6E2D9F2BBB1}" type="slidenum">
              <a:rPr lang="en-US" smtClean="0"/>
              <a:t>274</a:t>
            </a:fld>
            <a:endParaRPr lang="en-US"/>
          </a:p>
        </p:txBody>
      </p:sp>
    </p:spTree>
    <p:extLst>
      <p:ext uri="{BB962C8B-B14F-4D97-AF65-F5344CB8AC3E}">
        <p14:creationId xmlns:p14="http://schemas.microsoft.com/office/powerpoint/2010/main" val="2100533127"/>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A3851-0907-4A5C-862E-5B71DC591596}"/>
              </a:ext>
            </a:extLst>
          </p:cNvPr>
          <p:cNvSpPr>
            <a:spLocks noGrp="1"/>
          </p:cNvSpPr>
          <p:nvPr>
            <p:ph type="title"/>
          </p:nvPr>
        </p:nvSpPr>
        <p:spPr>
          <a:xfrm>
            <a:off x="838200" y="365126"/>
            <a:ext cx="10515600" cy="692150"/>
          </a:xfrm>
        </p:spPr>
        <p:txBody>
          <a:bodyPr>
            <a:normAutofit fontScale="90000"/>
          </a:bodyPr>
          <a:lstStyle/>
          <a:p>
            <a:r>
              <a:rPr lang="en-US" dirty="0"/>
              <a:t>Spines</a:t>
            </a:r>
          </a:p>
        </p:txBody>
      </p:sp>
      <p:sp>
        <p:nvSpPr>
          <p:cNvPr id="3" name="Content Placeholder 2">
            <a:extLst>
              <a:ext uri="{FF2B5EF4-FFF2-40B4-BE49-F238E27FC236}">
                <a16:creationId xmlns:a16="http://schemas.microsoft.com/office/drawing/2014/main" id="{6D3D95D1-E77B-4FB5-9CEB-7AA801E55DFF}"/>
              </a:ext>
            </a:extLst>
          </p:cNvPr>
          <p:cNvSpPr>
            <a:spLocks noGrp="1"/>
          </p:cNvSpPr>
          <p:nvPr>
            <p:ph idx="1"/>
          </p:nvPr>
        </p:nvSpPr>
        <p:spPr>
          <a:xfrm>
            <a:off x="838200" y="1057276"/>
            <a:ext cx="10515600" cy="5119687"/>
          </a:xfrm>
        </p:spPr>
        <p:txBody>
          <a:bodyPr/>
          <a:lstStyle/>
          <a:p>
            <a:pPr algn="just"/>
            <a:r>
              <a:rPr lang="en-US" dirty="0"/>
              <a:t>Spines are the lines that form the border of a set of axes. </a:t>
            </a:r>
          </a:p>
          <a:p>
            <a:pPr algn="just"/>
            <a:r>
              <a:rPr lang="en-US" dirty="0"/>
              <a:t>You can customize these by turning them on or off or adjusting their color pattern and other aspects of their style. </a:t>
            </a:r>
          </a:p>
          <a:p>
            <a:pPr algn="just"/>
            <a:r>
              <a:rPr lang="en-US" dirty="0"/>
              <a:t>Let’s turn off the top and right spines to see this in action.</a:t>
            </a:r>
          </a:p>
        </p:txBody>
      </p:sp>
      <p:sp>
        <p:nvSpPr>
          <p:cNvPr id="4" name="Slide Number Placeholder 3">
            <a:extLst>
              <a:ext uri="{FF2B5EF4-FFF2-40B4-BE49-F238E27FC236}">
                <a16:creationId xmlns:a16="http://schemas.microsoft.com/office/drawing/2014/main" id="{8C6C3DA5-D510-47AE-B122-15E3B4EAD475}"/>
              </a:ext>
            </a:extLst>
          </p:cNvPr>
          <p:cNvSpPr>
            <a:spLocks noGrp="1"/>
          </p:cNvSpPr>
          <p:nvPr>
            <p:ph type="sldNum" sz="quarter" idx="12"/>
          </p:nvPr>
        </p:nvSpPr>
        <p:spPr/>
        <p:txBody>
          <a:bodyPr/>
          <a:lstStyle/>
          <a:p>
            <a:fld id="{6B97D948-30E8-43F7-AE10-F6E2D9F2BBB1}" type="slidenum">
              <a:rPr lang="en-US" smtClean="0"/>
              <a:t>275</a:t>
            </a:fld>
            <a:endParaRPr lang="en-US"/>
          </a:p>
        </p:txBody>
      </p:sp>
    </p:spTree>
    <p:extLst>
      <p:ext uri="{BB962C8B-B14F-4D97-AF65-F5344CB8AC3E}">
        <p14:creationId xmlns:p14="http://schemas.microsoft.com/office/powerpoint/2010/main" val="2196091922"/>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3F3C1-8CE0-4953-9A35-1F1322485ABD}"/>
              </a:ext>
            </a:extLst>
          </p:cNvPr>
          <p:cNvSpPr>
            <a:spLocks noGrp="1"/>
          </p:cNvSpPr>
          <p:nvPr>
            <p:ph idx="1"/>
          </p:nvPr>
        </p:nvSpPr>
        <p:spPr>
          <a:xfrm>
            <a:off x="838200" y="400050"/>
            <a:ext cx="10515600" cy="5776913"/>
          </a:xfrm>
        </p:spPr>
        <p:txBody>
          <a:bodyPr>
            <a:normAutofit fontScale="92500" lnSpcReduction="10000"/>
          </a:bodyPr>
          <a:lstStyle/>
          <a:p>
            <a:r>
              <a:rPr lang="en-US" dirty="0">
                <a:solidFill>
                  <a:srgbClr val="FF0000"/>
                </a:solidFill>
              </a:rPr>
              <a:t>fig, ax = </a:t>
            </a:r>
            <a:r>
              <a:rPr lang="en-US" dirty="0" err="1">
                <a:solidFill>
                  <a:srgbClr val="FF0000"/>
                </a:solidFill>
              </a:rPr>
              <a:t>plt.subplots</a:t>
            </a:r>
            <a:r>
              <a:rPr lang="en-US" dirty="0">
                <a:solidFill>
                  <a:srgbClr val="FF0000"/>
                </a:solidFill>
              </a:rPr>
              <a:t>(</a:t>
            </a:r>
            <a:r>
              <a:rPr lang="en-US" dirty="0" err="1">
                <a:solidFill>
                  <a:srgbClr val="FF0000"/>
                </a:solidFill>
              </a:rPr>
              <a:t>figsize</a:t>
            </a:r>
            <a:r>
              <a:rPr lang="en-US" dirty="0">
                <a:solidFill>
                  <a:srgbClr val="FF0000"/>
                </a:solidFill>
              </a:rPr>
              <a:t>=(7, 7))</a:t>
            </a:r>
          </a:p>
          <a:p>
            <a:r>
              <a:rPr lang="en-US" dirty="0" err="1">
                <a:solidFill>
                  <a:srgbClr val="FF0000"/>
                </a:solidFill>
              </a:rPr>
              <a:t>ax.plot</a:t>
            </a:r>
            <a:r>
              <a:rPr lang="en-US" dirty="0">
                <a:solidFill>
                  <a:srgbClr val="FF0000"/>
                </a:solidFill>
              </a:rPr>
              <a:t>(</a:t>
            </a:r>
            <a:r>
              <a:rPr lang="en-US" dirty="0" err="1">
                <a:solidFill>
                  <a:srgbClr val="FF0000"/>
                </a:solidFill>
              </a:rPr>
              <a:t>x_model</a:t>
            </a:r>
            <a:r>
              <a:rPr lang="en-US" dirty="0">
                <a:solidFill>
                  <a:srgbClr val="FF0000"/>
                </a:solidFill>
              </a:rPr>
              <a:t>, </a:t>
            </a:r>
            <a:r>
              <a:rPr lang="en-US" dirty="0" err="1">
                <a:solidFill>
                  <a:srgbClr val="FF0000"/>
                </a:solidFill>
              </a:rPr>
              <a:t>y_model</a:t>
            </a:r>
            <a:r>
              <a:rPr lang="en-US" dirty="0">
                <a:solidFill>
                  <a:srgbClr val="FF0000"/>
                </a:solidFill>
              </a:rPr>
              <a:t>, label = 'Our Model')</a:t>
            </a:r>
          </a:p>
          <a:p>
            <a:r>
              <a:rPr lang="en-US" dirty="0" err="1">
                <a:solidFill>
                  <a:srgbClr val="FF0000"/>
                </a:solidFill>
              </a:rPr>
              <a:t>ax.scatter</a:t>
            </a:r>
            <a:r>
              <a:rPr lang="en-US" dirty="0">
                <a:solidFill>
                  <a:srgbClr val="FF0000"/>
                </a:solidFill>
              </a:rPr>
              <a:t>(</a:t>
            </a:r>
            <a:r>
              <a:rPr lang="en-US" dirty="0" err="1">
                <a:solidFill>
                  <a:srgbClr val="FF0000"/>
                </a:solidFill>
              </a:rPr>
              <a:t>x_data</a:t>
            </a:r>
            <a:r>
              <a:rPr lang="en-US" dirty="0">
                <a:solidFill>
                  <a:srgbClr val="FF0000"/>
                </a:solidFill>
              </a:rPr>
              <a:t>, </a:t>
            </a:r>
            <a:r>
              <a:rPr lang="en-US" dirty="0" err="1">
                <a:solidFill>
                  <a:srgbClr val="FF0000"/>
                </a:solidFill>
              </a:rPr>
              <a:t>y_data</a:t>
            </a:r>
            <a:r>
              <a:rPr lang="en-US" dirty="0">
                <a:solidFill>
                  <a:srgbClr val="FF0000"/>
                </a:solidFill>
              </a:rPr>
              <a:t>, color ='blue', label = 'Sample Data')</a:t>
            </a:r>
          </a:p>
          <a:p>
            <a:r>
              <a:rPr lang="en-US" dirty="0" err="1">
                <a:solidFill>
                  <a:srgbClr val="FF0000"/>
                </a:solidFill>
              </a:rPr>
              <a:t>ax.set_xlabel</a:t>
            </a:r>
            <a:r>
              <a:rPr lang="en-US" dirty="0">
                <a:solidFill>
                  <a:srgbClr val="FF0000"/>
                </a:solidFill>
              </a:rPr>
              <a:t>('x [degrees]')</a:t>
            </a:r>
          </a:p>
          <a:p>
            <a:r>
              <a:rPr lang="en-US" dirty="0" err="1">
                <a:solidFill>
                  <a:srgbClr val="FF0000"/>
                </a:solidFill>
              </a:rPr>
              <a:t>ax.set_ylabel</a:t>
            </a:r>
            <a:r>
              <a:rPr lang="en-US" dirty="0">
                <a:solidFill>
                  <a:srgbClr val="FF0000"/>
                </a:solidFill>
              </a:rPr>
              <a:t>('y')</a:t>
            </a:r>
          </a:p>
          <a:p>
            <a:r>
              <a:rPr lang="en-US" dirty="0" err="1">
                <a:solidFill>
                  <a:srgbClr val="FF0000"/>
                </a:solidFill>
              </a:rPr>
              <a:t>ax.set_xticks</a:t>
            </a:r>
            <a:r>
              <a:rPr lang="en-US" dirty="0">
                <a:solidFill>
                  <a:srgbClr val="FF0000"/>
                </a:solidFill>
              </a:rPr>
              <a:t>([0, </a:t>
            </a:r>
            <a:r>
              <a:rPr lang="en-US" dirty="0" err="1">
                <a:solidFill>
                  <a:srgbClr val="FF0000"/>
                </a:solidFill>
              </a:rPr>
              <a:t>np.pi</a:t>
            </a:r>
            <a:r>
              <a:rPr lang="en-US" dirty="0">
                <a:solidFill>
                  <a:srgbClr val="FF0000"/>
                </a:solidFill>
              </a:rPr>
              <a:t> / 2, </a:t>
            </a:r>
            <a:r>
              <a:rPr lang="en-US" dirty="0" err="1">
                <a:solidFill>
                  <a:srgbClr val="FF0000"/>
                </a:solidFill>
              </a:rPr>
              <a:t>np.pi</a:t>
            </a:r>
            <a:r>
              <a:rPr lang="en-US" dirty="0">
                <a:solidFill>
                  <a:srgbClr val="FF0000"/>
                </a:solidFill>
              </a:rPr>
              <a:t>, 3 / 2 * </a:t>
            </a:r>
            <a:r>
              <a:rPr lang="en-US" dirty="0" err="1">
                <a:solidFill>
                  <a:srgbClr val="FF0000"/>
                </a:solidFill>
              </a:rPr>
              <a:t>np.pi</a:t>
            </a:r>
            <a:r>
              <a:rPr lang="en-US" dirty="0">
                <a:solidFill>
                  <a:srgbClr val="FF0000"/>
                </a:solidFill>
              </a:rPr>
              <a:t>, 2 * </a:t>
            </a:r>
            <a:r>
              <a:rPr lang="en-US" dirty="0" err="1">
                <a:solidFill>
                  <a:srgbClr val="FF0000"/>
                </a:solidFill>
              </a:rPr>
              <a:t>np.pi</a:t>
            </a:r>
            <a:r>
              <a:rPr lang="en-US" dirty="0">
                <a:solidFill>
                  <a:srgbClr val="FF0000"/>
                </a:solidFill>
              </a:rPr>
              <a:t>])</a:t>
            </a:r>
          </a:p>
          <a:p>
            <a:r>
              <a:rPr lang="en-US" dirty="0" err="1">
                <a:solidFill>
                  <a:srgbClr val="FF0000"/>
                </a:solidFill>
              </a:rPr>
              <a:t>ax.set_xticklabels</a:t>
            </a:r>
            <a:r>
              <a:rPr lang="en-US" dirty="0">
                <a:solidFill>
                  <a:srgbClr val="FF0000"/>
                </a:solidFill>
              </a:rPr>
              <a:t>([0, 90, 180, 270, 360])</a:t>
            </a:r>
          </a:p>
          <a:p>
            <a:r>
              <a:rPr lang="en-US" dirty="0" err="1">
                <a:solidFill>
                  <a:srgbClr val="FF0000"/>
                </a:solidFill>
              </a:rPr>
              <a:t>ax.set_yticks</a:t>
            </a:r>
            <a:r>
              <a:rPr lang="en-US" dirty="0">
                <a:solidFill>
                  <a:srgbClr val="FF0000"/>
                </a:solidFill>
              </a:rPr>
              <a:t>([-6, -4, -2, 0, 2, 4])</a:t>
            </a:r>
          </a:p>
          <a:p>
            <a:r>
              <a:rPr lang="en-US" dirty="0" err="1">
                <a:solidFill>
                  <a:srgbClr val="FF0000"/>
                </a:solidFill>
              </a:rPr>
              <a:t>ax.set_xlim</a:t>
            </a:r>
            <a:r>
              <a:rPr lang="en-US" dirty="0">
                <a:solidFill>
                  <a:srgbClr val="FF0000"/>
                </a:solidFill>
              </a:rPr>
              <a:t>([0, 2 * </a:t>
            </a:r>
            <a:r>
              <a:rPr lang="en-US" dirty="0" err="1">
                <a:solidFill>
                  <a:srgbClr val="FF0000"/>
                </a:solidFill>
              </a:rPr>
              <a:t>np.pi</a:t>
            </a:r>
            <a:r>
              <a:rPr lang="en-US" dirty="0">
                <a:solidFill>
                  <a:srgbClr val="FF0000"/>
                </a:solidFill>
              </a:rPr>
              <a:t>])</a:t>
            </a:r>
          </a:p>
          <a:p>
            <a:r>
              <a:rPr lang="en-US" dirty="0" err="1">
                <a:solidFill>
                  <a:srgbClr val="FF0000"/>
                </a:solidFill>
              </a:rPr>
              <a:t>ax.grid</a:t>
            </a:r>
            <a:r>
              <a:rPr lang="en-US" dirty="0">
                <a:solidFill>
                  <a:srgbClr val="FF0000"/>
                </a:solidFill>
              </a:rPr>
              <a:t>(True)</a:t>
            </a:r>
          </a:p>
          <a:p>
            <a:r>
              <a:rPr lang="en-US" dirty="0" err="1">
                <a:solidFill>
                  <a:srgbClr val="FF0000"/>
                </a:solidFill>
              </a:rPr>
              <a:t>ax.set_title</a:t>
            </a:r>
            <a:r>
              <a:rPr lang="en-US" dirty="0">
                <a:solidFill>
                  <a:srgbClr val="FF0000"/>
                </a:solidFill>
              </a:rPr>
              <a:t>('Model performance compared to sample data’)</a:t>
            </a:r>
          </a:p>
          <a:p>
            <a:r>
              <a:rPr lang="en-US" dirty="0" err="1">
                <a:solidFill>
                  <a:srgbClr val="FF0000"/>
                </a:solidFill>
              </a:rPr>
              <a:t>ax.spines</a:t>
            </a:r>
            <a:r>
              <a:rPr lang="en-US" dirty="0">
                <a:solidFill>
                  <a:srgbClr val="FF0000"/>
                </a:solidFill>
              </a:rPr>
              <a:t>[['right', 'top']].</a:t>
            </a:r>
            <a:r>
              <a:rPr lang="en-US" dirty="0" err="1">
                <a:solidFill>
                  <a:srgbClr val="FF0000"/>
                </a:solidFill>
              </a:rPr>
              <a:t>set_visible</a:t>
            </a:r>
            <a:r>
              <a:rPr lang="en-US" dirty="0">
                <a:solidFill>
                  <a:srgbClr val="FF0000"/>
                </a:solidFill>
              </a:rPr>
              <a:t>(False)</a:t>
            </a:r>
          </a:p>
          <a:p>
            <a:r>
              <a:rPr lang="en-US" dirty="0" err="1">
                <a:solidFill>
                  <a:srgbClr val="FF0000"/>
                </a:solidFill>
              </a:rPr>
              <a:t>ax.legend</a:t>
            </a:r>
            <a:r>
              <a:rPr lang="en-US" dirty="0">
                <a:solidFill>
                  <a:srgbClr val="FF0000"/>
                </a:solidFill>
              </a:rPr>
              <a:t>()</a:t>
            </a:r>
          </a:p>
          <a:p>
            <a:endParaRPr lang="en-US" dirty="0"/>
          </a:p>
        </p:txBody>
      </p:sp>
      <p:sp>
        <p:nvSpPr>
          <p:cNvPr id="4" name="Slide Number Placeholder 3">
            <a:extLst>
              <a:ext uri="{FF2B5EF4-FFF2-40B4-BE49-F238E27FC236}">
                <a16:creationId xmlns:a16="http://schemas.microsoft.com/office/drawing/2014/main" id="{BE576921-12B9-4249-8210-61F9286C2CA0}"/>
              </a:ext>
            </a:extLst>
          </p:cNvPr>
          <p:cNvSpPr>
            <a:spLocks noGrp="1"/>
          </p:cNvSpPr>
          <p:nvPr>
            <p:ph type="sldNum" sz="quarter" idx="12"/>
          </p:nvPr>
        </p:nvSpPr>
        <p:spPr/>
        <p:txBody>
          <a:bodyPr/>
          <a:lstStyle/>
          <a:p>
            <a:fld id="{6B97D948-30E8-43F7-AE10-F6E2D9F2BBB1}" type="slidenum">
              <a:rPr lang="en-US" smtClean="0"/>
              <a:t>276</a:t>
            </a:fld>
            <a:endParaRPr lang="en-US"/>
          </a:p>
        </p:txBody>
      </p:sp>
    </p:spTree>
    <p:extLst>
      <p:ext uri="{BB962C8B-B14F-4D97-AF65-F5344CB8AC3E}">
        <p14:creationId xmlns:p14="http://schemas.microsoft.com/office/powerpoint/2010/main" val="3282441155"/>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012EC-506E-4623-93AB-36946AC06719}"/>
              </a:ext>
            </a:extLst>
          </p:cNvPr>
          <p:cNvSpPr>
            <a:spLocks noGrp="1"/>
          </p:cNvSpPr>
          <p:nvPr>
            <p:ph type="title"/>
          </p:nvPr>
        </p:nvSpPr>
        <p:spPr>
          <a:xfrm>
            <a:off x="838200" y="365125"/>
            <a:ext cx="10515600" cy="677863"/>
          </a:xfrm>
        </p:spPr>
        <p:txBody>
          <a:bodyPr>
            <a:normAutofit fontScale="90000"/>
          </a:bodyPr>
          <a:lstStyle/>
          <a:p>
            <a:r>
              <a:rPr lang="en-US" dirty="0"/>
              <a:t>Another way to set properties</a:t>
            </a:r>
          </a:p>
        </p:txBody>
      </p:sp>
      <p:sp>
        <p:nvSpPr>
          <p:cNvPr id="3" name="Content Placeholder 2">
            <a:extLst>
              <a:ext uri="{FF2B5EF4-FFF2-40B4-BE49-F238E27FC236}">
                <a16:creationId xmlns:a16="http://schemas.microsoft.com/office/drawing/2014/main" id="{86D9E214-4842-408B-9A28-391236EAEEAE}"/>
              </a:ext>
            </a:extLst>
          </p:cNvPr>
          <p:cNvSpPr>
            <a:spLocks noGrp="1"/>
          </p:cNvSpPr>
          <p:nvPr>
            <p:ph idx="1"/>
          </p:nvPr>
        </p:nvSpPr>
        <p:spPr>
          <a:xfrm>
            <a:off x="838200" y="1042988"/>
            <a:ext cx="10515600" cy="5133975"/>
          </a:xfrm>
        </p:spPr>
        <p:txBody>
          <a:bodyPr>
            <a:normAutofit fontScale="92500" lnSpcReduction="10000"/>
          </a:bodyPr>
          <a:lstStyle/>
          <a:p>
            <a:pPr algn="just"/>
            <a:r>
              <a:rPr lang="en-US" dirty="0"/>
              <a:t>In the above examples, we used the individual </a:t>
            </a:r>
            <a:r>
              <a:rPr lang="en-US" dirty="0">
                <a:solidFill>
                  <a:srgbClr val="FF0000"/>
                </a:solidFill>
              </a:rPr>
              <a:t>set method</a:t>
            </a:r>
            <a:r>
              <a:rPr lang="en-US" dirty="0"/>
              <a:t> for each property of the Axes object we wanted to change. </a:t>
            </a:r>
          </a:p>
          <a:p>
            <a:pPr algn="just"/>
            <a:r>
              <a:rPr lang="en-US" dirty="0"/>
              <a:t>For example </a:t>
            </a:r>
            <a:r>
              <a:rPr lang="en-US" dirty="0" err="1">
                <a:solidFill>
                  <a:srgbClr val="FF0000"/>
                </a:solidFill>
              </a:rPr>
              <a:t>ax.set_ylabel</a:t>
            </a:r>
            <a:r>
              <a:rPr lang="en-US" dirty="0">
                <a:solidFill>
                  <a:srgbClr val="FF0000"/>
                </a:solidFill>
              </a:rPr>
              <a:t>('y’)</a:t>
            </a:r>
            <a:r>
              <a:rPr lang="en-US" dirty="0"/>
              <a:t>. </a:t>
            </a:r>
          </a:p>
          <a:p>
            <a:pPr algn="just"/>
            <a:endParaRPr lang="en-US" dirty="0"/>
          </a:p>
          <a:p>
            <a:pPr algn="just"/>
            <a:r>
              <a:rPr lang="en-US" dirty="0"/>
              <a:t>However, an alternative to this structure is to use the </a:t>
            </a:r>
            <a:r>
              <a:rPr lang="en-US" dirty="0" err="1">
                <a:solidFill>
                  <a:srgbClr val="FF0000"/>
                </a:solidFill>
              </a:rPr>
              <a:t>ax.set</a:t>
            </a:r>
            <a:r>
              <a:rPr lang="en-US" dirty="0">
                <a:solidFill>
                  <a:srgbClr val="FF0000"/>
                </a:solidFill>
              </a:rPr>
              <a:t>() </a:t>
            </a:r>
            <a:r>
              <a:rPr lang="en-US" dirty="0"/>
              <a:t>method and set each property as a keyword property. </a:t>
            </a:r>
          </a:p>
          <a:p>
            <a:pPr algn="just"/>
            <a:endParaRPr lang="en-US" dirty="0"/>
          </a:p>
          <a:p>
            <a:pPr algn="just"/>
            <a:r>
              <a:rPr lang="en-US" dirty="0"/>
              <a:t>For the y label example, this would be </a:t>
            </a:r>
            <a:r>
              <a:rPr lang="en-US" dirty="0" err="1">
                <a:solidFill>
                  <a:srgbClr val="FF0000"/>
                </a:solidFill>
              </a:rPr>
              <a:t>ax.set</a:t>
            </a:r>
            <a:r>
              <a:rPr lang="en-US" dirty="0">
                <a:solidFill>
                  <a:srgbClr val="FF0000"/>
                </a:solidFill>
              </a:rPr>
              <a:t>(</a:t>
            </a:r>
            <a:r>
              <a:rPr lang="en-US" dirty="0" err="1">
                <a:solidFill>
                  <a:srgbClr val="FF0000"/>
                </a:solidFill>
              </a:rPr>
              <a:t>ylabel</a:t>
            </a:r>
            <a:r>
              <a:rPr lang="en-US" dirty="0">
                <a:solidFill>
                  <a:srgbClr val="FF0000"/>
                </a:solidFill>
              </a:rPr>
              <a:t>='y’)</a:t>
            </a:r>
            <a:r>
              <a:rPr lang="en-US" dirty="0"/>
              <a:t>. </a:t>
            </a:r>
          </a:p>
          <a:p>
            <a:pPr algn="just"/>
            <a:endParaRPr lang="en-US" dirty="0"/>
          </a:p>
          <a:p>
            <a:pPr algn="just"/>
            <a:r>
              <a:rPr lang="en-US" dirty="0"/>
              <a:t>And we can include multiple parameters that we wish to set. </a:t>
            </a:r>
          </a:p>
          <a:p>
            <a:pPr algn="just"/>
            <a:endParaRPr lang="en-US" dirty="0"/>
          </a:p>
          <a:p>
            <a:pPr algn="just"/>
            <a:r>
              <a:rPr lang="en-US" dirty="0"/>
              <a:t>This notation can be more compact and easier to read.</a:t>
            </a:r>
          </a:p>
        </p:txBody>
      </p:sp>
      <p:sp>
        <p:nvSpPr>
          <p:cNvPr id="4" name="Slide Number Placeholder 3">
            <a:extLst>
              <a:ext uri="{FF2B5EF4-FFF2-40B4-BE49-F238E27FC236}">
                <a16:creationId xmlns:a16="http://schemas.microsoft.com/office/drawing/2014/main" id="{7A57BC1D-BD2E-47EF-BACC-6B8202F5DB9D}"/>
              </a:ext>
            </a:extLst>
          </p:cNvPr>
          <p:cNvSpPr>
            <a:spLocks noGrp="1"/>
          </p:cNvSpPr>
          <p:nvPr>
            <p:ph type="sldNum" sz="quarter" idx="12"/>
          </p:nvPr>
        </p:nvSpPr>
        <p:spPr/>
        <p:txBody>
          <a:bodyPr/>
          <a:lstStyle/>
          <a:p>
            <a:fld id="{6B97D948-30E8-43F7-AE10-F6E2D9F2BBB1}" type="slidenum">
              <a:rPr lang="en-US" smtClean="0"/>
              <a:t>277</a:t>
            </a:fld>
            <a:endParaRPr lang="en-US"/>
          </a:p>
        </p:txBody>
      </p:sp>
    </p:spTree>
    <p:extLst>
      <p:ext uri="{BB962C8B-B14F-4D97-AF65-F5344CB8AC3E}">
        <p14:creationId xmlns:p14="http://schemas.microsoft.com/office/powerpoint/2010/main" val="621454126"/>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57D015-2C03-4E54-9FBF-DAED2E4B9548}"/>
              </a:ext>
            </a:extLst>
          </p:cNvPr>
          <p:cNvSpPr>
            <a:spLocks noGrp="1"/>
          </p:cNvSpPr>
          <p:nvPr>
            <p:ph idx="1"/>
          </p:nvPr>
        </p:nvSpPr>
        <p:spPr>
          <a:xfrm>
            <a:off x="838200" y="428625"/>
            <a:ext cx="10515600" cy="5748338"/>
          </a:xfrm>
        </p:spPr>
        <p:txBody>
          <a:bodyPr>
            <a:normAutofit fontScale="70000" lnSpcReduction="20000"/>
          </a:bodyPr>
          <a:lstStyle/>
          <a:p>
            <a:r>
              <a:rPr lang="en-US" dirty="0"/>
              <a:t>fig, ax = </a:t>
            </a:r>
            <a:r>
              <a:rPr lang="en-US" dirty="0" err="1"/>
              <a:t>plt.subplots</a:t>
            </a:r>
            <a:r>
              <a:rPr lang="en-US" dirty="0"/>
              <a:t>(</a:t>
            </a:r>
            <a:r>
              <a:rPr lang="en-US" dirty="0" err="1"/>
              <a:t>figsize</a:t>
            </a:r>
            <a:r>
              <a:rPr lang="en-US" dirty="0"/>
              <a:t>=(7, 7))</a:t>
            </a:r>
          </a:p>
          <a:p>
            <a:r>
              <a:rPr lang="en-US" dirty="0" err="1"/>
              <a:t>ax.plot</a:t>
            </a:r>
            <a:r>
              <a:rPr lang="en-US" dirty="0"/>
              <a:t>(</a:t>
            </a:r>
            <a:r>
              <a:rPr lang="en-US" dirty="0" err="1"/>
              <a:t>x_model</a:t>
            </a:r>
            <a:r>
              <a:rPr lang="en-US" dirty="0"/>
              <a:t>, </a:t>
            </a:r>
            <a:r>
              <a:rPr lang="en-US" dirty="0" err="1"/>
              <a:t>y_model</a:t>
            </a:r>
            <a:r>
              <a:rPr lang="en-US" dirty="0"/>
              <a:t>, label= "Our Model")</a:t>
            </a:r>
          </a:p>
          <a:p>
            <a:r>
              <a:rPr lang="en-US" dirty="0" err="1"/>
              <a:t>ax.scatter</a:t>
            </a:r>
            <a:r>
              <a:rPr lang="en-US" dirty="0"/>
              <a:t>(</a:t>
            </a:r>
            <a:r>
              <a:rPr lang="en-US" dirty="0" err="1"/>
              <a:t>x_data</a:t>
            </a:r>
            <a:r>
              <a:rPr lang="en-US" dirty="0"/>
              <a:t>, </a:t>
            </a:r>
            <a:r>
              <a:rPr lang="en-US" dirty="0" err="1"/>
              <a:t>y_data</a:t>
            </a:r>
            <a:r>
              <a:rPr lang="en-US" dirty="0"/>
              <a:t>, color= "black", label="Sample Data")</a:t>
            </a:r>
          </a:p>
          <a:p>
            <a:r>
              <a:rPr lang="en-US" dirty="0" err="1"/>
              <a:t>ax.legend</a:t>
            </a:r>
            <a:r>
              <a:rPr lang="en-US" dirty="0"/>
              <a:t>()</a:t>
            </a:r>
          </a:p>
          <a:p>
            <a:r>
              <a:rPr lang="en-US" dirty="0" err="1"/>
              <a:t>ax.spines</a:t>
            </a:r>
            <a:r>
              <a:rPr lang="en-US" dirty="0"/>
              <a:t>[["right", "top"]].</a:t>
            </a:r>
            <a:r>
              <a:rPr lang="en-US" dirty="0" err="1"/>
              <a:t>set_visible</a:t>
            </a:r>
            <a:r>
              <a:rPr lang="en-US" dirty="0"/>
              <a:t>(False)</a:t>
            </a:r>
          </a:p>
          <a:p>
            <a:r>
              <a:rPr lang="en-US" dirty="0" err="1"/>
              <a:t>ax.grid</a:t>
            </a:r>
            <a:r>
              <a:rPr lang="en-US" dirty="0"/>
              <a:t>(True)</a:t>
            </a:r>
          </a:p>
          <a:p>
            <a:r>
              <a:rPr lang="en-US" dirty="0" err="1"/>
              <a:t>ax.set</a:t>
            </a:r>
            <a:r>
              <a:rPr lang="en-US" dirty="0"/>
              <a:t>(</a:t>
            </a:r>
          </a:p>
          <a:p>
            <a:r>
              <a:rPr lang="en-US" dirty="0"/>
              <a:t>    </a:t>
            </a:r>
            <a:r>
              <a:rPr lang="en-US" dirty="0" err="1"/>
              <a:t>xlabel</a:t>
            </a:r>
            <a:r>
              <a:rPr lang="en-US" dirty="0"/>
              <a:t>="x [degrees]",</a:t>
            </a:r>
          </a:p>
          <a:p>
            <a:r>
              <a:rPr lang="en-US" dirty="0"/>
              <a:t>    </a:t>
            </a:r>
            <a:r>
              <a:rPr lang="en-US" dirty="0" err="1"/>
              <a:t>ylabel</a:t>
            </a:r>
            <a:r>
              <a:rPr lang="en-US" dirty="0"/>
              <a:t>="y",</a:t>
            </a:r>
          </a:p>
          <a:p>
            <a:r>
              <a:rPr lang="en-US" dirty="0"/>
              <a:t>    </a:t>
            </a:r>
            <a:r>
              <a:rPr lang="en-US" dirty="0" err="1"/>
              <a:t>xticks</a:t>
            </a:r>
            <a:r>
              <a:rPr lang="en-US" dirty="0"/>
              <a:t>=[0, </a:t>
            </a:r>
            <a:r>
              <a:rPr lang="en-US" dirty="0" err="1"/>
              <a:t>np.pi</a:t>
            </a:r>
            <a:r>
              <a:rPr lang="en-US" dirty="0"/>
              <a:t> / 2, </a:t>
            </a:r>
            <a:r>
              <a:rPr lang="en-US" dirty="0" err="1"/>
              <a:t>np.pi</a:t>
            </a:r>
            <a:r>
              <a:rPr lang="en-US" dirty="0"/>
              <a:t>, 3 / 2 * </a:t>
            </a:r>
            <a:r>
              <a:rPr lang="en-US" dirty="0" err="1"/>
              <a:t>np.pi</a:t>
            </a:r>
            <a:r>
              <a:rPr lang="en-US" dirty="0"/>
              <a:t>, 2 * </a:t>
            </a:r>
            <a:r>
              <a:rPr lang="en-US" dirty="0" err="1"/>
              <a:t>np.pi</a:t>
            </a:r>
            <a:r>
              <a:rPr lang="en-US" dirty="0"/>
              <a:t>],</a:t>
            </a:r>
          </a:p>
          <a:p>
            <a:r>
              <a:rPr lang="en-US" dirty="0"/>
              <a:t>    </a:t>
            </a:r>
            <a:r>
              <a:rPr lang="en-US" dirty="0" err="1"/>
              <a:t>xticklabels</a:t>
            </a:r>
            <a:r>
              <a:rPr lang="en-US" dirty="0"/>
              <a:t>=[0, 90, 180, 270, 360],</a:t>
            </a:r>
          </a:p>
          <a:p>
            <a:r>
              <a:rPr lang="en-US" dirty="0"/>
              <a:t>    </a:t>
            </a:r>
            <a:r>
              <a:rPr lang="en-US" dirty="0" err="1"/>
              <a:t>yticks</a:t>
            </a:r>
            <a:r>
              <a:rPr lang="en-US" dirty="0"/>
              <a:t>=[-6, -4, -2, 0, 2, 4],</a:t>
            </a:r>
          </a:p>
          <a:p>
            <a:r>
              <a:rPr lang="en-US" dirty="0"/>
              <a:t>    </a:t>
            </a:r>
            <a:r>
              <a:rPr lang="en-US" dirty="0" err="1"/>
              <a:t>xlim</a:t>
            </a:r>
            <a:r>
              <a:rPr lang="en-US" dirty="0"/>
              <a:t>=[0, 2 * </a:t>
            </a:r>
            <a:r>
              <a:rPr lang="en-US" dirty="0" err="1"/>
              <a:t>np.pi</a:t>
            </a:r>
            <a:r>
              <a:rPr lang="en-US" dirty="0"/>
              <a:t>],</a:t>
            </a:r>
          </a:p>
          <a:p>
            <a:r>
              <a:rPr lang="en-US" dirty="0"/>
              <a:t>)</a:t>
            </a:r>
          </a:p>
          <a:p>
            <a:r>
              <a:rPr lang="en-US" dirty="0" err="1"/>
              <a:t>ax.set_title</a:t>
            </a:r>
            <a:r>
              <a:rPr lang="en-US" dirty="0"/>
              <a:t>("Model performance compared to sample data")</a:t>
            </a:r>
          </a:p>
          <a:p>
            <a:r>
              <a:rPr lang="en-US" dirty="0" err="1"/>
              <a:t>plt.show</a:t>
            </a:r>
            <a:r>
              <a:rPr lang="en-US" dirty="0"/>
              <a:t>()</a:t>
            </a:r>
          </a:p>
        </p:txBody>
      </p:sp>
      <p:sp>
        <p:nvSpPr>
          <p:cNvPr id="4" name="Slide Number Placeholder 3">
            <a:extLst>
              <a:ext uri="{FF2B5EF4-FFF2-40B4-BE49-F238E27FC236}">
                <a16:creationId xmlns:a16="http://schemas.microsoft.com/office/drawing/2014/main" id="{FB21A3C6-5EB4-4B6D-8234-7D6F39DC0DA6}"/>
              </a:ext>
            </a:extLst>
          </p:cNvPr>
          <p:cNvSpPr>
            <a:spLocks noGrp="1"/>
          </p:cNvSpPr>
          <p:nvPr>
            <p:ph type="sldNum" sz="quarter" idx="12"/>
          </p:nvPr>
        </p:nvSpPr>
        <p:spPr/>
        <p:txBody>
          <a:bodyPr/>
          <a:lstStyle/>
          <a:p>
            <a:fld id="{6B97D948-30E8-43F7-AE10-F6E2D9F2BBB1}" type="slidenum">
              <a:rPr lang="en-US" smtClean="0"/>
              <a:t>278</a:t>
            </a:fld>
            <a:endParaRPr lang="en-US"/>
          </a:p>
        </p:txBody>
      </p:sp>
    </p:spTree>
    <p:extLst>
      <p:ext uri="{BB962C8B-B14F-4D97-AF65-F5344CB8AC3E}">
        <p14:creationId xmlns:p14="http://schemas.microsoft.com/office/powerpoint/2010/main" val="812785431"/>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DC046A6-118D-4C9B-AB68-5042308A9E73}"/>
              </a:ext>
            </a:extLst>
          </p:cNvPr>
          <p:cNvPicPr>
            <a:picLocks noGrp="1" noChangeAspect="1"/>
          </p:cNvPicPr>
          <p:nvPr>
            <p:ph idx="1"/>
          </p:nvPr>
        </p:nvPicPr>
        <p:blipFill>
          <a:blip r:embed="rId2"/>
          <a:stretch>
            <a:fillRect/>
          </a:stretch>
        </p:blipFill>
        <p:spPr>
          <a:xfrm>
            <a:off x="2886075" y="799073"/>
            <a:ext cx="5390828" cy="5377890"/>
          </a:xfrm>
          <a:prstGeom prst="rect">
            <a:avLst/>
          </a:prstGeom>
        </p:spPr>
      </p:pic>
      <p:sp>
        <p:nvSpPr>
          <p:cNvPr id="4" name="Slide Number Placeholder 3">
            <a:extLst>
              <a:ext uri="{FF2B5EF4-FFF2-40B4-BE49-F238E27FC236}">
                <a16:creationId xmlns:a16="http://schemas.microsoft.com/office/drawing/2014/main" id="{7F3500D1-5579-4D49-AB2E-E288DEEA9663}"/>
              </a:ext>
            </a:extLst>
          </p:cNvPr>
          <p:cNvSpPr>
            <a:spLocks noGrp="1"/>
          </p:cNvSpPr>
          <p:nvPr>
            <p:ph type="sldNum" sz="quarter" idx="12"/>
          </p:nvPr>
        </p:nvSpPr>
        <p:spPr/>
        <p:txBody>
          <a:bodyPr/>
          <a:lstStyle/>
          <a:p>
            <a:fld id="{6B97D948-30E8-43F7-AE10-F6E2D9F2BBB1}" type="slidenum">
              <a:rPr lang="en-US" smtClean="0"/>
              <a:t>279</a:t>
            </a:fld>
            <a:endParaRPr lang="en-US"/>
          </a:p>
        </p:txBody>
      </p:sp>
    </p:spTree>
    <p:extLst>
      <p:ext uri="{BB962C8B-B14F-4D97-AF65-F5344CB8AC3E}">
        <p14:creationId xmlns:p14="http://schemas.microsoft.com/office/powerpoint/2010/main" val="4238968855"/>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BCE1C-5E0E-4B39-B2AB-9BAB8535945F}"/>
              </a:ext>
            </a:extLst>
          </p:cNvPr>
          <p:cNvSpPr>
            <a:spLocks noGrp="1"/>
          </p:cNvSpPr>
          <p:nvPr>
            <p:ph type="title"/>
          </p:nvPr>
        </p:nvSpPr>
        <p:spPr>
          <a:xfrm>
            <a:off x="838200" y="365125"/>
            <a:ext cx="10515600" cy="744147"/>
          </a:xfrm>
        </p:spPr>
        <p:txBody>
          <a:bodyPr/>
          <a:lstStyle/>
          <a:p>
            <a:r>
              <a:rPr lang="en-US" dirty="0"/>
              <a:t>Data Visualization with Seaborn</a:t>
            </a:r>
          </a:p>
        </p:txBody>
      </p:sp>
      <p:sp>
        <p:nvSpPr>
          <p:cNvPr id="3" name="Content Placeholder 2">
            <a:extLst>
              <a:ext uri="{FF2B5EF4-FFF2-40B4-BE49-F238E27FC236}">
                <a16:creationId xmlns:a16="http://schemas.microsoft.com/office/drawing/2014/main" id="{1A2A1659-18FE-4554-8540-3732F2AC1043}"/>
              </a:ext>
            </a:extLst>
          </p:cNvPr>
          <p:cNvSpPr>
            <a:spLocks noGrp="1"/>
          </p:cNvSpPr>
          <p:nvPr>
            <p:ph idx="1"/>
          </p:nvPr>
        </p:nvSpPr>
        <p:spPr>
          <a:xfrm>
            <a:off x="838200" y="1109272"/>
            <a:ext cx="10515600" cy="5067691"/>
          </a:xfrm>
        </p:spPr>
        <p:txBody>
          <a:bodyPr>
            <a:normAutofit/>
          </a:bodyPr>
          <a:lstStyle/>
          <a:p>
            <a:pPr algn="just"/>
            <a:r>
              <a:rPr lang="en-US" dirty="0">
                <a:solidFill>
                  <a:srgbClr val="FF0000"/>
                </a:solidFill>
              </a:rPr>
              <a:t>seaborn</a:t>
            </a:r>
            <a:r>
              <a:rPr lang="en-US" dirty="0"/>
              <a:t> is built on top of matplotlib so you can also mix code for the two packages.</a:t>
            </a:r>
          </a:p>
        </p:txBody>
      </p:sp>
      <p:sp>
        <p:nvSpPr>
          <p:cNvPr id="4" name="Slide Number Placeholder 3">
            <a:extLst>
              <a:ext uri="{FF2B5EF4-FFF2-40B4-BE49-F238E27FC236}">
                <a16:creationId xmlns:a16="http://schemas.microsoft.com/office/drawing/2014/main" id="{A3AB34E8-C473-43CD-8E19-3B4E6A4C5AB3}"/>
              </a:ext>
            </a:extLst>
          </p:cNvPr>
          <p:cNvSpPr>
            <a:spLocks noGrp="1"/>
          </p:cNvSpPr>
          <p:nvPr>
            <p:ph type="sldNum" sz="quarter" idx="12"/>
          </p:nvPr>
        </p:nvSpPr>
        <p:spPr/>
        <p:txBody>
          <a:bodyPr/>
          <a:lstStyle/>
          <a:p>
            <a:fld id="{6B97D948-30E8-43F7-AE10-F6E2D9F2BBB1}" type="slidenum">
              <a:rPr lang="en-US" smtClean="0"/>
              <a:t>280</a:t>
            </a:fld>
            <a:endParaRPr lang="en-US"/>
          </a:p>
        </p:txBody>
      </p:sp>
    </p:spTree>
    <p:extLst>
      <p:ext uri="{BB962C8B-B14F-4D97-AF65-F5344CB8AC3E}">
        <p14:creationId xmlns:p14="http://schemas.microsoft.com/office/powerpoint/2010/main" val="3363247106"/>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1DD00F-88CC-4B0B-9B5D-01BD8CB00A0F}"/>
              </a:ext>
            </a:extLst>
          </p:cNvPr>
          <p:cNvSpPr>
            <a:spLocks noGrp="1"/>
          </p:cNvSpPr>
          <p:nvPr>
            <p:ph idx="1"/>
          </p:nvPr>
        </p:nvSpPr>
        <p:spPr>
          <a:xfrm>
            <a:off x="838200" y="344774"/>
            <a:ext cx="10515600" cy="5832189"/>
          </a:xfrm>
        </p:spPr>
        <p:txBody>
          <a:bodyPr>
            <a:normAutofit/>
          </a:bodyPr>
          <a:lstStyle/>
          <a:p>
            <a:r>
              <a:rPr lang="en-US" dirty="0">
                <a:solidFill>
                  <a:srgbClr val="FF0000"/>
                </a:solidFill>
              </a:rPr>
              <a:t>import matplotlib as </a:t>
            </a:r>
            <a:r>
              <a:rPr lang="en-US" dirty="0" err="1">
                <a:solidFill>
                  <a:srgbClr val="FF0000"/>
                </a:solidFill>
              </a:rPr>
              <a:t>mpl</a:t>
            </a:r>
            <a:endParaRPr lang="en-US" dirty="0">
              <a:solidFill>
                <a:srgbClr val="FF0000"/>
              </a:solidFill>
            </a:endParaRPr>
          </a:p>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r>
              <a:rPr lang="en-US" dirty="0">
                <a:solidFill>
                  <a:srgbClr val="FF0000"/>
                </a:solidFill>
              </a:rPr>
              <a:t>import </a:t>
            </a:r>
            <a:r>
              <a:rPr lang="en-US" dirty="0" err="1">
                <a:solidFill>
                  <a:srgbClr val="FF0000"/>
                </a:solidFill>
              </a:rPr>
              <a:t>numpy</a:t>
            </a:r>
            <a:r>
              <a:rPr lang="en-US" dirty="0">
                <a:solidFill>
                  <a:srgbClr val="FF0000"/>
                </a:solidFill>
              </a:rPr>
              <a:t> as np</a:t>
            </a:r>
          </a:p>
          <a:p>
            <a:r>
              <a:rPr lang="en-US" dirty="0">
                <a:solidFill>
                  <a:srgbClr val="FF0000"/>
                </a:solidFill>
              </a:rPr>
              <a:t>import pandas as pd</a:t>
            </a:r>
          </a:p>
          <a:p>
            <a:r>
              <a:rPr lang="en-US" dirty="0">
                <a:solidFill>
                  <a:srgbClr val="FF0000"/>
                </a:solidFill>
              </a:rPr>
              <a:t>import seaborn as </a:t>
            </a:r>
            <a:r>
              <a:rPr lang="en-US" dirty="0" err="1">
                <a:solidFill>
                  <a:srgbClr val="FF0000"/>
                </a:solidFill>
              </a:rPr>
              <a:t>sns</a:t>
            </a:r>
            <a:endParaRPr lang="en-US" dirty="0">
              <a:solidFill>
                <a:srgbClr val="FF0000"/>
              </a:solidFill>
            </a:endParaRPr>
          </a:p>
          <a:p>
            <a:r>
              <a:rPr lang="en-US" dirty="0">
                <a:solidFill>
                  <a:srgbClr val="FF0000"/>
                </a:solidFill>
              </a:rPr>
              <a:t>import </a:t>
            </a:r>
            <a:r>
              <a:rPr lang="en-US" dirty="0" err="1">
                <a:solidFill>
                  <a:srgbClr val="FF0000"/>
                </a:solidFill>
              </a:rPr>
              <a:t>seaborn.objects</a:t>
            </a:r>
            <a:r>
              <a:rPr lang="en-US" dirty="0">
                <a:solidFill>
                  <a:srgbClr val="FF0000"/>
                </a:solidFill>
              </a:rPr>
              <a:t> as so</a:t>
            </a:r>
          </a:p>
          <a:p>
            <a:endParaRPr lang="en-US" dirty="0">
              <a:solidFill>
                <a:srgbClr val="FF0000"/>
              </a:solidFill>
            </a:endParaRPr>
          </a:p>
          <a:p>
            <a:r>
              <a:rPr lang="en-US" dirty="0">
                <a:solidFill>
                  <a:srgbClr val="FF0000"/>
                </a:solidFill>
              </a:rPr>
              <a:t># Set seed for random numbers</a:t>
            </a:r>
          </a:p>
          <a:p>
            <a:r>
              <a:rPr lang="en-US" dirty="0" err="1">
                <a:solidFill>
                  <a:srgbClr val="FF0000"/>
                </a:solidFill>
              </a:rPr>
              <a:t>seed_for_prng</a:t>
            </a:r>
            <a:r>
              <a:rPr lang="en-US" dirty="0">
                <a:solidFill>
                  <a:srgbClr val="FF0000"/>
                </a:solidFill>
              </a:rPr>
              <a:t> = 78557</a:t>
            </a:r>
          </a:p>
          <a:p>
            <a:r>
              <a:rPr lang="en-US" dirty="0" err="1">
                <a:solidFill>
                  <a:srgbClr val="FF0000"/>
                </a:solidFill>
              </a:rPr>
              <a:t>prng</a:t>
            </a:r>
            <a:r>
              <a:rPr lang="en-US" dirty="0">
                <a:solidFill>
                  <a:srgbClr val="FF0000"/>
                </a:solidFill>
              </a:rPr>
              <a:t> = </a:t>
            </a:r>
            <a:r>
              <a:rPr lang="en-US" dirty="0" err="1">
                <a:solidFill>
                  <a:srgbClr val="FF0000"/>
                </a:solidFill>
              </a:rPr>
              <a:t>np.random.default_rng</a:t>
            </a:r>
            <a:r>
              <a:rPr lang="en-US" dirty="0">
                <a:solidFill>
                  <a:srgbClr val="FF0000"/>
                </a:solidFill>
              </a:rPr>
              <a:t>(</a:t>
            </a:r>
            <a:r>
              <a:rPr lang="en-US" dirty="0" err="1">
                <a:solidFill>
                  <a:srgbClr val="FF0000"/>
                </a:solidFill>
              </a:rPr>
              <a:t>seed_for_prng</a:t>
            </a:r>
            <a:r>
              <a:rPr lang="en-US" dirty="0">
                <a:solidFill>
                  <a:srgbClr val="FF0000"/>
                </a:solidFill>
              </a:rPr>
              <a:t>)  </a:t>
            </a:r>
          </a:p>
        </p:txBody>
      </p:sp>
      <p:sp>
        <p:nvSpPr>
          <p:cNvPr id="4" name="Slide Number Placeholder 3">
            <a:extLst>
              <a:ext uri="{FF2B5EF4-FFF2-40B4-BE49-F238E27FC236}">
                <a16:creationId xmlns:a16="http://schemas.microsoft.com/office/drawing/2014/main" id="{FB294D27-24D4-4E7D-B5FC-1D1C072CF6F0}"/>
              </a:ext>
            </a:extLst>
          </p:cNvPr>
          <p:cNvSpPr>
            <a:spLocks noGrp="1"/>
          </p:cNvSpPr>
          <p:nvPr>
            <p:ph type="sldNum" sz="quarter" idx="12"/>
          </p:nvPr>
        </p:nvSpPr>
        <p:spPr/>
        <p:txBody>
          <a:bodyPr/>
          <a:lstStyle/>
          <a:p>
            <a:fld id="{6B97D948-30E8-43F7-AE10-F6E2D9F2BBB1}" type="slidenum">
              <a:rPr lang="en-US" smtClean="0"/>
              <a:t>281</a:t>
            </a:fld>
            <a:endParaRPr lang="en-US"/>
          </a:p>
        </p:txBody>
      </p:sp>
    </p:spTree>
    <p:extLst>
      <p:ext uri="{BB962C8B-B14F-4D97-AF65-F5344CB8AC3E}">
        <p14:creationId xmlns:p14="http://schemas.microsoft.com/office/powerpoint/2010/main" val="1073742932"/>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87A90-F3F7-4BAE-A332-1701090F58AA}"/>
              </a:ext>
            </a:extLst>
          </p:cNvPr>
          <p:cNvSpPr>
            <a:spLocks noGrp="1"/>
          </p:cNvSpPr>
          <p:nvPr>
            <p:ph type="title"/>
          </p:nvPr>
        </p:nvSpPr>
        <p:spPr>
          <a:xfrm>
            <a:off x="838200" y="365125"/>
            <a:ext cx="10515600" cy="579255"/>
          </a:xfrm>
        </p:spPr>
        <p:txBody>
          <a:bodyPr>
            <a:normAutofit fontScale="90000"/>
          </a:bodyPr>
          <a:lstStyle/>
          <a:p>
            <a:r>
              <a:rPr lang="en-US" dirty="0"/>
              <a:t>Datasets in Seaborn</a:t>
            </a:r>
          </a:p>
        </p:txBody>
      </p:sp>
      <p:sp>
        <p:nvSpPr>
          <p:cNvPr id="3" name="Content Placeholder 2">
            <a:extLst>
              <a:ext uri="{FF2B5EF4-FFF2-40B4-BE49-F238E27FC236}">
                <a16:creationId xmlns:a16="http://schemas.microsoft.com/office/drawing/2014/main" id="{CD9BE993-5D80-40AF-B258-74D1F078B163}"/>
              </a:ext>
            </a:extLst>
          </p:cNvPr>
          <p:cNvSpPr>
            <a:spLocks noGrp="1"/>
          </p:cNvSpPr>
          <p:nvPr>
            <p:ph idx="1"/>
          </p:nvPr>
        </p:nvSpPr>
        <p:spPr>
          <a:xfrm>
            <a:off x="838200" y="944380"/>
            <a:ext cx="10515600" cy="5232583"/>
          </a:xfrm>
        </p:spPr>
        <p:txBody>
          <a:bodyPr/>
          <a:lstStyle/>
          <a:p>
            <a:pPr algn="just"/>
            <a:r>
              <a:rPr lang="en-US" dirty="0"/>
              <a:t>There are quite a few of the datasets built into seaborn used for teaching.</a:t>
            </a:r>
          </a:p>
          <a:p>
            <a:pPr algn="just"/>
            <a:r>
              <a:rPr lang="en-US" dirty="0"/>
              <a:t>Let’s explore the </a:t>
            </a:r>
            <a:r>
              <a:rPr lang="en-US" dirty="0">
                <a:solidFill>
                  <a:srgbClr val="FF0000"/>
                </a:solidFill>
              </a:rPr>
              <a:t>tips</a:t>
            </a:r>
            <a:r>
              <a:rPr lang="en-US" dirty="0"/>
              <a:t>, </a:t>
            </a:r>
            <a:r>
              <a:rPr lang="en-US" dirty="0">
                <a:solidFill>
                  <a:srgbClr val="FF0000"/>
                </a:solidFill>
              </a:rPr>
              <a:t>penguins</a:t>
            </a:r>
            <a:r>
              <a:rPr lang="en-US" dirty="0"/>
              <a:t>, </a:t>
            </a:r>
            <a:r>
              <a:rPr lang="en-US" dirty="0">
                <a:solidFill>
                  <a:srgbClr val="FF0000"/>
                </a:solidFill>
              </a:rPr>
              <a:t>diamonds</a:t>
            </a:r>
            <a:r>
              <a:rPr lang="en-US" dirty="0"/>
              <a:t> and </a:t>
            </a:r>
            <a:r>
              <a:rPr lang="en-US" dirty="0" err="1">
                <a:solidFill>
                  <a:srgbClr val="FF0000"/>
                </a:solidFill>
              </a:rPr>
              <a:t>healthexp</a:t>
            </a:r>
            <a:r>
              <a:rPr lang="en-US" dirty="0"/>
              <a:t> datasets for our work in seaborn.</a:t>
            </a:r>
          </a:p>
          <a:p>
            <a:pPr algn="just"/>
            <a:r>
              <a:rPr lang="en-US" dirty="0">
                <a:solidFill>
                  <a:srgbClr val="FF0000"/>
                </a:solidFill>
              </a:rPr>
              <a:t>tips = </a:t>
            </a:r>
            <a:r>
              <a:rPr lang="en-US" dirty="0" err="1">
                <a:solidFill>
                  <a:srgbClr val="FF0000"/>
                </a:solidFill>
              </a:rPr>
              <a:t>sns.load_dataset</a:t>
            </a:r>
            <a:r>
              <a:rPr lang="en-US" dirty="0">
                <a:solidFill>
                  <a:srgbClr val="FF0000"/>
                </a:solidFill>
              </a:rPr>
              <a:t>('tips')</a:t>
            </a:r>
          </a:p>
          <a:p>
            <a:pPr algn="just"/>
            <a:r>
              <a:rPr lang="en-US" dirty="0">
                <a:solidFill>
                  <a:srgbClr val="FF0000"/>
                </a:solidFill>
              </a:rPr>
              <a:t>penguins = </a:t>
            </a:r>
            <a:r>
              <a:rPr lang="en-US" dirty="0" err="1">
                <a:solidFill>
                  <a:srgbClr val="FF0000"/>
                </a:solidFill>
              </a:rPr>
              <a:t>sns.load_dataset</a:t>
            </a:r>
            <a:r>
              <a:rPr lang="en-US" dirty="0">
                <a:solidFill>
                  <a:srgbClr val="FF0000"/>
                </a:solidFill>
              </a:rPr>
              <a:t>('penguins').</a:t>
            </a:r>
            <a:r>
              <a:rPr lang="en-US" dirty="0" err="1">
                <a:solidFill>
                  <a:srgbClr val="FF0000"/>
                </a:solidFill>
              </a:rPr>
              <a:t>dropna</a:t>
            </a:r>
            <a:r>
              <a:rPr lang="en-US" dirty="0">
                <a:solidFill>
                  <a:srgbClr val="FF0000"/>
                </a:solidFill>
              </a:rPr>
              <a:t>()</a:t>
            </a:r>
          </a:p>
          <a:p>
            <a:pPr algn="just"/>
            <a:r>
              <a:rPr lang="en-US" dirty="0">
                <a:solidFill>
                  <a:srgbClr val="FF0000"/>
                </a:solidFill>
              </a:rPr>
              <a:t>diamonds = </a:t>
            </a:r>
            <a:r>
              <a:rPr lang="en-US" dirty="0" err="1">
                <a:solidFill>
                  <a:srgbClr val="FF0000"/>
                </a:solidFill>
              </a:rPr>
              <a:t>sns.load_dataset</a:t>
            </a:r>
            <a:r>
              <a:rPr lang="en-US" dirty="0">
                <a:solidFill>
                  <a:srgbClr val="FF0000"/>
                </a:solidFill>
              </a:rPr>
              <a:t>('diamonds’)</a:t>
            </a:r>
          </a:p>
          <a:p>
            <a:pPr algn="just"/>
            <a:r>
              <a:rPr lang="en-US" dirty="0" err="1">
                <a:solidFill>
                  <a:srgbClr val="FF0000"/>
                </a:solidFill>
              </a:rPr>
              <a:t>healthexp</a:t>
            </a:r>
            <a:r>
              <a:rPr lang="en-US" dirty="0">
                <a:solidFill>
                  <a:srgbClr val="FF0000"/>
                </a:solidFill>
              </a:rPr>
              <a:t> = (</a:t>
            </a:r>
            <a:r>
              <a:rPr lang="en-US" dirty="0" err="1">
                <a:solidFill>
                  <a:srgbClr val="FF0000"/>
                </a:solidFill>
              </a:rPr>
              <a:t>sns.load_dataset</a:t>
            </a:r>
            <a:r>
              <a:rPr lang="en-US" dirty="0">
                <a:solidFill>
                  <a:srgbClr val="FF0000"/>
                </a:solidFill>
              </a:rPr>
              <a:t>('</a:t>
            </a:r>
            <a:r>
              <a:rPr lang="en-US" dirty="0" err="1">
                <a:solidFill>
                  <a:srgbClr val="FF0000"/>
                </a:solidFill>
              </a:rPr>
              <a:t>healthexp</a:t>
            </a:r>
            <a:r>
              <a:rPr lang="en-US" dirty="0">
                <a:solidFill>
                  <a:srgbClr val="FF0000"/>
                </a:solidFill>
              </a:rPr>
              <a:t>').</a:t>
            </a:r>
            <a:r>
              <a:rPr lang="en-US" dirty="0" err="1">
                <a:solidFill>
                  <a:srgbClr val="FF0000"/>
                </a:solidFill>
              </a:rPr>
              <a:t>sort_values</a:t>
            </a:r>
            <a:r>
              <a:rPr lang="en-US" dirty="0">
                <a:solidFill>
                  <a:srgbClr val="FF0000"/>
                </a:solidFill>
              </a:rPr>
              <a:t>(['Country', 'Year']).query('Year &lt;= 2020'))</a:t>
            </a:r>
          </a:p>
        </p:txBody>
      </p:sp>
      <p:sp>
        <p:nvSpPr>
          <p:cNvPr id="4" name="Slide Number Placeholder 3">
            <a:extLst>
              <a:ext uri="{FF2B5EF4-FFF2-40B4-BE49-F238E27FC236}">
                <a16:creationId xmlns:a16="http://schemas.microsoft.com/office/drawing/2014/main" id="{E0983839-76DE-46A9-9480-4B9902AE45F9}"/>
              </a:ext>
            </a:extLst>
          </p:cNvPr>
          <p:cNvSpPr>
            <a:spLocks noGrp="1"/>
          </p:cNvSpPr>
          <p:nvPr>
            <p:ph type="sldNum" sz="quarter" idx="12"/>
          </p:nvPr>
        </p:nvSpPr>
        <p:spPr/>
        <p:txBody>
          <a:bodyPr/>
          <a:lstStyle/>
          <a:p>
            <a:fld id="{6B97D948-30E8-43F7-AE10-F6E2D9F2BBB1}" type="slidenum">
              <a:rPr lang="en-US" smtClean="0"/>
              <a:t>282</a:t>
            </a:fld>
            <a:endParaRPr lang="en-US"/>
          </a:p>
        </p:txBody>
      </p:sp>
    </p:spTree>
    <p:extLst>
      <p:ext uri="{BB962C8B-B14F-4D97-AF65-F5344CB8AC3E}">
        <p14:creationId xmlns:p14="http://schemas.microsoft.com/office/powerpoint/2010/main" val="3027602033"/>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2412A4-5191-4920-9D26-C4712A2FCC09}"/>
              </a:ext>
            </a:extLst>
          </p:cNvPr>
          <p:cNvSpPr>
            <a:spLocks noGrp="1"/>
          </p:cNvSpPr>
          <p:nvPr>
            <p:ph idx="1"/>
          </p:nvPr>
        </p:nvSpPr>
        <p:spPr>
          <a:xfrm>
            <a:off x="838200" y="449705"/>
            <a:ext cx="10515600" cy="5727258"/>
          </a:xfrm>
        </p:spPr>
        <p:txBody>
          <a:bodyPr/>
          <a:lstStyle/>
          <a:p>
            <a:r>
              <a:rPr lang="en-US" dirty="0" err="1"/>
              <a:t>tips.columns</a:t>
            </a:r>
            <a:endParaRPr lang="en-US" dirty="0"/>
          </a:p>
          <a:p>
            <a:r>
              <a:rPr lang="en-US" dirty="0" err="1"/>
              <a:t>penguins.columns</a:t>
            </a:r>
            <a:endParaRPr lang="en-US" dirty="0"/>
          </a:p>
          <a:p>
            <a:r>
              <a:rPr lang="en-US" dirty="0"/>
              <a:t> </a:t>
            </a:r>
            <a:r>
              <a:rPr lang="en-US" dirty="0" err="1"/>
              <a:t>diamonds.columns</a:t>
            </a:r>
            <a:endParaRPr lang="en-US" dirty="0"/>
          </a:p>
          <a:p>
            <a:r>
              <a:rPr lang="en-US" dirty="0" err="1"/>
              <a:t>healthexp.columns</a:t>
            </a:r>
            <a:endParaRPr lang="en-US" dirty="0"/>
          </a:p>
        </p:txBody>
      </p:sp>
      <p:sp>
        <p:nvSpPr>
          <p:cNvPr id="4" name="Slide Number Placeholder 3">
            <a:extLst>
              <a:ext uri="{FF2B5EF4-FFF2-40B4-BE49-F238E27FC236}">
                <a16:creationId xmlns:a16="http://schemas.microsoft.com/office/drawing/2014/main" id="{C41386AE-AEF7-4918-AD0D-E4CBFD155960}"/>
              </a:ext>
            </a:extLst>
          </p:cNvPr>
          <p:cNvSpPr>
            <a:spLocks noGrp="1"/>
          </p:cNvSpPr>
          <p:nvPr>
            <p:ph type="sldNum" sz="quarter" idx="12"/>
          </p:nvPr>
        </p:nvSpPr>
        <p:spPr/>
        <p:txBody>
          <a:bodyPr/>
          <a:lstStyle/>
          <a:p>
            <a:fld id="{6B97D948-30E8-43F7-AE10-F6E2D9F2BBB1}" type="slidenum">
              <a:rPr lang="en-US" smtClean="0"/>
              <a:t>283</a:t>
            </a:fld>
            <a:endParaRPr lang="en-US"/>
          </a:p>
        </p:txBody>
      </p:sp>
    </p:spTree>
    <p:extLst>
      <p:ext uri="{BB962C8B-B14F-4D97-AF65-F5344CB8AC3E}">
        <p14:creationId xmlns:p14="http://schemas.microsoft.com/office/powerpoint/2010/main" val="566717727"/>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AB7108-B3E6-4987-A5C8-B830FCBCC26C}"/>
              </a:ext>
            </a:extLst>
          </p:cNvPr>
          <p:cNvSpPr>
            <a:spLocks noGrp="1"/>
          </p:cNvSpPr>
          <p:nvPr>
            <p:ph idx="1"/>
          </p:nvPr>
        </p:nvSpPr>
        <p:spPr>
          <a:xfrm>
            <a:off x="838200" y="419725"/>
            <a:ext cx="10515600" cy="5757238"/>
          </a:xfrm>
        </p:spPr>
        <p:txBody>
          <a:bodyPr>
            <a:normAutofit fontScale="92500"/>
          </a:bodyPr>
          <a:lstStyle/>
          <a:p>
            <a:r>
              <a:rPr lang="en-US" dirty="0">
                <a:solidFill>
                  <a:srgbClr val="FF0000"/>
                </a:solidFill>
              </a:rPr>
              <a:t>type(penguins)</a:t>
            </a:r>
          </a:p>
          <a:p>
            <a:r>
              <a:rPr lang="en-US" dirty="0"/>
              <a:t>Out[125]: </a:t>
            </a:r>
            <a:r>
              <a:rPr lang="en-US" dirty="0" err="1"/>
              <a:t>pandas.core.frame.DataFrame</a:t>
            </a:r>
            <a:endParaRPr lang="en-US" dirty="0"/>
          </a:p>
          <a:p>
            <a:r>
              <a:rPr lang="en-US" dirty="0" err="1">
                <a:solidFill>
                  <a:srgbClr val="FF0000"/>
                </a:solidFill>
              </a:rPr>
              <a:t>penguins.head</a:t>
            </a:r>
            <a:r>
              <a:rPr lang="en-US" dirty="0">
                <a:solidFill>
                  <a:srgbClr val="FF0000"/>
                </a:solidFill>
              </a:rPr>
              <a:t>()</a:t>
            </a:r>
          </a:p>
          <a:p>
            <a:r>
              <a:rPr lang="en-US" dirty="0"/>
              <a:t>Out[126]:</a:t>
            </a:r>
          </a:p>
          <a:p>
            <a:r>
              <a:rPr lang="en-US" dirty="0"/>
              <a:t>  species     island  </a:t>
            </a:r>
            <a:r>
              <a:rPr lang="en-US" dirty="0" err="1"/>
              <a:t>bill_length_mm</a:t>
            </a:r>
            <a:r>
              <a:rPr lang="en-US" dirty="0"/>
              <a:t>  </a:t>
            </a:r>
            <a:r>
              <a:rPr lang="en-US" dirty="0" err="1"/>
              <a:t>bill_depth_mm</a:t>
            </a:r>
            <a:r>
              <a:rPr lang="en-US" dirty="0"/>
              <a:t>  </a:t>
            </a:r>
            <a:r>
              <a:rPr lang="en-US" dirty="0" err="1"/>
              <a:t>flipper_length_mm</a:t>
            </a:r>
            <a:r>
              <a:rPr lang="en-US" dirty="0"/>
              <a:t>  </a:t>
            </a:r>
            <a:r>
              <a:rPr lang="en-US" dirty="0" err="1"/>
              <a:t>body_mass_g</a:t>
            </a:r>
            <a:r>
              <a:rPr lang="en-US" dirty="0"/>
              <a:t>     sex</a:t>
            </a:r>
          </a:p>
          <a:p>
            <a:r>
              <a:rPr lang="en-US" dirty="0"/>
              <a:t>0  Adelie  Torgersen            39.1           18.7              181.0       3750.0    Male</a:t>
            </a:r>
          </a:p>
          <a:p>
            <a:r>
              <a:rPr lang="en-US" dirty="0"/>
              <a:t>1  Adelie  Torgersen            39.5           17.4              186.0       3800.0  Female</a:t>
            </a:r>
          </a:p>
          <a:p>
            <a:r>
              <a:rPr lang="en-US" dirty="0"/>
              <a:t>2  Adelie  Torgersen            40.3           18.0              195.0       3250.0  Female</a:t>
            </a:r>
          </a:p>
          <a:p>
            <a:r>
              <a:rPr lang="en-US" dirty="0"/>
              <a:t>4  Adelie  Torgersen            36.7           19.3              193.0       3450.0  Female</a:t>
            </a:r>
          </a:p>
          <a:p>
            <a:r>
              <a:rPr lang="en-US" dirty="0"/>
              <a:t>5  Adelie  Torgersen            39.3           20.6              190.0       3650.0    Male</a:t>
            </a:r>
          </a:p>
        </p:txBody>
      </p:sp>
      <p:sp>
        <p:nvSpPr>
          <p:cNvPr id="4" name="Slide Number Placeholder 3">
            <a:extLst>
              <a:ext uri="{FF2B5EF4-FFF2-40B4-BE49-F238E27FC236}">
                <a16:creationId xmlns:a16="http://schemas.microsoft.com/office/drawing/2014/main" id="{7468C3DE-3BF5-468F-881A-254F62921446}"/>
              </a:ext>
            </a:extLst>
          </p:cNvPr>
          <p:cNvSpPr>
            <a:spLocks noGrp="1"/>
          </p:cNvSpPr>
          <p:nvPr>
            <p:ph type="sldNum" sz="quarter" idx="12"/>
          </p:nvPr>
        </p:nvSpPr>
        <p:spPr/>
        <p:txBody>
          <a:bodyPr/>
          <a:lstStyle/>
          <a:p>
            <a:fld id="{6B97D948-30E8-43F7-AE10-F6E2D9F2BBB1}" type="slidenum">
              <a:rPr lang="en-US" smtClean="0"/>
              <a:t>284</a:t>
            </a:fld>
            <a:endParaRPr lang="en-US"/>
          </a:p>
        </p:txBody>
      </p:sp>
    </p:spTree>
    <p:extLst>
      <p:ext uri="{BB962C8B-B14F-4D97-AF65-F5344CB8AC3E}">
        <p14:creationId xmlns:p14="http://schemas.microsoft.com/office/powerpoint/2010/main" val="4069808367"/>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D2F42-05CC-4AF8-945A-E5EFF5CCDD18}"/>
              </a:ext>
            </a:extLst>
          </p:cNvPr>
          <p:cNvSpPr>
            <a:spLocks noGrp="1"/>
          </p:cNvSpPr>
          <p:nvPr>
            <p:ph type="title"/>
          </p:nvPr>
        </p:nvSpPr>
        <p:spPr>
          <a:xfrm>
            <a:off x="838200" y="365125"/>
            <a:ext cx="10515600" cy="744147"/>
          </a:xfrm>
        </p:spPr>
        <p:txBody>
          <a:bodyPr/>
          <a:lstStyle/>
          <a:p>
            <a:r>
              <a:rPr lang="en-US" dirty="0"/>
              <a:t>Specifying a plot and mapping data</a:t>
            </a:r>
          </a:p>
        </p:txBody>
      </p:sp>
      <p:sp>
        <p:nvSpPr>
          <p:cNvPr id="3" name="Content Placeholder 2">
            <a:extLst>
              <a:ext uri="{FF2B5EF4-FFF2-40B4-BE49-F238E27FC236}">
                <a16:creationId xmlns:a16="http://schemas.microsoft.com/office/drawing/2014/main" id="{153FE22B-C06D-4872-B84B-CB078552A9EF}"/>
              </a:ext>
            </a:extLst>
          </p:cNvPr>
          <p:cNvSpPr>
            <a:spLocks noGrp="1"/>
          </p:cNvSpPr>
          <p:nvPr>
            <p:ph idx="1"/>
          </p:nvPr>
        </p:nvSpPr>
        <p:spPr>
          <a:xfrm>
            <a:off x="838200" y="1109272"/>
            <a:ext cx="10515600" cy="5067691"/>
          </a:xfrm>
        </p:spPr>
        <p:txBody>
          <a:bodyPr>
            <a:normAutofit/>
          </a:bodyPr>
          <a:lstStyle/>
          <a:p>
            <a:pPr algn="just"/>
            <a:r>
              <a:rPr lang="en-US" dirty="0"/>
              <a:t>The most important command in seaborn is Plot(). </a:t>
            </a:r>
          </a:p>
          <a:p>
            <a:pPr algn="just"/>
            <a:r>
              <a:rPr lang="en-US" dirty="0"/>
              <a:t>You specify plots by instantiating a Plot() object and calling its methods. </a:t>
            </a:r>
          </a:p>
          <a:p>
            <a:pPr algn="just"/>
            <a:r>
              <a:rPr lang="en-US" dirty="0"/>
              <a:t>Let’s see a simple example:</a:t>
            </a:r>
          </a:p>
          <a:p>
            <a:r>
              <a:rPr lang="en-US" dirty="0"/>
              <a:t>plotter = </a:t>
            </a:r>
            <a:r>
              <a:rPr lang="en-US" dirty="0" err="1"/>
              <a:t>so.Plot</a:t>
            </a:r>
            <a:r>
              <a:rPr lang="en-US" dirty="0"/>
              <a:t>(penguins, x = ‘</a:t>
            </a:r>
            <a:r>
              <a:rPr lang="en-US" dirty="0" err="1"/>
              <a:t>bill_length_mm</a:t>
            </a:r>
            <a:r>
              <a:rPr lang="en-US" dirty="0"/>
              <a:t>’, y = ‘</a:t>
            </a:r>
            <a:r>
              <a:rPr lang="en-US" dirty="0" err="1"/>
              <a:t>bill_depth_mm</a:t>
            </a:r>
            <a:r>
              <a:rPr lang="en-US" dirty="0"/>
              <a:t>’).add(</a:t>
            </a:r>
            <a:r>
              <a:rPr lang="en-US" dirty="0" err="1"/>
              <a:t>so.Dot</a:t>
            </a:r>
            <a:r>
              <a:rPr lang="en-US" dirty="0"/>
              <a:t>())</a:t>
            </a:r>
          </a:p>
          <a:p>
            <a:pPr algn="just"/>
            <a:endParaRPr lang="en-US" dirty="0"/>
          </a:p>
          <a:p>
            <a:pPr algn="just"/>
            <a:r>
              <a:rPr lang="en-US" dirty="0"/>
              <a:t>fig, ax = </a:t>
            </a:r>
            <a:r>
              <a:rPr lang="en-US" dirty="0" err="1"/>
              <a:t>plt.subplots</a:t>
            </a:r>
            <a:r>
              <a:rPr lang="en-US" dirty="0"/>
              <a:t>()</a:t>
            </a:r>
          </a:p>
          <a:p>
            <a:pPr algn="just"/>
            <a:endParaRPr lang="en-US" dirty="0"/>
          </a:p>
          <a:p>
            <a:pPr algn="just"/>
            <a:r>
              <a:rPr lang="en-US" dirty="0" err="1"/>
              <a:t>plotter.on</a:t>
            </a:r>
            <a:r>
              <a:rPr lang="en-US" dirty="0"/>
              <a:t>(ax).plot()</a:t>
            </a:r>
          </a:p>
          <a:p>
            <a:pPr algn="just"/>
            <a:endParaRPr lang="en-US" dirty="0"/>
          </a:p>
        </p:txBody>
      </p:sp>
      <p:sp>
        <p:nvSpPr>
          <p:cNvPr id="4" name="Slide Number Placeholder 3">
            <a:extLst>
              <a:ext uri="{FF2B5EF4-FFF2-40B4-BE49-F238E27FC236}">
                <a16:creationId xmlns:a16="http://schemas.microsoft.com/office/drawing/2014/main" id="{F2FA9568-2386-4B5C-81BD-C9E80230A0C3}"/>
              </a:ext>
            </a:extLst>
          </p:cNvPr>
          <p:cNvSpPr>
            <a:spLocks noGrp="1"/>
          </p:cNvSpPr>
          <p:nvPr>
            <p:ph type="sldNum" sz="quarter" idx="12"/>
          </p:nvPr>
        </p:nvSpPr>
        <p:spPr/>
        <p:txBody>
          <a:bodyPr/>
          <a:lstStyle/>
          <a:p>
            <a:fld id="{6B97D948-30E8-43F7-AE10-F6E2D9F2BBB1}" type="slidenum">
              <a:rPr lang="en-US" smtClean="0"/>
              <a:t>285</a:t>
            </a:fld>
            <a:endParaRPr lang="en-US"/>
          </a:p>
        </p:txBody>
      </p:sp>
    </p:spTree>
    <p:extLst>
      <p:ext uri="{BB962C8B-B14F-4D97-AF65-F5344CB8AC3E}">
        <p14:creationId xmlns:p14="http://schemas.microsoft.com/office/powerpoint/2010/main" val="3863206266"/>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AC0132F-5D22-4DA4-A281-1B62D523A7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3730" y="437382"/>
            <a:ext cx="7752708" cy="5814531"/>
          </a:xfrm>
        </p:spPr>
      </p:pic>
      <p:sp>
        <p:nvSpPr>
          <p:cNvPr id="4" name="Slide Number Placeholder 3">
            <a:extLst>
              <a:ext uri="{FF2B5EF4-FFF2-40B4-BE49-F238E27FC236}">
                <a16:creationId xmlns:a16="http://schemas.microsoft.com/office/drawing/2014/main" id="{17810CBE-3AEC-4C0D-ACF1-DE0D96369614}"/>
              </a:ext>
            </a:extLst>
          </p:cNvPr>
          <p:cNvSpPr>
            <a:spLocks noGrp="1"/>
          </p:cNvSpPr>
          <p:nvPr>
            <p:ph type="sldNum" sz="quarter" idx="12"/>
          </p:nvPr>
        </p:nvSpPr>
        <p:spPr/>
        <p:txBody>
          <a:bodyPr/>
          <a:lstStyle/>
          <a:p>
            <a:fld id="{6B97D948-30E8-43F7-AE10-F6E2D9F2BBB1}" type="slidenum">
              <a:rPr lang="en-US" smtClean="0"/>
              <a:t>286</a:t>
            </a:fld>
            <a:endParaRPr lang="en-US"/>
          </a:p>
        </p:txBody>
      </p:sp>
    </p:spTree>
    <p:extLst>
      <p:ext uri="{BB962C8B-B14F-4D97-AF65-F5344CB8AC3E}">
        <p14:creationId xmlns:p14="http://schemas.microsoft.com/office/powerpoint/2010/main" val="143808532"/>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26E39-283D-4B0D-B1A7-DDF86A1461E1}"/>
              </a:ext>
            </a:extLst>
          </p:cNvPr>
          <p:cNvSpPr>
            <a:spLocks noGrp="1"/>
          </p:cNvSpPr>
          <p:nvPr>
            <p:ph idx="1"/>
          </p:nvPr>
        </p:nvSpPr>
        <p:spPr>
          <a:xfrm>
            <a:off x="838200" y="449705"/>
            <a:ext cx="10515600" cy="5727258"/>
          </a:xfrm>
        </p:spPr>
        <p:txBody>
          <a:bodyPr/>
          <a:lstStyle/>
          <a:p>
            <a:pPr algn="just"/>
            <a:r>
              <a:rPr lang="en-US" dirty="0"/>
              <a:t>This can be achieved as a scatter plot by calling </a:t>
            </a:r>
            <a:r>
              <a:rPr lang="en-US" dirty="0" err="1"/>
              <a:t>seaborn.scatterplot</a:t>
            </a:r>
            <a:r>
              <a:rPr lang="en-US" dirty="0"/>
              <a:t>() and passing the </a:t>
            </a:r>
            <a:r>
              <a:rPr lang="en-US" dirty="0" err="1"/>
              <a:t>dataframe</a:t>
            </a:r>
            <a:r>
              <a:rPr lang="en-US" dirty="0"/>
              <a:t> (penguins) and assigned two of its columns to the x and y coordinates of the plot.</a:t>
            </a:r>
          </a:p>
          <a:p>
            <a:pPr algn="just"/>
            <a:r>
              <a:rPr lang="en-US" dirty="0" err="1"/>
              <a:t>sns.scatterplot</a:t>
            </a:r>
            <a:r>
              <a:rPr lang="en-US" dirty="0"/>
              <a:t>(penguins, x = '</a:t>
            </a:r>
            <a:r>
              <a:rPr lang="en-US" dirty="0" err="1"/>
              <a:t>bill_length_mm</a:t>
            </a:r>
            <a:r>
              <a:rPr lang="en-US" dirty="0"/>
              <a:t>', y = '</a:t>
            </a:r>
            <a:r>
              <a:rPr lang="en-US" dirty="0" err="1"/>
              <a:t>bill_depth_mm</a:t>
            </a:r>
            <a:r>
              <a:rPr lang="en-US" dirty="0"/>
              <a:t>') </a:t>
            </a:r>
          </a:p>
        </p:txBody>
      </p:sp>
      <p:sp>
        <p:nvSpPr>
          <p:cNvPr id="4" name="Slide Number Placeholder 3">
            <a:extLst>
              <a:ext uri="{FF2B5EF4-FFF2-40B4-BE49-F238E27FC236}">
                <a16:creationId xmlns:a16="http://schemas.microsoft.com/office/drawing/2014/main" id="{D1E500EF-43C6-4A23-854E-31F4AF7C7BBB}"/>
              </a:ext>
            </a:extLst>
          </p:cNvPr>
          <p:cNvSpPr>
            <a:spLocks noGrp="1"/>
          </p:cNvSpPr>
          <p:nvPr>
            <p:ph type="sldNum" sz="quarter" idx="12"/>
          </p:nvPr>
        </p:nvSpPr>
        <p:spPr/>
        <p:txBody>
          <a:bodyPr/>
          <a:lstStyle/>
          <a:p>
            <a:fld id="{6B97D948-30E8-43F7-AE10-F6E2D9F2BBB1}" type="slidenum">
              <a:rPr lang="en-US" smtClean="0"/>
              <a:t>287</a:t>
            </a:fld>
            <a:endParaRPr lang="en-US"/>
          </a:p>
        </p:txBody>
      </p:sp>
    </p:spTree>
    <p:extLst>
      <p:ext uri="{BB962C8B-B14F-4D97-AF65-F5344CB8AC3E}">
        <p14:creationId xmlns:p14="http://schemas.microsoft.com/office/powerpoint/2010/main" val="3196397887"/>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31899F8-10B5-441A-B523-FA2529BB5C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8543" y="576042"/>
            <a:ext cx="7467895" cy="5600921"/>
          </a:xfrm>
        </p:spPr>
      </p:pic>
      <p:sp>
        <p:nvSpPr>
          <p:cNvPr id="4" name="Slide Number Placeholder 3">
            <a:extLst>
              <a:ext uri="{FF2B5EF4-FFF2-40B4-BE49-F238E27FC236}">
                <a16:creationId xmlns:a16="http://schemas.microsoft.com/office/drawing/2014/main" id="{0C123469-C9C1-4831-A6C8-78EEAA253EC2}"/>
              </a:ext>
            </a:extLst>
          </p:cNvPr>
          <p:cNvSpPr>
            <a:spLocks noGrp="1"/>
          </p:cNvSpPr>
          <p:nvPr>
            <p:ph type="sldNum" sz="quarter" idx="12"/>
          </p:nvPr>
        </p:nvSpPr>
        <p:spPr/>
        <p:txBody>
          <a:bodyPr/>
          <a:lstStyle/>
          <a:p>
            <a:fld id="{6B97D948-30E8-43F7-AE10-F6E2D9F2BBB1}" type="slidenum">
              <a:rPr lang="en-US" smtClean="0"/>
              <a:t>288</a:t>
            </a:fld>
            <a:endParaRPr lang="en-US"/>
          </a:p>
        </p:txBody>
      </p:sp>
    </p:spTree>
    <p:extLst>
      <p:ext uri="{BB962C8B-B14F-4D97-AF65-F5344CB8AC3E}">
        <p14:creationId xmlns:p14="http://schemas.microsoft.com/office/powerpoint/2010/main" val="3381281721"/>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C16F5-2312-42B8-B439-227A644C33B1}"/>
              </a:ext>
            </a:extLst>
          </p:cNvPr>
          <p:cNvSpPr>
            <a:spLocks noGrp="1"/>
          </p:cNvSpPr>
          <p:nvPr>
            <p:ph type="title"/>
          </p:nvPr>
        </p:nvSpPr>
        <p:spPr>
          <a:xfrm>
            <a:off x="838200" y="365126"/>
            <a:ext cx="10515600" cy="654206"/>
          </a:xfrm>
        </p:spPr>
        <p:txBody>
          <a:bodyPr>
            <a:normAutofit fontScale="90000"/>
          </a:bodyPr>
          <a:lstStyle/>
          <a:p>
            <a:r>
              <a:rPr lang="en-US" dirty="0"/>
              <a:t>Setting properties</a:t>
            </a:r>
          </a:p>
        </p:txBody>
      </p:sp>
      <p:sp>
        <p:nvSpPr>
          <p:cNvPr id="3" name="Content Placeholder 2">
            <a:extLst>
              <a:ext uri="{FF2B5EF4-FFF2-40B4-BE49-F238E27FC236}">
                <a16:creationId xmlns:a16="http://schemas.microsoft.com/office/drawing/2014/main" id="{EF4076A8-9758-4628-8DE2-BE5463EC1D02}"/>
              </a:ext>
            </a:extLst>
          </p:cNvPr>
          <p:cNvSpPr>
            <a:spLocks noGrp="1"/>
          </p:cNvSpPr>
          <p:nvPr>
            <p:ph idx="1"/>
          </p:nvPr>
        </p:nvSpPr>
        <p:spPr>
          <a:xfrm>
            <a:off x="838200" y="1019332"/>
            <a:ext cx="10515600" cy="5157631"/>
          </a:xfrm>
        </p:spPr>
        <p:txBody>
          <a:bodyPr>
            <a:normAutofit lnSpcReduction="10000"/>
          </a:bodyPr>
          <a:lstStyle/>
          <a:p>
            <a:pPr algn="just"/>
            <a:r>
              <a:rPr lang="en-US" dirty="0"/>
              <a:t>The </a:t>
            </a:r>
            <a:r>
              <a:rPr lang="en-US" dirty="0">
                <a:solidFill>
                  <a:srgbClr val="FF0000"/>
                </a:solidFill>
              </a:rPr>
              <a:t>Dot</a:t>
            </a:r>
            <a:r>
              <a:rPr lang="en-US" dirty="0"/>
              <a:t> class is an example of a </a:t>
            </a:r>
            <a:r>
              <a:rPr lang="en-US" dirty="0">
                <a:solidFill>
                  <a:srgbClr val="FF0000"/>
                </a:solidFill>
              </a:rPr>
              <a:t>Mark</a:t>
            </a:r>
            <a:r>
              <a:rPr lang="en-US" dirty="0"/>
              <a:t>: an object that graphically represents data values. </a:t>
            </a:r>
          </a:p>
          <a:p>
            <a:pPr algn="just"/>
            <a:r>
              <a:rPr lang="en-US" dirty="0"/>
              <a:t>Each mark will have a number of properties that can be set to change its appearance.</a:t>
            </a:r>
          </a:p>
          <a:p>
            <a:pPr algn="just"/>
            <a:endParaRPr lang="en-US" dirty="0"/>
          </a:p>
          <a:p>
            <a:r>
              <a:rPr lang="en-US" dirty="0"/>
              <a:t>plotter = </a:t>
            </a:r>
            <a:r>
              <a:rPr lang="en-US" dirty="0" err="1"/>
              <a:t>so.Plot</a:t>
            </a:r>
            <a:r>
              <a:rPr lang="en-US" dirty="0"/>
              <a:t>(penguins, x='</a:t>
            </a:r>
            <a:r>
              <a:rPr lang="en-US" dirty="0" err="1"/>
              <a:t>bill_length_mm</a:t>
            </a:r>
            <a:r>
              <a:rPr lang="en-US" dirty="0"/>
              <a:t>', y='</a:t>
            </a:r>
            <a:r>
              <a:rPr lang="en-US" dirty="0" err="1"/>
              <a:t>bill_depth_mm</a:t>
            </a:r>
            <a:r>
              <a:rPr lang="en-US" dirty="0"/>
              <a:t>').add(</a:t>
            </a:r>
            <a:r>
              <a:rPr lang="en-US" dirty="0" err="1"/>
              <a:t>so.Dot</a:t>
            </a:r>
            <a:r>
              <a:rPr lang="en-US" dirty="0"/>
              <a:t>(color='g', </a:t>
            </a:r>
            <a:r>
              <a:rPr lang="en-US" dirty="0" err="1"/>
              <a:t>pointsize</a:t>
            </a:r>
            <a:r>
              <a:rPr lang="en-US" dirty="0"/>
              <a:t>=4))</a:t>
            </a:r>
          </a:p>
          <a:p>
            <a:pPr algn="just"/>
            <a:endParaRPr lang="en-US" dirty="0"/>
          </a:p>
          <a:p>
            <a:pPr algn="just"/>
            <a:r>
              <a:rPr lang="en-US" dirty="0"/>
              <a:t>fig, ax = </a:t>
            </a:r>
            <a:r>
              <a:rPr lang="en-US" dirty="0" err="1"/>
              <a:t>plt.subplots</a:t>
            </a:r>
            <a:r>
              <a:rPr lang="en-US" dirty="0"/>
              <a:t>()</a:t>
            </a:r>
          </a:p>
          <a:p>
            <a:pPr algn="just"/>
            <a:endParaRPr lang="en-US" dirty="0"/>
          </a:p>
          <a:p>
            <a:pPr algn="just"/>
            <a:r>
              <a:rPr lang="en-US" dirty="0" err="1"/>
              <a:t>plotter.on</a:t>
            </a:r>
            <a:r>
              <a:rPr lang="en-US" dirty="0"/>
              <a:t>(ax).plot()</a:t>
            </a:r>
          </a:p>
        </p:txBody>
      </p:sp>
      <p:sp>
        <p:nvSpPr>
          <p:cNvPr id="4" name="Slide Number Placeholder 3">
            <a:extLst>
              <a:ext uri="{FF2B5EF4-FFF2-40B4-BE49-F238E27FC236}">
                <a16:creationId xmlns:a16="http://schemas.microsoft.com/office/drawing/2014/main" id="{9AF19626-CC20-467C-BE01-2ECC4DA28AC1}"/>
              </a:ext>
            </a:extLst>
          </p:cNvPr>
          <p:cNvSpPr>
            <a:spLocks noGrp="1"/>
          </p:cNvSpPr>
          <p:nvPr>
            <p:ph type="sldNum" sz="quarter" idx="12"/>
          </p:nvPr>
        </p:nvSpPr>
        <p:spPr/>
        <p:txBody>
          <a:bodyPr/>
          <a:lstStyle/>
          <a:p>
            <a:fld id="{6B97D948-30E8-43F7-AE10-F6E2D9F2BBB1}" type="slidenum">
              <a:rPr lang="en-US" smtClean="0"/>
              <a:t>289</a:t>
            </a:fld>
            <a:endParaRPr lang="en-US"/>
          </a:p>
        </p:txBody>
      </p:sp>
    </p:spTree>
    <p:extLst>
      <p:ext uri="{BB962C8B-B14F-4D97-AF65-F5344CB8AC3E}">
        <p14:creationId xmlns:p14="http://schemas.microsoft.com/office/powerpoint/2010/main" val="3866015294"/>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C68B4AF-396D-4A71-8603-691E8074E2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8444" y="486100"/>
            <a:ext cx="7587817" cy="5690863"/>
          </a:xfrm>
        </p:spPr>
      </p:pic>
      <p:sp>
        <p:nvSpPr>
          <p:cNvPr id="4" name="Slide Number Placeholder 3">
            <a:extLst>
              <a:ext uri="{FF2B5EF4-FFF2-40B4-BE49-F238E27FC236}">
                <a16:creationId xmlns:a16="http://schemas.microsoft.com/office/drawing/2014/main" id="{03B5483B-9301-42DD-967F-B6B6A9C84D10}"/>
              </a:ext>
            </a:extLst>
          </p:cNvPr>
          <p:cNvSpPr>
            <a:spLocks noGrp="1"/>
          </p:cNvSpPr>
          <p:nvPr>
            <p:ph type="sldNum" sz="quarter" idx="12"/>
          </p:nvPr>
        </p:nvSpPr>
        <p:spPr/>
        <p:txBody>
          <a:bodyPr/>
          <a:lstStyle/>
          <a:p>
            <a:fld id="{6B97D948-30E8-43F7-AE10-F6E2D9F2BBB1}" type="slidenum">
              <a:rPr lang="en-US" smtClean="0"/>
              <a:t>290</a:t>
            </a:fld>
            <a:endParaRPr lang="en-US"/>
          </a:p>
        </p:txBody>
      </p:sp>
    </p:spTree>
    <p:extLst>
      <p:ext uri="{BB962C8B-B14F-4D97-AF65-F5344CB8AC3E}">
        <p14:creationId xmlns:p14="http://schemas.microsoft.com/office/powerpoint/2010/main" val="206841006"/>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C067D-7976-40B5-85C2-4CF49222E86E}"/>
              </a:ext>
            </a:extLst>
          </p:cNvPr>
          <p:cNvSpPr>
            <a:spLocks noGrp="1"/>
          </p:cNvSpPr>
          <p:nvPr>
            <p:ph type="title"/>
          </p:nvPr>
        </p:nvSpPr>
        <p:spPr>
          <a:xfrm>
            <a:off x="838200" y="365125"/>
            <a:ext cx="10515600" cy="759137"/>
          </a:xfrm>
        </p:spPr>
        <p:txBody>
          <a:bodyPr/>
          <a:lstStyle/>
          <a:p>
            <a:r>
              <a:rPr lang="en-US" dirty="0"/>
              <a:t>Mapping properties</a:t>
            </a:r>
          </a:p>
        </p:txBody>
      </p:sp>
      <p:sp>
        <p:nvSpPr>
          <p:cNvPr id="3" name="Content Placeholder 2">
            <a:extLst>
              <a:ext uri="{FF2B5EF4-FFF2-40B4-BE49-F238E27FC236}">
                <a16:creationId xmlns:a16="http://schemas.microsoft.com/office/drawing/2014/main" id="{45488AFD-373A-4020-BC7B-433F58E0E5C2}"/>
              </a:ext>
            </a:extLst>
          </p:cNvPr>
          <p:cNvSpPr>
            <a:spLocks noGrp="1"/>
          </p:cNvSpPr>
          <p:nvPr>
            <p:ph idx="1"/>
          </p:nvPr>
        </p:nvSpPr>
        <p:spPr>
          <a:xfrm>
            <a:off x="838200" y="1124262"/>
            <a:ext cx="10515600" cy="5052701"/>
          </a:xfrm>
        </p:spPr>
        <p:txBody>
          <a:bodyPr/>
          <a:lstStyle/>
          <a:p>
            <a:pPr algn="just"/>
            <a:r>
              <a:rPr lang="en-US" dirty="0"/>
              <a:t>As with </a:t>
            </a:r>
            <a:r>
              <a:rPr lang="en-US" dirty="0" err="1"/>
              <a:t>seaborn’s</a:t>
            </a:r>
            <a:r>
              <a:rPr lang="en-US" dirty="0"/>
              <a:t> functions, it is also possible to map data values to various graphical properties.</a:t>
            </a:r>
          </a:p>
          <a:p>
            <a:pPr algn="just"/>
            <a:r>
              <a:rPr lang="en-US" dirty="0">
                <a:solidFill>
                  <a:srgbClr val="FF0000"/>
                </a:solidFill>
              </a:rPr>
              <a:t>(</a:t>
            </a:r>
            <a:r>
              <a:rPr lang="en-US" dirty="0" err="1">
                <a:solidFill>
                  <a:srgbClr val="FF0000"/>
                </a:solidFill>
              </a:rPr>
              <a:t>so.Plot</a:t>
            </a:r>
            <a:r>
              <a:rPr lang="en-US" dirty="0">
                <a:solidFill>
                  <a:srgbClr val="FF0000"/>
                </a:solidFill>
              </a:rPr>
              <a:t>(penguins,</a:t>
            </a:r>
          </a:p>
          <a:p>
            <a:pPr algn="just"/>
            <a:r>
              <a:rPr lang="en-US" dirty="0">
                <a:solidFill>
                  <a:srgbClr val="FF0000"/>
                </a:solidFill>
              </a:rPr>
              <a:t> x="</a:t>
            </a:r>
            <a:r>
              <a:rPr lang="en-US" dirty="0" err="1">
                <a:solidFill>
                  <a:srgbClr val="FF0000"/>
                </a:solidFill>
              </a:rPr>
              <a:t>bill_length_mm</a:t>
            </a:r>
            <a:r>
              <a:rPr lang="en-US" dirty="0">
                <a:solidFill>
                  <a:srgbClr val="FF0000"/>
                </a:solidFill>
              </a:rPr>
              <a:t>",</a:t>
            </a:r>
          </a:p>
          <a:p>
            <a:pPr algn="just"/>
            <a:r>
              <a:rPr lang="en-US" dirty="0">
                <a:solidFill>
                  <a:srgbClr val="FF0000"/>
                </a:solidFill>
              </a:rPr>
              <a:t> y="</a:t>
            </a:r>
            <a:r>
              <a:rPr lang="en-US" dirty="0" err="1">
                <a:solidFill>
                  <a:srgbClr val="FF0000"/>
                </a:solidFill>
              </a:rPr>
              <a:t>bill_depth_mm</a:t>
            </a:r>
            <a:r>
              <a:rPr lang="en-US" dirty="0">
                <a:solidFill>
                  <a:srgbClr val="FF0000"/>
                </a:solidFill>
              </a:rPr>
              <a:t>",</a:t>
            </a:r>
          </a:p>
          <a:p>
            <a:pPr algn="just"/>
            <a:r>
              <a:rPr lang="en-US" dirty="0">
                <a:solidFill>
                  <a:srgbClr val="FF0000"/>
                </a:solidFill>
              </a:rPr>
              <a:t> color="species",</a:t>
            </a:r>
          </a:p>
          <a:p>
            <a:pPr algn="just"/>
            <a:r>
              <a:rPr lang="en-US" dirty="0">
                <a:solidFill>
                  <a:srgbClr val="FF0000"/>
                </a:solidFill>
              </a:rPr>
              <a:t> </a:t>
            </a:r>
            <a:r>
              <a:rPr lang="en-US" dirty="0" err="1">
                <a:solidFill>
                  <a:srgbClr val="FF0000"/>
                </a:solidFill>
              </a:rPr>
              <a:t>pointsize</a:t>
            </a:r>
            <a:r>
              <a:rPr lang="en-US" dirty="0">
                <a:solidFill>
                  <a:srgbClr val="FF0000"/>
                </a:solidFill>
              </a:rPr>
              <a:t>="</a:t>
            </a:r>
            <a:r>
              <a:rPr lang="en-US" dirty="0" err="1">
                <a:solidFill>
                  <a:srgbClr val="FF0000"/>
                </a:solidFill>
              </a:rPr>
              <a:t>body_mass_g</a:t>
            </a:r>
            <a:r>
              <a:rPr lang="en-US" dirty="0">
                <a:solidFill>
                  <a:srgbClr val="FF0000"/>
                </a:solidFill>
              </a:rPr>
              <a:t>",</a:t>
            </a:r>
          </a:p>
          <a:p>
            <a:pPr algn="just"/>
            <a:r>
              <a:rPr lang="en-US" dirty="0">
                <a:solidFill>
                  <a:srgbClr val="FF0000"/>
                </a:solidFill>
              </a:rPr>
              <a:t> ).add(</a:t>
            </a:r>
            <a:r>
              <a:rPr lang="en-US" dirty="0" err="1">
                <a:solidFill>
                  <a:srgbClr val="FF0000"/>
                </a:solidFill>
              </a:rPr>
              <a:t>so.Dot</a:t>
            </a:r>
            <a:r>
              <a:rPr lang="en-US" dirty="0">
                <a:solidFill>
                  <a:srgbClr val="FF0000"/>
                </a:solidFill>
              </a:rPr>
              <a:t>()).show()</a:t>
            </a:r>
          </a:p>
          <a:p>
            <a:pPr algn="just"/>
            <a:endParaRPr lang="en-US" dirty="0"/>
          </a:p>
        </p:txBody>
      </p:sp>
      <p:sp>
        <p:nvSpPr>
          <p:cNvPr id="4" name="Slide Number Placeholder 3">
            <a:extLst>
              <a:ext uri="{FF2B5EF4-FFF2-40B4-BE49-F238E27FC236}">
                <a16:creationId xmlns:a16="http://schemas.microsoft.com/office/drawing/2014/main" id="{C7CF3B08-EE1F-4849-A8F6-BE8A46FADE2E}"/>
              </a:ext>
            </a:extLst>
          </p:cNvPr>
          <p:cNvSpPr>
            <a:spLocks noGrp="1"/>
          </p:cNvSpPr>
          <p:nvPr>
            <p:ph type="sldNum" sz="quarter" idx="12"/>
          </p:nvPr>
        </p:nvSpPr>
        <p:spPr/>
        <p:txBody>
          <a:bodyPr/>
          <a:lstStyle/>
          <a:p>
            <a:fld id="{6B97D948-30E8-43F7-AE10-F6E2D9F2BBB1}" type="slidenum">
              <a:rPr lang="en-US" smtClean="0"/>
              <a:t>291</a:t>
            </a:fld>
            <a:endParaRPr lang="en-US"/>
          </a:p>
        </p:txBody>
      </p:sp>
    </p:spTree>
    <p:extLst>
      <p:ext uri="{BB962C8B-B14F-4D97-AF65-F5344CB8AC3E}">
        <p14:creationId xmlns:p14="http://schemas.microsoft.com/office/powerpoint/2010/main" val="3282211907"/>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610A14-0F62-4E62-8445-3FE5835CFA5A}"/>
              </a:ext>
            </a:extLst>
          </p:cNvPr>
          <p:cNvSpPr>
            <a:spLocks noGrp="1"/>
          </p:cNvSpPr>
          <p:nvPr>
            <p:ph type="sldNum" sz="quarter" idx="12"/>
          </p:nvPr>
        </p:nvSpPr>
        <p:spPr/>
        <p:txBody>
          <a:bodyPr/>
          <a:lstStyle/>
          <a:p>
            <a:fld id="{6B97D948-30E8-43F7-AE10-F6E2D9F2BBB1}" type="slidenum">
              <a:rPr lang="en-US" smtClean="0"/>
              <a:t>292</a:t>
            </a:fld>
            <a:endParaRPr lang="en-US"/>
          </a:p>
        </p:txBody>
      </p:sp>
      <p:pic>
        <p:nvPicPr>
          <p:cNvPr id="8" name="Picture 7">
            <a:extLst>
              <a:ext uri="{FF2B5EF4-FFF2-40B4-BE49-F238E27FC236}">
                <a16:creationId xmlns:a16="http://schemas.microsoft.com/office/drawing/2014/main" id="{5CD470B6-3924-410E-9DF7-7F3C907752BE}"/>
              </a:ext>
            </a:extLst>
          </p:cNvPr>
          <p:cNvPicPr>
            <a:picLocks noChangeAspect="1"/>
          </p:cNvPicPr>
          <p:nvPr/>
        </p:nvPicPr>
        <p:blipFill>
          <a:blip r:embed="rId2"/>
          <a:stretch>
            <a:fillRect/>
          </a:stretch>
        </p:blipFill>
        <p:spPr>
          <a:xfrm>
            <a:off x="3048000" y="1143000"/>
            <a:ext cx="6096000" cy="4572000"/>
          </a:xfrm>
          <a:prstGeom prst="rect">
            <a:avLst/>
          </a:prstGeom>
        </p:spPr>
      </p:pic>
    </p:spTree>
    <p:extLst>
      <p:ext uri="{BB962C8B-B14F-4D97-AF65-F5344CB8AC3E}">
        <p14:creationId xmlns:p14="http://schemas.microsoft.com/office/powerpoint/2010/main" val="1442039611"/>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AAF22-4CED-4388-B3F4-1845365B85E1}"/>
              </a:ext>
            </a:extLst>
          </p:cNvPr>
          <p:cNvSpPr>
            <a:spLocks noGrp="1"/>
          </p:cNvSpPr>
          <p:nvPr>
            <p:ph type="title"/>
          </p:nvPr>
        </p:nvSpPr>
        <p:spPr>
          <a:xfrm>
            <a:off x="838200" y="365125"/>
            <a:ext cx="10515600" cy="549275"/>
          </a:xfrm>
        </p:spPr>
        <p:txBody>
          <a:bodyPr>
            <a:normAutofit fontScale="90000"/>
          </a:bodyPr>
          <a:lstStyle/>
          <a:p>
            <a:r>
              <a:rPr lang="en-US" dirty="0"/>
              <a:t>Defining groups</a:t>
            </a:r>
          </a:p>
        </p:txBody>
      </p:sp>
      <p:sp>
        <p:nvSpPr>
          <p:cNvPr id="3" name="Content Placeholder 2">
            <a:extLst>
              <a:ext uri="{FF2B5EF4-FFF2-40B4-BE49-F238E27FC236}">
                <a16:creationId xmlns:a16="http://schemas.microsoft.com/office/drawing/2014/main" id="{215B4C86-6148-4769-A6BB-57CE5CDBBB47}"/>
              </a:ext>
            </a:extLst>
          </p:cNvPr>
          <p:cNvSpPr>
            <a:spLocks noGrp="1"/>
          </p:cNvSpPr>
          <p:nvPr>
            <p:ph idx="1"/>
          </p:nvPr>
        </p:nvSpPr>
        <p:spPr>
          <a:xfrm>
            <a:off x="838200" y="914400"/>
            <a:ext cx="10515600" cy="5262563"/>
          </a:xfrm>
        </p:spPr>
        <p:txBody>
          <a:bodyPr/>
          <a:lstStyle/>
          <a:p>
            <a:pPr algn="just"/>
            <a:r>
              <a:rPr lang="en-US" dirty="0"/>
              <a:t>The </a:t>
            </a:r>
            <a:r>
              <a:rPr lang="en-US" dirty="0">
                <a:solidFill>
                  <a:srgbClr val="FF0000"/>
                </a:solidFill>
              </a:rPr>
              <a:t>Dot</a:t>
            </a:r>
            <a:r>
              <a:rPr lang="en-US" dirty="0"/>
              <a:t> mark represents each data point independently, so the assignment of a variable to a property only has the effect of changing each dot’s appearance. </a:t>
            </a:r>
          </a:p>
          <a:p>
            <a:pPr algn="just"/>
            <a:r>
              <a:rPr lang="en-US" dirty="0"/>
              <a:t>For marks that group or connect observations, such as Line, it also determines the number of distinct graphical elements:</a:t>
            </a:r>
          </a:p>
          <a:p>
            <a:r>
              <a:rPr lang="en-US" dirty="0"/>
              <a:t>(</a:t>
            </a:r>
            <a:r>
              <a:rPr lang="en-US" dirty="0" err="1"/>
              <a:t>so.Plot</a:t>
            </a:r>
            <a:r>
              <a:rPr lang="en-US" dirty="0"/>
              <a:t>(</a:t>
            </a:r>
            <a:r>
              <a:rPr lang="en-US" dirty="0" err="1"/>
              <a:t>healthexp</a:t>
            </a:r>
            <a:r>
              <a:rPr lang="en-US" dirty="0"/>
              <a:t>, x="Year", y="</a:t>
            </a:r>
            <a:r>
              <a:rPr lang="en-US" dirty="0" err="1"/>
              <a:t>Life_Expectancy</a:t>
            </a:r>
            <a:r>
              <a:rPr lang="en-US" dirty="0"/>
              <a:t>", color="Country").add(</a:t>
            </a:r>
            <a:r>
              <a:rPr lang="en-US" dirty="0" err="1"/>
              <a:t>so.Line</a:t>
            </a:r>
            <a:r>
              <a:rPr lang="en-US" dirty="0"/>
              <a:t>()))</a:t>
            </a:r>
          </a:p>
        </p:txBody>
      </p:sp>
      <p:sp>
        <p:nvSpPr>
          <p:cNvPr id="4" name="Slide Number Placeholder 3">
            <a:extLst>
              <a:ext uri="{FF2B5EF4-FFF2-40B4-BE49-F238E27FC236}">
                <a16:creationId xmlns:a16="http://schemas.microsoft.com/office/drawing/2014/main" id="{CC70ABF0-92A4-47D8-B9AF-31227E2DD63E}"/>
              </a:ext>
            </a:extLst>
          </p:cNvPr>
          <p:cNvSpPr>
            <a:spLocks noGrp="1"/>
          </p:cNvSpPr>
          <p:nvPr>
            <p:ph type="sldNum" sz="quarter" idx="12"/>
          </p:nvPr>
        </p:nvSpPr>
        <p:spPr/>
        <p:txBody>
          <a:bodyPr/>
          <a:lstStyle/>
          <a:p>
            <a:fld id="{6B97D948-30E8-43F7-AE10-F6E2D9F2BBB1}" type="slidenum">
              <a:rPr lang="en-US" smtClean="0"/>
              <a:t>293</a:t>
            </a:fld>
            <a:endParaRPr lang="en-US"/>
          </a:p>
        </p:txBody>
      </p:sp>
    </p:spTree>
    <p:extLst>
      <p:ext uri="{BB962C8B-B14F-4D97-AF65-F5344CB8AC3E}">
        <p14:creationId xmlns:p14="http://schemas.microsoft.com/office/powerpoint/2010/main" val="127499323"/>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F5A853-E519-4E33-B281-EF9721758B3A}"/>
              </a:ext>
            </a:extLst>
          </p:cNvPr>
          <p:cNvSpPr>
            <a:spLocks noGrp="1"/>
          </p:cNvSpPr>
          <p:nvPr>
            <p:ph type="sldNum" sz="quarter" idx="12"/>
          </p:nvPr>
        </p:nvSpPr>
        <p:spPr/>
        <p:txBody>
          <a:bodyPr/>
          <a:lstStyle/>
          <a:p>
            <a:fld id="{6B97D948-30E8-43F7-AE10-F6E2D9F2BBB1}" type="slidenum">
              <a:rPr lang="en-US" smtClean="0"/>
              <a:t>294</a:t>
            </a:fld>
            <a:endParaRPr lang="en-US"/>
          </a:p>
        </p:txBody>
      </p:sp>
      <p:pic>
        <p:nvPicPr>
          <p:cNvPr id="10" name="Content Placeholder 9">
            <a:extLst>
              <a:ext uri="{FF2B5EF4-FFF2-40B4-BE49-F238E27FC236}">
                <a16:creationId xmlns:a16="http://schemas.microsoft.com/office/drawing/2014/main" id="{03647CDB-5A4D-4725-BCFA-034FA13BE7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1703169295"/>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A7D719-311F-42A9-9A1B-5DF89AED6E6D}"/>
              </a:ext>
            </a:extLst>
          </p:cNvPr>
          <p:cNvSpPr>
            <a:spLocks noGrp="1"/>
          </p:cNvSpPr>
          <p:nvPr>
            <p:ph idx="1"/>
          </p:nvPr>
        </p:nvSpPr>
        <p:spPr/>
        <p:txBody>
          <a:bodyPr>
            <a:normAutofit/>
          </a:bodyPr>
          <a:lstStyle/>
          <a:p>
            <a:pPr marL="0" indent="0" algn="ctr">
              <a:buNone/>
            </a:pPr>
            <a:r>
              <a:rPr lang="en-US" sz="4800" dirty="0"/>
              <a:t>Transforming data before plotting</a:t>
            </a:r>
          </a:p>
        </p:txBody>
      </p:sp>
      <p:sp>
        <p:nvSpPr>
          <p:cNvPr id="4" name="Slide Number Placeholder 3">
            <a:extLst>
              <a:ext uri="{FF2B5EF4-FFF2-40B4-BE49-F238E27FC236}">
                <a16:creationId xmlns:a16="http://schemas.microsoft.com/office/drawing/2014/main" id="{5EA20FD9-088E-44F0-9BB3-29BFE04B7334}"/>
              </a:ext>
            </a:extLst>
          </p:cNvPr>
          <p:cNvSpPr>
            <a:spLocks noGrp="1"/>
          </p:cNvSpPr>
          <p:nvPr>
            <p:ph type="sldNum" sz="quarter" idx="12"/>
          </p:nvPr>
        </p:nvSpPr>
        <p:spPr/>
        <p:txBody>
          <a:bodyPr/>
          <a:lstStyle/>
          <a:p>
            <a:fld id="{6B97D948-30E8-43F7-AE10-F6E2D9F2BBB1}" type="slidenum">
              <a:rPr lang="en-US" smtClean="0"/>
              <a:t>295</a:t>
            </a:fld>
            <a:endParaRPr lang="en-US"/>
          </a:p>
        </p:txBody>
      </p:sp>
    </p:spTree>
    <p:extLst>
      <p:ext uri="{BB962C8B-B14F-4D97-AF65-F5344CB8AC3E}">
        <p14:creationId xmlns:p14="http://schemas.microsoft.com/office/powerpoint/2010/main" val="2319966719"/>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7C1E-E994-456C-9D90-91B7F4098E1D}"/>
              </a:ext>
            </a:extLst>
          </p:cNvPr>
          <p:cNvSpPr>
            <a:spLocks noGrp="1"/>
          </p:cNvSpPr>
          <p:nvPr>
            <p:ph type="title"/>
          </p:nvPr>
        </p:nvSpPr>
        <p:spPr>
          <a:xfrm>
            <a:off x="838200" y="365125"/>
            <a:ext cx="10515600" cy="744147"/>
          </a:xfrm>
        </p:spPr>
        <p:txBody>
          <a:bodyPr/>
          <a:lstStyle/>
          <a:p>
            <a:r>
              <a:rPr lang="en-US" dirty="0"/>
              <a:t>Statistical Transformation</a:t>
            </a:r>
          </a:p>
        </p:txBody>
      </p:sp>
      <p:sp>
        <p:nvSpPr>
          <p:cNvPr id="3" name="Content Placeholder 2">
            <a:extLst>
              <a:ext uri="{FF2B5EF4-FFF2-40B4-BE49-F238E27FC236}">
                <a16:creationId xmlns:a16="http://schemas.microsoft.com/office/drawing/2014/main" id="{DB88537F-D929-4400-8D5F-628B80EC8EC0}"/>
              </a:ext>
            </a:extLst>
          </p:cNvPr>
          <p:cNvSpPr>
            <a:spLocks noGrp="1"/>
          </p:cNvSpPr>
          <p:nvPr>
            <p:ph idx="1"/>
          </p:nvPr>
        </p:nvSpPr>
        <p:spPr>
          <a:xfrm>
            <a:off x="838200" y="1109272"/>
            <a:ext cx="10515600" cy="5067691"/>
          </a:xfrm>
        </p:spPr>
        <p:txBody>
          <a:bodyPr/>
          <a:lstStyle/>
          <a:p>
            <a:pPr algn="just"/>
            <a:r>
              <a:rPr lang="en-US" dirty="0"/>
              <a:t>As with many seaborn functions, the objects interface supports statistical transformations. </a:t>
            </a:r>
          </a:p>
          <a:p>
            <a:pPr algn="just"/>
            <a:r>
              <a:rPr lang="en-US" dirty="0"/>
              <a:t>These are performed by Stat objects, such as Agg().</a:t>
            </a:r>
          </a:p>
          <a:p>
            <a:pPr algn="just"/>
            <a:r>
              <a:rPr lang="en-US" dirty="0"/>
              <a:t>(</a:t>
            </a:r>
            <a:r>
              <a:rPr lang="en-US" dirty="0" err="1"/>
              <a:t>so.Plot</a:t>
            </a:r>
            <a:r>
              <a:rPr lang="en-US" dirty="0"/>
              <a:t>(penguins, x="species", y="</a:t>
            </a:r>
            <a:r>
              <a:rPr lang="en-US" dirty="0" err="1"/>
              <a:t>body_mass_g</a:t>
            </a:r>
            <a:r>
              <a:rPr lang="en-US" dirty="0"/>
              <a:t>").add(</a:t>
            </a:r>
            <a:r>
              <a:rPr lang="en-US" dirty="0" err="1"/>
              <a:t>so.Bar</a:t>
            </a:r>
            <a:r>
              <a:rPr lang="en-US" dirty="0"/>
              <a:t>(), </a:t>
            </a:r>
            <a:r>
              <a:rPr lang="en-US" dirty="0" err="1"/>
              <a:t>so.Agg</a:t>
            </a:r>
            <a:r>
              <a:rPr lang="en-US" dirty="0"/>
              <a:t>())).show()</a:t>
            </a:r>
          </a:p>
        </p:txBody>
      </p:sp>
      <p:sp>
        <p:nvSpPr>
          <p:cNvPr id="4" name="Slide Number Placeholder 3">
            <a:extLst>
              <a:ext uri="{FF2B5EF4-FFF2-40B4-BE49-F238E27FC236}">
                <a16:creationId xmlns:a16="http://schemas.microsoft.com/office/drawing/2014/main" id="{C0881E10-2BFE-4602-B63B-636650426338}"/>
              </a:ext>
            </a:extLst>
          </p:cNvPr>
          <p:cNvSpPr>
            <a:spLocks noGrp="1"/>
          </p:cNvSpPr>
          <p:nvPr>
            <p:ph type="sldNum" sz="quarter" idx="12"/>
          </p:nvPr>
        </p:nvSpPr>
        <p:spPr/>
        <p:txBody>
          <a:bodyPr/>
          <a:lstStyle/>
          <a:p>
            <a:fld id="{6B97D948-30E8-43F7-AE10-F6E2D9F2BBB1}" type="slidenum">
              <a:rPr lang="en-US" smtClean="0"/>
              <a:t>296</a:t>
            </a:fld>
            <a:endParaRPr lang="en-US"/>
          </a:p>
        </p:txBody>
      </p:sp>
    </p:spTree>
    <p:extLst>
      <p:ext uri="{BB962C8B-B14F-4D97-AF65-F5344CB8AC3E}">
        <p14:creationId xmlns:p14="http://schemas.microsoft.com/office/powerpoint/2010/main" val="3858074769"/>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F6AFE0F-A1EB-4951-BA69-008A270C2480}"/>
              </a:ext>
            </a:extLst>
          </p:cNvPr>
          <p:cNvPicPr>
            <a:picLocks noGrp="1" noChangeAspect="1"/>
          </p:cNvPicPr>
          <p:nvPr>
            <p:ph idx="1"/>
          </p:nvPr>
        </p:nvPicPr>
        <p:blipFill>
          <a:blip r:embed="rId2"/>
          <a:stretch>
            <a:fillRect/>
          </a:stretch>
        </p:blipFill>
        <p:spPr>
          <a:xfrm>
            <a:off x="1828798" y="486099"/>
            <a:ext cx="7707738" cy="5780804"/>
          </a:xfrm>
          <a:prstGeom prst="rect">
            <a:avLst/>
          </a:prstGeom>
        </p:spPr>
      </p:pic>
      <p:sp>
        <p:nvSpPr>
          <p:cNvPr id="4" name="Slide Number Placeholder 3">
            <a:extLst>
              <a:ext uri="{FF2B5EF4-FFF2-40B4-BE49-F238E27FC236}">
                <a16:creationId xmlns:a16="http://schemas.microsoft.com/office/drawing/2014/main" id="{0E53DAE8-BF70-4423-B5D5-59A0B0CEAACB}"/>
              </a:ext>
            </a:extLst>
          </p:cNvPr>
          <p:cNvSpPr>
            <a:spLocks noGrp="1"/>
          </p:cNvSpPr>
          <p:nvPr>
            <p:ph type="sldNum" sz="quarter" idx="12"/>
          </p:nvPr>
        </p:nvSpPr>
        <p:spPr/>
        <p:txBody>
          <a:bodyPr/>
          <a:lstStyle/>
          <a:p>
            <a:fld id="{6B97D948-30E8-43F7-AE10-F6E2D9F2BBB1}" type="slidenum">
              <a:rPr lang="en-US" smtClean="0"/>
              <a:t>297</a:t>
            </a:fld>
            <a:endParaRPr lang="en-US"/>
          </a:p>
        </p:txBody>
      </p:sp>
    </p:spTree>
    <p:extLst>
      <p:ext uri="{BB962C8B-B14F-4D97-AF65-F5344CB8AC3E}">
        <p14:creationId xmlns:p14="http://schemas.microsoft.com/office/powerpoint/2010/main" val="531805139"/>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3E4CB4-9729-44A1-A96F-277E956D0AF5}"/>
              </a:ext>
            </a:extLst>
          </p:cNvPr>
          <p:cNvSpPr>
            <a:spLocks noGrp="1"/>
          </p:cNvSpPr>
          <p:nvPr>
            <p:ph idx="1"/>
          </p:nvPr>
        </p:nvSpPr>
        <p:spPr>
          <a:xfrm>
            <a:off x="838200" y="449705"/>
            <a:ext cx="10515600" cy="884420"/>
          </a:xfrm>
        </p:spPr>
        <p:txBody>
          <a:bodyPr/>
          <a:lstStyle/>
          <a:p>
            <a:r>
              <a:rPr lang="en-US" dirty="0"/>
              <a:t> (</a:t>
            </a:r>
            <a:r>
              <a:rPr lang="en-US" dirty="0" err="1"/>
              <a:t>so.Plot</a:t>
            </a:r>
            <a:r>
              <a:rPr lang="en-US" dirty="0"/>
              <a:t>(penguins, x="species", y="</a:t>
            </a:r>
            <a:r>
              <a:rPr lang="en-US" dirty="0" err="1"/>
              <a:t>body_mass_g</a:t>
            </a:r>
            <a:r>
              <a:rPr lang="en-US" dirty="0"/>
              <a:t>").add(</a:t>
            </a:r>
            <a:r>
              <a:rPr lang="en-US" dirty="0" err="1"/>
              <a:t>so.Bar</a:t>
            </a:r>
            <a:r>
              <a:rPr lang="en-US" dirty="0"/>
              <a:t>(), </a:t>
            </a:r>
            <a:r>
              <a:rPr lang="en-US" dirty="0" err="1"/>
              <a:t>so.Agg</a:t>
            </a:r>
            <a:r>
              <a:rPr lang="en-US" dirty="0"/>
              <a:t>('median'))).show()</a:t>
            </a:r>
          </a:p>
        </p:txBody>
      </p:sp>
      <p:sp>
        <p:nvSpPr>
          <p:cNvPr id="4" name="Slide Number Placeholder 3">
            <a:extLst>
              <a:ext uri="{FF2B5EF4-FFF2-40B4-BE49-F238E27FC236}">
                <a16:creationId xmlns:a16="http://schemas.microsoft.com/office/drawing/2014/main" id="{AF2B5719-9B8D-46B2-A222-B936C488C3F4}"/>
              </a:ext>
            </a:extLst>
          </p:cNvPr>
          <p:cNvSpPr>
            <a:spLocks noGrp="1"/>
          </p:cNvSpPr>
          <p:nvPr>
            <p:ph type="sldNum" sz="quarter" idx="12"/>
          </p:nvPr>
        </p:nvSpPr>
        <p:spPr/>
        <p:txBody>
          <a:bodyPr/>
          <a:lstStyle/>
          <a:p>
            <a:fld id="{6B97D948-30E8-43F7-AE10-F6E2D9F2BBB1}" type="slidenum">
              <a:rPr lang="en-US" smtClean="0"/>
              <a:t>298</a:t>
            </a:fld>
            <a:endParaRPr lang="en-US"/>
          </a:p>
        </p:txBody>
      </p:sp>
      <p:pic>
        <p:nvPicPr>
          <p:cNvPr id="5" name="Picture 4">
            <a:extLst>
              <a:ext uri="{FF2B5EF4-FFF2-40B4-BE49-F238E27FC236}">
                <a16:creationId xmlns:a16="http://schemas.microsoft.com/office/drawing/2014/main" id="{29F10EB9-84FE-45A2-B876-5AB07A631E94}"/>
              </a:ext>
            </a:extLst>
          </p:cNvPr>
          <p:cNvPicPr>
            <a:picLocks noChangeAspect="1"/>
          </p:cNvPicPr>
          <p:nvPr/>
        </p:nvPicPr>
        <p:blipFill>
          <a:blip r:embed="rId2"/>
          <a:stretch>
            <a:fillRect/>
          </a:stretch>
        </p:blipFill>
        <p:spPr>
          <a:xfrm>
            <a:off x="3048000" y="1577712"/>
            <a:ext cx="6096000" cy="4572000"/>
          </a:xfrm>
          <a:prstGeom prst="rect">
            <a:avLst/>
          </a:prstGeom>
        </p:spPr>
      </p:pic>
    </p:spTree>
    <p:extLst>
      <p:ext uri="{BB962C8B-B14F-4D97-AF65-F5344CB8AC3E}">
        <p14:creationId xmlns:p14="http://schemas.microsoft.com/office/powerpoint/2010/main" val="3584244208"/>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EA881E-0E18-42FF-9E43-CE894B12AD4B}"/>
              </a:ext>
            </a:extLst>
          </p:cNvPr>
          <p:cNvSpPr>
            <a:spLocks noGrp="1"/>
          </p:cNvSpPr>
          <p:nvPr>
            <p:ph idx="1"/>
          </p:nvPr>
        </p:nvSpPr>
        <p:spPr>
          <a:xfrm>
            <a:off x="838200" y="356594"/>
            <a:ext cx="10515600" cy="932565"/>
          </a:xfrm>
        </p:spPr>
        <p:txBody>
          <a:bodyPr/>
          <a:lstStyle/>
          <a:p>
            <a:r>
              <a:rPr lang="en-US" dirty="0"/>
              <a:t>(</a:t>
            </a:r>
            <a:r>
              <a:rPr lang="en-US" dirty="0" err="1"/>
              <a:t>so.Plot</a:t>
            </a:r>
            <a:r>
              <a:rPr lang="en-US" dirty="0"/>
              <a:t>(penguins, x=‘species’, y = ‘</a:t>
            </a:r>
            <a:r>
              <a:rPr lang="en-US" dirty="0" err="1"/>
              <a:t>body_mass_g</a:t>
            </a:r>
            <a:r>
              <a:rPr lang="en-US" dirty="0"/>
              <a:t>’).add(</a:t>
            </a:r>
            <a:r>
              <a:rPr lang="en-US" dirty="0" err="1"/>
              <a:t>so.Dot</a:t>
            </a:r>
            <a:r>
              <a:rPr lang="en-US" dirty="0"/>
              <a:t>(</a:t>
            </a:r>
            <a:r>
              <a:rPr lang="en-US" dirty="0" err="1"/>
              <a:t>pointsize</a:t>
            </a:r>
            <a:r>
              <a:rPr lang="en-US" dirty="0"/>
              <a:t>=10), </a:t>
            </a:r>
            <a:r>
              <a:rPr lang="en-US" dirty="0" err="1"/>
              <a:t>so.Agg</a:t>
            </a:r>
            <a:r>
              <a:rPr lang="en-US" dirty="0"/>
              <a:t>())).show()</a:t>
            </a:r>
          </a:p>
        </p:txBody>
      </p:sp>
      <p:sp>
        <p:nvSpPr>
          <p:cNvPr id="4" name="Slide Number Placeholder 3">
            <a:extLst>
              <a:ext uri="{FF2B5EF4-FFF2-40B4-BE49-F238E27FC236}">
                <a16:creationId xmlns:a16="http://schemas.microsoft.com/office/drawing/2014/main" id="{7F07CEA5-DC65-47A9-B3AD-4265D3E5EA6B}"/>
              </a:ext>
            </a:extLst>
          </p:cNvPr>
          <p:cNvSpPr>
            <a:spLocks noGrp="1"/>
          </p:cNvSpPr>
          <p:nvPr>
            <p:ph type="sldNum" sz="quarter" idx="12"/>
          </p:nvPr>
        </p:nvSpPr>
        <p:spPr/>
        <p:txBody>
          <a:bodyPr/>
          <a:lstStyle/>
          <a:p>
            <a:fld id="{6B97D948-30E8-43F7-AE10-F6E2D9F2BBB1}" type="slidenum">
              <a:rPr lang="en-US" smtClean="0"/>
              <a:t>299</a:t>
            </a:fld>
            <a:endParaRPr lang="en-US"/>
          </a:p>
        </p:txBody>
      </p:sp>
      <p:pic>
        <p:nvPicPr>
          <p:cNvPr id="6" name="Picture 5">
            <a:extLst>
              <a:ext uri="{FF2B5EF4-FFF2-40B4-BE49-F238E27FC236}">
                <a16:creationId xmlns:a16="http://schemas.microsoft.com/office/drawing/2014/main" id="{FDC4F128-CC5A-4ED2-B5D0-B02955189E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914" y="1923981"/>
            <a:ext cx="5852172" cy="4389129"/>
          </a:xfrm>
          <a:prstGeom prst="rect">
            <a:avLst/>
          </a:prstGeom>
        </p:spPr>
      </p:pic>
    </p:spTree>
    <p:extLst>
      <p:ext uri="{BB962C8B-B14F-4D97-AF65-F5344CB8AC3E}">
        <p14:creationId xmlns:p14="http://schemas.microsoft.com/office/powerpoint/2010/main" val="145993749"/>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78168C-737A-4947-9F9E-34FE22E16F65}"/>
              </a:ext>
            </a:extLst>
          </p:cNvPr>
          <p:cNvSpPr>
            <a:spLocks noGrp="1"/>
          </p:cNvSpPr>
          <p:nvPr>
            <p:ph idx="1"/>
          </p:nvPr>
        </p:nvSpPr>
        <p:spPr>
          <a:xfrm>
            <a:off x="838200" y="449705"/>
            <a:ext cx="10515600" cy="1424065"/>
          </a:xfrm>
        </p:spPr>
        <p:txBody>
          <a:bodyPr/>
          <a:lstStyle/>
          <a:p>
            <a:pPr algn="just"/>
            <a:r>
              <a:rPr lang="en-US" dirty="0"/>
              <a:t>For numeric data, we can have a histogram.</a:t>
            </a:r>
          </a:p>
          <a:p>
            <a:r>
              <a:rPr lang="en-US" dirty="0">
                <a:solidFill>
                  <a:srgbClr val="FF0000"/>
                </a:solidFill>
              </a:rPr>
              <a:t>(</a:t>
            </a:r>
            <a:r>
              <a:rPr lang="en-US" dirty="0" err="1">
                <a:solidFill>
                  <a:srgbClr val="FF0000"/>
                </a:solidFill>
              </a:rPr>
              <a:t>so.Plot</a:t>
            </a:r>
            <a:r>
              <a:rPr lang="en-US" dirty="0">
                <a:solidFill>
                  <a:srgbClr val="FF0000"/>
                </a:solidFill>
              </a:rPr>
              <a:t>(penguins, x ='</a:t>
            </a:r>
            <a:r>
              <a:rPr lang="en-US" dirty="0" err="1">
                <a:solidFill>
                  <a:srgbClr val="FF0000"/>
                </a:solidFill>
              </a:rPr>
              <a:t>flipper_length_mm</a:t>
            </a:r>
            <a:r>
              <a:rPr lang="en-US" dirty="0">
                <a:solidFill>
                  <a:srgbClr val="FF0000"/>
                </a:solidFill>
              </a:rPr>
              <a:t>').add(</a:t>
            </a:r>
            <a:r>
              <a:rPr lang="en-US" dirty="0" err="1">
                <a:solidFill>
                  <a:srgbClr val="FF0000"/>
                </a:solidFill>
              </a:rPr>
              <a:t>so.Bars</a:t>
            </a:r>
            <a:r>
              <a:rPr lang="en-US" dirty="0">
                <a:solidFill>
                  <a:srgbClr val="FF0000"/>
                </a:solidFill>
              </a:rPr>
              <a:t>(), </a:t>
            </a:r>
            <a:r>
              <a:rPr lang="en-US" dirty="0" err="1">
                <a:solidFill>
                  <a:srgbClr val="FF0000"/>
                </a:solidFill>
              </a:rPr>
              <a:t>so.Hist</a:t>
            </a:r>
            <a:r>
              <a:rPr lang="en-US" dirty="0">
                <a:solidFill>
                  <a:srgbClr val="FF0000"/>
                </a:solidFill>
              </a:rPr>
              <a:t>())).show()</a:t>
            </a:r>
          </a:p>
        </p:txBody>
      </p:sp>
      <p:sp>
        <p:nvSpPr>
          <p:cNvPr id="4" name="Slide Number Placeholder 3">
            <a:extLst>
              <a:ext uri="{FF2B5EF4-FFF2-40B4-BE49-F238E27FC236}">
                <a16:creationId xmlns:a16="http://schemas.microsoft.com/office/drawing/2014/main" id="{47B688A3-A817-458D-A663-147C3A46056E}"/>
              </a:ext>
            </a:extLst>
          </p:cNvPr>
          <p:cNvSpPr>
            <a:spLocks noGrp="1"/>
          </p:cNvSpPr>
          <p:nvPr>
            <p:ph type="sldNum" sz="quarter" idx="12"/>
          </p:nvPr>
        </p:nvSpPr>
        <p:spPr/>
        <p:txBody>
          <a:bodyPr/>
          <a:lstStyle/>
          <a:p>
            <a:fld id="{6B97D948-30E8-43F7-AE10-F6E2D9F2BBB1}" type="slidenum">
              <a:rPr lang="en-US" smtClean="0"/>
              <a:t>300</a:t>
            </a:fld>
            <a:endParaRPr lang="en-US"/>
          </a:p>
        </p:txBody>
      </p:sp>
      <p:pic>
        <p:nvPicPr>
          <p:cNvPr id="6" name="Picture 5">
            <a:extLst>
              <a:ext uri="{FF2B5EF4-FFF2-40B4-BE49-F238E27FC236}">
                <a16:creationId xmlns:a16="http://schemas.microsoft.com/office/drawing/2014/main" id="{CBFA3D2C-BD70-4122-8B7E-9987589A4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914" y="1879008"/>
            <a:ext cx="5852172" cy="4389129"/>
          </a:xfrm>
          <a:prstGeom prst="rect">
            <a:avLst/>
          </a:prstGeom>
        </p:spPr>
      </p:pic>
    </p:spTree>
    <p:extLst>
      <p:ext uri="{BB962C8B-B14F-4D97-AF65-F5344CB8AC3E}">
        <p14:creationId xmlns:p14="http://schemas.microsoft.com/office/powerpoint/2010/main" val="1942470851"/>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69923-3FEC-4440-A4F4-4995256007CE}"/>
              </a:ext>
            </a:extLst>
          </p:cNvPr>
          <p:cNvSpPr>
            <a:spLocks noGrp="1"/>
          </p:cNvSpPr>
          <p:nvPr>
            <p:ph type="title"/>
          </p:nvPr>
        </p:nvSpPr>
        <p:spPr>
          <a:xfrm>
            <a:off x="838200" y="365126"/>
            <a:ext cx="10515600" cy="669196"/>
          </a:xfrm>
        </p:spPr>
        <p:txBody>
          <a:bodyPr>
            <a:normAutofit fontScale="90000"/>
          </a:bodyPr>
          <a:lstStyle/>
          <a:p>
            <a:r>
              <a:rPr lang="en-US" dirty="0"/>
              <a:t>Adding Multiple Layers</a:t>
            </a:r>
          </a:p>
        </p:txBody>
      </p:sp>
      <p:sp>
        <p:nvSpPr>
          <p:cNvPr id="3" name="Content Placeholder 2">
            <a:extLst>
              <a:ext uri="{FF2B5EF4-FFF2-40B4-BE49-F238E27FC236}">
                <a16:creationId xmlns:a16="http://schemas.microsoft.com/office/drawing/2014/main" id="{0EEEE7AF-E411-416E-B9A8-BF38A378DB3F}"/>
              </a:ext>
            </a:extLst>
          </p:cNvPr>
          <p:cNvSpPr>
            <a:spLocks noGrp="1"/>
          </p:cNvSpPr>
          <p:nvPr>
            <p:ph idx="1"/>
          </p:nvPr>
        </p:nvSpPr>
        <p:spPr>
          <a:xfrm>
            <a:off x="838200" y="1034322"/>
            <a:ext cx="10515600" cy="5142641"/>
          </a:xfrm>
        </p:spPr>
        <p:txBody>
          <a:bodyPr/>
          <a:lstStyle/>
          <a:p>
            <a:pPr algn="just"/>
            <a:r>
              <a:rPr lang="en-US" dirty="0"/>
              <a:t>More complex single-subplot graphics can be created by calling </a:t>
            </a:r>
            <a:r>
              <a:rPr lang="en-US" dirty="0" err="1"/>
              <a:t>Plot.add</a:t>
            </a:r>
            <a:r>
              <a:rPr lang="en-US" dirty="0"/>
              <a:t>() repeatedly. </a:t>
            </a:r>
          </a:p>
          <a:p>
            <a:pPr algn="just"/>
            <a:r>
              <a:rPr lang="en-US" dirty="0"/>
              <a:t>Each time it is called, it defines a layer in the plot. </a:t>
            </a:r>
          </a:p>
          <a:p>
            <a:pPr algn="just"/>
            <a:r>
              <a:rPr lang="en-US" dirty="0"/>
              <a:t>For example, we may want to add a scatterplot (now using Dots) and then a regression fit:</a:t>
            </a:r>
          </a:p>
          <a:p>
            <a:pPr algn="just"/>
            <a:r>
              <a:rPr lang="en-US" dirty="0"/>
              <a:t> </a:t>
            </a:r>
            <a:r>
              <a:rPr lang="en-US" dirty="0">
                <a:solidFill>
                  <a:srgbClr val="FF0000"/>
                </a:solidFill>
              </a:rPr>
              <a:t>(</a:t>
            </a:r>
            <a:r>
              <a:rPr lang="en-US" dirty="0" err="1">
                <a:solidFill>
                  <a:srgbClr val="FF0000"/>
                </a:solidFill>
              </a:rPr>
              <a:t>so.Plot</a:t>
            </a:r>
            <a:r>
              <a:rPr lang="en-US" dirty="0">
                <a:solidFill>
                  <a:srgbClr val="FF0000"/>
                </a:solidFill>
              </a:rPr>
              <a:t>(tips, x = '</a:t>
            </a:r>
            <a:r>
              <a:rPr lang="en-US" dirty="0" err="1">
                <a:solidFill>
                  <a:srgbClr val="FF0000"/>
                </a:solidFill>
              </a:rPr>
              <a:t>total_bill</a:t>
            </a:r>
            <a:r>
              <a:rPr lang="en-US" dirty="0">
                <a:solidFill>
                  <a:srgbClr val="FF0000"/>
                </a:solidFill>
              </a:rPr>
              <a:t>', y = 'tip').add(</a:t>
            </a:r>
            <a:r>
              <a:rPr lang="en-US" dirty="0" err="1">
                <a:solidFill>
                  <a:srgbClr val="FF0000"/>
                </a:solidFill>
              </a:rPr>
              <a:t>so.Dots</a:t>
            </a:r>
            <a:r>
              <a:rPr lang="en-US" dirty="0">
                <a:solidFill>
                  <a:srgbClr val="FF0000"/>
                </a:solidFill>
              </a:rPr>
              <a:t>()).add(</a:t>
            </a:r>
            <a:r>
              <a:rPr lang="en-US" dirty="0" err="1">
                <a:solidFill>
                  <a:srgbClr val="FF0000"/>
                </a:solidFill>
              </a:rPr>
              <a:t>so.Line</a:t>
            </a:r>
            <a:r>
              <a:rPr lang="en-US" dirty="0">
                <a:solidFill>
                  <a:srgbClr val="FF0000"/>
                </a:solidFill>
              </a:rPr>
              <a:t>(), </a:t>
            </a:r>
            <a:r>
              <a:rPr lang="en-US" dirty="0" err="1">
                <a:solidFill>
                  <a:srgbClr val="FF0000"/>
                </a:solidFill>
              </a:rPr>
              <a:t>so.PolyFit</a:t>
            </a:r>
            <a:r>
              <a:rPr lang="en-US" dirty="0">
                <a:solidFill>
                  <a:srgbClr val="FF0000"/>
                </a:solidFill>
              </a:rPr>
              <a:t>())).show()</a:t>
            </a:r>
          </a:p>
        </p:txBody>
      </p:sp>
      <p:sp>
        <p:nvSpPr>
          <p:cNvPr id="4" name="Slide Number Placeholder 3">
            <a:extLst>
              <a:ext uri="{FF2B5EF4-FFF2-40B4-BE49-F238E27FC236}">
                <a16:creationId xmlns:a16="http://schemas.microsoft.com/office/drawing/2014/main" id="{9C9D0990-F3B5-460B-B191-7E4218402C24}"/>
              </a:ext>
            </a:extLst>
          </p:cNvPr>
          <p:cNvSpPr>
            <a:spLocks noGrp="1"/>
          </p:cNvSpPr>
          <p:nvPr>
            <p:ph type="sldNum" sz="quarter" idx="12"/>
          </p:nvPr>
        </p:nvSpPr>
        <p:spPr/>
        <p:txBody>
          <a:bodyPr/>
          <a:lstStyle/>
          <a:p>
            <a:fld id="{6B97D948-30E8-43F7-AE10-F6E2D9F2BBB1}" type="slidenum">
              <a:rPr lang="en-US" smtClean="0"/>
              <a:t>301</a:t>
            </a:fld>
            <a:endParaRPr lang="en-US"/>
          </a:p>
        </p:txBody>
      </p:sp>
    </p:spTree>
    <p:extLst>
      <p:ext uri="{BB962C8B-B14F-4D97-AF65-F5344CB8AC3E}">
        <p14:creationId xmlns:p14="http://schemas.microsoft.com/office/powerpoint/2010/main" val="3715535177"/>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31F67CA-0532-4B57-BD13-3C1BFBF8CA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9075" y="486100"/>
            <a:ext cx="7587817" cy="5690863"/>
          </a:xfrm>
        </p:spPr>
      </p:pic>
      <p:sp>
        <p:nvSpPr>
          <p:cNvPr id="4" name="Slide Number Placeholder 3">
            <a:extLst>
              <a:ext uri="{FF2B5EF4-FFF2-40B4-BE49-F238E27FC236}">
                <a16:creationId xmlns:a16="http://schemas.microsoft.com/office/drawing/2014/main" id="{3837FF37-DE65-420A-BEA3-7E6907D9F161}"/>
              </a:ext>
            </a:extLst>
          </p:cNvPr>
          <p:cNvSpPr>
            <a:spLocks noGrp="1"/>
          </p:cNvSpPr>
          <p:nvPr>
            <p:ph type="sldNum" sz="quarter" idx="12"/>
          </p:nvPr>
        </p:nvSpPr>
        <p:spPr/>
        <p:txBody>
          <a:bodyPr/>
          <a:lstStyle/>
          <a:p>
            <a:fld id="{6B97D948-30E8-43F7-AE10-F6E2D9F2BBB1}" type="slidenum">
              <a:rPr lang="en-US" smtClean="0"/>
              <a:t>302</a:t>
            </a:fld>
            <a:endParaRPr lang="en-US"/>
          </a:p>
        </p:txBody>
      </p:sp>
    </p:spTree>
    <p:extLst>
      <p:ext uri="{BB962C8B-B14F-4D97-AF65-F5344CB8AC3E}">
        <p14:creationId xmlns:p14="http://schemas.microsoft.com/office/powerpoint/2010/main" val="609081632"/>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075302-9312-4B1D-A562-CB200C1D0679}"/>
              </a:ext>
            </a:extLst>
          </p:cNvPr>
          <p:cNvSpPr>
            <a:spLocks noGrp="1"/>
          </p:cNvSpPr>
          <p:nvPr>
            <p:ph idx="1"/>
          </p:nvPr>
        </p:nvSpPr>
        <p:spPr>
          <a:xfrm>
            <a:off x="838200" y="434715"/>
            <a:ext cx="10515600" cy="5921635"/>
          </a:xfrm>
        </p:spPr>
        <p:txBody>
          <a:bodyPr>
            <a:normAutofit/>
          </a:bodyPr>
          <a:lstStyle/>
          <a:p>
            <a:r>
              <a:rPr lang="en-US" dirty="0"/>
              <a:t>Variable mappings that are defined in the Plot() constructor will be used for all layers.</a:t>
            </a:r>
          </a:p>
          <a:p>
            <a:r>
              <a:rPr lang="en-US" dirty="0"/>
              <a:t>(</a:t>
            </a:r>
          </a:p>
          <a:p>
            <a:r>
              <a:rPr lang="en-US" dirty="0"/>
              <a:t>     ...:     </a:t>
            </a:r>
            <a:r>
              <a:rPr lang="en-US" dirty="0" err="1"/>
              <a:t>so.Plot</a:t>
            </a:r>
            <a:r>
              <a:rPr lang="en-US" dirty="0"/>
              <a:t>(tips, x = '</a:t>
            </a:r>
            <a:r>
              <a:rPr lang="en-US" dirty="0" err="1"/>
              <a:t>total_bill</a:t>
            </a:r>
            <a:r>
              <a:rPr lang="en-US" dirty="0"/>
              <a:t>', y = 'tip', color = 'time')</a:t>
            </a:r>
          </a:p>
          <a:p>
            <a:r>
              <a:rPr lang="en-US" dirty="0"/>
              <a:t>     ...:     .add(</a:t>
            </a:r>
            <a:r>
              <a:rPr lang="en-US" dirty="0" err="1"/>
              <a:t>so.Dots</a:t>
            </a:r>
            <a:r>
              <a:rPr lang="en-US" dirty="0"/>
              <a:t>())</a:t>
            </a:r>
          </a:p>
          <a:p>
            <a:r>
              <a:rPr lang="en-US" dirty="0"/>
              <a:t>     ...:     .add(</a:t>
            </a:r>
            <a:r>
              <a:rPr lang="en-US" dirty="0" err="1"/>
              <a:t>so.Line</a:t>
            </a:r>
            <a:r>
              <a:rPr lang="en-US" dirty="0"/>
              <a:t>(), </a:t>
            </a:r>
            <a:r>
              <a:rPr lang="en-US" dirty="0" err="1"/>
              <a:t>so.PolyFit</a:t>
            </a:r>
            <a:r>
              <a:rPr lang="en-US" dirty="0"/>
              <a:t>())</a:t>
            </a:r>
          </a:p>
          <a:p>
            <a:r>
              <a:rPr lang="en-US" dirty="0"/>
              <a:t>     ...: ).show()</a:t>
            </a:r>
          </a:p>
          <a:p>
            <a:endParaRPr lang="en-US" dirty="0"/>
          </a:p>
        </p:txBody>
      </p:sp>
      <p:sp>
        <p:nvSpPr>
          <p:cNvPr id="4" name="Slide Number Placeholder 3">
            <a:extLst>
              <a:ext uri="{FF2B5EF4-FFF2-40B4-BE49-F238E27FC236}">
                <a16:creationId xmlns:a16="http://schemas.microsoft.com/office/drawing/2014/main" id="{57F6D1AD-FE75-4E1F-BAE0-90F1968D640D}"/>
              </a:ext>
            </a:extLst>
          </p:cNvPr>
          <p:cNvSpPr>
            <a:spLocks noGrp="1"/>
          </p:cNvSpPr>
          <p:nvPr>
            <p:ph type="sldNum" sz="quarter" idx="12"/>
          </p:nvPr>
        </p:nvSpPr>
        <p:spPr/>
        <p:txBody>
          <a:bodyPr/>
          <a:lstStyle/>
          <a:p>
            <a:fld id="{6B97D948-30E8-43F7-AE10-F6E2D9F2BBB1}" type="slidenum">
              <a:rPr lang="en-US" smtClean="0"/>
              <a:t>303</a:t>
            </a:fld>
            <a:endParaRPr lang="en-US"/>
          </a:p>
        </p:txBody>
      </p:sp>
    </p:spTree>
    <p:extLst>
      <p:ext uri="{BB962C8B-B14F-4D97-AF65-F5344CB8AC3E}">
        <p14:creationId xmlns:p14="http://schemas.microsoft.com/office/powerpoint/2010/main" val="4263875102"/>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20BF3-441B-49DE-BCFC-14EEB58A5E6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0DDFFAD-A78C-40E8-B19C-2B1AED2BAA7F}"/>
              </a:ext>
            </a:extLst>
          </p:cNvPr>
          <p:cNvPicPr>
            <a:picLocks noGrp="1" noChangeAspect="1"/>
          </p:cNvPicPr>
          <p:nvPr>
            <p:ph idx="1"/>
          </p:nvPr>
        </p:nvPicPr>
        <p:blipFill>
          <a:blip r:embed="rId2"/>
          <a:stretch>
            <a:fillRect/>
          </a:stretch>
        </p:blipFill>
        <p:spPr>
          <a:xfrm>
            <a:off x="3195108" y="1825625"/>
            <a:ext cx="5801784" cy="4351338"/>
          </a:xfrm>
          <a:prstGeom prst="rect">
            <a:avLst/>
          </a:prstGeom>
        </p:spPr>
      </p:pic>
      <p:sp>
        <p:nvSpPr>
          <p:cNvPr id="4" name="Slide Number Placeholder 3">
            <a:extLst>
              <a:ext uri="{FF2B5EF4-FFF2-40B4-BE49-F238E27FC236}">
                <a16:creationId xmlns:a16="http://schemas.microsoft.com/office/drawing/2014/main" id="{61269672-88F8-49E3-BCB3-0127A6D35838}"/>
              </a:ext>
            </a:extLst>
          </p:cNvPr>
          <p:cNvSpPr>
            <a:spLocks noGrp="1"/>
          </p:cNvSpPr>
          <p:nvPr>
            <p:ph type="sldNum" sz="quarter" idx="12"/>
          </p:nvPr>
        </p:nvSpPr>
        <p:spPr/>
        <p:txBody>
          <a:bodyPr/>
          <a:lstStyle/>
          <a:p>
            <a:fld id="{6B97D948-30E8-43F7-AE10-F6E2D9F2BBB1}" type="slidenum">
              <a:rPr lang="en-US" smtClean="0"/>
              <a:t>304</a:t>
            </a:fld>
            <a:endParaRPr lang="en-US"/>
          </a:p>
        </p:txBody>
      </p:sp>
    </p:spTree>
    <p:extLst>
      <p:ext uri="{BB962C8B-B14F-4D97-AF65-F5344CB8AC3E}">
        <p14:creationId xmlns:p14="http://schemas.microsoft.com/office/powerpoint/2010/main" val="1319089445"/>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9B8DD1-0F68-444F-BCF2-05B8663823D3}"/>
              </a:ext>
            </a:extLst>
          </p:cNvPr>
          <p:cNvSpPr>
            <a:spLocks noGrp="1"/>
          </p:cNvSpPr>
          <p:nvPr>
            <p:ph idx="1"/>
          </p:nvPr>
        </p:nvSpPr>
        <p:spPr>
          <a:xfrm>
            <a:off x="838200" y="509666"/>
            <a:ext cx="10515600" cy="5667297"/>
          </a:xfrm>
        </p:spPr>
        <p:txBody>
          <a:bodyPr/>
          <a:lstStyle/>
          <a:p>
            <a:r>
              <a:rPr lang="en-US" dirty="0"/>
              <a:t>(</a:t>
            </a:r>
          </a:p>
          <a:p>
            <a:r>
              <a:rPr lang="en-US" dirty="0"/>
              <a:t> </a:t>
            </a:r>
            <a:r>
              <a:rPr lang="en-US" dirty="0" err="1"/>
              <a:t>so.Plot</a:t>
            </a:r>
            <a:r>
              <a:rPr lang="en-US" dirty="0"/>
              <a:t>(</a:t>
            </a:r>
            <a:r>
              <a:rPr lang="en-US" dirty="0" err="1"/>
              <a:t>healthexp</a:t>
            </a:r>
            <a:r>
              <a:rPr lang="en-US" dirty="0"/>
              <a:t>, x="Year", y="</a:t>
            </a:r>
            <a:r>
              <a:rPr lang="en-US" dirty="0" err="1"/>
              <a:t>Life_Expectancy</a:t>
            </a:r>
            <a:r>
              <a:rPr lang="en-US" dirty="0"/>
              <a:t>")</a:t>
            </a:r>
          </a:p>
          <a:p>
            <a:r>
              <a:rPr lang="en-US" dirty="0"/>
              <a:t> facet("Country", wrap = 3)</a:t>
            </a:r>
          </a:p>
          <a:p>
            <a:r>
              <a:rPr lang="en-US" dirty="0"/>
              <a:t> .add(</a:t>
            </a:r>
            <a:r>
              <a:rPr lang="en-US" dirty="0" err="1"/>
              <a:t>so.Line</a:t>
            </a:r>
            <a:r>
              <a:rPr lang="en-US" dirty="0"/>
              <a:t>(alpha=0.3), group="Country", col=None)</a:t>
            </a:r>
          </a:p>
          <a:p>
            <a:r>
              <a:rPr lang="en-US" dirty="0"/>
              <a:t> .add(</a:t>
            </a:r>
            <a:r>
              <a:rPr lang="en-US" dirty="0" err="1"/>
              <a:t>so.Line</a:t>
            </a:r>
            <a:r>
              <a:rPr lang="en-US" dirty="0"/>
              <a:t>(linewidth=3))</a:t>
            </a:r>
          </a:p>
          <a:p>
            <a:r>
              <a:rPr lang="en-US" dirty="0"/>
              <a:t> ).show()</a:t>
            </a:r>
          </a:p>
        </p:txBody>
      </p:sp>
      <p:sp>
        <p:nvSpPr>
          <p:cNvPr id="4" name="Slide Number Placeholder 3">
            <a:extLst>
              <a:ext uri="{FF2B5EF4-FFF2-40B4-BE49-F238E27FC236}">
                <a16:creationId xmlns:a16="http://schemas.microsoft.com/office/drawing/2014/main" id="{2E28435D-34D3-48D1-8174-4F16DF0FB8EF}"/>
              </a:ext>
            </a:extLst>
          </p:cNvPr>
          <p:cNvSpPr>
            <a:spLocks noGrp="1"/>
          </p:cNvSpPr>
          <p:nvPr>
            <p:ph type="sldNum" sz="quarter" idx="12"/>
          </p:nvPr>
        </p:nvSpPr>
        <p:spPr/>
        <p:txBody>
          <a:bodyPr/>
          <a:lstStyle/>
          <a:p>
            <a:fld id="{6B97D948-30E8-43F7-AE10-F6E2D9F2BBB1}" type="slidenum">
              <a:rPr lang="en-US" smtClean="0"/>
              <a:t>305</a:t>
            </a:fld>
            <a:endParaRPr lang="en-US"/>
          </a:p>
        </p:txBody>
      </p:sp>
    </p:spTree>
    <p:extLst>
      <p:ext uri="{BB962C8B-B14F-4D97-AF65-F5344CB8AC3E}">
        <p14:creationId xmlns:p14="http://schemas.microsoft.com/office/powerpoint/2010/main" val="2237991131"/>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416CE61-D47F-45A3-978E-80B9FAF4AF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3908" y="677225"/>
            <a:ext cx="7332984" cy="5499738"/>
          </a:xfrm>
        </p:spPr>
      </p:pic>
      <p:sp>
        <p:nvSpPr>
          <p:cNvPr id="4" name="Slide Number Placeholder 3">
            <a:extLst>
              <a:ext uri="{FF2B5EF4-FFF2-40B4-BE49-F238E27FC236}">
                <a16:creationId xmlns:a16="http://schemas.microsoft.com/office/drawing/2014/main" id="{072191EA-59B2-4403-9281-F1A29B5E5D31}"/>
              </a:ext>
            </a:extLst>
          </p:cNvPr>
          <p:cNvSpPr>
            <a:spLocks noGrp="1"/>
          </p:cNvSpPr>
          <p:nvPr>
            <p:ph type="sldNum" sz="quarter" idx="12"/>
          </p:nvPr>
        </p:nvSpPr>
        <p:spPr/>
        <p:txBody>
          <a:bodyPr/>
          <a:lstStyle/>
          <a:p>
            <a:fld id="{6B97D948-30E8-43F7-AE10-F6E2D9F2BBB1}" type="slidenum">
              <a:rPr lang="en-US" smtClean="0"/>
              <a:t>306</a:t>
            </a:fld>
            <a:endParaRPr lang="en-US"/>
          </a:p>
        </p:txBody>
      </p:sp>
    </p:spTree>
    <p:extLst>
      <p:ext uri="{BB962C8B-B14F-4D97-AF65-F5344CB8AC3E}">
        <p14:creationId xmlns:p14="http://schemas.microsoft.com/office/powerpoint/2010/main" val="4280306227"/>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37339-042E-406E-8F81-BACCCC11EE64}"/>
              </a:ext>
            </a:extLst>
          </p:cNvPr>
          <p:cNvSpPr>
            <a:spLocks noGrp="1"/>
          </p:cNvSpPr>
          <p:nvPr>
            <p:ph type="title"/>
          </p:nvPr>
        </p:nvSpPr>
        <p:spPr/>
        <p:txBody>
          <a:bodyPr/>
          <a:lstStyle/>
          <a:p>
            <a:r>
              <a:rPr lang="en-US" dirty="0"/>
              <a:t>Package information</a:t>
            </a:r>
          </a:p>
        </p:txBody>
      </p:sp>
      <p:sp>
        <p:nvSpPr>
          <p:cNvPr id="3" name="Content Placeholder 2">
            <a:extLst>
              <a:ext uri="{FF2B5EF4-FFF2-40B4-BE49-F238E27FC236}">
                <a16:creationId xmlns:a16="http://schemas.microsoft.com/office/drawing/2014/main" id="{32EF3DD3-C755-4DD2-923B-F63085711662}"/>
              </a:ext>
            </a:extLst>
          </p:cNvPr>
          <p:cNvSpPr>
            <a:spLocks noGrp="1"/>
          </p:cNvSpPr>
          <p:nvPr>
            <p:ph idx="1"/>
          </p:nvPr>
        </p:nvSpPr>
        <p:spPr/>
        <p:txBody>
          <a:bodyPr/>
          <a:lstStyle/>
          <a:p>
            <a:r>
              <a:rPr lang="en-US" dirty="0"/>
              <a:t>https://seaborn.pydata.org/tutorial/introduction.html</a:t>
            </a:r>
          </a:p>
        </p:txBody>
      </p:sp>
      <p:sp>
        <p:nvSpPr>
          <p:cNvPr id="4" name="Slide Number Placeholder 3">
            <a:extLst>
              <a:ext uri="{FF2B5EF4-FFF2-40B4-BE49-F238E27FC236}">
                <a16:creationId xmlns:a16="http://schemas.microsoft.com/office/drawing/2014/main" id="{8C071531-259F-456E-A5CA-42F73E5AC2D3}"/>
              </a:ext>
            </a:extLst>
          </p:cNvPr>
          <p:cNvSpPr>
            <a:spLocks noGrp="1"/>
          </p:cNvSpPr>
          <p:nvPr>
            <p:ph type="sldNum" sz="quarter" idx="12"/>
          </p:nvPr>
        </p:nvSpPr>
        <p:spPr/>
        <p:txBody>
          <a:bodyPr/>
          <a:lstStyle/>
          <a:p>
            <a:fld id="{6B97D948-30E8-43F7-AE10-F6E2D9F2BBB1}" type="slidenum">
              <a:rPr lang="en-US" smtClean="0"/>
              <a:t>307</a:t>
            </a:fld>
            <a:endParaRPr lang="en-US"/>
          </a:p>
        </p:txBody>
      </p:sp>
    </p:spTree>
    <p:extLst>
      <p:ext uri="{BB962C8B-B14F-4D97-AF65-F5344CB8AC3E}">
        <p14:creationId xmlns:p14="http://schemas.microsoft.com/office/powerpoint/2010/main" val="2954545712"/>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C6F0E-0A9E-40A2-8CC8-1DCF6D7C015E}"/>
              </a:ext>
            </a:extLst>
          </p:cNvPr>
          <p:cNvSpPr>
            <a:spLocks noGrp="1"/>
          </p:cNvSpPr>
          <p:nvPr>
            <p:ph type="title"/>
          </p:nvPr>
        </p:nvSpPr>
        <p:spPr>
          <a:xfrm>
            <a:off x="838200" y="365126"/>
            <a:ext cx="10515600" cy="789118"/>
          </a:xfrm>
        </p:spPr>
        <p:txBody>
          <a:bodyPr/>
          <a:lstStyle/>
          <a:p>
            <a:r>
              <a:rPr lang="en-US" dirty="0"/>
              <a:t>Data Value Problems</a:t>
            </a:r>
          </a:p>
        </p:txBody>
      </p:sp>
      <p:sp>
        <p:nvSpPr>
          <p:cNvPr id="3" name="Content Placeholder 2">
            <a:extLst>
              <a:ext uri="{FF2B5EF4-FFF2-40B4-BE49-F238E27FC236}">
                <a16:creationId xmlns:a16="http://schemas.microsoft.com/office/drawing/2014/main" id="{807CB12C-7EC8-4D0C-9342-42F397C6433F}"/>
              </a:ext>
            </a:extLst>
          </p:cNvPr>
          <p:cNvSpPr>
            <a:spLocks noGrp="1"/>
          </p:cNvSpPr>
          <p:nvPr>
            <p:ph idx="1"/>
          </p:nvPr>
        </p:nvSpPr>
        <p:spPr>
          <a:xfrm>
            <a:off x="838200" y="1154244"/>
            <a:ext cx="10515600" cy="5022719"/>
          </a:xfrm>
        </p:spPr>
        <p:txBody>
          <a:bodyPr/>
          <a:lstStyle/>
          <a:p>
            <a:pPr algn="just"/>
            <a:r>
              <a:rPr lang="en-US" dirty="0"/>
              <a:t>Data can be dirty and unsuitable to be fed to models.</a:t>
            </a:r>
          </a:p>
          <a:p>
            <a:pPr algn="just"/>
            <a:r>
              <a:rPr lang="en-US" dirty="0"/>
              <a:t>Now let’s turn to what we can do once we’ve found a problem in our data.</a:t>
            </a:r>
          </a:p>
          <a:p>
            <a:endParaRPr lang="en-US" dirty="0"/>
          </a:p>
          <a:p>
            <a:pPr algn="just"/>
            <a:r>
              <a:rPr lang="en-US" dirty="0"/>
              <a:t>In pandas, there are, broadly, two ways to deal with these problems:</a:t>
            </a:r>
          </a:p>
          <a:p>
            <a:endParaRPr lang="en-US" dirty="0"/>
          </a:p>
          <a:p>
            <a:r>
              <a:rPr lang="en-US" dirty="0"/>
              <a:t>    using a general cleaning function, or</a:t>
            </a:r>
          </a:p>
          <a:p>
            <a:endParaRPr lang="en-US" dirty="0"/>
          </a:p>
          <a:p>
            <a:r>
              <a:rPr lang="en-US" dirty="0"/>
              <a:t>    directly modifying problematic values.</a:t>
            </a:r>
          </a:p>
          <a:p>
            <a:endParaRPr lang="en-US" dirty="0"/>
          </a:p>
        </p:txBody>
      </p:sp>
      <p:sp>
        <p:nvSpPr>
          <p:cNvPr id="4" name="Slide Number Placeholder 3">
            <a:extLst>
              <a:ext uri="{FF2B5EF4-FFF2-40B4-BE49-F238E27FC236}">
                <a16:creationId xmlns:a16="http://schemas.microsoft.com/office/drawing/2014/main" id="{6E0A2799-A519-4E3C-99A2-3F9F2AEE2285}"/>
              </a:ext>
            </a:extLst>
          </p:cNvPr>
          <p:cNvSpPr>
            <a:spLocks noGrp="1"/>
          </p:cNvSpPr>
          <p:nvPr>
            <p:ph type="sldNum" sz="quarter" idx="12"/>
          </p:nvPr>
        </p:nvSpPr>
        <p:spPr/>
        <p:txBody>
          <a:bodyPr/>
          <a:lstStyle/>
          <a:p>
            <a:fld id="{6B97D948-30E8-43F7-AE10-F6E2D9F2BBB1}" type="slidenum">
              <a:rPr lang="en-US" smtClean="0"/>
              <a:t>308</a:t>
            </a:fld>
            <a:endParaRPr lang="en-US"/>
          </a:p>
        </p:txBody>
      </p:sp>
    </p:spTree>
    <p:extLst>
      <p:ext uri="{BB962C8B-B14F-4D97-AF65-F5344CB8AC3E}">
        <p14:creationId xmlns:p14="http://schemas.microsoft.com/office/powerpoint/2010/main" val="1877684002"/>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AA6E34-9747-46F1-9448-6419B6EF2EE8}"/>
              </a:ext>
            </a:extLst>
          </p:cNvPr>
          <p:cNvSpPr>
            <a:spLocks noGrp="1"/>
          </p:cNvSpPr>
          <p:nvPr>
            <p:ph idx="1"/>
          </p:nvPr>
        </p:nvSpPr>
        <p:spPr>
          <a:xfrm>
            <a:off x="838200" y="449705"/>
            <a:ext cx="10515600" cy="5727258"/>
          </a:xfrm>
        </p:spPr>
        <p:txBody>
          <a:bodyPr/>
          <a:lstStyle/>
          <a:p>
            <a:pPr algn="just"/>
            <a:r>
              <a:rPr lang="en-US" dirty="0"/>
              <a:t>Let’s use the </a:t>
            </a:r>
            <a:r>
              <a:rPr lang="en-US" dirty="0">
                <a:solidFill>
                  <a:srgbClr val="FF0000"/>
                </a:solidFill>
              </a:rPr>
              <a:t>world-very-small.csv </a:t>
            </a:r>
            <a:r>
              <a:rPr lang="en-US" dirty="0"/>
              <a:t>dataset. </a:t>
            </a:r>
          </a:p>
          <a:p>
            <a:pPr algn="just"/>
            <a:r>
              <a:rPr lang="en-US" dirty="0"/>
              <a:t>We are going to use </a:t>
            </a:r>
            <a:r>
              <a:rPr lang="en-US" dirty="0">
                <a:solidFill>
                  <a:srgbClr val="FF0000"/>
                </a:solidFill>
              </a:rPr>
              <a:t>.replace() </a:t>
            </a:r>
            <a:r>
              <a:rPr lang="en-US" dirty="0"/>
              <a:t>to fix “bad” values in our data.</a:t>
            </a:r>
          </a:p>
          <a:p>
            <a:pPr algn="just"/>
            <a:r>
              <a:rPr lang="en-US" dirty="0"/>
              <a:t>As the name suggests, replace finds specific values in a Series and replaces them with other values. </a:t>
            </a:r>
          </a:p>
          <a:p>
            <a:pPr algn="just"/>
            <a:r>
              <a:rPr lang="en-US" dirty="0"/>
              <a:t>For example, let’s begin with this little dataset of with countries, their regions, GDP per capita, and Polity IV scores (a measure of how close countries are to being liberal democracies).</a:t>
            </a:r>
          </a:p>
          <a:p>
            <a:pPr algn="just"/>
            <a:endParaRPr lang="en-US" dirty="0"/>
          </a:p>
        </p:txBody>
      </p:sp>
      <p:sp>
        <p:nvSpPr>
          <p:cNvPr id="4" name="Slide Number Placeholder 3">
            <a:extLst>
              <a:ext uri="{FF2B5EF4-FFF2-40B4-BE49-F238E27FC236}">
                <a16:creationId xmlns:a16="http://schemas.microsoft.com/office/drawing/2014/main" id="{0F65650E-8EAB-419E-BC65-1D03EE239F64}"/>
              </a:ext>
            </a:extLst>
          </p:cNvPr>
          <p:cNvSpPr>
            <a:spLocks noGrp="1"/>
          </p:cNvSpPr>
          <p:nvPr>
            <p:ph type="sldNum" sz="quarter" idx="12"/>
          </p:nvPr>
        </p:nvSpPr>
        <p:spPr/>
        <p:txBody>
          <a:bodyPr/>
          <a:lstStyle/>
          <a:p>
            <a:fld id="{6B97D948-30E8-43F7-AE10-F6E2D9F2BBB1}" type="slidenum">
              <a:rPr lang="en-US" smtClean="0"/>
              <a:t>309</a:t>
            </a:fld>
            <a:endParaRPr lang="en-US"/>
          </a:p>
        </p:txBody>
      </p:sp>
    </p:spTree>
    <p:extLst>
      <p:ext uri="{BB962C8B-B14F-4D97-AF65-F5344CB8AC3E}">
        <p14:creationId xmlns:p14="http://schemas.microsoft.com/office/powerpoint/2010/main" val="3517520328"/>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3C252-F0AF-4299-8EBA-A8BCF7B1E825}"/>
              </a:ext>
            </a:extLst>
          </p:cNvPr>
          <p:cNvSpPr>
            <a:spLocks noGrp="1"/>
          </p:cNvSpPr>
          <p:nvPr>
            <p:ph type="title"/>
          </p:nvPr>
        </p:nvSpPr>
        <p:spPr>
          <a:xfrm>
            <a:off x="838200" y="365125"/>
            <a:ext cx="10515600" cy="879059"/>
          </a:xfrm>
        </p:spPr>
        <p:txBody>
          <a:bodyPr/>
          <a:lstStyle/>
          <a:p>
            <a:r>
              <a:rPr lang="en-US" dirty="0"/>
              <a:t>Code</a:t>
            </a:r>
          </a:p>
        </p:txBody>
      </p:sp>
      <p:sp>
        <p:nvSpPr>
          <p:cNvPr id="3" name="Content Placeholder 2">
            <a:extLst>
              <a:ext uri="{FF2B5EF4-FFF2-40B4-BE49-F238E27FC236}">
                <a16:creationId xmlns:a16="http://schemas.microsoft.com/office/drawing/2014/main" id="{94380D8E-E8E3-43F4-9388-DFC9724F405A}"/>
              </a:ext>
            </a:extLst>
          </p:cNvPr>
          <p:cNvSpPr>
            <a:spLocks noGrp="1"/>
          </p:cNvSpPr>
          <p:nvPr>
            <p:ph idx="1"/>
          </p:nvPr>
        </p:nvSpPr>
        <p:spPr>
          <a:xfrm>
            <a:off x="838200" y="1244184"/>
            <a:ext cx="10515600" cy="4932779"/>
          </a:xfrm>
        </p:spPr>
        <p:txBody>
          <a:bodyPr>
            <a:normAutofit fontScale="92500" lnSpcReduction="10000"/>
          </a:bodyPr>
          <a:lstStyle/>
          <a:p>
            <a:r>
              <a:rPr lang="en-US" dirty="0">
                <a:solidFill>
                  <a:srgbClr val="FF0000"/>
                </a:solidFill>
              </a:rPr>
              <a:t>import pandas as pd</a:t>
            </a:r>
          </a:p>
          <a:p>
            <a:r>
              <a:rPr lang="en-US" dirty="0" err="1">
                <a:solidFill>
                  <a:srgbClr val="FF0000"/>
                </a:solidFill>
              </a:rPr>
              <a:t>smallworld</a:t>
            </a:r>
            <a:r>
              <a:rPr lang="en-US" dirty="0">
                <a:solidFill>
                  <a:srgbClr val="FF0000"/>
                </a:solidFill>
              </a:rPr>
              <a:t> = </a:t>
            </a:r>
            <a:r>
              <a:rPr lang="en-US" dirty="0" err="1">
                <a:solidFill>
                  <a:srgbClr val="FF0000"/>
                </a:solidFill>
              </a:rPr>
              <a:t>pd.read_csv</a:t>
            </a:r>
            <a:r>
              <a:rPr lang="en-US" dirty="0">
                <a:solidFill>
                  <a:srgbClr val="FF0000"/>
                </a:solidFill>
              </a:rPr>
              <a:t>(‘world-very-small.csv’)</a:t>
            </a:r>
          </a:p>
          <a:p>
            <a:r>
              <a:rPr lang="en-US" dirty="0" err="1">
                <a:solidFill>
                  <a:srgbClr val="FF0000"/>
                </a:solidFill>
              </a:rPr>
              <a:t>smallworld</a:t>
            </a:r>
            <a:endParaRPr lang="en-US" dirty="0">
              <a:solidFill>
                <a:srgbClr val="FF0000"/>
              </a:solidFill>
            </a:endParaRPr>
          </a:p>
          <a:p>
            <a:r>
              <a:rPr lang="en-US" dirty="0"/>
              <a:t>Out[69]:</a:t>
            </a:r>
          </a:p>
          <a:p>
            <a:r>
              <a:rPr lang="en-US" dirty="0"/>
              <a:t>      country      region  gdppcap08  </a:t>
            </a:r>
            <a:r>
              <a:rPr lang="en-US" dirty="0" err="1"/>
              <a:t>polityIV</a:t>
            </a:r>
            <a:endParaRPr lang="en-US" dirty="0"/>
          </a:p>
          <a:p>
            <a:r>
              <a:rPr lang="en-US" dirty="0"/>
              <a:t>0      Brazil  S. America      10296        18</a:t>
            </a:r>
          </a:p>
          <a:p>
            <a:r>
              <a:rPr lang="en-US" dirty="0"/>
              <a:t>1     Germany   W. Europe      35613        20</a:t>
            </a:r>
          </a:p>
          <a:p>
            <a:r>
              <a:rPr lang="en-US" dirty="0"/>
              <a:t>2      Mexico  N. America      14495        18</a:t>
            </a:r>
          </a:p>
          <a:p>
            <a:r>
              <a:rPr lang="en-US" dirty="0"/>
              <a:t>3  Mozambique      Africa        855        16</a:t>
            </a:r>
          </a:p>
          <a:p>
            <a:r>
              <a:rPr lang="en-US" dirty="0"/>
              <a:t>4      Russia  C&amp;E Europe      16139        17</a:t>
            </a:r>
          </a:p>
          <a:p>
            <a:r>
              <a:rPr lang="en-US" dirty="0"/>
              <a:t>5     Ukraine  C&amp;E Europe       7271        16</a:t>
            </a:r>
          </a:p>
        </p:txBody>
      </p:sp>
      <p:sp>
        <p:nvSpPr>
          <p:cNvPr id="4" name="Slide Number Placeholder 3">
            <a:extLst>
              <a:ext uri="{FF2B5EF4-FFF2-40B4-BE49-F238E27FC236}">
                <a16:creationId xmlns:a16="http://schemas.microsoft.com/office/drawing/2014/main" id="{80DEC41F-FF4C-4BC4-A5CA-20069F0EED23}"/>
              </a:ext>
            </a:extLst>
          </p:cNvPr>
          <p:cNvSpPr>
            <a:spLocks noGrp="1"/>
          </p:cNvSpPr>
          <p:nvPr>
            <p:ph type="sldNum" sz="quarter" idx="12"/>
          </p:nvPr>
        </p:nvSpPr>
        <p:spPr/>
        <p:txBody>
          <a:bodyPr/>
          <a:lstStyle/>
          <a:p>
            <a:fld id="{6B97D948-30E8-43F7-AE10-F6E2D9F2BBB1}" type="slidenum">
              <a:rPr lang="en-US" smtClean="0"/>
              <a:t>310</a:t>
            </a:fld>
            <a:endParaRPr lang="en-US"/>
          </a:p>
        </p:txBody>
      </p:sp>
    </p:spTree>
    <p:extLst>
      <p:ext uri="{BB962C8B-B14F-4D97-AF65-F5344CB8AC3E}">
        <p14:creationId xmlns:p14="http://schemas.microsoft.com/office/powerpoint/2010/main" val="3790089893"/>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72369D-80EB-4E93-AECA-ED3B432391D6}"/>
              </a:ext>
            </a:extLst>
          </p:cNvPr>
          <p:cNvSpPr>
            <a:spLocks noGrp="1"/>
          </p:cNvSpPr>
          <p:nvPr>
            <p:ph idx="1"/>
          </p:nvPr>
        </p:nvSpPr>
        <p:spPr>
          <a:xfrm>
            <a:off x="838200" y="449705"/>
            <a:ext cx="10515600" cy="5727258"/>
          </a:xfrm>
        </p:spPr>
        <p:txBody>
          <a:bodyPr>
            <a:normAutofit fontScale="92500" lnSpcReduction="20000"/>
          </a:bodyPr>
          <a:lstStyle/>
          <a:p>
            <a:pPr algn="just"/>
            <a:r>
              <a:rPr lang="en-US" dirty="0"/>
              <a:t>Now suppose that we want to change country names from their anglicized names to what their own citizens would call them. </a:t>
            </a:r>
          </a:p>
          <a:p>
            <a:pPr algn="just"/>
            <a:r>
              <a:rPr lang="en-US" dirty="0"/>
              <a:t>Starting by replacing “Germany” with “Deutschland”:</a:t>
            </a:r>
          </a:p>
          <a:p>
            <a:r>
              <a:rPr lang="en-US" dirty="0" err="1">
                <a:solidFill>
                  <a:srgbClr val="FF0000"/>
                </a:solidFill>
              </a:rPr>
              <a:t>smallworld</a:t>
            </a:r>
            <a:r>
              <a:rPr lang="en-US" dirty="0">
                <a:solidFill>
                  <a:srgbClr val="FF0000"/>
                </a:solidFill>
              </a:rPr>
              <a:t>[‘country’] = </a:t>
            </a:r>
            <a:r>
              <a:rPr lang="en-US" dirty="0" err="1">
                <a:solidFill>
                  <a:srgbClr val="FF0000"/>
                </a:solidFill>
              </a:rPr>
              <a:t>smallworld</a:t>
            </a:r>
            <a:r>
              <a:rPr lang="en-US" dirty="0">
                <a:solidFill>
                  <a:srgbClr val="FF0000"/>
                </a:solidFill>
              </a:rPr>
              <a:t>[‘country’].replace(‘Germany’, ‘Deutschland’)</a:t>
            </a:r>
          </a:p>
          <a:p>
            <a:pPr algn="just"/>
            <a:r>
              <a:rPr lang="en-US" dirty="0" err="1">
                <a:solidFill>
                  <a:srgbClr val="FF0000"/>
                </a:solidFill>
              </a:rPr>
              <a:t>smallworld</a:t>
            </a:r>
            <a:endParaRPr lang="en-US" dirty="0">
              <a:solidFill>
                <a:srgbClr val="FF0000"/>
              </a:solidFill>
            </a:endParaRPr>
          </a:p>
          <a:p>
            <a:pPr algn="just"/>
            <a:r>
              <a:rPr lang="en-US" dirty="0"/>
              <a:t>Out[70]:</a:t>
            </a:r>
          </a:p>
          <a:p>
            <a:pPr algn="just"/>
            <a:r>
              <a:rPr lang="en-US" dirty="0"/>
              <a:t>       country      region  gdppcap08  </a:t>
            </a:r>
            <a:r>
              <a:rPr lang="en-US" dirty="0" err="1"/>
              <a:t>polityIV</a:t>
            </a:r>
            <a:endParaRPr lang="en-US" dirty="0"/>
          </a:p>
          <a:p>
            <a:pPr algn="just"/>
            <a:r>
              <a:rPr lang="en-US" dirty="0"/>
              <a:t>0       Brazil  S. America      10296        18</a:t>
            </a:r>
          </a:p>
          <a:p>
            <a:pPr algn="just"/>
            <a:r>
              <a:rPr lang="en-US" dirty="0"/>
              <a:t>1  Deutschland   W. Europe      35613        20</a:t>
            </a:r>
          </a:p>
          <a:p>
            <a:pPr algn="just"/>
            <a:r>
              <a:rPr lang="en-US" dirty="0"/>
              <a:t>2       Mexico  N. America      14495        18</a:t>
            </a:r>
          </a:p>
          <a:p>
            <a:pPr algn="just"/>
            <a:r>
              <a:rPr lang="en-US" dirty="0"/>
              <a:t>3   Mozambique      Africa        855        16</a:t>
            </a:r>
          </a:p>
          <a:p>
            <a:pPr algn="just"/>
            <a:r>
              <a:rPr lang="en-US" dirty="0"/>
              <a:t>4       Russia  C&amp;E Europe      16139        17</a:t>
            </a:r>
          </a:p>
          <a:p>
            <a:pPr algn="just"/>
            <a:r>
              <a:rPr lang="en-US" dirty="0"/>
              <a:t>5      Ukraine  C&amp;E Europe       7271        16</a:t>
            </a:r>
          </a:p>
        </p:txBody>
      </p:sp>
      <p:sp>
        <p:nvSpPr>
          <p:cNvPr id="4" name="Slide Number Placeholder 3">
            <a:extLst>
              <a:ext uri="{FF2B5EF4-FFF2-40B4-BE49-F238E27FC236}">
                <a16:creationId xmlns:a16="http://schemas.microsoft.com/office/drawing/2014/main" id="{E6D8FD08-7ADE-4C22-A164-E322AE59EBC9}"/>
              </a:ext>
            </a:extLst>
          </p:cNvPr>
          <p:cNvSpPr>
            <a:spLocks noGrp="1"/>
          </p:cNvSpPr>
          <p:nvPr>
            <p:ph type="sldNum" sz="quarter" idx="12"/>
          </p:nvPr>
        </p:nvSpPr>
        <p:spPr/>
        <p:txBody>
          <a:bodyPr/>
          <a:lstStyle/>
          <a:p>
            <a:fld id="{6B97D948-30E8-43F7-AE10-F6E2D9F2BBB1}" type="slidenum">
              <a:rPr lang="en-US" smtClean="0"/>
              <a:t>311</a:t>
            </a:fld>
            <a:endParaRPr lang="en-US"/>
          </a:p>
        </p:txBody>
      </p:sp>
    </p:spTree>
    <p:extLst>
      <p:ext uri="{BB962C8B-B14F-4D97-AF65-F5344CB8AC3E}">
        <p14:creationId xmlns:p14="http://schemas.microsoft.com/office/powerpoint/2010/main" val="1172250527"/>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EE091D-1F01-4799-BDD8-D4423B8EC193}"/>
              </a:ext>
            </a:extLst>
          </p:cNvPr>
          <p:cNvSpPr>
            <a:spLocks noGrp="1"/>
          </p:cNvSpPr>
          <p:nvPr>
            <p:ph idx="1"/>
          </p:nvPr>
        </p:nvSpPr>
        <p:spPr>
          <a:xfrm>
            <a:off x="838200" y="464695"/>
            <a:ext cx="10515600" cy="5712268"/>
          </a:xfrm>
        </p:spPr>
        <p:txBody>
          <a:bodyPr>
            <a:normAutofit fontScale="92500" lnSpcReduction="10000"/>
          </a:bodyPr>
          <a:lstStyle/>
          <a:p>
            <a:pPr algn="just"/>
            <a:r>
              <a:rPr lang="en-US" dirty="0"/>
              <a:t>Replace works for numbers too—suppose we learned that the Polity organization had mis-coded all scores of 15 as 16, so we wanted to change all 16s to 15s:</a:t>
            </a:r>
          </a:p>
          <a:p>
            <a:pPr algn="just"/>
            <a:r>
              <a:rPr lang="en-US" dirty="0" err="1">
                <a:solidFill>
                  <a:srgbClr val="FF0000"/>
                </a:solidFill>
              </a:rPr>
              <a:t>smallworld</a:t>
            </a:r>
            <a:r>
              <a:rPr lang="en-US" dirty="0">
                <a:solidFill>
                  <a:srgbClr val="FF0000"/>
                </a:solidFill>
              </a:rPr>
              <a:t>[‘</a:t>
            </a:r>
            <a:r>
              <a:rPr lang="en-US" dirty="0" err="1">
                <a:solidFill>
                  <a:srgbClr val="FF0000"/>
                </a:solidFill>
              </a:rPr>
              <a:t>polityIV</a:t>
            </a:r>
            <a:r>
              <a:rPr lang="en-US" dirty="0">
                <a:solidFill>
                  <a:srgbClr val="FF0000"/>
                </a:solidFill>
              </a:rPr>
              <a:t>’] = </a:t>
            </a:r>
            <a:r>
              <a:rPr lang="en-US" dirty="0" err="1">
                <a:solidFill>
                  <a:srgbClr val="FF0000"/>
                </a:solidFill>
              </a:rPr>
              <a:t>smallworld</a:t>
            </a:r>
            <a:r>
              <a:rPr lang="en-US" dirty="0">
                <a:solidFill>
                  <a:srgbClr val="FF0000"/>
                </a:solidFill>
              </a:rPr>
              <a:t>[‘</a:t>
            </a:r>
            <a:r>
              <a:rPr lang="en-US" dirty="0" err="1">
                <a:solidFill>
                  <a:srgbClr val="FF0000"/>
                </a:solidFill>
              </a:rPr>
              <a:t>polityIV</a:t>
            </a:r>
            <a:r>
              <a:rPr lang="en-US" dirty="0">
                <a:solidFill>
                  <a:srgbClr val="FF0000"/>
                </a:solidFill>
              </a:rPr>
              <a:t>’].replace(16, 15)</a:t>
            </a:r>
          </a:p>
          <a:p>
            <a:pPr algn="just"/>
            <a:r>
              <a:rPr lang="en-US" dirty="0">
                <a:solidFill>
                  <a:srgbClr val="FF0000"/>
                </a:solidFill>
              </a:rPr>
              <a:t> </a:t>
            </a:r>
            <a:r>
              <a:rPr lang="en-US" dirty="0" err="1">
                <a:solidFill>
                  <a:srgbClr val="FF0000"/>
                </a:solidFill>
              </a:rPr>
              <a:t>smallworld</a:t>
            </a:r>
            <a:endParaRPr lang="en-US" dirty="0">
              <a:solidFill>
                <a:srgbClr val="FF0000"/>
              </a:solidFill>
            </a:endParaRPr>
          </a:p>
          <a:p>
            <a:pPr algn="just"/>
            <a:r>
              <a:rPr lang="en-US" dirty="0"/>
              <a:t>Out[71]:</a:t>
            </a:r>
          </a:p>
          <a:p>
            <a:pPr algn="just"/>
            <a:r>
              <a:rPr lang="en-US" dirty="0"/>
              <a:t>       country      region  gdppcap08  </a:t>
            </a:r>
            <a:r>
              <a:rPr lang="en-US" dirty="0" err="1"/>
              <a:t>polityIV</a:t>
            </a:r>
            <a:endParaRPr lang="en-US" dirty="0"/>
          </a:p>
          <a:p>
            <a:pPr algn="just"/>
            <a:r>
              <a:rPr lang="en-US" dirty="0"/>
              <a:t>0       Brazil  S. America      10296        18</a:t>
            </a:r>
          </a:p>
          <a:p>
            <a:pPr algn="just"/>
            <a:r>
              <a:rPr lang="en-US" dirty="0"/>
              <a:t>1  Deutschland   W. Europe      35613        20</a:t>
            </a:r>
          </a:p>
          <a:p>
            <a:pPr algn="just"/>
            <a:r>
              <a:rPr lang="en-US" dirty="0"/>
              <a:t>2       Mexico  N. America      14495        18</a:t>
            </a:r>
          </a:p>
          <a:p>
            <a:pPr algn="just"/>
            <a:r>
              <a:rPr lang="en-US" dirty="0"/>
              <a:t>3   Mozambique      Africa        855        15</a:t>
            </a:r>
          </a:p>
          <a:p>
            <a:pPr algn="just"/>
            <a:r>
              <a:rPr lang="en-US" dirty="0"/>
              <a:t>4       Russia  C&amp;E Europe      16139        17</a:t>
            </a:r>
          </a:p>
          <a:p>
            <a:pPr algn="just"/>
            <a:r>
              <a:rPr lang="en-US" dirty="0"/>
              <a:t>5      Ukraine  C&amp;E Europe       7271        15</a:t>
            </a:r>
          </a:p>
        </p:txBody>
      </p:sp>
      <p:sp>
        <p:nvSpPr>
          <p:cNvPr id="4" name="Slide Number Placeholder 3">
            <a:extLst>
              <a:ext uri="{FF2B5EF4-FFF2-40B4-BE49-F238E27FC236}">
                <a16:creationId xmlns:a16="http://schemas.microsoft.com/office/drawing/2014/main" id="{4952797B-8D7D-4AEF-97C4-EE4DC16E9670}"/>
              </a:ext>
            </a:extLst>
          </p:cNvPr>
          <p:cNvSpPr>
            <a:spLocks noGrp="1"/>
          </p:cNvSpPr>
          <p:nvPr>
            <p:ph type="sldNum" sz="quarter" idx="12"/>
          </p:nvPr>
        </p:nvSpPr>
        <p:spPr/>
        <p:txBody>
          <a:bodyPr/>
          <a:lstStyle/>
          <a:p>
            <a:fld id="{6B97D948-30E8-43F7-AE10-F6E2D9F2BBB1}" type="slidenum">
              <a:rPr lang="en-US" smtClean="0"/>
              <a:t>312</a:t>
            </a:fld>
            <a:endParaRPr lang="en-US"/>
          </a:p>
        </p:txBody>
      </p:sp>
    </p:spTree>
    <p:extLst>
      <p:ext uri="{BB962C8B-B14F-4D97-AF65-F5344CB8AC3E}">
        <p14:creationId xmlns:p14="http://schemas.microsoft.com/office/powerpoint/2010/main" val="3478536433"/>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74B51D-16AA-4482-9667-10110B8153F5}"/>
              </a:ext>
            </a:extLst>
          </p:cNvPr>
          <p:cNvSpPr>
            <a:spLocks noGrp="1"/>
          </p:cNvSpPr>
          <p:nvPr>
            <p:ph idx="1"/>
          </p:nvPr>
        </p:nvSpPr>
        <p:spPr>
          <a:xfrm>
            <a:off x="838200" y="359764"/>
            <a:ext cx="10515600" cy="5817199"/>
          </a:xfrm>
        </p:spPr>
        <p:txBody>
          <a:bodyPr/>
          <a:lstStyle/>
          <a:p>
            <a:pPr algn="just"/>
            <a:r>
              <a:rPr lang="en-US" dirty="0"/>
              <a:t>Note here that </a:t>
            </a:r>
            <a:r>
              <a:rPr lang="en-US" dirty="0">
                <a:solidFill>
                  <a:srgbClr val="FF0000"/>
                </a:solidFill>
              </a:rPr>
              <a:t>.replace()</a:t>
            </a:r>
            <a:r>
              <a:rPr lang="en-US" dirty="0"/>
              <a:t> replaces all entries with a given value, here, the values for both Mozambique and Ukraine). </a:t>
            </a:r>
          </a:p>
          <a:p>
            <a:pPr algn="just"/>
            <a:r>
              <a:rPr lang="en-US" dirty="0"/>
              <a:t>If we wanted to, say, just change Mozambique’s score because of a recent coup, you’d need a different tool.</a:t>
            </a:r>
          </a:p>
        </p:txBody>
      </p:sp>
      <p:sp>
        <p:nvSpPr>
          <p:cNvPr id="4" name="Slide Number Placeholder 3">
            <a:extLst>
              <a:ext uri="{FF2B5EF4-FFF2-40B4-BE49-F238E27FC236}">
                <a16:creationId xmlns:a16="http://schemas.microsoft.com/office/drawing/2014/main" id="{76C12907-4927-4B77-B314-0F73E4091A00}"/>
              </a:ext>
            </a:extLst>
          </p:cNvPr>
          <p:cNvSpPr>
            <a:spLocks noGrp="1"/>
          </p:cNvSpPr>
          <p:nvPr>
            <p:ph type="sldNum" sz="quarter" idx="12"/>
          </p:nvPr>
        </p:nvSpPr>
        <p:spPr/>
        <p:txBody>
          <a:bodyPr/>
          <a:lstStyle/>
          <a:p>
            <a:fld id="{6B97D948-30E8-43F7-AE10-F6E2D9F2BBB1}" type="slidenum">
              <a:rPr lang="en-US" smtClean="0"/>
              <a:t>313</a:t>
            </a:fld>
            <a:endParaRPr lang="en-US"/>
          </a:p>
        </p:txBody>
      </p:sp>
    </p:spTree>
    <p:extLst>
      <p:ext uri="{BB962C8B-B14F-4D97-AF65-F5344CB8AC3E}">
        <p14:creationId xmlns:p14="http://schemas.microsoft.com/office/powerpoint/2010/main" val="3194686875"/>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F8B37-5CF2-49D1-B5D7-41145E1A4AEC}"/>
              </a:ext>
            </a:extLst>
          </p:cNvPr>
          <p:cNvSpPr>
            <a:spLocks noGrp="1"/>
          </p:cNvSpPr>
          <p:nvPr>
            <p:ph type="title"/>
          </p:nvPr>
        </p:nvSpPr>
        <p:spPr>
          <a:xfrm>
            <a:off x="838200" y="365125"/>
            <a:ext cx="10515600" cy="909039"/>
          </a:xfrm>
        </p:spPr>
        <p:txBody>
          <a:bodyPr/>
          <a:lstStyle/>
          <a:p>
            <a:r>
              <a:rPr lang="en-US" dirty="0"/>
              <a:t>.replace() with Dictionaries</a:t>
            </a:r>
          </a:p>
        </p:txBody>
      </p:sp>
      <p:sp>
        <p:nvSpPr>
          <p:cNvPr id="3" name="Content Placeholder 2">
            <a:extLst>
              <a:ext uri="{FF2B5EF4-FFF2-40B4-BE49-F238E27FC236}">
                <a16:creationId xmlns:a16="http://schemas.microsoft.com/office/drawing/2014/main" id="{4A84DA0B-81AC-4F2C-856D-E0D5D16ADB73}"/>
              </a:ext>
            </a:extLst>
          </p:cNvPr>
          <p:cNvSpPr>
            <a:spLocks noGrp="1"/>
          </p:cNvSpPr>
          <p:nvPr>
            <p:ph idx="1"/>
          </p:nvPr>
        </p:nvSpPr>
        <p:spPr>
          <a:xfrm>
            <a:off x="838200" y="1274164"/>
            <a:ext cx="10515600" cy="4902799"/>
          </a:xfrm>
        </p:spPr>
        <p:txBody>
          <a:bodyPr/>
          <a:lstStyle/>
          <a:p>
            <a:pPr algn="just"/>
            <a:r>
              <a:rPr lang="en-US" dirty="0"/>
              <a:t>If we need to make lots of changes at once, </a:t>
            </a:r>
            <a:r>
              <a:rPr lang="en-US" dirty="0">
                <a:solidFill>
                  <a:srgbClr val="FF0000"/>
                </a:solidFill>
              </a:rPr>
              <a:t>.replace()</a:t>
            </a:r>
            <a:r>
              <a:rPr lang="en-US" dirty="0"/>
              <a:t> will also accept a dictionary instead of a pair of distinct values. </a:t>
            </a:r>
          </a:p>
          <a:p>
            <a:pPr algn="just"/>
            <a:r>
              <a:rPr lang="en-US" dirty="0"/>
              <a:t>When you pass a dictionary, </a:t>
            </a:r>
            <a:r>
              <a:rPr lang="en-US" dirty="0">
                <a:solidFill>
                  <a:srgbClr val="FF0000"/>
                </a:solidFill>
              </a:rPr>
              <a:t>.replace()</a:t>
            </a:r>
            <a:r>
              <a:rPr lang="en-US" dirty="0"/>
              <a:t> will replace each occurrence of each key in the dictionary with the associated values.</a:t>
            </a:r>
          </a:p>
          <a:p>
            <a:endParaRPr lang="en-US" dirty="0"/>
          </a:p>
          <a:p>
            <a:pPr algn="just"/>
            <a:r>
              <a:rPr lang="en-US" dirty="0"/>
              <a:t>For example, if we could continue changing our country names to their native spellings this way:</a:t>
            </a:r>
          </a:p>
        </p:txBody>
      </p:sp>
      <p:sp>
        <p:nvSpPr>
          <p:cNvPr id="4" name="Slide Number Placeholder 3">
            <a:extLst>
              <a:ext uri="{FF2B5EF4-FFF2-40B4-BE49-F238E27FC236}">
                <a16:creationId xmlns:a16="http://schemas.microsoft.com/office/drawing/2014/main" id="{95B8D3D8-1BDE-4F25-BF08-4D838D8974F7}"/>
              </a:ext>
            </a:extLst>
          </p:cNvPr>
          <p:cNvSpPr>
            <a:spLocks noGrp="1"/>
          </p:cNvSpPr>
          <p:nvPr>
            <p:ph type="sldNum" sz="quarter" idx="12"/>
          </p:nvPr>
        </p:nvSpPr>
        <p:spPr/>
        <p:txBody>
          <a:bodyPr/>
          <a:lstStyle/>
          <a:p>
            <a:fld id="{6B97D948-30E8-43F7-AE10-F6E2D9F2BBB1}" type="slidenum">
              <a:rPr lang="en-US" smtClean="0"/>
              <a:t>314</a:t>
            </a:fld>
            <a:endParaRPr lang="en-US"/>
          </a:p>
        </p:txBody>
      </p:sp>
    </p:spTree>
    <p:extLst>
      <p:ext uri="{BB962C8B-B14F-4D97-AF65-F5344CB8AC3E}">
        <p14:creationId xmlns:p14="http://schemas.microsoft.com/office/powerpoint/2010/main" val="822277942"/>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C2B4BD-8051-4A00-99C1-F16C96DB1D01}"/>
              </a:ext>
            </a:extLst>
          </p:cNvPr>
          <p:cNvSpPr>
            <a:spLocks noGrp="1"/>
          </p:cNvSpPr>
          <p:nvPr>
            <p:ph idx="1"/>
          </p:nvPr>
        </p:nvSpPr>
        <p:spPr>
          <a:xfrm>
            <a:off x="838200" y="524656"/>
            <a:ext cx="10515600" cy="5652307"/>
          </a:xfrm>
        </p:spPr>
        <p:txBody>
          <a:bodyPr/>
          <a:lstStyle/>
          <a:p>
            <a:r>
              <a:rPr lang="en-US" dirty="0">
                <a:solidFill>
                  <a:srgbClr val="FF0000"/>
                </a:solidFill>
              </a:rPr>
              <a:t>changes = {</a:t>
            </a:r>
          </a:p>
          <a:p>
            <a:r>
              <a:rPr lang="en-US" dirty="0">
                <a:solidFill>
                  <a:srgbClr val="FF0000"/>
                </a:solidFill>
              </a:rPr>
              <a:t>'Mexico': 'México',</a:t>
            </a:r>
          </a:p>
          <a:p>
            <a:r>
              <a:rPr lang="en-US" dirty="0">
                <a:solidFill>
                  <a:srgbClr val="FF0000"/>
                </a:solidFill>
              </a:rPr>
              <a:t>'Russia': '</a:t>
            </a:r>
            <a:r>
              <a:rPr lang="az-Cyrl-AZ" dirty="0">
                <a:solidFill>
                  <a:srgbClr val="FF0000"/>
                </a:solidFill>
              </a:rPr>
              <a:t>Российская Федерация',</a:t>
            </a:r>
          </a:p>
          <a:p>
            <a:r>
              <a:rPr lang="az-Cyrl-AZ" dirty="0">
                <a:solidFill>
                  <a:srgbClr val="FF0000"/>
                </a:solidFill>
              </a:rPr>
              <a:t>'</a:t>
            </a:r>
            <a:r>
              <a:rPr lang="en-US" dirty="0">
                <a:solidFill>
                  <a:srgbClr val="FF0000"/>
                </a:solidFill>
              </a:rPr>
              <a:t>Ukraine': '</a:t>
            </a:r>
            <a:r>
              <a:rPr lang="az-Cyrl-AZ" dirty="0">
                <a:solidFill>
                  <a:srgbClr val="FF0000"/>
                </a:solidFill>
              </a:rPr>
              <a:t>Україна',</a:t>
            </a:r>
          </a:p>
          <a:p>
            <a:r>
              <a:rPr lang="az-Cyrl-AZ" dirty="0">
                <a:solidFill>
                  <a:srgbClr val="FF0000"/>
                </a:solidFill>
              </a:rPr>
              <a:t>'</a:t>
            </a:r>
            <a:r>
              <a:rPr lang="en-US" dirty="0">
                <a:solidFill>
                  <a:srgbClr val="FF0000"/>
                </a:solidFill>
              </a:rPr>
              <a:t>Brazil': '</a:t>
            </a:r>
            <a:r>
              <a:rPr lang="en-US" dirty="0" err="1">
                <a:solidFill>
                  <a:srgbClr val="FF0000"/>
                </a:solidFill>
              </a:rPr>
              <a:t>Brasil</a:t>
            </a:r>
            <a:r>
              <a:rPr lang="en-US" dirty="0">
                <a:solidFill>
                  <a:srgbClr val="FF0000"/>
                </a:solidFill>
              </a:rPr>
              <a:t>',</a:t>
            </a:r>
          </a:p>
          <a:p>
            <a:r>
              <a:rPr lang="en-US" dirty="0">
                <a:solidFill>
                  <a:srgbClr val="FF0000"/>
                </a:solidFill>
              </a:rPr>
              <a:t>}</a:t>
            </a:r>
          </a:p>
          <a:p>
            <a:r>
              <a:rPr lang="en-US" dirty="0" err="1">
                <a:solidFill>
                  <a:srgbClr val="FF0000"/>
                </a:solidFill>
              </a:rPr>
              <a:t>smallworld</a:t>
            </a:r>
            <a:r>
              <a:rPr lang="en-US" dirty="0">
                <a:solidFill>
                  <a:srgbClr val="FF0000"/>
                </a:solidFill>
              </a:rPr>
              <a:t>['country'] = </a:t>
            </a:r>
            <a:r>
              <a:rPr lang="en-US" dirty="0" err="1">
                <a:solidFill>
                  <a:srgbClr val="FF0000"/>
                </a:solidFill>
              </a:rPr>
              <a:t>smallworld</a:t>
            </a:r>
            <a:r>
              <a:rPr lang="en-US" dirty="0">
                <a:solidFill>
                  <a:srgbClr val="FF0000"/>
                </a:solidFill>
              </a:rPr>
              <a:t>['country'].replace(changes)</a:t>
            </a:r>
          </a:p>
          <a:p>
            <a:r>
              <a:rPr lang="en-US" dirty="0" err="1">
                <a:solidFill>
                  <a:srgbClr val="FF0000"/>
                </a:solidFill>
              </a:rPr>
              <a:t>smallworld</a:t>
            </a:r>
            <a:endParaRPr lang="en-US" dirty="0">
              <a:solidFill>
                <a:srgbClr val="FF0000"/>
              </a:solidFill>
            </a:endParaRPr>
          </a:p>
        </p:txBody>
      </p:sp>
      <p:sp>
        <p:nvSpPr>
          <p:cNvPr id="4" name="Slide Number Placeholder 3">
            <a:extLst>
              <a:ext uri="{FF2B5EF4-FFF2-40B4-BE49-F238E27FC236}">
                <a16:creationId xmlns:a16="http://schemas.microsoft.com/office/drawing/2014/main" id="{8A361532-FA06-4663-A3E7-FBEC3B9FBE63}"/>
              </a:ext>
            </a:extLst>
          </p:cNvPr>
          <p:cNvSpPr>
            <a:spLocks noGrp="1"/>
          </p:cNvSpPr>
          <p:nvPr>
            <p:ph type="sldNum" sz="quarter" idx="12"/>
          </p:nvPr>
        </p:nvSpPr>
        <p:spPr/>
        <p:txBody>
          <a:bodyPr/>
          <a:lstStyle/>
          <a:p>
            <a:fld id="{6B97D948-30E8-43F7-AE10-F6E2D9F2BBB1}" type="slidenum">
              <a:rPr lang="en-US" smtClean="0"/>
              <a:t>315</a:t>
            </a:fld>
            <a:endParaRPr lang="en-US"/>
          </a:p>
        </p:txBody>
      </p:sp>
    </p:spTree>
    <p:extLst>
      <p:ext uri="{BB962C8B-B14F-4D97-AF65-F5344CB8AC3E}">
        <p14:creationId xmlns:p14="http://schemas.microsoft.com/office/powerpoint/2010/main" val="1712267294"/>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7E313-9ECC-451A-9BE5-0D2159F127AC}"/>
              </a:ext>
            </a:extLst>
          </p:cNvPr>
          <p:cNvSpPr>
            <a:spLocks noGrp="1"/>
          </p:cNvSpPr>
          <p:nvPr>
            <p:ph type="title"/>
          </p:nvPr>
        </p:nvSpPr>
        <p:spPr>
          <a:xfrm>
            <a:off x="838200" y="365125"/>
            <a:ext cx="10515600" cy="699177"/>
          </a:xfrm>
        </p:spPr>
        <p:txBody>
          <a:bodyPr/>
          <a:lstStyle/>
          <a:p>
            <a:r>
              <a:rPr lang="en-US" dirty="0"/>
              <a:t>The .str. String Methods</a:t>
            </a:r>
          </a:p>
        </p:txBody>
      </p:sp>
      <p:sp>
        <p:nvSpPr>
          <p:cNvPr id="3" name="Content Placeholder 2">
            <a:extLst>
              <a:ext uri="{FF2B5EF4-FFF2-40B4-BE49-F238E27FC236}">
                <a16:creationId xmlns:a16="http://schemas.microsoft.com/office/drawing/2014/main" id="{48EBB368-9800-4996-99C6-0F52859EF32E}"/>
              </a:ext>
            </a:extLst>
          </p:cNvPr>
          <p:cNvSpPr>
            <a:spLocks noGrp="1"/>
          </p:cNvSpPr>
          <p:nvPr>
            <p:ph idx="1"/>
          </p:nvPr>
        </p:nvSpPr>
        <p:spPr>
          <a:xfrm>
            <a:off x="838200" y="1064302"/>
            <a:ext cx="10515600" cy="5112661"/>
          </a:xfrm>
        </p:spPr>
        <p:txBody>
          <a:bodyPr/>
          <a:lstStyle/>
          <a:p>
            <a:pPr algn="just"/>
            <a:r>
              <a:rPr lang="en-US" dirty="0"/>
              <a:t>String are problematics in data.</a:t>
            </a:r>
          </a:p>
          <a:p>
            <a:pPr algn="just"/>
            <a:r>
              <a:rPr lang="en-US" dirty="0"/>
              <a:t>There are just SO MANY ways to get problems in strings – capitalization issues, differences in spellings, differences in accents, etc.</a:t>
            </a:r>
          </a:p>
          <a:p>
            <a:pPr algn="just"/>
            <a:r>
              <a:rPr lang="en-US" dirty="0"/>
              <a:t>As a result, pandas comes with a special set of methods for manipulating strings. </a:t>
            </a:r>
          </a:p>
          <a:p>
            <a:pPr algn="just"/>
            <a:r>
              <a:rPr lang="en-US" dirty="0"/>
              <a:t>These can be accessed through the .str. methods (e.g. </a:t>
            </a:r>
            <a:r>
              <a:rPr lang="en-US" dirty="0" err="1"/>
              <a:t>smallworld</a:t>
            </a:r>
            <a:r>
              <a:rPr lang="en-US" dirty="0"/>
              <a:t>[‘country’].</a:t>
            </a:r>
            <a:r>
              <a:rPr lang="en-US" dirty="0" err="1"/>
              <a:t>str.upper</a:t>
            </a:r>
            <a:r>
              <a:rPr lang="en-US" dirty="0"/>
              <a:t>() will capitalize your country names). </a:t>
            </a:r>
          </a:p>
        </p:txBody>
      </p:sp>
      <p:sp>
        <p:nvSpPr>
          <p:cNvPr id="4" name="Slide Number Placeholder 3">
            <a:extLst>
              <a:ext uri="{FF2B5EF4-FFF2-40B4-BE49-F238E27FC236}">
                <a16:creationId xmlns:a16="http://schemas.microsoft.com/office/drawing/2014/main" id="{C6E00747-2514-4591-8FF5-F59B9216EB1A}"/>
              </a:ext>
            </a:extLst>
          </p:cNvPr>
          <p:cNvSpPr>
            <a:spLocks noGrp="1"/>
          </p:cNvSpPr>
          <p:nvPr>
            <p:ph type="sldNum" sz="quarter" idx="12"/>
          </p:nvPr>
        </p:nvSpPr>
        <p:spPr/>
        <p:txBody>
          <a:bodyPr/>
          <a:lstStyle/>
          <a:p>
            <a:fld id="{6B97D948-30E8-43F7-AE10-F6E2D9F2BBB1}" type="slidenum">
              <a:rPr lang="en-US" smtClean="0"/>
              <a:t>316</a:t>
            </a:fld>
            <a:endParaRPr lang="en-US"/>
          </a:p>
        </p:txBody>
      </p:sp>
    </p:spTree>
    <p:extLst>
      <p:ext uri="{BB962C8B-B14F-4D97-AF65-F5344CB8AC3E}">
        <p14:creationId xmlns:p14="http://schemas.microsoft.com/office/powerpoint/2010/main" val="2491304702"/>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40209F-C9BE-47CF-94CD-641931517F7E}"/>
              </a:ext>
            </a:extLst>
          </p:cNvPr>
          <p:cNvSpPr>
            <a:spLocks noGrp="1"/>
          </p:cNvSpPr>
          <p:nvPr>
            <p:ph idx="1"/>
          </p:nvPr>
        </p:nvSpPr>
        <p:spPr>
          <a:xfrm>
            <a:off x="838200" y="524656"/>
            <a:ext cx="10515600" cy="5652307"/>
          </a:xfrm>
        </p:spPr>
        <p:txBody>
          <a:bodyPr>
            <a:normAutofit/>
          </a:bodyPr>
          <a:lstStyle/>
          <a:p>
            <a:r>
              <a:rPr lang="en-US" dirty="0"/>
              <a:t>Here’s a short list of available string methods.</a:t>
            </a:r>
          </a:p>
          <a:p>
            <a:pPr algn="just"/>
            <a:r>
              <a:rPr lang="en-US" dirty="0">
                <a:solidFill>
                  <a:srgbClr val="FF0000"/>
                </a:solidFill>
              </a:rPr>
              <a:t>.</a:t>
            </a:r>
            <a:r>
              <a:rPr lang="en-US" dirty="0" err="1">
                <a:solidFill>
                  <a:srgbClr val="FF0000"/>
                </a:solidFill>
              </a:rPr>
              <a:t>str.lower</a:t>
            </a:r>
            <a:r>
              <a:rPr lang="en-US" dirty="0">
                <a:solidFill>
                  <a:srgbClr val="FF0000"/>
                </a:solidFill>
              </a:rPr>
              <a:t>() </a:t>
            </a:r>
            <a:r>
              <a:rPr lang="en-US" dirty="0"/>
              <a:t>/ </a:t>
            </a:r>
            <a:r>
              <a:rPr lang="en-US" dirty="0">
                <a:solidFill>
                  <a:srgbClr val="FF0000"/>
                </a:solidFill>
              </a:rPr>
              <a:t>.</a:t>
            </a:r>
            <a:r>
              <a:rPr lang="en-US" dirty="0" err="1">
                <a:solidFill>
                  <a:srgbClr val="FF0000"/>
                </a:solidFill>
              </a:rPr>
              <a:t>str.upper</a:t>
            </a:r>
            <a:r>
              <a:rPr lang="en-US" dirty="0">
                <a:solidFill>
                  <a:srgbClr val="FF0000"/>
                </a:solidFill>
              </a:rPr>
              <a:t>()</a:t>
            </a:r>
            <a:r>
              <a:rPr lang="en-US" dirty="0"/>
              <a:t>: Change the case of strings (there are lots of these formatting methods…)</a:t>
            </a:r>
          </a:p>
          <a:p>
            <a:endParaRPr lang="en-US" dirty="0"/>
          </a:p>
          <a:p>
            <a:pPr algn="just"/>
            <a:r>
              <a:rPr lang="en-US" dirty="0">
                <a:solidFill>
                  <a:srgbClr val="FF0000"/>
                </a:solidFill>
              </a:rPr>
              <a:t>.</a:t>
            </a:r>
            <a:r>
              <a:rPr lang="en-US" dirty="0" err="1">
                <a:solidFill>
                  <a:srgbClr val="FF0000"/>
                </a:solidFill>
              </a:rPr>
              <a:t>str.contains</a:t>
            </a:r>
            <a:r>
              <a:rPr lang="en-US" dirty="0">
                <a:solidFill>
                  <a:srgbClr val="FF0000"/>
                </a:solidFill>
              </a:rPr>
              <a:t>(): </a:t>
            </a:r>
            <a:r>
              <a:rPr lang="en-US" dirty="0"/>
              <a:t>Look for a substring, return True if found</a:t>
            </a:r>
          </a:p>
          <a:p>
            <a:endParaRPr lang="en-US" dirty="0"/>
          </a:p>
          <a:p>
            <a:pPr algn="just"/>
            <a:r>
              <a:rPr lang="en-US" dirty="0">
                <a:solidFill>
                  <a:srgbClr val="FF0000"/>
                </a:solidFill>
              </a:rPr>
              <a:t>.</a:t>
            </a:r>
            <a:r>
              <a:rPr lang="en-US" dirty="0" err="1">
                <a:solidFill>
                  <a:srgbClr val="FF0000"/>
                </a:solidFill>
              </a:rPr>
              <a:t>str.isnumeric</a:t>
            </a:r>
            <a:r>
              <a:rPr lang="en-US" dirty="0">
                <a:solidFill>
                  <a:srgbClr val="FF0000"/>
                </a:solidFill>
              </a:rPr>
              <a:t>(</a:t>
            </a:r>
            <a:r>
              <a:rPr lang="en-US" dirty="0"/>
              <a:t>): True if value could be converted to a number easily (e.g. “10”), returns False if not (e.g. “Nick”).</a:t>
            </a:r>
          </a:p>
          <a:p>
            <a:endParaRPr lang="en-US" dirty="0"/>
          </a:p>
          <a:p>
            <a:pPr algn="just"/>
            <a:r>
              <a:rPr lang="en-US" dirty="0">
                <a:solidFill>
                  <a:srgbClr val="FF0000"/>
                </a:solidFill>
              </a:rPr>
              <a:t>.</a:t>
            </a:r>
            <a:r>
              <a:rPr lang="en-US" dirty="0" err="1">
                <a:solidFill>
                  <a:srgbClr val="FF0000"/>
                </a:solidFill>
              </a:rPr>
              <a:t>str.strip</a:t>
            </a:r>
            <a:r>
              <a:rPr lang="en-US" dirty="0">
                <a:solidFill>
                  <a:srgbClr val="FF0000"/>
                </a:solidFill>
              </a:rPr>
              <a:t>(): </a:t>
            </a:r>
            <a:r>
              <a:rPr lang="en-US" dirty="0"/>
              <a:t>Removes whitespaces at start or end of strings (a common cleanliness problem)</a:t>
            </a:r>
          </a:p>
          <a:p>
            <a:endParaRPr lang="en-US" dirty="0"/>
          </a:p>
        </p:txBody>
      </p:sp>
      <p:sp>
        <p:nvSpPr>
          <p:cNvPr id="4" name="Slide Number Placeholder 3">
            <a:extLst>
              <a:ext uri="{FF2B5EF4-FFF2-40B4-BE49-F238E27FC236}">
                <a16:creationId xmlns:a16="http://schemas.microsoft.com/office/drawing/2014/main" id="{9BEA593D-8760-4249-A4EB-C0B9E6B224D2}"/>
              </a:ext>
            </a:extLst>
          </p:cNvPr>
          <p:cNvSpPr>
            <a:spLocks noGrp="1"/>
          </p:cNvSpPr>
          <p:nvPr>
            <p:ph type="sldNum" sz="quarter" idx="12"/>
          </p:nvPr>
        </p:nvSpPr>
        <p:spPr/>
        <p:txBody>
          <a:bodyPr/>
          <a:lstStyle/>
          <a:p>
            <a:fld id="{6B97D948-30E8-43F7-AE10-F6E2D9F2BBB1}" type="slidenum">
              <a:rPr lang="en-US" smtClean="0"/>
              <a:t>317</a:t>
            </a:fld>
            <a:endParaRPr lang="en-US"/>
          </a:p>
        </p:txBody>
      </p:sp>
    </p:spTree>
    <p:extLst>
      <p:ext uri="{BB962C8B-B14F-4D97-AF65-F5344CB8AC3E}">
        <p14:creationId xmlns:p14="http://schemas.microsoft.com/office/powerpoint/2010/main" val="3082951118"/>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E3278-7562-45E0-A4C2-A75DA714512F}"/>
              </a:ext>
            </a:extLst>
          </p:cNvPr>
          <p:cNvSpPr>
            <a:spLocks noGrp="1"/>
          </p:cNvSpPr>
          <p:nvPr>
            <p:ph idx="1"/>
          </p:nvPr>
        </p:nvSpPr>
        <p:spPr>
          <a:xfrm>
            <a:off x="838200" y="464695"/>
            <a:ext cx="10515600" cy="5712268"/>
          </a:xfrm>
        </p:spPr>
        <p:txBody>
          <a:bodyPr/>
          <a:lstStyle/>
          <a:p>
            <a:pPr algn="just"/>
            <a:r>
              <a:rPr lang="en-US" dirty="0"/>
              <a:t>Let’s illustrate by capitalizing all of our country names.</a:t>
            </a:r>
          </a:p>
          <a:p>
            <a:pPr algn="just"/>
            <a:r>
              <a:rPr lang="en-US" dirty="0" err="1">
                <a:solidFill>
                  <a:srgbClr val="FF0000"/>
                </a:solidFill>
              </a:rPr>
              <a:t>smallworld</a:t>
            </a:r>
            <a:r>
              <a:rPr lang="en-US" dirty="0">
                <a:solidFill>
                  <a:srgbClr val="FF0000"/>
                </a:solidFill>
              </a:rPr>
              <a:t>['country'].</a:t>
            </a:r>
            <a:r>
              <a:rPr lang="en-US" dirty="0" err="1">
                <a:solidFill>
                  <a:srgbClr val="FF0000"/>
                </a:solidFill>
              </a:rPr>
              <a:t>str.upper</a:t>
            </a:r>
            <a:r>
              <a:rPr lang="en-US" dirty="0">
                <a:solidFill>
                  <a:srgbClr val="FF0000"/>
                </a:solidFill>
              </a:rPr>
              <a:t>()</a:t>
            </a:r>
          </a:p>
          <a:p>
            <a:pPr algn="just"/>
            <a:r>
              <a:rPr lang="en-US" dirty="0"/>
              <a:t>Out[73]:</a:t>
            </a:r>
          </a:p>
          <a:p>
            <a:pPr algn="just"/>
            <a:r>
              <a:rPr lang="en-US" dirty="0"/>
              <a:t>0                  BRASIL</a:t>
            </a:r>
          </a:p>
          <a:p>
            <a:pPr algn="just"/>
            <a:r>
              <a:rPr lang="en-US" dirty="0"/>
              <a:t>1             DEUTSCHLAND</a:t>
            </a:r>
          </a:p>
          <a:p>
            <a:pPr algn="just"/>
            <a:r>
              <a:rPr lang="en-US" dirty="0"/>
              <a:t>2                  MÉXICO</a:t>
            </a:r>
          </a:p>
          <a:p>
            <a:pPr algn="just"/>
            <a:r>
              <a:rPr lang="en-US" dirty="0"/>
              <a:t>3              MOZAMBIQUE</a:t>
            </a:r>
          </a:p>
          <a:p>
            <a:pPr algn="just"/>
            <a:r>
              <a:rPr lang="en-US" dirty="0"/>
              <a:t>4    </a:t>
            </a:r>
            <a:r>
              <a:rPr lang="az-Cyrl-AZ" dirty="0"/>
              <a:t>РОССИЙСКАЯ ФЕДЕРАЦИЯ</a:t>
            </a:r>
          </a:p>
          <a:p>
            <a:pPr algn="just"/>
            <a:r>
              <a:rPr lang="az-Cyrl-AZ" dirty="0"/>
              <a:t>5                 УКРАЇНА</a:t>
            </a:r>
            <a:endParaRPr lang="en-US" dirty="0"/>
          </a:p>
        </p:txBody>
      </p:sp>
      <p:sp>
        <p:nvSpPr>
          <p:cNvPr id="4" name="Slide Number Placeholder 3">
            <a:extLst>
              <a:ext uri="{FF2B5EF4-FFF2-40B4-BE49-F238E27FC236}">
                <a16:creationId xmlns:a16="http://schemas.microsoft.com/office/drawing/2014/main" id="{07074CBE-2CBB-4D68-B86D-64C9EF2FA3D2}"/>
              </a:ext>
            </a:extLst>
          </p:cNvPr>
          <p:cNvSpPr>
            <a:spLocks noGrp="1"/>
          </p:cNvSpPr>
          <p:nvPr>
            <p:ph type="sldNum" sz="quarter" idx="12"/>
          </p:nvPr>
        </p:nvSpPr>
        <p:spPr/>
        <p:txBody>
          <a:bodyPr/>
          <a:lstStyle/>
          <a:p>
            <a:fld id="{6B97D948-30E8-43F7-AE10-F6E2D9F2BBB1}" type="slidenum">
              <a:rPr lang="en-US" smtClean="0"/>
              <a:t>318</a:t>
            </a:fld>
            <a:endParaRPr lang="en-US"/>
          </a:p>
        </p:txBody>
      </p:sp>
    </p:spTree>
    <p:extLst>
      <p:ext uri="{BB962C8B-B14F-4D97-AF65-F5344CB8AC3E}">
        <p14:creationId xmlns:p14="http://schemas.microsoft.com/office/powerpoint/2010/main" val="813519685"/>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607AB0-84BA-415E-8F74-8A50934F204A}"/>
              </a:ext>
            </a:extLst>
          </p:cNvPr>
          <p:cNvSpPr>
            <a:spLocks noGrp="1"/>
          </p:cNvSpPr>
          <p:nvPr>
            <p:ph idx="1"/>
          </p:nvPr>
        </p:nvSpPr>
        <p:spPr>
          <a:xfrm>
            <a:off x="838200" y="569626"/>
            <a:ext cx="10515600" cy="5607337"/>
          </a:xfrm>
        </p:spPr>
        <p:txBody>
          <a:bodyPr/>
          <a:lstStyle/>
          <a:p>
            <a:r>
              <a:rPr lang="en-US" dirty="0"/>
              <a:t>Or make them all lowercase.</a:t>
            </a:r>
          </a:p>
          <a:p>
            <a:r>
              <a:rPr lang="en-US" dirty="0">
                <a:solidFill>
                  <a:srgbClr val="FF0000"/>
                </a:solidFill>
              </a:rPr>
              <a:t> </a:t>
            </a:r>
            <a:r>
              <a:rPr lang="en-US" dirty="0" err="1">
                <a:solidFill>
                  <a:srgbClr val="FF0000"/>
                </a:solidFill>
              </a:rPr>
              <a:t>smallworld</a:t>
            </a:r>
            <a:r>
              <a:rPr lang="en-US" dirty="0">
                <a:solidFill>
                  <a:srgbClr val="FF0000"/>
                </a:solidFill>
              </a:rPr>
              <a:t>['country'].</a:t>
            </a:r>
            <a:r>
              <a:rPr lang="en-US" dirty="0" err="1">
                <a:solidFill>
                  <a:srgbClr val="FF0000"/>
                </a:solidFill>
              </a:rPr>
              <a:t>str.lower</a:t>
            </a:r>
            <a:r>
              <a:rPr lang="en-US" dirty="0">
                <a:solidFill>
                  <a:srgbClr val="FF0000"/>
                </a:solidFill>
              </a:rPr>
              <a:t>()</a:t>
            </a:r>
          </a:p>
          <a:p>
            <a:r>
              <a:rPr lang="en-US" dirty="0"/>
              <a:t>Out[74]:</a:t>
            </a:r>
          </a:p>
          <a:p>
            <a:r>
              <a:rPr lang="en-US" dirty="0"/>
              <a:t>0                  brasil</a:t>
            </a:r>
          </a:p>
          <a:p>
            <a:r>
              <a:rPr lang="en-US" dirty="0"/>
              <a:t>1             </a:t>
            </a:r>
            <a:r>
              <a:rPr lang="en-US" dirty="0" err="1"/>
              <a:t>deutschland</a:t>
            </a:r>
            <a:endParaRPr lang="en-US" dirty="0"/>
          </a:p>
          <a:p>
            <a:r>
              <a:rPr lang="en-US" dirty="0"/>
              <a:t>2                  </a:t>
            </a:r>
            <a:r>
              <a:rPr lang="en-US" dirty="0" err="1"/>
              <a:t>méxico</a:t>
            </a:r>
            <a:endParaRPr lang="en-US" dirty="0"/>
          </a:p>
          <a:p>
            <a:r>
              <a:rPr lang="en-US" dirty="0"/>
              <a:t>3              </a:t>
            </a:r>
            <a:r>
              <a:rPr lang="en-US" dirty="0" err="1"/>
              <a:t>mozambique</a:t>
            </a:r>
            <a:endParaRPr lang="en-US" dirty="0"/>
          </a:p>
          <a:p>
            <a:r>
              <a:rPr lang="en-US" dirty="0"/>
              <a:t>4    </a:t>
            </a:r>
            <a:r>
              <a:rPr lang="az-Cyrl-AZ" dirty="0"/>
              <a:t>российская федерация</a:t>
            </a:r>
          </a:p>
          <a:p>
            <a:r>
              <a:rPr lang="az-Cyrl-AZ" dirty="0"/>
              <a:t>5                 україна</a:t>
            </a:r>
            <a:endParaRPr lang="en-US" dirty="0"/>
          </a:p>
        </p:txBody>
      </p:sp>
      <p:sp>
        <p:nvSpPr>
          <p:cNvPr id="4" name="Slide Number Placeholder 3">
            <a:extLst>
              <a:ext uri="{FF2B5EF4-FFF2-40B4-BE49-F238E27FC236}">
                <a16:creationId xmlns:a16="http://schemas.microsoft.com/office/drawing/2014/main" id="{4C20E851-91FA-4705-8AE6-877F713E0315}"/>
              </a:ext>
            </a:extLst>
          </p:cNvPr>
          <p:cNvSpPr>
            <a:spLocks noGrp="1"/>
          </p:cNvSpPr>
          <p:nvPr>
            <p:ph type="sldNum" sz="quarter" idx="12"/>
          </p:nvPr>
        </p:nvSpPr>
        <p:spPr/>
        <p:txBody>
          <a:bodyPr/>
          <a:lstStyle/>
          <a:p>
            <a:fld id="{6B97D948-30E8-43F7-AE10-F6E2D9F2BBB1}" type="slidenum">
              <a:rPr lang="en-US" smtClean="0"/>
              <a:t>319</a:t>
            </a:fld>
            <a:endParaRPr lang="en-US"/>
          </a:p>
        </p:txBody>
      </p:sp>
    </p:spTree>
    <p:extLst>
      <p:ext uri="{BB962C8B-B14F-4D97-AF65-F5344CB8AC3E}">
        <p14:creationId xmlns:p14="http://schemas.microsoft.com/office/powerpoint/2010/main" val="1390846336"/>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8C4CA-1D7A-45BD-8EB2-8365A0A5E8AB}"/>
              </a:ext>
            </a:extLst>
          </p:cNvPr>
          <p:cNvSpPr>
            <a:spLocks noGrp="1"/>
          </p:cNvSpPr>
          <p:nvPr>
            <p:ph type="title"/>
          </p:nvPr>
        </p:nvSpPr>
        <p:spPr>
          <a:xfrm>
            <a:off x="838200" y="365125"/>
            <a:ext cx="10515600" cy="699177"/>
          </a:xfrm>
        </p:spPr>
        <p:txBody>
          <a:bodyPr/>
          <a:lstStyle/>
          <a:p>
            <a:r>
              <a:rPr lang="en-US" dirty="0"/>
              <a:t>Cleaning Data Types</a:t>
            </a:r>
          </a:p>
        </p:txBody>
      </p:sp>
      <p:sp>
        <p:nvSpPr>
          <p:cNvPr id="3" name="Content Placeholder 2">
            <a:extLst>
              <a:ext uri="{FF2B5EF4-FFF2-40B4-BE49-F238E27FC236}">
                <a16:creationId xmlns:a16="http://schemas.microsoft.com/office/drawing/2014/main" id="{04A61AB9-7E8C-4F43-B9C8-D87EF7590127}"/>
              </a:ext>
            </a:extLst>
          </p:cNvPr>
          <p:cNvSpPr>
            <a:spLocks noGrp="1"/>
          </p:cNvSpPr>
          <p:nvPr>
            <p:ph idx="1"/>
          </p:nvPr>
        </p:nvSpPr>
        <p:spPr>
          <a:xfrm>
            <a:off x="838200" y="1064302"/>
            <a:ext cx="10515600" cy="5112661"/>
          </a:xfrm>
        </p:spPr>
        <p:txBody>
          <a:bodyPr/>
          <a:lstStyle/>
          <a:p>
            <a:pPr algn="just"/>
            <a:r>
              <a:rPr lang="en-US" dirty="0"/>
              <a:t>An extremely common data cleanliness problem pertains to managing data types. </a:t>
            </a:r>
          </a:p>
          <a:p>
            <a:pPr algn="just"/>
            <a:r>
              <a:rPr lang="en-US" dirty="0"/>
              <a:t>For example, it is very common to load data that you think should be numeric (say, float64).</a:t>
            </a:r>
          </a:p>
          <a:p>
            <a:pPr algn="just"/>
            <a:r>
              <a:rPr lang="en-US" dirty="0"/>
              <a:t>It turns out pandas has loaded it as Categorical or Object type, which means you can’t do numeric computations on the data (e.g., mean, median, etc.).</a:t>
            </a:r>
          </a:p>
          <a:p>
            <a:pPr algn="just"/>
            <a:r>
              <a:rPr lang="en-US" dirty="0"/>
              <a:t>24, 16, 55, 12, </a:t>
            </a:r>
            <a:r>
              <a:rPr lang="en-US" dirty="0">
                <a:solidFill>
                  <a:srgbClr val="FF0000"/>
                </a:solidFill>
              </a:rPr>
              <a:t>me</a:t>
            </a:r>
            <a:r>
              <a:rPr lang="en-US" dirty="0"/>
              <a:t>, 17</a:t>
            </a:r>
          </a:p>
          <a:p>
            <a:pPr algn="just"/>
            <a:endParaRPr lang="en-US" dirty="0"/>
          </a:p>
        </p:txBody>
      </p:sp>
      <p:sp>
        <p:nvSpPr>
          <p:cNvPr id="4" name="Slide Number Placeholder 3">
            <a:extLst>
              <a:ext uri="{FF2B5EF4-FFF2-40B4-BE49-F238E27FC236}">
                <a16:creationId xmlns:a16="http://schemas.microsoft.com/office/drawing/2014/main" id="{78A2FAF3-E30F-46CD-92C8-93ACA8382BAC}"/>
              </a:ext>
            </a:extLst>
          </p:cNvPr>
          <p:cNvSpPr>
            <a:spLocks noGrp="1"/>
          </p:cNvSpPr>
          <p:nvPr>
            <p:ph type="sldNum" sz="quarter" idx="12"/>
          </p:nvPr>
        </p:nvSpPr>
        <p:spPr/>
        <p:txBody>
          <a:bodyPr/>
          <a:lstStyle/>
          <a:p>
            <a:fld id="{6B97D948-30E8-43F7-AE10-F6E2D9F2BBB1}" type="slidenum">
              <a:rPr lang="en-US" smtClean="0"/>
              <a:t>320</a:t>
            </a:fld>
            <a:endParaRPr lang="en-US"/>
          </a:p>
        </p:txBody>
      </p:sp>
    </p:spTree>
    <p:extLst>
      <p:ext uri="{BB962C8B-B14F-4D97-AF65-F5344CB8AC3E}">
        <p14:creationId xmlns:p14="http://schemas.microsoft.com/office/powerpoint/2010/main" val="3443618397"/>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4707CD-2180-4EC0-8DFE-B240FA0FF493}"/>
              </a:ext>
            </a:extLst>
          </p:cNvPr>
          <p:cNvSpPr>
            <a:spLocks noGrp="1"/>
          </p:cNvSpPr>
          <p:nvPr>
            <p:ph idx="1"/>
          </p:nvPr>
        </p:nvSpPr>
        <p:spPr>
          <a:xfrm>
            <a:off x="838200" y="659567"/>
            <a:ext cx="10515600" cy="5517396"/>
          </a:xfrm>
        </p:spPr>
        <p:txBody>
          <a:bodyPr/>
          <a:lstStyle/>
          <a:p>
            <a:r>
              <a:rPr lang="en-US" dirty="0"/>
              <a:t>There are two main reasons that this can happen:</a:t>
            </a:r>
          </a:p>
          <a:p>
            <a:endParaRPr lang="en-US" dirty="0"/>
          </a:p>
          <a:p>
            <a:pPr algn="just"/>
            <a:r>
              <a:rPr lang="en-US" dirty="0"/>
              <a:t>There are observations that are accidentally being parsed as non-numeric, or</a:t>
            </a:r>
          </a:p>
          <a:p>
            <a:endParaRPr lang="en-US" dirty="0"/>
          </a:p>
          <a:p>
            <a:pPr algn="just"/>
            <a:r>
              <a:rPr lang="en-US" dirty="0"/>
              <a:t>There are observations that are deliberately non-numeric you didn’t realize were there.</a:t>
            </a:r>
          </a:p>
          <a:p>
            <a:pPr algn="just"/>
            <a:r>
              <a:rPr lang="en-US" dirty="0"/>
              <a:t>It is so common in data. . . </a:t>
            </a:r>
          </a:p>
          <a:p>
            <a:pPr algn="just"/>
            <a:endParaRPr lang="en-US" dirty="0"/>
          </a:p>
          <a:p>
            <a:endParaRPr lang="en-US" dirty="0"/>
          </a:p>
        </p:txBody>
      </p:sp>
      <p:sp>
        <p:nvSpPr>
          <p:cNvPr id="4" name="Slide Number Placeholder 3">
            <a:extLst>
              <a:ext uri="{FF2B5EF4-FFF2-40B4-BE49-F238E27FC236}">
                <a16:creationId xmlns:a16="http://schemas.microsoft.com/office/drawing/2014/main" id="{2D0695C0-5676-44A4-AE32-2FB86321AD4A}"/>
              </a:ext>
            </a:extLst>
          </p:cNvPr>
          <p:cNvSpPr>
            <a:spLocks noGrp="1"/>
          </p:cNvSpPr>
          <p:nvPr>
            <p:ph type="sldNum" sz="quarter" idx="12"/>
          </p:nvPr>
        </p:nvSpPr>
        <p:spPr/>
        <p:txBody>
          <a:bodyPr/>
          <a:lstStyle/>
          <a:p>
            <a:fld id="{6B97D948-30E8-43F7-AE10-F6E2D9F2BBB1}" type="slidenum">
              <a:rPr lang="en-US" smtClean="0"/>
              <a:t>321</a:t>
            </a:fld>
            <a:endParaRPr lang="en-US"/>
          </a:p>
        </p:txBody>
      </p:sp>
    </p:spTree>
    <p:extLst>
      <p:ext uri="{BB962C8B-B14F-4D97-AF65-F5344CB8AC3E}">
        <p14:creationId xmlns:p14="http://schemas.microsoft.com/office/powerpoint/2010/main" val="3070641589"/>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6F6D7A-6037-4974-9A54-34F8EC433EF0}"/>
              </a:ext>
            </a:extLst>
          </p:cNvPr>
          <p:cNvSpPr>
            <a:spLocks noGrp="1"/>
          </p:cNvSpPr>
          <p:nvPr>
            <p:ph idx="1"/>
          </p:nvPr>
        </p:nvSpPr>
        <p:spPr>
          <a:xfrm>
            <a:off x="838200" y="569626"/>
            <a:ext cx="10515600" cy="5607337"/>
          </a:xfrm>
        </p:spPr>
        <p:txBody>
          <a:bodyPr>
            <a:normAutofit/>
          </a:bodyPr>
          <a:lstStyle/>
          <a:p>
            <a:r>
              <a:rPr lang="en-US" dirty="0">
                <a:solidFill>
                  <a:srgbClr val="FF0000"/>
                </a:solidFill>
              </a:rPr>
              <a:t>world = </a:t>
            </a:r>
            <a:r>
              <a:rPr lang="en-US" dirty="0" err="1">
                <a:solidFill>
                  <a:srgbClr val="FF0000"/>
                </a:solidFill>
              </a:rPr>
              <a:t>pd.read_csv</a:t>
            </a:r>
            <a:r>
              <a:rPr lang="en-US" dirty="0">
                <a:solidFill>
                  <a:srgbClr val="FF0000"/>
                </a:solidFill>
              </a:rPr>
              <a:t>('world-very-small-type-errors.csv')</a:t>
            </a:r>
          </a:p>
          <a:p>
            <a:r>
              <a:rPr lang="en-US" dirty="0">
                <a:solidFill>
                  <a:srgbClr val="FF0000"/>
                </a:solidFill>
              </a:rPr>
              <a:t>world</a:t>
            </a:r>
          </a:p>
          <a:p>
            <a:r>
              <a:rPr lang="en-US" dirty="0"/>
              <a:t>Out[75]:</a:t>
            </a:r>
          </a:p>
          <a:p>
            <a:r>
              <a:rPr lang="en-US" dirty="0"/>
              <a:t>      country      region gdppcap08      </a:t>
            </a:r>
            <a:r>
              <a:rPr lang="en-US" dirty="0" err="1"/>
              <a:t>polityIV</a:t>
            </a:r>
            <a:endParaRPr lang="en-US" dirty="0"/>
          </a:p>
          <a:p>
            <a:r>
              <a:rPr lang="en-US" dirty="0"/>
              <a:t>0      Brazil  S. America     10296            18</a:t>
            </a:r>
          </a:p>
          <a:p>
            <a:r>
              <a:rPr lang="en-US" dirty="0"/>
              <a:t>1     Germany   W. Europe     35613  20 or higher</a:t>
            </a:r>
          </a:p>
          <a:p>
            <a:r>
              <a:rPr lang="en-US" dirty="0"/>
              <a:t>2      Mexico  N. America        </a:t>
            </a:r>
            <a:r>
              <a:rPr lang="en-US" dirty="0" err="1"/>
              <a:t>na</a:t>
            </a:r>
            <a:r>
              <a:rPr lang="en-US" dirty="0"/>
              <a:t>            18</a:t>
            </a:r>
          </a:p>
          <a:p>
            <a:r>
              <a:rPr lang="en-US" dirty="0"/>
              <a:t>3  Mozambique      Africa       855            16</a:t>
            </a:r>
          </a:p>
          <a:p>
            <a:r>
              <a:rPr lang="en-US" dirty="0"/>
              <a:t>4      Russia  C&amp;E Europe     16139            17</a:t>
            </a:r>
          </a:p>
          <a:p>
            <a:r>
              <a:rPr lang="en-US" dirty="0"/>
              <a:t>5     Ukraine  C&amp;E Europe      7271            16</a:t>
            </a:r>
          </a:p>
        </p:txBody>
      </p:sp>
      <p:sp>
        <p:nvSpPr>
          <p:cNvPr id="4" name="Slide Number Placeholder 3">
            <a:extLst>
              <a:ext uri="{FF2B5EF4-FFF2-40B4-BE49-F238E27FC236}">
                <a16:creationId xmlns:a16="http://schemas.microsoft.com/office/drawing/2014/main" id="{38CC0228-0E35-47CC-8EA6-B5B130813029}"/>
              </a:ext>
            </a:extLst>
          </p:cNvPr>
          <p:cNvSpPr>
            <a:spLocks noGrp="1"/>
          </p:cNvSpPr>
          <p:nvPr>
            <p:ph type="sldNum" sz="quarter" idx="12"/>
          </p:nvPr>
        </p:nvSpPr>
        <p:spPr/>
        <p:txBody>
          <a:bodyPr/>
          <a:lstStyle/>
          <a:p>
            <a:fld id="{6B97D948-30E8-43F7-AE10-F6E2D9F2BBB1}" type="slidenum">
              <a:rPr lang="en-US" smtClean="0"/>
              <a:t>322</a:t>
            </a:fld>
            <a:endParaRPr lang="en-US"/>
          </a:p>
        </p:txBody>
      </p:sp>
    </p:spTree>
    <p:extLst>
      <p:ext uri="{BB962C8B-B14F-4D97-AF65-F5344CB8AC3E}">
        <p14:creationId xmlns:p14="http://schemas.microsoft.com/office/powerpoint/2010/main" val="2539219524"/>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59F29-1757-4415-91BF-2EC1B5F4D85D}"/>
              </a:ext>
            </a:extLst>
          </p:cNvPr>
          <p:cNvSpPr>
            <a:spLocks noGrp="1"/>
          </p:cNvSpPr>
          <p:nvPr>
            <p:ph idx="1"/>
          </p:nvPr>
        </p:nvSpPr>
        <p:spPr>
          <a:xfrm>
            <a:off x="838200" y="539646"/>
            <a:ext cx="10515600" cy="5637317"/>
          </a:xfrm>
        </p:spPr>
        <p:txBody>
          <a:bodyPr/>
          <a:lstStyle/>
          <a:p>
            <a:pPr algn="just"/>
            <a:r>
              <a:rPr lang="en-US" dirty="0"/>
              <a:t>Obviously we can see there are going to be issues with </a:t>
            </a:r>
            <a:r>
              <a:rPr lang="en-US" dirty="0">
                <a:solidFill>
                  <a:srgbClr val="FF0000"/>
                </a:solidFill>
              </a:rPr>
              <a:t>gdppcap08</a:t>
            </a:r>
            <a:r>
              <a:rPr lang="en-US" dirty="0"/>
              <a:t> and </a:t>
            </a:r>
            <a:r>
              <a:rPr lang="en-US" dirty="0" err="1">
                <a:solidFill>
                  <a:srgbClr val="FF0000"/>
                </a:solidFill>
              </a:rPr>
              <a:t>polityIV</a:t>
            </a:r>
            <a:r>
              <a:rPr lang="en-US" dirty="0"/>
              <a:t>. </a:t>
            </a:r>
          </a:p>
          <a:p>
            <a:pPr algn="just"/>
            <a:r>
              <a:rPr lang="en-US" dirty="0"/>
              <a:t>If this were a real (big) dataset where this wasn’t evident and you tried to calculate the </a:t>
            </a:r>
            <a:r>
              <a:rPr lang="en-US" dirty="0">
                <a:solidFill>
                  <a:srgbClr val="FF0000"/>
                </a:solidFill>
              </a:rPr>
              <a:t>average</a:t>
            </a:r>
            <a:r>
              <a:rPr lang="en-US" dirty="0"/>
              <a:t> GDP of countries in the data. . .</a:t>
            </a:r>
          </a:p>
          <a:p>
            <a:pPr algn="just"/>
            <a:r>
              <a:rPr lang="en-US" dirty="0"/>
              <a:t>You would get a very weird </a:t>
            </a:r>
            <a:r>
              <a:rPr lang="en-US" dirty="0" err="1"/>
              <a:t>ValueError</a:t>
            </a:r>
            <a:r>
              <a:rPr lang="en-US" dirty="0"/>
              <a:t> / </a:t>
            </a:r>
            <a:r>
              <a:rPr lang="en-US" dirty="0" err="1"/>
              <a:t>TypeError</a:t>
            </a:r>
            <a:r>
              <a:rPr lang="en-US" dirty="0"/>
              <a:t>. . .</a:t>
            </a:r>
          </a:p>
          <a:p>
            <a:pPr algn="just"/>
            <a:r>
              <a:rPr lang="en-US" dirty="0"/>
              <a:t> </a:t>
            </a:r>
            <a:r>
              <a:rPr lang="en-US" dirty="0">
                <a:solidFill>
                  <a:srgbClr val="FF0000"/>
                </a:solidFill>
              </a:rPr>
              <a:t>world['gdppcap08'].mean()</a:t>
            </a:r>
          </a:p>
          <a:p>
            <a:pPr algn="just"/>
            <a:r>
              <a:rPr lang="en-US" dirty="0"/>
              <a:t>So the first thing we can do, as a sanity check, is check the </a:t>
            </a:r>
            <a:r>
              <a:rPr lang="en-US" dirty="0" err="1"/>
              <a:t>dtypes</a:t>
            </a:r>
            <a:r>
              <a:rPr lang="en-US" dirty="0"/>
              <a:t> of our </a:t>
            </a:r>
            <a:r>
              <a:rPr lang="en-US" dirty="0" err="1"/>
              <a:t>dataframe</a:t>
            </a:r>
            <a:r>
              <a:rPr lang="en-US" dirty="0"/>
              <a:t> to confirm that what we thought was a numeric column is in fact an object or Categorical column:</a:t>
            </a:r>
          </a:p>
          <a:p>
            <a:pPr algn="just"/>
            <a:endParaRPr lang="en-US" dirty="0"/>
          </a:p>
        </p:txBody>
      </p:sp>
      <p:sp>
        <p:nvSpPr>
          <p:cNvPr id="4" name="Slide Number Placeholder 3">
            <a:extLst>
              <a:ext uri="{FF2B5EF4-FFF2-40B4-BE49-F238E27FC236}">
                <a16:creationId xmlns:a16="http://schemas.microsoft.com/office/drawing/2014/main" id="{2942A8CE-4D10-4076-AB96-25004BDD045A}"/>
              </a:ext>
            </a:extLst>
          </p:cNvPr>
          <p:cNvSpPr>
            <a:spLocks noGrp="1"/>
          </p:cNvSpPr>
          <p:nvPr>
            <p:ph type="sldNum" sz="quarter" idx="12"/>
          </p:nvPr>
        </p:nvSpPr>
        <p:spPr/>
        <p:txBody>
          <a:bodyPr/>
          <a:lstStyle/>
          <a:p>
            <a:fld id="{6B97D948-30E8-43F7-AE10-F6E2D9F2BBB1}" type="slidenum">
              <a:rPr lang="en-US" smtClean="0"/>
              <a:t>323</a:t>
            </a:fld>
            <a:endParaRPr lang="en-US"/>
          </a:p>
        </p:txBody>
      </p:sp>
    </p:spTree>
    <p:extLst>
      <p:ext uri="{BB962C8B-B14F-4D97-AF65-F5344CB8AC3E}">
        <p14:creationId xmlns:p14="http://schemas.microsoft.com/office/powerpoint/2010/main" val="965319047"/>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3955C-5D0A-43B6-B1F2-512CEB473E78}"/>
              </a:ext>
            </a:extLst>
          </p:cNvPr>
          <p:cNvSpPr>
            <a:spLocks noGrp="1"/>
          </p:cNvSpPr>
          <p:nvPr>
            <p:ph idx="1"/>
          </p:nvPr>
        </p:nvSpPr>
        <p:spPr>
          <a:xfrm>
            <a:off x="838200" y="464695"/>
            <a:ext cx="10515600" cy="5712268"/>
          </a:xfrm>
        </p:spPr>
        <p:txBody>
          <a:bodyPr/>
          <a:lstStyle/>
          <a:p>
            <a:r>
              <a:rPr lang="en-US" dirty="0" err="1">
                <a:solidFill>
                  <a:srgbClr val="FF0000"/>
                </a:solidFill>
              </a:rPr>
              <a:t>world.dtypes</a:t>
            </a:r>
            <a:endParaRPr lang="en-US" dirty="0">
              <a:solidFill>
                <a:srgbClr val="FF0000"/>
              </a:solidFill>
            </a:endParaRPr>
          </a:p>
          <a:p>
            <a:r>
              <a:rPr lang="en-US" dirty="0"/>
              <a:t>Out[77]:</a:t>
            </a:r>
          </a:p>
          <a:p>
            <a:r>
              <a:rPr lang="en-US" dirty="0"/>
              <a:t>country      object</a:t>
            </a:r>
          </a:p>
          <a:p>
            <a:r>
              <a:rPr lang="en-US" dirty="0"/>
              <a:t>region       object</a:t>
            </a:r>
          </a:p>
          <a:p>
            <a:r>
              <a:rPr lang="en-US" dirty="0"/>
              <a:t>gdppcap08    object</a:t>
            </a:r>
          </a:p>
          <a:p>
            <a:r>
              <a:rPr lang="en-US" dirty="0" err="1"/>
              <a:t>polityIV</a:t>
            </a:r>
            <a:r>
              <a:rPr lang="en-US" dirty="0"/>
              <a:t>     object</a:t>
            </a:r>
          </a:p>
        </p:txBody>
      </p:sp>
      <p:sp>
        <p:nvSpPr>
          <p:cNvPr id="4" name="Slide Number Placeholder 3">
            <a:extLst>
              <a:ext uri="{FF2B5EF4-FFF2-40B4-BE49-F238E27FC236}">
                <a16:creationId xmlns:a16="http://schemas.microsoft.com/office/drawing/2014/main" id="{83EE3104-2A70-4D80-9F7B-8D60B9536887}"/>
              </a:ext>
            </a:extLst>
          </p:cNvPr>
          <p:cNvSpPr>
            <a:spLocks noGrp="1"/>
          </p:cNvSpPr>
          <p:nvPr>
            <p:ph type="sldNum" sz="quarter" idx="12"/>
          </p:nvPr>
        </p:nvSpPr>
        <p:spPr/>
        <p:txBody>
          <a:bodyPr/>
          <a:lstStyle/>
          <a:p>
            <a:fld id="{6B97D948-30E8-43F7-AE10-F6E2D9F2BBB1}" type="slidenum">
              <a:rPr lang="en-US" smtClean="0"/>
              <a:t>324</a:t>
            </a:fld>
            <a:endParaRPr lang="en-US"/>
          </a:p>
        </p:txBody>
      </p:sp>
    </p:spTree>
    <p:extLst>
      <p:ext uri="{BB962C8B-B14F-4D97-AF65-F5344CB8AC3E}">
        <p14:creationId xmlns:p14="http://schemas.microsoft.com/office/powerpoint/2010/main" val="3974055226"/>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FA0E69-07C9-42EF-97BC-DC8162F3D63B}"/>
              </a:ext>
            </a:extLst>
          </p:cNvPr>
          <p:cNvSpPr>
            <a:spLocks noGrp="1"/>
          </p:cNvSpPr>
          <p:nvPr>
            <p:ph idx="1"/>
          </p:nvPr>
        </p:nvSpPr>
        <p:spPr>
          <a:xfrm>
            <a:off x="838200" y="449705"/>
            <a:ext cx="10515600" cy="5727258"/>
          </a:xfrm>
        </p:spPr>
        <p:txBody>
          <a:bodyPr>
            <a:normAutofit lnSpcReduction="10000"/>
          </a:bodyPr>
          <a:lstStyle/>
          <a:p>
            <a:pPr algn="just"/>
            <a:r>
              <a:rPr lang="en-US" dirty="0"/>
              <a:t>We can see that </a:t>
            </a:r>
            <a:r>
              <a:rPr lang="en-US" dirty="0">
                <a:solidFill>
                  <a:srgbClr val="FF0000"/>
                </a:solidFill>
              </a:rPr>
              <a:t>gdppcap08</a:t>
            </a:r>
            <a:r>
              <a:rPr lang="en-US" dirty="0"/>
              <a:t> and </a:t>
            </a:r>
            <a:r>
              <a:rPr lang="en-US" dirty="0" err="1">
                <a:solidFill>
                  <a:srgbClr val="FF0000"/>
                </a:solidFill>
              </a:rPr>
              <a:t>polityIV</a:t>
            </a:r>
            <a:r>
              <a:rPr lang="en-US" dirty="0"/>
              <a:t> are  object.</a:t>
            </a:r>
          </a:p>
          <a:p>
            <a:pPr algn="just"/>
            <a:endParaRPr lang="en-US" dirty="0"/>
          </a:p>
          <a:p>
            <a:pPr algn="just"/>
            <a:r>
              <a:rPr lang="en-US" dirty="0"/>
              <a:t>it is such a common problem that pandas has a tool to deal with it: </a:t>
            </a:r>
            <a:r>
              <a:rPr lang="en-US" dirty="0">
                <a:solidFill>
                  <a:srgbClr val="FF0000"/>
                </a:solidFill>
              </a:rPr>
              <a:t>.</a:t>
            </a:r>
            <a:r>
              <a:rPr lang="en-US" dirty="0" err="1">
                <a:solidFill>
                  <a:srgbClr val="FF0000"/>
                </a:solidFill>
              </a:rPr>
              <a:t>str.isnumeric</a:t>
            </a:r>
            <a:r>
              <a:rPr lang="en-US" dirty="0">
                <a:solidFill>
                  <a:srgbClr val="FF0000"/>
                </a:solidFill>
              </a:rPr>
              <a:t>()</a:t>
            </a:r>
            <a:r>
              <a:rPr lang="en-US" dirty="0"/>
              <a:t>. </a:t>
            </a:r>
          </a:p>
          <a:p>
            <a:pPr algn="just"/>
            <a:r>
              <a:rPr lang="en-US" dirty="0"/>
              <a:t>This method returns </a:t>
            </a:r>
            <a:r>
              <a:rPr lang="en-US" dirty="0">
                <a:solidFill>
                  <a:srgbClr val="00B050"/>
                </a:solidFill>
              </a:rPr>
              <a:t>True</a:t>
            </a:r>
            <a:r>
              <a:rPr lang="en-US" dirty="0"/>
              <a:t> if an observation can be converted to a number without issues, and </a:t>
            </a:r>
            <a:r>
              <a:rPr lang="en-US" dirty="0">
                <a:solidFill>
                  <a:srgbClr val="00B050"/>
                </a:solidFill>
              </a:rPr>
              <a:t>False</a:t>
            </a:r>
            <a:r>
              <a:rPr lang="en-US" dirty="0"/>
              <a:t> otherwise.</a:t>
            </a:r>
          </a:p>
          <a:p>
            <a:pPr algn="just"/>
            <a:r>
              <a:rPr lang="en-US" dirty="0"/>
              <a:t>By using its </a:t>
            </a:r>
            <a:r>
              <a:rPr lang="en-US" dirty="0">
                <a:solidFill>
                  <a:srgbClr val="00B050"/>
                </a:solidFill>
              </a:rPr>
              <a:t>logical negation</a:t>
            </a:r>
            <a:r>
              <a:rPr lang="en-US" dirty="0"/>
              <a:t>, we can find all observations that aren’t convertible (which we may then need to fix).</a:t>
            </a:r>
          </a:p>
          <a:p>
            <a:r>
              <a:rPr lang="en-US" dirty="0" err="1">
                <a:solidFill>
                  <a:srgbClr val="FF0000"/>
                </a:solidFill>
              </a:rPr>
              <a:t>world.loc</a:t>
            </a:r>
            <a:r>
              <a:rPr lang="en-US" dirty="0">
                <a:solidFill>
                  <a:srgbClr val="FF0000"/>
                </a:solidFill>
              </a:rPr>
              <a:t>[~</a:t>
            </a:r>
            <a:r>
              <a:rPr lang="en-US" dirty="0">
                <a:solidFill>
                  <a:srgbClr val="00B050"/>
                </a:solidFill>
              </a:rPr>
              <a:t>world['gdppcap08'].</a:t>
            </a:r>
            <a:r>
              <a:rPr lang="en-US" dirty="0" err="1">
                <a:solidFill>
                  <a:srgbClr val="00B050"/>
                </a:solidFill>
              </a:rPr>
              <a:t>str.isnumeric</a:t>
            </a:r>
            <a:r>
              <a:rPr lang="en-US" dirty="0">
                <a:solidFill>
                  <a:srgbClr val="00B050"/>
                </a:solidFill>
              </a:rPr>
              <a:t>()</a:t>
            </a:r>
            <a:r>
              <a:rPr lang="en-US" dirty="0">
                <a:solidFill>
                  <a:srgbClr val="FF0000"/>
                </a:solidFill>
              </a:rPr>
              <a:t>,gdppcap08'].</a:t>
            </a:r>
            <a:r>
              <a:rPr lang="en-US" dirty="0" err="1">
                <a:solidFill>
                  <a:srgbClr val="FF0000"/>
                </a:solidFill>
              </a:rPr>
              <a:t>value_counts</a:t>
            </a:r>
            <a:r>
              <a:rPr lang="en-US" dirty="0">
                <a:solidFill>
                  <a:srgbClr val="FF0000"/>
                </a:solidFill>
              </a:rPr>
              <a:t>()</a:t>
            </a:r>
          </a:p>
          <a:p>
            <a:pPr algn="just"/>
            <a:r>
              <a:rPr lang="en-US" dirty="0"/>
              <a:t>Out[78]:</a:t>
            </a:r>
          </a:p>
          <a:p>
            <a:pPr algn="just"/>
            <a:r>
              <a:rPr lang="en-US" dirty="0"/>
              <a:t>gdppcap08</a:t>
            </a:r>
          </a:p>
          <a:p>
            <a:pPr algn="just"/>
            <a:r>
              <a:rPr lang="en-US" dirty="0" err="1"/>
              <a:t>na</a:t>
            </a:r>
            <a:r>
              <a:rPr lang="en-US" dirty="0"/>
              <a:t>    1</a:t>
            </a:r>
          </a:p>
        </p:txBody>
      </p:sp>
      <p:sp>
        <p:nvSpPr>
          <p:cNvPr id="4" name="Slide Number Placeholder 3">
            <a:extLst>
              <a:ext uri="{FF2B5EF4-FFF2-40B4-BE49-F238E27FC236}">
                <a16:creationId xmlns:a16="http://schemas.microsoft.com/office/drawing/2014/main" id="{A8697540-9830-4D31-A126-0748FDF47C2E}"/>
              </a:ext>
            </a:extLst>
          </p:cNvPr>
          <p:cNvSpPr>
            <a:spLocks noGrp="1"/>
          </p:cNvSpPr>
          <p:nvPr>
            <p:ph type="sldNum" sz="quarter" idx="12"/>
          </p:nvPr>
        </p:nvSpPr>
        <p:spPr/>
        <p:txBody>
          <a:bodyPr/>
          <a:lstStyle/>
          <a:p>
            <a:fld id="{6B97D948-30E8-43F7-AE10-F6E2D9F2BBB1}" type="slidenum">
              <a:rPr lang="en-US" smtClean="0"/>
              <a:t>325</a:t>
            </a:fld>
            <a:endParaRPr lang="en-US"/>
          </a:p>
        </p:txBody>
      </p:sp>
    </p:spTree>
    <p:extLst>
      <p:ext uri="{BB962C8B-B14F-4D97-AF65-F5344CB8AC3E}">
        <p14:creationId xmlns:p14="http://schemas.microsoft.com/office/powerpoint/2010/main" val="2700164290"/>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255D60-3CFC-4433-BDB9-D333DE270A38}"/>
              </a:ext>
            </a:extLst>
          </p:cNvPr>
          <p:cNvSpPr>
            <a:spLocks noGrp="1"/>
          </p:cNvSpPr>
          <p:nvPr>
            <p:ph idx="1"/>
          </p:nvPr>
        </p:nvSpPr>
        <p:spPr>
          <a:xfrm>
            <a:off x="838200" y="494675"/>
            <a:ext cx="10515600" cy="5682288"/>
          </a:xfrm>
        </p:spPr>
        <p:txBody>
          <a:bodyPr/>
          <a:lstStyle/>
          <a:p>
            <a:pPr algn="just"/>
            <a:r>
              <a:rPr lang="en-US" dirty="0"/>
              <a:t>In this case, it seems like </a:t>
            </a:r>
            <a:r>
              <a:rPr lang="en-US" dirty="0" err="1">
                <a:solidFill>
                  <a:srgbClr val="FF0000"/>
                </a:solidFill>
              </a:rPr>
              <a:t>na</a:t>
            </a:r>
            <a:r>
              <a:rPr lang="en-US" dirty="0"/>
              <a:t> is probably just short for </a:t>
            </a:r>
            <a:r>
              <a:rPr lang="en-US" dirty="0" err="1">
                <a:solidFill>
                  <a:srgbClr val="FF0000"/>
                </a:solidFill>
              </a:rPr>
              <a:t>np.nan</a:t>
            </a:r>
            <a:r>
              <a:rPr lang="en-US" dirty="0"/>
              <a:t>, so we can replace it with </a:t>
            </a:r>
            <a:r>
              <a:rPr lang="en-US" dirty="0" err="1"/>
              <a:t>np.nan</a:t>
            </a:r>
            <a:r>
              <a:rPr lang="en-US" dirty="0"/>
              <a:t>, which </a:t>
            </a:r>
            <a:r>
              <a:rPr lang="en-US" i="1" dirty="0">
                <a:solidFill>
                  <a:srgbClr val="00B050"/>
                </a:solidFill>
              </a:rPr>
              <a:t>is</a:t>
            </a:r>
            <a:r>
              <a:rPr lang="en-US" dirty="0"/>
              <a:t> a number.</a:t>
            </a:r>
          </a:p>
          <a:p>
            <a:pPr algn="just"/>
            <a:r>
              <a:rPr lang="en-US" dirty="0" err="1">
                <a:solidFill>
                  <a:srgbClr val="FF0000"/>
                </a:solidFill>
              </a:rPr>
              <a:t>world.loc</a:t>
            </a:r>
            <a:r>
              <a:rPr lang="en-US" dirty="0">
                <a:solidFill>
                  <a:srgbClr val="FF0000"/>
                </a:solidFill>
              </a:rPr>
              <a:t>[world['gdppcap08'] == '</a:t>
            </a:r>
            <a:r>
              <a:rPr lang="en-US" dirty="0" err="1">
                <a:solidFill>
                  <a:srgbClr val="FF0000"/>
                </a:solidFill>
              </a:rPr>
              <a:t>na</a:t>
            </a:r>
            <a:r>
              <a:rPr lang="en-US" dirty="0">
                <a:solidFill>
                  <a:srgbClr val="FF0000"/>
                </a:solidFill>
              </a:rPr>
              <a:t>', 'gdppcap08'] = </a:t>
            </a:r>
            <a:r>
              <a:rPr lang="en-US" dirty="0" err="1">
                <a:solidFill>
                  <a:srgbClr val="FF0000"/>
                </a:solidFill>
              </a:rPr>
              <a:t>np.nan</a:t>
            </a:r>
            <a:endParaRPr lang="en-US" dirty="0">
              <a:solidFill>
                <a:srgbClr val="FF0000"/>
              </a:solidFill>
            </a:endParaRPr>
          </a:p>
          <a:p>
            <a:pPr algn="just"/>
            <a:r>
              <a:rPr lang="en-US" dirty="0"/>
              <a:t>Then we can either cast gdppcap08 to a numeric type directly with world["gdppcap08"] = world["gdppcap08"].</a:t>
            </a:r>
            <a:r>
              <a:rPr lang="en-US" dirty="0" err="1"/>
              <a:t>astype</a:t>
            </a:r>
            <a:r>
              <a:rPr lang="en-US" dirty="0"/>
              <a:t>("float"), or </a:t>
            </a:r>
          </a:p>
          <a:p>
            <a:pPr algn="just"/>
            <a:r>
              <a:rPr lang="en-US" dirty="0"/>
              <a:t>let pandas do it implicitly when we run world["gdppcap08"].mean(). </a:t>
            </a:r>
          </a:p>
          <a:p>
            <a:pPr algn="just"/>
            <a:r>
              <a:rPr lang="en-US" dirty="0"/>
              <a:t>In general the former is probably better practice, so let’s do that:</a:t>
            </a:r>
          </a:p>
          <a:p>
            <a:pPr algn="just"/>
            <a:r>
              <a:rPr lang="en-US" dirty="0">
                <a:solidFill>
                  <a:srgbClr val="FF0000"/>
                </a:solidFill>
              </a:rPr>
              <a:t>world['gdppcap08'] = world['gdppcap08'].</a:t>
            </a:r>
            <a:r>
              <a:rPr lang="en-US" dirty="0" err="1">
                <a:solidFill>
                  <a:srgbClr val="FF0000"/>
                </a:solidFill>
              </a:rPr>
              <a:t>astype</a:t>
            </a:r>
            <a:r>
              <a:rPr lang="en-US" dirty="0">
                <a:solidFill>
                  <a:srgbClr val="FF0000"/>
                </a:solidFill>
              </a:rPr>
              <a:t>('float')</a:t>
            </a:r>
          </a:p>
          <a:p>
            <a:pPr algn="just"/>
            <a:r>
              <a:rPr lang="en-US" dirty="0">
                <a:solidFill>
                  <a:srgbClr val="FF0000"/>
                </a:solidFill>
              </a:rPr>
              <a:t>world['gdppcap08'].mean()</a:t>
            </a:r>
          </a:p>
          <a:p>
            <a:pPr algn="just"/>
            <a:r>
              <a:rPr lang="en-US" dirty="0"/>
              <a:t>Out[82]: 14034.8</a:t>
            </a:r>
          </a:p>
        </p:txBody>
      </p:sp>
      <p:sp>
        <p:nvSpPr>
          <p:cNvPr id="4" name="Slide Number Placeholder 3">
            <a:extLst>
              <a:ext uri="{FF2B5EF4-FFF2-40B4-BE49-F238E27FC236}">
                <a16:creationId xmlns:a16="http://schemas.microsoft.com/office/drawing/2014/main" id="{40C3DEA5-7B4E-451B-9E13-3027C37352F9}"/>
              </a:ext>
            </a:extLst>
          </p:cNvPr>
          <p:cNvSpPr>
            <a:spLocks noGrp="1"/>
          </p:cNvSpPr>
          <p:nvPr>
            <p:ph type="sldNum" sz="quarter" idx="12"/>
          </p:nvPr>
        </p:nvSpPr>
        <p:spPr/>
        <p:txBody>
          <a:bodyPr/>
          <a:lstStyle/>
          <a:p>
            <a:fld id="{6B97D948-30E8-43F7-AE10-F6E2D9F2BBB1}" type="slidenum">
              <a:rPr lang="en-US" smtClean="0"/>
              <a:t>326</a:t>
            </a:fld>
            <a:endParaRPr lang="en-US"/>
          </a:p>
        </p:txBody>
      </p:sp>
    </p:spTree>
    <p:extLst>
      <p:ext uri="{BB962C8B-B14F-4D97-AF65-F5344CB8AC3E}">
        <p14:creationId xmlns:p14="http://schemas.microsoft.com/office/powerpoint/2010/main" val="3868802564"/>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DFF96-9F77-4A44-8D26-612104719505}"/>
              </a:ext>
            </a:extLst>
          </p:cNvPr>
          <p:cNvSpPr>
            <a:spLocks noGrp="1"/>
          </p:cNvSpPr>
          <p:nvPr>
            <p:ph type="title"/>
          </p:nvPr>
        </p:nvSpPr>
        <p:spPr>
          <a:xfrm>
            <a:off x="838200" y="365126"/>
            <a:ext cx="10515600" cy="804108"/>
          </a:xfrm>
        </p:spPr>
        <p:txBody>
          <a:bodyPr/>
          <a:lstStyle/>
          <a:p>
            <a:r>
              <a:rPr lang="en-US" dirty="0"/>
              <a:t>A stress-free way. . . </a:t>
            </a:r>
          </a:p>
        </p:txBody>
      </p:sp>
      <p:sp>
        <p:nvSpPr>
          <p:cNvPr id="3" name="Content Placeholder 2">
            <a:extLst>
              <a:ext uri="{FF2B5EF4-FFF2-40B4-BE49-F238E27FC236}">
                <a16:creationId xmlns:a16="http://schemas.microsoft.com/office/drawing/2014/main" id="{4047D3DB-4511-40E1-A10F-268EAF2E188E}"/>
              </a:ext>
            </a:extLst>
          </p:cNvPr>
          <p:cNvSpPr>
            <a:spLocks noGrp="1"/>
          </p:cNvSpPr>
          <p:nvPr>
            <p:ph idx="1"/>
          </p:nvPr>
        </p:nvSpPr>
        <p:spPr>
          <a:xfrm>
            <a:off x="838200" y="1169234"/>
            <a:ext cx="10515600" cy="5007729"/>
          </a:xfrm>
        </p:spPr>
        <p:txBody>
          <a:bodyPr/>
          <a:lstStyle/>
          <a:p>
            <a:pPr algn="just"/>
            <a:r>
              <a:rPr lang="en-US" dirty="0"/>
              <a:t>There’s one other option in these situations.</a:t>
            </a:r>
          </a:p>
          <a:p>
            <a:pPr algn="just"/>
            <a:r>
              <a:rPr lang="en-US" dirty="0"/>
              <a:t>If </a:t>
            </a:r>
            <a:r>
              <a:rPr lang="en-US" dirty="0" err="1">
                <a:solidFill>
                  <a:srgbClr val="FF0000"/>
                </a:solidFill>
              </a:rPr>
              <a:t>na</a:t>
            </a:r>
            <a:r>
              <a:rPr lang="en-US" dirty="0"/>
              <a:t> is appearing in lots of places in the data as a representation for missing data, we can also communicate this fact to </a:t>
            </a:r>
            <a:r>
              <a:rPr lang="en-US" dirty="0" err="1"/>
              <a:t>read_csv</a:t>
            </a:r>
            <a:r>
              <a:rPr lang="en-US" dirty="0"/>
              <a:t>. </a:t>
            </a:r>
          </a:p>
          <a:p>
            <a:pPr algn="just"/>
            <a:r>
              <a:rPr lang="en-US" dirty="0"/>
              <a:t>We can parse </a:t>
            </a:r>
            <a:r>
              <a:rPr lang="en-US" dirty="0" err="1">
                <a:solidFill>
                  <a:srgbClr val="FF0000"/>
                </a:solidFill>
              </a:rPr>
              <a:t>na_values</a:t>
            </a:r>
            <a:r>
              <a:rPr lang="en-US" dirty="0"/>
              <a:t>, where you can specify how missing data is represented in a dataset. </a:t>
            </a:r>
          </a:p>
          <a:p>
            <a:pPr algn="just"/>
            <a:r>
              <a:rPr lang="en-US" dirty="0"/>
              <a:t>If we use that to tell </a:t>
            </a:r>
            <a:r>
              <a:rPr lang="en-US" dirty="0" err="1"/>
              <a:t>read_csv</a:t>
            </a:r>
            <a:r>
              <a:rPr lang="en-US" dirty="0"/>
              <a:t> that "</a:t>
            </a:r>
            <a:r>
              <a:rPr lang="en-US" dirty="0" err="1"/>
              <a:t>na</a:t>
            </a:r>
            <a:r>
              <a:rPr lang="en-US" dirty="0"/>
              <a:t>" means data is missing, it’ll make this correction on the fly.</a:t>
            </a:r>
          </a:p>
          <a:p>
            <a:pPr algn="just"/>
            <a:endParaRPr lang="en-US" dirty="0"/>
          </a:p>
        </p:txBody>
      </p:sp>
      <p:sp>
        <p:nvSpPr>
          <p:cNvPr id="4" name="Slide Number Placeholder 3">
            <a:extLst>
              <a:ext uri="{FF2B5EF4-FFF2-40B4-BE49-F238E27FC236}">
                <a16:creationId xmlns:a16="http://schemas.microsoft.com/office/drawing/2014/main" id="{ECF7619F-0124-4CFE-97A7-5ADC0893DBCE}"/>
              </a:ext>
            </a:extLst>
          </p:cNvPr>
          <p:cNvSpPr>
            <a:spLocks noGrp="1"/>
          </p:cNvSpPr>
          <p:nvPr>
            <p:ph type="sldNum" sz="quarter" idx="12"/>
          </p:nvPr>
        </p:nvSpPr>
        <p:spPr/>
        <p:txBody>
          <a:bodyPr/>
          <a:lstStyle/>
          <a:p>
            <a:fld id="{6B97D948-30E8-43F7-AE10-F6E2D9F2BBB1}" type="slidenum">
              <a:rPr lang="en-US" smtClean="0"/>
              <a:t>327</a:t>
            </a:fld>
            <a:endParaRPr lang="en-US"/>
          </a:p>
        </p:txBody>
      </p:sp>
    </p:spTree>
    <p:extLst>
      <p:ext uri="{BB962C8B-B14F-4D97-AF65-F5344CB8AC3E}">
        <p14:creationId xmlns:p14="http://schemas.microsoft.com/office/powerpoint/2010/main" val="2454368205"/>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E02E13-D1B7-49CD-B96F-D39D3AECFED9}"/>
              </a:ext>
            </a:extLst>
          </p:cNvPr>
          <p:cNvSpPr>
            <a:spLocks noGrp="1"/>
          </p:cNvSpPr>
          <p:nvPr>
            <p:ph idx="1"/>
          </p:nvPr>
        </p:nvSpPr>
        <p:spPr>
          <a:xfrm>
            <a:off x="838200" y="434715"/>
            <a:ext cx="10515600" cy="5742248"/>
          </a:xfrm>
        </p:spPr>
        <p:txBody>
          <a:bodyPr>
            <a:normAutofit/>
          </a:bodyPr>
          <a:lstStyle/>
          <a:p>
            <a:r>
              <a:rPr lang="en-US" dirty="0">
                <a:solidFill>
                  <a:srgbClr val="FF0000"/>
                </a:solidFill>
              </a:rPr>
              <a:t>world = </a:t>
            </a:r>
            <a:r>
              <a:rPr lang="en-US" dirty="0" err="1">
                <a:solidFill>
                  <a:srgbClr val="FF0000"/>
                </a:solidFill>
              </a:rPr>
              <a:t>pd.read_csv</a:t>
            </a:r>
            <a:r>
              <a:rPr lang="en-US" dirty="0">
                <a:solidFill>
                  <a:srgbClr val="FF0000"/>
                </a:solidFill>
              </a:rPr>
              <a:t>('world-very-small-type-errors.csv', </a:t>
            </a:r>
            <a:r>
              <a:rPr lang="en-US" dirty="0" err="1">
                <a:solidFill>
                  <a:srgbClr val="FF0000"/>
                </a:solidFill>
              </a:rPr>
              <a:t>na_values</a:t>
            </a:r>
            <a:r>
              <a:rPr lang="en-US" dirty="0">
                <a:solidFill>
                  <a:srgbClr val="FF0000"/>
                </a:solidFill>
              </a:rPr>
              <a:t> = '</a:t>
            </a:r>
            <a:r>
              <a:rPr lang="en-US" dirty="0" err="1">
                <a:solidFill>
                  <a:srgbClr val="FF0000"/>
                </a:solidFill>
              </a:rPr>
              <a:t>na</a:t>
            </a:r>
            <a:r>
              <a:rPr lang="en-US" dirty="0">
                <a:solidFill>
                  <a:srgbClr val="FF0000"/>
                </a:solidFill>
              </a:rPr>
              <a:t>')</a:t>
            </a:r>
          </a:p>
          <a:p>
            <a:r>
              <a:rPr lang="en-US" dirty="0">
                <a:solidFill>
                  <a:srgbClr val="FF0000"/>
                </a:solidFill>
              </a:rPr>
              <a:t>world</a:t>
            </a:r>
          </a:p>
          <a:p>
            <a:r>
              <a:rPr lang="en-US" dirty="0"/>
              <a:t>Out[83]:</a:t>
            </a:r>
          </a:p>
          <a:p>
            <a:r>
              <a:rPr lang="en-US" dirty="0"/>
              <a:t>      country      region  gdppcap08      </a:t>
            </a:r>
            <a:r>
              <a:rPr lang="en-US" dirty="0" err="1"/>
              <a:t>polityIV</a:t>
            </a:r>
            <a:endParaRPr lang="en-US" dirty="0"/>
          </a:p>
          <a:p>
            <a:r>
              <a:rPr lang="en-US" dirty="0"/>
              <a:t>0      Brazil  S. America    10296.0            18</a:t>
            </a:r>
          </a:p>
          <a:p>
            <a:r>
              <a:rPr lang="en-US" dirty="0"/>
              <a:t>1     Germany   W. Europe    35613.0  20 or higher</a:t>
            </a:r>
          </a:p>
          <a:p>
            <a:r>
              <a:rPr lang="en-US" dirty="0"/>
              <a:t>2      Mexico  N. America        </a:t>
            </a:r>
            <a:r>
              <a:rPr lang="en-US" dirty="0" err="1"/>
              <a:t>NaN</a:t>
            </a:r>
            <a:r>
              <a:rPr lang="en-US" dirty="0"/>
              <a:t>            18</a:t>
            </a:r>
          </a:p>
          <a:p>
            <a:r>
              <a:rPr lang="en-US" dirty="0"/>
              <a:t>3  Mozambique      Africa      855.0            16</a:t>
            </a:r>
          </a:p>
          <a:p>
            <a:r>
              <a:rPr lang="en-US" dirty="0"/>
              <a:t>4      Russia  C&amp;E Europe    16139.0            17</a:t>
            </a:r>
          </a:p>
          <a:p>
            <a:r>
              <a:rPr lang="en-US" dirty="0"/>
              <a:t>5     Ukraine  C&amp;E Europe     7271.0            16</a:t>
            </a:r>
          </a:p>
        </p:txBody>
      </p:sp>
      <p:sp>
        <p:nvSpPr>
          <p:cNvPr id="4" name="Slide Number Placeholder 3">
            <a:extLst>
              <a:ext uri="{FF2B5EF4-FFF2-40B4-BE49-F238E27FC236}">
                <a16:creationId xmlns:a16="http://schemas.microsoft.com/office/drawing/2014/main" id="{6D100979-F71C-427E-9C12-7CC1DCEBC965}"/>
              </a:ext>
            </a:extLst>
          </p:cNvPr>
          <p:cNvSpPr>
            <a:spLocks noGrp="1"/>
          </p:cNvSpPr>
          <p:nvPr>
            <p:ph type="sldNum" sz="quarter" idx="12"/>
          </p:nvPr>
        </p:nvSpPr>
        <p:spPr/>
        <p:txBody>
          <a:bodyPr/>
          <a:lstStyle/>
          <a:p>
            <a:fld id="{6B97D948-30E8-43F7-AE10-F6E2D9F2BBB1}" type="slidenum">
              <a:rPr lang="en-US" smtClean="0"/>
              <a:t>328</a:t>
            </a:fld>
            <a:endParaRPr lang="en-US"/>
          </a:p>
        </p:txBody>
      </p:sp>
    </p:spTree>
    <p:extLst>
      <p:ext uri="{BB962C8B-B14F-4D97-AF65-F5344CB8AC3E}">
        <p14:creationId xmlns:p14="http://schemas.microsoft.com/office/powerpoint/2010/main" val="312189392"/>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CC08ED-86D0-4691-AA58-3E0ADC8C0424}"/>
              </a:ext>
            </a:extLst>
          </p:cNvPr>
          <p:cNvSpPr>
            <a:spLocks noGrp="1"/>
          </p:cNvSpPr>
          <p:nvPr>
            <p:ph idx="1"/>
          </p:nvPr>
        </p:nvSpPr>
        <p:spPr>
          <a:xfrm>
            <a:off x="838200" y="509666"/>
            <a:ext cx="10515600" cy="5667297"/>
          </a:xfrm>
        </p:spPr>
        <p:txBody>
          <a:bodyPr/>
          <a:lstStyle/>
          <a:p>
            <a:r>
              <a:rPr lang="en-US" dirty="0"/>
              <a:t> </a:t>
            </a:r>
            <a:r>
              <a:rPr lang="en-US" dirty="0" err="1">
                <a:solidFill>
                  <a:srgbClr val="FF0000"/>
                </a:solidFill>
              </a:rPr>
              <a:t>world.dtypes</a:t>
            </a:r>
            <a:endParaRPr lang="en-US" dirty="0">
              <a:solidFill>
                <a:srgbClr val="FF0000"/>
              </a:solidFill>
            </a:endParaRPr>
          </a:p>
          <a:p>
            <a:r>
              <a:rPr lang="en-US" dirty="0"/>
              <a:t>Out[84]:</a:t>
            </a:r>
          </a:p>
          <a:p>
            <a:r>
              <a:rPr lang="en-US" dirty="0"/>
              <a:t>country       object</a:t>
            </a:r>
          </a:p>
          <a:p>
            <a:r>
              <a:rPr lang="en-US" dirty="0"/>
              <a:t>region        object</a:t>
            </a:r>
          </a:p>
          <a:p>
            <a:r>
              <a:rPr lang="en-US" dirty="0"/>
              <a:t>gdppcap08    float64</a:t>
            </a:r>
          </a:p>
          <a:p>
            <a:r>
              <a:rPr lang="en-US" dirty="0" err="1"/>
              <a:t>polityIV</a:t>
            </a:r>
            <a:r>
              <a:rPr lang="en-US" dirty="0"/>
              <a:t>      object</a:t>
            </a:r>
          </a:p>
        </p:txBody>
      </p:sp>
      <p:sp>
        <p:nvSpPr>
          <p:cNvPr id="4" name="Slide Number Placeholder 3">
            <a:extLst>
              <a:ext uri="{FF2B5EF4-FFF2-40B4-BE49-F238E27FC236}">
                <a16:creationId xmlns:a16="http://schemas.microsoft.com/office/drawing/2014/main" id="{EF8F3DB5-3E3E-4908-B090-1CBE6EF465AF}"/>
              </a:ext>
            </a:extLst>
          </p:cNvPr>
          <p:cNvSpPr>
            <a:spLocks noGrp="1"/>
          </p:cNvSpPr>
          <p:nvPr>
            <p:ph type="sldNum" sz="quarter" idx="12"/>
          </p:nvPr>
        </p:nvSpPr>
        <p:spPr/>
        <p:txBody>
          <a:bodyPr/>
          <a:lstStyle/>
          <a:p>
            <a:fld id="{6B97D948-30E8-43F7-AE10-F6E2D9F2BBB1}" type="slidenum">
              <a:rPr lang="en-US" smtClean="0"/>
              <a:t>329</a:t>
            </a:fld>
            <a:endParaRPr lang="en-US"/>
          </a:p>
        </p:txBody>
      </p:sp>
    </p:spTree>
    <p:extLst>
      <p:ext uri="{BB962C8B-B14F-4D97-AF65-F5344CB8AC3E}">
        <p14:creationId xmlns:p14="http://schemas.microsoft.com/office/powerpoint/2010/main" val="3292661968"/>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630B-D87F-4F46-850F-4AF8E65FADA3}"/>
              </a:ext>
            </a:extLst>
          </p:cNvPr>
          <p:cNvSpPr>
            <a:spLocks noGrp="1"/>
          </p:cNvSpPr>
          <p:nvPr>
            <p:ph type="title"/>
          </p:nvPr>
        </p:nvSpPr>
        <p:spPr>
          <a:xfrm>
            <a:off x="838200" y="365126"/>
            <a:ext cx="10515600" cy="639216"/>
          </a:xfrm>
        </p:spPr>
        <p:txBody>
          <a:bodyPr>
            <a:normAutofit fontScale="90000"/>
          </a:bodyPr>
          <a:lstStyle/>
          <a:p>
            <a:r>
              <a:rPr lang="en-US" dirty="0"/>
              <a:t>Deliberate Non-</a:t>
            </a:r>
            <a:r>
              <a:rPr lang="en-US" dirty="0" err="1"/>
              <a:t>Numerics</a:t>
            </a:r>
            <a:endParaRPr lang="en-US" dirty="0"/>
          </a:p>
        </p:txBody>
      </p:sp>
      <p:sp>
        <p:nvSpPr>
          <p:cNvPr id="3" name="Content Placeholder 2">
            <a:extLst>
              <a:ext uri="{FF2B5EF4-FFF2-40B4-BE49-F238E27FC236}">
                <a16:creationId xmlns:a16="http://schemas.microsoft.com/office/drawing/2014/main" id="{DD531217-553C-4BE3-8EB1-90724D2EF8B5}"/>
              </a:ext>
            </a:extLst>
          </p:cNvPr>
          <p:cNvSpPr>
            <a:spLocks noGrp="1"/>
          </p:cNvSpPr>
          <p:nvPr>
            <p:ph idx="1"/>
          </p:nvPr>
        </p:nvSpPr>
        <p:spPr>
          <a:xfrm>
            <a:off x="838200" y="1004342"/>
            <a:ext cx="10515600" cy="5172621"/>
          </a:xfrm>
        </p:spPr>
        <p:txBody>
          <a:bodyPr/>
          <a:lstStyle/>
          <a:p>
            <a:pPr algn="just"/>
            <a:r>
              <a:rPr lang="en-US" dirty="0"/>
              <a:t>In the example above "</a:t>
            </a:r>
            <a:r>
              <a:rPr lang="en-US" dirty="0" err="1"/>
              <a:t>na</a:t>
            </a:r>
            <a:r>
              <a:rPr lang="en-US" dirty="0"/>
              <a:t>" wasn’t really meant to be interpreted as a string.</a:t>
            </a:r>
          </a:p>
          <a:p>
            <a:pPr algn="just"/>
            <a:r>
              <a:rPr lang="en-US" dirty="0"/>
              <a:t>Sometimes non-numeric values are inserted into datasets to communicate something important to the user. </a:t>
            </a:r>
          </a:p>
          <a:p>
            <a:pPr algn="just"/>
            <a:r>
              <a:rPr lang="en-US" dirty="0"/>
              <a:t>For example, in this example, </a:t>
            </a:r>
            <a:r>
              <a:rPr lang="en-US" dirty="0" err="1"/>
              <a:t>polityIV</a:t>
            </a:r>
            <a:r>
              <a:rPr lang="en-US" dirty="0"/>
              <a:t> has a non-numeric value.</a:t>
            </a:r>
          </a:p>
          <a:p>
            <a:pPr algn="just"/>
            <a:r>
              <a:rPr lang="en-US" dirty="0"/>
              <a:t> </a:t>
            </a:r>
            <a:r>
              <a:rPr lang="en-US" dirty="0" err="1">
                <a:solidFill>
                  <a:srgbClr val="FF0000"/>
                </a:solidFill>
              </a:rPr>
              <a:t>world.loc</a:t>
            </a:r>
            <a:r>
              <a:rPr lang="en-US" dirty="0">
                <a:solidFill>
                  <a:srgbClr val="FF0000"/>
                </a:solidFill>
              </a:rPr>
              <a:t>[~world['</a:t>
            </a:r>
            <a:r>
              <a:rPr lang="en-US" dirty="0" err="1">
                <a:solidFill>
                  <a:srgbClr val="FF0000"/>
                </a:solidFill>
              </a:rPr>
              <a:t>polityIV</a:t>
            </a:r>
            <a:r>
              <a:rPr lang="en-US" dirty="0">
                <a:solidFill>
                  <a:srgbClr val="FF0000"/>
                </a:solidFill>
              </a:rPr>
              <a:t>'].</a:t>
            </a:r>
            <a:r>
              <a:rPr lang="en-US" dirty="0" err="1">
                <a:solidFill>
                  <a:srgbClr val="FF0000"/>
                </a:solidFill>
              </a:rPr>
              <a:t>str.isnumeric</a:t>
            </a:r>
            <a:r>
              <a:rPr lang="en-US" dirty="0">
                <a:solidFill>
                  <a:srgbClr val="FF0000"/>
                </a:solidFill>
              </a:rPr>
              <a:t>()]</a:t>
            </a:r>
          </a:p>
          <a:p>
            <a:pPr algn="just"/>
            <a:r>
              <a:rPr lang="en-US" dirty="0"/>
              <a:t>Out[85]:</a:t>
            </a:r>
          </a:p>
          <a:p>
            <a:pPr algn="just"/>
            <a:r>
              <a:rPr lang="en-US" dirty="0"/>
              <a:t>   country     region  gdppcap08      </a:t>
            </a:r>
            <a:r>
              <a:rPr lang="en-US" dirty="0" err="1"/>
              <a:t>polityIV</a:t>
            </a:r>
            <a:endParaRPr lang="en-US" dirty="0"/>
          </a:p>
          <a:p>
            <a:pPr algn="just"/>
            <a:r>
              <a:rPr lang="en-US" dirty="0"/>
              <a:t>1  Germany  W. Europe    35613.0  20 or higher</a:t>
            </a:r>
          </a:p>
        </p:txBody>
      </p:sp>
      <p:sp>
        <p:nvSpPr>
          <p:cNvPr id="4" name="Slide Number Placeholder 3">
            <a:extLst>
              <a:ext uri="{FF2B5EF4-FFF2-40B4-BE49-F238E27FC236}">
                <a16:creationId xmlns:a16="http://schemas.microsoft.com/office/drawing/2014/main" id="{08156538-2908-482D-B81A-F6DCBC827F83}"/>
              </a:ext>
            </a:extLst>
          </p:cNvPr>
          <p:cNvSpPr>
            <a:spLocks noGrp="1"/>
          </p:cNvSpPr>
          <p:nvPr>
            <p:ph type="sldNum" sz="quarter" idx="12"/>
          </p:nvPr>
        </p:nvSpPr>
        <p:spPr/>
        <p:txBody>
          <a:bodyPr/>
          <a:lstStyle/>
          <a:p>
            <a:fld id="{6B97D948-30E8-43F7-AE10-F6E2D9F2BBB1}" type="slidenum">
              <a:rPr lang="en-US" smtClean="0"/>
              <a:t>330</a:t>
            </a:fld>
            <a:endParaRPr lang="en-US"/>
          </a:p>
        </p:txBody>
      </p:sp>
    </p:spTree>
    <p:extLst>
      <p:ext uri="{BB962C8B-B14F-4D97-AF65-F5344CB8AC3E}">
        <p14:creationId xmlns:p14="http://schemas.microsoft.com/office/powerpoint/2010/main" val="3393172005"/>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825B64-7625-476F-A49D-BAECC2BAF0AD}"/>
              </a:ext>
            </a:extLst>
          </p:cNvPr>
          <p:cNvSpPr>
            <a:spLocks noGrp="1"/>
          </p:cNvSpPr>
          <p:nvPr>
            <p:ph idx="1"/>
          </p:nvPr>
        </p:nvSpPr>
        <p:spPr>
          <a:xfrm>
            <a:off x="838200" y="344774"/>
            <a:ext cx="10515600" cy="5832189"/>
          </a:xfrm>
        </p:spPr>
        <p:txBody>
          <a:bodyPr>
            <a:normAutofit fontScale="92500" lnSpcReduction="10000"/>
          </a:bodyPr>
          <a:lstStyle/>
          <a:p>
            <a:r>
              <a:rPr lang="en-US" dirty="0"/>
              <a:t>Here, the value is to indicate that the value of </a:t>
            </a:r>
            <a:r>
              <a:rPr lang="en-US" dirty="0" err="1"/>
              <a:t>polityIV</a:t>
            </a:r>
            <a:r>
              <a:rPr lang="en-US" dirty="0"/>
              <a:t> could be 20 or any value above 20. </a:t>
            </a:r>
          </a:p>
          <a:p>
            <a:pPr algn="just"/>
            <a:r>
              <a:rPr lang="en-US" dirty="0"/>
              <a:t>Why might this occur? </a:t>
            </a:r>
          </a:p>
          <a:p>
            <a:pPr algn="just"/>
            <a:r>
              <a:rPr lang="en-US" dirty="0"/>
              <a:t>In many surveys, there will be a maximum value allowed (e.g., some surveys have a top income value they can record). </a:t>
            </a:r>
          </a:p>
          <a:p>
            <a:pPr algn="just"/>
            <a:endParaRPr lang="en-US" dirty="0"/>
          </a:p>
          <a:p>
            <a:pPr algn="just"/>
            <a:r>
              <a:rPr lang="en-US" dirty="0"/>
              <a:t>These are called “top-codes”, and they are different from the case above because it’s not immediately clear what value you should put into the field. </a:t>
            </a:r>
          </a:p>
          <a:p>
            <a:pPr algn="just"/>
            <a:endParaRPr lang="en-US" dirty="0"/>
          </a:p>
          <a:p>
            <a:pPr algn="just"/>
            <a:r>
              <a:rPr lang="en-US" dirty="0"/>
              <a:t>You could put in 20, but… the value might not be 20, it could be 21!</a:t>
            </a:r>
          </a:p>
          <a:p>
            <a:pPr algn="just"/>
            <a:endParaRPr lang="en-US" dirty="0"/>
          </a:p>
          <a:p>
            <a:pPr algn="just"/>
            <a:r>
              <a:rPr lang="en-US" dirty="0"/>
              <a:t>So when you find a top-code like this, you need to think carefully about what to do with it, as the answer will depend on the type of analysis you want to do. </a:t>
            </a:r>
          </a:p>
        </p:txBody>
      </p:sp>
      <p:sp>
        <p:nvSpPr>
          <p:cNvPr id="4" name="Slide Number Placeholder 3">
            <a:extLst>
              <a:ext uri="{FF2B5EF4-FFF2-40B4-BE49-F238E27FC236}">
                <a16:creationId xmlns:a16="http://schemas.microsoft.com/office/drawing/2014/main" id="{F1E7EA70-71A9-467E-8B42-3ECDD3AED270}"/>
              </a:ext>
            </a:extLst>
          </p:cNvPr>
          <p:cNvSpPr>
            <a:spLocks noGrp="1"/>
          </p:cNvSpPr>
          <p:nvPr>
            <p:ph type="sldNum" sz="quarter" idx="12"/>
          </p:nvPr>
        </p:nvSpPr>
        <p:spPr/>
        <p:txBody>
          <a:bodyPr/>
          <a:lstStyle/>
          <a:p>
            <a:fld id="{6B97D948-30E8-43F7-AE10-F6E2D9F2BBB1}" type="slidenum">
              <a:rPr lang="en-US" smtClean="0"/>
              <a:t>331</a:t>
            </a:fld>
            <a:endParaRPr lang="en-US"/>
          </a:p>
        </p:txBody>
      </p:sp>
    </p:spTree>
    <p:extLst>
      <p:ext uri="{BB962C8B-B14F-4D97-AF65-F5344CB8AC3E}">
        <p14:creationId xmlns:p14="http://schemas.microsoft.com/office/powerpoint/2010/main" val="1753439406"/>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9CF79-95FF-48E2-8E19-F9C295F2727F}"/>
              </a:ext>
            </a:extLst>
          </p:cNvPr>
          <p:cNvSpPr>
            <a:spLocks noGrp="1"/>
          </p:cNvSpPr>
          <p:nvPr>
            <p:ph idx="1"/>
          </p:nvPr>
        </p:nvSpPr>
        <p:spPr/>
        <p:txBody>
          <a:bodyPr>
            <a:normAutofit/>
          </a:bodyPr>
          <a:lstStyle/>
          <a:p>
            <a:pPr marL="0" indent="0" algn="ctr">
              <a:buNone/>
            </a:pPr>
            <a:r>
              <a:rPr lang="en-US" sz="4800" dirty="0"/>
              <a:t>Combining, grouping, and querying data</a:t>
            </a:r>
          </a:p>
        </p:txBody>
      </p:sp>
      <p:sp>
        <p:nvSpPr>
          <p:cNvPr id="4" name="Slide Number Placeholder 3">
            <a:extLst>
              <a:ext uri="{FF2B5EF4-FFF2-40B4-BE49-F238E27FC236}">
                <a16:creationId xmlns:a16="http://schemas.microsoft.com/office/drawing/2014/main" id="{033037D7-B197-415E-AF64-B5A1EB606395}"/>
              </a:ext>
            </a:extLst>
          </p:cNvPr>
          <p:cNvSpPr>
            <a:spLocks noGrp="1"/>
          </p:cNvSpPr>
          <p:nvPr>
            <p:ph type="sldNum" sz="quarter" idx="12"/>
          </p:nvPr>
        </p:nvSpPr>
        <p:spPr/>
        <p:txBody>
          <a:bodyPr/>
          <a:lstStyle/>
          <a:p>
            <a:fld id="{6B97D948-30E8-43F7-AE10-F6E2D9F2BBB1}" type="slidenum">
              <a:rPr lang="en-US" smtClean="0"/>
              <a:t>332</a:t>
            </a:fld>
            <a:endParaRPr lang="en-US"/>
          </a:p>
        </p:txBody>
      </p:sp>
    </p:spTree>
    <p:extLst>
      <p:ext uri="{BB962C8B-B14F-4D97-AF65-F5344CB8AC3E}">
        <p14:creationId xmlns:p14="http://schemas.microsoft.com/office/powerpoint/2010/main" val="3796535621"/>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BC888-1C0D-4624-A4AA-9CD02564C2E8}"/>
              </a:ext>
            </a:extLst>
          </p:cNvPr>
          <p:cNvSpPr>
            <a:spLocks noGrp="1"/>
          </p:cNvSpPr>
          <p:nvPr>
            <p:ph type="title"/>
          </p:nvPr>
        </p:nvSpPr>
        <p:spPr>
          <a:xfrm>
            <a:off x="838200" y="365126"/>
            <a:ext cx="10515600" cy="864068"/>
          </a:xfrm>
        </p:spPr>
        <p:txBody>
          <a:bodyPr/>
          <a:lstStyle/>
          <a:p>
            <a:r>
              <a:rPr lang="en-US" dirty="0"/>
              <a:t>Combining data</a:t>
            </a:r>
          </a:p>
        </p:txBody>
      </p:sp>
      <p:sp>
        <p:nvSpPr>
          <p:cNvPr id="3" name="Content Placeholder 2">
            <a:extLst>
              <a:ext uri="{FF2B5EF4-FFF2-40B4-BE49-F238E27FC236}">
                <a16:creationId xmlns:a16="http://schemas.microsoft.com/office/drawing/2014/main" id="{BF059D31-5ED2-4C9A-87BF-659372058D68}"/>
              </a:ext>
            </a:extLst>
          </p:cNvPr>
          <p:cNvSpPr>
            <a:spLocks noGrp="1"/>
          </p:cNvSpPr>
          <p:nvPr>
            <p:ph idx="1"/>
          </p:nvPr>
        </p:nvSpPr>
        <p:spPr>
          <a:xfrm>
            <a:off x="838200" y="1229194"/>
            <a:ext cx="10515600" cy="4947769"/>
          </a:xfrm>
        </p:spPr>
        <p:txBody>
          <a:bodyPr/>
          <a:lstStyle/>
          <a:p>
            <a:pPr algn="just"/>
            <a:r>
              <a:rPr lang="en-US" dirty="0"/>
              <a:t>Up until this point, we’ve assumed our data comes as a single table or file. </a:t>
            </a:r>
          </a:p>
          <a:p>
            <a:pPr algn="just"/>
            <a:r>
              <a:rPr lang="en-US" dirty="0"/>
              <a:t>While the data may need some cleaning up, they we’ve it into one table or </a:t>
            </a:r>
            <a:r>
              <a:rPr lang="en-US" dirty="0" err="1"/>
              <a:t>DataFrame</a:t>
            </a:r>
            <a:r>
              <a:rPr lang="en-US" dirty="0"/>
              <a:t>. </a:t>
            </a:r>
          </a:p>
          <a:p>
            <a:pPr algn="just"/>
            <a:endParaRPr lang="en-US" dirty="0"/>
          </a:p>
          <a:p>
            <a:pPr algn="just"/>
            <a:r>
              <a:rPr lang="en-US" dirty="0"/>
              <a:t>This is not always the case, since we frequently want to combined data from multiple sources. </a:t>
            </a:r>
          </a:p>
        </p:txBody>
      </p:sp>
      <p:sp>
        <p:nvSpPr>
          <p:cNvPr id="4" name="Slide Number Placeholder 3">
            <a:extLst>
              <a:ext uri="{FF2B5EF4-FFF2-40B4-BE49-F238E27FC236}">
                <a16:creationId xmlns:a16="http://schemas.microsoft.com/office/drawing/2014/main" id="{78E8BCD5-DCEB-4B32-80C0-C381CA5F0C14}"/>
              </a:ext>
            </a:extLst>
          </p:cNvPr>
          <p:cNvSpPr>
            <a:spLocks noGrp="1"/>
          </p:cNvSpPr>
          <p:nvPr>
            <p:ph type="sldNum" sz="quarter" idx="12"/>
          </p:nvPr>
        </p:nvSpPr>
        <p:spPr/>
        <p:txBody>
          <a:bodyPr/>
          <a:lstStyle/>
          <a:p>
            <a:fld id="{6B97D948-30E8-43F7-AE10-F6E2D9F2BBB1}" type="slidenum">
              <a:rPr lang="en-US" smtClean="0"/>
              <a:t>333</a:t>
            </a:fld>
            <a:endParaRPr lang="en-US"/>
          </a:p>
        </p:txBody>
      </p:sp>
    </p:spTree>
    <p:extLst>
      <p:ext uri="{BB962C8B-B14F-4D97-AF65-F5344CB8AC3E}">
        <p14:creationId xmlns:p14="http://schemas.microsoft.com/office/powerpoint/2010/main" val="1939401873"/>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A6D31-03F4-4BC3-9EA9-5D7236016927}"/>
              </a:ext>
            </a:extLst>
          </p:cNvPr>
          <p:cNvSpPr>
            <a:spLocks noGrp="1"/>
          </p:cNvSpPr>
          <p:nvPr>
            <p:ph type="title"/>
          </p:nvPr>
        </p:nvSpPr>
        <p:spPr>
          <a:xfrm>
            <a:off x="838200" y="365126"/>
            <a:ext cx="10515600" cy="609236"/>
          </a:xfrm>
        </p:spPr>
        <p:txBody>
          <a:bodyPr>
            <a:normAutofit fontScale="90000"/>
          </a:bodyPr>
          <a:lstStyle/>
          <a:p>
            <a:r>
              <a:rPr lang="en-US" dirty="0"/>
              <a:t>Concatenate</a:t>
            </a:r>
          </a:p>
        </p:txBody>
      </p:sp>
      <p:sp>
        <p:nvSpPr>
          <p:cNvPr id="3" name="Content Placeholder 2">
            <a:extLst>
              <a:ext uri="{FF2B5EF4-FFF2-40B4-BE49-F238E27FC236}">
                <a16:creationId xmlns:a16="http://schemas.microsoft.com/office/drawing/2014/main" id="{29F498ED-C38D-4917-955B-916F6E242EDE}"/>
              </a:ext>
            </a:extLst>
          </p:cNvPr>
          <p:cNvSpPr>
            <a:spLocks noGrp="1"/>
          </p:cNvSpPr>
          <p:nvPr>
            <p:ph idx="1"/>
          </p:nvPr>
        </p:nvSpPr>
        <p:spPr>
          <a:xfrm>
            <a:off x="838200" y="974362"/>
            <a:ext cx="10515600" cy="5202601"/>
          </a:xfrm>
        </p:spPr>
        <p:txBody>
          <a:bodyPr/>
          <a:lstStyle/>
          <a:p>
            <a:pPr algn="just"/>
            <a:r>
              <a:rPr lang="en-US" dirty="0"/>
              <a:t>Concatenate allows us to add rows or columns from one </a:t>
            </a:r>
            <a:r>
              <a:rPr lang="en-US" dirty="0" err="1"/>
              <a:t>DataFrame</a:t>
            </a:r>
            <a:r>
              <a:rPr lang="en-US" dirty="0"/>
              <a:t> to another. </a:t>
            </a:r>
          </a:p>
          <a:p>
            <a:pPr algn="just"/>
            <a:endParaRPr lang="en-US" dirty="0"/>
          </a:p>
          <a:p>
            <a:pPr algn="just"/>
            <a:r>
              <a:rPr lang="en-US" dirty="0"/>
              <a:t>This could be useful if we have two datasets with medical patient data and we want to combine the two sets of patient datasets into one.</a:t>
            </a:r>
          </a:p>
        </p:txBody>
      </p:sp>
      <p:sp>
        <p:nvSpPr>
          <p:cNvPr id="4" name="Slide Number Placeholder 3">
            <a:extLst>
              <a:ext uri="{FF2B5EF4-FFF2-40B4-BE49-F238E27FC236}">
                <a16:creationId xmlns:a16="http://schemas.microsoft.com/office/drawing/2014/main" id="{906617C2-28A6-461A-9F93-B4A7C8E70A03}"/>
              </a:ext>
            </a:extLst>
          </p:cNvPr>
          <p:cNvSpPr>
            <a:spLocks noGrp="1"/>
          </p:cNvSpPr>
          <p:nvPr>
            <p:ph type="sldNum" sz="quarter" idx="12"/>
          </p:nvPr>
        </p:nvSpPr>
        <p:spPr/>
        <p:txBody>
          <a:bodyPr/>
          <a:lstStyle/>
          <a:p>
            <a:fld id="{6B97D948-30E8-43F7-AE10-F6E2D9F2BBB1}" type="slidenum">
              <a:rPr lang="en-US" smtClean="0"/>
              <a:t>334</a:t>
            </a:fld>
            <a:endParaRPr lang="en-US"/>
          </a:p>
        </p:txBody>
      </p:sp>
    </p:spTree>
    <p:extLst>
      <p:ext uri="{BB962C8B-B14F-4D97-AF65-F5344CB8AC3E}">
        <p14:creationId xmlns:p14="http://schemas.microsoft.com/office/powerpoint/2010/main" val="4105909376"/>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9F6F-475D-4B5D-B6BB-02F0C5A5D3A7}"/>
              </a:ext>
            </a:extLst>
          </p:cNvPr>
          <p:cNvSpPr>
            <a:spLocks noGrp="1"/>
          </p:cNvSpPr>
          <p:nvPr>
            <p:ph type="title"/>
          </p:nvPr>
        </p:nvSpPr>
        <p:spPr>
          <a:xfrm>
            <a:off x="838200" y="365125"/>
            <a:ext cx="10515600" cy="534285"/>
          </a:xfrm>
        </p:spPr>
        <p:txBody>
          <a:bodyPr>
            <a:normAutofit fontScale="90000"/>
          </a:bodyPr>
          <a:lstStyle/>
          <a:p>
            <a:r>
              <a:rPr lang="en-US" dirty="0"/>
              <a:t>Merge</a:t>
            </a:r>
          </a:p>
        </p:txBody>
      </p:sp>
      <p:sp>
        <p:nvSpPr>
          <p:cNvPr id="3" name="Content Placeholder 2">
            <a:extLst>
              <a:ext uri="{FF2B5EF4-FFF2-40B4-BE49-F238E27FC236}">
                <a16:creationId xmlns:a16="http://schemas.microsoft.com/office/drawing/2014/main" id="{1EBEDD60-4FBF-478C-8105-58F500735BA7}"/>
              </a:ext>
            </a:extLst>
          </p:cNvPr>
          <p:cNvSpPr>
            <a:spLocks noGrp="1"/>
          </p:cNvSpPr>
          <p:nvPr>
            <p:ph idx="1"/>
          </p:nvPr>
        </p:nvSpPr>
        <p:spPr>
          <a:xfrm>
            <a:off x="838200" y="899410"/>
            <a:ext cx="10515600" cy="5277553"/>
          </a:xfrm>
        </p:spPr>
        <p:txBody>
          <a:bodyPr/>
          <a:lstStyle/>
          <a:p>
            <a:pPr algn="just"/>
            <a:r>
              <a:rPr lang="en-US" dirty="0"/>
              <a:t>Merge allows us to combine the contents of two </a:t>
            </a:r>
            <a:r>
              <a:rPr lang="en-US" dirty="0" err="1"/>
              <a:t>DataFrames</a:t>
            </a:r>
            <a:r>
              <a:rPr lang="en-US" dirty="0"/>
              <a:t>. </a:t>
            </a:r>
          </a:p>
          <a:p>
            <a:pPr algn="just"/>
            <a:r>
              <a:rPr lang="en-US" dirty="0"/>
              <a:t>If we had two sets of patient data: </a:t>
            </a:r>
          </a:p>
          <a:p>
            <a:pPr algn="just"/>
            <a:r>
              <a:rPr lang="en-US" dirty="0"/>
              <a:t>one with data on recent vital signs records like heart rate, blood pressure, and temperature and </a:t>
            </a:r>
          </a:p>
          <a:p>
            <a:pPr algn="just"/>
            <a:r>
              <a:rPr lang="en-US" dirty="0"/>
              <a:t>a second set that contains past medical diagnoses (does the patient have asthma, anemia, etc.), and perhaps only some of the patients are contained in both. </a:t>
            </a:r>
          </a:p>
          <a:p>
            <a:pPr algn="just"/>
            <a:endParaRPr lang="en-US" dirty="0"/>
          </a:p>
          <a:p>
            <a:pPr algn="just"/>
            <a:r>
              <a:rPr lang="en-US" dirty="0"/>
              <a:t>Merging is how we combine these datasets together into one.</a:t>
            </a:r>
          </a:p>
        </p:txBody>
      </p:sp>
      <p:sp>
        <p:nvSpPr>
          <p:cNvPr id="4" name="Slide Number Placeholder 3">
            <a:extLst>
              <a:ext uri="{FF2B5EF4-FFF2-40B4-BE49-F238E27FC236}">
                <a16:creationId xmlns:a16="http://schemas.microsoft.com/office/drawing/2014/main" id="{DA95D027-D2A2-4039-9E92-639A6A3C9B06}"/>
              </a:ext>
            </a:extLst>
          </p:cNvPr>
          <p:cNvSpPr>
            <a:spLocks noGrp="1"/>
          </p:cNvSpPr>
          <p:nvPr>
            <p:ph type="sldNum" sz="quarter" idx="12"/>
          </p:nvPr>
        </p:nvSpPr>
        <p:spPr/>
        <p:txBody>
          <a:bodyPr/>
          <a:lstStyle/>
          <a:p>
            <a:fld id="{6B97D948-30E8-43F7-AE10-F6E2D9F2BBB1}" type="slidenum">
              <a:rPr lang="en-US" smtClean="0"/>
              <a:t>335</a:t>
            </a:fld>
            <a:endParaRPr lang="en-US"/>
          </a:p>
        </p:txBody>
      </p:sp>
    </p:spTree>
    <p:extLst>
      <p:ext uri="{BB962C8B-B14F-4D97-AF65-F5344CB8AC3E}">
        <p14:creationId xmlns:p14="http://schemas.microsoft.com/office/powerpoint/2010/main" val="3840356043"/>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34A7A-E27A-4F86-B7EA-54397EAC9EC1}"/>
              </a:ext>
            </a:extLst>
          </p:cNvPr>
          <p:cNvSpPr>
            <a:spLocks noGrp="1"/>
          </p:cNvSpPr>
          <p:nvPr>
            <p:ph type="title"/>
          </p:nvPr>
        </p:nvSpPr>
        <p:spPr>
          <a:xfrm>
            <a:off x="838200" y="365125"/>
            <a:ext cx="10515600" cy="579255"/>
          </a:xfrm>
        </p:spPr>
        <p:txBody>
          <a:bodyPr>
            <a:normAutofit fontScale="90000"/>
          </a:bodyPr>
          <a:lstStyle/>
          <a:p>
            <a:r>
              <a:rPr lang="en-US" dirty="0"/>
              <a:t>Grouping data</a:t>
            </a:r>
          </a:p>
        </p:txBody>
      </p:sp>
      <p:sp>
        <p:nvSpPr>
          <p:cNvPr id="3" name="Content Placeholder 2">
            <a:extLst>
              <a:ext uri="{FF2B5EF4-FFF2-40B4-BE49-F238E27FC236}">
                <a16:creationId xmlns:a16="http://schemas.microsoft.com/office/drawing/2014/main" id="{BCE6C379-AF1C-46B0-9089-5AFF152D7DD6}"/>
              </a:ext>
            </a:extLst>
          </p:cNvPr>
          <p:cNvSpPr>
            <a:spLocks noGrp="1"/>
          </p:cNvSpPr>
          <p:nvPr>
            <p:ph idx="1"/>
          </p:nvPr>
        </p:nvSpPr>
        <p:spPr>
          <a:xfrm>
            <a:off x="838200" y="944380"/>
            <a:ext cx="10515600" cy="5232583"/>
          </a:xfrm>
        </p:spPr>
        <p:txBody>
          <a:bodyPr/>
          <a:lstStyle/>
          <a:p>
            <a:pPr algn="just"/>
            <a:r>
              <a:rPr lang="en-US" dirty="0"/>
              <a:t>With the </a:t>
            </a:r>
            <a:r>
              <a:rPr lang="en-US" dirty="0" err="1">
                <a:solidFill>
                  <a:srgbClr val="FF0000"/>
                </a:solidFill>
              </a:rPr>
              <a:t>groupby</a:t>
            </a:r>
            <a:r>
              <a:rPr lang="en-US" dirty="0">
                <a:solidFill>
                  <a:srgbClr val="FF0000"/>
                </a:solidFill>
              </a:rPr>
              <a:t>()</a:t>
            </a:r>
            <a:r>
              <a:rPr lang="en-US" dirty="0"/>
              <a:t>, we split the dataset based on the contents of particular columns.</a:t>
            </a:r>
          </a:p>
          <a:p>
            <a:pPr algn="just"/>
            <a:r>
              <a:rPr lang="en-US" dirty="0"/>
              <a:t>We then perform calculations on those groups of data within the dataset, reporting summary values back for each group. </a:t>
            </a:r>
          </a:p>
          <a:p>
            <a:pPr algn="just"/>
            <a:endParaRPr lang="en-US" dirty="0"/>
          </a:p>
          <a:p>
            <a:pPr algn="just"/>
            <a:r>
              <a:rPr lang="en-US" dirty="0"/>
              <a:t>For example, if we had the dataset mentioned above with patients’ vital signs, perhaps we want to see what the typical heart rate was for patients with high blood pressure vs those with lower blood pressure. </a:t>
            </a:r>
          </a:p>
          <a:p>
            <a:pPr algn="just"/>
            <a:endParaRPr lang="en-US" dirty="0"/>
          </a:p>
          <a:p>
            <a:pPr algn="just"/>
            <a:r>
              <a:rPr lang="en-US" dirty="0"/>
              <a:t>This can be efficiently accomplished through grouping our data appropriately.</a:t>
            </a:r>
          </a:p>
        </p:txBody>
      </p:sp>
      <p:sp>
        <p:nvSpPr>
          <p:cNvPr id="4" name="Slide Number Placeholder 3">
            <a:extLst>
              <a:ext uri="{FF2B5EF4-FFF2-40B4-BE49-F238E27FC236}">
                <a16:creationId xmlns:a16="http://schemas.microsoft.com/office/drawing/2014/main" id="{D162AA8F-6FDF-465F-A49A-930271FEC166}"/>
              </a:ext>
            </a:extLst>
          </p:cNvPr>
          <p:cNvSpPr>
            <a:spLocks noGrp="1"/>
          </p:cNvSpPr>
          <p:nvPr>
            <p:ph type="sldNum" sz="quarter" idx="12"/>
          </p:nvPr>
        </p:nvSpPr>
        <p:spPr/>
        <p:txBody>
          <a:bodyPr/>
          <a:lstStyle/>
          <a:p>
            <a:fld id="{6B97D948-30E8-43F7-AE10-F6E2D9F2BBB1}" type="slidenum">
              <a:rPr lang="en-US" smtClean="0"/>
              <a:t>336</a:t>
            </a:fld>
            <a:endParaRPr lang="en-US"/>
          </a:p>
        </p:txBody>
      </p:sp>
    </p:spTree>
    <p:extLst>
      <p:ext uri="{BB962C8B-B14F-4D97-AF65-F5344CB8AC3E}">
        <p14:creationId xmlns:p14="http://schemas.microsoft.com/office/powerpoint/2010/main" val="3990693749"/>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BDC33-7719-4EDD-943F-F7B459477570}"/>
              </a:ext>
            </a:extLst>
          </p:cNvPr>
          <p:cNvSpPr>
            <a:spLocks noGrp="1"/>
          </p:cNvSpPr>
          <p:nvPr>
            <p:ph type="title"/>
          </p:nvPr>
        </p:nvSpPr>
        <p:spPr>
          <a:xfrm>
            <a:off x="838200" y="365125"/>
            <a:ext cx="10515600" cy="744147"/>
          </a:xfrm>
        </p:spPr>
        <p:txBody>
          <a:bodyPr/>
          <a:lstStyle/>
          <a:p>
            <a:r>
              <a:rPr lang="en-US" b="1" dirty="0"/>
              <a:t>Querying data</a:t>
            </a:r>
            <a:endParaRPr lang="en-US" dirty="0"/>
          </a:p>
        </p:txBody>
      </p:sp>
      <p:sp>
        <p:nvSpPr>
          <p:cNvPr id="3" name="Content Placeholder 2">
            <a:extLst>
              <a:ext uri="{FF2B5EF4-FFF2-40B4-BE49-F238E27FC236}">
                <a16:creationId xmlns:a16="http://schemas.microsoft.com/office/drawing/2014/main" id="{D10E44D3-C606-4951-8239-5C7604ABF62F}"/>
              </a:ext>
            </a:extLst>
          </p:cNvPr>
          <p:cNvSpPr>
            <a:spLocks noGrp="1"/>
          </p:cNvSpPr>
          <p:nvPr>
            <p:ph idx="1"/>
          </p:nvPr>
        </p:nvSpPr>
        <p:spPr>
          <a:xfrm>
            <a:off x="838200" y="1109272"/>
            <a:ext cx="10515600" cy="5067691"/>
          </a:xfrm>
        </p:spPr>
        <p:txBody>
          <a:bodyPr>
            <a:normAutofit/>
          </a:bodyPr>
          <a:lstStyle/>
          <a:p>
            <a:pPr algn="just"/>
            <a:r>
              <a:rPr lang="en-US" dirty="0"/>
              <a:t>Queries allow us to efficiently ask questions of our data. </a:t>
            </a:r>
          </a:p>
          <a:p>
            <a:pPr algn="just"/>
            <a:r>
              <a:rPr lang="en-US" dirty="0"/>
              <a:t>We came across the idea of asking questions of our data when we discussed </a:t>
            </a:r>
            <a:r>
              <a:rPr lang="en-US" dirty="0" err="1"/>
              <a:t>subsetting</a:t>
            </a:r>
            <a:r>
              <a:rPr lang="en-US" dirty="0"/>
              <a:t> in previous slides. </a:t>
            </a:r>
          </a:p>
          <a:p>
            <a:pPr algn="just"/>
            <a:r>
              <a:rPr lang="en-US" dirty="0"/>
              <a:t>Those were queries of the data that allowed us to select subsets of data meeting specific criteria (e.g. what fraction of patients with high blood pressure also have high cholesterol? </a:t>
            </a:r>
          </a:p>
          <a:p>
            <a:pPr algn="just"/>
            <a:r>
              <a:rPr lang="en-US" dirty="0"/>
              <a:t>What fraction of patients with low cholesterol have high blood pressure?). </a:t>
            </a:r>
          </a:p>
          <a:p>
            <a:pPr algn="just"/>
            <a:r>
              <a:rPr lang="en-US" dirty="0"/>
              <a:t>While this is not a new concept, it is typically our end goal in combining or grouping data. </a:t>
            </a:r>
          </a:p>
          <a:p>
            <a:pPr algn="just"/>
            <a:endParaRPr lang="en-US" dirty="0"/>
          </a:p>
        </p:txBody>
      </p:sp>
      <p:sp>
        <p:nvSpPr>
          <p:cNvPr id="4" name="Slide Number Placeholder 3">
            <a:extLst>
              <a:ext uri="{FF2B5EF4-FFF2-40B4-BE49-F238E27FC236}">
                <a16:creationId xmlns:a16="http://schemas.microsoft.com/office/drawing/2014/main" id="{0B4FCC0F-E7D1-4857-8EF6-48A923F1A036}"/>
              </a:ext>
            </a:extLst>
          </p:cNvPr>
          <p:cNvSpPr>
            <a:spLocks noGrp="1"/>
          </p:cNvSpPr>
          <p:nvPr>
            <p:ph type="sldNum" sz="quarter" idx="12"/>
          </p:nvPr>
        </p:nvSpPr>
        <p:spPr/>
        <p:txBody>
          <a:bodyPr/>
          <a:lstStyle/>
          <a:p>
            <a:fld id="{6B97D948-30E8-43F7-AE10-F6E2D9F2BBB1}" type="slidenum">
              <a:rPr lang="en-US" smtClean="0"/>
              <a:t>337</a:t>
            </a:fld>
            <a:endParaRPr lang="en-US"/>
          </a:p>
        </p:txBody>
      </p:sp>
    </p:spTree>
    <p:extLst>
      <p:ext uri="{BB962C8B-B14F-4D97-AF65-F5344CB8AC3E}">
        <p14:creationId xmlns:p14="http://schemas.microsoft.com/office/powerpoint/2010/main" val="4157965238"/>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C0066-2793-4348-88A2-3B730942D2CA}"/>
              </a:ext>
            </a:extLst>
          </p:cNvPr>
          <p:cNvSpPr>
            <a:spLocks noGrp="1"/>
          </p:cNvSpPr>
          <p:nvPr>
            <p:ph type="title"/>
          </p:nvPr>
        </p:nvSpPr>
        <p:spPr>
          <a:xfrm>
            <a:off x="838200" y="365125"/>
            <a:ext cx="10515600" cy="699177"/>
          </a:xfrm>
        </p:spPr>
        <p:txBody>
          <a:bodyPr/>
          <a:lstStyle/>
          <a:p>
            <a:r>
              <a:rPr lang="en-US" dirty="0"/>
              <a:t>Examples</a:t>
            </a:r>
          </a:p>
        </p:txBody>
      </p:sp>
      <p:sp>
        <p:nvSpPr>
          <p:cNvPr id="3" name="Content Placeholder 2">
            <a:extLst>
              <a:ext uri="{FF2B5EF4-FFF2-40B4-BE49-F238E27FC236}">
                <a16:creationId xmlns:a16="http://schemas.microsoft.com/office/drawing/2014/main" id="{19054739-E2D3-474A-8C11-ED490C554DB6}"/>
              </a:ext>
            </a:extLst>
          </p:cNvPr>
          <p:cNvSpPr>
            <a:spLocks noGrp="1"/>
          </p:cNvSpPr>
          <p:nvPr>
            <p:ph idx="1"/>
          </p:nvPr>
        </p:nvSpPr>
        <p:spPr>
          <a:xfrm>
            <a:off x="838200" y="1064302"/>
            <a:ext cx="10515600" cy="5112661"/>
          </a:xfrm>
        </p:spPr>
        <p:txBody>
          <a:bodyPr>
            <a:normAutofit lnSpcReduction="10000"/>
          </a:bodyPr>
          <a:lstStyle/>
          <a:p>
            <a:pPr algn="just"/>
            <a:r>
              <a:rPr lang="en-US" dirty="0"/>
              <a:t>Merging data is a nearly ubiquitous task in data science. Imagine that you are a financial analyst, and you’re trying to </a:t>
            </a:r>
            <a:r>
              <a:rPr lang="en-US" i="1" dirty="0"/>
              <a:t>estimate the risk of default on a loan</a:t>
            </a:r>
            <a:r>
              <a:rPr lang="en-US" dirty="0"/>
              <a:t>. You have </a:t>
            </a:r>
            <a:r>
              <a:rPr lang="en-US" i="1" dirty="0"/>
              <a:t>one dataset that contains a list of loan applicants’ credit history </a:t>
            </a:r>
            <a:r>
              <a:rPr lang="en-US" dirty="0"/>
              <a:t>and </a:t>
            </a:r>
            <a:r>
              <a:rPr lang="en-US" i="1" dirty="0"/>
              <a:t>another that contains their income</a:t>
            </a:r>
            <a:r>
              <a:rPr lang="en-US" dirty="0"/>
              <a:t>. To make an informed decision, the analyst would need to merge the records of these two sets of data together.</a:t>
            </a:r>
          </a:p>
          <a:p>
            <a:pPr algn="just"/>
            <a:r>
              <a:rPr lang="en-US" dirty="0"/>
              <a:t>As another example, imagine you are a business analyst trying to evaluate trends throughout the year in sales, but the data on those transactions is divided up into monthly datasets. In this case, you would need to concatenate the data together into a single dataset before those trends could be evaluated. If that analyst wishes to then estimate the average sales by the seniority of each salesperson, they would need to group the data first by seniority to then calculate those group-specific sales values.</a:t>
            </a:r>
          </a:p>
        </p:txBody>
      </p:sp>
      <p:sp>
        <p:nvSpPr>
          <p:cNvPr id="4" name="Slide Number Placeholder 3">
            <a:extLst>
              <a:ext uri="{FF2B5EF4-FFF2-40B4-BE49-F238E27FC236}">
                <a16:creationId xmlns:a16="http://schemas.microsoft.com/office/drawing/2014/main" id="{EA8575E4-3EDE-4F18-8F54-F0B6EF9764F6}"/>
              </a:ext>
            </a:extLst>
          </p:cNvPr>
          <p:cNvSpPr>
            <a:spLocks noGrp="1"/>
          </p:cNvSpPr>
          <p:nvPr>
            <p:ph type="sldNum" sz="quarter" idx="12"/>
          </p:nvPr>
        </p:nvSpPr>
        <p:spPr/>
        <p:txBody>
          <a:bodyPr/>
          <a:lstStyle/>
          <a:p>
            <a:fld id="{6B97D948-30E8-43F7-AE10-F6E2D9F2BBB1}" type="slidenum">
              <a:rPr lang="en-US" smtClean="0"/>
              <a:t>338</a:t>
            </a:fld>
            <a:endParaRPr lang="en-US"/>
          </a:p>
        </p:txBody>
      </p:sp>
    </p:spTree>
    <p:extLst>
      <p:ext uri="{BB962C8B-B14F-4D97-AF65-F5344CB8AC3E}">
        <p14:creationId xmlns:p14="http://schemas.microsoft.com/office/powerpoint/2010/main" val="1108738139"/>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D602-9D2E-4632-A78B-81367D3744E5}"/>
              </a:ext>
            </a:extLst>
          </p:cNvPr>
          <p:cNvSpPr>
            <a:spLocks noGrp="1"/>
          </p:cNvSpPr>
          <p:nvPr>
            <p:ph type="title"/>
          </p:nvPr>
        </p:nvSpPr>
        <p:spPr>
          <a:xfrm>
            <a:off x="838200" y="365125"/>
            <a:ext cx="10515600" cy="909039"/>
          </a:xfrm>
        </p:spPr>
        <p:txBody>
          <a:bodyPr/>
          <a:lstStyle/>
          <a:p>
            <a:r>
              <a:rPr lang="en-US" dirty="0"/>
              <a:t>Combining datasets: concatenating</a:t>
            </a:r>
          </a:p>
        </p:txBody>
      </p:sp>
      <p:pic>
        <p:nvPicPr>
          <p:cNvPr id="5" name="Content Placeholder 4">
            <a:extLst>
              <a:ext uri="{FF2B5EF4-FFF2-40B4-BE49-F238E27FC236}">
                <a16:creationId xmlns:a16="http://schemas.microsoft.com/office/drawing/2014/main" id="{2556E333-5688-4099-8347-6DF1271A150E}"/>
              </a:ext>
            </a:extLst>
          </p:cNvPr>
          <p:cNvPicPr>
            <a:picLocks noGrp="1" noChangeAspect="1"/>
          </p:cNvPicPr>
          <p:nvPr>
            <p:ph idx="1"/>
          </p:nvPr>
        </p:nvPicPr>
        <p:blipFill>
          <a:blip r:embed="rId2"/>
          <a:stretch>
            <a:fillRect/>
          </a:stretch>
        </p:blipFill>
        <p:spPr>
          <a:xfrm>
            <a:off x="2205829" y="1274763"/>
            <a:ext cx="7780341" cy="4902200"/>
          </a:xfrm>
          <a:prstGeom prst="rect">
            <a:avLst/>
          </a:prstGeom>
        </p:spPr>
      </p:pic>
      <p:sp>
        <p:nvSpPr>
          <p:cNvPr id="4" name="Slide Number Placeholder 3">
            <a:extLst>
              <a:ext uri="{FF2B5EF4-FFF2-40B4-BE49-F238E27FC236}">
                <a16:creationId xmlns:a16="http://schemas.microsoft.com/office/drawing/2014/main" id="{305A3200-2790-49AF-BC75-F6EAE8AAF0E1}"/>
              </a:ext>
            </a:extLst>
          </p:cNvPr>
          <p:cNvSpPr>
            <a:spLocks noGrp="1"/>
          </p:cNvSpPr>
          <p:nvPr>
            <p:ph type="sldNum" sz="quarter" idx="12"/>
          </p:nvPr>
        </p:nvSpPr>
        <p:spPr/>
        <p:txBody>
          <a:bodyPr/>
          <a:lstStyle/>
          <a:p>
            <a:fld id="{6B97D948-30E8-43F7-AE10-F6E2D9F2BBB1}" type="slidenum">
              <a:rPr lang="en-US" smtClean="0"/>
              <a:t>339</a:t>
            </a:fld>
            <a:endParaRPr lang="en-US"/>
          </a:p>
        </p:txBody>
      </p:sp>
    </p:spTree>
    <p:extLst>
      <p:ext uri="{BB962C8B-B14F-4D97-AF65-F5344CB8AC3E}">
        <p14:creationId xmlns:p14="http://schemas.microsoft.com/office/powerpoint/2010/main" val="2808196927"/>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FE5161-ADE1-4CE7-9FB1-15E00766ABE5}"/>
              </a:ext>
            </a:extLst>
          </p:cNvPr>
          <p:cNvSpPr>
            <a:spLocks noGrp="1"/>
          </p:cNvSpPr>
          <p:nvPr>
            <p:ph idx="1"/>
          </p:nvPr>
        </p:nvSpPr>
        <p:spPr>
          <a:xfrm>
            <a:off x="838200" y="524656"/>
            <a:ext cx="10515600" cy="5652307"/>
          </a:xfrm>
        </p:spPr>
        <p:txBody>
          <a:bodyPr>
            <a:normAutofit/>
          </a:bodyPr>
          <a:lstStyle/>
          <a:p>
            <a:r>
              <a:rPr lang="en-US" dirty="0"/>
              <a:t>df1 = </a:t>
            </a:r>
            <a:r>
              <a:rPr lang="en-US" dirty="0" err="1"/>
              <a:t>pd.DataFrame</a:t>
            </a:r>
            <a:r>
              <a:rPr lang="en-US" dirty="0"/>
              <a:t>(</a:t>
            </a:r>
          </a:p>
          <a:p>
            <a:r>
              <a:rPr lang="en-US" dirty="0"/>
              <a:t>    ...:     {</a:t>
            </a:r>
          </a:p>
          <a:p>
            <a:r>
              <a:rPr lang="en-US" dirty="0"/>
              <a:t>    ...:         'animals': ['dog', 'cat', 'bird', 'fish'],</a:t>
            </a:r>
          </a:p>
          <a:p>
            <a:r>
              <a:rPr lang="en-US" dirty="0"/>
              <a:t>    ...:         'location': ['land', 'land', 'air', 'water'],</a:t>
            </a:r>
          </a:p>
          <a:p>
            <a:r>
              <a:rPr lang="en-US" dirty="0"/>
              <a:t>    ...:         '</a:t>
            </a:r>
            <a:r>
              <a:rPr lang="en-US" dirty="0" err="1"/>
              <a:t>has_fur</a:t>
            </a:r>
            <a:r>
              <a:rPr lang="en-US" dirty="0"/>
              <a:t>': [True, True, False, False],</a:t>
            </a:r>
          </a:p>
          <a:p>
            <a:r>
              <a:rPr lang="en-US" dirty="0"/>
              <a:t>    ...:         '</a:t>
            </a:r>
            <a:r>
              <a:rPr lang="en-US" dirty="0" err="1"/>
              <a:t>avg_weight</a:t>
            </a:r>
            <a:r>
              <a:rPr lang="en-US" dirty="0"/>
              <a:t>': [40, 10, 0.1, 4],</a:t>
            </a:r>
          </a:p>
          <a:p>
            <a:r>
              <a:rPr lang="en-US" dirty="0"/>
              <a:t>    ...:     }</a:t>
            </a:r>
          </a:p>
          <a:p>
            <a:r>
              <a:rPr lang="en-US" dirty="0"/>
              <a:t>    ...: )</a:t>
            </a:r>
          </a:p>
          <a:p>
            <a:r>
              <a:rPr lang="en-US" dirty="0"/>
              <a:t>    ...: df1</a:t>
            </a:r>
          </a:p>
        </p:txBody>
      </p:sp>
      <p:sp>
        <p:nvSpPr>
          <p:cNvPr id="4" name="Slide Number Placeholder 3">
            <a:extLst>
              <a:ext uri="{FF2B5EF4-FFF2-40B4-BE49-F238E27FC236}">
                <a16:creationId xmlns:a16="http://schemas.microsoft.com/office/drawing/2014/main" id="{2EDF770E-75F7-4F17-AC54-7B3BE0C4957F}"/>
              </a:ext>
            </a:extLst>
          </p:cNvPr>
          <p:cNvSpPr>
            <a:spLocks noGrp="1"/>
          </p:cNvSpPr>
          <p:nvPr>
            <p:ph type="sldNum" sz="quarter" idx="12"/>
          </p:nvPr>
        </p:nvSpPr>
        <p:spPr/>
        <p:txBody>
          <a:bodyPr/>
          <a:lstStyle/>
          <a:p>
            <a:fld id="{6B97D948-30E8-43F7-AE10-F6E2D9F2BBB1}" type="slidenum">
              <a:rPr lang="en-US" smtClean="0"/>
              <a:t>340</a:t>
            </a:fld>
            <a:endParaRPr lang="en-US"/>
          </a:p>
        </p:txBody>
      </p:sp>
    </p:spTree>
    <p:extLst>
      <p:ext uri="{BB962C8B-B14F-4D97-AF65-F5344CB8AC3E}">
        <p14:creationId xmlns:p14="http://schemas.microsoft.com/office/powerpoint/2010/main" val="2003839180"/>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2A790F-E558-4CC2-AB3B-C08AE50DAE79}"/>
              </a:ext>
            </a:extLst>
          </p:cNvPr>
          <p:cNvSpPr>
            <a:spLocks noGrp="1"/>
          </p:cNvSpPr>
          <p:nvPr>
            <p:ph idx="1"/>
          </p:nvPr>
        </p:nvSpPr>
        <p:spPr>
          <a:xfrm>
            <a:off x="838200" y="584616"/>
            <a:ext cx="10515600" cy="5592347"/>
          </a:xfrm>
        </p:spPr>
        <p:txBody>
          <a:bodyPr/>
          <a:lstStyle/>
          <a:p>
            <a:r>
              <a:rPr lang="en-US" dirty="0"/>
              <a:t>Out[86]:</a:t>
            </a:r>
          </a:p>
          <a:p>
            <a:r>
              <a:rPr lang="en-US" dirty="0"/>
              <a:t> animals location  </a:t>
            </a:r>
            <a:r>
              <a:rPr lang="en-US" dirty="0" err="1"/>
              <a:t>has_fur</a:t>
            </a:r>
            <a:r>
              <a:rPr lang="en-US" dirty="0"/>
              <a:t>  </a:t>
            </a:r>
            <a:r>
              <a:rPr lang="en-US" dirty="0" err="1"/>
              <a:t>avg_weight</a:t>
            </a:r>
            <a:endParaRPr lang="en-US" dirty="0"/>
          </a:p>
          <a:p>
            <a:r>
              <a:rPr lang="en-US" dirty="0"/>
              <a:t>0     dog     land     True        40.0</a:t>
            </a:r>
          </a:p>
          <a:p>
            <a:r>
              <a:rPr lang="en-US" dirty="0"/>
              <a:t>1     cat     land     True        10.0</a:t>
            </a:r>
          </a:p>
          <a:p>
            <a:r>
              <a:rPr lang="en-US" dirty="0"/>
              <a:t>2    bird      air    False         0.1</a:t>
            </a:r>
          </a:p>
          <a:p>
            <a:r>
              <a:rPr lang="en-US" dirty="0"/>
              <a:t>3    fish    water    False         4.0</a:t>
            </a:r>
          </a:p>
        </p:txBody>
      </p:sp>
      <p:sp>
        <p:nvSpPr>
          <p:cNvPr id="4" name="Slide Number Placeholder 3">
            <a:extLst>
              <a:ext uri="{FF2B5EF4-FFF2-40B4-BE49-F238E27FC236}">
                <a16:creationId xmlns:a16="http://schemas.microsoft.com/office/drawing/2014/main" id="{846381CC-9405-431E-9D41-D52F8E497102}"/>
              </a:ext>
            </a:extLst>
          </p:cNvPr>
          <p:cNvSpPr>
            <a:spLocks noGrp="1"/>
          </p:cNvSpPr>
          <p:nvPr>
            <p:ph type="sldNum" sz="quarter" idx="12"/>
          </p:nvPr>
        </p:nvSpPr>
        <p:spPr/>
        <p:txBody>
          <a:bodyPr/>
          <a:lstStyle/>
          <a:p>
            <a:fld id="{6B97D948-30E8-43F7-AE10-F6E2D9F2BBB1}" type="slidenum">
              <a:rPr lang="en-US" smtClean="0"/>
              <a:t>341</a:t>
            </a:fld>
            <a:endParaRPr lang="en-US"/>
          </a:p>
        </p:txBody>
      </p:sp>
    </p:spTree>
    <p:extLst>
      <p:ext uri="{BB962C8B-B14F-4D97-AF65-F5344CB8AC3E}">
        <p14:creationId xmlns:p14="http://schemas.microsoft.com/office/powerpoint/2010/main" val="2305324741"/>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FE6A20-92D2-4CFB-9EA8-5D02007D1B91}"/>
              </a:ext>
            </a:extLst>
          </p:cNvPr>
          <p:cNvSpPr>
            <a:spLocks noGrp="1"/>
          </p:cNvSpPr>
          <p:nvPr>
            <p:ph idx="1"/>
          </p:nvPr>
        </p:nvSpPr>
        <p:spPr>
          <a:xfrm>
            <a:off x="838200" y="464695"/>
            <a:ext cx="10515600" cy="5712268"/>
          </a:xfrm>
        </p:spPr>
        <p:txBody>
          <a:bodyPr>
            <a:normAutofit/>
          </a:bodyPr>
          <a:lstStyle/>
          <a:p>
            <a:r>
              <a:rPr lang="en-US" dirty="0"/>
              <a:t>df2 = </a:t>
            </a:r>
            <a:r>
              <a:rPr lang="en-US" dirty="0" err="1"/>
              <a:t>pd.DataFrame</a:t>
            </a:r>
            <a:r>
              <a:rPr lang="en-US" dirty="0"/>
              <a:t>(</a:t>
            </a:r>
          </a:p>
          <a:p>
            <a:r>
              <a:rPr lang="en-US" dirty="0"/>
              <a:t>    ...:     {</a:t>
            </a:r>
          </a:p>
          <a:p>
            <a:r>
              <a:rPr lang="en-US" dirty="0"/>
              <a:t>    ...:         'animals': ['giraffe', 'elephant', 'blue whale'],</a:t>
            </a:r>
          </a:p>
          <a:p>
            <a:r>
              <a:rPr lang="en-US" dirty="0"/>
              <a:t>    ...:         'location': ['land', '</a:t>
            </a:r>
            <a:r>
              <a:rPr lang="en-US" dirty="0" err="1"/>
              <a:t>land','water</a:t>
            </a:r>
            <a:r>
              <a:rPr lang="en-US" dirty="0"/>
              <a:t>'],</a:t>
            </a:r>
          </a:p>
          <a:p>
            <a:r>
              <a:rPr lang="en-US" dirty="0"/>
              <a:t>    ...:         '</a:t>
            </a:r>
            <a:r>
              <a:rPr lang="en-US" dirty="0" err="1"/>
              <a:t>has_fur</a:t>
            </a:r>
            <a:r>
              <a:rPr lang="en-US" dirty="0"/>
              <a:t>': [True, False, False],</a:t>
            </a:r>
          </a:p>
          <a:p>
            <a:r>
              <a:rPr lang="en-US" dirty="0"/>
              <a:t>    ...:         '</a:t>
            </a:r>
            <a:r>
              <a:rPr lang="en-US" dirty="0" err="1"/>
              <a:t>avg_weight</a:t>
            </a:r>
            <a:r>
              <a:rPr lang="en-US" dirty="0"/>
              <a:t>': [3000, 12000, 300000],</a:t>
            </a:r>
          </a:p>
          <a:p>
            <a:r>
              <a:rPr lang="en-US" dirty="0"/>
              <a:t>    ...:     }</a:t>
            </a:r>
          </a:p>
          <a:p>
            <a:r>
              <a:rPr lang="en-US" dirty="0"/>
              <a:t>    ...: )</a:t>
            </a:r>
          </a:p>
          <a:p>
            <a:r>
              <a:rPr lang="en-US" dirty="0"/>
              <a:t>    ...: df2</a:t>
            </a:r>
          </a:p>
        </p:txBody>
      </p:sp>
      <p:sp>
        <p:nvSpPr>
          <p:cNvPr id="4" name="Slide Number Placeholder 3">
            <a:extLst>
              <a:ext uri="{FF2B5EF4-FFF2-40B4-BE49-F238E27FC236}">
                <a16:creationId xmlns:a16="http://schemas.microsoft.com/office/drawing/2014/main" id="{B6E80D4E-D598-4C2A-8D0A-BDBD4C13E72A}"/>
              </a:ext>
            </a:extLst>
          </p:cNvPr>
          <p:cNvSpPr>
            <a:spLocks noGrp="1"/>
          </p:cNvSpPr>
          <p:nvPr>
            <p:ph type="sldNum" sz="quarter" idx="12"/>
          </p:nvPr>
        </p:nvSpPr>
        <p:spPr/>
        <p:txBody>
          <a:bodyPr/>
          <a:lstStyle/>
          <a:p>
            <a:fld id="{6B97D948-30E8-43F7-AE10-F6E2D9F2BBB1}" type="slidenum">
              <a:rPr lang="en-US" smtClean="0"/>
              <a:t>342</a:t>
            </a:fld>
            <a:endParaRPr lang="en-US"/>
          </a:p>
        </p:txBody>
      </p:sp>
    </p:spTree>
    <p:extLst>
      <p:ext uri="{BB962C8B-B14F-4D97-AF65-F5344CB8AC3E}">
        <p14:creationId xmlns:p14="http://schemas.microsoft.com/office/powerpoint/2010/main" val="1573062953"/>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0ACC95-6F0A-45DF-B0DC-341E6ED9F3E7}"/>
              </a:ext>
            </a:extLst>
          </p:cNvPr>
          <p:cNvSpPr>
            <a:spLocks noGrp="1"/>
          </p:cNvSpPr>
          <p:nvPr>
            <p:ph idx="1"/>
          </p:nvPr>
        </p:nvSpPr>
        <p:spPr>
          <a:xfrm>
            <a:off x="838200" y="494675"/>
            <a:ext cx="10515600" cy="5682288"/>
          </a:xfrm>
        </p:spPr>
        <p:txBody>
          <a:bodyPr/>
          <a:lstStyle/>
          <a:p>
            <a:r>
              <a:rPr lang="en-US" dirty="0"/>
              <a:t>Out[87]:</a:t>
            </a:r>
          </a:p>
          <a:p>
            <a:r>
              <a:rPr lang="en-US" dirty="0"/>
              <a:t>      animals location  </a:t>
            </a:r>
            <a:r>
              <a:rPr lang="en-US" dirty="0" err="1"/>
              <a:t>has_fur</a:t>
            </a:r>
            <a:r>
              <a:rPr lang="en-US" dirty="0"/>
              <a:t>  </a:t>
            </a:r>
            <a:r>
              <a:rPr lang="en-US" dirty="0" err="1"/>
              <a:t>avg_weight</a:t>
            </a:r>
            <a:endParaRPr lang="en-US" dirty="0"/>
          </a:p>
          <a:p>
            <a:r>
              <a:rPr lang="en-US" dirty="0"/>
              <a:t>0     giraffe     land     True        3000</a:t>
            </a:r>
          </a:p>
          <a:p>
            <a:r>
              <a:rPr lang="en-US" dirty="0"/>
              <a:t>1    elephant     land    False       12000</a:t>
            </a:r>
          </a:p>
          <a:p>
            <a:r>
              <a:rPr lang="en-US" dirty="0"/>
              <a:t>2  blue whale    water    False      300000</a:t>
            </a:r>
          </a:p>
        </p:txBody>
      </p:sp>
      <p:sp>
        <p:nvSpPr>
          <p:cNvPr id="4" name="Slide Number Placeholder 3">
            <a:extLst>
              <a:ext uri="{FF2B5EF4-FFF2-40B4-BE49-F238E27FC236}">
                <a16:creationId xmlns:a16="http://schemas.microsoft.com/office/drawing/2014/main" id="{BB27C69F-FF60-440F-B0F3-478E0B037EE8}"/>
              </a:ext>
            </a:extLst>
          </p:cNvPr>
          <p:cNvSpPr>
            <a:spLocks noGrp="1"/>
          </p:cNvSpPr>
          <p:nvPr>
            <p:ph type="sldNum" sz="quarter" idx="12"/>
          </p:nvPr>
        </p:nvSpPr>
        <p:spPr/>
        <p:txBody>
          <a:bodyPr/>
          <a:lstStyle/>
          <a:p>
            <a:fld id="{6B97D948-30E8-43F7-AE10-F6E2D9F2BBB1}" type="slidenum">
              <a:rPr lang="en-US" smtClean="0"/>
              <a:t>343</a:t>
            </a:fld>
            <a:endParaRPr lang="en-US"/>
          </a:p>
        </p:txBody>
      </p:sp>
    </p:spTree>
    <p:extLst>
      <p:ext uri="{BB962C8B-B14F-4D97-AF65-F5344CB8AC3E}">
        <p14:creationId xmlns:p14="http://schemas.microsoft.com/office/powerpoint/2010/main" val="105537855"/>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F756FE-F1B7-41CD-8387-D668A83560C4}"/>
              </a:ext>
            </a:extLst>
          </p:cNvPr>
          <p:cNvSpPr>
            <a:spLocks noGrp="1"/>
          </p:cNvSpPr>
          <p:nvPr>
            <p:ph idx="1"/>
          </p:nvPr>
        </p:nvSpPr>
        <p:spPr>
          <a:xfrm>
            <a:off x="838200" y="554636"/>
            <a:ext cx="10515600" cy="5622327"/>
          </a:xfrm>
        </p:spPr>
        <p:txBody>
          <a:bodyPr>
            <a:normAutofit/>
          </a:bodyPr>
          <a:lstStyle/>
          <a:p>
            <a:r>
              <a:rPr lang="en-US" dirty="0" err="1">
                <a:solidFill>
                  <a:srgbClr val="FF0000"/>
                </a:solidFill>
              </a:rPr>
              <a:t>df_concat</a:t>
            </a:r>
            <a:r>
              <a:rPr lang="en-US" dirty="0">
                <a:solidFill>
                  <a:srgbClr val="FF0000"/>
                </a:solidFill>
              </a:rPr>
              <a:t> = </a:t>
            </a:r>
            <a:r>
              <a:rPr lang="en-US" dirty="0" err="1">
                <a:solidFill>
                  <a:srgbClr val="FF0000"/>
                </a:solidFill>
              </a:rPr>
              <a:t>pd.concat</a:t>
            </a:r>
            <a:r>
              <a:rPr lang="en-US" dirty="0">
                <a:solidFill>
                  <a:srgbClr val="FF0000"/>
                </a:solidFill>
              </a:rPr>
              <a:t>([df1, df2])</a:t>
            </a:r>
          </a:p>
          <a:p>
            <a:r>
              <a:rPr lang="en-US" dirty="0" err="1">
                <a:solidFill>
                  <a:srgbClr val="FF0000"/>
                </a:solidFill>
              </a:rPr>
              <a:t>df_concat</a:t>
            </a:r>
            <a:endParaRPr lang="en-US" dirty="0">
              <a:solidFill>
                <a:srgbClr val="FF0000"/>
              </a:solidFill>
            </a:endParaRPr>
          </a:p>
          <a:p>
            <a:r>
              <a:rPr lang="en-US" dirty="0"/>
              <a:t>Out[88]:</a:t>
            </a:r>
          </a:p>
          <a:p>
            <a:r>
              <a:rPr lang="en-US" dirty="0"/>
              <a:t>      animals location  </a:t>
            </a:r>
            <a:r>
              <a:rPr lang="en-US" dirty="0" err="1"/>
              <a:t>has_fur</a:t>
            </a:r>
            <a:r>
              <a:rPr lang="en-US" dirty="0"/>
              <a:t>  </a:t>
            </a:r>
            <a:r>
              <a:rPr lang="en-US" dirty="0" err="1"/>
              <a:t>avg_weight</a:t>
            </a:r>
            <a:endParaRPr lang="en-US" dirty="0"/>
          </a:p>
          <a:p>
            <a:r>
              <a:rPr lang="en-US" dirty="0"/>
              <a:t>0         dog     land     True        40.0</a:t>
            </a:r>
          </a:p>
          <a:p>
            <a:r>
              <a:rPr lang="en-US" dirty="0"/>
              <a:t>1         cat     land     True        10.0</a:t>
            </a:r>
          </a:p>
          <a:p>
            <a:r>
              <a:rPr lang="en-US" dirty="0"/>
              <a:t>2        bird      air    False         0.1</a:t>
            </a:r>
          </a:p>
          <a:p>
            <a:r>
              <a:rPr lang="en-US" dirty="0"/>
              <a:t>3        fish    water    False         4.0</a:t>
            </a:r>
          </a:p>
          <a:p>
            <a:r>
              <a:rPr lang="en-US" dirty="0"/>
              <a:t>0     giraffe     land     True      3000.0</a:t>
            </a:r>
          </a:p>
          <a:p>
            <a:r>
              <a:rPr lang="en-US" dirty="0"/>
              <a:t>1    elephant     land    False     12000.0</a:t>
            </a:r>
          </a:p>
          <a:p>
            <a:r>
              <a:rPr lang="en-US" dirty="0"/>
              <a:t>2  blue whale    water    False    300000.0</a:t>
            </a:r>
          </a:p>
        </p:txBody>
      </p:sp>
      <p:sp>
        <p:nvSpPr>
          <p:cNvPr id="4" name="Slide Number Placeholder 3">
            <a:extLst>
              <a:ext uri="{FF2B5EF4-FFF2-40B4-BE49-F238E27FC236}">
                <a16:creationId xmlns:a16="http://schemas.microsoft.com/office/drawing/2014/main" id="{09A20A46-5677-42FE-9C42-3EE153341E04}"/>
              </a:ext>
            </a:extLst>
          </p:cNvPr>
          <p:cNvSpPr>
            <a:spLocks noGrp="1"/>
          </p:cNvSpPr>
          <p:nvPr>
            <p:ph type="sldNum" sz="quarter" idx="12"/>
          </p:nvPr>
        </p:nvSpPr>
        <p:spPr/>
        <p:txBody>
          <a:bodyPr/>
          <a:lstStyle/>
          <a:p>
            <a:fld id="{6B97D948-30E8-43F7-AE10-F6E2D9F2BBB1}" type="slidenum">
              <a:rPr lang="en-US" smtClean="0"/>
              <a:t>344</a:t>
            </a:fld>
            <a:endParaRPr lang="en-US"/>
          </a:p>
        </p:txBody>
      </p:sp>
    </p:spTree>
    <p:extLst>
      <p:ext uri="{BB962C8B-B14F-4D97-AF65-F5344CB8AC3E}">
        <p14:creationId xmlns:p14="http://schemas.microsoft.com/office/powerpoint/2010/main" val="2520243147"/>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0CA6-2F12-423C-8B19-FB000ABF7BE7}"/>
              </a:ext>
            </a:extLst>
          </p:cNvPr>
          <p:cNvSpPr>
            <a:spLocks noGrp="1"/>
          </p:cNvSpPr>
          <p:nvPr>
            <p:ph type="title"/>
          </p:nvPr>
        </p:nvSpPr>
        <p:spPr>
          <a:xfrm>
            <a:off x="838200" y="365125"/>
            <a:ext cx="10515600" cy="744147"/>
          </a:xfrm>
        </p:spPr>
        <p:txBody>
          <a:bodyPr/>
          <a:lstStyle/>
          <a:p>
            <a:r>
              <a:rPr lang="en-US" dirty="0"/>
              <a:t>Reindexing</a:t>
            </a:r>
          </a:p>
        </p:txBody>
      </p:sp>
      <p:sp>
        <p:nvSpPr>
          <p:cNvPr id="3" name="Content Placeholder 2">
            <a:extLst>
              <a:ext uri="{FF2B5EF4-FFF2-40B4-BE49-F238E27FC236}">
                <a16:creationId xmlns:a16="http://schemas.microsoft.com/office/drawing/2014/main" id="{6D9C00C3-D9AA-4970-ABA8-624B5FD2D3FA}"/>
              </a:ext>
            </a:extLst>
          </p:cNvPr>
          <p:cNvSpPr>
            <a:spLocks noGrp="1"/>
          </p:cNvSpPr>
          <p:nvPr>
            <p:ph idx="1"/>
          </p:nvPr>
        </p:nvSpPr>
        <p:spPr>
          <a:xfrm>
            <a:off x="838200" y="1109272"/>
            <a:ext cx="10515600" cy="5067691"/>
          </a:xfrm>
        </p:spPr>
        <p:txBody>
          <a:bodyPr/>
          <a:lstStyle/>
          <a:p>
            <a:pPr algn="just"/>
            <a:r>
              <a:rPr lang="en-US" dirty="0"/>
              <a:t>Note that the index labels were retained from the original datasets, so we see the labels as: [0, 1, 2, 3, 0, 1, 2]. </a:t>
            </a:r>
          </a:p>
          <a:p>
            <a:pPr algn="just"/>
            <a:r>
              <a:rPr lang="en-US" dirty="0"/>
              <a:t>Sometimes if these were id’s associated with each row entry, we may want to keep them as is, but if instead we wanted them as row numbers, we could apply the </a:t>
            </a:r>
            <a:r>
              <a:rPr lang="en-US" dirty="0" err="1"/>
              <a:t>reset_index</a:t>
            </a:r>
            <a:r>
              <a:rPr lang="en-US" dirty="0"/>
              <a:t> method to create a fresh index that increments via the row count.</a:t>
            </a:r>
          </a:p>
        </p:txBody>
      </p:sp>
      <p:sp>
        <p:nvSpPr>
          <p:cNvPr id="4" name="Slide Number Placeholder 3">
            <a:extLst>
              <a:ext uri="{FF2B5EF4-FFF2-40B4-BE49-F238E27FC236}">
                <a16:creationId xmlns:a16="http://schemas.microsoft.com/office/drawing/2014/main" id="{60DDC936-D172-44E7-9F9C-5C8E44D3F9C8}"/>
              </a:ext>
            </a:extLst>
          </p:cNvPr>
          <p:cNvSpPr>
            <a:spLocks noGrp="1"/>
          </p:cNvSpPr>
          <p:nvPr>
            <p:ph type="sldNum" sz="quarter" idx="12"/>
          </p:nvPr>
        </p:nvSpPr>
        <p:spPr/>
        <p:txBody>
          <a:bodyPr/>
          <a:lstStyle/>
          <a:p>
            <a:fld id="{6B97D948-30E8-43F7-AE10-F6E2D9F2BBB1}" type="slidenum">
              <a:rPr lang="en-US" smtClean="0"/>
              <a:t>345</a:t>
            </a:fld>
            <a:endParaRPr lang="en-US"/>
          </a:p>
        </p:txBody>
      </p:sp>
    </p:spTree>
    <p:extLst>
      <p:ext uri="{BB962C8B-B14F-4D97-AF65-F5344CB8AC3E}">
        <p14:creationId xmlns:p14="http://schemas.microsoft.com/office/powerpoint/2010/main" val="1339473980"/>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0C1036-5F38-4929-B573-570299C538EA}"/>
              </a:ext>
            </a:extLst>
          </p:cNvPr>
          <p:cNvSpPr>
            <a:spLocks noGrp="1"/>
          </p:cNvSpPr>
          <p:nvPr>
            <p:ph idx="1"/>
          </p:nvPr>
        </p:nvSpPr>
        <p:spPr>
          <a:xfrm>
            <a:off x="838200" y="509666"/>
            <a:ext cx="10515600" cy="5667297"/>
          </a:xfrm>
        </p:spPr>
        <p:txBody>
          <a:bodyPr>
            <a:normAutofit/>
          </a:bodyPr>
          <a:lstStyle/>
          <a:p>
            <a:r>
              <a:rPr lang="en-US" dirty="0" err="1">
                <a:solidFill>
                  <a:srgbClr val="FF0000"/>
                </a:solidFill>
              </a:rPr>
              <a:t>df_concat_reindexed</a:t>
            </a:r>
            <a:r>
              <a:rPr lang="en-US" dirty="0">
                <a:solidFill>
                  <a:srgbClr val="FF0000"/>
                </a:solidFill>
              </a:rPr>
              <a:t> = </a:t>
            </a:r>
            <a:r>
              <a:rPr lang="en-US" dirty="0" err="1">
                <a:solidFill>
                  <a:srgbClr val="FF0000"/>
                </a:solidFill>
              </a:rPr>
              <a:t>df_concat.reset_index</a:t>
            </a:r>
            <a:r>
              <a:rPr lang="en-US" dirty="0">
                <a:solidFill>
                  <a:srgbClr val="FF0000"/>
                </a:solidFill>
              </a:rPr>
              <a:t>()</a:t>
            </a:r>
          </a:p>
          <a:p>
            <a:r>
              <a:rPr lang="en-US" dirty="0" err="1">
                <a:solidFill>
                  <a:srgbClr val="FF0000"/>
                </a:solidFill>
              </a:rPr>
              <a:t>df_concat_reindexed</a:t>
            </a:r>
            <a:endParaRPr lang="en-US" dirty="0">
              <a:solidFill>
                <a:srgbClr val="FF0000"/>
              </a:solidFill>
            </a:endParaRPr>
          </a:p>
          <a:p>
            <a:r>
              <a:rPr lang="en-US" dirty="0"/>
              <a:t>Out[89]:</a:t>
            </a:r>
          </a:p>
          <a:p>
            <a:r>
              <a:rPr lang="en-US" dirty="0"/>
              <a:t>   index     animals location  </a:t>
            </a:r>
            <a:r>
              <a:rPr lang="en-US" dirty="0" err="1"/>
              <a:t>has_fur</a:t>
            </a:r>
            <a:r>
              <a:rPr lang="en-US" dirty="0"/>
              <a:t>  </a:t>
            </a:r>
            <a:r>
              <a:rPr lang="en-US" dirty="0" err="1"/>
              <a:t>avg_weight</a:t>
            </a:r>
            <a:endParaRPr lang="en-US" dirty="0"/>
          </a:p>
          <a:p>
            <a:r>
              <a:rPr lang="en-US" dirty="0"/>
              <a:t>0      0         dog     land     True        40.0</a:t>
            </a:r>
          </a:p>
          <a:p>
            <a:r>
              <a:rPr lang="en-US" dirty="0"/>
              <a:t>1      1         cat     land     True        10.0</a:t>
            </a:r>
          </a:p>
          <a:p>
            <a:r>
              <a:rPr lang="en-US" dirty="0"/>
              <a:t>2      2        bird      air    False         0.1</a:t>
            </a:r>
          </a:p>
          <a:p>
            <a:r>
              <a:rPr lang="en-US" dirty="0"/>
              <a:t>3      3        fish    water    False         4.0</a:t>
            </a:r>
          </a:p>
          <a:p>
            <a:r>
              <a:rPr lang="en-US" dirty="0"/>
              <a:t>4      0     giraffe     land     True      3000.0</a:t>
            </a:r>
          </a:p>
          <a:p>
            <a:r>
              <a:rPr lang="en-US" dirty="0"/>
              <a:t>5      1    elephant     land    False     12000.0</a:t>
            </a:r>
          </a:p>
          <a:p>
            <a:r>
              <a:rPr lang="en-US" dirty="0"/>
              <a:t>6      2  blue whale    water    False    300000.0</a:t>
            </a:r>
          </a:p>
        </p:txBody>
      </p:sp>
      <p:sp>
        <p:nvSpPr>
          <p:cNvPr id="4" name="Slide Number Placeholder 3">
            <a:extLst>
              <a:ext uri="{FF2B5EF4-FFF2-40B4-BE49-F238E27FC236}">
                <a16:creationId xmlns:a16="http://schemas.microsoft.com/office/drawing/2014/main" id="{8464AEDB-0C3C-481F-9D08-308EE9BCB6D0}"/>
              </a:ext>
            </a:extLst>
          </p:cNvPr>
          <p:cNvSpPr>
            <a:spLocks noGrp="1"/>
          </p:cNvSpPr>
          <p:nvPr>
            <p:ph type="sldNum" sz="quarter" idx="12"/>
          </p:nvPr>
        </p:nvSpPr>
        <p:spPr/>
        <p:txBody>
          <a:bodyPr/>
          <a:lstStyle/>
          <a:p>
            <a:fld id="{6B97D948-30E8-43F7-AE10-F6E2D9F2BBB1}" type="slidenum">
              <a:rPr lang="en-US" smtClean="0"/>
              <a:t>346</a:t>
            </a:fld>
            <a:endParaRPr lang="en-US"/>
          </a:p>
        </p:txBody>
      </p:sp>
    </p:spTree>
    <p:extLst>
      <p:ext uri="{BB962C8B-B14F-4D97-AF65-F5344CB8AC3E}">
        <p14:creationId xmlns:p14="http://schemas.microsoft.com/office/powerpoint/2010/main" val="193312365"/>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2A36D3-48D8-45BF-857A-C007442BA498}"/>
              </a:ext>
            </a:extLst>
          </p:cNvPr>
          <p:cNvSpPr>
            <a:spLocks noGrp="1"/>
          </p:cNvSpPr>
          <p:nvPr>
            <p:ph idx="1"/>
          </p:nvPr>
        </p:nvSpPr>
        <p:spPr>
          <a:xfrm>
            <a:off x="838200" y="509666"/>
            <a:ext cx="10515600" cy="5667297"/>
          </a:xfrm>
        </p:spPr>
        <p:txBody>
          <a:bodyPr>
            <a:normAutofit fontScale="92500" lnSpcReduction="10000"/>
          </a:bodyPr>
          <a:lstStyle/>
          <a:p>
            <a:pPr algn="just"/>
            <a:r>
              <a:rPr lang="en-US" dirty="0"/>
              <a:t>If we wanted to drop the old index, we could add the drop=True key/value pair to the call as shown below.</a:t>
            </a:r>
          </a:p>
          <a:p>
            <a:pPr algn="just"/>
            <a:r>
              <a:rPr lang="en-US" dirty="0" err="1">
                <a:solidFill>
                  <a:srgbClr val="FF0000"/>
                </a:solidFill>
              </a:rPr>
              <a:t>df_concat_reindexed</a:t>
            </a:r>
            <a:r>
              <a:rPr lang="en-US" dirty="0">
                <a:solidFill>
                  <a:srgbClr val="FF0000"/>
                </a:solidFill>
              </a:rPr>
              <a:t> = </a:t>
            </a:r>
            <a:r>
              <a:rPr lang="en-US" dirty="0" err="1">
                <a:solidFill>
                  <a:srgbClr val="FF0000"/>
                </a:solidFill>
              </a:rPr>
              <a:t>df_concat.reset_index</a:t>
            </a:r>
            <a:r>
              <a:rPr lang="en-US" dirty="0">
                <a:solidFill>
                  <a:srgbClr val="FF0000"/>
                </a:solidFill>
              </a:rPr>
              <a:t>(drop=True)^M</a:t>
            </a:r>
          </a:p>
          <a:p>
            <a:pPr algn="just"/>
            <a:r>
              <a:rPr lang="en-US" dirty="0" err="1">
                <a:solidFill>
                  <a:srgbClr val="FF0000"/>
                </a:solidFill>
              </a:rPr>
              <a:t>df_concat_reindexed</a:t>
            </a:r>
            <a:endParaRPr lang="en-US" dirty="0">
              <a:solidFill>
                <a:srgbClr val="FF0000"/>
              </a:solidFill>
            </a:endParaRPr>
          </a:p>
          <a:p>
            <a:pPr algn="just"/>
            <a:r>
              <a:rPr lang="en-US" dirty="0"/>
              <a:t>Out[90]:</a:t>
            </a:r>
          </a:p>
          <a:p>
            <a:pPr algn="just"/>
            <a:r>
              <a:rPr lang="en-US" dirty="0"/>
              <a:t>      animals location  </a:t>
            </a:r>
            <a:r>
              <a:rPr lang="en-US" dirty="0" err="1"/>
              <a:t>has_fur</a:t>
            </a:r>
            <a:r>
              <a:rPr lang="en-US" dirty="0"/>
              <a:t>  </a:t>
            </a:r>
            <a:r>
              <a:rPr lang="en-US" dirty="0" err="1"/>
              <a:t>avg_weight</a:t>
            </a:r>
            <a:endParaRPr lang="en-US" dirty="0"/>
          </a:p>
          <a:p>
            <a:pPr algn="just"/>
            <a:r>
              <a:rPr lang="en-US" dirty="0"/>
              <a:t>0         dog     land     True        40.0</a:t>
            </a:r>
          </a:p>
          <a:p>
            <a:pPr algn="just"/>
            <a:r>
              <a:rPr lang="en-US" dirty="0"/>
              <a:t>1         cat     land     True        10.0</a:t>
            </a:r>
          </a:p>
          <a:p>
            <a:pPr algn="just"/>
            <a:r>
              <a:rPr lang="en-US" dirty="0"/>
              <a:t>2        bird      air    False         0.1</a:t>
            </a:r>
          </a:p>
          <a:p>
            <a:pPr algn="just"/>
            <a:r>
              <a:rPr lang="en-US" dirty="0"/>
              <a:t>3        fish    water    False         4.0</a:t>
            </a:r>
          </a:p>
          <a:p>
            <a:pPr algn="just"/>
            <a:r>
              <a:rPr lang="en-US" dirty="0"/>
              <a:t>4     giraffe     land     True      3000.0</a:t>
            </a:r>
          </a:p>
          <a:p>
            <a:pPr algn="just"/>
            <a:r>
              <a:rPr lang="en-US" dirty="0"/>
              <a:t>5    elephant     land    False     12000.0</a:t>
            </a:r>
          </a:p>
          <a:p>
            <a:pPr algn="just"/>
            <a:r>
              <a:rPr lang="en-US" dirty="0"/>
              <a:t>6  blue whale    water    False    300000.0</a:t>
            </a:r>
          </a:p>
        </p:txBody>
      </p:sp>
      <p:sp>
        <p:nvSpPr>
          <p:cNvPr id="4" name="Slide Number Placeholder 3">
            <a:extLst>
              <a:ext uri="{FF2B5EF4-FFF2-40B4-BE49-F238E27FC236}">
                <a16:creationId xmlns:a16="http://schemas.microsoft.com/office/drawing/2014/main" id="{BD131A32-A967-4244-A4B2-B9CCA5268037}"/>
              </a:ext>
            </a:extLst>
          </p:cNvPr>
          <p:cNvSpPr>
            <a:spLocks noGrp="1"/>
          </p:cNvSpPr>
          <p:nvPr>
            <p:ph type="sldNum" sz="quarter" idx="12"/>
          </p:nvPr>
        </p:nvSpPr>
        <p:spPr/>
        <p:txBody>
          <a:bodyPr/>
          <a:lstStyle/>
          <a:p>
            <a:fld id="{6B97D948-30E8-43F7-AE10-F6E2D9F2BBB1}" type="slidenum">
              <a:rPr lang="en-US" smtClean="0"/>
              <a:t>347</a:t>
            </a:fld>
            <a:endParaRPr lang="en-US"/>
          </a:p>
        </p:txBody>
      </p:sp>
    </p:spTree>
    <p:extLst>
      <p:ext uri="{BB962C8B-B14F-4D97-AF65-F5344CB8AC3E}">
        <p14:creationId xmlns:p14="http://schemas.microsoft.com/office/powerpoint/2010/main" val="3642838669"/>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7300-D6B9-4A3F-A3CF-6D861BAD86F6}"/>
              </a:ext>
            </a:extLst>
          </p:cNvPr>
          <p:cNvSpPr>
            <a:spLocks noGrp="1"/>
          </p:cNvSpPr>
          <p:nvPr>
            <p:ph type="title"/>
          </p:nvPr>
        </p:nvSpPr>
        <p:spPr>
          <a:xfrm>
            <a:off x="838200" y="365125"/>
            <a:ext cx="10515600" cy="729157"/>
          </a:xfrm>
        </p:spPr>
        <p:txBody>
          <a:bodyPr/>
          <a:lstStyle/>
          <a:p>
            <a:r>
              <a:rPr lang="en-US" dirty="0"/>
              <a:t>Concatenating along different axes</a:t>
            </a:r>
          </a:p>
        </p:txBody>
      </p:sp>
      <p:sp>
        <p:nvSpPr>
          <p:cNvPr id="3" name="Content Placeholder 2">
            <a:extLst>
              <a:ext uri="{FF2B5EF4-FFF2-40B4-BE49-F238E27FC236}">
                <a16:creationId xmlns:a16="http://schemas.microsoft.com/office/drawing/2014/main" id="{7558892A-79C5-4C8F-996E-5E8FBCDBE667}"/>
              </a:ext>
            </a:extLst>
          </p:cNvPr>
          <p:cNvSpPr>
            <a:spLocks noGrp="1"/>
          </p:cNvSpPr>
          <p:nvPr>
            <p:ph idx="1"/>
          </p:nvPr>
        </p:nvSpPr>
        <p:spPr>
          <a:xfrm>
            <a:off x="838200" y="1229193"/>
            <a:ext cx="10515600" cy="4947770"/>
          </a:xfrm>
        </p:spPr>
        <p:txBody>
          <a:bodyPr>
            <a:normAutofit fontScale="85000" lnSpcReduction="20000"/>
          </a:bodyPr>
          <a:lstStyle/>
          <a:p>
            <a:pPr algn="just"/>
            <a:r>
              <a:rPr lang="en-US" dirty="0"/>
              <a:t>The example we showed above applied concatenate along the default axis (0):</a:t>
            </a:r>
          </a:p>
          <a:p>
            <a:pPr algn="just"/>
            <a:r>
              <a:rPr lang="en-US" dirty="0" err="1">
                <a:solidFill>
                  <a:srgbClr val="FF0000"/>
                </a:solidFill>
              </a:rPr>
              <a:t>df_concat</a:t>
            </a:r>
            <a:r>
              <a:rPr lang="en-US" dirty="0">
                <a:solidFill>
                  <a:srgbClr val="FF0000"/>
                </a:solidFill>
              </a:rPr>
              <a:t> = </a:t>
            </a:r>
            <a:r>
              <a:rPr lang="en-US" dirty="0" err="1">
                <a:solidFill>
                  <a:srgbClr val="FF0000"/>
                </a:solidFill>
              </a:rPr>
              <a:t>pd.concat</a:t>
            </a:r>
            <a:r>
              <a:rPr lang="en-US" dirty="0">
                <a:solidFill>
                  <a:srgbClr val="FF0000"/>
                </a:solidFill>
              </a:rPr>
              <a:t>([df1, df2], axis=0)^M</a:t>
            </a:r>
          </a:p>
          <a:p>
            <a:pPr algn="just"/>
            <a:r>
              <a:rPr lang="en-US" dirty="0" err="1">
                <a:solidFill>
                  <a:srgbClr val="FF0000"/>
                </a:solidFill>
              </a:rPr>
              <a:t>df_concat</a:t>
            </a:r>
            <a:endParaRPr lang="en-US" dirty="0">
              <a:solidFill>
                <a:srgbClr val="FF0000"/>
              </a:solidFill>
            </a:endParaRPr>
          </a:p>
          <a:p>
            <a:pPr algn="just"/>
            <a:r>
              <a:rPr lang="en-US" dirty="0"/>
              <a:t>Out[91]:</a:t>
            </a:r>
          </a:p>
          <a:p>
            <a:pPr algn="just"/>
            <a:r>
              <a:rPr lang="en-US" dirty="0"/>
              <a:t>      animals location  </a:t>
            </a:r>
            <a:r>
              <a:rPr lang="en-US" dirty="0" err="1"/>
              <a:t>has_fur</a:t>
            </a:r>
            <a:r>
              <a:rPr lang="en-US" dirty="0"/>
              <a:t>  </a:t>
            </a:r>
            <a:r>
              <a:rPr lang="en-US" dirty="0" err="1"/>
              <a:t>avg_weight</a:t>
            </a:r>
            <a:endParaRPr lang="en-US" dirty="0"/>
          </a:p>
          <a:p>
            <a:pPr algn="just"/>
            <a:r>
              <a:rPr lang="en-US" dirty="0"/>
              <a:t>0         dog     land     True        40.0</a:t>
            </a:r>
          </a:p>
          <a:p>
            <a:pPr algn="just"/>
            <a:r>
              <a:rPr lang="en-US" dirty="0"/>
              <a:t>1         cat     land     True        10.0</a:t>
            </a:r>
          </a:p>
          <a:p>
            <a:pPr algn="just"/>
            <a:r>
              <a:rPr lang="en-US" dirty="0"/>
              <a:t>2        bird      air    False         0.1</a:t>
            </a:r>
          </a:p>
          <a:p>
            <a:pPr algn="just"/>
            <a:r>
              <a:rPr lang="en-US" dirty="0"/>
              <a:t>3        fish    water    False         4.0</a:t>
            </a:r>
          </a:p>
          <a:p>
            <a:pPr algn="just"/>
            <a:r>
              <a:rPr lang="en-US" dirty="0"/>
              <a:t>0     giraffe     land     True      3000.0</a:t>
            </a:r>
          </a:p>
          <a:p>
            <a:pPr algn="just"/>
            <a:r>
              <a:rPr lang="en-US" dirty="0"/>
              <a:t>1    elephant     land    False     12000.0</a:t>
            </a:r>
          </a:p>
          <a:p>
            <a:pPr algn="just"/>
            <a:r>
              <a:rPr lang="en-US" dirty="0"/>
              <a:t>2  blue whale    water    False    300000.0</a:t>
            </a:r>
          </a:p>
        </p:txBody>
      </p:sp>
      <p:sp>
        <p:nvSpPr>
          <p:cNvPr id="4" name="Slide Number Placeholder 3">
            <a:extLst>
              <a:ext uri="{FF2B5EF4-FFF2-40B4-BE49-F238E27FC236}">
                <a16:creationId xmlns:a16="http://schemas.microsoft.com/office/drawing/2014/main" id="{839AFFAB-8D29-497D-A9FF-D8886F4B2358}"/>
              </a:ext>
            </a:extLst>
          </p:cNvPr>
          <p:cNvSpPr>
            <a:spLocks noGrp="1"/>
          </p:cNvSpPr>
          <p:nvPr>
            <p:ph type="sldNum" sz="quarter" idx="12"/>
          </p:nvPr>
        </p:nvSpPr>
        <p:spPr/>
        <p:txBody>
          <a:bodyPr/>
          <a:lstStyle/>
          <a:p>
            <a:fld id="{6B97D948-30E8-43F7-AE10-F6E2D9F2BBB1}" type="slidenum">
              <a:rPr lang="en-US" smtClean="0"/>
              <a:t>348</a:t>
            </a:fld>
            <a:endParaRPr lang="en-US"/>
          </a:p>
        </p:txBody>
      </p:sp>
    </p:spTree>
    <p:extLst>
      <p:ext uri="{BB962C8B-B14F-4D97-AF65-F5344CB8AC3E}">
        <p14:creationId xmlns:p14="http://schemas.microsoft.com/office/powerpoint/2010/main" val="19010681"/>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9E735BE-B27D-4967-A844-E75E3C7C233B}"/>
              </a:ext>
            </a:extLst>
          </p:cNvPr>
          <p:cNvPicPr>
            <a:picLocks noGrp="1" noChangeAspect="1"/>
          </p:cNvPicPr>
          <p:nvPr>
            <p:ph idx="1"/>
          </p:nvPr>
        </p:nvPicPr>
        <p:blipFill>
          <a:blip r:embed="rId2"/>
          <a:stretch>
            <a:fillRect/>
          </a:stretch>
        </p:blipFill>
        <p:spPr>
          <a:xfrm>
            <a:off x="1783830" y="561188"/>
            <a:ext cx="7465101" cy="5955410"/>
          </a:xfrm>
          <a:prstGeom prst="rect">
            <a:avLst/>
          </a:prstGeom>
        </p:spPr>
      </p:pic>
      <p:sp>
        <p:nvSpPr>
          <p:cNvPr id="4" name="Slide Number Placeholder 3">
            <a:extLst>
              <a:ext uri="{FF2B5EF4-FFF2-40B4-BE49-F238E27FC236}">
                <a16:creationId xmlns:a16="http://schemas.microsoft.com/office/drawing/2014/main" id="{14631501-488A-4ACB-981C-99AB188B76DF}"/>
              </a:ext>
            </a:extLst>
          </p:cNvPr>
          <p:cNvSpPr>
            <a:spLocks noGrp="1"/>
          </p:cNvSpPr>
          <p:nvPr>
            <p:ph type="sldNum" sz="quarter" idx="12"/>
          </p:nvPr>
        </p:nvSpPr>
        <p:spPr/>
        <p:txBody>
          <a:bodyPr/>
          <a:lstStyle/>
          <a:p>
            <a:fld id="{6B97D948-30E8-43F7-AE10-F6E2D9F2BBB1}" type="slidenum">
              <a:rPr lang="en-US" smtClean="0"/>
              <a:t>349</a:t>
            </a:fld>
            <a:endParaRPr lang="en-US"/>
          </a:p>
        </p:txBody>
      </p:sp>
    </p:spTree>
    <p:extLst>
      <p:ext uri="{BB962C8B-B14F-4D97-AF65-F5344CB8AC3E}">
        <p14:creationId xmlns:p14="http://schemas.microsoft.com/office/powerpoint/2010/main" val="4055078519"/>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262497-366E-40C1-8F6E-6B58CF80F61A}"/>
              </a:ext>
            </a:extLst>
          </p:cNvPr>
          <p:cNvSpPr>
            <a:spLocks noGrp="1"/>
          </p:cNvSpPr>
          <p:nvPr>
            <p:ph idx="1"/>
          </p:nvPr>
        </p:nvSpPr>
        <p:spPr>
          <a:xfrm>
            <a:off x="838200" y="449705"/>
            <a:ext cx="10515600" cy="5727258"/>
          </a:xfrm>
        </p:spPr>
        <p:txBody>
          <a:bodyPr/>
          <a:lstStyle/>
          <a:p>
            <a:pPr algn="just"/>
            <a:r>
              <a:rPr lang="en-US" dirty="0"/>
              <a:t>Let’s say we wanted to add additional information about each animal about its average lifespan in years and its length (along the longest dimension) in meters. . . </a:t>
            </a:r>
          </a:p>
          <a:p>
            <a:pPr algn="just"/>
            <a:r>
              <a:rPr lang="en-US" dirty="0">
                <a:solidFill>
                  <a:srgbClr val="FF0000"/>
                </a:solidFill>
              </a:rPr>
              <a:t>df3 = </a:t>
            </a:r>
            <a:r>
              <a:rPr lang="en-US" dirty="0" err="1">
                <a:solidFill>
                  <a:srgbClr val="FF0000"/>
                </a:solidFill>
              </a:rPr>
              <a:t>pd.DataFrame</a:t>
            </a:r>
            <a:r>
              <a:rPr lang="en-US" dirty="0">
                <a:solidFill>
                  <a:srgbClr val="FF0000"/>
                </a:solidFill>
              </a:rPr>
              <a:t>({'life': [12, 13, 4, 3], 'height': [0.6, 0.45, 0.2, 0.05]})</a:t>
            </a:r>
          </a:p>
          <a:p>
            <a:pPr algn="just"/>
            <a:r>
              <a:rPr lang="en-US" dirty="0">
                <a:solidFill>
                  <a:srgbClr val="FF0000"/>
                </a:solidFill>
              </a:rPr>
              <a:t>df3</a:t>
            </a:r>
          </a:p>
          <a:p>
            <a:pPr algn="just"/>
            <a:r>
              <a:rPr lang="en-US" dirty="0"/>
              <a:t>Out[92]:</a:t>
            </a:r>
          </a:p>
          <a:p>
            <a:pPr algn="just"/>
            <a:r>
              <a:rPr lang="en-US" dirty="0"/>
              <a:t>   life  height</a:t>
            </a:r>
          </a:p>
          <a:p>
            <a:pPr algn="just"/>
            <a:r>
              <a:rPr lang="en-US" dirty="0"/>
              <a:t>0    12    0.60</a:t>
            </a:r>
          </a:p>
          <a:p>
            <a:pPr algn="just"/>
            <a:r>
              <a:rPr lang="en-US" dirty="0"/>
              <a:t>1    13    0.45</a:t>
            </a:r>
          </a:p>
          <a:p>
            <a:pPr algn="just"/>
            <a:r>
              <a:rPr lang="en-US" dirty="0"/>
              <a:t>2     4    0.20</a:t>
            </a:r>
          </a:p>
          <a:p>
            <a:pPr algn="just"/>
            <a:r>
              <a:rPr lang="en-US" dirty="0"/>
              <a:t>3     3    0.05</a:t>
            </a:r>
          </a:p>
        </p:txBody>
      </p:sp>
      <p:sp>
        <p:nvSpPr>
          <p:cNvPr id="4" name="Slide Number Placeholder 3">
            <a:extLst>
              <a:ext uri="{FF2B5EF4-FFF2-40B4-BE49-F238E27FC236}">
                <a16:creationId xmlns:a16="http://schemas.microsoft.com/office/drawing/2014/main" id="{5EE5CCD8-CB4C-4FD9-9E78-1F7262BFE981}"/>
              </a:ext>
            </a:extLst>
          </p:cNvPr>
          <p:cNvSpPr>
            <a:spLocks noGrp="1"/>
          </p:cNvSpPr>
          <p:nvPr>
            <p:ph type="sldNum" sz="quarter" idx="12"/>
          </p:nvPr>
        </p:nvSpPr>
        <p:spPr/>
        <p:txBody>
          <a:bodyPr/>
          <a:lstStyle/>
          <a:p>
            <a:fld id="{6B97D948-30E8-43F7-AE10-F6E2D9F2BBB1}" type="slidenum">
              <a:rPr lang="en-US" smtClean="0"/>
              <a:t>350</a:t>
            </a:fld>
            <a:endParaRPr lang="en-US"/>
          </a:p>
        </p:txBody>
      </p:sp>
    </p:spTree>
    <p:extLst>
      <p:ext uri="{BB962C8B-B14F-4D97-AF65-F5344CB8AC3E}">
        <p14:creationId xmlns:p14="http://schemas.microsoft.com/office/powerpoint/2010/main" val="3278751931"/>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89B2A1-5305-4FA6-A00D-19B31B583ABF}"/>
              </a:ext>
            </a:extLst>
          </p:cNvPr>
          <p:cNvSpPr>
            <a:spLocks noGrp="1"/>
          </p:cNvSpPr>
          <p:nvPr>
            <p:ph idx="1"/>
          </p:nvPr>
        </p:nvSpPr>
        <p:spPr>
          <a:xfrm>
            <a:off x="838200" y="434715"/>
            <a:ext cx="10515600" cy="5742248"/>
          </a:xfrm>
        </p:spPr>
        <p:txBody>
          <a:bodyPr/>
          <a:lstStyle/>
          <a:p>
            <a:r>
              <a:rPr lang="en-US" dirty="0"/>
              <a:t>Recall df1</a:t>
            </a:r>
          </a:p>
          <a:p>
            <a:r>
              <a:rPr lang="en-US" dirty="0"/>
              <a:t> </a:t>
            </a:r>
            <a:r>
              <a:rPr lang="en-US" dirty="0">
                <a:solidFill>
                  <a:srgbClr val="FF0000"/>
                </a:solidFill>
              </a:rPr>
              <a:t>df1</a:t>
            </a:r>
          </a:p>
          <a:p>
            <a:r>
              <a:rPr lang="en-US" dirty="0"/>
              <a:t>Out[93]:</a:t>
            </a:r>
          </a:p>
          <a:p>
            <a:r>
              <a:rPr lang="en-US" dirty="0"/>
              <a:t>  animals location  </a:t>
            </a:r>
            <a:r>
              <a:rPr lang="en-US" dirty="0" err="1"/>
              <a:t>has_fur</a:t>
            </a:r>
            <a:r>
              <a:rPr lang="en-US" dirty="0"/>
              <a:t>  </a:t>
            </a:r>
            <a:r>
              <a:rPr lang="en-US" dirty="0" err="1"/>
              <a:t>avg_weight</a:t>
            </a:r>
            <a:endParaRPr lang="en-US" dirty="0"/>
          </a:p>
          <a:p>
            <a:r>
              <a:rPr lang="en-US" dirty="0"/>
              <a:t>0     dog     land     True        40.0</a:t>
            </a:r>
          </a:p>
          <a:p>
            <a:r>
              <a:rPr lang="en-US" dirty="0"/>
              <a:t>1     cat     land     True        10.0</a:t>
            </a:r>
          </a:p>
          <a:p>
            <a:r>
              <a:rPr lang="en-US" dirty="0"/>
              <a:t>2    bird      air    False         0.1</a:t>
            </a:r>
          </a:p>
          <a:p>
            <a:r>
              <a:rPr lang="en-US" dirty="0"/>
              <a:t>3    fish    water    False         4.0</a:t>
            </a:r>
          </a:p>
        </p:txBody>
      </p:sp>
      <p:sp>
        <p:nvSpPr>
          <p:cNvPr id="4" name="Slide Number Placeholder 3">
            <a:extLst>
              <a:ext uri="{FF2B5EF4-FFF2-40B4-BE49-F238E27FC236}">
                <a16:creationId xmlns:a16="http://schemas.microsoft.com/office/drawing/2014/main" id="{EE7C936E-0132-432B-B816-2794606E0025}"/>
              </a:ext>
            </a:extLst>
          </p:cNvPr>
          <p:cNvSpPr>
            <a:spLocks noGrp="1"/>
          </p:cNvSpPr>
          <p:nvPr>
            <p:ph type="sldNum" sz="quarter" idx="12"/>
          </p:nvPr>
        </p:nvSpPr>
        <p:spPr/>
        <p:txBody>
          <a:bodyPr/>
          <a:lstStyle/>
          <a:p>
            <a:fld id="{6B97D948-30E8-43F7-AE10-F6E2D9F2BBB1}" type="slidenum">
              <a:rPr lang="en-US" smtClean="0"/>
              <a:t>351</a:t>
            </a:fld>
            <a:endParaRPr lang="en-US"/>
          </a:p>
        </p:txBody>
      </p:sp>
    </p:spTree>
    <p:extLst>
      <p:ext uri="{BB962C8B-B14F-4D97-AF65-F5344CB8AC3E}">
        <p14:creationId xmlns:p14="http://schemas.microsoft.com/office/powerpoint/2010/main" val="3657032801"/>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7D9628-BC68-44CD-8659-210C345E8029}"/>
              </a:ext>
            </a:extLst>
          </p:cNvPr>
          <p:cNvSpPr>
            <a:spLocks noGrp="1"/>
          </p:cNvSpPr>
          <p:nvPr>
            <p:ph idx="1"/>
          </p:nvPr>
        </p:nvSpPr>
        <p:spPr>
          <a:xfrm>
            <a:off x="838200" y="359764"/>
            <a:ext cx="10515600" cy="5817199"/>
          </a:xfrm>
        </p:spPr>
        <p:txBody>
          <a:bodyPr/>
          <a:lstStyle/>
          <a:p>
            <a:pPr algn="just"/>
            <a:r>
              <a:rPr lang="en-US" dirty="0"/>
              <a:t>We notice the data in df3 are nicely lined up and we just need to add the additional columns to df1 along axis 1.</a:t>
            </a:r>
          </a:p>
          <a:p>
            <a:pPr algn="just"/>
            <a:r>
              <a:rPr lang="en-US" dirty="0">
                <a:solidFill>
                  <a:srgbClr val="FF0000"/>
                </a:solidFill>
              </a:rPr>
              <a:t>df_concat_axis1 = </a:t>
            </a:r>
            <a:r>
              <a:rPr lang="en-US" dirty="0" err="1">
                <a:solidFill>
                  <a:srgbClr val="FF0000"/>
                </a:solidFill>
              </a:rPr>
              <a:t>pd.concat</a:t>
            </a:r>
            <a:r>
              <a:rPr lang="en-US" dirty="0">
                <a:solidFill>
                  <a:srgbClr val="FF0000"/>
                </a:solidFill>
              </a:rPr>
              <a:t>([df1, df3], axis=1)</a:t>
            </a:r>
          </a:p>
          <a:p>
            <a:pPr algn="just"/>
            <a:r>
              <a:rPr lang="en-US" dirty="0">
                <a:solidFill>
                  <a:srgbClr val="FF0000"/>
                </a:solidFill>
              </a:rPr>
              <a:t>df_concat_axis1</a:t>
            </a:r>
          </a:p>
          <a:p>
            <a:pPr algn="just"/>
            <a:r>
              <a:rPr lang="en-US" dirty="0"/>
              <a:t>Out[94]:</a:t>
            </a:r>
          </a:p>
          <a:p>
            <a:pPr algn="just"/>
            <a:r>
              <a:rPr lang="en-US" dirty="0"/>
              <a:t>  animals location  </a:t>
            </a:r>
            <a:r>
              <a:rPr lang="en-US" dirty="0" err="1"/>
              <a:t>has_fur</a:t>
            </a:r>
            <a:r>
              <a:rPr lang="en-US" dirty="0"/>
              <a:t>  </a:t>
            </a:r>
            <a:r>
              <a:rPr lang="en-US" dirty="0" err="1"/>
              <a:t>avg_weight</a:t>
            </a:r>
            <a:r>
              <a:rPr lang="en-US" dirty="0"/>
              <a:t>  life  height</a:t>
            </a:r>
          </a:p>
          <a:p>
            <a:pPr algn="just"/>
            <a:r>
              <a:rPr lang="en-US" dirty="0"/>
              <a:t>0     dog     land     True        40.0    12    0.60</a:t>
            </a:r>
          </a:p>
          <a:p>
            <a:pPr algn="just"/>
            <a:r>
              <a:rPr lang="en-US" dirty="0"/>
              <a:t>1     cat     land     True        10.0    13    0.45</a:t>
            </a:r>
          </a:p>
          <a:p>
            <a:pPr algn="just"/>
            <a:r>
              <a:rPr lang="en-US" dirty="0"/>
              <a:t>2    bird      air    False         0.1     4    0.20</a:t>
            </a:r>
          </a:p>
          <a:p>
            <a:pPr algn="just"/>
            <a:r>
              <a:rPr lang="en-US" dirty="0"/>
              <a:t>3    fish    water    False         4.0     3    0.05</a:t>
            </a:r>
          </a:p>
        </p:txBody>
      </p:sp>
      <p:sp>
        <p:nvSpPr>
          <p:cNvPr id="4" name="Slide Number Placeholder 3">
            <a:extLst>
              <a:ext uri="{FF2B5EF4-FFF2-40B4-BE49-F238E27FC236}">
                <a16:creationId xmlns:a16="http://schemas.microsoft.com/office/drawing/2014/main" id="{2173A9E7-0ECD-4787-B219-F687F471AD88}"/>
              </a:ext>
            </a:extLst>
          </p:cNvPr>
          <p:cNvSpPr>
            <a:spLocks noGrp="1"/>
          </p:cNvSpPr>
          <p:nvPr>
            <p:ph type="sldNum" sz="quarter" idx="12"/>
          </p:nvPr>
        </p:nvSpPr>
        <p:spPr/>
        <p:txBody>
          <a:bodyPr/>
          <a:lstStyle/>
          <a:p>
            <a:fld id="{6B97D948-30E8-43F7-AE10-F6E2D9F2BBB1}" type="slidenum">
              <a:rPr lang="en-US" smtClean="0"/>
              <a:t>352</a:t>
            </a:fld>
            <a:endParaRPr lang="en-US"/>
          </a:p>
        </p:txBody>
      </p:sp>
    </p:spTree>
    <p:extLst>
      <p:ext uri="{BB962C8B-B14F-4D97-AF65-F5344CB8AC3E}">
        <p14:creationId xmlns:p14="http://schemas.microsoft.com/office/powerpoint/2010/main" val="2275295252"/>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05A5A-8BF4-44E8-9D14-87F673960C03}"/>
              </a:ext>
            </a:extLst>
          </p:cNvPr>
          <p:cNvSpPr>
            <a:spLocks noGrp="1"/>
          </p:cNvSpPr>
          <p:nvPr>
            <p:ph type="title"/>
          </p:nvPr>
        </p:nvSpPr>
        <p:spPr>
          <a:xfrm>
            <a:off x="838200" y="365126"/>
            <a:ext cx="10515600" cy="669196"/>
          </a:xfrm>
        </p:spPr>
        <p:txBody>
          <a:bodyPr>
            <a:normAutofit fontScale="90000"/>
          </a:bodyPr>
          <a:lstStyle/>
          <a:p>
            <a:r>
              <a:rPr lang="en-US" b="1" dirty="0"/>
              <a:t>Concatenating with mismatched datasets</a:t>
            </a:r>
            <a:endParaRPr lang="en-US" dirty="0"/>
          </a:p>
        </p:txBody>
      </p:sp>
      <p:sp>
        <p:nvSpPr>
          <p:cNvPr id="3" name="Content Placeholder 2">
            <a:extLst>
              <a:ext uri="{FF2B5EF4-FFF2-40B4-BE49-F238E27FC236}">
                <a16:creationId xmlns:a16="http://schemas.microsoft.com/office/drawing/2014/main" id="{5D3B6F73-85BA-453E-894A-847CFF254DF2}"/>
              </a:ext>
            </a:extLst>
          </p:cNvPr>
          <p:cNvSpPr>
            <a:spLocks noGrp="1"/>
          </p:cNvSpPr>
          <p:nvPr>
            <p:ph idx="1"/>
          </p:nvPr>
        </p:nvSpPr>
        <p:spPr>
          <a:xfrm>
            <a:off x="838200" y="1034322"/>
            <a:ext cx="10515600" cy="5142641"/>
          </a:xfrm>
        </p:spPr>
        <p:txBody>
          <a:bodyPr/>
          <a:lstStyle/>
          <a:p>
            <a:pPr algn="just"/>
            <a:r>
              <a:rPr lang="en-US" dirty="0"/>
              <a:t>In all of the cases we’ve looked at so far, everything has been very nice and clean.</a:t>
            </a:r>
          </a:p>
          <a:p>
            <a:pPr algn="just"/>
            <a:r>
              <a:rPr lang="en-US" dirty="0"/>
              <a:t>We concatenated rows, there were the same number of columns and we concatenated columns there were the same number of rows: an ideal situation. </a:t>
            </a:r>
          </a:p>
          <a:p>
            <a:pPr algn="just"/>
            <a:r>
              <a:rPr lang="en-US" dirty="0"/>
              <a:t>We have to be careful when concatenating, because we’ll still get a result if these assumptions are not true, with any blanks filled in with </a:t>
            </a:r>
            <a:r>
              <a:rPr lang="en-US" dirty="0" err="1"/>
              <a:t>NaN</a:t>
            </a:r>
            <a:r>
              <a:rPr lang="en-US" dirty="0"/>
              <a:t> values.</a:t>
            </a:r>
          </a:p>
        </p:txBody>
      </p:sp>
      <p:sp>
        <p:nvSpPr>
          <p:cNvPr id="4" name="Slide Number Placeholder 3">
            <a:extLst>
              <a:ext uri="{FF2B5EF4-FFF2-40B4-BE49-F238E27FC236}">
                <a16:creationId xmlns:a16="http://schemas.microsoft.com/office/drawing/2014/main" id="{E5137EA9-BB6D-492F-A6FB-686C374BAE2D}"/>
              </a:ext>
            </a:extLst>
          </p:cNvPr>
          <p:cNvSpPr>
            <a:spLocks noGrp="1"/>
          </p:cNvSpPr>
          <p:nvPr>
            <p:ph type="sldNum" sz="quarter" idx="12"/>
          </p:nvPr>
        </p:nvSpPr>
        <p:spPr/>
        <p:txBody>
          <a:bodyPr/>
          <a:lstStyle/>
          <a:p>
            <a:fld id="{6B97D948-30E8-43F7-AE10-F6E2D9F2BBB1}" type="slidenum">
              <a:rPr lang="en-US" smtClean="0"/>
              <a:t>353</a:t>
            </a:fld>
            <a:endParaRPr lang="en-US"/>
          </a:p>
        </p:txBody>
      </p:sp>
    </p:spTree>
    <p:extLst>
      <p:ext uri="{BB962C8B-B14F-4D97-AF65-F5344CB8AC3E}">
        <p14:creationId xmlns:p14="http://schemas.microsoft.com/office/powerpoint/2010/main" val="4041011787"/>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10239CB-C944-4292-BFC0-489547D50A3D}"/>
              </a:ext>
            </a:extLst>
          </p:cNvPr>
          <p:cNvPicPr>
            <a:picLocks noGrp="1" noChangeAspect="1"/>
          </p:cNvPicPr>
          <p:nvPr>
            <p:ph idx="1"/>
          </p:nvPr>
        </p:nvPicPr>
        <p:blipFill>
          <a:blip r:embed="rId2"/>
          <a:stretch>
            <a:fillRect/>
          </a:stretch>
        </p:blipFill>
        <p:spPr>
          <a:xfrm>
            <a:off x="2308483" y="466771"/>
            <a:ext cx="8484435" cy="6053950"/>
          </a:xfrm>
          <a:prstGeom prst="rect">
            <a:avLst/>
          </a:prstGeom>
        </p:spPr>
      </p:pic>
      <p:sp>
        <p:nvSpPr>
          <p:cNvPr id="4" name="Slide Number Placeholder 3">
            <a:extLst>
              <a:ext uri="{FF2B5EF4-FFF2-40B4-BE49-F238E27FC236}">
                <a16:creationId xmlns:a16="http://schemas.microsoft.com/office/drawing/2014/main" id="{4E0A2510-0C4B-46CA-895E-673CB12973BF}"/>
              </a:ext>
            </a:extLst>
          </p:cNvPr>
          <p:cNvSpPr>
            <a:spLocks noGrp="1"/>
          </p:cNvSpPr>
          <p:nvPr>
            <p:ph type="sldNum" sz="quarter" idx="12"/>
          </p:nvPr>
        </p:nvSpPr>
        <p:spPr/>
        <p:txBody>
          <a:bodyPr/>
          <a:lstStyle/>
          <a:p>
            <a:fld id="{6B97D948-30E8-43F7-AE10-F6E2D9F2BBB1}" type="slidenum">
              <a:rPr lang="en-US" smtClean="0"/>
              <a:t>354</a:t>
            </a:fld>
            <a:endParaRPr lang="en-US"/>
          </a:p>
        </p:txBody>
      </p:sp>
    </p:spTree>
    <p:extLst>
      <p:ext uri="{BB962C8B-B14F-4D97-AF65-F5344CB8AC3E}">
        <p14:creationId xmlns:p14="http://schemas.microsoft.com/office/powerpoint/2010/main" val="495336218"/>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19468-CCC0-4ADB-9D34-1F7EA4C81542}"/>
              </a:ext>
            </a:extLst>
          </p:cNvPr>
          <p:cNvSpPr>
            <a:spLocks noGrp="1"/>
          </p:cNvSpPr>
          <p:nvPr>
            <p:ph idx="1"/>
          </p:nvPr>
        </p:nvSpPr>
        <p:spPr>
          <a:xfrm>
            <a:off x="838200" y="479685"/>
            <a:ext cx="10515600" cy="5697278"/>
          </a:xfrm>
        </p:spPr>
        <p:txBody>
          <a:bodyPr/>
          <a:lstStyle/>
          <a:p>
            <a:r>
              <a:rPr lang="en-US" dirty="0"/>
              <a:t> </a:t>
            </a:r>
            <a:r>
              <a:rPr lang="en-US" dirty="0">
                <a:solidFill>
                  <a:srgbClr val="FF0000"/>
                </a:solidFill>
              </a:rPr>
              <a:t>a = </a:t>
            </a:r>
            <a:r>
              <a:rPr lang="en-US" dirty="0" err="1">
                <a:solidFill>
                  <a:srgbClr val="FF0000"/>
                </a:solidFill>
              </a:rPr>
              <a:t>pd.DataFrame</a:t>
            </a:r>
            <a:r>
              <a:rPr lang="en-US" dirty="0">
                <a:solidFill>
                  <a:srgbClr val="FF0000"/>
                </a:solidFill>
              </a:rPr>
              <a:t>(data={'C1': ['A', 'B', 'C'], 'C2': [2.1, 4.3, -6.5]})</a:t>
            </a:r>
          </a:p>
          <a:p>
            <a:r>
              <a:rPr lang="en-US" dirty="0">
                <a:solidFill>
                  <a:srgbClr val="FF0000"/>
                </a:solidFill>
              </a:rPr>
              <a:t> a</a:t>
            </a:r>
          </a:p>
          <a:p>
            <a:r>
              <a:rPr lang="en-US" dirty="0"/>
              <a:t>Out[95]:</a:t>
            </a:r>
          </a:p>
          <a:p>
            <a:r>
              <a:rPr lang="en-US" dirty="0"/>
              <a:t>  C1   C2</a:t>
            </a:r>
          </a:p>
          <a:p>
            <a:r>
              <a:rPr lang="en-US" dirty="0"/>
              <a:t>0  A  2.1</a:t>
            </a:r>
          </a:p>
          <a:p>
            <a:r>
              <a:rPr lang="en-US" dirty="0"/>
              <a:t>1  B  4.3</a:t>
            </a:r>
          </a:p>
          <a:p>
            <a:r>
              <a:rPr lang="en-US" dirty="0"/>
              <a:t>2  C -6.5</a:t>
            </a:r>
          </a:p>
        </p:txBody>
      </p:sp>
      <p:sp>
        <p:nvSpPr>
          <p:cNvPr id="4" name="Slide Number Placeholder 3">
            <a:extLst>
              <a:ext uri="{FF2B5EF4-FFF2-40B4-BE49-F238E27FC236}">
                <a16:creationId xmlns:a16="http://schemas.microsoft.com/office/drawing/2014/main" id="{88DEA879-8146-4DAB-BEB9-4D7B8F4B8C1E}"/>
              </a:ext>
            </a:extLst>
          </p:cNvPr>
          <p:cNvSpPr>
            <a:spLocks noGrp="1"/>
          </p:cNvSpPr>
          <p:nvPr>
            <p:ph type="sldNum" sz="quarter" idx="12"/>
          </p:nvPr>
        </p:nvSpPr>
        <p:spPr/>
        <p:txBody>
          <a:bodyPr/>
          <a:lstStyle/>
          <a:p>
            <a:fld id="{6B97D948-30E8-43F7-AE10-F6E2D9F2BBB1}" type="slidenum">
              <a:rPr lang="en-US" smtClean="0"/>
              <a:t>355</a:t>
            </a:fld>
            <a:endParaRPr lang="en-US"/>
          </a:p>
        </p:txBody>
      </p:sp>
    </p:spTree>
    <p:extLst>
      <p:ext uri="{BB962C8B-B14F-4D97-AF65-F5344CB8AC3E}">
        <p14:creationId xmlns:p14="http://schemas.microsoft.com/office/powerpoint/2010/main" val="1522412718"/>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DC1807-3B18-47EB-87A3-917262B7E576}"/>
              </a:ext>
            </a:extLst>
          </p:cNvPr>
          <p:cNvSpPr>
            <a:spLocks noGrp="1"/>
          </p:cNvSpPr>
          <p:nvPr>
            <p:ph idx="1"/>
          </p:nvPr>
        </p:nvSpPr>
        <p:spPr>
          <a:xfrm>
            <a:off x="838200" y="494675"/>
            <a:ext cx="10515600" cy="5682288"/>
          </a:xfrm>
        </p:spPr>
        <p:txBody>
          <a:bodyPr/>
          <a:lstStyle/>
          <a:p>
            <a:r>
              <a:rPr lang="en-US" dirty="0">
                <a:solidFill>
                  <a:srgbClr val="FF0000"/>
                </a:solidFill>
              </a:rPr>
              <a:t> b1 = </a:t>
            </a:r>
            <a:r>
              <a:rPr lang="en-US" dirty="0" err="1">
                <a:solidFill>
                  <a:srgbClr val="FF0000"/>
                </a:solidFill>
              </a:rPr>
              <a:t>pd.DataFrame</a:t>
            </a:r>
            <a:r>
              <a:rPr lang="en-US" dirty="0">
                <a:solidFill>
                  <a:srgbClr val="FF0000"/>
                </a:solidFill>
              </a:rPr>
              <a:t>(data={'C1': ['E', 'F']})</a:t>
            </a:r>
          </a:p>
          <a:p>
            <a:r>
              <a:rPr lang="en-US" dirty="0">
                <a:solidFill>
                  <a:srgbClr val="FF0000"/>
                </a:solidFill>
              </a:rPr>
              <a:t> b1</a:t>
            </a:r>
          </a:p>
          <a:p>
            <a:r>
              <a:rPr lang="en-US" dirty="0"/>
              <a:t>Out[96]:</a:t>
            </a:r>
          </a:p>
          <a:p>
            <a:r>
              <a:rPr lang="en-US" dirty="0"/>
              <a:t>  C1</a:t>
            </a:r>
          </a:p>
          <a:p>
            <a:r>
              <a:rPr lang="en-US" dirty="0"/>
              <a:t>0  E</a:t>
            </a:r>
          </a:p>
          <a:p>
            <a:r>
              <a:rPr lang="en-US" dirty="0"/>
              <a:t>1  F</a:t>
            </a:r>
          </a:p>
        </p:txBody>
      </p:sp>
      <p:sp>
        <p:nvSpPr>
          <p:cNvPr id="4" name="Slide Number Placeholder 3">
            <a:extLst>
              <a:ext uri="{FF2B5EF4-FFF2-40B4-BE49-F238E27FC236}">
                <a16:creationId xmlns:a16="http://schemas.microsoft.com/office/drawing/2014/main" id="{A320348E-D7B7-4DE0-AF9C-C932DD4B9E22}"/>
              </a:ext>
            </a:extLst>
          </p:cNvPr>
          <p:cNvSpPr>
            <a:spLocks noGrp="1"/>
          </p:cNvSpPr>
          <p:nvPr>
            <p:ph type="sldNum" sz="quarter" idx="12"/>
          </p:nvPr>
        </p:nvSpPr>
        <p:spPr/>
        <p:txBody>
          <a:bodyPr/>
          <a:lstStyle/>
          <a:p>
            <a:fld id="{6B97D948-30E8-43F7-AE10-F6E2D9F2BBB1}" type="slidenum">
              <a:rPr lang="en-US" smtClean="0"/>
              <a:t>356</a:t>
            </a:fld>
            <a:endParaRPr lang="en-US"/>
          </a:p>
        </p:txBody>
      </p:sp>
    </p:spTree>
    <p:extLst>
      <p:ext uri="{BB962C8B-B14F-4D97-AF65-F5344CB8AC3E}">
        <p14:creationId xmlns:p14="http://schemas.microsoft.com/office/powerpoint/2010/main" val="259794466"/>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4AB2CB-E097-4649-95ED-593AEA3AF8CC}"/>
              </a:ext>
            </a:extLst>
          </p:cNvPr>
          <p:cNvSpPr>
            <a:spLocks noGrp="1"/>
          </p:cNvSpPr>
          <p:nvPr>
            <p:ph idx="1"/>
          </p:nvPr>
        </p:nvSpPr>
        <p:spPr>
          <a:xfrm>
            <a:off x="838200" y="659567"/>
            <a:ext cx="10515600" cy="5517396"/>
          </a:xfrm>
        </p:spPr>
        <p:txBody>
          <a:bodyPr/>
          <a:lstStyle/>
          <a:p>
            <a:r>
              <a:rPr lang="en-US" dirty="0">
                <a:solidFill>
                  <a:srgbClr val="FF0000"/>
                </a:solidFill>
              </a:rPr>
              <a:t>b2 = </a:t>
            </a:r>
            <a:r>
              <a:rPr lang="en-US" dirty="0" err="1">
                <a:solidFill>
                  <a:srgbClr val="FF0000"/>
                </a:solidFill>
              </a:rPr>
              <a:t>pd.DataFrame</a:t>
            </a:r>
            <a:r>
              <a:rPr lang="en-US" dirty="0">
                <a:solidFill>
                  <a:srgbClr val="FF0000"/>
                </a:solidFill>
              </a:rPr>
              <a:t>(data={'C3': [23, 14]})</a:t>
            </a:r>
          </a:p>
          <a:p>
            <a:r>
              <a:rPr lang="en-US" dirty="0">
                <a:solidFill>
                  <a:srgbClr val="FF0000"/>
                </a:solidFill>
              </a:rPr>
              <a:t>b2</a:t>
            </a:r>
          </a:p>
          <a:p>
            <a:r>
              <a:rPr lang="en-US" dirty="0"/>
              <a:t>Out[97]:</a:t>
            </a:r>
          </a:p>
          <a:p>
            <a:r>
              <a:rPr lang="en-US" dirty="0"/>
              <a:t>   C3</a:t>
            </a:r>
          </a:p>
          <a:p>
            <a:r>
              <a:rPr lang="en-US" dirty="0"/>
              <a:t>0  23</a:t>
            </a:r>
          </a:p>
          <a:p>
            <a:r>
              <a:rPr lang="en-US" dirty="0"/>
              <a:t>1  14</a:t>
            </a:r>
          </a:p>
        </p:txBody>
      </p:sp>
      <p:sp>
        <p:nvSpPr>
          <p:cNvPr id="4" name="Slide Number Placeholder 3">
            <a:extLst>
              <a:ext uri="{FF2B5EF4-FFF2-40B4-BE49-F238E27FC236}">
                <a16:creationId xmlns:a16="http://schemas.microsoft.com/office/drawing/2014/main" id="{51B879F5-F80F-47FA-A60E-4020C919956D}"/>
              </a:ext>
            </a:extLst>
          </p:cNvPr>
          <p:cNvSpPr>
            <a:spLocks noGrp="1"/>
          </p:cNvSpPr>
          <p:nvPr>
            <p:ph type="sldNum" sz="quarter" idx="12"/>
          </p:nvPr>
        </p:nvSpPr>
        <p:spPr/>
        <p:txBody>
          <a:bodyPr/>
          <a:lstStyle/>
          <a:p>
            <a:fld id="{6B97D948-30E8-43F7-AE10-F6E2D9F2BBB1}" type="slidenum">
              <a:rPr lang="en-US" smtClean="0"/>
              <a:t>357</a:t>
            </a:fld>
            <a:endParaRPr lang="en-US"/>
          </a:p>
        </p:txBody>
      </p:sp>
    </p:spTree>
    <p:extLst>
      <p:ext uri="{BB962C8B-B14F-4D97-AF65-F5344CB8AC3E}">
        <p14:creationId xmlns:p14="http://schemas.microsoft.com/office/powerpoint/2010/main" val="3520758786"/>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085802-3BC4-4F38-9E0A-BB52B6020B12}"/>
              </a:ext>
            </a:extLst>
          </p:cNvPr>
          <p:cNvSpPr>
            <a:spLocks noGrp="1"/>
          </p:cNvSpPr>
          <p:nvPr>
            <p:ph idx="1"/>
          </p:nvPr>
        </p:nvSpPr>
        <p:spPr>
          <a:xfrm>
            <a:off x="838200" y="524656"/>
            <a:ext cx="10515600" cy="5652307"/>
          </a:xfrm>
        </p:spPr>
        <p:txBody>
          <a:bodyPr>
            <a:normAutofit/>
          </a:bodyPr>
          <a:lstStyle/>
          <a:p>
            <a:r>
              <a:rPr lang="en-US" dirty="0"/>
              <a:t>Now let’s concatenate them together as shown above:</a:t>
            </a:r>
          </a:p>
          <a:p>
            <a:r>
              <a:rPr lang="en-US" dirty="0">
                <a:solidFill>
                  <a:srgbClr val="FF0000"/>
                </a:solidFill>
              </a:rPr>
              <a:t>c1 = </a:t>
            </a:r>
            <a:r>
              <a:rPr lang="en-US" dirty="0" err="1">
                <a:solidFill>
                  <a:srgbClr val="FF0000"/>
                </a:solidFill>
              </a:rPr>
              <a:t>pd.concat</a:t>
            </a:r>
            <a:r>
              <a:rPr lang="en-US" dirty="0">
                <a:solidFill>
                  <a:srgbClr val="FF0000"/>
                </a:solidFill>
              </a:rPr>
              <a:t>([a, b1], axis=0)</a:t>
            </a:r>
          </a:p>
          <a:p>
            <a:r>
              <a:rPr lang="en-US" dirty="0">
                <a:solidFill>
                  <a:srgbClr val="FF0000"/>
                </a:solidFill>
              </a:rPr>
              <a:t>c1</a:t>
            </a:r>
          </a:p>
          <a:p>
            <a:r>
              <a:rPr lang="en-US" dirty="0"/>
              <a:t>Out[98]:</a:t>
            </a:r>
          </a:p>
          <a:p>
            <a:r>
              <a:rPr lang="en-US" dirty="0"/>
              <a:t>  C1   C2</a:t>
            </a:r>
          </a:p>
          <a:p>
            <a:r>
              <a:rPr lang="en-US" dirty="0"/>
              <a:t>0  A  2.1</a:t>
            </a:r>
          </a:p>
          <a:p>
            <a:r>
              <a:rPr lang="en-US" dirty="0"/>
              <a:t>1  B  4.3</a:t>
            </a:r>
          </a:p>
          <a:p>
            <a:r>
              <a:rPr lang="en-US" dirty="0"/>
              <a:t>2  C -6.5</a:t>
            </a:r>
          </a:p>
          <a:p>
            <a:r>
              <a:rPr lang="en-US" dirty="0"/>
              <a:t>0  E  </a:t>
            </a:r>
            <a:r>
              <a:rPr lang="en-US" dirty="0" err="1"/>
              <a:t>NaN</a:t>
            </a:r>
            <a:endParaRPr lang="en-US" dirty="0"/>
          </a:p>
          <a:p>
            <a:r>
              <a:rPr lang="en-US" dirty="0"/>
              <a:t>1  F  </a:t>
            </a:r>
            <a:r>
              <a:rPr lang="en-US" dirty="0" err="1"/>
              <a:t>NaN</a:t>
            </a:r>
            <a:endParaRPr lang="en-US" dirty="0"/>
          </a:p>
        </p:txBody>
      </p:sp>
      <p:sp>
        <p:nvSpPr>
          <p:cNvPr id="4" name="Slide Number Placeholder 3">
            <a:extLst>
              <a:ext uri="{FF2B5EF4-FFF2-40B4-BE49-F238E27FC236}">
                <a16:creationId xmlns:a16="http://schemas.microsoft.com/office/drawing/2014/main" id="{7A812D87-0FBD-4198-B2E9-0F4D5FB44468}"/>
              </a:ext>
            </a:extLst>
          </p:cNvPr>
          <p:cNvSpPr>
            <a:spLocks noGrp="1"/>
          </p:cNvSpPr>
          <p:nvPr>
            <p:ph type="sldNum" sz="quarter" idx="12"/>
          </p:nvPr>
        </p:nvSpPr>
        <p:spPr/>
        <p:txBody>
          <a:bodyPr/>
          <a:lstStyle/>
          <a:p>
            <a:fld id="{6B97D948-30E8-43F7-AE10-F6E2D9F2BBB1}" type="slidenum">
              <a:rPr lang="en-US" smtClean="0"/>
              <a:t>358</a:t>
            </a:fld>
            <a:endParaRPr lang="en-US"/>
          </a:p>
        </p:txBody>
      </p:sp>
    </p:spTree>
    <p:extLst>
      <p:ext uri="{BB962C8B-B14F-4D97-AF65-F5344CB8AC3E}">
        <p14:creationId xmlns:p14="http://schemas.microsoft.com/office/powerpoint/2010/main" val="3360449810"/>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A41171-C879-415C-9CF4-31D19B0D3B94}"/>
              </a:ext>
            </a:extLst>
          </p:cNvPr>
          <p:cNvSpPr>
            <a:spLocks noGrp="1"/>
          </p:cNvSpPr>
          <p:nvPr>
            <p:ph idx="1"/>
          </p:nvPr>
        </p:nvSpPr>
        <p:spPr>
          <a:xfrm>
            <a:off x="838200" y="644577"/>
            <a:ext cx="10515600" cy="5532386"/>
          </a:xfrm>
        </p:spPr>
        <p:txBody>
          <a:bodyPr/>
          <a:lstStyle/>
          <a:p>
            <a:r>
              <a:rPr lang="en-US" dirty="0">
                <a:solidFill>
                  <a:srgbClr val="FF0000"/>
                </a:solidFill>
              </a:rPr>
              <a:t>c2 = </a:t>
            </a:r>
            <a:r>
              <a:rPr lang="en-US" dirty="0" err="1">
                <a:solidFill>
                  <a:srgbClr val="FF0000"/>
                </a:solidFill>
              </a:rPr>
              <a:t>pd.concat</a:t>
            </a:r>
            <a:r>
              <a:rPr lang="en-US" dirty="0">
                <a:solidFill>
                  <a:srgbClr val="FF0000"/>
                </a:solidFill>
              </a:rPr>
              <a:t>([a, b2], axis=1)</a:t>
            </a:r>
          </a:p>
          <a:p>
            <a:r>
              <a:rPr lang="en-US" dirty="0">
                <a:solidFill>
                  <a:srgbClr val="FF0000"/>
                </a:solidFill>
              </a:rPr>
              <a:t>c2</a:t>
            </a:r>
          </a:p>
          <a:p>
            <a:r>
              <a:rPr lang="en-US" dirty="0"/>
              <a:t>Out[99]:</a:t>
            </a:r>
          </a:p>
          <a:p>
            <a:r>
              <a:rPr lang="en-US" dirty="0"/>
              <a:t>  C1   C2    C3</a:t>
            </a:r>
          </a:p>
          <a:p>
            <a:r>
              <a:rPr lang="en-US" dirty="0"/>
              <a:t>0  A  2.1  23.0</a:t>
            </a:r>
          </a:p>
          <a:p>
            <a:r>
              <a:rPr lang="en-US" dirty="0"/>
              <a:t>1  B  4.3  14.0</a:t>
            </a:r>
          </a:p>
          <a:p>
            <a:r>
              <a:rPr lang="en-US" dirty="0"/>
              <a:t>2  C -6.5   </a:t>
            </a:r>
            <a:r>
              <a:rPr lang="en-US" dirty="0" err="1"/>
              <a:t>NaN</a:t>
            </a:r>
            <a:endParaRPr lang="en-US" dirty="0"/>
          </a:p>
        </p:txBody>
      </p:sp>
      <p:sp>
        <p:nvSpPr>
          <p:cNvPr id="4" name="Slide Number Placeholder 3">
            <a:extLst>
              <a:ext uri="{FF2B5EF4-FFF2-40B4-BE49-F238E27FC236}">
                <a16:creationId xmlns:a16="http://schemas.microsoft.com/office/drawing/2014/main" id="{6A813776-E09F-4A86-8CFF-0E4DEAB6CB53}"/>
              </a:ext>
            </a:extLst>
          </p:cNvPr>
          <p:cNvSpPr>
            <a:spLocks noGrp="1"/>
          </p:cNvSpPr>
          <p:nvPr>
            <p:ph type="sldNum" sz="quarter" idx="12"/>
          </p:nvPr>
        </p:nvSpPr>
        <p:spPr/>
        <p:txBody>
          <a:bodyPr/>
          <a:lstStyle/>
          <a:p>
            <a:fld id="{6B97D948-30E8-43F7-AE10-F6E2D9F2BBB1}" type="slidenum">
              <a:rPr lang="en-US" smtClean="0"/>
              <a:t>359</a:t>
            </a:fld>
            <a:endParaRPr lang="en-US"/>
          </a:p>
        </p:txBody>
      </p:sp>
    </p:spTree>
    <p:extLst>
      <p:ext uri="{BB962C8B-B14F-4D97-AF65-F5344CB8AC3E}">
        <p14:creationId xmlns:p14="http://schemas.microsoft.com/office/powerpoint/2010/main" val="984073731"/>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509BE-8630-4300-BC46-E71F970241B3}"/>
              </a:ext>
            </a:extLst>
          </p:cNvPr>
          <p:cNvSpPr>
            <a:spLocks noGrp="1"/>
          </p:cNvSpPr>
          <p:nvPr>
            <p:ph idx="1"/>
          </p:nvPr>
        </p:nvSpPr>
        <p:spPr>
          <a:xfrm>
            <a:off x="838200" y="419725"/>
            <a:ext cx="10515600" cy="5757238"/>
          </a:xfrm>
        </p:spPr>
        <p:txBody>
          <a:bodyPr/>
          <a:lstStyle/>
          <a:p>
            <a:pPr algn="just"/>
            <a:r>
              <a:rPr lang="en-US" dirty="0"/>
              <a:t>In each case, when concatenating along the rows, concatenate placed the data in the row or column by matching the row index or column header. </a:t>
            </a:r>
          </a:p>
          <a:p>
            <a:pPr algn="just"/>
            <a:r>
              <a:rPr lang="en-US" dirty="0"/>
              <a:t>We do need to take care when applying this since improper use may still combine your </a:t>
            </a:r>
            <a:r>
              <a:rPr lang="en-US" dirty="0" err="1"/>
              <a:t>DataFrames</a:t>
            </a:r>
            <a:r>
              <a:rPr lang="en-US" dirty="0"/>
              <a:t> but in ways you may not want or expect.</a:t>
            </a:r>
          </a:p>
        </p:txBody>
      </p:sp>
      <p:sp>
        <p:nvSpPr>
          <p:cNvPr id="4" name="Slide Number Placeholder 3">
            <a:extLst>
              <a:ext uri="{FF2B5EF4-FFF2-40B4-BE49-F238E27FC236}">
                <a16:creationId xmlns:a16="http://schemas.microsoft.com/office/drawing/2014/main" id="{52C7E7F1-3718-44C8-854D-59F10DC0FABC}"/>
              </a:ext>
            </a:extLst>
          </p:cNvPr>
          <p:cNvSpPr>
            <a:spLocks noGrp="1"/>
          </p:cNvSpPr>
          <p:nvPr>
            <p:ph type="sldNum" sz="quarter" idx="12"/>
          </p:nvPr>
        </p:nvSpPr>
        <p:spPr/>
        <p:txBody>
          <a:bodyPr/>
          <a:lstStyle/>
          <a:p>
            <a:fld id="{6B97D948-30E8-43F7-AE10-F6E2D9F2BBB1}" type="slidenum">
              <a:rPr lang="en-US" smtClean="0"/>
              <a:t>360</a:t>
            </a:fld>
            <a:endParaRPr lang="en-US"/>
          </a:p>
        </p:txBody>
      </p:sp>
    </p:spTree>
    <p:extLst>
      <p:ext uri="{BB962C8B-B14F-4D97-AF65-F5344CB8AC3E}">
        <p14:creationId xmlns:p14="http://schemas.microsoft.com/office/powerpoint/2010/main" val="383311801"/>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FFB336-6E21-4E78-9EC3-FF17E118F8FF}"/>
              </a:ext>
            </a:extLst>
          </p:cNvPr>
          <p:cNvSpPr>
            <a:spLocks noGrp="1"/>
          </p:cNvSpPr>
          <p:nvPr>
            <p:ph idx="1"/>
          </p:nvPr>
        </p:nvSpPr>
        <p:spPr>
          <a:xfrm>
            <a:off x="838200" y="584616"/>
            <a:ext cx="10515600" cy="5592347"/>
          </a:xfrm>
        </p:spPr>
        <p:txBody>
          <a:bodyPr/>
          <a:lstStyle/>
          <a:p>
            <a:r>
              <a:rPr lang="en-US" dirty="0">
                <a:solidFill>
                  <a:srgbClr val="FF0000"/>
                </a:solidFill>
              </a:rPr>
              <a:t>Let’s recall df1.</a:t>
            </a:r>
          </a:p>
          <a:p>
            <a:r>
              <a:rPr lang="en-US" dirty="0">
                <a:solidFill>
                  <a:srgbClr val="FF0000"/>
                </a:solidFill>
              </a:rPr>
              <a:t> df1</a:t>
            </a:r>
          </a:p>
          <a:p>
            <a:r>
              <a:rPr lang="en-US" dirty="0"/>
              <a:t>Out[100]:</a:t>
            </a:r>
          </a:p>
          <a:p>
            <a:r>
              <a:rPr lang="en-US" dirty="0"/>
              <a:t>  animals location  </a:t>
            </a:r>
            <a:r>
              <a:rPr lang="en-US" dirty="0" err="1"/>
              <a:t>has_fur</a:t>
            </a:r>
            <a:r>
              <a:rPr lang="en-US" dirty="0"/>
              <a:t>  </a:t>
            </a:r>
            <a:r>
              <a:rPr lang="en-US" dirty="0" err="1"/>
              <a:t>avg_weight</a:t>
            </a:r>
            <a:endParaRPr lang="en-US" dirty="0"/>
          </a:p>
          <a:p>
            <a:r>
              <a:rPr lang="en-US" dirty="0"/>
              <a:t>0     dog     land     True        40.0</a:t>
            </a:r>
          </a:p>
          <a:p>
            <a:r>
              <a:rPr lang="en-US" dirty="0"/>
              <a:t>1     cat     land     True        10.0</a:t>
            </a:r>
          </a:p>
          <a:p>
            <a:r>
              <a:rPr lang="en-US" dirty="0"/>
              <a:t>2    bird      air    False         0.1</a:t>
            </a:r>
          </a:p>
          <a:p>
            <a:r>
              <a:rPr lang="en-US" dirty="0"/>
              <a:t>3    fish    water    False         4.0</a:t>
            </a:r>
          </a:p>
        </p:txBody>
      </p:sp>
      <p:sp>
        <p:nvSpPr>
          <p:cNvPr id="4" name="Slide Number Placeholder 3">
            <a:extLst>
              <a:ext uri="{FF2B5EF4-FFF2-40B4-BE49-F238E27FC236}">
                <a16:creationId xmlns:a16="http://schemas.microsoft.com/office/drawing/2014/main" id="{A73E6235-CE0B-4964-8C39-AE1EC9F0E632}"/>
              </a:ext>
            </a:extLst>
          </p:cNvPr>
          <p:cNvSpPr>
            <a:spLocks noGrp="1"/>
          </p:cNvSpPr>
          <p:nvPr>
            <p:ph type="sldNum" sz="quarter" idx="12"/>
          </p:nvPr>
        </p:nvSpPr>
        <p:spPr/>
        <p:txBody>
          <a:bodyPr/>
          <a:lstStyle/>
          <a:p>
            <a:fld id="{6B97D948-30E8-43F7-AE10-F6E2D9F2BBB1}" type="slidenum">
              <a:rPr lang="en-US" smtClean="0"/>
              <a:t>361</a:t>
            </a:fld>
            <a:endParaRPr lang="en-US"/>
          </a:p>
        </p:txBody>
      </p:sp>
    </p:spTree>
    <p:extLst>
      <p:ext uri="{BB962C8B-B14F-4D97-AF65-F5344CB8AC3E}">
        <p14:creationId xmlns:p14="http://schemas.microsoft.com/office/powerpoint/2010/main" val="2882951822"/>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C3B41F-56F0-4E9F-9E06-339A5296193A}"/>
              </a:ext>
            </a:extLst>
          </p:cNvPr>
          <p:cNvSpPr>
            <a:spLocks noGrp="1"/>
          </p:cNvSpPr>
          <p:nvPr>
            <p:ph idx="1"/>
          </p:nvPr>
        </p:nvSpPr>
        <p:spPr>
          <a:xfrm>
            <a:off x="838200" y="734518"/>
            <a:ext cx="10515600" cy="5442445"/>
          </a:xfrm>
        </p:spPr>
        <p:txBody>
          <a:bodyPr/>
          <a:lstStyle/>
          <a:p>
            <a:r>
              <a:rPr lang="en-US" dirty="0">
                <a:solidFill>
                  <a:srgbClr val="FF0000"/>
                </a:solidFill>
              </a:rPr>
              <a:t>df4 = </a:t>
            </a:r>
            <a:r>
              <a:rPr lang="en-US" dirty="0" err="1">
                <a:solidFill>
                  <a:srgbClr val="FF0000"/>
                </a:solidFill>
              </a:rPr>
              <a:t>pd.DataFrame</a:t>
            </a:r>
            <a:r>
              <a:rPr lang="en-US" dirty="0">
                <a:solidFill>
                  <a:srgbClr val="FF0000"/>
                </a:solidFill>
              </a:rPr>
              <a:t>({'</a:t>
            </a:r>
            <a:r>
              <a:rPr lang="en-US" dirty="0" err="1">
                <a:solidFill>
                  <a:srgbClr val="FF0000"/>
                </a:solidFill>
              </a:rPr>
              <a:t>student_id</a:t>
            </a:r>
            <a:r>
              <a:rPr lang="en-US" dirty="0">
                <a:solidFill>
                  <a:srgbClr val="FF0000"/>
                </a:solidFill>
              </a:rPr>
              <a:t>': [623, 29, 294], 'grade': ['A-', 'B+', 'B']})</a:t>
            </a:r>
          </a:p>
          <a:p>
            <a:r>
              <a:rPr lang="en-US" dirty="0">
                <a:solidFill>
                  <a:srgbClr val="FF0000"/>
                </a:solidFill>
              </a:rPr>
              <a:t> df4</a:t>
            </a:r>
          </a:p>
          <a:p>
            <a:r>
              <a:rPr lang="en-US" dirty="0"/>
              <a:t>Out[101]:</a:t>
            </a:r>
          </a:p>
          <a:p>
            <a:r>
              <a:rPr lang="en-US" dirty="0"/>
              <a:t>   </a:t>
            </a:r>
            <a:r>
              <a:rPr lang="en-US" dirty="0" err="1"/>
              <a:t>student_id</a:t>
            </a:r>
            <a:r>
              <a:rPr lang="en-US" dirty="0"/>
              <a:t> grade</a:t>
            </a:r>
          </a:p>
          <a:p>
            <a:r>
              <a:rPr lang="en-US" dirty="0"/>
              <a:t>0         623    A-</a:t>
            </a:r>
          </a:p>
          <a:p>
            <a:r>
              <a:rPr lang="en-US" dirty="0"/>
              <a:t>1          29    B+</a:t>
            </a:r>
          </a:p>
          <a:p>
            <a:r>
              <a:rPr lang="en-US" dirty="0"/>
              <a:t>2         294     B</a:t>
            </a:r>
          </a:p>
        </p:txBody>
      </p:sp>
      <p:sp>
        <p:nvSpPr>
          <p:cNvPr id="4" name="Slide Number Placeholder 3">
            <a:extLst>
              <a:ext uri="{FF2B5EF4-FFF2-40B4-BE49-F238E27FC236}">
                <a16:creationId xmlns:a16="http://schemas.microsoft.com/office/drawing/2014/main" id="{D4353AD7-17FA-47B5-AB32-5503CC7D4F26}"/>
              </a:ext>
            </a:extLst>
          </p:cNvPr>
          <p:cNvSpPr>
            <a:spLocks noGrp="1"/>
          </p:cNvSpPr>
          <p:nvPr>
            <p:ph type="sldNum" sz="quarter" idx="12"/>
          </p:nvPr>
        </p:nvSpPr>
        <p:spPr/>
        <p:txBody>
          <a:bodyPr/>
          <a:lstStyle/>
          <a:p>
            <a:fld id="{6B97D948-30E8-43F7-AE10-F6E2D9F2BBB1}" type="slidenum">
              <a:rPr lang="en-US" smtClean="0"/>
              <a:t>362</a:t>
            </a:fld>
            <a:endParaRPr lang="en-US"/>
          </a:p>
        </p:txBody>
      </p:sp>
    </p:spTree>
    <p:extLst>
      <p:ext uri="{BB962C8B-B14F-4D97-AF65-F5344CB8AC3E}">
        <p14:creationId xmlns:p14="http://schemas.microsoft.com/office/powerpoint/2010/main" val="1142707886"/>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992073-F2C6-4F09-9364-6B8BEE32637D}"/>
              </a:ext>
            </a:extLst>
          </p:cNvPr>
          <p:cNvSpPr>
            <a:spLocks noGrp="1"/>
          </p:cNvSpPr>
          <p:nvPr>
            <p:ph idx="1"/>
          </p:nvPr>
        </p:nvSpPr>
        <p:spPr>
          <a:xfrm>
            <a:off x="838200" y="374754"/>
            <a:ext cx="10515600" cy="5802209"/>
          </a:xfrm>
        </p:spPr>
        <p:txBody>
          <a:bodyPr/>
          <a:lstStyle/>
          <a:p>
            <a:pPr algn="just"/>
            <a:r>
              <a:rPr lang="en-US" dirty="0"/>
              <a:t>df1 and df4 clearly have no relationship to one another and are not the same dimension along either axis.</a:t>
            </a:r>
          </a:p>
          <a:p>
            <a:pPr algn="just"/>
            <a:endParaRPr lang="en-US" dirty="0"/>
          </a:p>
          <a:p>
            <a:pPr algn="just"/>
            <a:r>
              <a:rPr lang="en-US" dirty="0"/>
              <a:t>If we </a:t>
            </a:r>
            <a:r>
              <a:rPr lang="en-US" dirty="0" err="1"/>
              <a:t>concate</a:t>
            </a:r>
            <a:r>
              <a:rPr lang="en-US" dirty="0"/>
              <a:t> them together, they will certainly combine:</a:t>
            </a:r>
          </a:p>
        </p:txBody>
      </p:sp>
      <p:sp>
        <p:nvSpPr>
          <p:cNvPr id="4" name="Slide Number Placeholder 3">
            <a:extLst>
              <a:ext uri="{FF2B5EF4-FFF2-40B4-BE49-F238E27FC236}">
                <a16:creationId xmlns:a16="http://schemas.microsoft.com/office/drawing/2014/main" id="{736A9DFD-E7E1-4C89-ABF5-B10E251F88C5}"/>
              </a:ext>
            </a:extLst>
          </p:cNvPr>
          <p:cNvSpPr>
            <a:spLocks noGrp="1"/>
          </p:cNvSpPr>
          <p:nvPr>
            <p:ph type="sldNum" sz="quarter" idx="12"/>
          </p:nvPr>
        </p:nvSpPr>
        <p:spPr/>
        <p:txBody>
          <a:bodyPr/>
          <a:lstStyle/>
          <a:p>
            <a:fld id="{6B97D948-30E8-43F7-AE10-F6E2D9F2BBB1}" type="slidenum">
              <a:rPr lang="en-US" smtClean="0"/>
              <a:t>363</a:t>
            </a:fld>
            <a:endParaRPr lang="en-US"/>
          </a:p>
        </p:txBody>
      </p:sp>
    </p:spTree>
    <p:extLst>
      <p:ext uri="{BB962C8B-B14F-4D97-AF65-F5344CB8AC3E}">
        <p14:creationId xmlns:p14="http://schemas.microsoft.com/office/powerpoint/2010/main" val="3188176452"/>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D7746-54AC-4B9C-8562-67B13AF3D402}"/>
              </a:ext>
            </a:extLst>
          </p:cNvPr>
          <p:cNvSpPr>
            <a:spLocks noGrp="1"/>
          </p:cNvSpPr>
          <p:nvPr>
            <p:ph idx="1"/>
          </p:nvPr>
        </p:nvSpPr>
        <p:spPr>
          <a:xfrm>
            <a:off x="838200" y="419725"/>
            <a:ext cx="10515600" cy="5757238"/>
          </a:xfrm>
        </p:spPr>
        <p:txBody>
          <a:bodyPr>
            <a:normAutofit/>
          </a:bodyPr>
          <a:lstStyle/>
          <a:p>
            <a:r>
              <a:rPr lang="en-US" dirty="0"/>
              <a:t> </a:t>
            </a:r>
            <a:r>
              <a:rPr lang="en-US" dirty="0">
                <a:solidFill>
                  <a:srgbClr val="FF0000"/>
                </a:solidFill>
              </a:rPr>
              <a:t>df_ax0 = </a:t>
            </a:r>
            <a:r>
              <a:rPr lang="en-US" dirty="0" err="1">
                <a:solidFill>
                  <a:srgbClr val="FF0000"/>
                </a:solidFill>
              </a:rPr>
              <a:t>pd.concat</a:t>
            </a:r>
            <a:r>
              <a:rPr lang="en-US" dirty="0">
                <a:solidFill>
                  <a:srgbClr val="FF0000"/>
                </a:solidFill>
              </a:rPr>
              <a:t>([df1, df4], axis=0)^M</a:t>
            </a:r>
          </a:p>
          <a:p>
            <a:r>
              <a:rPr lang="en-US" dirty="0">
                <a:solidFill>
                  <a:srgbClr val="FF0000"/>
                </a:solidFill>
              </a:rPr>
              <a:t> df_ax0</a:t>
            </a:r>
          </a:p>
          <a:p>
            <a:r>
              <a:rPr lang="en-US" dirty="0"/>
              <a:t>Out[102]:</a:t>
            </a:r>
          </a:p>
          <a:p>
            <a:r>
              <a:rPr lang="en-US" dirty="0"/>
              <a:t>  animals location </a:t>
            </a:r>
            <a:r>
              <a:rPr lang="en-US" dirty="0" err="1"/>
              <a:t>has_fur</a:t>
            </a:r>
            <a:r>
              <a:rPr lang="en-US" dirty="0"/>
              <a:t>  </a:t>
            </a:r>
            <a:r>
              <a:rPr lang="en-US" dirty="0" err="1"/>
              <a:t>avg_weight</a:t>
            </a:r>
            <a:r>
              <a:rPr lang="en-US" dirty="0"/>
              <a:t>  </a:t>
            </a:r>
            <a:r>
              <a:rPr lang="en-US" dirty="0" err="1"/>
              <a:t>student_id</a:t>
            </a:r>
            <a:r>
              <a:rPr lang="en-US" dirty="0"/>
              <a:t> grade</a:t>
            </a:r>
          </a:p>
          <a:p>
            <a:r>
              <a:rPr lang="en-US" dirty="0"/>
              <a:t>0     dog     land    True        40.0         </a:t>
            </a:r>
            <a:r>
              <a:rPr lang="en-US" dirty="0" err="1"/>
              <a:t>NaN</a:t>
            </a:r>
            <a:r>
              <a:rPr lang="en-US" dirty="0"/>
              <a:t>   </a:t>
            </a:r>
            <a:r>
              <a:rPr lang="en-US" dirty="0" err="1"/>
              <a:t>NaN</a:t>
            </a:r>
            <a:endParaRPr lang="en-US" dirty="0"/>
          </a:p>
          <a:p>
            <a:r>
              <a:rPr lang="en-US" dirty="0"/>
              <a:t>1     cat     land    True        10.0         </a:t>
            </a:r>
            <a:r>
              <a:rPr lang="en-US" dirty="0" err="1"/>
              <a:t>NaN</a:t>
            </a:r>
            <a:r>
              <a:rPr lang="en-US" dirty="0"/>
              <a:t>   </a:t>
            </a:r>
            <a:r>
              <a:rPr lang="en-US" dirty="0" err="1"/>
              <a:t>NaN</a:t>
            </a:r>
            <a:endParaRPr lang="en-US" dirty="0"/>
          </a:p>
          <a:p>
            <a:r>
              <a:rPr lang="en-US" dirty="0"/>
              <a:t>2    bird      air   False         0.1         </a:t>
            </a:r>
            <a:r>
              <a:rPr lang="en-US" dirty="0" err="1"/>
              <a:t>NaN</a:t>
            </a:r>
            <a:r>
              <a:rPr lang="en-US" dirty="0"/>
              <a:t>   </a:t>
            </a:r>
            <a:r>
              <a:rPr lang="en-US" dirty="0" err="1"/>
              <a:t>NaN</a:t>
            </a:r>
            <a:endParaRPr lang="en-US" dirty="0"/>
          </a:p>
          <a:p>
            <a:r>
              <a:rPr lang="en-US" dirty="0"/>
              <a:t>3    fish    water   False         4.0         </a:t>
            </a:r>
            <a:r>
              <a:rPr lang="en-US" dirty="0" err="1"/>
              <a:t>NaN</a:t>
            </a:r>
            <a:r>
              <a:rPr lang="en-US" dirty="0"/>
              <a:t>   </a:t>
            </a:r>
            <a:r>
              <a:rPr lang="en-US" dirty="0" err="1"/>
              <a:t>NaN</a:t>
            </a:r>
            <a:endParaRPr lang="en-US" dirty="0"/>
          </a:p>
          <a:p>
            <a:r>
              <a:rPr lang="en-US" dirty="0"/>
              <a:t>0     </a:t>
            </a:r>
            <a:r>
              <a:rPr lang="en-US" dirty="0" err="1"/>
              <a:t>NaN</a:t>
            </a:r>
            <a:r>
              <a:rPr lang="en-US" dirty="0"/>
              <a:t>      </a:t>
            </a:r>
            <a:r>
              <a:rPr lang="en-US" dirty="0" err="1"/>
              <a:t>NaN</a:t>
            </a:r>
            <a:r>
              <a:rPr lang="en-US" dirty="0"/>
              <a:t>     </a:t>
            </a:r>
            <a:r>
              <a:rPr lang="en-US" dirty="0" err="1"/>
              <a:t>NaN</a:t>
            </a:r>
            <a:r>
              <a:rPr lang="en-US" dirty="0"/>
              <a:t>         </a:t>
            </a:r>
            <a:r>
              <a:rPr lang="en-US" dirty="0" err="1"/>
              <a:t>NaN</a:t>
            </a:r>
            <a:r>
              <a:rPr lang="en-US" dirty="0"/>
              <a:t>       623.0    A-</a:t>
            </a:r>
          </a:p>
          <a:p>
            <a:r>
              <a:rPr lang="en-US" dirty="0"/>
              <a:t>1     </a:t>
            </a:r>
            <a:r>
              <a:rPr lang="en-US" dirty="0" err="1"/>
              <a:t>NaN</a:t>
            </a:r>
            <a:r>
              <a:rPr lang="en-US" dirty="0"/>
              <a:t>      </a:t>
            </a:r>
            <a:r>
              <a:rPr lang="en-US" dirty="0" err="1"/>
              <a:t>NaN</a:t>
            </a:r>
            <a:r>
              <a:rPr lang="en-US" dirty="0"/>
              <a:t>     </a:t>
            </a:r>
            <a:r>
              <a:rPr lang="en-US" dirty="0" err="1"/>
              <a:t>NaN</a:t>
            </a:r>
            <a:r>
              <a:rPr lang="en-US" dirty="0"/>
              <a:t>         </a:t>
            </a:r>
            <a:r>
              <a:rPr lang="en-US" dirty="0" err="1"/>
              <a:t>NaN</a:t>
            </a:r>
            <a:r>
              <a:rPr lang="en-US" dirty="0"/>
              <a:t>        29.0    B+</a:t>
            </a:r>
          </a:p>
          <a:p>
            <a:r>
              <a:rPr lang="en-US" dirty="0"/>
              <a:t>2     </a:t>
            </a:r>
            <a:r>
              <a:rPr lang="en-US" dirty="0" err="1"/>
              <a:t>NaN</a:t>
            </a:r>
            <a:r>
              <a:rPr lang="en-US" dirty="0"/>
              <a:t>      </a:t>
            </a:r>
            <a:r>
              <a:rPr lang="en-US" dirty="0" err="1"/>
              <a:t>NaN</a:t>
            </a:r>
            <a:r>
              <a:rPr lang="en-US" dirty="0"/>
              <a:t>     </a:t>
            </a:r>
            <a:r>
              <a:rPr lang="en-US" dirty="0" err="1"/>
              <a:t>NaN</a:t>
            </a:r>
            <a:r>
              <a:rPr lang="en-US" dirty="0"/>
              <a:t>         </a:t>
            </a:r>
            <a:r>
              <a:rPr lang="en-US" dirty="0" err="1"/>
              <a:t>NaN</a:t>
            </a:r>
            <a:r>
              <a:rPr lang="en-US" dirty="0"/>
              <a:t>       294.0     B</a:t>
            </a:r>
          </a:p>
        </p:txBody>
      </p:sp>
      <p:sp>
        <p:nvSpPr>
          <p:cNvPr id="4" name="Slide Number Placeholder 3">
            <a:extLst>
              <a:ext uri="{FF2B5EF4-FFF2-40B4-BE49-F238E27FC236}">
                <a16:creationId xmlns:a16="http://schemas.microsoft.com/office/drawing/2014/main" id="{F7302C93-2A69-40C0-AD9D-E151F7FE5CF8}"/>
              </a:ext>
            </a:extLst>
          </p:cNvPr>
          <p:cNvSpPr>
            <a:spLocks noGrp="1"/>
          </p:cNvSpPr>
          <p:nvPr>
            <p:ph type="sldNum" sz="quarter" idx="12"/>
          </p:nvPr>
        </p:nvSpPr>
        <p:spPr/>
        <p:txBody>
          <a:bodyPr/>
          <a:lstStyle/>
          <a:p>
            <a:fld id="{6B97D948-30E8-43F7-AE10-F6E2D9F2BBB1}" type="slidenum">
              <a:rPr lang="en-US" smtClean="0"/>
              <a:t>364</a:t>
            </a:fld>
            <a:endParaRPr lang="en-US"/>
          </a:p>
        </p:txBody>
      </p:sp>
    </p:spTree>
    <p:extLst>
      <p:ext uri="{BB962C8B-B14F-4D97-AF65-F5344CB8AC3E}">
        <p14:creationId xmlns:p14="http://schemas.microsoft.com/office/powerpoint/2010/main" val="1121583581"/>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0B10D2-F48E-4316-9B51-4920E7F4CAFF}"/>
              </a:ext>
            </a:extLst>
          </p:cNvPr>
          <p:cNvSpPr>
            <a:spLocks noGrp="1"/>
          </p:cNvSpPr>
          <p:nvPr>
            <p:ph idx="1"/>
          </p:nvPr>
        </p:nvSpPr>
        <p:spPr>
          <a:xfrm>
            <a:off x="838200" y="494675"/>
            <a:ext cx="10515600" cy="5682288"/>
          </a:xfrm>
        </p:spPr>
        <p:txBody>
          <a:bodyPr/>
          <a:lstStyle/>
          <a:p>
            <a:pPr algn="just"/>
            <a:r>
              <a:rPr lang="en-US" dirty="0"/>
              <a:t>In this first case, since there are no shared column headers, this essentially creates two separate tables within one. </a:t>
            </a:r>
          </a:p>
          <a:p>
            <a:pPr algn="just"/>
            <a:r>
              <a:rPr lang="en-US" dirty="0"/>
              <a:t>In practice, you rarely would want something like this.</a:t>
            </a:r>
          </a:p>
          <a:p>
            <a:pPr algn="just"/>
            <a:endParaRPr lang="en-US" dirty="0"/>
          </a:p>
          <a:p>
            <a:pPr algn="just"/>
            <a:r>
              <a:rPr lang="en-US" dirty="0"/>
              <a:t>If we combine along axis 1, the story is equally problematic, since </a:t>
            </a:r>
            <a:r>
              <a:rPr lang="en-US" dirty="0" err="1"/>
              <a:t>concat</a:t>
            </a:r>
            <a:r>
              <a:rPr lang="en-US" dirty="0"/>
              <a:t> does combine the data, but nonsensically so since the animals are not the students, they just shared the same index values, so the columns were added where those indices matched:</a:t>
            </a:r>
          </a:p>
        </p:txBody>
      </p:sp>
      <p:sp>
        <p:nvSpPr>
          <p:cNvPr id="4" name="Slide Number Placeholder 3">
            <a:extLst>
              <a:ext uri="{FF2B5EF4-FFF2-40B4-BE49-F238E27FC236}">
                <a16:creationId xmlns:a16="http://schemas.microsoft.com/office/drawing/2014/main" id="{F30F8F5A-0B4C-439A-A9EE-9D0201C9E2BD}"/>
              </a:ext>
            </a:extLst>
          </p:cNvPr>
          <p:cNvSpPr>
            <a:spLocks noGrp="1"/>
          </p:cNvSpPr>
          <p:nvPr>
            <p:ph type="sldNum" sz="quarter" idx="12"/>
          </p:nvPr>
        </p:nvSpPr>
        <p:spPr/>
        <p:txBody>
          <a:bodyPr/>
          <a:lstStyle/>
          <a:p>
            <a:fld id="{6B97D948-30E8-43F7-AE10-F6E2D9F2BBB1}" type="slidenum">
              <a:rPr lang="en-US" smtClean="0"/>
              <a:t>365</a:t>
            </a:fld>
            <a:endParaRPr lang="en-US"/>
          </a:p>
        </p:txBody>
      </p:sp>
    </p:spTree>
    <p:extLst>
      <p:ext uri="{BB962C8B-B14F-4D97-AF65-F5344CB8AC3E}">
        <p14:creationId xmlns:p14="http://schemas.microsoft.com/office/powerpoint/2010/main" val="2588455557"/>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61D49C-E056-4637-8E80-667BF1AB41FC}"/>
              </a:ext>
            </a:extLst>
          </p:cNvPr>
          <p:cNvSpPr>
            <a:spLocks noGrp="1"/>
          </p:cNvSpPr>
          <p:nvPr>
            <p:ph idx="1"/>
          </p:nvPr>
        </p:nvSpPr>
        <p:spPr>
          <a:xfrm>
            <a:off x="838200" y="389744"/>
            <a:ext cx="10515600" cy="5787219"/>
          </a:xfrm>
        </p:spPr>
        <p:txBody>
          <a:bodyPr/>
          <a:lstStyle/>
          <a:p>
            <a:r>
              <a:rPr lang="en-US" dirty="0">
                <a:solidFill>
                  <a:srgbClr val="FF0000"/>
                </a:solidFill>
              </a:rPr>
              <a:t>df_ax1 = </a:t>
            </a:r>
            <a:r>
              <a:rPr lang="en-US" dirty="0" err="1">
                <a:solidFill>
                  <a:srgbClr val="FF0000"/>
                </a:solidFill>
              </a:rPr>
              <a:t>pd.concat</a:t>
            </a:r>
            <a:r>
              <a:rPr lang="en-US" dirty="0">
                <a:solidFill>
                  <a:srgbClr val="FF0000"/>
                </a:solidFill>
              </a:rPr>
              <a:t>([df1, df4], axis=1)</a:t>
            </a:r>
          </a:p>
          <a:p>
            <a:r>
              <a:rPr lang="en-US" dirty="0">
                <a:solidFill>
                  <a:srgbClr val="FF0000"/>
                </a:solidFill>
              </a:rPr>
              <a:t>df_ax1</a:t>
            </a:r>
          </a:p>
          <a:p>
            <a:r>
              <a:rPr lang="en-US" dirty="0"/>
              <a:t>Out[103]:</a:t>
            </a:r>
          </a:p>
          <a:p>
            <a:r>
              <a:rPr lang="en-US" dirty="0"/>
              <a:t>  animals location  </a:t>
            </a:r>
            <a:r>
              <a:rPr lang="en-US" dirty="0" err="1"/>
              <a:t>has_fur</a:t>
            </a:r>
            <a:r>
              <a:rPr lang="en-US" dirty="0"/>
              <a:t>  </a:t>
            </a:r>
            <a:r>
              <a:rPr lang="en-US" dirty="0" err="1"/>
              <a:t>avg_weight</a:t>
            </a:r>
            <a:r>
              <a:rPr lang="en-US" dirty="0"/>
              <a:t>  </a:t>
            </a:r>
            <a:r>
              <a:rPr lang="en-US" dirty="0" err="1"/>
              <a:t>student_id</a:t>
            </a:r>
            <a:r>
              <a:rPr lang="en-US" dirty="0"/>
              <a:t> grade</a:t>
            </a:r>
          </a:p>
          <a:p>
            <a:r>
              <a:rPr lang="en-US" dirty="0"/>
              <a:t>0     dog     land     True        40.0       623.0    A-</a:t>
            </a:r>
          </a:p>
          <a:p>
            <a:r>
              <a:rPr lang="en-US" dirty="0"/>
              <a:t>1     cat     land     True        10.0        29.0    B+</a:t>
            </a:r>
          </a:p>
          <a:p>
            <a:r>
              <a:rPr lang="en-US" dirty="0"/>
              <a:t>2    bird      air    False         0.1       294.0     B</a:t>
            </a:r>
          </a:p>
          <a:p>
            <a:r>
              <a:rPr lang="en-US" dirty="0"/>
              <a:t>3    fish    water    False         4.0         </a:t>
            </a:r>
            <a:r>
              <a:rPr lang="en-US" dirty="0" err="1"/>
              <a:t>NaN</a:t>
            </a:r>
            <a:r>
              <a:rPr lang="en-US" dirty="0"/>
              <a:t>   </a:t>
            </a:r>
            <a:r>
              <a:rPr lang="en-US" dirty="0" err="1"/>
              <a:t>NaN</a:t>
            </a:r>
            <a:endParaRPr lang="en-US" dirty="0"/>
          </a:p>
        </p:txBody>
      </p:sp>
      <p:sp>
        <p:nvSpPr>
          <p:cNvPr id="4" name="Slide Number Placeholder 3">
            <a:extLst>
              <a:ext uri="{FF2B5EF4-FFF2-40B4-BE49-F238E27FC236}">
                <a16:creationId xmlns:a16="http://schemas.microsoft.com/office/drawing/2014/main" id="{9A00D387-A4A5-489E-85AF-4C46D1E02D39}"/>
              </a:ext>
            </a:extLst>
          </p:cNvPr>
          <p:cNvSpPr>
            <a:spLocks noGrp="1"/>
          </p:cNvSpPr>
          <p:nvPr>
            <p:ph type="sldNum" sz="quarter" idx="12"/>
          </p:nvPr>
        </p:nvSpPr>
        <p:spPr/>
        <p:txBody>
          <a:bodyPr/>
          <a:lstStyle/>
          <a:p>
            <a:fld id="{6B97D948-30E8-43F7-AE10-F6E2D9F2BBB1}" type="slidenum">
              <a:rPr lang="en-US" smtClean="0"/>
              <a:t>366</a:t>
            </a:fld>
            <a:endParaRPr lang="en-US"/>
          </a:p>
        </p:txBody>
      </p:sp>
    </p:spTree>
    <p:extLst>
      <p:ext uri="{BB962C8B-B14F-4D97-AF65-F5344CB8AC3E}">
        <p14:creationId xmlns:p14="http://schemas.microsoft.com/office/powerpoint/2010/main" val="3831140822"/>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BA959-B580-4E47-9DF8-23C25101E484}"/>
              </a:ext>
            </a:extLst>
          </p:cNvPr>
          <p:cNvSpPr>
            <a:spLocks noGrp="1"/>
          </p:cNvSpPr>
          <p:nvPr>
            <p:ph type="title"/>
          </p:nvPr>
        </p:nvSpPr>
        <p:spPr>
          <a:xfrm>
            <a:off x="838200" y="365126"/>
            <a:ext cx="10515600" cy="684186"/>
          </a:xfrm>
        </p:spPr>
        <p:txBody>
          <a:bodyPr>
            <a:normAutofit fontScale="90000"/>
          </a:bodyPr>
          <a:lstStyle/>
          <a:p>
            <a:r>
              <a:rPr lang="en-US" dirty="0"/>
              <a:t>Warning</a:t>
            </a:r>
          </a:p>
        </p:txBody>
      </p:sp>
      <p:sp>
        <p:nvSpPr>
          <p:cNvPr id="3" name="Content Placeholder 2">
            <a:extLst>
              <a:ext uri="{FF2B5EF4-FFF2-40B4-BE49-F238E27FC236}">
                <a16:creationId xmlns:a16="http://schemas.microsoft.com/office/drawing/2014/main" id="{6D0A9E9D-0F27-4155-AC5C-4F941D3251A7}"/>
              </a:ext>
            </a:extLst>
          </p:cNvPr>
          <p:cNvSpPr>
            <a:spLocks noGrp="1"/>
          </p:cNvSpPr>
          <p:nvPr>
            <p:ph idx="1"/>
          </p:nvPr>
        </p:nvSpPr>
        <p:spPr>
          <a:xfrm>
            <a:off x="838200" y="1049312"/>
            <a:ext cx="10515600" cy="5127651"/>
          </a:xfrm>
        </p:spPr>
        <p:txBody>
          <a:bodyPr/>
          <a:lstStyle/>
          <a:p>
            <a:pPr algn="just"/>
            <a:r>
              <a:rPr lang="en-US" dirty="0"/>
              <a:t>We must take care in how we apply these techniques and </a:t>
            </a:r>
            <a:r>
              <a:rPr lang="en-US" b="1" dirty="0"/>
              <a:t>always check the resulting data</a:t>
            </a:r>
            <a:r>
              <a:rPr lang="en-US" dirty="0"/>
              <a:t> to make sure that the process accomplished what we were hoping for.</a:t>
            </a:r>
          </a:p>
        </p:txBody>
      </p:sp>
      <p:sp>
        <p:nvSpPr>
          <p:cNvPr id="4" name="Slide Number Placeholder 3">
            <a:extLst>
              <a:ext uri="{FF2B5EF4-FFF2-40B4-BE49-F238E27FC236}">
                <a16:creationId xmlns:a16="http://schemas.microsoft.com/office/drawing/2014/main" id="{92ADD52A-1828-49E9-8B28-1617374350DA}"/>
              </a:ext>
            </a:extLst>
          </p:cNvPr>
          <p:cNvSpPr>
            <a:spLocks noGrp="1"/>
          </p:cNvSpPr>
          <p:nvPr>
            <p:ph type="sldNum" sz="quarter" idx="12"/>
          </p:nvPr>
        </p:nvSpPr>
        <p:spPr/>
        <p:txBody>
          <a:bodyPr/>
          <a:lstStyle/>
          <a:p>
            <a:fld id="{6B97D948-30E8-43F7-AE10-F6E2D9F2BBB1}" type="slidenum">
              <a:rPr lang="en-US" smtClean="0"/>
              <a:t>367</a:t>
            </a:fld>
            <a:endParaRPr lang="en-US"/>
          </a:p>
        </p:txBody>
      </p:sp>
    </p:spTree>
    <p:extLst>
      <p:ext uri="{BB962C8B-B14F-4D97-AF65-F5344CB8AC3E}">
        <p14:creationId xmlns:p14="http://schemas.microsoft.com/office/powerpoint/2010/main" val="602502168"/>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16FFF-9208-4707-A86B-8B7CED730C7C}"/>
              </a:ext>
            </a:extLst>
          </p:cNvPr>
          <p:cNvSpPr>
            <a:spLocks noGrp="1"/>
          </p:cNvSpPr>
          <p:nvPr>
            <p:ph type="title"/>
          </p:nvPr>
        </p:nvSpPr>
        <p:spPr>
          <a:xfrm>
            <a:off x="838200" y="365126"/>
            <a:ext cx="10515600" cy="819098"/>
          </a:xfrm>
        </p:spPr>
        <p:txBody>
          <a:bodyPr/>
          <a:lstStyle/>
          <a:p>
            <a:r>
              <a:rPr lang="en-US" dirty="0"/>
              <a:t>Combining datasets: joins</a:t>
            </a:r>
          </a:p>
        </p:txBody>
      </p:sp>
      <p:sp>
        <p:nvSpPr>
          <p:cNvPr id="3" name="Content Placeholder 2">
            <a:extLst>
              <a:ext uri="{FF2B5EF4-FFF2-40B4-BE49-F238E27FC236}">
                <a16:creationId xmlns:a16="http://schemas.microsoft.com/office/drawing/2014/main" id="{341E48BD-C5D4-4121-8E2F-E9B032FF0881}"/>
              </a:ext>
            </a:extLst>
          </p:cNvPr>
          <p:cNvSpPr>
            <a:spLocks noGrp="1"/>
          </p:cNvSpPr>
          <p:nvPr>
            <p:ph idx="1"/>
          </p:nvPr>
        </p:nvSpPr>
        <p:spPr>
          <a:xfrm>
            <a:off x="838200" y="1184224"/>
            <a:ext cx="10515600" cy="4992739"/>
          </a:xfrm>
        </p:spPr>
        <p:txBody>
          <a:bodyPr/>
          <a:lstStyle/>
          <a:p>
            <a:pPr algn="just"/>
            <a:r>
              <a:rPr lang="en-US" dirty="0"/>
              <a:t>You are analyzing the accounts of a firm and were given one dataset with that contained transactions with the corresponding dollar amounts and vendor ID number and a second dataset that contained the vendor ID and the name and industry of the vendor. </a:t>
            </a:r>
          </a:p>
          <a:p>
            <a:pPr algn="just"/>
            <a:r>
              <a:rPr lang="en-US" dirty="0"/>
              <a:t>How could you determine which vendor corresponds to each transaction?</a:t>
            </a:r>
          </a:p>
        </p:txBody>
      </p:sp>
      <p:sp>
        <p:nvSpPr>
          <p:cNvPr id="4" name="Slide Number Placeholder 3">
            <a:extLst>
              <a:ext uri="{FF2B5EF4-FFF2-40B4-BE49-F238E27FC236}">
                <a16:creationId xmlns:a16="http://schemas.microsoft.com/office/drawing/2014/main" id="{D01ED312-20FD-423C-847F-97534DDFA809}"/>
              </a:ext>
            </a:extLst>
          </p:cNvPr>
          <p:cNvSpPr>
            <a:spLocks noGrp="1"/>
          </p:cNvSpPr>
          <p:nvPr>
            <p:ph type="sldNum" sz="quarter" idx="12"/>
          </p:nvPr>
        </p:nvSpPr>
        <p:spPr/>
        <p:txBody>
          <a:bodyPr/>
          <a:lstStyle/>
          <a:p>
            <a:fld id="{6B97D948-30E8-43F7-AE10-F6E2D9F2BBB1}" type="slidenum">
              <a:rPr lang="en-US" smtClean="0"/>
              <a:t>368</a:t>
            </a:fld>
            <a:endParaRPr lang="en-US"/>
          </a:p>
        </p:txBody>
      </p:sp>
    </p:spTree>
    <p:extLst>
      <p:ext uri="{BB962C8B-B14F-4D97-AF65-F5344CB8AC3E}">
        <p14:creationId xmlns:p14="http://schemas.microsoft.com/office/powerpoint/2010/main" val="1433975123"/>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37B6CE-86AE-4BD1-9AE7-6A882501BE0B}"/>
              </a:ext>
            </a:extLst>
          </p:cNvPr>
          <p:cNvSpPr>
            <a:spLocks noGrp="1"/>
          </p:cNvSpPr>
          <p:nvPr>
            <p:ph idx="1"/>
          </p:nvPr>
        </p:nvSpPr>
        <p:spPr>
          <a:xfrm>
            <a:off x="838200" y="434715"/>
            <a:ext cx="10515600" cy="5742248"/>
          </a:xfrm>
        </p:spPr>
        <p:txBody>
          <a:bodyPr/>
          <a:lstStyle/>
          <a:p>
            <a:pPr algn="just"/>
            <a:r>
              <a:rPr lang="en-US" dirty="0"/>
              <a:t>You are developing a system to compute the credits that each student received from taking classes. You have one dataset that has the students and the name of the class they’re taking, and a separate dataset that list the classes and the number of credits each class provides. </a:t>
            </a:r>
          </a:p>
          <a:p>
            <a:pPr algn="just"/>
            <a:r>
              <a:rPr lang="en-US" dirty="0"/>
              <a:t>How do you determine the number of credits each student is taking?</a:t>
            </a:r>
          </a:p>
        </p:txBody>
      </p:sp>
      <p:sp>
        <p:nvSpPr>
          <p:cNvPr id="4" name="Slide Number Placeholder 3">
            <a:extLst>
              <a:ext uri="{FF2B5EF4-FFF2-40B4-BE49-F238E27FC236}">
                <a16:creationId xmlns:a16="http://schemas.microsoft.com/office/drawing/2014/main" id="{7B0BB499-BEB0-435A-A804-679DEF1C864E}"/>
              </a:ext>
            </a:extLst>
          </p:cNvPr>
          <p:cNvSpPr>
            <a:spLocks noGrp="1"/>
          </p:cNvSpPr>
          <p:nvPr>
            <p:ph type="sldNum" sz="quarter" idx="12"/>
          </p:nvPr>
        </p:nvSpPr>
        <p:spPr/>
        <p:txBody>
          <a:bodyPr/>
          <a:lstStyle/>
          <a:p>
            <a:fld id="{6B97D948-30E8-43F7-AE10-F6E2D9F2BBB1}" type="slidenum">
              <a:rPr lang="en-US" smtClean="0"/>
              <a:t>369</a:t>
            </a:fld>
            <a:endParaRPr lang="en-US"/>
          </a:p>
        </p:txBody>
      </p:sp>
    </p:spTree>
    <p:extLst>
      <p:ext uri="{BB962C8B-B14F-4D97-AF65-F5344CB8AC3E}">
        <p14:creationId xmlns:p14="http://schemas.microsoft.com/office/powerpoint/2010/main" val="3735184979"/>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E78587-882F-4B41-90AA-B264F04B48AF}"/>
              </a:ext>
            </a:extLst>
          </p:cNvPr>
          <p:cNvSpPr>
            <a:spLocks noGrp="1"/>
          </p:cNvSpPr>
          <p:nvPr>
            <p:ph idx="1"/>
          </p:nvPr>
        </p:nvSpPr>
        <p:spPr>
          <a:xfrm>
            <a:off x="838200" y="464695"/>
            <a:ext cx="10515600" cy="5712268"/>
          </a:xfrm>
        </p:spPr>
        <p:txBody>
          <a:bodyPr/>
          <a:lstStyle/>
          <a:p>
            <a:pPr algn="just"/>
            <a:r>
              <a:rPr lang="en-US" dirty="0"/>
              <a:t>You are on the marketing team where each employee is signed to one of the clients of the firm. In most cases, multiple employees are signed to a single client (forming the client team) and those employees may, themselves work with multiple clients (they are part of multiple teams). Each client has one or more products. How do we get a list of each product that each employee is working on?</a:t>
            </a:r>
          </a:p>
        </p:txBody>
      </p:sp>
      <p:sp>
        <p:nvSpPr>
          <p:cNvPr id="4" name="Slide Number Placeholder 3">
            <a:extLst>
              <a:ext uri="{FF2B5EF4-FFF2-40B4-BE49-F238E27FC236}">
                <a16:creationId xmlns:a16="http://schemas.microsoft.com/office/drawing/2014/main" id="{1E968400-D6AE-4BF0-934F-CAAE9473D78E}"/>
              </a:ext>
            </a:extLst>
          </p:cNvPr>
          <p:cNvSpPr>
            <a:spLocks noGrp="1"/>
          </p:cNvSpPr>
          <p:nvPr>
            <p:ph type="sldNum" sz="quarter" idx="12"/>
          </p:nvPr>
        </p:nvSpPr>
        <p:spPr/>
        <p:txBody>
          <a:bodyPr/>
          <a:lstStyle/>
          <a:p>
            <a:fld id="{6B97D948-30E8-43F7-AE10-F6E2D9F2BBB1}" type="slidenum">
              <a:rPr lang="en-US" smtClean="0"/>
              <a:t>370</a:t>
            </a:fld>
            <a:endParaRPr lang="en-US"/>
          </a:p>
        </p:txBody>
      </p:sp>
    </p:spTree>
    <p:extLst>
      <p:ext uri="{BB962C8B-B14F-4D97-AF65-F5344CB8AC3E}">
        <p14:creationId xmlns:p14="http://schemas.microsoft.com/office/powerpoint/2010/main" val="1059614359"/>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F9469-DD17-4C48-A5F3-6A5049810C3E}"/>
              </a:ext>
            </a:extLst>
          </p:cNvPr>
          <p:cNvSpPr>
            <a:spLocks noGrp="1"/>
          </p:cNvSpPr>
          <p:nvPr>
            <p:ph type="title"/>
          </p:nvPr>
        </p:nvSpPr>
        <p:spPr>
          <a:xfrm>
            <a:off x="838200" y="365125"/>
            <a:ext cx="10515600" cy="714167"/>
          </a:xfrm>
        </p:spPr>
        <p:txBody>
          <a:bodyPr/>
          <a:lstStyle/>
          <a:p>
            <a:r>
              <a:rPr lang="en-US" dirty="0"/>
              <a:t>Addressing the questions. . . </a:t>
            </a:r>
          </a:p>
        </p:txBody>
      </p:sp>
      <p:sp>
        <p:nvSpPr>
          <p:cNvPr id="3" name="Content Placeholder 2">
            <a:extLst>
              <a:ext uri="{FF2B5EF4-FFF2-40B4-BE49-F238E27FC236}">
                <a16:creationId xmlns:a16="http://schemas.microsoft.com/office/drawing/2014/main" id="{8415DD64-82BE-4EDF-A559-1DFC436253EF}"/>
              </a:ext>
            </a:extLst>
          </p:cNvPr>
          <p:cNvSpPr>
            <a:spLocks noGrp="1"/>
          </p:cNvSpPr>
          <p:nvPr>
            <p:ph idx="1"/>
          </p:nvPr>
        </p:nvSpPr>
        <p:spPr>
          <a:xfrm>
            <a:off x="838200" y="1079292"/>
            <a:ext cx="10515600" cy="5097671"/>
          </a:xfrm>
        </p:spPr>
        <p:txBody>
          <a:bodyPr/>
          <a:lstStyle/>
          <a:p>
            <a:r>
              <a:rPr lang="en-US" dirty="0"/>
              <a:t>We can address each of the above issues by combining datasets using merge. </a:t>
            </a:r>
          </a:p>
          <a:p>
            <a:pPr algn="just"/>
            <a:r>
              <a:rPr lang="en-US" dirty="0"/>
              <a:t>In fact, the above examples represents a different type of merge (one-to-one, one-to-many, many-to-many, respectively).</a:t>
            </a:r>
          </a:p>
        </p:txBody>
      </p:sp>
      <p:sp>
        <p:nvSpPr>
          <p:cNvPr id="4" name="Slide Number Placeholder 3">
            <a:extLst>
              <a:ext uri="{FF2B5EF4-FFF2-40B4-BE49-F238E27FC236}">
                <a16:creationId xmlns:a16="http://schemas.microsoft.com/office/drawing/2014/main" id="{ADD9D403-D6D9-472E-BCA4-A853686A8ED1}"/>
              </a:ext>
            </a:extLst>
          </p:cNvPr>
          <p:cNvSpPr>
            <a:spLocks noGrp="1"/>
          </p:cNvSpPr>
          <p:nvPr>
            <p:ph type="sldNum" sz="quarter" idx="12"/>
          </p:nvPr>
        </p:nvSpPr>
        <p:spPr/>
        <p:txBody>
          <a:bodyPr/>
          <a:lstStyle/>
          <a:p>
            <a:fld id="{6B97D948-30E8-43F7-AE10-F6E2D9F2BBB1}" type="slidenum">
              <a:rPr lang="en-US" smtClean="0"/>
              <a:t>371</a:t>
            </a:fld>
            <a:endParaRPr lang="en-US"/>
          </a:p>
        </p:txBody>
      </p:sp>
    </p:spTree>
    <p:extLst>
      <p:ext uri="{BB962C8B-B14F-4D97-AF65-F5344CB8AC3E}">
        <p14:creationId xmlns:p14="http://schemas.microsoft.com/office/powerpoint/2010/main" val="3224147776"/>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E5E76B-5B53-41A7-AA50-A977E9A47831}"/>
              </a:ext>
            </a:extLst>
          </p:cNvPr>
          <p:cNvSpPr>
            <a:spLocks noGrp="1"/>
          </p:cNvSpPr>
          <p:nvPr>
            <p:ph idx="1"/>
          </p:nvPr>
        </p:nvSpPr>
        <p:spPr>
          <a:xfrm>
            <a:off x="838200" y="419725"/>
            <a:ext cx="10515600" cy="5757238"/>
          </a:xfrm>
        </p:spPr>
        <p:txBody>
          <a:bodyPr/>
          <a:lstStyle/>
          <a:p>
            <a:r>
              <a:rPr lang="en-US" dirty="0" err="1">
                <a:solidFill>
                  <a:srgbClr val="FF0000"/>
                </a:solidFill>
              </a:rPr>
              <a:t>dfa</a:t>
            </a:r>
            <a:r>
              <a:rPr lang="en-US" dirty="0">
                <a:solidFill>
                  <a:srgbClr val="FF0000"/>
                </a:solidFill>
              </a:rPr>
              <a:t> = </a:t>
            </a:r>
            <a:r>
              <a:rPr lang="en-US" dirty="0" err="1">
                <a:solidFill>
                  <a:srgbClr val="FF0000"/>
                </a:solidFill>
              </a:rPr>
              <a:t>pd.DataFrame</a:t>
            </a:r>
            <a:r>
              <a:rPr lang="en-US" dirty="0">
                <a:solidFill>
                  <a:srgbClr val="FF0000"/>
                </a:solidFill>
              </a:rPr>
              <a:t>(</a:t>
            </a:r>
          </a:p>
          <a:p>
            <a:r>
              <a:rPr lang="en-US" dirty="0">
                <a:solidFill>
                  <a:srgbClr val="FF0000"/>
                </a:solidFill>
              </a:rPr>
              <a:t>     ...:     {</a:t>
            </a:r>
          </a:p>
          <a:p>
            <a:r>
              <a:rPr lang="en-US" dirty="0">
                <a:solidFill>
                  <a:srgbClr val="FF0000"/>
                </a:solidFill>
              </a:rPr>
              <a:t>     ...:         'animals': ['dog', 'cat', 'bird', 'fish'],</a:t>
            </a:r>
          </a:p>
          <a:p>
            <a:r>
              <a:rPr lang="en-US" dirty="0">
                <a:solidFill>
                  <a:srgbClr val="FF0000"/>
                </a:solidFill>
              </a:rPr>
              <a:t>     ...:         'location': ['land', 'land', 'air', 'water'],</a:t>
            </a:r>
          </a:p>
          <a:p>
            <a:r>
              <a:rPr lang="en-US" dirty="0">
                <a:solidFill>
                  <a:srgbClr val="FF0000"/>
                </a:solidFill>
              </a:rPr>
              <a:t>     ...:         '</a:t>
            </a:r>
            <a:r>
              <a:rPr lang="en-US" dirty="0" err="1">
                <a:solidFill>
                  <a:srgbClr val="FF0000"/>
                </a:solidFill>
              </a:rPr>
              <a:t>has_fur</a:t>
            </a:r>
            <a:r>
              <a:rPr lang="en-US" dirty="0">
                <a:solidFill>
                  <a:srgbClr val="FF0000"/>
                </a:solidFill>
              </a:rPr>
              <a:t>': [True, True, False, False],^M</a:t>
            </a:r>
          </a:p>
          <a:p>
            <a:r>
              <a:rPr lang="en-US" dirty="0">
                <a:solidFill>
                  <a:srgbClr val="FF0000"/>
                </a:solidFill>
              </a:rPr>
              <a:t>     ...:     }</a:t>
            </a:r>
          </a:p>
          <a:p>
            <a:r>
              <a:rPr lang="en-US" dirty="0">
                <a:solidFill>
                  <a:srgbClr val="FF0000"/>
                </a:solidFill>
              </a:rPr>
              <a:t>     ...: )</a:t>
            </a:r>
          </a:p>
          <a:p>
            <a:r>
              <a:rPr lang="en-US" dirty="0">
                <a:solidFill>
                  <a:srgbClr val="FF0000"/>
                </a:solidFill>
              </a:rPr>
              <a:t>     ...: </a:t>
            </a:r>
            <a:r>
              <a:rPr lang="en-US" dirty="0" err="1">
                <a:solidFill>
                  <a:srgbClr val="FF0000"/>
                </a:solidFill>
              </a:rPr>
              <a:t>dfa</a:t>
            </a:r>
            <a:endParaRPr lang="en-US" dirty="0">
              <a:solidFill>
                <a:srgbClr val="FF0000"/>
              </a:solidFill>
            </a:endParaRPr>
          </a:p>
        </p:txBody>
      </p:sp>
      <p:sp>
        <p:nvSpPr>
          <p:cNvPr id="4" name="Slide Number Placeholder 3">
            <a:extLst>
              <a:ext uri="{FF2B5EF4-FFF2-40B4-BE49-F238E27FC236}">
                <a16:creationId xmlns:a16="http://schemas.microsoft.com/office/drawing/2014/main" id="{24C58927-18FD-4103-9443-46E807EBA3EC}"/>
              </a:ext>
            </a:extLst>
          </p:cNvPr>
          <p:cNvSpPr>
            <a:spLocks noGrp="1"/>
          </p:cNvSpPr>
          <p:nvPr>
            <p:ph type="sldNum" sz="quarter" idx="12"/>
          </p:nvPr>
        </p:nvSpPr>
        <p:spPr/>
        <p:txBody>
          <a:bodyPr/>
          <a:lstStyle/>
          <a:p>
            <a:fld id="{6B97D948-30E8-43F7-AE10-F6E2D9F2BBB1}" type="slidenum">
              <a:rPr lang="en-US" smtClean="0"/>
              <a:t>372</a:t>
            </a:fld>
            <a:endParaRPr lang="en-US"/>
          </a:p>
        </p:txBody>
      </p:sp>
    </p:spTree>
    <p:extLst>
      <p:ext uri="{BB962C8B-B14F-4D97-AF65-F5344CB8AC3E}">
        <p14:creationId xmlns:p14="http://schemas.microsoft.com/office/powerpoint/2010/main" val="3994584057"/>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C4ECEF-B68E-451F-81BC-8D37B51879D0}"/>
              </a:ext>
            </a:extLst>
          </p:cNvPr>
          <p:cNvSpPr>
            <a:spLocks noGrp="1"/>
          </p:cNvSpPr>
          <p:nvPr>
            <p:ph idx="1"/>
          </p:nvPr>
        </p:nvSpPr>
        <p:spPr>
          <a:xfrm>
            <a:off x="838200" y="524656"/>
            <a:ext cx="10515600" cy="5652307"/>
          </a:xfrm>
        </p:spPr>
        <p:txBody>
          <a:bodyPr/>
          <a:lstStyle/>
          <a:p>
            <a:r>
              <a:rPr lang="en-US" dirty="0"/>
              <a:t>Out[104]:</a:t>
            </a:r>
          </a:p>
          <a:p>
            <a:r>
              <a:rPr lang="en-US" dirty="0"/>
              <a:t>  animals location  </a:t>
            </a:r>
            <a:r>
              <a:rPr lang="en-US" dirty="0" err="1"/>
              <a:t>has_fur</a:t>
            </a:r>
            <a:endParaRPr lang="en-US" dirty="0"/>
          </a:p>
          <a:p>
            <a:r>
              <a:rPr lang="en-US" dirty="0"/>
              <a:t>0     dog     land     True</a:t>
            </a:r>
          </a:p>
          <a:p>
            <a:r>
              <a:rPr lang="en-US" dirty="0"/>
              <a:t>1     cat     land     True</a:t>
            </a:r>
          </a:p>
          <a:p>
            <a:r>
              <a:rPr lang="en-US" dirty="0"/>
              <a:t>2    bird      air    False</a:t>
            </a:r>
          </a:p>
          <a:p>
            <a:r>
              <a:rPr lang="en-US" dirty="0"/>
              <a:t>3    fish    water    False</a:t>
            </a:r>
          </a:p>
        </p:txBody>
      </p:sp>
      <p:sp>
        <p:nvSpPr>
          <p:cNvPr id="4" name="Slide Number Placeholder 3">
            <a:extLst>
              <a:ext uri="{FF2B5EF4-FFF2-40B4-BE49-F238E27FC236}">
                <a16:creationId xmlns:a16="http://schemas.microsoft.com/office/drawing/2014/main" id="{77EBFE73-FB23-4A2B-8929-4990C0F4A8D9}"/>
              </a:ext>
            </a:extLst>
          </p:cNvPr>
          <p:cNvSpPr>
            <a:spLocks noGrp="1"/>
          </p:cNvSpPr>
          <p:nvPr>
            <p:ph type="sldNum" sz="quarter" idx="12"/>
          </p:nvPr>
        </p:nvSpPr>
        <p:spPr/>
        <p:txBody>
          <a:bodyPr/>
          <a:lstStyle/>
          <a:p>
            <a:fld id="{6B97D948-30E8-43F7-AE10-F6E2D9F2BBB1}" type="slidenum">
              <a:rPr lang="en-US" smtClean="0"/>
              <a:t>373</a:t>
            </a:fld>
            <a:endParaRPr lang="en-US"/>
          </a:p>
        </p:txBody>
      </p:sp>
    </p:spTree>
    <p:extLst>
      <p:ext uri="{BB962C8B-B14F-4D97-AF65-F5344CB8AC3E}">
        <p14:creationId xmlns:p14="http://schemas.microsoft.com/office/powerpoint/2010/main" val="3486598597"/>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F2005A-F7C9-4408-AEAA-3ADAAF36FE14}"/>
              </a:ext>
            </a:extLst>
          </p:cNvPr>
          <p:cNvSpPr>
            <a:spLocks noGrp="1"/>
          </p:cNvSpPr>
          <p:nvPr>
            <p:ph idx="1"/>
          </p:nvPr>
        </p:nvSpPr>
        <p:spPr>
          <a:xfrm>
            <a:off x="838200" y="494675"/>
            <a:ext cx="10515600" cy="5682288"/>
          </a:xfrm>
        </p:spPr>
        <p:txBody>
          <a:bodyPr>
            <a:normAutofit/>
          </a:bodyPr>
          <a:lstStyle/>
          <a:p>
            <a:r>
              <a:rPr lang="en-US" dirty="0" err="1">
                <a:solidFill>
                  <a:srgbClr val="FF0000"/>
                </a:solidFill>
              </a:rPr>
              <a:t>dfb</a:t>
            </a:r>
            <a:r>
              <a:rPr lang="en-US" dirty="0">
                <a:solidFill>
                  <a:srgbClr val="FF0000"/>
                </a:solidFill>
              </a:rPr>
              <a:t> = </a:t>
            </a:r>
            <a:r>
              <a:rPr lang="en-US" dirty="0" err="1">
                <a:solidFill>
                  <a:srgbClr val="FF0000"/>
                </a:solidFill>
              </a:rPr>
              <a:t>pd.DataFrame</a:t>
            </a:r>
            <a:r>
              <a:rPr lang="en-US" dirty="0">
                <a:solidFill>
                  <a:srgbClr val="FF0000"/>
                </a:solidFill>
              </a:rPr>
              <a:t>(</a:t>
            </a:r>
          </a:p>
          <a:p>
            <a:r>
              <a:rPr lang="en-US" dirty="0">
                <a:solidFill>
                  <a:srgbClr val="FF0000"/>
                </a:solidFill>
              </a:rPr>
              <a:t>     ...:     {'animals': ['fish', 'elephant', 'blue whale'], '</a:t>
            </a:r>
            <a:r>
              <a:rPr lang="en-US" dirty="0" err="1">
                <a:solidFill>
                  <a:srgbClr val="FF0000"/>
                </a:solidFill>
              </a:rPr>
              <a:t>avg_weight</a:t>
            </a:r>
            <a:r>
              <a:rPr lang="en-US" dirty="0">
                <a:solidFill>
                  <a:srgbClr val="FF0000"/>
                </a:solidFill>
              </a:rPr>
              <a:t>': [4, 12000, 3000</a:t>
            </a:r>
          </a:p>
          <a:p>
            <a:r>
              <a:rPr lang="en-US" dirty="0">
                <a:solidFill>
                  <a:srgbClr val="FF0000"/>
                </a:solidFill>
              </a:rPr>
              <a:t>     ...: 00]}</a:t>
            </a:r>
          </a:p>
          <a:p>
            <a:r>
              <a:rPr lang="en-US" dirty="0">
                <a:solidFill>
                  <a:srgbClr val="FF0000"/>
                </a:solidFill>
              </a:rPr>
              <a:t>     ...: )</a:t>
            </a:r>
          </a:p>
          <a:p>
            <a:r>
              <a:rPr lang="en-US" dirty="0" err="1">
                <a:solidFill>
                  <a:srgbClr val="FF0000"/>
                </a:solidFill>
              </a:rPr>
              <a:t>dfb</a:t>
            </a:r>
            <a:endParaRPr lang="en-US" dirty="0">
              <a:solidFill>
                <a:srgbClr val="FF0000"/>
              </a:solidFill>
            </a:endParaRPr>
          </a:p>
          <a:p>
            <a:r>
              <a:rPr lang="en-US" dirty="0"/>
              <a:t>Out[105]:</a:t>
            </a:r>
          </a:p>
          <a:p>
            <a:r>
              <a:rPr lang="en-US" dirty="0"/>
              <a:t>      animals  </a:t>
            </a:r>
            <a:r>
              <a:rPr lang="en-US" dirty="0" err="1"/>
              <a:t>avg_weight</a:t>
            </a:r>
            <a:endParaRPr lang="en-US" dirty="0"/>
          </a:p>
          <a:p>
            <a:r>
              <a:rPr lang="en-US" dirty="0"/>
              <a:t>0        fish           4</a:t>
            </a:r>
          </a:p>
          <a:p>
            <a:r>
              <a:rPr lang="en-US" dirty="0"/>
              <a:t>1    elephant       12000</a:t>
            </a:r>
          </a:p>
          <a:p>
            <a:r>
              <a:rPr lang="en-US" dirty="0"/>
              <a:t>2  blue whale      300000</a:t>
            </a:r>
          </a:p>
        </p:txBody>
      </p:sp>
      <p:sp>
        <p:nvSpPr>
          <p:cNvPr id="4" name="Slide Number Placeholder 3">
            <a:extLst>
              <a:ext uri="{FF2B5EF4-FFF2-40B4-BE49-F238E27FC236}">
                <a16:creationId xmlns:a16="http://schemas.microsoft.com/office/drawing/2014/main" id="{6698F1D1-CB83-4146-B2E9-FBF928EF1C1A}"/>
              </a:ext>
            </a:extLst>
          </p:cNvPr>
          <p:cNvSpPr>
            <a:spLocks noGrp="1"/>
          </p:cNvSpPr>
          <p:nvPr>
            <p:ph type="sldNum" sz="quarter" idx="12"/>
          </p:nvPr>
        </p:nvSpPr>
        <p:spPr/>
        <p:txBody>
          <a:bodyPr/>
          <a:lstStyle/>
          <a:p>
            <a:fld id="{6B97D948-30E8-43F7-AE10-F6E2D9F2BBB1}" type="slidenum">
              <a:rPr lang="en-US" smtClean="0"/>
              <a:t>374</a:t>
            </a:fld>
            <a:endParaRPr lang="en-US"/>
          </a:p>
        </p:txBody>
      </p:sp>
    </p:spTree>
    <p:extLst>
      <p:ext uri="{BB962C8B-B14F-4D97-AF65-F5344CB8AC3E}">
        <p14:creationId xmlns:p14="http://schemas.microsoft.com/office/powerpoint/2010/main" val="3324494108"/>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7EFF1-4F1D-468F-8DB2-F7B3AFB9C9F0}"/>
              </a:ext>
            </a:extLst>
          </p:cNvPr>
          <p:cNvSpPr>
            <a:spLocks noGrp="1"/>
          </p:cNvSpPr>
          <p:nvPr>
            <p:ph type="title"/>
          </p:nvPr>
        </p:nvSpPr>
        <p:spPr>
          <a:xfrm>
            <a:off x="838200" y="365126"/>
            <a:ext cx="10515600" cy="654206"/>
          </a:xfrm>
        </p:spPr>
        <p:txBody>
          <a:bodyPr>
            <a:normAutofit fontScale="90000"/>
          </a:bodyPr>
          <a:lstStyle/>
          <a:p>
            <a:r>
              <a:rPr lang="en-US" dirty="0"/>
              <a:t>Noteworthy</a:t>
            </a:r>
          </a:p>
        </p:txBody>
      </p:sp>
      <p:sp>
        <p:nvSpPr>
          <p:cNvPr id="3" name="Content Placeholder 2">
            <a:extLst>
              <a:ext uri="{FF2B5EF4-FFF2-40B4-BE49-F238E27FC236}">
                <a16:creationId xmlns:a16="http://schemas.microsoft.com/office/drawing/2014/main" id="{2B18018F-00FC-4304-9A82-91DE2FB9D696}"/>
              </a:ext>
            </a:extLst>
          </p:cNvPr>
          <p:cNvSpPr>
            <a:spLocks noGrp="1"/>
          </p:cNvSpPr>
          <p:nvPr>
            <p:ph idx="1"/>
          </p:nvPr>
        </p:nvSpPr>
        <p:spPr>
          <a:xfrm>
            <a:off x="838200" y="1019332"/>
            <a:ext cx="10515600" cy="5157631"/>
          </a:xfrm>
        </p:spPr>
        <p:txBody>
          <a:bodyPr/>
          <a:lstStyle/>
          <a:p>
            <a:pPr algn="just"/>
            <a:r>
              <a:rPr lang="en-US" dirty="0"/>
              <a:t>There are a few differences to note here. </a:t>
            </a:r>
          </a:p>
          <a:p>
            <a:pPr algn="just"/>
            <a:r>
              <a:rPr lang="en-US" dirty="0"/>
              <a:t>First, there is one shared column in each </a:t>
            </a:r>
            <a:r>
              <a:rPr lang="en-US" dirty="0" err="1"/>
              <a:t>DataFrame</a:t>
            </a:r>
            <a:r>
              <a:rPr lang="en-US" dirty="0"/>
              <a:t> and that is ‘</a:t>
            </a:r>
            <a:r>
              <a:rPr lang="en-US" dirty="0">
                <a:solidFill>
                  <a:srgbClr val="FF0000"/>
                </a:solidFill>
              </a:rPr>
              <a:t>animals</a:t>
            </a:r>
            <a:r>
              <a:rPr lang="en-US" dirty="0"/>
              <a:t>’; the rest are unique. </a:t>
            </a:r>
          </a:p>
          <a:p>
            <a:pPr algn="just"/>
            <a:r>
              <a:rPr lang="en-US" dirty="0"/>
              <a:t>Also, most of the animals are distinct between these two datasets. </a:t>
            </a:r>
          </a:p>
          <a:p>
            <a:pPr algn="just"/>
            <a:r>
              <a:rPr lang="en-US" dirty="0"/>
              <a:t>To that end, there are 3 ways in which we could merge these </a:t>
            </a:r>
            <a:r>
              <a:rPr lang="en-US" dirty="0" err="1"/>
              <a:t>DataFrames</a:t>
            </a:r>
            <a:r>
              <a:rPr lang="en-US" dirty="0"/>
              <a:t> together referring to the uniqueness of the matches between one dataset and the other:</a:t>
            </a:r>
          </a:p>
        </p:txBody>
      </p:sp>
      <p:sp>
        <p:nvSpPr>
          <p:cNvPr id="4" name="Slide Number Placeholder 3">
            <a:extLst>
              <a:ext uri="{FF2B5EF4-FFF2-40B4-BE49-F238E27FC236}">
                <a16:creationId xmlns:a16="http://schemas.microsoft.com/office/drawing/2014/main" id="{677B461F-125C-4E26-8401-AD28BCE41AF4}"/>
              </a:ext>
            </a:extLst>
          </p:cNvPr>
          <p:cNvSpPr>
            <a:spLocks noGrp="1"/>
          </p:cNvSpPr>
          <p:nvPr>
            <p:ph type="sldNum" sz="quarter" idx="12"/>
          </p:nvPr>
        </p:nvSpPr>
        <p:spPr/>
        <p:txBody>
          <a:bodyPr/>
          <a:lstStyle/>
          <a:p>
            <a:fld id="{6B97D948-30E8-43F7-AE10-F6E2D9F2BBB1}" type="slidenum">
              <a:rPr lang="en-US" smtClean="0"/>
              <a:t>375</a:t>
            </a:fld>
            <a:endParaRPr lang="en-US"/>
          </a:p>
        </p:txBody>
      </p:sp>
    </p:spTree>
    <p:extLst>
      <p:ext uri="{BB962C8B-B14F-4D97-AF65-F5344CB8AC3E}">
        <p14:creationId xmlns:p14="http://schemas.microsoft.com/office/powerpoint/2010/main" val="748192756"/>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01A14-9802-4CDD-94ED-886210A8F799}"/>
              </a:ext>
            </a:extLst>
          </p:cNvPr>
          <p:cNvSpPr>
            <a:spLocks noGrp="1"/>
          </p:cNvSpPr>
          <p:nvPr>
            <p:ph type="title"/>
          </p:nvPr>
        </p:nvSpPr>
        <p:spPr>
          <a:xfrm>
            <a:off x="838200" y="365126"/>
            <a:ext cx="10515600" cy="654206"/>
          </a:xfrm>
        </p:spPr>
        <p:txBody>
          <a:bodyPr>
            <a:normAutofit fontScale="90000"/>
          </a:bodyPr>
          <a:lstStyle/>
          <a:p>
            <a:r>
              <a:rPr lang="en-US" dirty="0"/>
              <a:t> One-to-one</a:t>
            </a:r>
          </a:p>
        </p:txBody>
      </p:sp>
      <p:sp>
        <p:nvSpPr>
          <p:cNvPr id="3" name="Content Placeholder 2">
            <a:extLst>
              <a:ext uri="{FF2B5EF4-FFF2-40B4-BE49-F238E27FC236}">
                <a16:creationId xmlns:a16="http://schemas.microsoft.com/office/drawing/2014/main" id="{BB5A94AD-8CB5-4E6E-869E-42723470701F}"/>
              </a:ext>
            </a:extLst>
          </p:cNvPr>
          <p:cNvSpPr>
            <a:spLocks noGrp="1"/>
          </p:cNvSpPr>
          <p:nvPr>
            <p:ph idx="1"/>
          </p:nvPr>
        </p:nvSpPr>
        <p:spPr>
          <a:xfrm>
            <a:off x="838200" y="1019332"/>
            <a:ext cx="10515600" cy="5157631"/>
          </a:xfrm>
        </p:spPr>
        <p:txBody>
          <a:bodyPr>
            <a:normAutofit/>
          </a:bodyPr>
          <a:lstStyle/>
          <a:p>
            <a:pPr algn="just"/>
            <a:r>
              <a:rPr lang="en-US" dirty="0"/>
              <a:t>Each entry in a column of one dataset matches to at most one entry in the column of the second dataset (also, the merge keys are unique in both datasets). </a:t>
            </a:r>
          </a:p>
          <a:p>
            <a:pPr algn="just"/>
            <a:endParaRPr lang="en-US" dirty="0"/>
          </a:p>
          <a:p>
            <a:pPr algn="just"/>
            <a:r>
              <a:rPr lang="en-US" dirty="0"/>
              <a:t>This is the simplest case to encounter.</a:t>
            </a:r>
          </a:p>
          <a:p>
            <a:endParaRPr lang="en-US" dirty="0"/>
          </a:p>
          <a:p>
            <a:endParaRPr lang="en-US" dirty="0"/>
          </a:p>
        </p:txBody>
      </p:sp>
      <p:sp>
        <p:nvSpPr>
          <p:cNvPr id="4" name="Slide Number Placeholder 3">
            <a:extLst>
              <a:ext uri="{FF2B5EF4-FFF2-40B4-BE49-F238E27FC236}">
                <a16:creationId xmlns:a16="http://schemas.microsoft.com/office/drawing/2014/main" id="{E033A775-FBD4-4F7C-884C-8748D33A2D7B}"/>
              </a:ext>
            </a:extLst>
          </p:cNvPr>
          <p:cNvSpPr>
            <a:spLocks noGrp="1"/>
          </p:cNvSpPr>
          <p:nvPr>
            <p:ph type="sldNum" sz="quarter" idx="12"/>
          </p:nvPr>
        </p:nvSpPr>
        <p:spPr/>
        <p:txBody>
          <a:bodyPr/>
          <a:lstStyle/>
          <a:p>
            <a:fld id="{6B97D948-30E8-43F7-AE10-F6E2D9F2BBB1}" type="slidenum">
              <a:rPr lang="en-US" smtClean="0"/>
              <a:t>376</a:t>
            </a:fld>
            <a:endParaRPr lang="en-US"/>
          </a:p>
        </p:txBody>
      </p:sp>
    </p:spTree>
    <p:extLst>
      <p:ext uri="{BB962C8B-B14F-4D97-AF65-F5344CB8AC3E}">
        <p14:creationId xmlns:p14="http://schemas.microsoft.com/office/powerpoint/2010/main" val="2952542083"/>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05EC1-8EE3-402A-971B-6B45650660A4}"/>
              </a:ext>
            </a:extLst>
          </p:cNvPr>
          <p:cNvSpPr>
            <a:spLocks noGrp="1"/>
          </p:cNvSpPr>
          <p:nvPr>
            <p:ph type="title"/>
          </p:nvPr>
        </p:nvSpPr>
        <p:spPr>
          <a:xfrm>
            <a:off x="838200" y="365125"/>
            <a:ext cx="10515600" cy="729157"/>
          </a:xfrm>
        </p:spPr>
        <p:txBody>
          <a:bodyPr/>
          <a:lstStyle/>
          <a:p>
            <a:r>
              <a:rPr lang="en-US" dirty="0"/>
              <a:t> One-to-many</a:t>
            </a:r>
          </a:p>
        </p:txBody>
      </p:sp>
      <p:sp>
        <p:nvSpPr>
          <p:cNvPr id="3" name="Content Placeholder 2">
            <a:extLst>
              <a:ext uri="{FF2B5EF4-FFF2-40B4-BE49-F238E27FC236}">
                <a16:creationId xmlns:a16="http://schemas.microsoft.com/office/drawing/2014/main" id="{55C3F61F-3C32-4596-9463-870F72015A0F}"/>
              </a:ext>
            </a:extLst>
          </p:cNvPr>
          <p:cNvSpPr>
            <a:spLocks noGrp="1"/>
          </p:cNvSpPr>
          <p:nvPr>
            <p:ph idx="1"/>
          </p:nvPr>
        </p:nvSpPr>
        <p:spPr>
          <a:xfrm>
            <a:off x="838200" y="1409075"/>
            <a:ext cx="10515600" cy="4767888"/>
          </a:xfrm>
        </p:spPr>
        <p:txBody>
          <a:bodyPr/>
          <a:lstStyle/>
          <a:p>
            <a:pPr algn="just"/>
            <a:r>
              <a:rPr lang="en-US" dirty="0"/>
              <a:t>For the column to merge on, there may only be one row with each unique value in that column in one of the datasets, while there may be multiple values in the corresponding column in the other dataset.</a:t>
            </a:r>
          </a:p>
          <a:p>
            <a:endParaRPr lang="en-US" dirty="0"/>
          </a:p>
        </p:txBody>
      </p:sp>
      <p:sp>
        <p:nvSpPr>
          <p:cNvPr id="4" name="Slide Number Placeholder 3">
            <a:extLst>
              <a:ext uri="{FF2B5EF4-FFF2-40B4-BE49-F238E27FC236}">
                <a16:creationId xmlns:a16="http://schemas.microsoft.com/office/drawing/2014/main" id="{D61FBD6E-44E2-4343-BDA5-028FAC11654A}"/>
              </a:ext>
            </a:extLst>
          </p:cNvPr>
          <p:cNvSpPr>
            <a:spLocks noGrp="1"/>
          </p:cNvSpPr>
          <p:nvPr>
            <p:ph type="sldNum" sz="quarter" idx="12"/>
          </p:nvPr>
        </p:nvSpPr>
        <p:spPr/>
        <p:txBody>
          <a:bodyPr/>
          <a:lstStyle/>
          <a:p>
            <a:fld id="{6B97D948-30E8-43F7-AE10-F6E2D9F2BBB1}" type="slidenum">
              <a:rPr lang="en-US" smtClean="0"/>
              <a:t>377</a:t>
            </a:fld>
            <a:endParaRPr lang="en-US"/>
          </a:p>
        </p:txBody>
      </p:sp>
    </p:spTree>
    <p:extLst>
      <p:ext uri="{BB962C8B-B14F-4D97-AF65-F5344CB8AC3E}">
        <p14:creationId xmlns:p14="http://schemas.microsoft.com/office/powerpoint/2010/main" val="3118642547"/>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2AEB-593C-4935-9BAD-454353997A04}"/>
              </a:ext>
            </a:extLst>
          </p:cNvPr>
          <p:cNvSpPr>
            <a:spLocks noGrp="1"/>
          </p:cNvSpPr>
          <p:nvPr>
            <p:ph type="title"/>
          </p:nvPr>
        </p:nvSpPr>
        <p:spPr>
          <a:xfrm>
            <a:off x="838200" y="365125"/>
            <a:ext cx="10515600" cy="729157"/>
          </a:xfrm>
        </p:spPr>
        <p:txBody>
          <a:bodyPr/>
          <a:lstStyle/>
          <a:p>
            <a:r>
              <a:rPr lang="en-US" dirty="0"/>
              <a:t>Many-to-many</a:t>
            </a:r>
          </a:p>
        </p:txBody>
      </p:sp>
      <p:sp>
        <p:nvSpPr>
          <p:cNvPr id="3" name="Content Placeholder 2">
            <a:extLst>
              <a:ext uri="{FF2B5EF4-FFF2-40B4-BE49-F238E27FC236}">
                <a16:creationId xmlns:a16="http://schemas.microsoft.com/office/drawing/2014/main" id="{46E9A891-EAB0-4604-BD64-B6E2E78E996F}"/>
              </a:ext>
            </a:extLst>
          </p:cNvPr>
          <p:cNvSpPr>
            <a:spLocks noGrp="1"/>
          </p:cNvSpPr>
          <p:nvPr>
            <p:ph idx="1"/>
          </p:nvPr>
        </p:nvSpPr>
        <p:spPr/>
        <p:txBody>
          <a:bodyPr/>
          <a:lstStyle/>
          <a:p>
            <a:r>
              <a:rPr lang="en-US" dirty="0"/>
              <a:t>There may be multiple rows containing the same value in the merge column for each of the datasets.</a:t>
            </a:r>
          </a:p>
          <a:p>
            <a:endParaRPr lang="en-US" dirty="0"/>
          </a:p>
          <a:p>
            <a:pPr algn="just"/>
            <a:r>
              <a:rPr lang="en-US" dirty="0"/>
              <a:t>Each of these above situations can be handled with the merge method. </a:t>
            </a:r>
          </a:p>
        </p:txBody>
      </p:sp>
      <p:sp>
        <p:nvSpPr>
          <p:cNvPr id="4" name="Slide Number Placeholder 3">
            <a:extLst>
              <a:ext uri="{FF2B5EF4-FFF2-40B4-BE49-F238E27FC236}">
                <a16:creationId xmlns:a16="http://schemas.microsoft.com/office/drawing/2014/main" id="{45A88566-98C6-4A32-8F08-A58BE78BAB21}"/>
              </a:ext>
            </a:extLst>
          </p:cNvPr>
          <p:cNvSpPr>
            <a:spLocks noGrp="1"/>
          </p:cNvSpPr>
          <p:nvPr>
            <p:ph type="sldNum" sz="quarter" idx="12"/>
          </p:nvPr>
        </p:nvSpPr>
        <p:spPr/>
        <p:txBody>
          <a:bodyPr/>
          <a:lstStyle/>
          <a:p>
            <a:fld id="{6B97D948-30E8-43F7-AE10-F6E2D9F2BBB1}" type="slidenum">
              <a:rPr lang="en-US" smtClean="0"/>
              <a:t>378</a:t>
            </a:fld>
            <a:endParaRPr lang="en-US"/>
          </a:p>
        </p:txBody>
      </p:sp>
    </p:spTree>
    <p:extLst>
      <p:ext uri="{BB962C8B-B14F-4D97-AF65-F5344CB8AC3E}">
        <p14:creationId xmlns:p14="http://schemas.microsoft.com/office/powerpoint/2010/main" val="4165721776"/>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70A827-BDCB-471D-B55E-C14A714A4A4B}"/>
              </a:ext>
            </a:extLst>
          </p:cNvPr>
          <p:cNvPicPr>
            <a:picLocks noGrp="1" noChangeAspect="1"/>
          </p:cNvPicPr>
          <p:nvPr>
            <p:ph idx="1"/>
          </p:nvPr>
        </p:nvPicPr>
        <p:blipFill>
          <a:blip r:embed="rId2"/>
          <a:stretch>
            <a:fillRect/>
          </a:stretch>
        </p:blipFill>
        <p:spPr>
          <a:xfrm>
            <a:off x="2452407" y="685800"/>
            <a:ext cx="6953156" cy="5491163"/>
          </a:xfrm>
          <a:prstGeom prst="rect">
            <a:avLst/>
          </a:prstGeom>
        </p:spPr>
      </p:pic>
      <p:sp>
        <p:nvSpPr>
          <p:cNvPr id="4" name="Slide Number Placeholder 3">
            <a:extLst>
              <a:ext uri="{FF2B5EF4-FFF2-40B4-BE49-F238E27FC236}">
                <a16:creationId xmlns:a16="http://schemas.microsoft.com/office/drawing/2014/main" id="{4D0A8ADD-AD74-4573-948C-B375B5E50D23}"/>
              </a:ext>
            </a:extLst>
          </p:cNvPr>
          <p:cNvSpPr>
            <a:spLocks noGrp="1"/>
          </p:cNvSpPr>
          <p:nvPr>
            <p:ph type="sldNum" sz="quarter" idx="12"/>
          </p:nvPr>
        </p:nvSpPr>
        <p:spPr/>
        <p:txBody>
          <a:bodyPr/>
          <a:lstStyle/>
          <a:p>
            <a:fld id="{6B97D948-30E8-43F7-AE10-F6E2D9F2BBB1}" type="slidenum">
              <a:rPr lang="en-US" smtClean="0"/>
              <a:t>379</a:t>
            </a:fld>
            <a:endParaRPr lang="en-US"/>
          </a:p>
        </p:txBody>
      </p:sp>
    </p:spTree>
    <p:extLst>
      <p:ext uri="{BB962C8B-B14F-4D97-AF65-F5344CB8AC3E}">
        <p14:creationId xmlns:p14="http://schemas.microsoft.com/office/powerpoint/2010/main" val="524402326"/>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50A1FB-A356-46FC-B1AE-AB92E3BA9E82}"/>
              </a:ext>
            </a:extLst>
          </p:cNvPr>
          <p:cNvSpPr>
            <a:spLocks noGrp="1"/>
          </p:cNvSpPr>
          <p:nvPr>
            <p:ph idx="1"/>
          </p:nvPr>
        </p:nvSpPr>
        <p:spPr>
          <a:xfrm>
            <a:off x="838200" y="509666"/>
            <a:ext cx="10515600" cy="5667297"/>
          </a:xfrm>
        </p:spPr>
        <p:txBody>
          <a:bodyPr/>
          <a:lstStyle/>
          <a:p>
            <a:r>
              <a:rPr lang="en-US" dirty="0">
                <a:solidFill>
                  <a:srgbClr val="FF0000"/>
                </a:solidFill>
              </a:rPr>
              <a:t>a = </a:t>
            </a:r>
            <a:r>
              <a:rPr lang="en-US" dirty="0" err="1">
                <a:solidFill>
                  <a:srgbClr val="FF0000"/>
                </a:solidFill>
              </a:rPr>
              <a:t>pd.DataFrame</a:t>
            </a:r>
            <a:r>
              <a:rPr lang="en-US" dirty="0">
                <a:solidFill>
                  <a:srgbClr val="FF0000"/>
                </a:solidFill>
              </a:rPr>
              <a:t>(</a:t>
            </a:r>
          </a:p>
          <a:p>
            <a:r>
              <a:rPr lang="en-US" dirty="0">
                <a:solidFill>
                  <a:srgbClr val="FF0000"/>
                </a:solidFill>
              </a:rPr>
              <a:t>     ...:     data={</a:t>
            </a:r>
          </a:p>
          <a:p>
            <a:r>
              <a:rPr lang="en-US" dirty="0">
                <a:solidFill>
                  <a:srgbClr val="FF0000"/>
                </a:solidFill>
              </a:rPr>
              <a:t>     ...:         'name': ['Mia', 'Lucas', 'Ang', 'Jia'],</a:t>
            </a:r>
          </a:p>
          <a:p>
            <a:r>
              <a:rPr lang="en-US" dirty="0">
                <a:solidFill>
                  <a:srgbClr val="FF0000"/>
                </a:solidFill>
              </a:rPr>
              <a:t>     ...:         'course': ['math', 'chem', 'econ', 'chem'],</a:t>
            </a:r>
          </a:p>
          <a:p>
            <a:r>
              <a:rPr lang="en-US" dirty="0">
                <a:solidFill>
                  <a:srgbClr val="FF0000"/>
                </a:solidFill>
              </a:rPr>
              <a:t>     ...:         }</a:t>
            </a:r>
          </a:p>
          <a:p>
            <a:r>
              <a:rPr lang="en-US" dirty="0">
                <a:solidFill>
                  <a:srgbClr val="FF0000"/>
                </a:solidFill>
              </a:rPr>
              <a:t>     ...: )</a:t>
            </a:r>
          </a:p>
          <a:p>
            <a:r>
              <a:rPr lang="en-US" dirty="0">
                <a:solidFill>
                  <a:srgbClr val="FF0000"/>
                </a:solidFill>
              </a:rPr>
              <a:t>     ...: a</a:t>
            </a:r>
          </a:p>
        </p:txBody>
      </p:sp>
      <p:sp>
        <p:nvSpPr>
          <p:cNvPr id="4" name="Slide Number Placeholder 3">
            <a:extLst>
              <a:ext uri="{FF2B5EF4-FFF2-40B4-BE49-F238E27FC236}">
                <a16:creationId xmlns:a16="http://schemas.microsoft.com/office/drawing/2014/main" id="{3D9AF349-762F-49B6-8D02-CEBC5D275097}"/>
              </a:ext>
            </a:extLst>
          </p:cNvPr>
          <p:cNvSpPr>
            <a:spLocks noGrp="1"/>
          </p:cNvSpPr>
          <p:nvPr>
            <p:ph type="sldNum" sz="quarter" idx="12"/>
          </p:nvPr>
        </p:nvSpPr>
        <p:spPr/>
        <p:txBody>
          <a:bodyPr/>
          <a:lstStyle/>
          <a:p>
            <a:fld id="{6B97D948-30E8-43F7-AE10-F6E2D9F2BBB1}" type="slidenum">
              <a:rPr lang="en-US" smtClean="0"/>
              <a:t>380</a:t>
            </a:fld>
            <a:endParaRPr lang="en-US"/>
          </a:p>
        </p:txBody>
      </p:sp>
    </p:spTree>
    <p:extLst>
      <p:ext uri="{BB962C8B-B14F-4D97-AF65-F5344CB8AC3E}">
        <p14:creationId xmlns:p14="http://schemas.microsoft.com/office/powerpoint/2010/main" val="2881975117"/>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BBA1E9-6A50-4049-9311-8F018D0DDD56}"/>
              </a:ext>
            </a:extLst>
          </p:cNvPr>
          <p:cNvSpPr>
            <a:spLocks noGrp="1"/>
          </p:cNvSpPr>
          <p:nvPr>
            <p:ph idx="1"/>
          </p:nvPr>
        </p:nvSpPr>
        <p:spPr>
          <a:xfrm>
            <a:off x="838200" y="539646"/>
            <a:ext cx="10515600" cy="5637317"/>
          </a:xfrm>
        </p:spPr>
        <p:txBody>
          <a:bodyPr/>
          <a:lstStyle/>
          <a:p>
            <a:r>
              <a:rPr lang="en-US" dirty="0"/>
              <a:t>Out[106]:</a:t>
            </a:r>
          </a:p>
          <a:p>
            <a:r>
              <a:rPr lang="en-US" dirty="0"/>
              <a:t>    name course</a:t>
            </a:r>
          </a:p>
          <a:p>
            <a:r>
              <a:rPr lang="en-US" dirty="0"/>
              <a:t>0    Mia   math</a:t>
            </a:r>
          </a:p>
          <a:p>
            <a:r>
              <a:rPr lang="en-US" dirty="0"/>
              <a:t>1  Lucas   chem</a:t>
            </a:r>
          </a:p>
          <a:p>
            <a:r>
              <a:rPr lang="en-US" dirty="0"/>
              <a:t>2    Ang   econ</a:t>
            </a:r>
          </a:p>
        </p:txBody>
      </p:sp>
      <p:sp>
        <p:nvSpPr>
          <p:cNvPr id="4" name="Slide Number Placeholder 3">
            <a:extLst>
              <a:ext uri="{FF2B5EF4-FFF2-40B4-BE49-F238E27FC236}">
                <a16:creationId xmlns:a16="http://schemas.microsoft.com/office/drawing/2014/main" id="{4C2449AE-8B2E-4EB8-A261-7E8948A77E6C}"/>
              </a:ext>
            </a:extLst>
          </p:cNvPr>
          <p:cNvSpPr>
            <a:spLocks noGrp="1"/>
          </p:cNvSpPr>
          <p:nvPr>
            <p:ph type="sldNum" sz="quarter" idx="12"/>
          </p:nvPr>
        </p:nvSpPr>
        <p:spPr/>
        <p:txBody>
          <a:bodyPr/>
          <a:lstStyle/>
          <a:p>
            <a:fld id="{6B97D948-30E8-43F7-AE10-F6E2D9F2BBB1}" type="slidenum">
              <a:rPr lang="en-US" smtClean="0"/>
              <a:t>381</a:t>
            </a:fld>
            <a:endParaRPr lang="en-US"/>
          </a:p>
        </p:txBody>
      </p:sp>
    </p:spTree>
    <p:extLst>
      <p:ext uri="{BB962C8B-B14F-4D97-AF65-F5344CB8AC3E}">
        <p14:creationId xmlns:p14="http://schemas.microsoft.com/office/powerpoint/2010/main" val="4179509484"/>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FCF571-E558-4B03-A8B8-0675BB1945E3}"/>
              </a:ext>
            </a:extLst>
          </p:cNvPr>
          <p:cNvSpPr>
            <a:spLocks noGrp="1"/>
          </p:cNvSpPr>
          <p:nvPr>
            <p:ph idx="1"/>
          </p:nvPr>
        </p:nvSpPr>
        <p:spPr>
          <a:xfrm>
            <a:off x="838200" y="419725"/>
            <a:ext cx="10515600" cy="5757238"/>
          </a:xfrm>
        </p:spPr>
        <p:txBody>
          <a:bodyPr>
            <a:normAutofit lnSpcReduction="10000"/>
          </a:bodyPr>
          <a:lstStyle/>
          <a:p>
            <a:r>
              <a:rPr lang="en-US" dirty="0">
                <a:solidFill>
                  <a:srgbClr val="FF0000"/>
                </a:solidFill>
              </a:rPr>
              <a:t>b = </a:t>
            </a:r>
            <a:r>
              <a:rPr lang="en-US" dirty="0" err="1">
                <a:solidFill>
                  <a:srgbClr val="FF0000"/>
                </a:solidFill>
              </a:rPr>
              <a:t>pd.DataFrame</a:t>
            </a:r>
            <a:r>
              <a:rPr lang="en-US" dirty="0">
                <a:solidFill>
                  <a:srgbClr val="FF0000"/>
                </a:solidFill>
              </a:rPr>
              <a:t>(</a:t>
            </a:r>
          </a:p>
          <a:p>
            <a:r>
              <a:rPr lang="en-US" dirty="0">
                <a:solidFill>
                  <a:srgbClr val="FF0000"/>
                </a:solidFill>
              </a:rPr>
              <a:t>     ...:     data={'name': ['Lucas', 'Ang', 'Jia', 'Mia'], 'grade': ['B-', 'B', 'A-', 'B+'</a:t>
            </a:r>
          </a:p>
          <a:p>
            <a:r>
              <a:rPr lang="en-US" dirty="0">
                <a:solidFill>
                  <a:srgbClr val="FF0000"/>
                </a:solidFill>
              </a:rPr>
              <a:t>     ...: ]}</a:t>
            </a:r>
          </a:p>
          <a:p>
            <a:r>
              <a:rPr lang="en-US" dirty="0">
                <a:solidFill>
                  <a:srgbClr val="FF0000"/>
                </a:solidFill>
              </a:rPr>
              <a:t>     ...: )</a:t>
            </a:r>
          </a:p>
          <a:p>
            <a:r>
              <a:rPr lang="en-US" dirty="0">
                <a:solidFill>
                  <a:srgbClr val="FF0000"/>
                </a:solidFill>
              </a:rPr>
              <a:t>     ...: b</a:t>
            </a:r>
          </a:p>
          <a:p>
            <a:r>
              <a:rPr lang="en-US" dirty="0"/>
              <a:t>Out[107]:</a:t>
            </a:r>
          </a:p>
          <a:p>
            <a:r>
              <a:rPr lang="en-US" dirty="0"/>
              <a:t>    name grade</a:t>
            </a:r>
          </a:p>
          <a:p>
            <a:r>
              <a:rPr lang="en-US" dirty="0"/>
              <a:t>0  Lucas    B-</a:t>
            </a:r>
          </a:p>
          <a:p>
            <a:r>
              <a:rPr lang="en-US" dirty="0"/>
              <a:t>1    Ang     B</a:t>
            </a:r>
          </a:p>
          <a:p>
            <a:r>
              <a:rPr lang="en-US" dirty="0"/>
              <a:t>2    Jia    A-</a:t>
            </a:r>
          </a:p>
          <a:p>
            <a:r>
              <a:rPr lang="en-US" dirty="0"/>
              <a:t>3    Mia    B+</a:t>
            </a:r>
          </a:p>
        </p:txBody>
      </p:sp>
      <p:sp>
        <p:nvSpPr>
          <p:cNvPr id="4" name="Slide Number Placeholder 3">
            <a:extLst>
              <a:ext uri="{FF2B5EF4-FFF2-40B4-BE49-F238E27FC236}">
                <a16:creationId xmlns:a16="http://schemas.microsoft.com/office/drawing/2014/main" id="{878DF4EE-5C39-4F07-8A1B-8D1AEBDAF58B}"/>
              </a:ext>
            </a:extLst>
          </p:cNvPr>
          <p:cNvSpPr>
            <a:spLocks noGrp="1"/>
          </p:cNvSpPr>
          <p:nvPr>
            <p:ph type="sldNum" sz="quarter" idx="12"/>
          </p:nvPr>
        </p:nvSpPr>
        <p:spPr/>
        <p:txBody>
          <a:bodyPr/>
          <a:lstStyle/>
          <a:p>
            <a:fld id="{6B97D948-30E8-43F7-AE10-F6E2D9F2BBB1}" type="slidenum">
              <a:rPr lang="en-US" smtClean="0"/>
              <a:t>382</a:t>
            </a:fld>
            <a:endParaRPr lang="en-US"/>
          </a:p>
        </p:txBody>
      </p:sp>
    </p:spTree>
    <p:extLst>
      <p:ext uri="{BB962C8B-B14F-4D97-AF65-F5344CB8AC3E}">
        <p14:creationId xmlns:p14="http://schemas.microsoft.com/office/powerpoint/2010/main" val="553339730"/>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BEF8AA-2DEB-4A4C-8C82-101EB793E249}"/>
              </a:ext>
            </a:extLst>
          </p:cNvPr>
          <p:cNvSpPr>
            <a:spLocks noGrp="1"/>
          </p:cNvSpPr>
          <p:nvPr>
            <p:ph idx="1"/>
          </p:nvPr>
        </p:nvSpPr>
        <p:spPr>
          <a:xfrm>
            <a:off x="838200" y="434715"/>
            <a:ext cx="10515600" cy="5742248"/>
          </a:xfrm>
        </p:spPr>
        <p:txBody>
          <a:bodyPr/>
          <a:lstStyle/>
          <a:p>
            <a:r>
              <a:rPr lang="en-US" dirty="0"/>
              <a:t> </a:t>
            </a:r>
            <a:r>
              <a:rPr lang="en-US" dirty="0">
                <a:solidFill>
                  <a:srgbClr val="FF0000"/>
                </a:solidFill>
              </a:rPr>
              <a:t>merged = </a:t>
            </a:r>
            <a:r>
              <a:rPr lang="en-US" dirty="0" err="1">
                <a:solidFill>
                  <a:srgbClr val="FF0000"/>
                </a:solidFill>
              </a:rPr>
              <a:t>pd.merge</a:t>
            </a:r>
            <a:r>
              <a:rPr lang="en-US" dirty="0">
                <a:solidFill>
                  <a:srgbClr val="FF0000"/>
                </a:solidFill>
              </a:rPr>
              <a:t>(a, b, how ='left', on = 'name')</a:t>
            </a:r>
          </a:p>
          <a:p>
            <a:r>
              <a:rPr lang="en-US" dirty="0">
                <a:solidFill>
                  <a:srgbClr val="FF0000"/>
                </a:solidFill>
              </a:rPr>
              <a:t> merged</a:t>
            </a:r>
          </a:p>
          <a:p>
            <a:r>
              <a:rPr lang="en-US" dirty="0"/>
              <a:t>Out[108]:</a:t>
            </a:r>
          </a:p>
          <a:p>
            <a:r>
              <a:rPr lang="en-US" dirty="0"/>
              <a:t>    name course grade</a:t>
            </a:r>
          </a:p>
          <a:p>
            <a:r>
              <a:rPr lang="en-US" dirty="0"/>
              <a:t>0    Mia   math    B+</a:t>
            </a:r>
          </a:p>
          <a:p>
            <a:r>
              <a:rPr lang="en-US" dirty="0"/>
              <a:t>1  Lucas   chem    B-</a:t>
            </a:r>
          </a:p>
          <a:p>
            <a:r>
              <a:rPr lang="en-US" dirty="0"/>
              <a:t>2    Ang   econ     B</a:t>
            </a:r>
          </a:p>
          <a:p>
            <a:r>
              <a:rPr lang="en-US" dirty="0"/>
              <a:t>3    Jia   chem    A-</a:t>
            </a:r>
          </a:p>
        </p:txBody>
      </p:sp>
      <p:sp>
        <p:nvSpPr>
          <p:cNvPr id="4" name="Slide Number Placeholder 3">
            <a:extLst>
              <a:ext uri="{FF2B5EF4-FFF2-40B4-BE49-F238E27FC236}">
                <a16:creationId xmlns:a16="http://schemas.microsoft.com/office/drawing/2014/main" id="{2A4945DD-A1FD-4366-837E-B392FC574D81}"/>
              </a:ext>
            </a:extLst>
          </p:cNvPr>
          <p:cNvSpPr>
            <a:spLocks noGrp="1"/>
          </p:cNvSpPr>
          <p:nvPr>
            <p:ph type="sldNum" sz="quarter" idx="12"/>
          </p:nvPr>
        </p:nvSpPr>
        <p:spPr/>
        <p:txBody>
          <a:bodyPr/>
          <a:lstStyle/>
          <a:p>
            <a:fld id="{6B97D948-30E8-43F7-AE10-F6E2D9F2BBB1}" type="slidenum">
              <a:rPr lang="en-US" smtClean="0"/>
              <a:t>383</a:t>
            </a:fld>
            <a:endParaRPr lang="en-US"/>
          </a:p>
        </p:txBody>
      </p:sp>
    </p:spTree>
    <p:extLst>
      <p:ext uri="{BB962C8B-B14F-4D97-AF65-F5344CB8AC3E}">
        <p14:creationId xmlns:p14="http://schemas.microsoft.com/office/powerpoint/2010/main" val="3658394064"/>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0D8DE-7391-4A35-935A-8CB5F36437E8}"/>
              </a:ext>
            </a:extLst>
          </p:cNvPr>
          <p:cNvSpPr>
            <a:spLocks noGrp="1"/>
          </p:cNvSpPr>
          <p:nvPr>
            <p:ph type="title"/>
          </p:nvPr>
        </p:nvSpPr>
        <p:spPr>
          <a:xfrm>
            <a:off x="838200" y="365126"/>
            <a:ext cx="10515600" cy="804108"/>
          </a:xfrm>
        </p:spPr>
        <p:txBody>
          <a:bodyPr/>
          <a:lstStyle/>
          <a:p>
            <a:r>
              <a:rPr lang="en-US" dirty="0"/>
              <a:t>Next the one-to-many</a:t>
            </a:r>
          </a:p>
        </p:txBody>
      </p:sp>
      <p:sp>
        <p:nvSpPr>
          <p:cNvPr id="3" name="Content Placeholder 2">
            <a:extLst>
              <a:ext uri="{FF2B5EF4-FFF2-40B4-BE49-F238E27FC236}">
                <a16:creationId xmlns:a16="http://schemas.microsoft.com/office/drawing/2014/main" id="{D7682DAE-0AE2-4392-8ACC-7F2DE6BEBDB1}"/>
              </a:ext>
            </a:extLst>
          </p:cNvPr>
          <p:cNvSpPr>
            <a:spLocks noGrp="1"/>
          </p:cNvSpPr>
          <p:nvPr>
            <p:ph idx="1"/>
          </p:nvPr>
        </p:nvSpPr>
        <p:spPr>
          <a:xfrm>
            <a:off x="838200" y="1169234"/>
            <a:ext cx="10515600" cy="5007729"/>
          </a:xfrm>
        </p:spPr>
        <p:txBody>
          <a:bodyPr/>
          <a:lstStyle/>
          <a:p>
            <a:r>
              <a:rPr lang="en-US" dirty="0"/>
              <a:t> </a:t>
            </a:r>
            <a:r>
              <a:rPr lang="en-US" dirty="0">
                <a:solidFill>
                  <a:srgbClr val="FF0000"/>
                </a:solidFill>
              </a:rPr>
              <a:t>c = </a:t>
            </a:r>
            <a:r>
              <a:rPr lang="en-US" dirty="0" err="1">
                <a:solidFill>
                  <a:srgbClr val="FF0000"/>
                </a:solidFill>
              </a:rPr>
              <a:t>pd.DataFrame</a:t>
            </a:r>
            <a:r>
              <a:rPr lang="en-US" dirty="0">
                <a:solidFill>
                  <a:srgbClr val="FF0000"/>
                </a:solidFill>
              </a:rPr>
              <a:t>(data={'course': ['chem', 'econ', 'math'], 'credits': [4, 3, 1.5]</a:t>
            </a:r>
          </a:p>
          <a:p>
            <a:r>
              <a:rPr lang="en-US" dirty="0">
                <a:solidFill>
                  <a:srgbClr val="FF0000"/>
                </a:solidFill>
              </a:rPr>
              <a:t> })</a:t>
            </a:r>
          </a:p>
          <a:p>
            <a:r>
              <a:rPr lang="en-US" dirty="0">
                <a:solidFill>
                  <a:srgbClr val="FF0000"/>
                </a:solidFill>
              </a:rPr>
              <a:t>c</a:t>
            </a:r>
          </a:p>
          <a:p>
            <a:r>
              <a:rPr lang="en-US" dirty="0"/>
              <a:t>Out[109]:</a:t>
            </a:r>
          </a:p>
          <a:p>
            <a:r>
              <a:rPr lang="en-US" dirty="0"/>
              <a:t>  course  credits</a:t>
            </a:r>
          </a:p>
          <a:p>
            <a:r>
              <a:rPr lang="en-US" dirty="0"/>
              <a:t>0   chem      4.0</a:t>
            </a:r>
          </a:p>
          <a:p>
            <a:r>
              <a:rPr lang="en-US" dirty="0"/>
              <a:t>1   econ      3.0</a:t>
            </a:r>
          </a:p>
          <a:p>
            <a:r>
              <a:rPr lang="en-US" dirty="0"/>
              <a:t>2   math      1.5</a:t>
            </a:r>
          </a:p>
        </p:txBody>
      </p:sp>
      <p:sp>
        <p:nvSpPr>
          <p:cNvPr id="4" name="Slide Number Placeholder 3">
            <a:extLst>
              <a:ext uri="{FF2B5EF4-FFF2-40B4-BE49-F238E27FC236}">
                <a16:creationId xmlns:a16="http://schemas.microsoft.com/office/drawing/2014/main" id="{7AD91A29-A2DF-43CA-9B9C-5B340C82585E}"/>
              </a:ext>
            </a:extLst>
          </p:cNvPr>
          <p:cNvSpPr>
            <a:spLocks noGrp="1"/>
          </p:cNvSpPr>
          <p:nvPr>
            <p:ph type="sldNum" sz="quarter" idx="12"/>
          </p:nvPr>
        </p:nvSpPr>
        <p:spPr/>
        <p:txBody>
          <a:bodyPr/>
          <a:lstStyle/>
          <a:p>
            <a:fld id="{6B97D948-30E8-43F7-AE10-F6E2D9F2BBB1}" type="slidenum">
              <a:rPr lang="en-US" smtClean="0"/>
              <a:t>384</a:t>
            </a:fld>
            <a:endParaRPr lang="en-US"/>
          </a:p>
        </p:txBody>
      </p:sp>
    </p:spTree>
    <p:extLst>
      <p:ext uri="{BB962C8B-B14F-4D97-AF65-F5344CB8AC3E}">
        <p14:creationId xmlns:p14="http://schemas.microsoft.com/office/powerpoint/2010/main" val="1383564907"/>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0C9333-7674-4F69-A1A5-FA4FA37E5062}"/>
              </a:ext>
            </a:extLst>
          </p:cNvPr>
          <p:cNvSpPr>
            <a:spLocks noGrp="1"/>
          </p:cNvSpPr>
          <p:nvPr>
            <p:ph idx="1"/>
          </p:nvPr>
        </p:nvSpPr>
        <p:spPr>
          <a:xfrm>
            <a:off x="838200" y="494675"/>
            <a:ext cx="10515600" cy="5682288"/>
          </a:xfrm>
        </p:spPr>
        <p:txBody>
          <a:bodyPr/>
          <a:lstStyle/>
          <a:p>
            <a:r>
              <a:rPr lang="en-US" dirty="0"/>
              <a:t> </a:t>
            </a:r>
            <a:r>
              <a:rPr lang="en-US" dirty="0">
                <a:solidFill>
                  <a:srgbClr val="FF0000"/>
                </a:solidFill>
              </a:rPr>
              <a:t>merged = </a:t>
            </a:r>
            <a:r>
              <a:rPr lang="en-US" dirty="0" err="1">
                <a:solidFill>
                  <a:srgbClr val="FF0000"/>
                </a:solidFill>
              </a:rPr>
              <a:t>pd.merge</a:t>
            </a:r>
            <a:r>
              <a:rPr lang="en-US" dirty="0">
                <a:solidFill>
                  <a:srgbClr val="FF0000"/>
                </a:solidFill>
              </a:rPr>
              <a:t>(c, a, how = 'left', on = 'course')</a:t>
            </a:r>
          </a:p>
          <a:p>
            <a:r>
              <a:rPr lang="en-US" dirty="0">
                <a:solidFill>
                  <a:srgbClr val="FF0000"/>
                </a:solidFill>
              </a:rPr>
              <a:t> merged</a:t>
            </a:r>
          </a:p>
          <a:p>
            <a:r>
              <a:rPr lang="en-US" dirty="0"/>
              <a:t>Out[112]:</a:t>
            </a:r>
          </a:p>
          <a:p>
            <a:r>
              <a:rPr lang="en-US" dirty="0"/>
              <a:t>  course  credits   name</a:t>
            </a:r>
          </a:p>
          <a:p>
            <a:r>
              <a:rPr lang="en-US" dirty="0"/>
              <a:t>0   chem      4.0  Lucas</a:t>
            </a:r>
          </a:p>
          <a:p>
            <a:r>
              <a:rPr lang="en-US" dirty="0"/>
              <a:t>1   chem      4.0    Jia</a:t>
            </a:r>
          </a:p>
          <a:p>
            <a:r>
              <a:rPr lang="en-US" dirty="0"/>
              <a:t>2   econ      3.0    Ang</a:t>
            </a:r>
          </a:p>
          <a:p>
            <a:r>
              <a:rPr lang="en-US" dirty="0"/>
              <a:t>3   math      1.5    Mia</a:t>
            </a:r>
          </a:p>
          <a:p>
            <a:endParaRPr lang="en-US" dirty="0"/>
          </a:p>
        </p:txBody>
      </p:sp>
      <p:sp>
        <p:nvSpPr>
          <p:cNvPr id="4" name="Slide Number Placeholder 3">
            <a:extLst>
              <a:ext uri="{FF2B5EF4-FFF2-40B4-BE49-F238E27FC236}">
                <a16:creationId xmlns:a16="http://schemas.microsoft.com/office/drawing/2014/main" id="{9E7D649A-CF99-48B9-835D-FEEBD479791B}"/>
              </a:ext>
            </a:extLst>
          </p:cNvPr>
          <p:cNvSpPr>
            <a:spLocks noGrp="1"/>
          </p:cNvSpPr>
          <p:nvPr>
            <p:ph type="sldNum" sz="quarter" idx="12"/>
          </p:nvPr>
        </p:nvSpPr>
        <p:spPr/>
        <p:txBody>
          <a:bodyPr/>
          <a:lstStyle/>
          <a:p>
            <a:fld id="{6B97D948-30E8-43F7-AE10-F6E2D9F2BBB1}" type="slidenum">
              <a:rPr lang="en-US" smtClean="0"/>
              <a:t>385</a:t>
            </a:fld>
            <a:endParaRPr lang="en-US"/>
          </a:p>
        </p:txBody>
      </p:sp>
    </p:spTree>
    <p:extLst>
      <p:ext uri="{BB962C8B-B14F-4D97-AF65-F5344CB8AC3E}">
        <p14:creationId xmlns:p14="http://schemas.microsoft.com/office/powerpoint/2010/main" val="308065147"/>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1F5C1-226A-4652-A87C-02A7F35D3D79}"/>
              </a:ext>
            </a:extLst>
          </p:cNvPr>
          <p:cNvSpPr>
            <a:spLocks noGrp="1"/>
          </p:cNvSpPr>
          <p:nvPr>
            <p:ph type="title"/>
          </p:nvPr>
        </p:nvSpPr>
        <p:spPr>
          <a:xfrm>
            <a:off x="838200" y="365125"/>
            <a:ext cx="10515600" cy="714167"/>
          </a:xfrm>
        </p:spPr>
        <p:txBody>
          <a:bodyPr/>
          <a:lstStyle/>
          <a:p>
            <a:r>
              <a:rPr lang="en-US" dirty="0"/>
              <a:t>And finally, the many-to-many</a:t>
            </a:r>
          </a:p>
        </p:txBody>
      </p:sp>
      <p:sp>
        <p:nvSpPr>
          <p:cNvPr id="3" name="Content Placeholder 2">
            <a:extLst>
              <a:ext uri="{FF2B5EF4-FFF2-40B4-BE49-F238E27FC236}">
                <a16:creationId xmlns:a16="http://schemas.microsoft.com/office/drawing/2014/main" id="{644AE3CB-EB03-4315-9AB4-B491D1FB8031}"/>
              </a:ext>
            </a:extLst>
          </p:cNvPr>
          <p:cNvSpPr>
            <a:spLocks noGrp="1"/>
          </p:cNvSpPr>
          <p:nvPr>
            <p:ph idx="1"/>
          </p:nvPr>
        </p:nvSpPr>
        <p:spPr>
          <a:xfrm>
            <a:off x="838200" y="1079292"/>
            <a:ext cx="10515600" cy="5097671"/>
          </a:xfrm>
        </p:spPr>
        <p:txBody>
          <a:bodyPr>
            <a:normAutofit fontScale="85000" lnSpcReduction="20000"/>
          </a:bodyPr>
          <a:lstStyle/>
          <a:p>
            <a:r>
              <a:rPr lang="en-US" dirty="0">
                <a:solidFill>
                  <a:srgbClr val="FF0000"/>
                </a:solidFill>
              </a:rPr>
              <a:t> d = </a:t>
            </a:r>
            <a:r>
              <a:rPr lang="en-US" dirty="0" err="1">
                <a:solidFill>
                  <a:srgbClr val="FF0000"/>
                </a:solidFill>
              </a:rPr>
              <a:t>pd.DataFrame</a:t>
            </a:r>
            <a:r>
              <a:rPr lang="en-US" dirty="0">
                <a:solidFill>
                  <a:srgbClr val="FF0000"/>
                </a:solidFill>
              </a:rPr>
              <a:t>(</a:t>
            </a:r>
          </a:p>
          <a:p>
            <a:r>
              <a:rPr lang="en-US" dirty="0">
                <a:solidFill>
                  <a:srgbClr val="FF0000"/>
                </a:solidFill>
              </a:rPr>
              <a:t>     ...:     data={</a:t>
            </a:r>
          </a:p>
          <a:p>
            <a:r>
              <a:rPr lang="en-US" dirty="0">
                <a:solidFill>
                  <a:srgbClr val="FF0000"/>
                </a:solidFill>
              </a:rPr>
              <a:t>     ...:         'course': ['chem', 'chem', 'econ', 'math'],</a:t>
            </a:r>
          </a:p>
          <a:p>
            <a:r>
              <a:rPr lang="en-US" dirty="0">
                <a:solidFill>
                  <a:srgbClr val="FF0000"/>
                </a:solidFill>
              </a:rPr>
              <a:t>     ...:         'topic': ['atoms', 'lab', 'trade', 'calc.'],</a:t>
            </a:r>
          </a:p>
          <a:p>
            <a:r>
              <a:rPr lang="en-US" dirty="0">
                <a:solidFill>
                  <a:srgbClr val="FF0000"/>
                </a:solidFill>
              </a:rPr>
              <a:t>     ...:     }</a:t>
            </a:r>
          </a:p>
          <a:p>
            <a:r>
              <a:rPr lang="en-US" dirty="0">
                <a:solidFill>
                  <a:srgbClr val="FF0000"/>
                </a:solidFill>
              </a:rPr>
              <a:t>     ...: )</a:t>
            </a:r>
          </a:p>
          <a:p>
            <a:r>
              <a:rPr lang="en-US" dirty="0">
                <a:solidFill>
                  <a:srgbClr val="FF0000"/>
                </a:solidFill>
              </a:rPr>
              <a:t>     ...: d</a:t>
            </a:r>
          </a:p>
          <a:p>
            <a:r>
              <a:rPr lang="en-US" dirty="0"/>
              <a:t>Out[113]:</a:t>
            </a:r>
          </a:p>
          <a:p>
            <a:r>
              <a:rPr lang="en-US" dirty="0"/>
              <a:t>  course  topic</a:t>
            </a:r>
          </a:p>
          <a:p>
            <a:r>
              <a:rPr lang="en-US" dirty="0"/>
              <a:t>0   chem  atoms</a:t>
            </a:r>
          </a:p>
          <a:p>
            <a:r>
              <a:rPr lang="en-US" dirty="0"/>
              <a:t>1   chem    lab</a:t>
            </a:r>
          </a:p>
          <a:p>
            <a:r>
              <a:rPr lang="en-US" dirty="0"/>
              <a:t>2   econ  trade</a:t>
            </a:r>
          </a:p>
          <a:p>
            <a:r>
              <a:rPr lang="en-US" dirty="0"/>
              <a:t>3   math  calc.</a:t>
            </a:r>
          </a:p>
        </p:txBody>
      </p:sp>
      <p:sp>
        <p:nvSpPr>
          <p:cNvPr id="4" name="Slide Number Placeholder 3">
            <a:extLst>
              <a:ext uri="{FF2B5EF4-FFF2-40B4-BE49-F238E27FC236}">
                <a16:creationId xmlns:a16="http://schemas.microsoft.com/office/drawing/2014/main" id="{A2252F9D-4E0F-4808-BE8A-9E00D505EE16}"/>
              </a:ext>
            </a:extLst>
          </p:cNvPr>
          <p:cNvSpPr>
            <a:spLocks noGrp="1"/>
          </p:cNvSpPr>
          <p:nvPr>
            <p:ph type="sldNum" sz="quarter" idx="12"/>
          </p:nvPr>
        </p:nvSpPr>
        <p:spPr/>
        <p:txBody>
          <a:bodyPr/>
          <a:lstStyle/>
          <a:p>
            <a:fld id="{6B97D948-30E8-43F7-AE10-F6E2D9F2BBB1}" type="slidenum">
              <a:rPr lang="en-US" smtClean="0"/>
              <a:t>386</a:t>
            </a:fld>
            <a:endParaRPr lang="en-US"/>
          </a:p>
        </p:txBody>
      </p:sp>
    </p:spTree>
    <p:extLst>
      <p:ext uri="{BB962C8B-B14F-4D97-AF65-F5344CB8AC3E}">
        <p14:creationId xmlns:p14="http://schemas.microsoft.com/office/powerpoint/2010/main" val="3485874875"/>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D8E182-28D9-476E-B997-EA9C54F1A615}"/>
              </a:ext>
            </a:extLst>
          </p:cNvPr>
          <p:cNvSpPr>
            <a:spLocks noGrp="1"/>
          </p:cNvSpPr>
          <p:nvPr>
            <p:ph idx="1"/>
          </p:nvPr>
        </p:nvSpPr>
        <p:spPr>
          <a:xfrm>
            <a:off x="838200" y="479685"/>
            <a:ext cx="10515600" cy="5697278"/>
          </a:xfrm>
        </p:spPr>
        <p:txBody>
          <a:bodyPr>
            <a:normAutofit/>
          </a:bodyPr>
          <a:lstStyle/>
          <a:p>
            <a:r>
              <a:rPr lang="en-US" dirty="0"/>
              <a:t> </a:t>
            </a:r>
            <a:r>
              <a:rPr lang="en-US" dirty="0">
                <a:solidFill>
                  <a:srgbClr val="FF0000"/>
                </a:solidFill>
              </a:rPr>
              <a:t>merged = </a:t>
            </a:r>
            <a:r>
              <a:rPr lang="en-US" dirty="0" err="1">
                <a:solidFill>
                  <a:srgbClr val="FF0000"/>
                </a:solidFill>
              </a:rPr>
              <a:t>pd.merge</a:t>
            </a:r>
            <a:r>
              <a:rPr lang="en-US" dirty="0">
                <a:solidFill>
                  <a:srgbClr val="FF0000"/>
                </a:solidFill>
              </a:rPr>
              <a:t>(a, d, how = 'left', on = 'course')</a:t>
            </a:r>
          </a:p>
          <a:p>
            <a:r>
              <a:rPr lang="en-US" dirty="0">
                <a:solidFill>
                  <a:srgbClr val="FF0000"/>
                </a:solidFill>
              </a:rPr>
              <a:t>merged</a:t>
            </a:r>
          </a:p>
          <a:p>
            <a:r>
              <a:rPr lang="en-US" dirty="0"/>
              <a:t>Out[114]:</a:t>
            </a:r>
          </a:p>
          <a:p>
            <a:r>
              <a:rPr lang="en-US" dirty="0"/>
              <a:t>    name course  topic</a:t>
            </a:r>
          </a:p>
          <a:p>
            <a:r>
              <a:rPr lang="en-US" dirty="0"/>
              <a:t>0    Mia   math  calc.</a:t>
            </a:r>
          </a:p>
          <a:p>
            <a:r>
              <a:rPr lang="en-US" dirty="0"/>
              <a:t>1  Lucas   chem  atoms</a:t>
            </a:r>
          </a:p>
          <a:p>
            <a:r>
              <a:rPr lang="en-US" dirty="0"/>
              <a:t>2  Lucas   chem    lab</a:t>
            </a:r>
          </a:p>
          <a:p>
            <a:r>
              <a:rPr lang="en-US" dirty="0"/>
              <a:t>3    Ang   econ  trade</a:t>
            </a:r>
          </a:p>
          <a:p>
            <a:r>
              <a:rPr lang="en-US" dirty="0"/>
              <a:t>4    Jia   chem  atoms</a:t>
            </a:r>
          </a:p>
          <a:p>
            <a:r>
              <a:rPr lang="en-US" dirty="0"/>
              <a:t>5    Jia   chem    lab</a:t>
            </a:r>
          </a:p>
        </p:txBody>
      </p:sp>
      <p:sp>
        <p:nvSpPr>
          <p:cNvPr id="4" name="Slide Number Placeholder 3">
            <a:extLst>
              <a:ext uri="{FF2B5EF4-FFF2-40B4-BE49-F238E27FC236}">
                <a16:creationId xmlns:a16="http://schemas.microsoft.com/office/drawing/2014/main" id="{6CF760EF-2F48-491C-A7A5-DCB7168BEE21}"/>
              </a:ext>
            </a:extLst>
          </p:cNvPr>
          <p:cNvSpPr>
            <a:spLocks noGrp="1"/>
          </p:cNvSpPr>
          <p:nvPr>
            <p:ph type="sldNum" sz="quarter" idx="12"/>
          </p:nvPr>
        </p:nvSpPr>
        <p:spPr/>
        <p:txBody>
          <a:bodyPr/>
          <a:lstStyle/>
          <a:p>
            <a:fld id="{6B97D948-30E8-43F7-AE10-F6E2D9F2BBB1}" type="slidenum">
              <a:rPr lang="en-US" smtClean="0"/>
              <a:t>387</a:t>
            </a:fld>
            <a:endParaRPr lang="en-US"/>
          </a:p>
        </p:txBody>
      </p:sp>
    </p:spTree>
    <p:extLst>
      <p:ext uri="{BB962C8B-B14F-4D97-AF65-F5344CB8AC3E}">
        <p14:creationId xmlns:p14="http://schemas.microsoft.com/office/powerpoint/2010/main" val="3641447456"/>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56668-A572-44D1-9D00-7370E2940CD3}"/>
              </a:ext>
            </a:extLst>
          </p:cNvPr>
          <p:cNvSpPr>
            <a:spLocks noGrp="1"/>
          </p:cNvSpPr>
          <p:nvPr>
            <p:ph type="title"/>
          </p:nvPr>
        </p:nvSpPr>
        <p:spPr>
          <a:xfrm>
            <a:off x="838200" y="365126"/>
            <a:ext cx="10515600" cy="639216"/>
          </a:xfrm>
        </p:spPr>
        <p:txBody>
          <a:bodyPr>
            <a:normAutofit fontScale="90000"/>
          </a:bodyPr>
          <a:lstStyle/>
          <a:p>
            <a:r>
              <a:rPr lang="en-US" b="1" dirty="0"/>
              <a:t>Combining datasets: merging</a:t>
            </a:r>
            <a:endParaRPr lang="en-US" dirty="0"/>
          </a:p>
        </p:txBody>
      </p:sp>
      <p:sp>
        <p:nvSpPr>
          <p:cNvPr id="3" name="Content Placeholder 2">
            <a:extLst>
              <a:ext uri="{FF2B5EF4-FFF2-40B4-BE49-F238E27FC236}">
                <a16:creationId xmlns:a16="http://schemas.microsoft.com/office/drawing/2014/main" id="{E33981C8-172D-40DD-8746-7EB417B06115}"/>
              </a:ext>
            </a:extLst>
          </p:cNvPr>
          <p:cNvSpPr>
            <a:spLocks noGrp="1"/>
          </p:cNvSpPr>
          <p:nvPr>
            <p:ph idx="1"/>
          </p:nvPr>
        </p:nvSpPr>
        <p:spPr>
          <a:xfrm>
            <a:off x="838200" y="1004342"/>
            <a:ext cx="10515600" cy="5172621"/>
          </a:xfrm>
        </p:spPr>
        <p:txBody>
          <a:bodyPr/>
          <a:lstStyle/>
          <a:p>
            <a:r>
              <a:rPr lang="en-US" dirty="0">
                <a:solidFill>
                  <a:srgbClr val="FF0000"/>
                </a:solidFill>
              </a:rPr>
              <a:t>Types of merging</a:t>
            </a:r>
          </a:p>
          <a:p>
            <a:pPr algn="just"/>
            <a:r>
              <a:rPr lang="en-US" dirty="0"/>
              <a:t>The merge method for pandas </a:t>
            </a:r>
            <a:r>
              <a:rPr lang="en-US" dirty="0" err="1"/>
              <a:t>DataFrames</a:t>
            </a:r>
            <a:r>
              <a:rPr lang="en-US" dirty="0"/>
              <a:t> has numerous parameters, but to accomplish the majority of common merges, there are four types of merges to consider: </a:t>
            </a:r>
          </a:p>
          <a:p>
            <a:pPr algn="just"/>
            <a:r>
              <a:rPr lang="en-US" dirty="0"/>
              <a:t>left, right, inner, and outer.</a:t>
            </a:r>
          </a:p>
          <a:p>
            <a:pPr algn="just"/>
            <a:r>
              <a:rPr lang="en-US" dirty="0"/>
              <a:t>This is shown in the figure below, and through which we specify using the “how” parameter.</a:t>
            </a:r>
          </a:p>
        </p:txBody>
      </p:sp>
      <p:sp>
        <p:nvSpPr>
          <p:cNvPr id="4" name="Slide Number Placeholder 3">
            <a:extLst>
              <a:ext uri="{FF2B5EF4-FFF2-40B4-BE49-F238E27FC236}">
                <a16:creationId xmlns:a16="http://schemas.microsoft.com/office/drawing/2014/main" id="{FA45C94A-1867-40EA-84C2-62521963CA85}"/>
              </a:ext>
            </a:extLst>
          </p:cNvPr>
          <p:cNvSpPr>
            <a:spLocks noGrp="1"/>
          </p:cNvSpPr>
          <p:nvPr>
            <p:ph type="sldNum" sz="quarter" idx="12"/>
          </p:nvPr>
        </p:nvSpPr>
        <p:spPr/>
        <p:txBody>
          <a:bodyPr/>
          <a:lstStyle/>
          <a:p>
            <a:fld id="{6B97D948-30E8-43F7-AE10-F6E2D9F2BBB1}" type="slidenum">
              <a:rPr lang="en-US" smtClean="0"/>
              <a:t>388</a:t>
            </a:fld>
            <a:endParaRPr lang="en-US"/>
          </a:p>
        </p:txBody>
      </p:sp>
    </p:spTree>
    <p:extLst>
      <p:ext uri="{BB962C8B-B14F-4D97-AF65-F5344CB8AC3E}">
        <p14:creationId xmlns:p14="http://schemas.microsoft.com/office/powerpoint/2010/main" val="3453992508"/>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482C51-B2BD-492C-8B62-7001F59B64B4}"/>
              </a:ext>
            </a:extLst>
          </p:cNvPr>
          <p:cNvPicPr>
            <a:picLocks noGrp="1" noChangeAspect="1"/>
          </p:cNvPicPr>
          <p:nvPr>
            <p:ph idx="1"/>
          </p:nvPr>
        </p:nvPicPr>
        <p:blipFill>
          <a:blip r:embed="rId2"/>
          <a:stretch>
            <a:fillRect/>
          </a:stretch>
        </p:blipFill>
        <p:spPr>
          <a:xfrm>
            <a:off x="2597804" y="609320"/>
            <a:ext cx="6996392" cy="5639360"/>
          </a:xfrm>
          <a:prstGeom prst="rect">
            <a:avLst/>
          </a:prstGeom>
        </p:spPr>
      </p:pic>
      <p:sp>
        <p:nvSpPr>
          <p:cNvPr id="4" name="Slide Number Placeholder 3">
            <a:extLst>
              <a:ext uri="{FF2B5EF4-FFF2-40B4-BE49-F238E27FC236}">
                <a16:creationId xmlns:a16="http://schemas.microsoft.com/office/drawing/2014/main" id="{7E9F533F-7CE7-4160-B1B9-3E785B778293}"/>
              </a:ext>
            </a:extLst>
          </p:cNvPr>
          <p:cNvSpPr>
            <a:spLocks noGrp="1"/>
          </p:cNvSpPr>
          <p:nvPr>
            <p:ph type="sldNum" sz="quarter" idx="12"/>
          </p:nvPr>
        </p:nvSpPr>
        <p:spPr/>
        <p:txBody>
          <a:bodyPr/>
          <a:lstStyle/>
          <a:p>
            <a:fld id="{6B97D948-30E8-43F7-AE10-F6E2D9F2BBB1}" type="slidenum">
              <a:rPr lang="en-US" smtClean="0"/>
              <a:t>389</a:t>
            </a:fld>
            <a:endParaRPr lang="en-US"/>
          </a:p>
        </p:txBody>
      </p:sp>
    </p:spTree>
    <p:extLst>
      <p:ext uri="{BB962C8B-B14F-4D97-AF65-F5344CB8AC3E}">
        <p14:creationId xmlns:p14="http://schemas.microsoft.com/office/powerpoint/2010/main" val="61863032"/>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FD521-477C-4B6D-8DB5-08BB9A5A71A9}"/>
              </a:ext>
            </a:extLst>
          </p:cNvPr>
          <p:cNvSpPr>
            <a:spLocks noGrp="1"/>
          </p:cNvSpPr>
          <p:nvPr>
            <p:ph type="title"/>
          </p:nvPr>
        </p:nvSpPr>
        <p:spPr>
          <a:xfrm>
            <a:off x="838200" y="365125"/>
            <a:ext cx="10515600" cy="744147"/>
          </a:xfrm>
        </p:spPr>
        <p:txBody>
          <a:bodyPr/>
          <a:lstStyle/>
          <a:p>
            <a:r>
              <a:rPr lang="en-US" dirty="0"/>
              <a:t>Order of parameters. .. </a:t>
            </a:r>
          </a:p>
        </p:txBody>
      </p:sp>
      <p:sp>
        <p:nvSpPr>
          <p:cNvPr id="3" name="Content Placeholder 2">
            <a:extLst>
              <a:ext uri="{FF2B5EF4-FFF2-40B4-BE49-F238E27FC236}">
                <a16:creationId xmlns:a16="http://schemas.microsoft.com/office/drawing/2014/main" id="{B45DE6F5-E548-4EDE-A4C6-E63C2AC4ECE3}"/>
              </a:ext>
            </a:extLst>
          </p:cNvPr>
          <p:cNvSpPr>
            <a:spLocks noGrp="1"/>
          </p:cNvSpPr>
          <p:nvPr>
            <p:ph idx="1"/>
          </p:nvPr>
        </p:nvSpPr>
        <p:spPr>
          <a:xfrm>
            <a:off x="838200" y="1109272"/>
            <a:ext cx="10515600" cy="5067691"/>
          </a:xfrm>
        </p:spPr>
        <p:txBody>
          <a:bodyPr/>
          <a:lstStyle/>
          <a:p>
            <a:pPr algn="just"/>
            <a:r>
              <a:rPr lang="en-US" dirty="0"/>
              <a:t>The order of entering the parameters is very important. </a:t>
            </a:r>
          </a:p>
          <a:p>
            <a:pPr algn="just"/>
            <a:r>
              <a:rPr lang="en-US" dirty="0"/>
              <a:t>Assume that we’re using the command </a:t>
            </a:r>
            <a:r>
              <a:rPr lang="en-US" dirty="0" err="1"/>
              <a:t>pd.merge</a:t>
            </a:r>
            <a:r>
              <a:rPr lang="en-US" dirty="0"/>
              <a:t>(a, b, ...) with </a:t>
            </a:r>
            <a:r>
              <a:rPr lang="en-US" dirty="0">
                <a:solidFill>
                  <a:srgbClr val="FF0000"/>
                </a:solidFill>
              </a:rPr>
              <a:t>a</a:t>
            </a:r>
            <a:r>
              <a:rPr lang="en-US" dirty="0"/>
              <a:t> coming before </a:t>
            </a:r>
            <a:r>
              <a:rPr lang="en-US" dirty="0">
                <a:solidFill>
                  <a:srgbClr val="FF0000"/>
                </a:solidFill>
              </a:rPr>
              <a:t>b</a:t>
            </a:r>
            <a:r>
              <a:rPr lang="en-US" dirty="0"/>
              <a:t> and that we’re merging on the data in column “C1”. . </a:t>
            </a:r>
          </a:p>
          <a:p>
            <a:pPr algn="just"/>
            <a:r>
              <a:rPr lang="en-US" dirty="0"/>
              <a:t>A </a:t>
            </a:r>
            <a:r>
              <a:rPr lang="en-US" dirty="0">
                <a:solidFill>
                  <a:srgbClr val="FF0000"/>
                </a:solidFill>
              </a:rPr>
              <a:t>left merge </a:t>
            </a:r>
            <a:r>
              <a:rPr lang="en-US" dirty="0"/>
              <a:t>starts with the contents of </a:t>
            </a:r>
            <a:r>
              <a:rPr lang="en-US" dirty="0">
                <a:solidFill>
                  <a:srgbClr val="FF0000"/>
                </a:solidFill>
              </a:rPr>
              <a:t>a</a:t>
            </a:r>
            <a:r>
              <a:rPr lang="en-US" dirty="0"/>
              <a:t> (the </a:t>
            </a:r>
            <a:r>
              <a:rPr lang="en-US" dirty="0" err="1"/>
              <a:t>DataFrame</a:t>
            </a:r>
            <a:r>
              <a:rPr lang="en-US" dirty="0"/>
              <a:t> on the “</a:t>
            </a:r>
            <a:r>
              <a:rPr lang="en-US" dirty="0">
                <a:solidFill>
                  <a:srgbClr val="FF0000"/>
                </a:solidFill>
              </a:rPr>
              <a:t>left</a:t>
            </a:r>
            <a:r>
              <a:rPr lang="en-US" dirty="0"/>
              <a:t>”) and joins the rows of “C1” in </a:t>
            </a:r>
            <a:r>
              <a:rPr lang="en-US" dirty="0">
                <a:solidFill>
                  <a:srgbClr val="FF0000"/>
                </a:solidFill>
              </a:rPr>
              <a:t>b</a:t>
            </a:r>
            <a:r>
              <a:rPr lang="en-US" dirty="0"/>
              <a:t> that match something in </a:t>
            </a:r>
            <a:r>
              <a:rPr lang="en-US" dirty="0">
                <a:solidFill>
                  <a:srgbClr val="FF0000"/>
                </a:solidFill>
              </a:rPr>
              <a:t>a</a:t>
            </a:r>
            <a:r>
              <a:rPr lang="en-US" dirty="0"/>
              <a:t>. </a:t>
            </a:r>
          </a:p>
          <a:p>
            <a:pPr algn="just"/>
            <a:r>
              <a:rPr lang="en-US" dirty="0"/>
              <a:t>In the example, we can see that the entries A and B in C1 match, but there is no C in b, therefore, there is a </a:t>
            </a:r>
            <a:r>
              <a:rPr lang="en-US" dirty="0" err="1"/>
              <a:t>NaN</a:t>
            </a:r>
            <a:r>
              <a:rPr lang="en-US" dirty="0"/>
              <a:t> in its place.</a:t>
            </a:r>
          </a:p>
          <a:p>
            <a:pPr algn="just"/>
            <a:endParaRPr lang="en-US" dirty="0"/>
          </a:p>
          <a:p>
            <a:pPr algn="just"/>
            <a:endParaRPr lang="en-US" dirty="0"/>
          </a:p>
        </p:txBody>
      </p:sp>
      <p:sp>
        <p:nvSpPr>
          <p:cNvPr id="4" name="Slide Number Placeholder 3">
            <a:extLst>
              <a:ext uri="{FF2B5EF4-FFF2-40B4-BE49-F238E27FC236}">
                <a16:creationId xmlns:a16="http://schemas.microsoft.com/office/drawing/2014/main" id="{052A7679-EF06-4680-96A3-36FE23E638EC}"/>
              </a:ext>
            </a:extLst>
          </p:cNvPr>
          <p:cNvSpPr>
            <a:spLocks noGrp="1"/>
          </p:cNvSpPr>
          <p:nvPr>
            <p:ph type="sldNum" sz="quarter" idx="12"/>
          </p:nvPr>
        </p:nvSpPr>
        <p:spPr/>
        <p:txBody>
          <a:bodyPr/>
          <a:lstStyle/>
          <a:p>
            <a:fld id="{6B97D948-30E8-43F7-AE10-F6E2D9F2BBB1}" type="slidenum">
              <a:rPr lang="en-US" smtClean="0"/>
              <a:t>390</a:t>
            </a:fld>
            <a:endParaRPr lang="en-US"/>
          </a:p>
        </p:txBody>
      </p:sp>
    </p:spTree>
    <p:extLst>
      <p:ext uri="{BB962C8B-B14F-4D97-AF65-F5344CB8AC3E}">
        <p14:creationId xmlns:p14="http://schemas.microsoft.com/office/powerpoint/2010/main" val="2972783789"/>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0D9AE4-30C0-463A-BAFC-D919CB712C51}"/>
              </a:ext>
            </a:extLst>
          </p:cNvPr>
          <p:cNvSpPr>
            <a:spLocks noGrp="1"/>
          </p:cNvSpPr>
          <p:nvPr>
            <p:ph idx="1"/>
          </p:nvPr>
        </p:nvSpPr>
        <p:spPr>
          <a:xfrm>
            <a:off x="838200" y="449705"/>
            <a:ext cx="10515600" cy="5727258"/>
          </a:xfrm>
        </p:spPr>
        <p:txBody>
          <a:bodyPr/>
          <a:lstStyle/>
          <a:p>
            <a:pPr algn="just"/>
            <a:r>
              <a:rPr lang="en-US" dirty="0"/>
              <a:t>A </a:t>
            </a:r>
            <a:r>
              <a:rPr lang="en-US" dirty="0">
                <a:solidFill>
                  <a:srgbClr val="FF0000"/>
                </a:solidFill>
              </a:rPr>
              <a:t>right merge </a:t>
            </a:r>
            <a:r>
              <a:rPr lang="en-US" dirty="0"/>
              <a:t>performs the same operation, but starts with the contents of </a:t>
            </a:r>
            <a:r>
              <a:rPr lang="en-US" dirty="0">
                <a:solidFill>
                  <a:srgbClr val="FF0000"/>
                </a:solidFill>
              </a:rPr>
              <a:t>b</a:t>
            </a:r>
            <a:r>
              <a:rPr lang="en-US" dirty="0"/>
              <a:t> (the </a:t>
            </a:r>
            <a:r>
              <a:rPr lang="en-US" dirty="0" err="1"/>
              <a:t>DataFrame</a:t>
            </a:r>
            <a:r>
              <a:rPr lang="en-US" dirty="0"/>
              <a:t> on the “right”).</a:t>
            </a:r>
          </a:p>
          <a:p>
            <a:pPr algn="just"/>
            <a:endParaRPr lang="en-US" dirty="0"/>
          </a:p>
          <a:p>
            <a:pPr algn="just"/>
            <a:r>
              <a:rPr lang="en-US" dirty="0"/>
              <a:t>In this case we see that there is no match for the value D in column C1 of </a:t>
            </a:r>
            <a:r>
              <a:rPr lang="en-US" dirty="0" err="1"/>
              <a:t>DataFrame</a:t>
            </a:r>
            <a:r>
              <a:rPr lang="en-US" dirty="0"/>
              <a:t> a, so that entry has a </a:t>
            </a:r>
            <a:r>
              <a:rPr lang="en-US" dirty="0" err="1"/>
              <a:t>NaN</a:t>
            </a:r>
            <a:r>
              <a:rPr lang="en-US" dirty="0"/>
              <a:t> value inserted.</a:t>
            </a:r>
          </a:p>
          <a:p>
            <a:pPr algn="just"/>
            <a:endParaRPr lang="en-US" dirty="0"/>
          </a:p>
          <a:p>
            <a:pPr algn="just"/>
            <a:r>
              <a:rPr lang="en-US" dirty="0"/>
              <a:t>An </a:t>
            </a:r>
            <a:r>
              <a:rPr lang="en-US" dirty="0">
                <a:solidFill>
                  <a:srgbClr val="FF0000"/>
                </a:solidFill>
              </a:rPr>
              <a:t>inner merge </a:t>
            </a:r>
            <a:r>
              <a:rPr lang="en-US" dirty="0"/>
              <a:t>only keeps rows that have content that matches from both </a:t>
            </a:r>
            <a:r>
              <a:rPr lang="en-US" dirty="0">
                <a:solidFill>
                  <a:srgbClr val="FF0000"/>
                </a:solidFill>
              </a:rPr>
              <a:t>a</a:t>
            </a:r>
            <a:r>
              <a:rPr lang="en-US" dirty="0"/>
              <a:t> and </a:t>
            </a:r>
            <a:r>
              <a:rPr lang="en-US" dirty="0">
                <a:solidFill>
                  <a:srgbClr val="FF0000"/>
                </a:solidFill>
              </a:rPr>
              <a:t>b</a:t>
            </a:r>
            <a:r>
              <a:rPr lang="en-US" dirty="0"/>
              <a:t>.</a:t>
            </a:r>
          </a:p>
          <a:p>
            <a:pPr algn="just"/>
            <a:endParaRPr lang="en-US" dirty="0"/>
          </a:p>
          <a:p>
            <a:pPr algn="just"/>
            <a:r>
              <a:rPr lang="en-US" dirty="0"/>
              <a:t>An </a:t>
            </a:r>
            <a:r>
              <a:rPr lang="en-US" dirty="0">
                <a:solidFill>
                  <a:srgbClr val="FF0000"/>
                </a:solidFill>
              </a:rPr>
              <a:t>outer merge </a:t>
            </a:r>
            <a:r>
              <a:rPr lang="en-US" dirty="0"/>
              <a:t>keeps all value and all rows from both </a:t>
            </a:r>
            <a:r>
              <a:rPr lang="en-US" dirty="0">
                <a:solidFill>
                  <a:srgbClr val="FF0000"/>
                </a:solidFill>
              </a:rPr>
              <a:t>a</a:t>
            </a:r>
            <a:r>
              <a:rPr lang="en-US" dirty="0"/>
              <a:t> and </a:t>
            </a:r>
            <a:r>
              <a:rPr lang="en-US" dirty="0">
                <a:solidFill>
                  <a:srgbClr val="FF0000"/>
                </a:solidFill>
              </a:rPr>
              <a:t>b</a:t>
            </a:r>
            <a:r>
              <a:rPr lang="en-US" dirty="0"/>
              <a:t>.</a:t>
            </a:r>
          </a:p>
        </p:txBody>
      </p:sp>
      <p:sp>
        <p:nvSpPr>
          <p:cNvPr id="4" name="Slide Number Placeholder 3">
            <a:extLst>
              <a:ext uri="{FF2B5EF4-FFF2-40B4-BE49-F238E27FC236}">
                <a16:creationId xmlns:a16="http://schemas.microsoft.com/office/drawing/2014/main" id="{B0354F05-41C4-490F-B52F-9A657554364B}"/>
              </a:ext>
            </a:extLst>
          </p:cNvPr>
          <p:cNvSpPr>
            <a:spLocks noGrp="1"/>
          </p:cNvSpPr>
          <p:nvPr>
            <p:ph type="sldNum" sz="quarter" idx="12"/>
          </p:nvPr>
        </p:nvSpPr>
        <p:spPr/>
        <p:txBody>
          <a:bodyPr/>
          <a:lstStyle/>
          <a:p>
            <a:fld id="{6B97D948-30E8-43F7-AE10-F6E2D9F2BBB1}" type="slidenum">
              <a:rPr lang="en-US" smtClean="0"/>
              <a:t>391</a:t>
            </a:fld>
            <a:endParaRPr lang="en-US"/>
          </a:p>
        </p:txBody>
      </p:sp>
    </p:spTree>
    <p:extLst>
      <p:ext uri="{BB962C8B-B14F-4D97-AF65-F5344CB8AC3E}">
        <p14:creationId xmlns:p14="http://schemas.microsoft.com/office/powerpoint/2010/main" val="2384604430"/>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D7C83-8541-4156-8A59-4E7521CA0CEE}"/>
              </a:ext>
            </a:extLst>
          </p:cNvPr>
          <p:cNvSpPr>
            <a:spLocks noGrp="1"/>
          </p:cNvSpPr>
          <p:nvPr>
            <p:ph type="title"/>
          </p:nvPr>
        </p:nvSpPr>
        <p:spPr>
          <a:xfrm>
            <a:off x="838200" y="365126"/>
            <a:ext cx="10515600" cy="639216"/>
          </a:xfrm>
        </p:spPr>
        <p:txBody>
          <a:bodyPr>
            <a:normAutofit fontScale="90000"/>
          </a:bodyPr>
          <a:lstStyle/>
          <a:p>
            <a:r>
              <a:rPr lang="en-US" dirty="0"/>
              <a:t>Examples</a:t>
            </a:r>
          </a:p>
        </p:txBody>
      </p:sp>
      <p:sp>
        <p:nvSpPr>
          <p:cNvPr id="3" name="Content Placeholder 2">
            <a:extLst>
              <a:ext uri="{FF2B5EF4-FFF2-40B4-BE49-F238E27FC236}">
                <a16:creationId xmlns:a16="http://schemas.microsoft.com/office/drawing/2014/main" id="{C4712355-0897-45FF-9433-F9DD8308CDDE}"/>
              </a:ext>
            </a:extLst>
          </p:cNvPr>
          <p:cNvSpPr>
            <a:spLocks noGrp="1"/>
          </p:cNvSpPr>
          <p:nvPr>
            <p:ph idx="1"/>
          </p:nvPr>
        </p:nvSpPr>
        <p:spPr>
          <a:xfrm>
            <a:off x="838200" y="1004342"/>
            <a:ext cx="10515600" cy="5172621"/>
          </a:xfrm>
        </p:spPr>
        <p:txBody>
          <a:bodyPr/>
          <a:lstStyle/>
          <a:p>
            <a:r>
              <a:rPr lang="en-US" dirty="0"/>
              <a:t>import pandas as pd</a:t>
            </a:r>
          </a:p>
          <a:p>
            <a:r>
              <a:rPr lang="en-US" dirty="0">
                <a:solidFill>
                  <a:srgbClr val="FF0000"/>
                </a:solidFill>
              </a:rPr>
              <a:t>a = </a:t>
            </a:r>
            <a:r>
              <a:rPr lang="en-US" dirty="0" err="1">
                <a:solidFill>
                  <a:srgbClr val="FF0000"/>
                </a:solidFill>
              </a:rPr>
              <a:t>pd.DataFrame</a:t>
            </a:r>
            <a:r>
              <a:rPr lang="en-US" dirty="0">
                <a:solidFill>
                  <a:srgbClr val="FF0000"/>
                </a:solidFill>
              </a:rPr>
              <a:t>(data={'C1': ['A', 'B', 'C'], 'C2': ['x', 'y', 'z']}) </a:t>
            </a:r>
          </a:p>
          <a:p>
            <a:r>
              <a:rPr lang="en-US" dirty="0">
                <a:solidFill>
                  <a:srgbClr val="FF0000"/>
                </a:solidFill>
              </a:rPr>
              <a:t>a</a:t>
            </a:r>
          </a:p>
          <a:p>
            <a:r>
              <a:rPr lang="en-US" dirty="0"/>
              <a:t>Out[18]:</a:t>
            </a:r>
          </a:p>
          <a:p>
            <a:r>
              <a:rPr lang="en-US" dirty="0"/>
              <a:t>  C1 C2</a:t>
            </a:r>
          </a:p>
          <a:p>
            <a:r>
              <a:rPr lang="en-US" dirty="0"/>
              <a:t>0  A  x</a:t>
            </a:r>
          </a:p>
          <a:p>
            <a:r>
              <a:rPr lang="en-US" dirty="0"/>
              <a:t>1  B  y</a:t>
            </a:r>
          </a:p>
          <a:p>
            <a:r>
              <a:rPr lang="en-US" dirty="0"/>
              <a:t>2  C  z</a:t>
            </a:r>
          </a:p>
        </p:txBody>
      </p:sp>
      <p:sp>
        <p:nvSpPr>
          <p:cNvPr id="4" name="Slide Number Placeholder 3">
            <a:extLst>
              <a:ext uri="{FF2B5EF4-FFF2-40B4-BE49-F238E27FC236}">
                <a16:creationId xmlns:a16="http://schemas.microsoft.com/office/drawing/2014/main" id="{D59997CA-B556-4EBA-A0FF-346CFBB10D3B}"/>
              </a:ext>
            </a:extLst>
          </p:cNvPr>
          <p:cNvSpPr>
            <a:spLocks noGrp="1"/>
          </p:cNvSpPr>
          <p:nvPr>
            <p:ph type="sldNum" sz="quarter" idx="12"/>
          </p:nvPr>
        </p:nvSpPr>
        <p:spPr/>
        <p:txBody>
          <a:bodyPr/>
          <a:lstStyle/>
          <a:p>
            <a:fld id="{6B97D948-30E8-43F7-AE10-F6E2D9F2BBB1}" type="slidenum">
              <a:rPr lang="en-US" smtClean="0"/>
              <a:t>392</a:t>
            </a:fld>
            <a:endParaRPr lang="en-US"/>
          </a:p>
        </p:txBody>
      </p:sp>
    </p:spTree>
    <p:extLst>
      <p:ext uri="{BB962C8B-B14F-4D97-AF65-F5344CB8AC3E}">
        <p14:creationId xmlns:p14="http://schemas.microsoft.com/office/powerpoint/2010/main" val="2332907304"/>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0B481-6C4F-47F2-8794-74CAEEF358E2}"/>
              </a:ext>
            </a:extLst>
          </p:cNvPr>
          <p:cNvSpPr>
            <a:spLocks noGrp="1"/>
          </p:cNvSpPr>
          <p:nvPr>
            <p:ph idx="1"/>
          </p:nvPr>
        </p:nvSpPr>
        <p:spPr>
          <a:xfrm>
            <a:off x="838200" y="659567"/>
            <a:ext cx="10515600" cy="5517396"/>
          </a:xfrm>
        </p:spPr>
        <p:txBody>
          <a:bodyPr/>
          <a:lstStyle/>
          <a:p>
            <a:pPr algn="just"/>
            <a:r>
              <a:rPr lang="en-US" dirty="0">
                <a:solidFill>
                  <a:srgbClr val="FF0000"/>
                </a:solidFill>
              </a:rPr>
              <a:t>b = </a:t>
            </a:r>
            <a:r>
              <a:rPr lang="en-US" dirty="0" err="1">
                <a:solidFill>
                  <a:srgbClr val="FF0000"/>
                </a:solidFill>
              </a:rPr>
              <a:t>pd.DataFrame</a:t>
            </a:r>
            <a:r>
              <a:rPr lang="en-US" dirty="0">
                <a:solidFill>
                  <a:srgbClr val="FF0000"/>
                </a:solidFill>
              </a:rPr>
              <a:t>(data={'C1': ['A', 'B', 'D'], 'C2': [11, 12, 13]})</a:t>
            </a:r>
          </a:p>
          <a:p>
            <a:endParaRPr lang="en-US" dirty="0"/>
          </a:p>
          <a:p>
            <a:r>
              <a:rPr lang="en-US" dirty="0"/>
              <a:t>In [22]: b</a:t>
            </a:r>
          </a:p>
          <a:p>
            <a:r>
              <a:rPr lang="en-US" dirty="0"/>
              <a:t>Out[22]:</a:t>
            </a:r>
          </a:p>
          <a:p>
            <a:r>
              <a:rPr lang="en-US" dirty="0"/>
              <a:t>  C1  C2</a:t>
            </a:r>
          </a:p>
          <a:p>
            <a:r>
              <a:rPr lang="en-US" dirty="0"/>
              <a:t>0  A  11</a:t>
            </a:r>
          </a:p>
          <a:p>
            <a:r>
              <a:rPr lang="en-US" dirty="0"/>
              <a:t>1  B  12</a:t>
            </a:r>
          </a:p>
          <a:p>
            <a:r>
              <a:rPr lang="en-US" dirty="0"/>
              <a:t>2  D  13</a:t>
            </a:r>
          </a:p>
        </p:txBody>
      </p:sp>
      <p:sp>
        <p:nvSpPr>
          <p:cNvPr id="4" name="Slide Number Placeholder 3">
            <a:extLst>
              <a:ext uri="{FF2B5EF4-FFF2-40B4-BE49-F238E27FC236}">
                <a16:creationId xmlns:a16="http://schemas.microsoft.com/office/drawing/2014/main" id="{BFF6E1CF-2906-4AC8-B4C2-178B8810AE75}"/>
              </a:ext>
            </a:extLst>
          </p:cNvPr>
          <p:cNvSpPr>
            <a:spLocks noGrp="1"/>
          </p:cNvSpPr>
          <p:nvPr>
            <p:ph type="sldNum" sz="quarter" idx="12"/>
          </p:nvPr>
        </p:nvSpPr>
        <p:spPr/>
        <p:txBody>
          <a:bodyPr/>
          <a:lstStyle/>
          <a:p>
            <a:fld id="{6B97D948-30E8-43F7-AE10-F6E2D9F2BBB1}" type="slidenum">
              <a:rPr lang="en-US" smtClean="0"/>
              <a:t>393</a:t>
            </a:fld>
            <a:endParaRPr lang="en-US"/>
          </a:p>
        </p:txBody>
      </p:sp>
    </p:spTree>
    <p:extLst>
      <p:ext uri="{BB962C8B-B14F-4D97-AF65-F5344CB8AC3E}">
        <p14:creationId xmlns:p14="http://schemas.microsoft.com/office/powerpoint/2010/main" val="2301672717"/>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7B511D-F6F1-4C4B-97CA-6EC05C49B137}"/>
              </a:ext>
            </a:extLst>
          </p:cNvPr>
          <p:cNvSpPr>
            <a:spLocks noGrp="1"/>
          </p:cNvSpPr>
          <p:nvPr>
            <p:ph idx="1"/>
          </p:nvPr>
        </p:nvSpPr>
        <p:spPr>
          <a:xfrm>
            <a:off x="838200" y="719528"/>
            <a:ext cx="10515600" cy="5457435"/>
          </a:xfrm>
        </p:spPr>
        <p:txBody>
          <a:bodyPr/>
          <a:lstStyle/>
          <a:p>
            <a:r>
              <a:rPr lang="en-US" dirty="0">
                <a:solidFill>
                  <a:srgbClr val="FF0000"/>
                </a:solidFill>
              </a:rPr>
              <a:t>merged = </a:t>
            </a:r>
            <a:r>
              <a:rPr lang="en-US" dirty="0" err="1">
                <a:solidFill>
                  <a:srgbClr val="FF0000"/>
                </a:solidFill>
              </a:rPr>
              <a:t>pd.merge</a:t>
            </a:r>
            <a:r>
              <a:rPr lang="en-US" dirty="0">
                <a:solidFill>
                  <a:srgbClr val="FF0000"/>
                </a:solidFill>
              </a:rPr>
              <a:t>(a, b, how = 'left', on = 'C1')</a:t>
            </a:r>
          </a:p>
          <a:p>
            <a:r>
              <a:rPr lang="en-US" dirty="0">
                <a:solidFill>
                  <a:srgbClr val="FF0000"/>
                </a:solidFill>
              </a:rPr>
              <a:t>merged</a:t>
            </a:r>
          </a:p>
          <a:p>
            <a:r>
              <a:rPr lang="en-US" dirty="0"/>
              <a:t>Out[23]:</a:t>
            </a:r>
          </a:p>
          <a:p>
            <a:r>
              <a:rPr lang="en-US" dirty="0"/>
              <a:t>  C1 C2_x  C2_y</a:t>
            </a:r>
          </a:p>
          <a:p>
            <a:r>
              <a:rPr lang="en-US" dirty="0"/>
              <a:t>0  A    x  11.0</a:t>
            </a:r>
          </a:p>
          <a:p>
            <a:r>
              <a:rPr lang="en-US" dirty="0"/>
              <a:t>1  B    y  12.0</a:t>
            </a:r>
          </a:p>
          <a:p>
            <a:r>
              <a:rPr lang="en-US" dirty="0"/>
              <a:t>2  C    z   </a:t>
            </a:r>
            <a:r>
              <a:rPr lang="en-US" dirty="0" err="1"/>
              <a:t>NaN</a:t>
            </a:r>
            <a:endParaRPr lang="en-US" dirty="0"/>
          </a:p>
        </p:txBody>
      </p:sp>
      <p:sp>
        <p:nvSpPr>
          <p:cNvPr id="4" name="Slide Number Placeholder 3">
            <a:extLst>
              <a:ext uri="{FF2B5EF4-FFF2-40B4-BE49-F238E27FC236}">
                <a16:creationId xmlns:a16="http://schemas.microsoft.com/office/drawing/2014/main" id="{4D988937-E69A-4907-B598-99464014E942}"/>
              </a:ext>
            </a:extLst>
          </p:cNvPr>
          <p:cNvSpPr>
            <a:spLocks noGrp="1"/>
          </p:cNvSpPr>
          <p:nvPr>
            <p:ph type="sldNum" sz="quarter" idx="12"/>
          </p:nvPr>
        </p:nvSpPr>
        <p:spPr/>
        <p:txBody>
          <a:bodyPr/>
          <a:lstStyle/>
          <a:p>
            <a:fld id="{6B97D948-30E8-43F7-AE10-F6E2D9F2BBB1}" type="slidenum">
              <a:rPr lang="en-US" smtClean="0"/>
              <a:t>394</a:t>
            </a:fld>
            <a:endParaRPr lang="en-US"/>
          </a:p>
        </p:txBody>
      </p:sp>
    </p:spTree>
    <p:extLst>
      <p:ext uri="{BB962C8B-B14F-4D97-AF65-F5344CB8AC3E}">
        <p14:creationId xmlns:p14="http://schemas.microsoft.com/office/powerpoint/2010/main" val="3282765860"/>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D1E63E-1C41-48A3-9484-6E15CEE999ED}"/>
              </a:ext>
            </a:extLst>
          </p:cNvPr>
          <p:cNvSpPr>
            <a:spLocks noGrp="1"/>
          </p:cNvSpPr>
          <p:nvPr>
            <p:ph idx="1"/>
          </p:nvPr>
        </p:nvSpPr>
        <p:spPr>
          <a:xfrm>
            <a:off x="838200" y="479685"/>
            <a:ext cx="10515600" cy="5697278"/>
          </a:xfrm>
        </p:spPr>
        <p:txBody>
          <a:bodyPr/>
          <a:lstStyle/>
          <a:p>
            <a:r>
              <a:rPr lang="en-US" dirty="0">
                <a:solidFill>
                  <a:srgbClr val="FF0000"/>
                </a:solidFill>
              </a:rPr>
              <a:t>merged = </a:t>
            </a:r>
            <a:r>
              <a:rPr lang="en-US" dirty="0" err="1">
                <a:solidFill>
                  <a:srgbClr val="FF0000"/>
                </a:solidFill>
              </a:rPr>
              <a:t>pd.merge</a:t>
            </a:r>
            <a:r>
              <a:rPr lang="en-US" dirty="0">
                <a:solidFill>
                  <a:srgbClr val="FF0000"/>
                </a:solidFill>
              </a:rPr>
              <a:t>(a, b, how = 'right', on = 'C1')</a:t>
            </a:r>
          </a:p>
          <a:p>
            <a:r>
              <a:rPr lang="en-US" dirty="0">
                <a:solidFill>
                  <a:srgbClr val="FF0000"/>
                </a:solidFill>
              </a:rPr>
              <a:t>merged</a:t>
            </a:r>
          </a:p>
          <a:p>
            <a:r>
              <a:rPr lang="en-US" dirty="0"/>
              <a:t>Out[24]:</a:t>
            </a:r>
          </a:p>
          <a:p>
            <a:r>
              <a:rPr lang="en-US" dirty="0"/>
              <a:t>  C1 C2_x  C2_y</a:t>
            </a:r>
          </a:p>
          <a:p>
            <a:r>
              <a:rPr lang="en-US" dirty="0"/>
              <a:t>0  A    x    11</a:t>
            </a:r>
          </a:p>
          <a:p>
            <a:r>
              <a:rPr lang="en-US" dirty="0"/>
              <a:t>1  B    y    12</a:t>
            </a:r>
          </a:p>
          <a:p>
            <a:r>
              <a:rPr lang="en-US" dirty="0"/>
              <a:t>2  D  </a:t>
            </a:r>
            <a:r>
              <a:rPr lang="en-US" dirty="0" err="1"/>
              <a:t>NaN</a:t>
            </a:r>
            <a:r>
              <a:rPr lang="en-US" dirty="0"/>
              <a:t>    13</a:t>
            </a:r>
          </a:p>
        </p:txBody>
      </p:sp>
      <p:sp>
        <p:nvSpPr>
          <p:cNvPr id="4" name="Slide Number Placeholder 3">
            <a:extLst>
              <a:ext uri="{FF2B5EF4-FFF2-40B4-BE49-F238E27FC236}">
                <a16:creationId xmlns:a16="http://schemas.microsoft.com/office/drawing/2014/main" id="{5531D352-5D3C-4F21-AEEF-59947B4EA0CA}"/>
              </a:ext>
            </a:extLst>
          </p:cNvPr>
          <p:cNvSpPr>
            <a:spLocks noGrp="1"/>
          </p:cNvSpPr>
          <p:nvPr>
            <p:ph type="sldNum" sz="quarter" idx="12"/>
          </p:nvPr>
        </p:nvSpPr>
        <p:spPr/>
        <p:txBody>
          <a:bodyPr/>
          <a:lstStyle/>
          <a:p>
            <a:fld id="{6B97D948-30E8-43F7-AE10-F6E2D9F2BBB1}" type="slidenum">
              <a:rPr lang="en-US" smtClean="0"/>
              <a:t>395</a:t>
            </a:fld>
            <a:endParaRPr lang="en-US"/>
          </a:p>
        </p:txBody>
      </p:sp>
    </p:spTree>
    <p:extLst>
      <p:ext uri="{BB962C8B-B14F-4D97-AF65-F5344CB8AC3E}">
        <p14:creationId xmlns:p14="http://schemas.microsoft.com/office/powerpoint/2010/main" val="1490407432"/>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A301D9-D1A1-46A2-93DA-3D9181B7F460}"/>
              </a:ext>
            </a:extLst>
          </p:cNvPr>
          <p:cNvSpPr>
            <a:spLocks noGrp="1"/>
          </p:cNvSpPr>
          <p:nvPr>
            <p:ph idx="1"/>
          </p:nvPr>
        </p:nvSpPr>
        <p:spPr>
          <a:xfrm>
            <a:off x="838200" y="689548"/>
            <a:ext cx="10515600" cy="5487415"/>
          </a:xfrm>
        </p:spPr>
        <p:txBody>
          <a:bodyPr/>
          <a:lstStyle/>
          <a:p>
            <a:r>
              <a:rPr lang="en-US" dirty="0">
                <a:solidFill>
                  <a:srgbClr val="FF0000"/>
                </a:solidFill>
              </a:rPr>
              <a:t>merged = </a:t>
            </a:r>
            <a:r>
              <a:rPr lang="en-US" dirty="0" err="1">
                <a:solidFill>
                  <a:srgbClr val="FF0000"/>
                </a:solidFill>
              </a:rPr>
              <a:t>pd.merge</a:t>
            </a:r>
            <a:r>
              <a:rPr lang="en-US" dirty="0">
                <a:solidFill>
                  <a:srgbClr val="FF0000"/>
                </a:solidFill>
              </a:rPr>
              <a:t>(a, b, how = 'inner', on = 'C1')</a:t>
            </a:r>
          </a:p>
          <a:p>
            <a:r>
              <a:rPr lang="en-US" dirty="0">
                <a:solidFill>
                  <a:srgbClr val="FF0000"/>
                </a:solidFill>
              </a:rPr>
              <a:t>merged</a:t>
            </a:r>
          </a:p>
          <a:p>
            <a:r>
              <a:rPr lang="en-US" dirty="0"/>
              <a:t>Out[25]:</a:t>
            </a:r>
          </a:p>
          <a:p>
            <a:r>
              <a:rPr lang="en-US" dirty="0"/>
              <a:t>  C1 C2_x  C2_y</a:t>
            </a:r>
          </a:p>
          <a:p>
            <a:r>
              <a:rPr lang="en-US" dirty="0"/>
              <a:t>0  A    x    11</a:t>
            </a:r>
          </a:p>
          <a:p>
            <a:r>
              <a:rPr lang="en-US" dirty="0"/>
              <a:t>1  B    y    12</a:t>
            </a:r>
          </a:p>
        </p:txBody>
      </p:sp>
      <p:sp>
        <p:nvSpPr>
          <p:cNvPr id="4" name="Slide Number Placeholder 3">
            <a:extLst>
              <a:ext uri="{FF2B5EF4-FFF2-40B4-BE49-F238E27FC236}">
                <a16:creationId xmlns:a16="http://schemas.microsoft.com/office/drawing/2014/main" id="{5FFA1487-58B5-4BD0-BBFE-72D9AE3182D8}"/>
              </a:ext>
            </a:extLst>
          </p:cNvPr>
          <p:cNvSpPr>
            <a:spLocks noGrp="1"/>
          </p:cNvSpPr>
          <p:nvPr>
            <p:ph type="sldNum" sz="quarter" idx="12"/>
          </p:nvPr>
        </p:nvSpPr>
        <p:spPr/>
        <p:txBody>
          <a:bodyPr/>
          <a:lstStyle/>
          <a:p>
            <a:fld id="{6B97D948-30E8-43F7-AE10-F6E2D9F2BBB1}" type="slidenum">
              <a:rPr lang="en-US" smtClean="0"/>
              <a:t>396</a:t>
            </a:fld>
            <a:endParaRPr lang="en-US"/>
          </a:p>
        </p:txBody>
      </p:sp>
    </p:spTree>
    <p:extLst>
      <p:ext uri="{BB962C8B-B14F-4D97-AF65-F5344CB8AC3E}">
        <p14:creationId xmlns:p14="http://schemas.microsoft.com/office/powerpoint/2010/main" val="3328356862"/>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C7AA56-9884-4452-BCC9-442BD5E8C601}"/>
              </a:ext>
            </a:extLst>
          </p:cNvPr>
          <p:cNvSpPr>
            <a:spLocks noGrp="1"/>
          </p:cNvSpPr>
          <p:nvPr>
            <p:ph idx="1"/>
          </p:nvPr>
        </p:nvSpPr>
        <p:spPr>
          <a:xfrm>
            <a:off x="838200" y="704538"/>
            <a:ext cx="10515600" cy="5472425"/>
          </a:xfrm>
        </p:spPr>
        <p:txBody>
          <a:bodyPr/>
          <a:lstStyle/>
          <a:p>
            <a:r>
              <a:rPr lang="en-US" dirty="0">
                <a:solidFill>
                  <a:srgbClr val="FF0000"/>
                </a:solidFill>
              </a:rPr>
              <a:t>merged = </a:t>
            </a:r>
            <a:r>
              <a:rPr lang="en-US" dirty="0" err="1">
                <a:solidFill>
                  <a:srgbClr val="FF0000"/>
                </a:solidFill>
              </a:rPr>
              <a:t>pd.merge</a:t>
            </a:r>
            <a:r>
              <a:rPr lang="en-US" dirty="0">
                <a:solidFill>
                  <a:srgbClr val="FF0000"/>
                </a:solidFill>
              </a:rPr>
              <a:t>(a, b, how = 'outer', on = 'C1')</a:t>
            </a:r>
          </a:p>
          <a:p>
            <a:r>
              <a:rPr lang="en-US" dirty="0">
                <a:solidFill>
                  <a:srgbClr val="FF0000"/>
                </a:solidFill>
              </a:rPr>
              <a:t>merged</a:t>
            </a:r>
          </a:p>
          <a:p>
            <a:r>
              <a:rPr lang="en-US" dirty="0"/>
              <a:t>Out[26]:</a:t>
            </a:r>
          </a:p>
          <a:p>
            <a:r>
              <a:rPr lang="en-US" dirty="0"/>
              <a:t>  C1 C2_x  C2_y</a:t>
            </a:r>
          </a:p>
          <a:p>
            <a:r>
              <a:rPr lang="en-US" dirty="0"/>
              <a:t>0  A    x  11.0</a:t>
            </a:r>
          </a:p>
          <a:p>
            <a:r>
              <a:rPr lang="en-US" dirty="0"/>
              <a:t>1  B    y  12.0</a:t>
            </a:r>
          </a:p>
          <a:p>
            <a:r>
              <a:rPr lang="en-US" dirty="0"/>
              <a:t>2  C    z   </a:t>
            </a:r>
            <a:r>
              <a:rPr lang="en-US" dirty="0" err="1"/>
              <a:t>NaN</a:t>
            </a:r>
            <a:endParaRPr lang="en-US" dirty="0"/>
          </a:p>
          <a:p>
            <a:r>
              <a:rPr lang="en-US" dirty="0"/>
              <a:t>3  D  </a:t>
            </a:r>
            <a:r>
              <a:rPr lang="en-US" dirty="0" err="1"/>
              <a:t>NaN</a:t>
            </a:r>
            <a:r>
              <a:rPr lang="en-US" dirty="0"/>
              <a:t>  13.0</a:t>
            </a:r>
          </a:p>
        </p:txBody>
      </p:sp>
      <p:sp>
        <p:nvSpPr>
          <p:cNvPr id="4" name="Slide Number Placeholder 3">
            <a:extLst>
              <a:ext uri="{FF2B5EF4-FFF2-40B4-BE49-F238E27FC236}">
                <a16:creationId xmlns:a16="http://schemas.microsoft.com/office/drawing/2014/main" id="{D30FE5D1-E301-42D3-886C-76E80835B736}"/>
              </a:ext>
            </a:extLst>
          </p:cNvPr>
          <p:cNvSpPr>
            <a:spLocks noGrp="1"/>
          </p:cNvSpPr>
          <p:nvPr>
            <p:ph type="sldNum" sz="quarter" idx="12"/>
          </p:nvPr>
        </p:nvSpPr>
        <p:spPr/>
        <p:txBody>
          <a:bodyPr/>
          <a:lstStyle/>
          <a:p>
            <a:fld id="{6B97D948-30E8-43F7-AE10-F6E2D9F2BBB1}" type="slidenum">
              <a:rPr lang="en-US" smtClean="0"/>
              <a:t>397</a:t>
            </a:fld>
            <a:endParaRPr lang="en-US"/>
          </a:p>
        </p:txBody>
      </p:sp>
    </p:spTree>
    <p:extLst>
      <p:ext uri="{BB962C8B-B14F-4D97-AF65-F5344CB8AC3E}">
        <p14:creationId xmlns:p14="http://schemas.microsoft.com/office/powerpoint/2010/main" val="2167880199"/>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DDCAF-4F87-412A-A38A-134C85C2DCB4}"/>
              </a:ext>
            </a:extLst>
          </p:cNvPr>
          <p:cNvSpPr>
            <a:spLocks noGrp="1"/>
          </p:cNvSpPr>
          <p:nvPr>
            <p:ph type="title"/>
          </p:nvPr>
        </p:nvSpPr>
        <p:spPr>
          <a:xfrm>
            <a:off x="838200" y="365126"/>
            <a:ext cx="10515600" cy="639216"/>
          </a:xfrm>
        </p:spPr>
        <p:txBody>
          <a:bodyPr>
            <a:normAutofit fontScale="90000"/>
          </a:bodyPr>
          <a:lstStyle/>
          <a:p>
            <a:r>
              <a:rPr lang="en-US" dirty="0"/>
              <a:t>Grouping datasets</a:t>
            </a:r>
          </a:p>
        </p:txBody>
      </p:sp>
      <p:sp>
        <p:nvSpPr>
          <p:cNvPr id="3" name="Content Placeholder 2">
            <a:extLst>
              <a:ext uri="{FF2B5EF4-FFF2-40B4-BE49-F238E27FC236}">
                <a16:creationId xmlns:a16="http://schemas.microsoft.com/office/drawing/2014/main" id="{2E8571A2-217A-4494-BFEA-CF4A8AECAA29}"/>
              </a:ext>
            </a:extLst>
          </p:cNvPr>
          <p:cNvSpPr>
            <a:spLocks noGrp="1"/>
          </p:cNvSpPr>
          <p:nvPr>
            <p:ph idx="1"/>
          </p:nvPr>
        </p:nvSpPr>
        <p:spPr>
          <a:xfrm>
            <a:off x="838200" y="1004342"/>
            <a:ext cx="10515600" cy="5172621"/>
          </a:xfrm>
        </p:spPr>
        <p:txBody>
          <a:bodyPr/>
          <a:lstStyle/>
          <a:p>
            <a:pPr algn="just"/>
            <a:r>
              <a:rPr lang="en-US" dirty="0"/>
              <a:t>We’ve been able to effectively combined our data into a single </a:t>
            </a:r>
            <a:r>
              <a:rPr lang="en-US" dirty="0" err="1"/>
              <a:t>DataFrame</a:t>
            </a:r>
            <a:r>
              <a:rPr lang="en-US" dirty="0"/>
              <a:t>, we can explore a common set of operations for summarizing data based on shared characteristics. </a:t>
            </a:r>
          </a:p>
          <a:p>
            <a:pPr algn="just"/>
            <a:endParaRPr lang="en-US" dirty="0"/>
          </a:p>
          <a:p>
            <a:pPr algn="just"/>
            <a:r>
              <a:rPr lang="en-US" dirty="0"/>
              <a:t>Let’s say we have the following dataset that describes the number of car sales at a dealership over three years. </a:t>
            </a:r>
          </a:p>
          <a:p>
            <a:pPr algn="just"/>
            <a:endParaRPr lang="en-US" dirty="0"/>
          </a:p>
          <a:p>
            <a:pPr algn="just"/>
            <a:r>
              <a:rPr lang="en-US" dirty="0"/>
              <a:t>In that time, there were 9 employees who each worked there for a year, and different years had different numbers of employees.</a:t>
            </a:r>
          </a:p>
        </p:txBody>
      </p:sp>
      <p:sp>
        <p:nvSpPr>
          <p:cNvPr id="4" name="Slide Number Placeholder 3">
            <a:extLst>
              <a:ext uri="{FF2B5EF4-FFF2-40B4-BE49-F238E27FC236}">
                <a16:creationId xmlns:a16="http://schemas.microsoft.com/office/drawing/2014/main" id="{CCCE5C01-5FF3-4A0B-936F-941EAC3BA229}"/>
              </a:ext>
            </a:extLst>
          </p:cNvPr>
          <p:cNvSpPr>
            <a:spLocks noGrp="1"/>
          </p:cNvSpPr>
          <p:nvPr>
            <p:ph type="sldNum" sz="quarter" idx="12"/>
          </p:nvPr>
        </p:nvSpPr>
        <p:spPr/>
        <p:txBody>
          <a:bodyPr/>
          <a:lstStyle/>
          <a:p>
            <a:fld id="{6B97D948-30E8-43F7-AE10-F6E2D9F2BBB1}" type="slidenum">
              <a:rPr lang="en-US" smtClean="0"/>
              <a:t>398</a:t>
            </a:fld>
            <a:endParaRPr lang="en-US"/>
          </a:p>
        </p:txBody>
      </p:sp>
    </p:spTree>
    <p:extLst>
      <p:ext uri="{BB962C8B-B14F-4D97-AF65-F5344CB8AC3E}">
        <p14:creationId xmlns:p14="http://schemas.microsoft.com/office/powerpoint/2010/main" val="1580895090"/>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8F020-1A05-455F-9406-639AFCFBE05C}"/>
              </a:ext>
            </a:extLst>
          </p:cNvPr>
          <p:cNvSpPr>
            <a:spLocks noGrp="1"/>
          </p:cNvSpPr>
          <p:nvPr>
            <p:ph idx="1"/>
          </p:nvPr>
        </p:nvSpPr>
        <p:spPr>
          <a:xfrm>
            <a:off x="838200" y="434715"/>
            <a:ext cx="10515600" cy="5742248"/>
          </a:xfrm>
        </p:spPr>
        <p:txBody>
          <a:bodyPr>
            <a:normAutofit fontScale="92500" lnSpcReduction="20000"/>
          </a:bodyPr>
          <a:lstStyle/>
          <a:p>
            <a:r>
              <a:rPr lang="en-US" dirty="0">
                <a:solidFill>
                  <a:srgbClr val="FF0000"/>
                </a:solidFill>
              </a:rPr>
              <a:t>sales = </a:t>
            </a:r>
            <a:r>
              <a:rPr lang="en-US" dirty="0" err="1">
                <a:solidFill>
                  <a:srgbClr val="FF0000"/>
                </a:solidFill>
              </a:rPr>
              <a:t>pd.read_csv</a:t>
            </a:r>
            <a:r>
              <a:rPr lang="en-US" dirty="0">
                <a:solidFill>
                  <a:srgbClr val="FF0000"/>
                </a:solidFill>
              </a:rPr>
              <a:t>('dealership.csv')</a:t>
            </a:r>
          </a:p>
          <a:p>
            <a:r>
              <a:rPr lang="en-US" dirty="0"/>
              <a:t>sales</a:t>
            </a:r>
          </a:p>
          <a:p>
            <a:r>
              <a:rPr lang="en-US" dirty="0"/>
              <a:t>Out[34]:</a:t>
            </a:r>
          </a:p>
          <a:p>
            <a:r>
              <a:rPr lang="en-US" dirty="0"/>
              <a:t>      employee  	sales   year</a:t>
            </a:r>
          </a:p>
          <a:p>
            <a:r>
              <a:rPr lang="en-US" dirty="0"/>
              <a:t>0     Katrina       	14  	2018</a:t>
            </a:r>
          </a:p>
          <a:p>
            <a:r>
              <a:rPr lang="en-US" dirty="0"/>
              <a:t>1      </a:t>
            </a:r>
            <a:r>
              <a:rPr lang="en-US" dirty="0" err="1"/>
              <a:t>Guanyu</a:t>
            </a:r>
            <a:r>
              <a:rPr lang="en-US" dirty="0"/>
              <a:t>       	17  	2019</a:t>
            </a:r>
          </a:p>
          <a:p>
            <a:r>
              <a:rPr lang="en-US" dirty="0"/>
              <a:t>2         Jan        	6  	2020</a:t>
            </a:r>
          </a:p>
          <a:p>
            <a:r>
              <a:rPr lang="en-US" dirty="0"/>
              <a:t>3       Roman       	12  	2018</a:t>
            </a:r>
          </a:p>
          <a:p>
            <a:r>
              <a:rPr lang="en-US" dirty="0"/>
              <a:t>4  Jacqueline        	8  	2020</a:t>
            </a:r>
          </a:p>
          <a:p>
            <a:r>
              <a:rPr lang="en-US" dirty="0"/>
              <a:t>5       Paola        	3  	2019</a:t>
            </a:r>
          </a:p>
          <a:p>
            <a:r>
              <a:rPr lang="en-US" dirty="0"/>
              <a:t>6   Esperanza        	7  	2019</a:t>
            </a:r>
          </a:p>
          <a:p>
            <a:r>
              <a:rPr lang="en-US" dirty="0"/>
              <a:t>7      Alaina       	15  	2020</a:t>
            </a:r>
          </a:p>
          <a:p>
            <a:r>
              <a:rPr lang="en-US" dirty="0"/>
              <a:t>8      </a:t>
            </a:r>
            <a:r>
              <a:rPr lang="en-US" dirty="0" err="1"/>
              <a:t>Egweyn</a:t>
            </a:r>
            <a:r>
              <a:rPr lang="en-US" dirty="0"/>
              <a:t>        	5  	2020</a:t>
            </a:r>
          </a:p>
        </p:txBody>
      </p:sp>
      <p:sp>
        <p:nvSpPr>
          <p:cNvPr id="4" name="Slide Number Placeholder 3">
            <a:extLst>
              <a:ext uri="{FF2B5EF4-FFF2-40B4-BE49-F238E27FC236}">
                <a16:creationId xmlns:a16="http://schemas.microsoft.com/office/drawing/2014/main" id="{8E902A1D-ED4C-4151-8E8F-A234AC2B7617}"/>
              </a:ext>
            </a:extLst>
          </p:cNvPr>
          <p:cNvSpPr>
            <a:spLocks noGrp="1"/>
          </p:cNvSpPr>
          <p:nvPr>
            <p:ph type="sldNum" sz="quarter" idx="12"/>
          </p:nvPr>
        </p:nvSpPr>
        <p:spPr/>
        <p:txBody>
          <a:bodyPr/>
          <a:lstStyle/>
          <a:p>
            <a:fld id="{6B97D948-30E8-43F7-AE10-F6E2D9F2BBB1}" type="slidenum">
              <a:rPr lang="en-US" smtClean="0"/>
              <a:t>399</a:t>
            </a:fld>
            <a:endParaRPr lang="en-US"/>
          </a:p>
        </p:txBody>
      </p:sp>
    </p:spTree>
    <p:extLst>
      <p:ext uri="{BB962C8B-B14F-4D97-AF65-F5344CB8AC3E}">
        <p14:creationId xmlns:p14="http://schemas.microsoft.com/office/powerpoint/2010/main" val="399261088"/>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7898-9125-4D0F-BB9E-33F67E100C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11555FA6-AE0E-4293-8B39-FF724E25E4AF}"/>
              </a:ext>
            </a:extLst>
          </p:cNvPr>
          <p:cNvSpPr>
            <a:spLocks noGrp="1"/>
          </p:cNvSpPr>
          <p:nvPr>
            <p:ph idx="1"/>
          </p:nvPr>
        </p:nvSpPr>
        <p:spPr/>
        <p:txBody>
          <a:bodyPr/>
          <a:lstStyle/>
          <a:p>
            <a:r>
              <a:rPr lang="en-US" dirty="0"/>
              <a:t>We want to answer two questions:</a:t>
            </a:r>
          </a:p>
          <a:p>
            <a:endParaRPr lang="en-US" dirty="0"/>
          </a:p>
          <a:p>
            <a:r>
              <a:rPr lang="en-US" dirty="0"/>
              <a:t>What year was the best for the number of sales?</a:t>
            </a:r>
          </a:p>
          <a:p>
            <a:endParaRPr lang="en-US" dirty="0"/>
          </a:p>
          <a:p>
            <a:r>
              <a:rPr lang="en-US" dirty="0"/>
              <a:t>Which year was the best for the </a:t>
            </a:r>
            <a:r>
              <a:rPr lang="en-US" dirty="0">
                <a:solidFill>
                  <a:srgbClr val="FF0000"/>
                </a:solidFill>
              </a:rPr>
              <a:t>number of sales per employee</a:t>
            </a:r>
            <a:r>
              <a:rPr lang="en-US" dirty="0"/>
              <a:t>?</a:t>
            </a:r>
          </a:p>
          <a:p>
            <a:endParaRPr lang="en-US" dirty="0"/>
          </a:p>
        </p:txBody>
      </p:sp>
      <p:sp>
        <p:nvSpPr>
          <p:cNvPr id="4" name="Slide Number Placeholder 3">
            <a:extLst>
              <a:ext uri="{FF2B5EF4-FFF2-40B4-BE49-F238E27FC236}">
                <a16:creationId xmlns:a16="http://schemas.microsoft.com/office/drawing/2014/main" id="{AADCB0EB-F332-4FF0-8719-ECB3A9155CC3}"/>
              </a:ext>
            </a:extLst>
          </p:cNvPr>
          <p:cNvSpPr>
            <a:spLocks noGrp="1"/>
          </p:cNvSpPr>
          <p:nvPr>
            <p:ph type="sldNum" sz="quarter" idx="12"/>
          </p:nvPr>
        </p:nvSpPr>
        <p:spPr/>
        <p:txBody>
          <a:bodyPr/>
          <a:lstStyle/>
          <a:p>
            <a:fld id="{6B97D948-30E8-43F7-AE10-F6E2D9F2BBB1}" type="slidenum">
              <a:rPr lang="en-US" smtClean="0"/>
              <a:t>400</a:t>
            </a:fld>
            <a:endParaRPr lang="en-US"/>
          </a:p>
        </p:txBody>
      </p:sp>
    </p:spTree>
    <p:extLst>
      <p:ext uri="{BB962C8B-B14F-4D97-AF65-F5344CB8AC3E}">
        <p14:creationId xmlns:p14="http://schemas.microsoft.com/office/powerpoint/2010/main" val="1427289676"/>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0F2D59-0EF1-4E0A-AC9C-750E2CD7C665}"/>
              </a:ext>
            </a:extLst>
          </p:cNvPr>
          <p:cNvSpPr>
            <a:spLocks noGrp="1"/>
          </p:cNvSpPr>
          <p:nvPr>
            <p:ph idx="1"/>
          </p:nvPr>
        </p:nvSpPr>
        <p:spPr>
          <a:xfrm>
            <a:off x="838200" y="419725"/>
            <a:ext cx="10515600" cy="5757238"/>
          </a:xfrm>
        </p:spPr>
        <p:txBody>
          <a:bodyPr/>
          <a:lstStyle/>
          <a:p>
            <a:pPr algn="just"/>
            <a:r>
              <a:rPr lang="en-US" dirty="0"/>
              <a:t>To answer Q1, we need to know how many sales there were in each year. </a:t>
            </a:r>
          </a:p>
          <a:p>
            <a:pPr algn="just"/>
            <a:endParaRPr lang="en-US" dirty="0"/>
          </a:p>
          <a:p>
            <a:pPr algn="just"/>
            <a:r>
              <a:rPr lang="en-US" dirty="0"/>
              <a:t>We could do this manually, summing the values of sales for each year and reporting the results.</a:t>
            </a:r>
          </a:p>
          <a:p>
            <a:pPr algn="just"/>
            <a:endParaRPr lang="en-US" dirty="0"/>
          </a:p>
          <a:p>
            <a:pPr algn="just"/>
            <a:r>
              <a:rPr lang="en-US" dirty="0"/>
              <a:t>Unfortunately, we couldn’t do this by hand practically if this list had 1 million entries in it. </a:t>
            </a:r>
          </a:p>
          <a:p>
            <a:pPr algn="just"/>
            <a:endParaRPr lang="en-US" dirty="0"/>
          </a:p>
          <a:p>
            <a:pPr algn="just"/>
            <a:r>
              <a:rPr lang="en-US" dirty="0"/>
              <a:t>This is where the </a:t>
            </a:r>
            <a:r>
              <a:rPr lang="en-US" dirty="0" err="1"/>
              <a:t>groupby</a:t>
            </a:r>
            <a:r>
              <a:rPr lang="en-US" dirty="0"/>
              <a:t> method shines.</a:t>
            </a:r>
          </a:p>
        </p:txBody>
      </p:sp>
      <p:sp>
        <p:nvSpPr>
          <p:cNvPr id="4" name="Slide Number Placeholder 3">
            <a:extLst>
              <a:ext uri="{FF2B5EF4-FFF2-40B4-BE49-F238E27FC236}">
                <a16:creationId xmlns:a16="http://schemas.microsoft.com/office/drawing/2014/main" id="{610CA948-8736-441E-811F-93CAAB36C62F}"/>
              </a:ext>
            </a:extLst>
          </p:cNvPr>
          <p:cNvSpPr>
            <a:spLocks noGrp="1"/>
          </p:cNvSpPr>
          <p:nvPr>
            <p:ph type="sldNum" sz="quarter" idx="12"/>
          </p:nvPr>
        </p:nvSpPr>
        <p:spPr/>
        <p:txBody>
          <a:bodyPr/>
          <a:lstStyle/>
          <a:p>
            <a:fld id="{6B97D948-30E8-43F7-AE10-F6E2D9F2BBB1}" type="slidenum">
              <a:rPr lang="en-US" smtClean="0"/>
              <a:t>401</a:t>
            </a:fld>
            <a:endParaRPr lang="en-US"/>
          </a:p>
        </p:txBody>
      </p:sp>
    </p:spTree>
    <p:extLst>
      <p:ext uri="{BB962C8B-B14F-4D97-AF65-F5344CB8AC3E}">
        <p14:creationId xmlns:p14="http://schemas.microsoft.com/office/powerpoint/2010/main" val="3128996839"/>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24684-433F-42E8-AEE5-C47ECE8EC253}"/>
              </a:ext>
            </a:extLst>
          </p:cNvPr>
          <p:cNvSpPr>
            <a:spLocks noGrp="1"/>
          </p:cNvSpPr>
          <p:nvPr>
            <p:ph type="title"/>
          </p:nvPr>
        </p:nvSpPr>
        <p:spPr>
          <a:xfrm>
            <a:off x="838200" y="365125"/>
            <a:ext cx="10515600" cy="759137"/>
          </a:xfrm>
        </p:spPr>
        <p:txBody>
          <a:bodyPr/>
          <a:lstStyle/>
          <a:p>
            <a:r>
              <a:rPr lang="en-US" dirty="0" err="1"/>
              <a:t>Groupby</a:t>
            </a:r>
            <a:endParaRPr lang="en-US" dirty="0"/>
          </a:p>
        </p:txBody>
      </p:sp>
      <p:sp>
        <p:nvSpPr>
          <p:cNvPr id="3" name="Content Placeholder 2">
            <a:extLst>
              <a:ext uri="{FF2B5EF4-FFF2-40B4-BE49-F238E27FC236}">
                <a16:creationId xmlns:a16="http://schemas.microsoft.com/office/drawing/2014/main" id="{19D9ABE6-CC5D-4F6E-AD1C-11D4D78DF2BC}"/>
              </a:ext>
            </a:extLst>
          </p:cNvPr>
          <p:cNvSpPr>
            <a:spLocks noGrp="1"/>
          </p:cNvSpPr>
          <p:nvPr>
            <p:ph idx="1"/>
          </p:nvPr>
        </p:nvSpPr>
        <p:spPr>
          <a:xfrm>
            <a:off x="838200" y="1124262"/>
            <a:ext cx="10515600" cy="5052701"/>
          </a:xfrm>
        </p:spPr>
        <p:txBody>
          <a:bodyPr/>
          <a:lstStyle/>
          <a:p>
            <a:pPr algn="just"/>
            <a:r>
              <a:rPr lang="en-US" dirty="0"/>
              <a:t>We can use a process that is facilitated by </a:t>
            </a:r>
            <a:r>
              <a:rPr lang="en-US" dirty="0" err="1"/>
              <a:t>groupby</a:t>
            </a:r>
            <a:r>
              <a:rPr lang="en-US" dirty="0"/>
              <a:t> to </a:t>
            </a:r>
          </a:p>
          <a:p>
            <a:pPr algn="just"/>
            <a:r>
              <a:rPr lang="en-US" dirty="0"/>
              <a:t>(a) split the data into groups</a:t>
            </a:r>
          </a:p>
          <a:p>
            <a:pPr algn="just"/>
            <a:r>
              <a:rPr lang="en-US" dirty="0"/>
              <a:t>(b) apply a function to the contents of each group independently, and then </a:t>
            </a:r>
          </a:p>
          <a:p>
            <a:pPr algn="just"/>
            <a:r>
              <a:rPr lang="en-US" dirty="0"/>
              <a:t>(c) combine the data back into a single </a:t>
            </a:r>
            <a:r>
              <a:rPr lang="en-US" dirty="0" err="1"/>
              <a:t>DataFrame</a:t>
            </a:r>
            <a:r>
              <a:rPr lang="en-US" dirty="0"/>
              <a:t>. </a:t>
            </a:r>
          </a:p>
          <a:p>
            <a:pPr algn="just"/>
            <a:endParaRPr lang="en-US" dirty="0"/>
          </a:p>
          <a:p>
            <a:pPr algn="just"/>
            <a:r>
              <a:rPr lang="en-US" dirty="0"/>
              <a:t>The figure shows how we can group by ‘year’, and sum the data from the ‘sales’ column, all in one simple expression.</a:t>
            </a:r>
          </a:p>
        </p:txBody>
      </p:sp>
      <p:sp>
        <p:nvSpPr>
          <p:cNvPr id="4" name="Slide Number Placeholder 3">
            <a:extLst>
              <a:ext uri="{FF2B5EF4-FFF2-40B4-BE49-F238E27FC236}">
                <a16:creationId xmlns:a16="http://schemas.microsoft.com/office/drawing/2014/main" id="{C9D0F06D-3D1C-4438-A35C-C732F092BD60}"/>
              </a:ext>
            </a:extLst>
          </p:cNvPr>
          <p:cNvSpPr>
            <a:spLocks noGrp="1"/>
          </p:cNvSpPr>
          <p:nvPr>
            <p:ph type="sldNum" sz="quarter" idx="12"/>
          </p:nvPr>
        </p:nvSpPr>
        <p:spPr/>
        <p:txBody>
          <a:bodyPr/>
          <a:lstStyle/>
          <a:p>
            <a:fld id="{6B97D948-30E8-43F7-AE10-F6E2D9F2BBB1}" type="slidenum">
              <a:rPr lang="en-US" smtClean="0"/>
              <a:t>402</a:t>
            </a:fld>
            <a:endParaRPr lang="en-US"/>
          </a:p>
        </p:txBody>
      </p:sp>
    </p:spTree>
    <p:extLst>
      <p:ext uri="{BB962C8B-B14F-4D97-AF65-F5344CB8AC3E}">
        <p14:creationId xmlns:p14="http://schemas.microsoft.com/office/powerpoint/2010/main" val="2167305034"/>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219E80-55E3-4759-A68A-F0792C39D791}"/>
              </a:ext>
            </a:extLst>
          </p:cNvPr>
          <p:cNvSpPr>
            <a:spLocks noGrp="1"/>
          </p:cNvSpPr>
          <p:nvPr>
            <p:ph type="sldNum" sz="quarter" idx="12"/>
          </p:nvPr>
        </p:nvSpPr>
        <p:spPr/>
        <p:txBody>
          <a:bodyPr/>
          <a:lstStyle/>
          <a:p>
            <a:fld id="{6B97D948-30E8-43F7-AE10-F6E2D9F2BBB1}" type="slidenum">
              <a:rPr lang="en-US" smtClean="0"/>
              <a:t>403</a:t>
            </a:fld>
            <a:endParaRPr lang="en-US"/>
          </a:p>
        </p:txBody>
      </p:sp>
      <p:pic>
        <p:nvPicPr>
          <p:cNvPr id="5" name="Picture 4">
            <a:extLst>
              <a:ext uri="{FF2B5EF4-FFF2-40B4-BE49-F238E27FC236}">
                <a16:creationId xmlns:a16="http://schemas.microsoft.com/office/drawing/2014/main" id="{69856567-8D8F-4A2D-9FCA-45E95EE6FC7D}"/>
              </a:ext>
            </a:extLst>
          </p:cNvPr>
          <p:cNvPicPr>
            <a:picLocks noChangeAspect="1"/>
          </p:cNvPicPr>
          <p:nvPr/>
        </p:nvPicPr>
        <p:blipFill>
          <a:blip r:embed="rId2"/>
          <a:stretch>
            <a:fillRect/>
          </a:stretch>
        </p:blipFill>
        <p:spPr>
          <a:xfrm>
            <a:off x="1962769" y="449706"/>
            <a:ext cx="9200531" cy="5994356"/>
          </a:xfrm>
          <a:prstGeom prst="rect">
            <a:avLst/>
          </a:prstGeom>
        </p:spPr>
      </p:pic>
    </p:spTree>
    <p:extLst>
      <p:ext uri="{BB962C8B-B14F-4D97-AF65-F5344CB8AC3E}">
        <p14:creationId xmlns:p14="http://schemas.microsoft.com/office/powerpoint/2010/main" val="2148438696"/>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99AAAA-492D-48FE-BFCC-3056C524FE76}"/>
              </a:ext>
            </a:extLst>
          </p:cNvPr>
          <p:cNvSpPr>
            <a:spLocks noGrp="1"/>
          </p:cNvSpPr>
          <p:nvPr>
            <p:ph idx="1"/>
          </p:nvPr>
        </p:nvSpPr>
        <p:spPr>
          <a:xfrm>
            <a:off x="838200" y="419725"/>
            <a:ext cx="10515600" cy="5757238"/>
          </a:xfrm>
        </p:spPr>
        <p:txBody>
          <a:bodyPr/>
          <a:lstStyle/>
          <a:p>
            <a:r>
              <a:rPr lang="en-US" dirty="0" err="1">
                <a:solidFill>
                  <a:srgbClr val="FF0000"/>
                </a:solidFill>
              </a:rPr>
              <a:t>sales_by_year</a:t>
            </a:r>
            <a:r>
              <a:rPr lang="en-US" dirty="0">
                <a:solidFill>
                  <a:srgbClr val="FF0000"/>
                </a:solidFill>
              </a:rPr>
              <a:t> = </a:t>
            </a:r>
            <a:r>
              <a:rPr lang="en-US" dirty="0" err="1">
                <a:solidFill>
                  <a:srgbClr val="FF0000"/>
                </a:solidFill>
              </a:rPr>
              <a:t>sales.groupby</a:t>
            </a:r>
            <a:r>
              <a:rPr lang="en-US" dirty="0">
                <a:solidFill>
                  <a:srgbClr val="FF0000"/>
                </a:solidFill>
              </a:rPr>
              <a:t>('year')['sales'].sum()</a:t>
            </a:r>
          </a:p>
          <a:p>
            <a:r>
              <a:rPr lang="en-US" dirty="0" err="1">
                <a:solidFill>
                  <a:srgbClr val="FF0000"/>
                </a:solidFill>
              </a:rPr>
              <a:t>sales_by_year</a:t>
            </a:r>
            <a:endParaRPr lang="en-US" dirty="0">
              <a:solidFill>
                <a:srgbClr val="FF0000"/>
              </a:solidFill>
            </a:endParaRPr>
          </a:p>
          <a:p>
            <a:r>
              <a:rPr lang="en-US" dirty="0"/>
              <a:t>Out[39]:</a:t>
            </a:r>
          </a:p>
          <a:p>
            <a:r>
              <a:rPr lang="en-US" dirty="0"/>
              <a:t>year</a:t>
            </a:r>
          </a:p>
          <a:p>
            <a:r>
              <a:rPr lang="en-US" dirty="0"/>
              <a:t>2018    26</a:t>
            </a:r>
          </a:p>
          <a:p>
            <a:r>
              <a:rPr lang="en-US" dirty="0"/>
              <a:t>2019    27</a:t>
            </a:r>
          </a:p>
          <a:p>
            <a:r>
              <a:rPr lang="en-US" dirty="0"/>
              <a:t>2020    34</a:t>
            </a:r>
          </a:p>
        </p:txBody>
      </p:sp>
      <p:sp>
        <p:nvSpPr>
          <p:cNvPr id="4" name="Slide Number Placeholder 3">
            <a:extLst>
              <a:ext uri="{FF2B5EF4-FFF2-40B4-BE49-F238E27FC236}">
                <a16:creationId xmlns:a16="http://schemas.microsoft.com/office/drawing/2014/main" id="{B6C91BE9-FF8F-4592-B0A4-7F0E09920CDF}"/>
              </a:ext>
            </a:extLst>
          </p:cNvPr>
          <p:cNvSpPr>
            <a:spLocks noGrp="1"/>
          </p:cNvSpPr>
          <p:nvPr>
            <p:ph type="sldNum" sz="quarter" idx="12"/>
          </p:nvPr>
        </p:nvSpPr>
        <p:spPr/>
        <p:txBody>
          <a:bodyPr/>
          <a:lstStyle/>
          <a:p>
            <a:fld id="{6B97D948-30E8-43F7-AE10-F6E2D9F2BBB1}" type="slidenum">
              <a:rPr lang="en-US" smtClean="0"/>
              <a:t>404</a:t>
            </a:fld>
            <a:endParaRPr lang="en-US"/>
          </a:p>
        </p:txBody>
      </p:sp>
    </p:spTree>
    <p:extLst>
      <p:ext uri="{BB962C8B-B14F-4D97-AF65-F5344CB8AC3E}">
        <p14:creationId xmlns:p14="http://schemas.microsoft.com/office/powerpoint/2010/main" val="1355682365"/>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62CD09-AE5F-4A08-A40F-E4E8A32D95DD}"/>
              </a:ext>
            </a:extLst>
          </p:cNvPr>
          <p:cNvSpPr>
            <a:spLocks noGrp="1"/>
          </p:cNvSpPr>
          <p:nvPr>
            <p:ph idx="1"/>
          </p:nvPr>
        </p:nvSpPr>
        <p:spPr>
          <a:xfrm>
            <a:off x="838200" y="524656"/>
            <a:ext cx="10515600" cy="5652307"/>
          </a:xfrm>
        </p:spPr>
        <p:txBody>
          <a:bodyPr>
            <a:normAutofit fontScale="92500"/>
          </a:bodyPr>
          <a:lstStyle/>
          <a:p>
            <a:pPr algn="just"/>
            <a:r>
              <a:rPr lang="en-US" dirty="0"/>
              <a:t>Let’s think through Question 2, above: which year was the best for the number of sales per employee? </a:t>
            </a:r>
          </a:p>
          <a:p>
            <a:pPr algn="just"/>
            <a:r>
              <a:rPr lang="en-US" dirty="0"/>
              <a:t>We need some additional data here. </a:t>
            </a:r>
          </a:p>
          <a:p>
            <a:pPr algn="just"/>
            <a:r>
              <a:rPr lang="en-US" dirty="0"/>
              <a:t>We need the data from Question 1 on the number of sales per year, but we also need to count how many employees there were each year:</a:t>
            </a:r>
          </a:p>
          <a:p>
            <a:pPr algn="just"/>
            <a:r>
              <a:rPr lang="en-US" dirty="0" err="1">
                <a:solidFill>
                  <a:srgbClr val="FF0000"/>
                </a:solidFill>
              </a:rPr>
              <a:t>employees_by_year</a:t>
            </a:r>
            <a:r>
              <a:rPr lang="en-US" dirty="0">
                <a:solidFill>
                  <a:srgbClr val="FF0000"/>
                </a:solidFill>
              </a:rPr>
              <a:t> = </a:t>
            </a:r>
            <a:r>
              <a:rPr lang="en-US" dirty="0" err="1">
                <a:solidFill>
                  <a:srgbClr val="FF0000"/>
                </a:solidFill>
              </a:rPr>
              <a:t>sales.groupby</a:t>
            </a:r>
            <a:r>
              <a:rPr lang="en-US" dirty="0">
                <a:solidFill>
                  <a:srgbClr val="FF0000"/>
                </a:solidFill>
              </a:rPr>
              <a:t>('year')['employee'].count()</a:t>
            </a:r>
          </a:p>
          <a:p>
            <a:pPr algn="just"/>
            <a:r>
              <a:rPr lang="en-US" dirty="0" err="1">
                <a:solidFill>
                  <a:srgbClr val="FF0000"/>
                </a:solidFill>
              </a:rPr>
              <a:t>employees_by_year</a:t>
            </a:r>
            <a:endParaRPr lang="en-US" dirty="0">
              <a:solidFill>
                <a:srgbClr val="FF0000"/>
              </a:solidFill>
            </a:endParaRPr>
          </a:p>
          <a:p>
            <a:pPr algn="just"/>
            <a:r>
              <a:rPr lang="en-US" dirty="0"/>
              <a:t>Out[40]:</a:t>
            </a:r>
          </a:p>
          <a:p>
            <a:pPr algn="just"/>
            <a:r>
              <a:rPr lang="en-US" dirty="0"/>
              <a:t>year</a:t>
            </a:r>
          </a:p>
          <a:p>
            <a:pPr algn="just"/>
            <a:r>
              <a:rPr lang="en-US" dirty="0"/>
              <a:t>2018    2</a:t>
            </a:r>
          </a:p>
          <a:p>
            <a:pPr algn="just"/>
            <a:r>
              <a:rPr lang="en-US" dirty="0"/>
              <a:t>2019    3</a:t>
            </a:r>
          </a:p>
          <a:p>
            <a:pPr algn="just"/>
            <a:r>
              <a:rPr lang="en-US" dirty="0"/>
              <a:t>2020    4</a:t>
            </a:r>
          </a:p>
        </p:txBody>
      </p:sp>
      <p:sp>
        <p:nvSpPr>
          <p:cNvPr id="4" name="Slide Number Placeholder 3">
            <a:extLst>
              <a:ext uri="{FF2B5EF4-FFF2-40B4-BE49-F238E27FC236}">
                <a16:creationId xmlns:a16="http://schemas.microsoft.com/office/drawing/2014/main" id="{1EC11DC8-64C2-4519-9CFC-F74F9056E8FF}"/>
              </a:ext>
            </a:extLst>
          </p:cNvPr>
          <p:cNvSpPr>
            <a:spLocks noGrp="1"/>
          </p:cNvSpPr>
          <p:nvPr>
            <p:ph type="sldNum" sz="quarter" idx="12"/>
          </p:nvPr>
        </p:nvSpPr>
        <p:spPr/>
        <p:txBody>
          <a:bodyPr/>
          <a:lstStyle/>
          <a:p>
            <a:fld id="{6B97D948-30E8-43F7-AE10-F6E2D9F2BBB1}" type="slidenum">
              <a:rPr lang="en-US" smtClean="0"/>
              <a:t>405</a:t>
            </a:fld>
            <a:endParaRPr lang="en-US"/>
          </a:p>
        </p:txBody>
      </p:sp>
    </p:spTree>
    <p:extLst>
      <p:ext uri="{BB962C8B-B14F-4D97-AF65-F5344CB8AC3E}">
        <p14:creationId xmlns:p14="http://schemas.microsoft.com/office/powerpoint/2010/main" val="2287861758"/>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3C0368-4A20-4519-ABB0-8BBE3FB263AF}"/>
              </a:ext>
            </a:extLst>
          </p:cNvPr>
          <p:cNvSpPr>
            <a:spLocks noGrp="1"/>
          </p:cNvSpPr>
          <p:nvPr>
            <p:ph idx="1"/>
          </p:nvPr>
        </p:nvSpPr>
        <p:spPr>
          <a:xfrm>
            <a:off x="838200" y="464695"/>
            <a:ext cx="10515600" cy="5712268"/>
          </a:xfrm>
        </p:spPr>
        <p:txBody>
          <a:bodyPr/>
          <a:lstStyle/>
          <a:p>
            <a:pPr algn="just"/>
            <a:r>
              <a:rPr lang="en-US" dirty="0"/>
              <a:t>Now let’s combine these into a single </a:t>
            </a:r>
            <a:r>
              <a:rPr lang="en-US" dirty="0" err="1"/>
              <a:t>DataFrame</a:t>
            </a:r>
            <a:r>
              <a:rPr lang="en-US" dirty="0"/>
              <a:t>. </a:t>
            </a:r>
          </a:p>
          <a:p>
            <a:pPr algn="just"/>
            <a:r>
              <a:rPr lang="en-US" dirty="0">
                <a:solidFill>
                  <a:srgbClr val="FF0000"/>
                </a:solidFill>
              </a:rPr>
              <a:t>question_2_data = </a:t>
            </a:r>
            <a:r>
              <a:rPr lang="en-US" dirty="0" err="1">
                <a:solidFill>
                  <a:srgbClr val="FF0000"/>
                </a:solidFill>
              </a:rPr>
              <a:t>pd.merge</a:t>
            </a:r>
            <a:r>
              <a:rPr lang="en-US" dirty="0">
                <a:solidFill>
                  <a:srgbClr val="FF0000"/>
                </a:solidFill>
              </a:rPr>
              <a:t>(</a:t>
            </a:r>
            <a:r>
              <a:rPr lang="en-US" dirty="0" err="1">
                <a:solidFill>
                  <a:srgbClr val="FF0000"/>
                </a:solidFill>
              </a:rPr>
              <a:t>sales_by_year</a:t>
            </a:r>
            <a:r>
              <a:rPr lang="en-US" dirty="0">
                <a:solidFill>
                  <a:srgbClr val="FF0000"/>
                </a:solidFill>
              </a:rPr>
              <a:t>, </a:t>
            </a:r>
            <a:r>
              <a:rPr lang="en-US" dirty="0" err="1">
                <a:solidFill>
                  <a:srgbClr val="FF0000"/>
                </a:solidFill>
              </a:rPr>
              <a:t>employees_by_year</a:t>
            </a:r>
            <a:r>
              <a:rPr lang="en-US" dirty="0">
                <a:solidFill>
                  <a:srgbClr val="FF0000"/>
                </a:solidFill>
              </a:rPr>
              <a:t>, on = 'year', how='left')</a:t>
            </a:r>
          </a:p>
          <a:p>
            <a:pPr algn="just"/>
            <a:r>
              <a:rPr lang="en-US" dirty="0">
                <a:solidFill>
                  <a:srgbClr val="FF0000"/>
                </a:solidFill>
              </a:rPr>
              <a:t>question_2_data</a:t>
            </a:r>
          </a:p>
          <a:p>
            <a:pPr algn="just"/>
            <a:r>
              <a:rPr lang="en-US" dirty="0"/>
              <a:t>Out[41]:</a:t>
            </a:r>
          </a:p>
          <a:p>
            <a:pPr algn="just"/>
            <a:r>
              <a:rPr lang="en-US" dirty="0"/>
              <a:t>      sales  employee</a:t>
            </a:r>
          </a:p>
          <a:p>
            <a:pPr algn="just"/>
            <a:r>
              <a:rPr lang="en-US" dirty="0"/>
              <a:t>year</a:t>
            </a:r>
          </a:p>
          <a:p>
            <a:pPr algn="just"/>
            <a:r>
              <a:rPr lang="en-US" dirty="0"/>
              <a:t>2018     26         2</a:t>
            </a:r>
          </a:p>
          <a:p>
            <a:pPr algn="just"/>
            <a:r>
              <a:rPr lang="en-US" dirty="0"/>
              <a:t>2019     27         3</a:t>
            </a:r>
          </a:p>
          <a:p>
            <a:pPr algn="just"/>
            <a:r>
              <a:rPr lang="en-US" dirty="0"/>
              <a:t>2020     34         4</a:t>
            </a:r>
          </a:p>
        </p:txBody>
      </p:sp>
      <p:sp>
        <p:nvSpPr>
          <p:cNvPr id="4" name="Slide Number Placeholder 3">
            <a:extLst>
              <a:ext uri="{FF2B5EF4-FFF2-40B4-BE49-F238E27FC236}">
                <a16:creationId xmlns:a16="http://schemas.microsoft.com/office/drawing/2014/main" id="{A62F0A52-9927-4BE8-8092-CEB3AC70539D}"/>
              </a:ext>
            </a:extLst>
          </p:cNvPr>
          <p:cNvSpPr>
            <a:spLocks noGrp="1"/>
          </p:cNvSpPr>
          <p:nvPr>
            <p:ph type="sldNum" sz="quarter" idx="12"/>
          </p:nvPr>
        </p:nvSpPr>
        <p:spPr/>
        <p:txBody>
          <a:bodyPr/>
          <a:lstStyle/>
          <a:p>
            <a:fld id="{6B97D948-30E8-43F7-AE10-F6E2D9F2BBB1}" type="slidenum">
              <a:rPr lang="en-US" smtClean="0"/>
              <a:t>406</a:t>
            </a:fld>
            <a:endParaRPr lang="en-US"/>
          </a:p>
        </p:txBody>
      </p:sp>
    </p:spTree>
    <p:extLst>
      <p:ext uri="{BB962C8B-B14F-4D97-AF65-F5344CB8AC3E}">
        <p14:creationId xmlns:p14="http://schemas.microsoft.com/office/powerpoint/2010/main" val="1828509237"/>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B7CA3E-C7B9-4B26-A55F-D65B7F58F17C}"/>
              </a:ext>
            </a:extLst>
          </p:cNvPr>
          <p:cNvSpPr>
            <a:spLocks noGrp="1"/>
          </p:cNvSpPr>
          <p:nvPr>
            <p:ph idx="1"/>
          </p:nvPr>
        </p:nvSpPr>
        <p:spPr>
          <a:xfrm>
            <a:off x="838200" y="554636"/>
            <a:ext cx="10515600" cy="5622327"/>
          </a:xfrm>
        </p:spPr>
        <p:txBody>
          <a:bodyPr/>
          <a:lstStyle/>
          <a:p>
            <a:r>
              <a:rPr lang="en-US" dirty="0">
                <a:solidFill>
                  <a:srgbClr val="FF0000"/>
                </a:solidFill>
              </a:rPr>
              <a:t>Now let’s compute the number of sales by employee</a:t>
            </a:r>
          </a:p>
          <a:p>
            <a:r>
              <a:rPr lang="en-US" dirty="0">
                <a:solidFill>
                  <a:srgbClr val="FF0000"/>
                </a:solidFill>
              </a:rPr>
              <a:t>question_2_data['</a:t>
            </a:r>
            <a:r>
              <a:rPr lang="en-US" dirty="0" err="1">
                <a:solidFill>
                  <a:srgbClr val="FF0000"/>
                </a:solidFill>
              </a:rPr>
              <a:t>sales_per_employee</a:t>
            </a:r>
            <a:r>
              <a:rPr lang="en-US" dirty="0">
                <a:solidFill>
                  <a:srgbClr val="FF0000"/>
                </a:solidFill>
              </a:rPr>
              <a:t>'] = (</a:t>
            </a:r>
          </a:p>
          <a:p>
            <a:r>
              <a:rPr lang="en-US" dirty="0">
                <a:solidFill>
                  <a:srgbClr val="FF0000"/>
                </a:solidFill>
              </a:rPr>
              <a:t>question_2_data['sales'] / question_2_data['employee']</a:t>
            </a:r>
          </a:p>
          <a:p>
            <a:r>
              <a:rPr lang="en-US" dirty="0">
                <a:solidFill>
                  <a:srgbClr val="FF0000"/>
                </a:solidFill>
              </a:rPr>
              <a:t>)</a:t>
            </a:r>
          </a:p>
          <a:p>
            <a:r>
              <a:rPr lang="en-US" dirty="0">
                <a:solidFill>
                  <a:srgbClr val="FF0000"/>
                </a:solidFill>
              </a:rPr>
              <a:t>question_2_data</a:t>
            </a:r>
          </a:p>
          <a:p>
            <a:r>
              <a:rPr lang="en-US" dirty="0"/>
              <a:t>Out[42]:</a:t>
            </a:r>
          </a:p>
          <a:p>
            <a:r>
              <a:rPr lang="en-US" dirty="0"/>
              <a:t>      sales  employee  </a:t>
            </a:r>
            <a:r>
              <a:rPr lang="en-US" dirty="0" err="1"/>
              <a:t>sales_per_employee</a:t>
            </a:r>
            <a:endParaRPr lang="en-US" dirty="0"/>
          </a:p>
          <a:p>
            <a:r>
              <a:rPr lang="en-US" dirty="0"/>
              <a:t>year</a:t>
            </a:r>
          </a:p>
          <a:p>
            <a:r>
              <a:rPr lang="en-US" dirty="0"/>
              <a:t>2018     26         2                13.0</a:t>
            </a:r>
          </a:p>
          <a:p>
            <a:r>
              <a:rPr lang="en-US" dirty="0"/>
              <a:t>2019     27         3                 9.0</a:t>
            </a:r>
          </a:p>
          <a:p>
            <a:r>
              <a:rPr lang="en-US" dirty="0"/>
              <a:t>2020     34         4                 8.5</a:t>
            </a:r>
          </a:p>
        </p:txBody>
      </p:sp>
      <p:sp>
        <p:nvSpPr>
          <p:cNvPr id="4" name="Slide Number Placeholder 3">
            <a:extLst>
              <a:ext uri="{FF2B5EF4-FFF2-40B4-BE49-F238E27FC236}">
                <a16:creationId xmlns:a16="http://schemas.microsoft.com/office/drawing/2014/main" id="{B93AC265-ADD3-4613-8DB0-2F036CAE6C6C}"/>
              </a:ext>
            </a:extLst>
          </p:cNvPr>
          <p:cNvSpPr>
            <a:spLocks noGrp="1"/>
          </p:cNvSpPr>
          <p:nvPr>
            <p:ph type="sldNum" sz="quarter" idx="12"/>
          </p:nvPr>
        </p:nvSpPr>
        <p:spPr/>
        <p:txBody>
          <a:bodyPr/>
          <a:lstStyle/>
          <a:p>
            <a:fld id="{6B97D948-30E8-43F7-AE10-F6E2D9F2BBB1}" type="slidenum">
              <a:rPr lang="en-US" smtClean="0"/>
              <a:t>407</a:t>
            </a:fld>
            <a:endParaRPr lang="en-US"/>
          </a:p>
        </p:txBody>
      </p:sp>
    </p:spTree>
    <p:extLst>
      <p:ext uri="{BB962C8B-B14F-4D97-AF65-F5344CB8AC3E}">
        <p14:creationId xmlns:p14="http://schemas.microsoft.com/office/powerpoint/2010/main" val="574430177"/>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1A127-0726-46F2-8529-3460F40F8B81}"/>
              </a:ext>
            </a:extLst>
          </p:cNvPr>
          <p:cNvSpPr>
            <a:spLocks noGrp="1"/>
          </p:cNvSpPr>
          <p:nvPr>
            <p:ph type="title"/>
          </p:nvPr>
        </p:nvSpPr>
        <p:spPr>
          <a:xfrm>
            <a:off x="838200" y="365125"/>
            <a:ext cx="10515600" cy="774127"/>
          </a:xfrm>
        </p:spPr>
        <p:txBody>
          <a:bodyPr/>
          <a:lstStyle/>
          <a:p>
            <a:r>
              <a:rPr lang="en-US" dirty="0"/>
              <a:t>Asking data questions</a:t>
            </a:r>
          </a:p>
        </p:txBody>
      </p:sp>
      <p:sp>
        <p:nvSpPr>
          <p:cNvPr id="3" name="Content Placeholder 2">
            <a:extLst>
              <a:ext uri="{FF2B5EF4-FFF2-40B4-BE49-F238E27FC236}">
                <a16:creationId xmlns:a16="http://schemas.microsoft.com/office/drawing/2014/main" id="{EE7F060F-927B-4C61-8AAC-57914519B6A3}"/>
              </a:ext>
            </a:extLst>
          </p:cNvPr>
          <p:cNvSpPr>
            <a:spLocks noGrp="1"/>
          </p:cNvSpPr>
          <p:nvPr>
            <p:ph idx="1"/>
          </p:nvPr>
        </p:nvSpPr>
        <p:spPr>
          <a:xfrm>
            <a:off x="838200" y="1139252"/>
            <a:ext cx="10515600" cy="5037711"/>
          </a:xfrm>
        </p:spPr>
        <p:txBody>
          <a:bodyPr/>
          <a:lstStyle/>
          <a:p>
            <a:pPr algn="just"/>
            <a:r>
              <a:rPr lang="en-US" dirty="0"/>
              <a:t>Let’s see how we can </a:t>
            </a:r>
            <a:r>
              <a:rPr lang="en-US" i="1" dirty="0">
                <a:solidFill>
                  <a:srgbClr val="00B050"/>
                </a:solidFill>
              </a:rPr>
              <a:t>programmatically ask questions</a:t>
            </a:r>
            <a:r>
              <a:rPr lang="en-US" dirty="0"/>
              <a:t> of our datasets using queries. </a:t>
            </a:r>
          </a:p>
          <a:p>
            <a:pPr algn="just"/>
            <a:r>
              <a:rPr lang="en-US" dirty="0"/>
              <a:t>We have seen this before when we discussed </a:t>
            </a:r>
            <a:r>
              <a:rPr lang="en-US" dirty="0" err="1"/>
              <a:t>subsetting</a:t>
            </a:r>
            <a:r>
              <a:rPr lang="en-US" dirty="0"/>
              <a:t> our data and filtering based on different logical expressions. </a:t>
            </a:r>
          </a:p>
          <a:p>
            <a:pPr algn="just"/>
            <a:r>
              <a:rPr lang="en-US" dirty="0"/>
              <a:t>Here we will introduce a compact way to execute such queries to add another tool into your programmatic toolbox for working with data. </a:t>
            </a:r>
          </a:p>
          <a:p>
            <a:pPr algn="just"/>
            <a:r>
              <a:rPr lang="en-US" dirty="0"/>
              <a:t>This is similar to structured query language (SQL) in databases.</a:t>
            </a:r>
          </a:p>
        </p:txBody>
      </p:sp>
      <p:sp>
        <p:nvSpPr>
          <p:cNvPr id="4" name="Slide Number Placeholder 3">
            <a:extLst>
              <a:ext uri="{FF2B5EF4-FFF2-40B4-BE49-F238E27FC236}">
                <a16:creationId xmlns:a16="http://schemas.microsoft.com/office/drawing/2014/main" id="{E116D754-4563-47B2-94C8-65B0F48681D2}"/>
              </a:ext>
            </a:extLst>
          </p:cNvPr>
          <p:cNvSpPr>
            <a:spLocks noGrp="1"/>
          </p:cNvSpPr>
          <p:nvPr>
            <p:ph type="sldNum" sz="quarter" idx="12"/>
          </p:nvPr>
        </p:nvSpPr>
        <p:spPr/>
        <p:txBody>
          <a:bodyPr/>
          <a:lstStyle/>
          <a:p>
            <a:fld id="{6B97D948-30E8-43F7-AE10-F6E2D9F2BBB1}" type="slidenum">
              <a:rPr lang="en-US" smtClean="0"/>
              <a:t>408</a:t>
            </a:fld>
            <a:endParaRPr lang="en-US"/>
          </a:p>
        </p:txBody>
      </p:sp>
    </p:spTree>
    <p:extLst>
      <p:ext uri="{BB962C8B-B14F-4D97-AF65-F5344CB8AC3E}">
        <p14:creationId xmlns:p14="http://schemas.microsoft.com/office/powerpoint/2010/main" val="602352938"/>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B174D2-2920-444C-91A3-990307CF8A1D}"/>
              </a:ext>
            </a:extLst>
          </p:cNvPr>
          <p:cNvSpPr>
            <a:spLocks noGrp="1"/>
          </p:cNvSpPr>
          <p:nvPr>
            <p:ph idx="1"/>
          </p:nvPr>
        </p:nvSpPr>
        <p:spPr>
          <a:xfrm>
            <a:off x="838200" y="464695"/>
            <a:ext cx="10515600" cy="5712268"/>
          </a:xfrm>
        </p:spPr>
        <p:txBody>
          <a:bodyPr>
            <a:normAutofit fontScale="92500" lnSpcReduction="10000"/>
          </a:bodyPr>
          <a:lstStyle/>
          <a:p>
            <a:r>
              <a:rPr lang="en-US" dirty="0">
                <a:solidFill>
                  <a:srgbClr val="FF0000"/>
                </a:solidFill>
              </a:rPr>
              <a:t>sales = </a:t>
            </a:r>
            <a:r>
              <a:rPr lang="en-US" dirty="0" err="1">
                <a:solidFill>
                  <a:srgbClr val="FF0000"/>
                </a:solidFill>
              </a:rPr>
              <a:t>pd.read_csv</a:t>
            </a:r>
            <a:r>
              <a:rPr lang="en-US" dirty="0">
                <a:solidFill>
                  <a:srgbClr val="FF0000"/>
                </a:solidFill>
              </a:rPr>
              <a:t>('dealership.csv')</a:t>
            </a:r>
          </a:p>
          <a:p>
            <a:r>
              <a:rPr lang="en-US" dirty="0"/>
              <a:t>Out[44]:</a:t>
            </a:r>
          </a:p>
          <a:p>
            <a:r>
              <a:rPr lang="en-US" dirty="0"/>
              <a:t>      employee  sales  year</a:t>
            </a:r>
          </a:p>
          <a:p>
            <a:r>
              <a:rPr lang="en-US" dirty="0"/>
              <a:t>0     Katrina      14  2018</a:t>
            </a:r>
          </a:p>
          <a:p>
            <a:r>
              <a:rPr lang="en-US" dirty="0"/>
              <a:t>1      </a:t>
            </a:r>
            <a:r>
              <a:rPr lang="en-US" dirty="0" err="1"/>
              <a:t>Guanyu</a:t>
            </a:r>
            <a:r>
              <a:rPr lang="en-US" dirty="0"/>
              <a:t>      17  2019</a:t>
            </a:r>
          </a:p>
          <a:p>
            <a:r>
              <a:rPr lang="en-US" dirty="0"/>
              <a:t>2         Jan       6  2020</a:t>
            </a:r>
          </a:p>
          <a:p>
            <a:r>
              <a:rPr lang="en-US" dirty="0"/>
              <a:t>3       Roman      12  2018</a:t>
            </a:r>
          </a:p>
          <a:p>
            <a:r>
              <a:rPr lang="en-US" dirty="0"/>
              <a:t>4  Jacqueline       8  2020</a:t>
            </a:r>
          </a:p>
          <a:p>
            <a:r>
              <a:rPr lang="en-US" dirty="0"/>
              <a:t>5       Paola       3  2019</a:t>
            </a:r>
          </a:p>
          <a:p>
            <a:r>
              <a:rPr lang="en-US" dirty="0"/>
              <a:t>6   Esperanza       7  2019</a:t>
            </a:r>
          </a:p>
          <a:p>
            <a:r>
              <a:rPr lang="en-US" dirty="0"/>
              <a:t>7      Alaina      15  2020</a:t>
            </a:r>
          </a:p>
          <a:p>
            <a:r>
              <a:rPr lang="en-US" dirty="0"/>
              <a:t>8      </a:t>
            </a:r>
            <a:r>
              <a:rPr lang="en-US" dirty="0" err="1"/>
              <a:t>Egweyn</a:t>
            </a:r>
            <a:r>
              <a:rPr lang="en-US" dirty="0"/>
              <a:t>       5  2020</a:t>
            </a:r>
          </a:p>
        </p:txBody>
      </p:sp>
      <p:sp>
        <p:nvSpPr>
          <p:cNvPr id="4" name="Slide Number Placeholder 3">
            <a:extLst>
              <a:ext uri="{FF2B5EF4-FFF2-40B4-BE49-F238E27FC236}">
                <a16:creationId xmlns:a16="http://schemas.microsoft.com/office/drawing/2014/main" id="{2DD768B8-3DC1-4A97-83E4-E739B72D0E95}"/>
              </a:ext>
            </a:extLst>
          </p:cNvPr>
          <p:cNvSpPr>
            <a:spLocks noGrp="1"/>
          </p:cNvSpPr>
          <p:nvPr>
            <p:ph type="sldNum" sz="quarter" idx="12"/>
          </p:nvPr>
        </p:nvSpPr>
        <p:spPr/>
        <p:txBody>
          <a:bodyPr/>
          <a:lstStyle/>
          <a:p>
            <a:fld id="{6B97D948-30E8-43F7-AE10-F6E2D9F2BBB1}" type="slidenum">
              <a:rPr lang="en-US" smtClean="0"/>
              <a:t>409</a:t>
            </a:fld>
            <a:endParaRPr lang="en-US"/>
          </a:p>
        </p:txBody>
      </p:sp>
    </p:spTree>
    <p:extLst>
      <p:ext uri="{BB962C8B-B14F-4D97-AF65-F5344CB8AC3E}">
        <p14:creationId xmlns:p14="http://schemas.microsoft.com/office/powerpoint/2010/main" val="186609493"/>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0B2CA-E73B-4742-AAFF-79DA01D19B1B}"/>
              </a:ext>
            </a:extLst>
          </p:cNvPr>
          <p:cNvSpPr>
            <a:spLocks noGrp="1"/>
          </p:cNvSpPr>
          <p:nvPr>
            <p:ph type="title"/>
          </p:nvPr>
        </p:nvSpPr>
        <p:spPr>
          <a:xfrm>
            <a:off x="838200" y="365125"/>
            <a:ext cx="10515600" cy="759137"/>
          </a:xfrm>
        </p:spPr>
        <p:txBody>
          <a:bodyPr/>
          <a:lstStyle/>
          <a:p>
            <a:r>
              <a:rPr lang="en-US" dirty="0"/>
              <a:t>Nature of queries</a:t>
            </a:r>
          </a:p>
        </p:txBody>
      </p:sp>
      <p:sp>
        <p:nvSpPr>
          <p:cNvPr id="3" name="Content Placeholder 2">
            <a:extLst>
              <a:ext uri="{FF2B5EF4-FFF2-40B4-BE49-F238E27FC236}">
                <a16:creationId xmlns:a16="http://schemas.microsoft.com/office/drawing/2014/main" id="{F7AA6024-417B-4E1A-837A-8DED1D38FC9C}"/>
              </a:ext>
            </a:extLst>
          </p:cNvPr>
          <p:cNvSpPr>
            <a:spLocks noGrp="1"/>
          </p:cNvSpPr>
          <p:nvPr>
            <p:ph idx="1"/>
          </p:nvPr>
        </p:nvSpPr>
        <p:spPr>
          <a:xfrm>
            <a:off x="838200" y="1124262"/>
            <a:ext cx="10515600" cy="5052701"/>
          </a:xfrm>
        </p:spPr>
        <p:txBody>
          <a:bodyPr/>
          <a:lstStyle/>
          <a:p>
            <a:pPr algn="just"/>
            <a:r>
              <a:rPr lang="en-US" dirty="0"/>
              <a:t>To query a pandas </a:t>
            </a:r>
            <a:r>
              <a:rPr lang="en-US" dirty="0" err="1"/>
              <a:t>DataFrame</a:t>
            </a:r>
            <a:r>
              <a:rPr lang="en-US" dirty="0"/>
              <a:t>, we need to use the query method which takes a query string. </a:t>
            </a:r>
          </a:p>
          <a:p>
            <a:pPr algn="just"/>
            <a:r>
              <a:rPr lang="en-US" dirty="0"/>
              <a:t>This string allows you to ask a world of questions of your data.</a:t>
            </a:r>
          </a:p>
          <a:p>
            <a:pPr algn="just"/>
            <a:r>
              <a:rPr lang="en-US" dirty="0"/>
              <a:t>For example, see the table below for a set of examples of queries and their corresponding query strings for our sales dataset:</a:t>
            </a:r>
          </a:p>
        </p:txBody>
      </p:sp>
      <p:sp>
        <p:nvSpPr>
          <p:cNvPr id="4" name="Slide Number Placeholder 3">
            <a:extLst>
              <a:ext uri="{FF2B5EF4-FFF2-40B4-BE49-F238E27FC236}">
                <a16:creationId xmlns:a16="http://schemas.microsoft.com/office/drawing/2014/main" id="{8EAD5FD2-085D-47C4-B63E-07E306B2AD56}"/>
              </a:ext>
            </a:extLst>
          </p:cNvPr>
          <p:cNvSpPr>
            <a:spLocks noGrp="1"/>
          </p:cNvSpPr>
          <p:nvPr>
            <p:ph type="sldNum" sz="quarter" idx="12"/>
          </p:nvPr>
        </p:nvSpPr>
        <p:spPr/>
        <p:txBody>
          <a:bodyPr/>
          <a:lstStyle/>
          <a:p>
            <a:fld id="{6B97D948-30E8-43F7-AE10-F6E2D9F2BBB1}" type="slidenum">
              <a:rPr lang="en-US" smtClean="0"/>
              <a:t>410</a:t>
            </a:fld>
            <a:endParaRPr lang="en-US"/>
          </a:p>
        </p:txBody>
      </p:sp>
    </p:spTree>
    <p:extLst>
      <p:ext uri="{BB962C8B-B14F-4D97-AF65-F5344CB8AC3E}">
        <p14:creationId xmlns:p14="http://schemas.microsoft.com/office/powerpoint/2010/main" val="2365076031"/>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947157C-2F19-4B5D-BDD5-1312B4583D9F}"/>
              </a:ext>
            </a:extLst>
          </p:cNvPr>
          <p:cNvPicPr>
            <a:picLocks noGrp="1" noChangeAspect="1"/>
          </p:cNvPicPr>
          <p:nvPr>
            <p:ph idx="1"/>
          </p:nvPr>
        </p:nvPicPr>
        <p:blipFill>
          <a:blip r:embed="rId2"/>
          <a:stretch>
            <a:fillRect/>
          </a:stretch>
        </p:blipFill>
        <p:spPr>
          <a:xfrm>
            <a:off x="1742845" y="839452"/>
            <a:ext cx="8984958" cy="5027027"/>
          </a:xfrm>
        </p:spPr>
      </p:pic>
      <p:sp>
        <p:nvSpPr>
          <p:cNvPr id="4" name="Slide Number Placeholder 3">
            <a:extLst>
              <a:ext uri="{FF2B5EF4-FFF2-40B4-BE49-F238E27FC236}">
                <a16:creationId xmlns:a16="http://schemas.microsoft.com/office/drawing/2014/main" id="{9B8BA726-7BD8-4C46-8CDE-2F0115ADF949}"/>
              </a:ext>
            </a:extLst>
          </p:cNvPr>
          <p:cNvSpPr>
            <a:spLocks noGrp="1"/>
          </p:cNvSpPr>
          <p:nvPr>
            <p:ph type="sldNum" sz="quarter" idx="12"/>
          </p:nvPr>
        </p:nvSpPr>
        <p:spPr/>
        <p:txBody>
          <a:bodyPr/>
          <a:lstStyle/>
          <a:p>
            <a:fld id="{6B97D948-30E8-43F7-AE10-F6E2D9F2BBB1}" type="slidenum">
              <a:rPr lang="en-US" smtClean="0"/>
              <a:t>411</a:t>
            </a:fld>
            <a:endParaRPr lang="en-US"/>
          </a:p>
        </p:txBody>
      </p:sp>
    </p:spTree>
    <p:extLst>
      <p:ext uri="{BB962C8B-B14F-4D97-AF65-F5344CB8AC3E}">
        <p14:creationId xmlns:p14="http://schemas.microsoft.com/office/powerpoint/2010/main" val="1801268458"/>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4430D9-2318-4FC6-A181-262174890D2F}"/>
              </a:ext>
            </a:extLst>
          </p:cNvPr>
          <p:cNvSpPr>
            <a:spLocks noGrp="1"/>
          </p:cNvSpPr>
          <p:nvPr>
            <p:ph idx="1"/>
          </p:nvPr>
        </p:nvSpPr>
        <p:spPr>
          <a:xfrm>
            <a:off x="838200" y="539646"/>
            <a:ext cx="10515600" cy="5637317"/>
          </a:xfrm>
        </p:spPr>
        <p:txBody>
          <a:bodyPr/>
          <a:lstStyle/>
          <a:p>
            <a:r>
              <a:rPr lang="en-US" dirty="0"/>
              <a:t>Let’s show each of these queries in action below: </a:t>
            </a:r>
          </a:p>
          <a:p>
            <a:r>
              <a:rPr lang="en-US" dirty="0" err="1">
                <a:solidFill>
                  <a:srgbClr val="FF0000"/>
                </a:solidFill>
              </a:rPr>
              <a:t>sales.query</a:t>
            </a:r>
            <a:r>
              <a:rPr lang="en-US" dirty="0">
                <a:solidFill>
                  <a:srgbClr val="FF0000"/>
                </a:solidFill>
              </a:rPr>
              <a:t>('sales &gt; 10')</a:t>
            </a:r>
          </a:p>
          <a:p>
            <a:r>
              <a:rPr lang="en-US" dirty="0"/>
              <a:t>Out[45]:</a:t>
            </a:r>
          </a:p>
          <a:p>
            <a:r>
              <a:rPr lang="en-US" dirty="0"/>
              <a:t>   employee  sales  year</a:t>
            </a:r>
          </a:p>
          <a:p>
            <a:r>
              <a:rPr lang="en-US" dirty="0"/>
              <a:t>0  Katrina      14  2018</a:t>
            </a:r>
          </a:p>
          <a:p>
            <a:r>
              <a:rPr lang="en-US" dirty="0"/>
              <a:t>1   </a:t>
            </a:r>
            <a:r>
              <a:rPr lang="en-US" dirty="0" err="1"/>
              <a:t>Guanyu</a:t>
            </a:r>
            <a:r>
              <a:rPr lang="en-US" dirty="0"/>
              <a:t>      17  2019</a:t>
            </a:r>
          </a:p>
          <a:p>
            <a:r>
              <a:rPr lang="en-US" dirty="0"/>
              <a:t>3    Roman      12  2018</a:t>
            </a:r>
          </a:p>
          <a:p>
            <a:r>
              <a:rPr lang="en-US" dirty="0"/>
              <a:t>7   Alaina      15  2020</a:t>
            </a:r>
          </a:p>
        </p:txBody>
      </p:sp>
      <p:sp>
        <p:nvSpPr>
          <p:cNvPr id="4" name="Slide Number Placeholder 3">
            <a:extLst>
              <a:ext uri="{FF2B5EF4-FFF2-40B4-BE49-F238E27FC236}">
                <a16:creationId xmlns:a16="http://schemas.microsoft.com/office/drawing/2014/main" id="{70959093-DD1C-40B9-BBAE-03D9443E7719}"/>
              </a:ext>
            </a:extLst>
          </p:cNvPr>
          <p:cNvSpPr>
            <a:spLocks noGrp="1"/>
          </p:cNvSpPr>
          <p:nvPr>
            <p:ph type="sldNum" sz="quarter" idx="12"/>
          </p:nvPr>
        </p:nvSpPr>
        <p:spPr/>
        <p:txBody>
          <a:bodyPr/>
          <a:lstStyle/>
          <a:p>
            <a:fld id="{6B97D948-30E8-43F7-AE10-F6E2D9F2BBB1}" type="slidenum">
              <a:rPr lang="en-US" smtClean="0"/>
              <a:t>412</a:t>
            </a:fld>
            <a:endParaRPr lang="en-US"/>
          </a:p>
        </p:txBody>
      </p:sp>
    </p:spTree>
    <p:extLst>
      <p:ext uri="{BB962C8B-B14F-4D97-AF65-F5344CB8AC3E}">
        <p14:creationId xmlns:p14="http://schemas.microsoft.com/office/powerpoint/2010/main" val="1599316671"/>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6914CD-D2D1-4C32-BBE6-BDAC6A6E0555}"/>
              </a:ext>
            </a:extLst>
          </p:cNvPr>
          <p:cNvSpPr>
            <a:spLocks noGrp="1"/>
          </p:cNvSpPr>
          <p:nvPr>
            <p:ph idx="1"/>
          </p:nvPr>
        </p:nvSpPr>
        <p:spPr>
          <a:xfrm>
            <a:off x="838200" y="689548"/>
            <a:ext cx="10515600" cy="5487415"/>
          </a:xfrm>
        </p:spPr>
        <p:txBody>
          <a:bodyPr/>
          <a:lstStyle/>
          <a:p>
            <a:r>
              <a:rPr lang="en-US" dirty="0" err="1">
                <a:solidFill>
                  <a:srgbClr val="FF0000"/>
                </a:solidFill>
              </a:rPr>
              <a:t>sales.query</a:t>
            </a:r>
            <a:r>
              <a:rPr lang="en-US" dirty="0">
                <a:solidFill>
                  <a:srgbClr val="FF0000"/>
                </a:solidFill>
              </a:rPr>
              <a:t>('year == 2018')</a:t>
            </a:r>
          </a:p>
          <a:p>
            <a:r>
              <a:rPr lang="en-US" dirty="0"/>
              <a:t>Out[46]:</a:t>
            </a:r>
          </a:p>
          <a:p>
            <a:r>
              <a:rPr lang="en-US" dirty="0"/>
              <a:t>   employee  sales  year</a:t>
            </a:r>
          </a:p>
          <a:p>
            <a:r>
              <a:rPr lang="en-US" dirty="0"/>
              <a:t>0  Katrina      14  2018</a:t>
            </a:r>
          </a:p>
          <a:p>
            <a:r>
              <a:rPr lang="en-US" dirty="0"/>
              <a:t>3    Roman      12  2018</a:t>
            </a:r>
          </a:p>
          <a:p>
            <a:endParaRPr lang="en-US" dirty="0"/>
          </a:p>
          <a:p>
            <a:r>
              <a:rPr lang="en-US" dirty="0" err="1">
                <a:solidFill>
                  <a:srgbClr val="FF0000"/>
                </a:solidFill>
              </a:rPr>
              <a:t>sales.query</a:t>
            </a:r>
            <a:r>
              <a:rPr lang="en-US" dirty="0">
                <a:solidFill>
                  <a:srgbClr val="FF0000"/>
                </a:solidFill>
              </a:rPr>
              <a:t>('sales &gt; 13 and year == 2018')</a:t>
            </a:r>
          </a:p>
          <a:p>
            <a:r>
              <a:rPr lang="en-US" dirty="0"/>
              <a:t>Out[47]:</a:t>
            </a:r>
          </a:p>
          <a:p>
            <a:r>
              <a:rPr lang="en-US" dirty="0"/>
              <a:t>   employee  sales  year</a:t>
            </a:r>
          </a:p>
          <a:p>
            <a:r>
              <a:rPr lang="en-US" dirty="0"/>
              <a:t>0  Katrina      14  2018</a:t>
            </a:r>
          </a:p>
        </p:txBody>
      </p:sp>
      <p:sp>
        <p:nvSpPr>
          <p:cNvPr id="4" name="Slide Number Placeholder 3">
            <a:extLst>
              <a:ext uri="{FF2B5EF4-FFF2-40B4-BE49-F238E27FC236}">
                <a16:creationId xmlns:a16="http://schemas.microsoft.com/office/drawing/2014/main" id="{51ADDB76-032D-4C94-B6D4-346A53A5C1F5}"/>
              </a:ext>
            </a:extLst>
          </p:cNvPr>
          <p:cNvSpPr>
            <a:spLocks noGrp="1"/>
          </p:cNvSpPr>
          <p:nvPr>
            <p:ph type="sldNum" sz="quarter" idx="12"/>
          </p:nvPr>
        </p:nvSpPr>
        <p:spPr/>
        <p:txBody>
          <a:bodyPr/>
          <a:lstStyle/>
          <a:p>
            <a:fld id="{6B97D948-30E8-43F7-AE10-F6E2D9F2BBB1}" type="slidenum">
              <a:rPr lang="en-US" smtClean="0"/>
              <a:t>413</a:t>
            </a:fld>
            <a:endParaRPr lang="en-US"/>
          </a:p>
        </p:txBody>
      </p:sp>
    </p:spTree>
    <p:extLst>
      <p:ext uri="{BB962C8B-B14F-4D97-AF65-F5344CB8AC3E}">
        <p14:creationId xmlns:p14="http://schemas.microsoft.com/office/powerpoint/2010/main" val="340996902"/>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4EBBC-E42B-465A-802E-8BBF346AFC31}"/>
              </a:ext>
            </a:extLst>
          </p:cNvPr>
          <p:cNvSpPr>
            <a:spLocks noGrp="1"/>
          </p:cNvSpPr>
          <p:nvPr>
            <p:ph idx="1"/>
          </p:nvPr>
        </p:nvSpPr>
        <p:spPr>
          <a:xfrm>
            <a:off x="838200" y="434715"/>
            <a:ext cx="10515600" cy="5742248"/>
          </a:xfrm>
        </p:spPr>
        <p:txBody>
          <a:bodyPr>
            <a:normAutofit/>
          </a:bodyPr>
          <a:lstStyle/>
          <a:p>
            <a:r>
              <a:rPr lang="en-US" dirty="0" err="1">
                <a:solidFill>
                  <a:srgbClr val="FF0000"/>
                </a:solidFill>
              </a:rPr>
              <a:t>sales.query</a:t>
            </a:r>
            <a:r>
              <a:rPr lang="en-US" dirty="0">
                <a:solidFill>
                  <a:srgbClr val="FF0000"/>
                </a:solidFill>
              </a:rPr>
              <a:t>('not(sales &gt; 13 and year == 2018)')</a:t>
            </a:r>
          </a:p>
          <a:p>
            <a:r>
              <a:rPr lang="en-US" dirty="0"/>
              <a:t>Out[48]:</a:t>
            </a:r>
          </a:p>
          <a:p>
            <a:r>
              <a:rPr lang="en-US" dirty="0"/>
              <a:t>      employee  sales  year</a:t>
            </a:r>
          </a:p>
          <a:p>
            <a:r>
              <a:rPr lang="en-US" dirty="0"/>
              <a:t>1      </a:t>
            </a:r>
            <a:r>
              <a:rPr lang="en-US" dirty="0" err="1"/>
              <a:t>Guanyu</a:t>
            </a:r>
            <a:r>
              <a:rPr lang="en-US" dirty="0"/>
              <a:t>      17  2019</a:t>
            </a:r>
          </a:p>
          <a:p>
            <a:r>
              <a:rPr lang="en-US" dirty="0"/>
              <a:t>2         Jan       6  2020</a:t>
            </a:r>
          </a:p>
          <a:p>
            <a:r>
              <a:rPr lang="en-US" dirty="0"/>
              <a:t>3       Roman      12  2018</a:t>
            </a:r>
          </a:p>
          <a:p>
            <a:r>
              <a:rPr lang="en-US" dirty="0"/>
              <a:t>4  Jacqueline       8  2020</a:t>
            </a:r>
          </a:p>
          <a:p>
            <a:r>
              <a:rPr lang="en-US" dirty="0"/>
              <a:t>5       Paola       3  2019</a:t>
            </a:r>
          </a:p>
          <a:p>
            <a:r>
              <a:rPr lang="en-US" dirty="0"/>
              <a:t>6   Esperanza       7  2019</a:t>
            </a:r>
          </a:p>
          <a:p>
            <a:r>
              <a:rPr lang="en-US" dirty="0"/>
              <a:t>7      Alaina      15  2020</a:t>
            </a:r>
          </a:p>
          <a:p>
            <a:r>
              <a:rPr lang="en-US" dirty="0"/>
              <a:t>8      </a:t>
            </a:r>
            <a:r>
              <a:rPr lang="en-US" dirty="0" err="1"/>
              <a:t>Egweyn</a:t>
            </a:r>
            <a:r>
              <a:rPr lang="en-US" dirty="0"/>
              <a:t>       5  2020</a:t>
            </a:r>
          </a:p>
        </p:txBody>
      </p:sp>
      <p:sp>
        <p:nvSpPr>
          <p:cNvPr id="4" name="Slide Number Placeholder 3">
            <a:extLst>
              <a:ext uri="{FF2B5EF4-FFF2-40B4-BE49-F238E27FC236}">
                <a16:creationId xmlns:a16="http://schemas.microsoft.com/office/drawing/2014/main" id="{27009829-53B9-4BE2-9B87-B2E3CB83F99C}"/>
              </a:ext>
            </a:extLst>
          </p:cNvPr>
          <p:cNvSpPr>
            <a:spLocks noGrp="1"/>
          </p:cNvSpPr>
          <p:nvPr>
            <p:ph type="sldNum" sz="quarter" idx="12"/>
          </p:nvPr>
        </p:nvSpPr>
        <p:spPr/>
        <p:txBody>
          <a:bodyPr/>
          <a:lstStyle/>
          <a:p>
            <a:fld id="{6B97D948-30E8-43F7-AE10-F6E2D9F2BBB1}" type="slidenum">
              <a:rPr lang="en-US" smtClean="0"/>
              <a:t>414</a:t>
            </a:fld>
            <a:endParaRPr lang="en-US"/>
          </a:p>
        </p:txBody>
      </p:sp>
    </p:spTree>
    <p:extLst>
      <p:ext uri="{BB962C8B-B14F-4D97-AF65-F5344CB8AC3E}">
        <p14:creationId xmlns:p14="http://schemas.microsoft.com/office/powerpoint/2010/main" val="1650071395"/>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80E7A5-70FC-41D5-853B-6D79B3CA6321}"/>
              </a:ext>
            </a:extLst>
          </p:cNvPr>
          <p:cNvSpPr>
            <a:spLocks noGrp="1"/>
          </p:cNvSpPr>
          <p:nvPr>
            <p:ph idx="1"/>
          </p:nvPr>
        </p:nvSpPr>
        <p:spPr>
          <a:xfrm>
            <a:off x="838200" y="554636"/>
            <a:ext cx="10515600" cy="5622327"/>
          </a:xfrm>
        </p:spPr>
        <p:txBody>
          <a:bodyPr/>
          <a:lstStyle/>
          <a:p>
            <a:r>
              <a:rPr lang="en-US" dirty="0"/>
              <a:t> </a:t>
            </a:r>
            <a:r>
              <a:rPr lang="en-US" dirty="0" err="1">
                <a:solidFill>
                  <a:srgbClr val="FF0000"/>
                </a:solidFill>
              </a:rPr>
              <a:t>sales.query</a:t>
            </a:r>
            <a:r>
              <a:rPr lang="en-US" dirty="0">
                <a:solidFill>
                  <a:srgbClr val="FF0000"/>
                </a:solidFill>
              </a:rPr>
              <a:t>('sales/3 &gt; 3')</a:t>
            </a:r>
          </a:p>
          <a:p>
            <a:r>
              <a:rPr lang="en-US" dirty="0"/>
              <a:t>Out[49]:</a:t>
            </a:r>
          </a:p>
          <a:p>
            <a:r>
              <a:rPr lang="en-US" dirty="0"/>
              <a:t>   employee  sales  year</a:t>
            </a:r>
          </a:p>
          <a:p>
            <a:r>
              <a:rPr lang="en-US" dirty="0"/>
              <a:t>0  Katrina      14  2018</a:t>
            </a:r>
          </a:p>
          <a:p>
            <a:r>
              <a:rPr lang="en-US" dirty="0"/>
              <a:t>1   </a:t>
            </a:r>
            <a:r>
              <a:rPr lang="en-US" dirty="0" err="1"/>
              <a:t>Guanyu</a:t>
            </a:r>
            <a:r>
              <a:rPr lang="en-US" dirty="0"/>
              <a:t>      17  2019</a:t>
            </a:r>
          </a:p>
          <a:p>
            <a:r>
              <a:rPr lang="en-US" dirty="0"/>
              <a:t>3    Roman      12  2018</a:t>
            </a:r>
          </a:p>
          <a:p>
            <a:r>
              <a:rPr lang="en-US" dirty="0"/>
              <a:t>7   Alaina      15  2020</a:t>
            </a:r>
          </a:p>
        </p:txBody>
      </p:sp>
      <p:sp>
        <p:nvSpPr>
          <p:cNvPr id="4" name="Slide Number Placeholder 3">
            <a:extLst>
              <a:ext uri="{FF2B5EF4-FFF2-40B4-BE49-F238E27FC236}">
                <a16:creationId xmlns:a16="http://schemas.microsoft.com/office/drawing/2014/main" id="{65740FAB-CB13-48C9-BE5F-7512728611DD}"/>
              </a:ext>
            </a:extLst>
          </p:cNvPr>
          <p:cNvSpPr>
            <a:spLocks noGrp="1"/>
          </p:cNvSpPr>
          <p:nvPr>
            <p:ph type="sldNum" sz="quarter" idx="12"/>
          </p:nvPr>
        </p:nvSpPr>
        <p:spPr/>
        <p:txBody>
          <a:bodyPr/>
          <a:lstStyle/>
          <a:p>
            <a:fld id="{6B97D948-30E8-43F7-AE10-F6E2D9F2BBB1}" type="slidenum">
              <a:rPr lang="en-US" smtClean="0"/>
              <a:t>415</a:t>
            </a:fld>
            <a:endParaRPr lang="en-US"/>
          </a:p>
        </p:txBody>
      </p:sp>
    </p:spTree>
    <p:extLst>
      <p:ext uri="{BB962C8B-B14F-4D97-AF65-F5344CB8AC3E}">
        <p14:creationId xmlns:p14="http://schemas.microsoft.com/office/powerpoint/2010/main" val="2943456458"/>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C4533C-EF8A-4196-BB11-AC3B790D8669}"/>
              </a:ext>
            </a:extLst>
          </p:cNvPr>
          <p:cNvSpPr>
            <a:spLocks noGrp="1"/>
          </p:cNvSpPr>
          <p:nvPr>
            <p:ph idx="1"/>
          </p:nvPr>
        </p:nvSpPr>
        <p:spPr>
          <a:xfrm>
            <a:off x="838200" y="449705"/>
            <a:ext cx="10515600" cy="5727258"/>
          </a:xfrm>
        </p:spPr>
        <p:txBody>
          <a:bodyPr/>
          <a:lstStyle/>
          <a:p>
            <a:r>
              <a:rPr lang="en-US" dirty="0" err="1">
                <a:solidFill>
                  <a:srgbClr val="FF0000"/>
                </a:solidFill>
              </a:rPr>
              <a:t>sales.query</a:t>
            </a:r>
            <a:r>
              <a:rPr lang="en-US" dirty="0">
                <a:solidFill>
                  <a:srgbClr val="FF0000"/>
                </a:solidFill>
              </a:rPr>
              <a:t>('employee &gt; "J"')</a:t>
            </a:r>
          </a:p>
          <a:p>
            <a:r>
              <a:rPr lang="en-US" dirty="0"/>
              <a:t>Out[50]:</a:t>
            </a:r>
          </a:p>
          <a:p>
            <a:r>
              <a:rPr lang="en-US" dirty="0"/>
              <a:t>      employee  sales  year</a:t>
            </a:r>
          </a:p>
          <a:p>
            <a:r>
              <a:rPr lang="en-US" dirty="0"/>
              <a:t>0     Katrina      14  2018</a:t>
            </a:r>
          </a:p>
          <a:p>
            <a:r>
              <a:rPr lang="en-US" dirty="0"/>
              <a:t>2         Jan       6  2020</a:t>
            </a:r>
          </a:p>
          <a:p>
            <a:r>
              <a:rPr lang="en-US" dirty="0"/>
              <a:t>3       Roman      12  2018</a:t>
            </a:r>
          </a:p>
          <a:p>
            <a:r>
              <a:rPr lang="en-US" dirty="0"/>
              <a:t>4  Jacqueline       8  2020</a:t>
            </a:r>
          </a:p>
          <a:p>
            <a:r>
              <a:rPr lang="en-US" dirty="0"/>
              <a:t>5       Paola       3  2019</a:t>
            </a:r>
          </a:p>
        </p:txBody>
      </p:sp>
      <p:sp>
        <p:nvSpPr>
          <p:cNvPr id="4" name="Slide Number Placeholder 3">
            <a:extLst>
              <a:ext uri="{FF2B5EF4-FFF2-40B4-BE49-F238E27FC236}">
                <a16:creationId xmlns:a16="http://schemas.microsoft.com/office/drawing/2014/main" id="{46AE2A37-6E3A-4053-8C4A-2DC9D586DFB6}"/>
              </a:ext>
            </a:extLst>
          </p:cNvPr>
          <p:cNvSpPr>
            <a:spLocks noGrp="1"/>
          </p:cNvSpPr>
          <p:nvPr>
            <p:ph type="sldNum" sz="quarter" idx="12"/>
          </p:nvPr>
        </p:nvSpPr>
        <p:spPr/>
        <p:txBody>
          <a:bodyPr/>
          <a:lstStyle/>
          <a:p>
            <a:fld id="{6B97D948-30E8-43F7-AE10-F6E2D9F2BBB1}" type="slidenum">
              <a:rPr lang="en-US" smtClean="0"/>
              <a:t>416</a:t>
            </a:fld>
            <a:endParaRPr lang="en-US"/>
          </a:p>
        </p:txBody>
      </p:sp>
    </p:spTree>
    <p:extLst>
      <p:ext uri="{BB962C8B-B14F-4D97-AF65-F5344CB8AC3E}">
        <p14:creationId xmlns:p14="http://schemas.microsoft.com/office/powerpoint/2010/main" val="4053436459"/>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95F79-7194-4702-BC6B-D7F735F88F3C}"/>
              </a:ext>
            </a:extLst>
          </p:cNvPr>
          <p:cNvSpPr>
            <a:spLocks noGrp="1"/>
          </p:cNvSpPr>
          <p:nvPr>
            <p:ph type="title"/>
          </p:nvPr>
        </p:nvSpPr>
        <p:spPr>
          <a:xfrm>
            <a:off x="838200" y="365126"/>
            <a:ext cx="10515600" cy="819098"/>
          </a:xfrm>
        </p:spPr>
        <p:txBody>
          <a:bodyPr/>
          <a:lstStyle/>
          <a:p>
            <a:r>
              <a:rPr lang="en-US" dirty="0"/>
              <a:t>Another way. . . </a:t>
            </a:r>
          </a:p>
        </p:txBody>
      </p:sp>
      <p:sp>
        <p:nvSpPr>
          <p:cNvPr id="3" name="Content Placeholder 2">
            <a:extLst>
              <a:ext uri="{FF2B5EF4-FFF2-40B4-BE49-F238E27FC236}">
                <a16:creationId xmlns:a16="http://schemas.microsoft.com/office/drawing/2014/main" id="{50D6B85F-9865-4A66-9AB4-DF527F84F25F}"/>
              </a:ext>
            </a:extLst>
          </p:cNvPr>
          <p:cNvSpPr>
            <a:spLocks noGrp="1"/>
          </p:cNvSpPr>
          <p:nvPr>
            <p:ph idx="1"/>
          </p:nvPr>
        </p:nvSpPr>
        <p:spPr>
          <a:xfrm>
            <a:off x="838200" y="1184224"/>
            <a:ext cx="10515600" cy="4992739"/>
          </a:xfrm>
        </p:spPr>
        <p:txBody>
          <a:bodyPr/>
          <a:lstStyle/>
          <a:p>
            <a:pPr algn="just"/>
            <a:r>
              <a:rPr lang="en-US" dirty="0"/>
              <a:t>Now, these same queries can be accomplished using selection and filtering but it requires more </a:t>
            </a:r>
            <a:r>
              <a:rPr lang="en-US" dirty="0" err="1"/>
              <a:t>sytax</a:t>
            </a:r>
            <a:r>
              <a:rPr lang="en-US" dirty="0"/>
              <a:t>.</a:t>
            </a:r>
          </a:p>
          <a:p>
            <a:pPr algn="just"/>
            <a:r>
              <a:rPr lang="en-US" dirty="0"/>
              <a:t>The query method is often more computationally efficient and less prone to error.</a:t>
            </a:r>
          </a:p>
          <a:p>
            <a:pPr algn="just"/>
            <a:r>
              <a:rPr lang="en-US" dirty="0"/>
              <a:t>Let’s try rewriting </a:t>
            </a:r>
            <a:r>
              <a:rPr lang="en-US" dirty="0" err="1"/>
              <a:t>sales.query</a:t>
            </a:r>
            <a:r>
              <a:rPr lang="en-US" dirty="0"/>
              <a:t>('sales &gt; 13 and year == 2018') using these techniques:</a:t>
            </a:r>
          </a:p>
          <a:p>
            <a:pPr algn="just"/>
            <a:r>
              <a:rPr lang="en-US" dirty="0">
                <a:solidFill>
                  <a:srgbClr val="FF0000"/>
                </a:solidFill>
              </a:rPr>
              <a:t>sales[(sales['sales'] &gt; 13) &amp; (sales['year'] == 2018)]</a:t>
            </a:r>
          </a:p>
          <a:p>
            <a:pPr algn="just"/>
            <a:r>
              <a:rPr lang="en-US" dirty="0"/>
              <a:t>Out[51]:</a:t>
            </a:r>
          </a:p>
          <a:p>
            <a:pPr algn="just"/>
            <a:r>
              <a:rPr lang="en-US" dirty="0"/>
              <a:t>   employee  sales  year</a:t>
            </a:r>
          </a:p>
          <a:p>
            <a:pPr algn="just"/>
            <a:r>
              <a:rPr lang="en-US" dirty="0"/>
              <a:t>0  Katrina      14  2018</a:t>
            </a:r>
          </a:p>
        </p:txBody>
      </p:sp>
      <p:sp>
        <p:nvSpPr>
          <p:cNvPr id="4" name="Slide Number Placeholder 3">
            <a:extLst>
              <a:ext uri="{FF2B5EF4-FFF2-40B4-BE49-F238E27FC236}">
                <a16:creationId xmlns:a16="http://schemas.microsoft.com/office/drawing/2014/main" id="{5D0EB565-B9C1-4036-A9A9-194F24C7D91C}"/>
              </a:ext>
            </a:extLst>
          </p:cNvPr>
          <p:cNvSpPr>
            <a:spLocks noGrp="1"/>
          </p:cNvSpPr>
          <p:nvPr>
            <p:ph type="sldNum" sz="quarter" idx="12"/>
          </p:nvPr>
        </p:nvSpPr>
        <p:spPr/>
        <p:txBody>
          <a:bodyPr/>
          <a:lstStyle/>
          <a:p>
            <a:fld id="{6B97D948-30E8-43F7-AE10-F6E2D9F2BBB1}" type="slidenum">
              <a:rPr lang="en-US" smtClean="0"/>
              <a:t>417</a:t>
            </a:fld>
            <a:endParaRPr lang="en-US"/>
          </a:p>
        </p:txBody>
      </p:sp>
    </p:spTree>
    <p:extLst>
      <p:ext uri="{BB962C8B-B14F-4D97-AF65-F5344CB8AC3E}">
        <p14:creationId xmlns:p14="http://schemas.microsoft.com/office/powerpoint/2010/main" val="4044501335"/>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D2F378-B728-4EE5-AF14-62DEAA246422}"/>
              </a:ext>
            </a:extLst>
          </p:cNvPr>
          <p:cNvSpPr>
            <a:spLocks noGrp="1"/>
          </p:cNvSpPr>
          <p:nvPr>
            <p:ph idx="1"/>
          </p:nvPr>
        </p:nvSpPr>
        <p:spPr>
          <a:xfrm>
            <a:off x="838200" y="464695"/>
            <a:ext cx="10515600" cy="5712268"/>
          </a:xfrm>
        </p:spPr>
        <p:txBody>
          <a:bodyPr>
            <a:normAutofit fontScale="92500" lnSpcReduction="10000"/>
          </a:bodyPr>
          <a:lstStyle/>
          <a:p>
            <a:pPr algn="just"/>
            <a:r>
              <a:rPr lang="en-US" dirty="0"/>
              <a:t>Another nice feature of query is that we can bring in variables from our local workspace, but outside of the </a:t>
            </a:r>
            <a:r>
              <a:rPr lang="en-US" dirty="0" err="1"/>
              <a:t>DataFrame</a:t>
            </a:r>
            <a:r>
              <a:rPr lang="en-US" dirty="0"/>
              <a:t> by prefixing the @ symbol to the variable name. </a:t>
            </a:r>
          </a:p>
          <a:p>
            <a:pPr algn="just"/>
            <a:r>
              <a:rPr lang="en-US" dirty="0"/>
              <a:t>Let’s say we knew that each sale was worth $1,000. </a:t>
            </a:r>
          </a:p>
          <a:p>
            <a:pPr algn="just"/>
            <a:r>
              <a:rPr lang="en-US" dirty="0"/>
              <a:t>Then we could query based on the total dollar amount of sales as follows:</a:t>
            </a:r>
          </a:p>
          <a:p>
            <a:pPr algn="just"/>
            <a:r>
              <a:rPr lang="en-US" dirty="0"/>
              <a:t> </a:t>
            </a:r>
            <a:r>
              <a:rPr lang="en-US" dirty="0" err="1">
                <a:solidFill>
                  <a:srgbClr val="FF0000"/>
                </a:solidFill>
              </a:rPr>
              <a:t>revenue_per_sale</a:t>
            </a:r>
            <a:r>
              <a:rPr lang="en-US" dirty="0">
                <a:solidFill>
                  <a:srgbClr val="FF0000"/>
                </a:solidFill>
              </a:rPr>
              <a:t> = 1000</a:t>
            </a:r>
          </a:p>
          <a:p>
            <a:pPr algn="just"/>
            <a:r>
              <a:rPr lang="en-US" dirty="0">
                <a:solidFill>
                  <a:srgbClr val="FF0000"/>
                </a:solidFill>
              </a:rPr>
              <a:t> </a:t>
            </a:r>
            <a:r>
              <a:rPr lang="en-US" dirty="0" err="1">
                <a:solidFill>
                  <a:srgbClr val="FF0000"/>
                </a:solidFill>
              </a:rPr>
              <a:t>sales.query</a:t>
            </a:r>
            <a:r>
              <a:rPr lang="en-US" dirty="0">
                <a:solidFill>
                  <a:srgbClr val="FF0000"/>
                </a:solidFill>
              </a:rPr>
              <a:t>('sales * @revenue_per_sale &gt; 10000')</a:t>
            </a:r>
          </a:p>
          <a:p>
            <a:pPr algn="just"/>
            <a:r>
              <a:rPr lang="en-US" dirty="0"/>
              <a:t>Out[52]:</a:t>
            </a:r>
          </a:p>
          <a:p>
            <a:pPr algn="just"/>
            <a:r>
              <a:rPr lang="en-US" dirty="0"/>
              <a:t>   employee  sales  year</a:t>
            </a:r>
          </a:p>
          <a:p>
            <a:pPr algn="just"/>
            <a:r>
              <a:rPr lang="en-US" dirty="0"/>
              <a:t>0  Katrina      14  2018</a:t>
            </a:r>
          </a:p>
          <a:p>
            <a:pPr algn="just"/>
            <a:r>
              <a:rPr lang="en-US" dirty="0"/>
              <a:t>1   </a:t>
            </a:r>
            <a:r>
              <a:rPr lang="en-US" dirty="0" err="1"/>
              <a:t>Guanyu</a:t>
            </a:r>
            <a:r>
              <a:rPr lang="en-US" dirty="0"/>
              <a:t>      17  2019</a:t>
            </a:r>
          </a:p>
          <a:p>
            <a:pPr algn="just"/>
            <a:r>
              <a:rPr lang="en-US" dirty="0"/>
              <a:t>3    Roman      12  2018</a:t>
            </a:r>
          </a:p>
          <a:p>
            <a:pPr algn="just"/>
            <a:r>
              <a:rPr lang="en-US" dirty="0"/>
              <a:t>7   Alaina      15  2020</a:t>
            </a:r>
          </a:p>
        </p:txBody>
      </p:sp>
      <p:sp>
        <p:nvSpPr>
          <p:cNvPr id="4" name="Slide Number Placeholder 3">
            <a:extLst>
              <a:ext uri="{FF2B5EF4-FFF2-40B4-BE49-F238E27FC236}">
                <a16:creationId xmlns:a16="http://schemas.microsoft.com/office/drawing/2014/main" id="{159D5BB8-B319-4DFB-8DB7-296E4331C278}"/>
              </a:ext>
            </a:extLst>
          </p:cNvPr>
          <p:cNvSpPr>
            <a:spLocks noGrp="1"/>
          </p:cNvSpPr>
          <p:nvPr>
            <p:ph type="sldNum" sz="quarter" idx="12"/>
          </p:nvPr>
        </p:nvSpPr>
        <p:spPr/>
        <p:txBody>
          <a:bodyPr/>
          <a:lstStyle/>
          <a:p>
            <a:fld id="{6B97D948-30E8-43F7-AE10-F6E2D9F2BBB1}" type="slidenum">
              <a:rPr lang="en-US" smtClean="0"/>
              <a:t>418</a:t>
            </a:fld>
            <a:endParaRPr lang="en-US"/>
          </a:p>
        </p:txBody>
      </p:sp>
    </p:spTree>
    <p:extLst>
      <p:ext uri="{BB962C8B-B14F-4D97-AF65-F5344CB8AC3E}">
        <p14:creationId xmlns:p14="http://schemas.microsoft.com/office/powerpoint/2010/main" val="3141637981"/>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A1987FB-F979-416C-9C2F-EE3AB588699D}"/>
              </a:ext>
            </a:extLst>
          </p:cNvPr>
          <p:cNvPicPr>
            <a:picLocks noGrp="1" noChangeAspect="1"/>
          </p:cNvPicPr>
          <p:nvPr>
            <p:ph idx="1"/>
          </p:nvPr>
        </p:nvPicPr>
        <p:blipFill>
          <a:blip r:embed="rId2"/>
          <a:stretch>
            <a:fillRect/>
          </a:stretch>
        </p:blipFill>
        <p:spPr>
          <a:xfrm>
            <a:off x="804146" y="1333500"/>
            <a:ext cx="9051054" cy="4562928"/>
          </a:xfrm>
          <a:prstGeom prst="rect">
            <a:avLst/>
          </a:prstGeom>
        </p:spPr>
      </p:pic>
      <p:sp>
        <p:nvSpPr>
          <p:cNvPr id="4" name="Slide Number Placeholder 3">
            <a:extLst>
              <a:ext uri="{FF2B5EF4-FFF2-40B4-BE49-F238E27FC236}">
                <a16:creationId xmlns:a16="http://schemas.microsoft.com/office/drawing/2014/main" id="{7B004EB2-0FF9-4938-84EB-32298585E516}"/>
              </a:ext>
            </a:extLst>
          </p:cNvPr>
          <p:cNvSpPr>
            <a:spLocks noGrp="1"/>
          </p:cNvSpPr>
          <p:nvPr>
            <p:ph type="sldNum" sz="quarter" idx="12"/>
          </p:nvPr>
        </p:nvSpPr>
        <p:spPr/>
        <p:txBody>
          <a:bodyPr/>
          <a:lstStyle/>
          <a:p>
            <a:fld id="{6B97D948-30E8-43F7-AE10-F6E2D9F2BBB1}" type="slidenum">
              <a:rPr lang="en-US" smtClean="0"/>
              <a:t>419</a:t>
            </a:fld>
            <a:endParaRPr lang="en-US"/>
          </a:p>
        </p:txBody>
      </p:sp>
    </p:spTree>
    <p:extLst>
      <p:ext uri="{BB962C8B-B14F-4D97-AF65-F5344CB8AC3E}">
        <p14:creationId xmlns:p14="http://schemas.microsoft.com/office/powerpoint/2010/main" val="366208025"/>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296E-9542-47D9-88C1-3F62134B20C8}"/>
              </a:ext>
            </a:extLst>
          </p:cNvPr>
          <p:cNvSpPr>
            <a:spLocks noGrp="1"/>
          </p:cNvSpPr>
          <p:nvPr>
            <p:ph type="title"/>
          </p:nvPr>
        </p:nvSpPr>
        <p:spPr>
          <a:xfrm>
            <a:off x="838200" y="365125"/>
            <a:ext cx="10515600" cy="729157"/>
          </a:xfrm>
        </p:spPr>
        <p:txBody>
          <a:bodyPr/>
          <a:lstStyle/>
          <a:p>
            <a:r>
              <a:rPr lang="en-US" dirty="0"/>
              <a:t>Computation with columns</a:t>
            </a:r>
          </a:p>
        </p:txBody>
      </p:sp>
      <p:sp>
        <p:nvSpPr>
          <p:cNvPr id="3" name="Content Placeholder 2">
            <a:extLst>
              <a:ext uri="{FF2B5EF4-FFF2-40B4-BE49-F238E27FC236}">
                <a16:creationId xmlns:a16="http://schemas.microsoft.com/office/drawing/2014/main" id="{5261795B-8463-4963-9668-4D0BE65A383B}"/>
              </a:ext>
            </a:extLst>
          </p:cNvPr>
          <p:cNvSpPr>
            <a:spLocks noGrp="1"/>
          </p:cNvSpPr>
          <p:nvPr>
            <p:ph idx="1"/>
          </p:nvPr>
        </p:nvSpPr>
        <p:spPr>
          <a:xfrm>
            <a:off x="838200" y="1094282"/>
            <a:ext cx="10515600" cy="5082681"/>
          </a:xfrm>
        </p:spPr>
        <p:txBody>
          <a:bodyPr/>
          <a:lstStyle/>
          <a:p>
            <a:pPr algn="just"/>
            <a:r>
              <a:rPr lang="en-US" dirty="0">
                <a:solidFill>
                  <a:srgbClr val="FF0000"/>
                </a:solidFill>
              </a:rPr>
              <a:t>pandas</a:t>
            </a:r>
            <a:r>
              <a:rPr lang="en-US" dirty="0"/>
              <a:t> also has a faster, more readable method for performing a number of computations on columns. </a:t>
            </a:r>
          </a:p>
          <a:p>
            <a:pPr algn="just"/>
            <a:r>
              <a:rPr lang="en-US" dirty="0"/>
              <a:t>Let’s create a </a:t>
            </a:r>
            <a:r>
              <a:rPr lang="en-US" dirty="0" err="1"/>
              <a:t>DataFrame</a:t>
            </a:r>
            <a:r>
              <a:rPr lang="en-US" dirty="0"/>
              <a:t> with some data to demonstrate:</a:t>
            </a:r>
          </a:p>
          <a:p>
            <a:pPr algn="just"/>
            <a:r>
              <a:rPr lang="en-US" dirty="0" err="1">
                <a:solidFill>
                  <a:srgbClr val="FF0000"/>
                </a:solidFill>
              </a:rPr>
              <a:t>rand_matrix</a:t>
            </a:r>
            <a:r>
              <a:rPr lang="en-US" dirty="0">
                <a:solidFill>
                  <a:srgbClr val="FF0000"/>
                </a:solidFill>
              </a:rPr>
              <a:t> = </a:t>
            </a:r>
            <a:r>
              <a:rPr lang="en-US" dirty="0" err="1">
                <a:solidFill>
                  <a:srgbClr val="FF0000"/>
                </a:solidFill>
              </a:rPr>
              <a:t>np.random.rand</a:t>
            </a:r>
            <a:r>
              <a:rPr lang="en-US" dirty="0">
                <a:solidFill>
                  <a:srgbClr val="FF0000"/>
                </a:solidFill>
              </a:rPr>
              <a:t>(5, 4)</a:t>
            </a:r>
          </a:p>
          <a:p>
            <a:r>
              <a:rPr lang="en-US" dirty="0">
                <a:solidFill>
                  <a:srgbClr val="FF0000"/>
                </a:solidFill>
              </a:rPr>
              <a:t>data = </a:t>
            </a:r>
            <a:r>
              <a:rPr lang="en-US" dirty="0" err="1">
                <a:solidFill>
                  <a:srgbClr val="FF0000"/>
                </a:solidFill>
              </a:rPr>
              <a:t>pd.DataFrame</a:t>
            </a:r>
            <a:r>
              <a:rPr lang="en-US" dirty="0">
                <a:solidFill>
                  <a:srgbClr val="FF0000"/>
                </a:solidFill>
              </a:rPr>
              <a:t>(</a:t>
            </a:r>
            <a:r>
              <a:rPr lang="en-US" dirty="0" err="1">
                <a:solidFill>
                  <a:srgbClr val="FF0000"/>
                </a:solidFill>
              </a:rPr>
              <a:t>rand_matrix</a:t>
            </a:r>
            <a:r>
              <a:rPr lang="en-US" dirty="0">
                <a:solidFill>
                  <a:srgbClr val="FF0000"/>
                </a:solidFill>
              </a:rPr>
              <a:t>, columns=['</a:t>
            </a:r>
            <a:r>
              <a:rPr lang="en-US" dirty="0" err="1">
                <a:solidFill>
                  <a:srgbClr val="FF0000"/>
                </a:solidFill>
              </a:rPr>
              <a:t>speed_initial</a:t>
            </a:r>
            <a:r>
              <a:rPr lang="en-US" dirty="0">
                <a:solidFill>
                  <a:srgbClr val="FF0000"/>
                </a:solidFill>
              </a:rPr>
              <a:t>', '</a:t>
            </a:r>
            <a:r>
              <a:rPr lang="en-US" dirty="0" err="1">
                <a:solidFill>
                  <a:srgbClr val="FF0000"/>
                </a:solidFill>
              </a:rPr>
              <a:t>speed_final</a:t>
            </a:r>
            <a:r>
              <a:rPr lang="en-US" dirty="0">
                <a:solidFill>
                  <a:srgbClr val="FF0000"/>
                </a:solidFill>
              </a:rPr>
              <a:t>', '</a:t>
            </a:r>
            <a:r>
              <a:rPr lang="en-US" dirty="0" err="1">
                <a:solidFill>
                  <a:srgbClr val="FF0000"/>
                </a:solidFill>
              </a:rPr>
              <a:t>time_initial</a:t>
            </a:r>
            <a:r>
              <a:rPr lang="en-US" dirty="0">
                <a:solidFill>
                  <a:srgbClr val="FF0000"/>
                </a:solidFill>
              </a:rPr>
              <a:t>', '</a:t>
            </a:r>
            <a:r>
              <a:rPr lang="en-US" dirty="0" err="1">
                <a:solidFill>
                  <a:srgbClr val="FF0000"/>
                </a:solidFill>
              </a:rPr>
              <a:t>time_final</a:t>
            </a:r>
            <a:r>
              <a:rPr lang="en-US" dirty="0">
                <a:solidFill>
                  <a:srgbClr val="FF0000"/>
                </a:solidFill>
              </a:rPr>
              <a:t>'])</a:t>
            </a:r>
          </a:p>
          <a:p>
            <a:pPr algn="just"/>
            <a:r>
              <a:rPr lang="en-US" dirty="0" err="1">
                <a:solidFill>
                  <a:srgbClr val="FF0000"/>
                </a:solidFill>
              </a:rPr>
              <a:t>data_copy</a:t>
            </a:r>
            <a:r>
              <a:rPr lang="en-US" dirty="0">
                <a:solidFill>
                  <a:srgbClr val="FF0000"/>
                </a:solidFill>
              </a:rPr>
              <a:t> = </a:t>
            </a:r>
            <a:r>
              <a:rPr lang="en-US" dirty="0" err="1">
                <a:solidFill>
                  <a:srgbClr val="FF0000"/>
                </a:solidFill>
              </a:rPr>
              <a:t>data.copy</a:t>
            </a:r>
            <a:r>
              <a:rPr lang="en-US" dirty="0">
                <a:solidFill>
                  <a:srgbClr val="FF0000"/>
                </a:solidFill>
              </a:rPr>
              <a:t>()  # Make a copy to use later</a:t>
            </a:r>
          </a:p>
          <a:p>
            <a:pPr algn="just"/>
            <a:r>
              <a:rPr lang="en-US" dirty="0">
                <a:solidFill>
                  <a:srgbClr val="FF0000"/>
                </a:solidFill>
              </a:rPr>
              <a:t>data</a:t>
            </a:r>
          </a:p>
          <a:p>
            <a:pPr algn="just"/>
            <a:endParaRPr lang="en-US" dirty="0">
              <a:solidFill>
                <a:srgbClr val="FF0000"/>
              </a:solidFill>
            </a:endParaRPr>
          </a:p>
        </p:txBody>
      </p:sp>
      <p:sp>
        <p:nvSpPr>
          <p:cNvPr id="4" name="Slide Number Placeholder 3">
            <a:extLst>
              <a:ext uri="{FF2B5EF4-FFF2-40B4-BE49-F238E27FC236}">
                <a16:creationId xmlns:a16="http://schemas.microsoft.com/office/drawing/2014/main" id="{978A87BA-AECB-4F74-A46E-D27BCB5F4B95}"/>
              </a:ext>
            </a:extLst>
          </p:cNvPr>
          <p:cNvSpPr>
            <a:spLocks noGrp="1"/>
          </p:cNvSpPr>
          <p:nvPr>
            <p:ph type="sldNum" sz="quarter" idx="12"/>
          </p:nvPr>
        </p:nvSpPr>
        <p:spPr/>
        <p:txBody>
          <a:bodyPr/>
          <a:lstStyle/>
          <a:p>
            <a:fld id="{6B97D948-30E8-43F7-AE10-F6E2D9F2BBB1}" type="slidenum">
              <a:rPr lang="en-US" smtClean="0"/>
              <a:t>420</a:t>
            </a:fld>
            <a:endParaRPr lang="en-US"/>
          </a:p>
        </p:txBody>
      </p:sp>
    </p:spTree>
    <p:extLst>
      <p:ext uri="{BB962C8B-B14F-4D97-AF65-F5344CB8AC3E}">
        <p14:creationId xmlns:p14="http://schemas.microsoft.com/office/powerpoint/2010/main" val="1587477580"/>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6B614C-562E-4EEC-9858-DA8D45708085}"/>
              </a:ext>
            </a:extLst>
          </p:cNvPr>
          <p:cNvSpPr>
            <a:spLocks noGrp="1"/>
          </p:cNvSpPr>
          <p:nvPr>
            <p:ph idx="1"/>
          </p:nvPr>
        </p:nvSpPr>
        <p:spPr>
          <a:xfrm>
            <a:off x="838200" y="569626"/>
            <a:ext cx="10515600" cy="5607337"/>
          </a:xfrm>
        </p:spPr>
        <p:txBody>
          <a:bodyPr/>
          <a:lstStyle/>
          <a:p>
            <a:r>
              <a:rPr lang="en-US" dirty="0"/>
              <a:t>Out[53]:</a:t>
            </a:r>
          </a:p>
          <a:p>
            <a:r>
              <a:rPr lang="en-US" dirty="0"/>
              <a:t>   </a:t>
            </a:r>
            <a:r>
              <a:rPr lang="en-US" dirty="0" err="1"/>
              <a:t>speed_initial</a:t>
            </a:r>
            <a:r>
              <a:rPr lang="en-US" dirty="0"/>
              <a:t>  </a:t>
            </a:r>
            <a:r>
              <a:rPr lang="en-US" dirty="0" err="1"/>
              <a:t>speed_final</a:t>
            </a:r>
            <a:r>
              <a:rPr lang="en-US" dirty="0"/>
              <a:t>  </a:t>
            </a:r>
            <a:r>
              <a:rPr lang="en-US" dirty="0" err="1"/>
              <a:t>time_initial</a:t>
            </a:r>
            <a:r>
              <a:rPr lang="en-US" dirty="0"/>
              <a:t>  </a:t>
            </a:r>
            <a:r>
              <a:rPr lang="en-US" dirty="0" err="1"/>
              <a:t>time_final</a:t>
            </a:r>
            <a:endParaRPr lang="en-US" dirty="0"/>
          </a:p>
          <a:p>
            <a:r>
              <a:rPr lang="en-US" dirty="0"/>
              <a:t>0       0.517930     0.497419      0.609459    0.620051</a:t>
            </a:r>
          </a:p>
          <a:p>
            <a:r>
              <a:rPr lang="en-US" dirty="0"/>
              <a:t>1       0.126974     0.054085      0.414578    0.567567</a:t>
            </a:r>
          </a:p>
          <a:p>
            <a:r>
              <a:rPr lang="en-US" dirty="0"/>
              <a:t>2       0.039720     0.601753      0.578390    0.653008</a:t>
            </a:r>
          </a:p>
          <a:p>
            <a:r>
              <a:rPr lang="en-US" dirty="0"/>
              <a:t>3       0.102974     0.008130      0.370052    0.089282</a:t>
            </a:r>
          </a:p>
          <a:p>
            <a:r>
              <a:rPr lang="en-US" dirty="0"/>
              <a:t>4       0.073707     0.341360      0.941587    0.769856</a:t>
            </a:r>
          </a:p>
        </p:txBody>
      </p:sp>
      <p:sp>
        <p:nvSpPr>
          <p:cNvPr id="4" name="Slide Number Placeholder 3">
            <a:extLst>
              <a:ext uri="{FF2B5EF4-FFF2-40B4-BE49-F238E27FC236}">
                <a16:creationId xmlns:a16="http://schemas.microsoft.com/office/drawing/2014/main" id="{BFAFF0B2-7EDA-4FC9-BB2E-6A2311B94CA4}"/>
              </a:ext>
            </a:extLst>
          </p:cNvPr>
          <p:cNvSpPr>
            <a:spLocks noGrp="1"/>
          </p:cNvSpPr>
          <p:nvPr>
            <p:ph type="sldNum" sz="quarter" idx="12"/>
          </p:nvPr>
        </p:nvSpPr>
        <p:spPr/>
        <p:txBody>
          <a:bodyPr/>
          <a:lstStyle/>
          <a:p>
            <a:fld id="{6B97D948-30E8-43F7-AE10-F6E2D9F2BBB1}" type="slidenum">
              <a:rPr lang="en-US" smtClean="0"/>
              <a:t>421</a:t>
            </a:fld>
            <a:endParaRPr lang="en-US"/>
          </a:p>
        </p:txBody>
      </p:sp>
    </p:spTree>
    <p:extLst>
      <p:ext uri="{BB962C8B-B14F-4D97-AF65-F5344CB8AC3E}">
        <p14:creationId xmlns:p14="http://schemas.microsoft.com/office/powerpoint/2010/main" val="3914536250"/>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ADDCCA-7655-49BE-BC8A-1FBE5EE49B36}"/>
              </a:ext>
            </a:extLst>
          </p:cNvPr>
          <p:cNvSpPr>
            <a:spLocks noGrp="1"/>
          </p:cNvSpPr>
          <p:nvPr>
            <p:ph idx="1"/>
          </p:nvPr>
        </p:nvSpPr>
        <p:spPr>
          <a:xfrm>
            <a:off x="838200" y="494675"/>
            <a:ext cx="10515600" cy="5682288"/>
          </a:xfrm>
        </p:spPr>
        <p:txBody>
          <a:bodyPr/>
          <a:lstStyle/>
          <a:p>
            <a:pPr algn="just"/>
            <a:r>
              <a:rPr lang="en-US" dirty="0"/>
              <a:t>In physics, we calculate acceleration of an object by it’s change in velocity divided by the time it took to change that velocity. </a:t>
            </a:r>
          </a:p>
          <a:p>
            <a:pPr algn="just"/>
            <a:r>
              <a:rPr lang="en-US" dirty="0"/>
              <a:t>Let’s calculate that using the tools we’ve discussed already:</a:t>
            </a:r>
          </a:p>
          <a:p>
            <a:pPr algn="just"/>
            <a:r>
              <a:rPr lang="en-US" dirty="0">
                <a:solidFill>
                  <a:srgbClr val="FF0000"/>
                </a:solidFill>
              </a:rPr>
              <a:t>data['acceleration'] = (data['</a:t>
            </a:r>
            <a:r>
              <a:rPr lang="en-US" dirty="0" err="1">
                <a:solidFill>
                  <a:srgbClr val="FF0000"/>
                </a:solidFill>
              </a:rPr>
              <a:t>speed_final</a:t>
            </a:r>
            <a:r>
              <a:rPr lang="en-US" dirty="0">
                <a:solidFill>
                  <a:srgbClr val="FF0000"/>
                </a:solidFill>
              </a:rPr>
              <a:t>'] - data['</a:t>
            </a:r>
            <a:r>
              <a:rPr lang="en-US" dirty="0" err="1">
                <a:solidFill>
                  <a:srgbClr val="FF0000"/>
                </a:solidFill>
              </a:rPr>
              <a:t>speed_initial</a:t>
            </a:r>
            <a:r>
              <a:rPr lang="en-US" dirty="0">
                <a:solidFill>
                  <a:srgbClr val="FF0000"/>
                </a:solidFill>
              </a:rPr>
              <a:t>']) /</a:t>
            </a:r>
          </a:p>
          <a:p>
            <a:pPr algn="just"/>
            <a:r>
              <a:rPr lang="en-US" dirty="0">
                <a:solidFill>
                  <a:srgbClr val="FF0000"/>
                </a:solidFill>
              </a:rPr>
              <a:t> (data['</a:t>
            </a:r>
            <a:r>
              <a:rPr lang="en-US" dirty="0" err="1">
                <a:solidFill>
                  <a:srgbClr val="FF0000"/>
                </a:solidFill>
              </a:rPr>
              <a:t>time_final</a:t>
            </a:r>
            <a:r>
              <a:rPr lang="en-US" dirty="0">
                <a:solidFill>
                  <a:srgbClr val="FF0000"/>
                </a:solidFill>
              </a:rPr>
              <a:t>'] - data['</a:t>
            </a:r>
            <a:r>
              <a:rPr lang="en-US" dirty="0" err="1">
                <a:solidFill>
                  <a:srgbClr val="FF0000"/>
                </a:solidFill>
              </a:rPr>
              <a:t>time_initial</a:t>
            </a:r>
            <a:r>
              <a:rPr lang="en-US" dirty="0">
                <a:solidFill>
                  <a:srgbClr val="FF0000"/>
                </a:solidFill>
              </a:rPr>
              <a:t>'])</a:t>
            </a:r>
          </a:p>
          <a:p>
            <a:pPr algn="just"/>
            <a:r>
              <a:rPr lang="en-US" dirty="0">
                <a:solidFill>
                  <a:srgbClr val="FF0000"/>
                </a:solidFill>
              </a:rPr>
              <a:t>  data</a:t>
            </a:r>
          </a:p>
        </p:txBody>
      </p:sp>
      <p:sp>
        <p:nvSpPr>
          <p:cNvPr id="4" name="Slide Number Placeholder 3">
            <a:extLst>
              <a:ext uri="{FF2B5EF4-FFF2-40B4-BE49-F238E27FC236}">
                <a16:creationId xmlns:a16="http://schemas.microsoft.com/office/drawing/2014/main" id="{27F0AEB8-17BB-40F6-A5F3-FDF8C1F5DACB}"/>
              </a:ext>
            </a:extLst>
          </p:cNvPr>
          <p:cNvSpPr>
            <a:spLocks noGrp="1"/>
          </p:cNvSpPr>
          <p:nvPr>
            <p:ph type="sldNum" sz="quarter" idx="12"/>
          </p:nvPr>
        </p:nvSpPr>
        <p:spPr/>
        <p:txBody>
          <a:bodyPr/>
          <a:lstStyle/>
          <a:p>
            <a:fld id="{6B97D948-30E8-43F7-AE10-F6E2D9F2BBB1}" type="slidenum">
              <a:rPr lang="en-US" smtClean="0"/>
              <a:t>422</a:t>
            </a:fld>
            <a:endParaRPr lang="en-US"/>
          </a:p>
        </p:txBody>
      </p:sp>
    </p:spTree>
    <p:extLst>
      <p:ext uri="{BB962C8B-B14F-4D97-AF65-F5344CB8AC3E}">
        <p14:creationId xmlns:p14="http://schemas.microsoft.com/office/powerpoint/2010/main" val="2984305315"/>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7E2B1F-64D8-4701-BDB3-C1CA421551DA}"/>
              </a:ext>
            </a:extLst>
          </p:cNvPr>
          <p:cNvSpPr>
            <a:spLocks noGrp="1"/>
          </p:cNvSpPr>
          <p:nvPr>
            <p:ph idx="1"/>
          </p:nvPr>
        </p:nvSpPr>
        <p:spPr>
          <a:xfrm>
            <a:off x="838200" y="449705"/>
            <a:ext cx="10515600" cy="5727258"/>
          </a:xfrm>
        </p:spPr>
        <p:txBody>
          <a:bodyPr/>
          <a:lstStyle/>
          <a:p>
            <a:r>
              <a:rPr lang="en-US" dirty="0"/>
              <a:t>Out[54]:</a:t>
            </a:r>
          </a:p>
          <a:p>
            <a:r>
              <a:rPr lang="en-US" dirty="0"/>
              <a:t>   </a:t>
            </a:r>
            <a:r>
              <a:rPr lang="en-US" dirty="0" err="1"/>
              <a:t>speed_initial</a:t>
            </a:r>
            <a:r>
              <a:rPr lang="en-US" dirty="0"/>
              <a:t>  </a:t>
            </a:r>
            <a:r>
              <a:rPr lang="en-US" dirty="0" err="1"/>
              <a:t>speed_final</a:t>
            </a:r>
            <a:r>
              <a:rPr lang="en-US" dirty="0"/>
              <a:t>  </a:t>
            </a:r>
            <a:r>
              <a:rPr lang="en-US" dirty="0" err="1"/>
              <a:t>time_initial</a:t>
            </a:r>
            <a:r>
              <a:rPr lang="en-US" dirty="0"/>
              <a:t>  </a:t>
            </a:r>
            <a:r>
              <a:rPr lang="en-US" dirty="0" err="1"/>
              <a:t>time_final</a:t>
            </a:r>
            <a:r>
              <a:rPr lang="en-US" dirty="0"/>
              <a:t>  acceleration</a:t>
            </a:r>
          </a:p>
          <a:p>
            <a:r>
              <a:rPr lang="en-US" dirty="0"/>
              <a:t>0       0.517930     0.497419      0.609459    0.620051     -1.936597</a:t>
            </a:r>
          </a:p>
          <a:p>
            <a:r>
              <a:rPr lang="en-US" dirty="0"/>
              <a:t>1       0.126974     0.054085      0.414578    0.567567     -0.476436</a:t>
            </a:r>
          </a:p>
          <a:p>
            <a:r>
              <a:rPr lang="en-US" dirty="0"/>
              <a:t>2       0.039720     0.601753      0.578390    0.653008      7.532178</a:t>
            </a:r>
          </a:p>
          <a:p>
            <a:r>
              <a:rPr lang="en-US" dirty="0"/>
              <a:t>3       0.102974     0.008130      0.370052    0.089282      0.337800</a:t>
            </a:r>
          </a:p>
          <a:p>
            <a:r>
              <a:rPr lang="en-US" dirty="0"/>
              <a:t>4       0.073707     0.341360      0.941587    0.769856     -1.558558</a:t>
            </a:r>
          </a:p>
        </p:txBody>
      </p:sp>
      <p:sp>
        <p:nvSpPr>
          <p:cNvPr id="4" name="Slide Number Placeholder 3">
            <a:extLst>
              <a:ext uri="{FF2B5EF4-FFF2-40B4-BE49-F238E27FC236}">
                <a16:creationId xmlns:a16="http://schemas.microsoft.com/office/drawing/2014/main" id="{FD21B5F7-D15A-48CE-BD40-79DDF8AC5363}"/>
              </a:ext>
            </a:extLst>
          </p:cNvPr>
          <p:cNvSpPr>
            <a:spLocks noGrp="1"/>
          </p:cNvSpPr>
          <p:nvPr>
            <p:ph type="sldNum" sz="quarter" idx="12"/>
          </p:nvPr>
        </p:nvSpPr>
        <p:spPr/>
        <p:txBody>
          <a:bodyPr/>
          <a:lstStyle/>
          <a:p>
            <a:fld id="{6B97D948-30E8-43F7-AE10-F6E2D9F2BBB1}" type="slidenum">
              <a:rPr lang="en-US" smtClean="0"/>
              <a:t>423</a:t>
            </a:fld>
            <a:endParaRPr lang="en-US"/>
          </a:p>
        </p:txBody>
      </p:sp>
    </p:spTree>
    <p:extLst>
      <p:ext uri="{BB962C8B-B14F-4D97-AF65-F5344CB8AC3E}">
        <p14:creationId xmlns:p14="http://schemas.microsoft.com/office/powerpoint/2010/main" val="4106468909"/>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9F0E03-EBEA-40E5-B96A-932176222299}"/>
              </a:ext>
            </a:extLst>
          </p:cNvPr>
          <p:cNvSpPr>
            <a:spLocks noGrp="1"/>
          </p:cNvSpPr>
          <p:nvPr>
            <p:ph idx="1"/>
          </p:nvPr>
        </p:nvSpPr>
        <p:spPr>
          <a:xfrm>
            <a:off x="838200" y="329784"/>
            <a:ext cx="10515600" cy="5847179"/>
          </a:xfrm>
        </p:spPr>
        <p:txBody>
          <a:bodyPr/>
          <a:lstStyle/>
          <a:p>
            <a:pPr algn="just"/>
            <a:r>
              <a:rPr lang="en-US" dirty="0"/>
              <a:t>We can instead use the </a:t>
            </a:r>
            <a:r>
              <a:rPr lang="en-US" dirty="0">
                <a:solidFill>
                  <a:srgbClr val="FF0000"/>
                </a:solidFill>
              </a:rPr>
              <a:t>eval function</a:t>
            </a:r>
            <a:r>
              <a:rPr lang="en-US" dirty="0"/>
              <a:t>, with a syntax similar to that of query.</a:t>
            </a:r>
          </a:p>
          <a:p>
            <a:pPr algn="just"/>
            <a:r>
              <a:rPr lang="en-US" dirty="0"/>
              <a:t>It lets us do a number of common computations more clearly (and more quickly, since the code will run more quickly as well):</a:t>
            </a:r>
          </a:p>
          <a:p>
            <a:pPr algn="just"/>
            <a:r>
              <a:rPr lang="en-US" dirty="0" err="1"/>
              <a:t>data_copy.eval</a:t>
            </a:r>
            <a:r>
              <a:rPr lang="en-US" dirty="0"/>
              <a:t>('acceleration = (</a:t>
            </a:r>
            <a:r>
              <a:rPr lang="en-US" dirty="0" err="1"/>
              <a:t>speed_final</a:t>
            </a:r>
            <a:r>
              <a:rPr lang="en-US" dirty="0"/>
              <a:t> - </a:t>
            </a:r>
            <a:r>
              <a:rPr lang="en-US" dirty="0" err="1"/>
              <a:t>speed_initial</a:t>
            </a:r>
            <a:r>
              <a:rPr lang="en-US" dirty="0"/>
              <a:t>) / (</a:t>
            </a:r>
            <a:r>
              <a:rPr lang="en-US" dirty="0" err="1"/>
              <a:t>time_final</a:t>
            </a:r>
            <a:r>
              <a:rPr lang="en-US" dirty="0"/>
              <a:t> - </a:t>
            </a:r>
            <a:r>
              <a:rPr lang="en-US" dirty="0" err="1"/>
              <a:t>time_initial</a:t>
            </a:r>
            <a:r>
              <a:rPr lang="en-US" dirty="0"/>
              <a:t>)', </a:t>
            </a:r>
            <a:r>
              <a:rPr lang="en-US" dirty="0" err="1"/>
              <a:t>inplace</a:t>
            </a:r>
            <a:r>
              <a:rPr lang="en-US" dirty="0"/>
              <a:t> = True)</a:t>
            </a:r>
          </a:p>
          <a:p>
            <a:pPr algn="just"/>
            <a:r>
              <a:rPr lang="en-US" dirty="0" err="1"/>
              <a:t>data_copy</a:t>
            </a:r>
            <a:endParaRPr lang="en-US" dirty="0"/>
          </a:p>
        </p:txBody>
      </p:sp>
      <p:sp>
        <p:nvSpPr>
          <p:cNvPr id="4" name="Slide Number Placeholder 3">
            <a:extLst>
              <a:ext uri="{FF2B5EF4-FFF2-40B4-BE49-F238E27FC236}">
                <a16:creationId xmlns:a16="http://schemas.microsoft.com/office/drawing/2014/main" id="{FF258816-D9E7-430B-B6F3-8AFB0179B93C}"/>
              </a:ext>
            </a:extLst>
          </p:cNvPr>
          <p:cNvSpPr>
            <a:spLocks noGrp="1"/>
          </p:cNvSpPr>
          <p:nvPr>
            <p:ph type="sldNum" sz="quarter" idx="12"/>
          </p:nvPr>
        </p:nvSpPr>
        <p:spPr/>
        <p:txBody>
          <a:bodyPr/>
          <a:lstStyle/>
          <a:p>
            <a:fld id="{6B97D948-30E8-43F7-AE10-F6E2D9F2BBB1}" type="slidenum">
              <a:rPr lang="en-US" smtClean="0"/>
              <a:t>424</a:t>
            </a:fld>
            <a:endParaRPr lang="en-US"/>
          </a:p>
        </p:txBody>
      </p:sp>
    </p:spTree>
    <p:extLst>
      <p:ext uri="{BB962C8B-B14F-4D97-AF65-F5344CB8AC3E}">
        <p14:creationId xmlns:p14="http://schemas.microsoft.com/office/powerpoint/2010/main" val="1199698055"/>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A1E66C-AE11-4D44-90F6-79260D2EA7DE}"/>
              </a:ext>
            </a:extLst>
          </p:cNvPr>
          <p:cNvSpPr>
            <a:spLocks noGrp="1"/>
          </p:cNvSpPr>
          <p:nvPr>
            <p:ph idx="1"/>
          </p:nvPr>
        </p:nvSpPr>
        <p:spPr>
          <a:xfrm>
            <a:off x="838200" y="374754"/>
            <a:ext cx="10515600" cy="5802209"/>
          </a:xfrm>
        </p:spPr>
        <p:txBody>
          <a:bodyPr/>
          <a:lstStyle/>
          <a:p>
            <a:r>
              <a:rPr lang="en-US" dirty="0"/>
              <a:t>Out[55]:</a:t>
            </a:r>
          </a:p>
          <a:p>
            <a:r>
              <a:rPr lang="en-US" dirty="0"/>
              <a:t>   </a:t>
            </a:r>
            <a:r>
              <a:rPr lang="en-US" dirty="0" err="1"/>
              <a:t>speed_initial</a:t>
            </a:r>
            <a:r>
              <a:rPr lang="en-US" dirty="0"/>
              <a:t>  </a:t>
            </a:r>
            <a:r>
              <a:rPr lang="en-US" dirty="0" err="1"/>
              <a:t>speed_final</a:t>
            </a:r>
            <a:r>
              <a:rPr lang="en-US" dirty="0"/>
              <a:t>  </a:t>
            </a:r>
            <a:r>
              <a:rPr lang="en-US" dirty="0" err="1"/>
              <a:t>time_initial</a:t>
            </a:r>
            <a:r>
              <a:rPr lang="en-US" dirty="0"/>
              <a:t>  </a:t>
            </a:r>
            <a:r>
              <a:rPr lang="en-US" dirty="0" err="1"/>
              <a:t>time_final</a:t>
            </a:r>
            <a:r>
              <a:rPr lang="en-US" dirty="0"/>
              <a:t>  acceleration</a:t>
            </a:r>
          </a:p>
          <a:p>
            <a:r>
              <a:rPr lang="en-US" dirty="0"/>
              <a:t>0       0.517930     0.497419      0.609459    0.620051     -1.936597</a:t>
            </a:r>
          </a:p>
          <a:p>
            <a:r>
              <a:rPr lang="en-US" dirty="0"/>
              <a:t>1       0.126974     0.054085      0.414578    0.567567     -0.476436</a:t>
            </a:r>
          </a:p>
          <a:p>
            <a:r>
              <a:rPr lang="en-US" dirty="0"/>
              <a:t>2       0.039720     0.601753      0.578390    0.653008      7.532178</a:t>
            </a:r>
          </a:p>
          <a:p>
            <a:r>
              <a:rPr lang="en-US" dirty="0"/>
              <a:t>3       0.102974     0.008130      0.370052    0.089282      0.337800</a:t>
            </a:r>
          </a:p>
          <a:p>
            <a:r>
              <a:rPr lang="en-US" dirty="0"/>
              <a:t>4       0.073707     0.341360      0.941587    0.769856     -1.558558</a:t>
            </a:r>
          </a:p>
        </p:txBody>
      </p:sp>
      <p:sp>
        <p:nvSpPr>
          <p:cNvPr id="4" name="Slide Number Placeholder 3">
            <a:extLst>
              <a:ext uri="{FF2B5EF4-FFF2-40B4-BE49-F238E27FC236}">
                <a16:creationId xmlns:a16="http://schemas.microsoft.com/office/drawing/2014/main" id="{6890CACA-079D-4746-A834-1F103A869034}"/>
              </a:ext>
            </a:extLst>
          </p:cNvPr>
          <p:cNvSpPr>
            <a:spLocks noGrp="1"/>
          </p:cNvSpPr>
          <p:nvPr>
            <p:ph type="sldNum" sz="quarter" idx="12"/>
          </p:nvPr>
        </p:nvSpPr>
        <p:spPr/>
        <p:txBody>
          <a:bodyPr/>
          <a:lstStyle/>
          <a:p>
            <a:fld id="{6B97D948-30E8-43F7-AE10-F6E2D9F2BBB1}" type="slidenum">
              <a:rPr lang="en-US" smtClean="0"/>
              <a:t>425</a:t>
            </a:fld>
            <a:endParaRPr lang="en-US"/>
          </a:p>
        </p:txBody>
      </p:sp>
    </p:spTree>
    <p:extLst>
      <p:ext uri="{BB962C8B-B14F-4D97-AF65-F5344CB8AC3E}">
        <p14:creationId xmlns:p14="http://schemas.microsoft.com/office/powerpoint/2010/main" val="361126518"/>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15A9-2B5D-4939-9EFA-D357EAAF0CDE}"/>
              </a:ext>
            </a:extLst>
          </p:cNvPr>
          <p:cNvSpPr>
            <a:spLocks noGrp="1"/>
          </p:cNvSpPr>
          <p:nvPr>
            <p:ph type="title"/>
          </p:nvPr>
        </p:nvSpPr>
        <p:spPr>
          <a:xfrm>
            <a:off x="838200" y="365125"/>
            <a:ext cx="10515600" cy="752475"/>
          </a:xfrm>
        </p:spPr>
        <p:txBody>
          <a:bodyPr/>
          <a:lstStyle/>
          <a:p>
            <a:r>
              <a:rPr lang="en-US" dirty="0"/>
              <a:t>Models</a:t>
            </a:r>
          </a:p>
        </p:txBody>
      </p:sp>
      <p:sp>
        <p:nvSpPr>
          <p:cNvPr id="3" name="Content Placeholder 2">
            <a:extLst>
              <a:ext uri="{FF2B5EF4-FFF2-40B4-BE49-F238E27FC236}">
                <a16:creationId xmlns:a16="http://schemas.microsoft.com/office/drawing/2014/main" id="{A1D796EC-D83E-4972-9D75-713128946EF9}"/>
              </a:ext>
            </a:extLst>
          </p:cNvPr>
          <p:cNvSpPr>
            <a:spLocks noGrp="1"/>
          </p:cNvSpPr>
          <p:nvPr>
            <p:ph idx="1"/>
          </p:nvPr>
        </p:nvSpPr>
        <p:spPr>
          <a:xfrm>
            <a:off x="838200" y="1117600"/>
            <a:ext cx="10515600" cy="5059363"/>
          </a:xfrm>
        </p:spPr>
        <p:txBody>
          <a:bodyPr>
            <a:normAutofit lnSpcReduction="10000"/>
          </a:bodyPr>
          <a:lstStyle/>
          <a:p>
            <a:pPr algn="just"/>
            <a:r>
              <a:rPr lang="en-US" dirty="0"/>
              <a:t>A </a:t>
            </a:r>
            <a:r>
              <a:rPr lang="en-US" dirty="0">
                <a:solidFill>
                  <a:srgbClr val="FF0000"/>
                </a:solidFill>
              </a:rPr>
              <a:t>statistical model </a:t>
            </a:r>
            <a:r>
              <a:rPr lang="en-US" dirty="0"/>
              <a:t>is a mathematical model that embodies a set of statistical assumptions concerning the generation of sample data. </a:t>
            </a:r>
          </a:p>
          <a:p>
            <a:pPr algn="just"/>
            <a:endParaRPr lang="en-US" dirty="0"/>
          </a:p>
          <a:p>
            <a:pPr algn="just"/>
            <a:r>
              <a:rPr lang="en-US" dirty="0"/>
              <a:t>A statistical model represents, often in considerably idealized form, the data-generating process.</a:t>
            </a:r>
          </a:p>
          <a:p>
            <a:pPr algn="just"/>
            <a:endParaRPr lang="en-US" dirty="0"/>
          </a:p>
          <a:p>
            <a:pPr algn="just"/>
            <a:r>
              <a:rPr lang="en-US" dirty="0"/>
              <a:t>It is a representation of reality; it is not reality itself </a:t>
            </a:r>
            <a:r>
              <a:rPr lang="en-US" dirty="0" err="1"/>
              <a:t>eg.</a:t>
            </a:r>
            <a:r>
              <a:rPr lang="en-US" dirty="0"/>
              <a:t> map</a:t>
            </a:r>
          </a:p>
          <a:p>
            <a:pPr algn="just"/>
            <a:endParaRPr lang="en-US" dirty="0"/>
          </a:p>
          <a:p>
            <a:pPr algn="just"/>
            <a:r>
              <a:rPr lang="en-US" dirty="0"/>
              <a:t>Models can be linear and non-linear.</a:t>
            </a:r>
          </a:p>
          <a:p>
            <a:pPr algn="just"/>
            <a:endParaRPr lang="en-US" dirty="0"/>
          </a:p>
          <a:p>
            <a:pPr algn="just"/>
            <a:r>
              <a:rPr lang="en-US" dirty="0">
                <a:solidFill>
                  <a:srgbClr val="FF0000"/>
                </a:solidFill>
              </a:rPr>
              <a:t>“All models are wrong but some are useful” </a:t>
            </a:r>
            <a:r>
              <a:rPr lang="en-US" dirty="0"/>
              <a:t>– George E. P. Box</a:t>
            </a:r>
          </a:p>
        </p:txBody>
      </p:sp>
      <p:sp>
        <p:nvSpPr>
          <p:cNvPr id="4" name="Slide Number Placeholder 3">
            <a:extLst>
              <a:ext uri="{FF2B5EF4-FFF2-40B4-BE49-F238E27FC236}">
                <a16:creationId xmlns:a16="http://schemas.microsoft.com/office/drawing/2014/main" id="{C1D292EA-2CDE-40DC-A7CC-7B84ACE364F4}"/>
              </a:ext>
            </a:extLst>
          </p:cNvPr>
          <p:cNvSpPr>
            <a:spLocks noGrp="1"/>
          </p:cNvSpPr>
          <p:nvPr>
            <p:ph type="sldNum" sz="quarter" idx="12"/>
          </p:nvPr>
        </p:nvSpPr>
        <p:spPr/>
        <p:txBody>
          <a:bodyPr/>
          <a:lstStyle/>
          <a:p>
            <a:fld id="{6B97D948-30E8-43F7-AE10-F6E2D9F2BBB1}" type="slidenum">
              <a:rPr lang="en-US" smtClean="0"/>
              <a:t>426</a:t>
            </a:fld>
            <a:endParaRPr lang="en-US"/>
          </a:p>
        </p:txBody>
      </p:sp>
    </p:spTree>
    <p:extLst>
      <p:ext uri="{BB962C8B-B14F-4D97-AF65-F5344CB8AC3E}">
        <p14:creationId xmlns:p14="http://schemas.microsoft.com/office/powerpoint/2010/main" val="1970172959"/>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ECA6B-D1C1-4FC5-AAFA-DA9B344D2648}"/>
              </a:ext>
            </a:extLst>
          </p:cNvPr>
          <p:cNvSpPr>
            <a:spLocks noGrp="1"/>
          </p:cNvSpPr>
          <p:nvPr>
            <p:ph type="title"/>
          </p:nvPr>
        </p:nvSpPr>
        <p:spPr>
          <a:xfrm>
            <a:off x="838200" y="365125"/>
            <a:ext cx="10515600" cy="650875"/>
          </a:xfrm>
        </p:spPr>
        <p:txBody>
          <a:bodyPr>
            <a:normAutofit fontScale="90000"/>
          </a:bodyPr>
          <a:lstStyle/>
          <a:p>
            <a:r>
              <a:rPr lang="en-US" b="1" dirty="0"/>
              <a:t>Linear Regression using Python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DD55255-799A-4FD7-A4C5-7FD7D5DE1CB9}"/>
                  </a:ext>
                </a:extLst>
              </p:cNvPr>
              <p:cNvSpPr>
                <a:spLocks noGrp="1"/>
              </p:cNvSpPr>
              <p:nvPr>
                <p:ph idx="1"/>
              </p:nvPr>
            </p:nvSpPr>
            <p:spPr>
              <a:xfrm>
                <a:off x="838200" y="1016000"/>
                <a:ext cx="10515600" cy="5160963"/>
              </a:xfrm>
            </p:spPr>
            <p:txBody>
              <a:bodyPr>
                <a:normAutofit fontScale="92500" lnSpcReduction="20000"/>
              </a:bodyPr>
              <a:lstStyle/>
              <a:p>
                <a:pPr algn="just"/>
                <a:r>
                  <a:rPr lang="en-US" dirty="0"/>
                  <a:t>Regression is a tool for building statistical models that characterize relationships among a </a:t>
                </a:r>
                <a:r>
                  <a:rPr lang="en-US" dirty="0">
                    <a:solidFill>
                      <a:srgbClr val="FF0000"/>
                    </a:solidFill>
                  </a:rPr>
                  <a:t>dependent variable</a:t>
                </a:r>
                <a:r>
                  <a:rPr lang="en-US" dirty="0"/>
                  <a:t> and </a:t>
                </a:r>
                <a:r>
                  <a:rPr lang="en-US" dirty="0">
                    <a:solidFill>
                      <a:srgbClr val="FF0000"/>
                    </a:solidFill>
                  </a:rPr>
                  <a:t>one or more independent variables</a:t>
                </a:r>
                <a:r>
                  <a:rPr lang="en-US" dirty="0"/>
                  <a:t>. </a:t>
                </a:r>
              </a:p>
              <a:p>
                <a:pPr algn="just"/>
                <a:r>
                  <a:rPr lang="en-US" dirty="0"/>
                  <a:t>Simple Linear Regression refers to the method used when there is only </a:t>
                </a:r>
                <a:r>
                  <a:rPr lang="en-US" dirty="0">
                    <a:solidFill>
                      <a:srgbClr val="FF0000"/>
                    </a:solidFill>
                  </a:rPr>
                  <a:t>one</a:t>
                </a:r>
                <a:r>
                  <a:rPr lang="en-US" dirty="0"/>
                  <a:t> </a:t>
                </a:r>
                <a:r>
                  <a:rPr lang="en-US" dirty="0">
                    <a:solidFill>
                      <a:srgbClr val="FF0000"/>
                    </a:solidFill>
                  </a:rPr>
                  <a:t>independent variable</a:t>
                </a:r>
                <a:r>
                  <a:rPr lang="en-US" dirty="0"/>
                  <a:t>. </a:t>
                </a:r>
              </a:p>
              <a:p>
                <a:pPr algn="just"/>
                <a:r>
                  <a:rPr lang="en-US" dirty="0"/>
                  <a:t>Multiple Linear Regression refers to the method used when there is </a:t>
                </a:r>
                <a:r>
                  <a:rPr lang="en-US" dirty="0">
                    <a:solidFill>
                      <a:srgbClr val="FF0000"/>
                    </a:solidFill>
                  </a:rPr>
                  <a:t>more than one independent variable</a:t>
                </a:r>
                <a:r>
                  <a:rPr lang="en-US" dirty="0"/>
                  <a:t>. </a:t>
                </a:r>
              </a:p>
              <a:p>
                <a:pPr algn="just"/>
                <a:r>
                  <a:rPr lang="en-US" dirty="0"/>
                  <a:t>Multiple Linear Regression is specified as follows:</a:t>
                </a:r>
              </a:p>
              <a:p>
                <a:pPr algn="just"/>
                <a14:m>
                  <m:oMath xmlns:m="http://schemas.openxmlformats.org/officeDocument/2006/math">
                    <m:r>
                      <a:rPr lang="en-US" sz="4300" b="0" i="1" smtClean="0">
                        <a:solidFill>
                          <a:srgbClr val="FF0000"/>
                        </a:solidFill>
                        <a:latin typeface="Cambria Math" panose="02040503050406030204" pitchFamily="18" charset="0"/>
                      </a:rPr>
                      <m:t>𝑦</m:t>
                    </m:r>
                    <m:r>
                      <a:rPr lang="en-US" sz="4300" b="0" i="1" smtClean="0">
                        <a:solidFill>
                          <a:srgbClr val="FF0000"/>
                        </a:solidFill>
                        <a:latin typeface="Cambria Math" panose="02040503050406030204" pitchFamily="18" charset="0"/>
                      </a:rPr>
                      <m:t>= </m:t>
                    </m:r>
                    <m:sSub>
                      <m:sSubPr>
                        <m:ctrlPr>
                          <a:rPr lang="en-US" sz="4300" b="0" i="1" smtClean="0">
                            <a:solidFill>
                              <a:srgbClr val="FF0000"/>
                            </a:solidFill>
                            <a:latin typeface="Cambria Math" panose="02040503050406030204" pitchFamily="18" charset="0"/>
                          </a:rPr>
                        </m:ctrlPr>
                      </m:sSubPr>
                      <m:e>
                        <m:r>
                          <a:rPr lang="en-US" sz="4300" b="0" i="1" smtClean="0">
                            <a:solidFill>
                              <a:srgbClr val="FF0000"/>
                            </a:solidFill>
                            <a:latin typeface="Cambria Math" panose="02040503050406030204" pitchFamily="18" charset="0"/>
                            <a:ea typeface="Cambria Math" panose="02040503050406030204" pitchFamily="18" charset="0"/>
                          </a:rPr>
                          <m:t>𝛽</m:t>
                        </m:r>
                      </m:e>
                      <m:sub>
                        <m:r>
                          <a:rPr lang="en-US" sz="4300" b="0" i="1" smtClean="0">
                            <a:solidFill>
                              <a:srgbClr val="FF0000"/>
                            </a:solidFill>
                            <a:latin typeface="Cambria Math" panose="02040503050406030204" pitchFamily="18" charset="0"/>
                          </a:rPr>
                          <m:t>0</m:t>
                        </m:r>
                      </m:sub>
                    </m:sSub>
                    <m:r>
                      <a:rPr lang="en-US" sz="4300" b="0" i="1" smtClean="0">
                        <a:solidFill>
                          <a:srgbClr val="FF0000"/>
                        </a:solidFill>
                        <a:latin typeface="Cambria Math" panose="02040503050406030204" pitchFamily="18" charset="0"/>
                      </a:rPr>
                      <m:t>+</m:t>
                    </m:r>
                    <m:sSub>
                      <m:sSubPr>
                        <m:ctrlPr>
                          <a:rPr lang="en-US" sz="4300" b="0" i="1" smtClean="0">
                            <a:solidFill>
                              <a:srgbClr val="FF0000"/>
                            </a:solidFill>
                            <a:latin typeface="Cambria Math" panose="02040503050406030204" pitchFamily="18" charset="0"/>
                          </a:rPr>
                        </m:ctrlPr>
                      </m:sSubPr>
                      <m:e>
                        <m:r>
                          <a:rPr lang="en-US" sz="4300" b="0" i="1" smtClean="0">
                            <a:solidFill>
                              <a:srgbClr val="FF0000"/>
                            </a:solidFill>
                            <a:latin typeface="Cambria Math" panose="02040503050406030204" pitchFamily="18" charset="0"/>
                            <a:ea typeface="Cambria Math" panose="02040503050406030204" pitchFamily="18" charset="0"/>
                          </a:rPr>
                          <m:t>𝛽</m:t>
                        </m:r>
                      </m:e>
                      <m:sub>
                        <m:r>
                          <a:rPr lang="en-US" sz="4300" b="0" i="1" smtClean="0">
                            <a:solidFill>
                              <a:srgbClr val="FF0000"/>
                            </a:solidFill>
                            <a:latin typeface="Cambria Math" panose="02040503050406030204" pitchFamily="18" charset="0"/>
                          </a:rPr>
                          <m:t>1</m:t>
                        </m:r>
                      </m:sub>
                    </m:sSub>
                    <m:sSub>
                      <m:sSubPr>
                        <m:ctrlPr>
                          <a:rPr lang="en-US" sz="4300" b="0" i="1" smtClean="0">
                            <a:solidFill>
                              <a:srgbClr val="FF0000"/>
                            </a:solidFill>
                            <a:latin typeface="Cambria Math" panose="02040503050406030204" pitchFamily="18" charset="0"/>
                          </a:rPr>
                        </m:ctrlPr>
                      </m:sSubPr>
                      <m:e>
                        <m:r>
                          <a:rPr lang="en-US" sz="4300" b="0" i="1" smtClean="0">
                            <a:solidFill>
                              <a:srgbClr val="FF0000"/>
                            </a:solidFill>
                            <a:latin typeface="Cambria Math" panose="02040503050406030204" pitchFamily="18" charset="0"/>
                          </a:rPr>
                          <m:t>𝑋</m:t>
                        </m:r>
                      </m:e>
                      <m:sub>
                        <m:r>
                          <a:rPr lang="en-US" sz="4300" b="0" i="1" smtClean="0">
                            <a:solidFill>
                              <a:srgbClr val="FF0000"/>
                            </a:solidFill>
                            <a:latin typeface="Cambria Math" panose="02040503050406030204" pitchFamily="18" charset="0"/>
                          </a:rPr>
                          <m:t>1</m:t>
                        </m:r>
                      </m:sub>
                    </m:sSub>
                    <m:r>
                      <a:rPr lang="en-US" sz="4300" b="0" i="1" smtClean="0">
                        <a:solidFill>
                          <a:srgbClr val="FF0000"/>
                        </a:solidFill>
                        <a:latin typeface="Cambria Math" panose="02040503050406030204" pitchFamily="18" charset="0"/>
                      </a:rPr>
                      <m:t>+</m:t>
                    </m:r>
                    <m:sSub>
                      <m:sSubPr>
                        <m:ctrlPr>
                          <a:rPr lang="en-US" sz="4300" b="0" i="1" smtClean="0">
                            <a:solidFill>
                              <a:srgbClr val="FF0000"/>
                            </a:solidFill>
                            <a:latin typeface="Cambria Math" panose="02040503050406030204" pitchFamily="18" charset="0"/>
                          </a:rPr>
                        </m:ctrlPr>
                      </m:sSubPr>
                      <m:e>
                        <m:r>
                          <a:rPr lang="en-US" sz="4300" b="0" i="1" smtClean="0">
                            <a:solidFill>
                              <a:srgbClr val="FF0000"/>
                            </a:solidFill>
                            <a:latin typeface="Cambria Math" panose="02040503050406030204" pitchFamily="18" charset="0"/>
                            <a:ea typeface="Cambria Math" panose="02040503050406030204" pitchFamily="18" charset="0"/>
                          </a:rPr>
                          <m:t>𝛽</m:t>
                        </m:r>
                      </m:e>
                      <m:sub>
                        <m:r>
                          <a:rPr lang="en-US" sz="4300" b="0" i="1" smtClean="0">
                            <a:solidFill>
                              <a:srgbClr val="FF0000"/>
                            </a:solidFill>
                            <a:latin typeface="Cambria Math" panose="02040503050406030204" pitchFamily="18" charset="0"/>
                          </a:rPr>
                          <m:t>2</m:t>
                        </m:r>
                      </m:sub>
                    </m:sSub>
                    <m:sSub>
                      <m:sSubPr>
                        <m:ctrlPr>
                          <a:rPr lang="en-US" sz="4300" b="0" i="1" smtClean="0">
                            <a:solidFill>
                              <a:srgbClr val="FF0000"/>
                            </a:solidFill>
                            <a:latin typeface="Cambria Math" panose="02040503050406030204" pitchFamily="18" charset="0"/>
                          </a:rPr>
                        </m:ctrlPr>
                      </m:sSubPr>
                      <m:e>
                        <m:r>
                          <a:rPr lang="en-US" sz="4300" b="0" i="1" smtClean="0">
                            <a:solidFill>
                              <a:srgbClr val="FF0000"/>
                            </a:solidFill>
                            <a:latin typeface="Cambria Math" panose="02040503050406030204" pitchFamily="18" charset="0"/>
                          </a:rPr>
                          <m:t>𝑋</m:t>
                        </m:r>
                      </m:e>
                      <m:sub>
                        <m:r>
                          <a:rPr lang="en-US" sz="4300" b="0" i="1" smtClean="0">
                            <a:solidFill>
                              <a:srgbClr val="FF0000"/>
                            </a:solidFill>
                            <a:latin typeface="Cambria Math" panose="02040503050406030204" pitchFamily="18" charset="0"/>
                          </a:rPr>
                          <m:t>2</m:t>
                        </m:r>
                      </m:sub>
                    </m:sSub>
                    <m:r>
                      <a:rPr lang="en-US" sz="4300" b="0" i="1" smtClean="0">
                        <a:solidFill>
                          <a:srgbClr val="FF0000"/>
                        </a:solidFill>
                        <a:latin typeface="Cambria Math" panose="02040503050406030204" pitchFamily="18" charset="0"/>
                      </a:rPr>
                      <m:t>+ . . . +</m:t>
                    </m:r>
                    <m:sSub>
                      <m:sSubPr>
                        <m:ctrlPr>
                          <a:rPr lang="en-US" sz="4300" b="0" i="1" smtClean="0">
                            <a:solidFill>
                              <a:srgbClr val="FF0000"/>
                            </a:solidFill>
                            <a:latin typeface="Cambria Math" panose="02040503050406030204" pitchFamily="18" charset="0"/>
                          </a:rPr>
                        </m:ctrlPr>
                      </m:sSubPr>
                      <m:e>
                        <m:r>
                          <a:rPr lang="en-US" sz="4300" b="0" i="1" smtClean="0">
                            <a:solidFill>
                              <a:srgbClr val="FF0000"/>
                            </a:solidFill>
                            <a:latin typeface="Cambria Math" panose="02040503050406030204" pitchFamily="18" charset="0"/>
                            <a:ea typeface="Cambria Math" panose="02040503050406030204" pitchFamily="18" charset="0"/>
                          </a:rPr>
                          <m:t>𝛽</m:t>
                        </m:r>
                      </m:e>
                      <m:sub>
                        <m:r>
                          <a:rPr lang="en-US" sz="4300" b="0" i="1" smtClean="0">
                            <a:solidFill>
                              <a:srgbClr val="FF0000"/>
                            </a:solidFill>
                            <a:latin typeface="Cambria Math" panose="02040503050406030204" pitchFamily="18" charset="0"/>
                          </a:rPr>
                          <m:t>𝑝</m:t>
                        </m:r>
                      </m:sub>
                    </m:sSub>
                    <m:sSub>
                      <m:sSubPr>
                        <m:ctrlPr>
                          <a:rPr lang="en-US" sz="4300" b="0" i="1" smtClean="0">
                            <a:solidFill>
                              <a:srgbClr val="FF0000"/>
                            </a:solidFill>
                            <a:latin typeface="Cambria Math" panose="02040503050406030204" pitchFamily="18" charset="0"/>
                          </a:rPr>
                        </m:ctrlPr>
                      </m:sSubPr>
                      <m:e>
                        <m:r>
                          <a:rPr lang="en-US" sz="4300" b="0" i="1" smtClean="0">
                            <a:solidFill>
                              <a:srgbClr val="FF0000"/>
                            </a:solidFill>
                            <a:latin typeface="Cambria Math" panose="02040503050406030204" pitchFamily="18" charset="0"/>
                          </a:rPr>
                          <m:t>𝑋</m:t>
                        </m:r>
                      </m:e>
                      <m:sub>
                        <m:r>
                          <a:rPr lang="en-US" sz="4300" b="0" i="1" smtClean="0">
                            <a:solidFill>
                              <a:srgbClr val="FF0000"/>
                            </a:solidFill>
                            <a:latin typeface="Cambria Math" panose="02040503050406030204" pitchFamily="18" charset="0"/>
                          </a:rPr>
                          <m:t>𝑝</m:t>
                        </m:r>
                      </m:sub>
                    </m:sSub>
                    <m:r>
                      <a:rPr lang="en-US" sz="4300" b="0" i="1" smtClean="0">
                        <a:solidFill>
                          <a:srgbClr val="FF0000"/>
                        </a:solidFill>
                        <a:latin typeface="Cambria Math" panose="02040503050406030204" pitchFamily="18" charset="0"/>
                      </a:rPr>
                      <m:t>+ </m:t>
                    </m:r>
                    <m:r>
                      <a:rPr lang="en-US" sz="4300" b="0" i="1" smtClean="0">
                        <a:solidFill>
                          <a:srgbClr val="FF0000"/>
                        </a:solidFill>
                        <a:latin typeface="Cambria Math" panose="02040503050406030204" pitchFamily="18" charset="0"/>
                        <a:ea typeface="Cambria Math" panose="02040503050406030204" pitchFamily="18" charset="0"/>
                      </a:rPr>
                      <m:t>𝜀</m:t>
                    </m:r>
                  </m:oMath>
                </a14:m>
                <a:endParaRPr lang="en-US" sz="4300" dirty="0">
                  <a:solidFill>
                    <a:srgbClr val="FF0000"/>
                  </a:solidFill>
                </a:endParaRPr>
              </a:p>
              <a:p>
                <a:pPr algn="just"/>
                <a14:m>
                  <m:oMath xmlns:m="http://schemas.openxmlformats.org/officeDocument/2006/math">
                    <m:r>
                      <a:rPr lang="en-US" b="0" i="1" smtClean="0">
                        <a:latin typeface="Cambria Math" panose="02040503050406030204" pitchFamily="18" charset="0"/>
                      </a:rPr>
                      <m:t>𝑦</m:t>
                    </m:r>
                  </m:oMath>
                </a14:m>
                <a:r>
                  <a:rPr lang="en-US" dirty="0"/>
                  <a:t>: the dependent variable</a:t>
                </a:r>
              </a:p>
              <a:p>
                <a:pPr algn="just"/>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oMath>
                </a14:m>
                <a:r>
                  <a:rPr lang="en-US" dirty="0"/>
                  <a:t>: intercept</a:t>
                </a:r>
              </a:p>
              <a:p>
                <a:pPr algn="just"/>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𝑖</m:t>
                        </m:r>
                      </m:sub>
                    </m:sSub>
                  </m:oMath>
                </a14:m>
                <a:r>
                  <a:rPr lang="en-US" dirty="0"/>
                  <a:t>: the slope coefficient</a:t>
                </a:r>
              </a:p>
              <a:p>
                <a:pPr algn="just"/>
                <a14:m>
                  <m:oMath xmlns:m="http://schemas.openxmlformats.org/officeDocument/2006/math">
                    <m:r>
                      <a:rPr lang="en-US" b="0" i="1" smtClean="0">
                        <a:latin typeface="Cambria Math" panose="02040503050406030204" pitchFamily="18" charset="0"/>
                        <a:ea typeface="Cambria Math" panose="02040503050406030204" pitchFamily="18" charset="0"/>
                      </a:rPr>
                      <m:t>𝜀</m:t>
                    </m:r>
                  </m:oMath>
                </a14:m>
                <a:r>
                  <a:rPr lang="en-US" dirty="0"/>
                  <a:t>: the residual</a:t>
                </a:r>
              </a:p>
              <a:p>
                <a:pPr algn="just"/>
                <a:endParaRPr lang="en-US" dirty="0"/>
              </a:p>
            </p:txBody>
          </p:sp>
        </mc:Choice>
        <mc:Fallback>
          <p:sp>
            <p:nvSpPr>
              <p:cNvPr id="3" name="Content Placeholder 2">
                <a:extLst>
                  <a:ext uri="{FF2B5EF4-FFF2-40B4-BE49-F238E27FC236}">
                    <a16:creationId xmlns:a16="http://schemas.microsoft.com/office/drawing/2014/main" id="{ADD55255-799A-4FD7-A4C5-7FD7D5DE1CB9}"/>
                  </a:ext>
                </a:extLst>
              </p:cNvPr>
              <p:cNvSpPr>
                <a:spLocks noGrp="1" noRot="1" noChangeAspect="1" noMove="1" noResize="1" noEditPoints="1" noAdjustHandles="1" noChangeArrowheads="1" noChangeShapeType="1" noTextEdit="1"/>
              </p:cNvSpPr>
              <p:nvPr>
                <p:ph idx="1"/>
              </p:nvPr>
            </p:nvSpPr>
            <p:spPr>
              <a:xfrm>
                <a:off x="838200" y="1016000"/>
                <a:ext cx="10515600" cy="5160963"/>
              </a:xfrm>
              <a:blipFill>
                <a:blip r:embed="rId2"/>
                <a:stretch>
                  <a:fillRect l="-928" t="-3073" r="-986" b="-82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47409E2-DE2D-406C-A8BD-0B42A01DDFAD}"/>
              </a:ext>
            </a:extLst>
          </p:cNvPr>
          <p:cNvSpPr>
            <a:spLocks noGrp="1"/>
          </p:cNvSpPr>
          <p:nvPr>
            <p:ph type="sldNum" sz="quarter" idx="12"/>
          </p:nvPr>
        </p:nvSpPr>
        <p:spPr/>
        <p:txBody>
          <a:bodyPr/>
          <a:lstStyle/>
          <a:p>
            <a:fld id="{6B97D948-30E8-43F7-AE10-F6E2D9F2BBB1}" type="slidenum">
              <a:rPr lang="en-US" smtClean="0"/>
              <a:t>427</a:t>
            </a:fld>
            <a:endParaRPr lang="en-US"/>
          </a:p>
        </p:txBody>
      </p:sp>
    </p:spTree>
    <p:extLst>
      <p:ext uri="{BB962C8B-B14F-4D97-AF65-F5344CB8AC3E}">
        <p14:creationId xmlns:p14="http://schemas.microsoft.com/office/powerpoint/2010/main" val="1676136079"/>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5A9B-B952-4CBE-9B39-46D92C39D530}"/>
              </a:ext>
            </a:extLst>
          </p:cNvPr>
          <p:cNvSpPr>
            <a:spLocks noGrp="1"/>
          </p:cNvSpPr>
          <p:nvPr>
            <p:ph type="title"/>
          </p:nvPr>
        </p:nvSpPr>
        <p:spPr>
          <a:xfrm>
            <a:off x="838200" y="365125"/>
            <a:ext cx="10515600" cy="739775"/>
          </a:xfrm>
        </p:spPr>
        <p:txBody>
          <a:bodyPr/>
          <a:lstStyle/>
          <a:p>
            <a:r>
              <a:rPr lang="en-US" dirty="0"/>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83189E8-62DD-4CAC-B04B-0A59E8AF7BA1}"/>
                  </a:ext>
                </a:extLst>
              </p:cNvPr>
              <p:cNvSpPr>
                <a:spLocks noGrp="1"/>
              </p:cNvSpPr>
              <p:nvPr>
                <p:ph idx="1"/>
              </p:nvPr>
            </p:nvSpPr>
            <p:spPr>
              <a:xfrm>
                <a:off x="838200" y="1104900"/>
                <a:ext cx="10515600" cy="5072063"/>
              </a:xfrm>
            </p:spPr>
            <p:txBody>
              <a:bodyPr>
                <a:normAutofit fontScale="92500" lnSpcReduction="10000"/>
              </a:bodyPr>
              <a:lstStyle/>
              <a:p>
                <a:pPr algn="just"/>
                <a:r>
                  <a:rPr lang="en-US" dirty="0"/>
                  <a:t>Consider </a:t>
                </a:r>
                <a:r>
                  <a:rPr lang="en-US" dirty="0" err="1"/>
                  <a:t>Melcom</a:t>
                </a:r>
                <a:r>
                  <a:rPr lang="en-US" dirty="0"/>
                  <a:t>, a chain of shops across Ghana.</a:t>
                </a:r>
              </a:p>
              <a:p>
                <a:pPr algn="just"/>
                <a:r>
                  <a:rPr lang="en-US" dirty="0"/>
                  <a:t>They want to see how </a:t>
                </a:r>
                <a:r>
                  <a:rPr lang="en-US" dirty="0">
                    <a:solidFill>
                      <a:srgbClr val="FF0000"/>
                    </a:solidFill>
                  </a:rPr>
                  <a:t>advertisements</a:t>
                </a:r>
                <a:r>
                  <a:rPr lang="en-US" dirty="0"/>
                  <a:t> drive </a:t>
                </a:r>
                <a:r>
                  <a:rPr lang="en-US" dirty="0">
                    <a:solidFill>
                      <a:srgbClr val="FF0000"/>
                    </a:solidFill>
                  </a:rPr>
                  <a:t>Sales</a:t>
                </a:r>
                <a:r>
                  <a:rPr lang="en-US" dirty="0"/>
                  <a:t> in their shops across the country.</a:t>
                </a:r>
              </a:p>
              <a:p>
                <a:pPr algn="just"/>
                <a:r>
                  <a:rPr lang="en-US" dirty="0"/>
                  <a:t>The adverts can be done on </a:t>
                </a:r>
                <a:r>
                  <a:rPr lang="en-US" dirty="0">
                    <a:solidFill>
                      <a:srgbClr val="FF0000"/>
                    </a:solidFill>
                  </a:rPr>
                  <a:t>Radio</a:t>
                </a:r>
                <a:r>
                  <a:rPr lang="en-US" dirty="0"/>
                  <a:t>, </a:t>
                </a:r>
                <a:r>
                  <a:rPr lang="en-US" dirty="0">
                    <a:solidFill>
                      <a:srgbClr val="FF0000"/>
                    </a:solidFill>
                  </a:rPr>
                  <a:t>TV</a:t>
                </a:r>
                <a:r>
                  <a:rPr lang="en-US" dirty="0"/>
                  <a:t> and </a:t>
                </a:r>
                <a:r>
                  <a:rPr lang="en-US" dirty="0">
                    <a:solidFill>
                      <a:srgbClr val="FF0000"/>
                    </a:solidFill>
                  </a:rPr>
                  <a:t>Newspapers</a:t>
                </a:r>
                <a:r>
                  <a:rPr lang="en-US" dirty="0"/>
                  <a:t>.</a:t>
                </a:r>
              </a:p>
              <a:p>
                <a:pPr algn="just"/>
                <a:r>
                  <a:rPr lang="en-US" dirty="0"/>
                  <a:t>We can specify the MLR as:</a:t>
                </a:r>
              </a:p>
              <a:p>
                <a:pPr algn="just"/>
                <a14:m>
                  <m:oMath xmlns:m="http://schemas.openxmlformats.org/officeDocument/2006/math">
                    <m:sSub>
                      <m:sSubPr>
                        <m:ctrlPr>
                          <a:rPr lang="en-US" sz="320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𝑆𝑎𝑙𝑒𝑠</m:t>
                        </m:r>
                      </m:e>
                      <m:sub>
                        <m:r>
                          <a:rPr lang="en-US" sz="3200" b="0" i="1" smtClean="0">
                            <a:solidFill>
                              <a:srgbClr val="00B050"/>
                            </a:solidFill>
                            <a:latin typeface="Cambria Math" panose="02040503050406030204" pitchFamily="18" charset="0"/>
                          </a:rPr>
                          <m:t>𝑖</m:t>
                        </m:r>
                      </m:sub>
                    </m:sSub>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ea typeface="Cambria Math" panose="02040503050406030204" pitchFamily="18" charset="0"/>
                          </a:rPr>
                          <m:t>𝛽</m:t>
                        </m:r>
                      </m:e>
                      <m:sub>
                        <m:r>
                          <a:rPr lang="en-US" sz="3200" b="0" i="1" smtClean="0">
                            <a:solidFill>
                              <a:srgbClr val="FF0000"/>
                            </a:solidFill>
                            <a:latin typeface="Cambria Math" panose="02040503050406030204" pitchFamily="18" charset="0"/>
                          </a:rPr>
                          <m:t>0</m:t>
                        </m:r>
                      </m:sub>
                    </m:sSub>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ea typeface="Cambria Math" panose="02040503050406030204" pitchFamily="18" charset="0"/>
                          </a:rPr>
                          <m:t>𝛽</m:t>
                        </m:r>
                      </m:e>
                      <m:sub>
                        <m:r>
                          <a:rPr lang="en-US" sz="3200" b="0" i="1" smtClean="0">
                            <a:solidFill>
                              <a:srgbClr val="FF0000"/>
                            </a:solidFill>
                            <a:latin typeface="Cambria Math" panose="02040503050406030204" pitchFamily="18" charset="0"/>
                          </a:rPr>
                          <m:t>1</m:t>
                        </m:r>
                      </m:sub>
                    </m:sSub>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𝑅𝑎𝑑𝑖𝑜</m:t>
                        </m:r>
                      </m:e>
                      <m:sub>
                        <m:r>
                          <a:rPr lang="en-US" sz="3200" b="0" i="1" smtClean="0">
                            <a:solidFill>
                              <a:srgbClr val="FF0000"/>
                            </a:solidFill>
                            <a:latin typeface="Cambria Math" panose="02040503050406030204" pitchFamily="18" charset="0"/>
                          </a:rPr>
                          <m:t>𝑖</m:t>
                        </m:r>
                      </m:sub>
                    </m:sSub>
                    <m:r>
                      <a:rPr lang="en-US" sz="3200" b="0" i="1" smtClean="0">
                        <a:solidFill>
                          <a:srgbClr val="FF0000"/>
                        </a:solidFill>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ea typeface="Cambria Math" panose="02040503050406030204" pitchFamily="18" charset="0"/>
                          </a:rPr>
                          <m:t>𝛽</m:t>
                        </m:r>
                      </m:e>
                      <m:sub>
                        <m:r>
                          <a:rPr lang="en-US" sz="3200" b="0" i="1" smtClean="0">
                            <a:solidFill>
                              <a:srgbClr val="FF0000"/>
                            </a:solidFill>
                            <a:latin typeface="Cambria Math" panose="02040503050406030204" pitchFamily="18" charset="0"/>
                          </a:rPr>
                          <m:t>2</m:t>
                        </m:r>
                      </m:sub>
                    </m:sSub>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𝑇𝑉</m:t>
                        </m:r>
                      </m:e>
                      <m:sub>
                        <m:r>
                          <a:rPr lang="en-US" sz="3200" b="0" i="1" smtClean="0">
                            <a:solidFill>
                              <a:srgbClr val="FF0000"/>
                            </a:solidFill>
                            <a:latin typeface="Cambria Math" panose="02040503050406030204" pitchFamily="18" charset="0"/>
                          </a:rPr>
                          <m:t>𝑖</m:t>
                        </m:r>
                      </m:sub>
                    </m:sSub>
                    <m:r>
                      <a:rPr lang="en-US" sz="3200" b="0" i="1" smtClean="0">
                        <a:solidFill>
                          <a:srgbClr val="FF0000"/>
                        </a:solidFill>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ea typeface="Cambria Math" panose="02040503050406030204" pitchFamily="18" charset="0"/>
                          </a:rPr>
                          <m:t>𝛽</m:t>
                        </m:r>
                      </m:e>
                      <m:sub>
                        <m:r>
                          <a:rPr lang="en-US" sz="3200" b="0" i="1" smtClean="0">
                            <a:solidFill>
                              <a:srgbClr val="FF0000"/>
                            </a:solidFill>
                            <a:latin typeface="Cambria Math" panose="02040503050406030204" pitchFamily="18" charset="0"/>
                          </a:rPr>
                          <m:t>3</m:t>
                        </m:r>
                      </m:sub>
                    </m:sSub>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𝑁𝑒𝑤𝑠𝑝𝑎𝑝𝑒𝑟</m:t>
                        </m:r>
                      </m:e>
                      <m:sub>
                        <m:r>
                          <a:rPr lang="en-US" sz="3200" b="0" i="1" smtClean="0">
                            <a:solidFill>
                              <a:srgbClr val="FF0000"/>
                            </a:solidFill>
                            <a:latin typeface="Cambria Math" panose="02040503050406030204" pitchFamily="18" charset="0"/>
                          </a:rPr>
                          <m:t>𝑖</m:t>
                        </m:r>
                      </m:sub>
                    </m:sSub>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ea typeface="Cambria Math" panose="02040503050406030204" pitchFamily="18" charset="0"/>
                          </a:rPr>
                          <m:t>𝜀</m:t>
                        </m:r>
                      </m:e>
                      <m:sub>
                        <m:r>
                          <a:rPr lang="en-US" sz="3200" b="0" i="1" smtClean="0">
                            <a:solidFill>
                              <a:srgbClr val="FF0000"/>
                            </a:solidFill>
                            <a:latin typeface="Cambria Math" panose="02040503050406030204" pitchFamily="18" charset="0"/>
                          </a:rPr>
                          <m:t>𝑖</m:t>
                        </m:r>
                      </m:sub>
                    </m:sSub>
                  </m:oMath>
                </a14:m>
                <a:r>
                  <a:rPr lang="en-US" sz="3200" dirty="0">
                    <a:solidFill>
                      <a:srgbClr val="FF0000"/>
                    </a:solidFill>
                  </a:rPr>
                  <a:t> =&gt; MLM</a:t>
                </a:r>
              </a:p>
              <a:p>
                <a:pPr algn="just"/>
                <a:r>
                  <a:rPr lang="en-US" dirty="0"/>
                  <a:t>Another example. . . the wage equation in microeconomics. . . </a:t>
                </a:r>
              </a:p>
              <a:p>
                <a:pPr algn="just"/>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𝑊𝑎𝑔𝑒</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 </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𝛽</m:t>
                        </m:r>
                      </m:e>
                      <m:sub>
                        <m:r>
                          <a:rPr lang="en-US" i="1">
                            <a:solidFill>
                              <a:srgbClr val="FF0000"/>
                            </a:solidFill>
                            <a:latin typeface="Cambria Math" panose="02040503050406030204" pitchFamily="18" charset="0"/>
                          </a:rPr>
                          <m:t>0</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𝛽</m:t>
                        </m:r>
                      </m:e>
                      <m:sub>
                        <m:r>
                          <a:rPr lang="en-US" i="1">
                            <a:solidFill>
                              <a:srgbClr val="FF0000"/>
                            </a:solidFill>
                            <a:latin typeface="Cambria Math" panose="02040503050406030204" pitchFamily="18" charset="0"/>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𝐸𝑑𝑢𝑐</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𝛽</m:t>
                        </m:r>
                      </m:e>
                      <m:sub>
                        <m:r>
                          <a:rPr lang="en-US" i="1">
                            <a:solidFill>
                              <a:srgbClr val="FF0000"/>
                            </a:solidFill>
                            <a:latin typeface="Cambria Math" panose="02040503050406030204" pitchFamily="18" charset="0"/>
                          </a:rPr>
                          <m:t>2</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𝐸𝑥𝑝𝑒𝑟𝑖𝑒𝑛𝑐𝑒</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𝛽</m:t>
                        </m:r>
                      </m:e>
                      <m:sub>
                        <m:r>
                          <a:rPr lang="en-US" i="1">
                            <a:solidFill>
                              <a:srgbClr val="FF0000"/>
                            </a:solidFill>
                            <a:latin typeface="Cambria Math" panose="02040503050406030204" pitchFamily="18" charset="0"/>
                          </a:rPr>
                          <m:t>3</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𝐺𝑒𝑛𝑑𝑒𝑟</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𝜀</m:t>
                        </m:r>
                      </m:e>
                      <m:sub>
                        <m:r>
                          <a:rPr lang="en-US" i="1">
                            <a:solidFill>
                              <a:srgbClr val="FF0000"/>
                            </a:solidFill>
                            <a:latin typeface="Cambria Math" panose="02040503050406030204" pitchFamily="18" charset="0"/>
                          </a:rPr>
                          <m:t>𝑖</m:t>
                        </m:r>
                      </m:sub>
                    </m:sSub>
                  </m:oMath>
                </a14:m>
                <a:r>
                  <a:rPr lang="en-US" i="1" dirty="0">
                    <a:solidFill>
                      <a:srgbClr val="FF0000"/>
                    </a:solidFill>
                    <a:latin typeface="Cambria Math" panose="02040503050406030204" pitchFamily="18" charset="0"/>
                  </a:rPr>
                  <a:t> =&gt; MLM</a:t>
                </a:r>
              </a:p>
              <a:p>
                <a:pPr algn="just"/>
                <a:r>
                  <a:rPr lang="en-US" dirty="0">
                    <a:latin typeface="Cambria Math" panose="02040503050406030204" pitchFamily="18" charset="0"/>
                  </a:rPr>
                  <a:t>Yet another. . . </a:t>
                </a:r>
              </a:p>
              <a:p>
                <a:pPr algn="just"/>
                <a14:m>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𝐶𝑜𝑛𝑠𝑢𝑚𝑝𝑡𝑖𝑜𝑛</m:t>
                        </m:r>
                      </m:e>
                      <m:sub>
                        <m:r>
                          <a:rPr lang="en-US" b="0" i="1" smtClean="0">
                            <a:solidFill>
                              <a:srgbClr val="FF0000"/>
                            </a:solidFill>
                            <a:latin typeface="Cambria Math" panose="02040503050406030204" pitchFamily="18" charset="0"/>
                          </a:rPr>
                          <m:t>𝑖</m:t>
                        </m:r>
                      </m:sub>
                    </m:sSub>
                    <m:r>
                      <a:rPr lang="en-US" b="0" i="1" smtClean="0">
                        <a:solidFill>
                          <a:srgbClr val="FF0000"/>
                        </a:solidFill>
                        <a:latin typeface="Cambria Math" panose="02040503050406030204" pitchFamily="18" charset="0"/>
                      </a:rPr>
                      <m:t>= </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𝛽</m:t>
                        </m:r>
                      </m:e>
                      <m:sub>
                        <m:r>
                          <a:rPr lang="en-US" b="0" i="1" smtClean="0">
                            <a:solidFill>
                              <a:srgbClr val="FF0000"/>
                            </a:solidFill>
                            <a:latin typeface="Cambria Math" panose="02040503050406030204" pitchFamily="18" charset="0"/>
                          </a:rPr>
                          <m:t>0</m:t>
                        </m:r>
                      </m:sub>
                    </m:sSub>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𝛽</m:t>
                        </m:r>
                      </m:e>
                      <m:sub>
                        <m:r>
                          <a:rPr lang="en-US" b="0" i="1" smtClean="0">
                            <a:solidFill>
                              <a:srgbClr val="FF0000"/>
                            </a:solidFill>
                            <a:latin typeface="Cambria Math" panose="02040503050406030204" pitchFamily="18" charset="0"/>
                          </a:rPr>
                          <m:t>1</m:t>
                        </m:r>
                      </m:sub>
                    </m:sSub>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𝐼𝑛𝑐𝑜𝑚𝑒</m:t>
                        </m:r>
                      </m:e>
                      <m:sub>
                        <m:r>
                          <a:rPr lang="en-US" b="0" i="1" smtClean="0">
                            <a:solidFill>
                              <a:srgbClr val="FF0000"/>
                            </a:solidFill>
                            <a:latin typeface="Cambria Math" panose="02040503050406030204" pitchFamily="18" charset="0"/>
                          </a:rPr>
                          <m:t>𝑖</m:t>
                        </m:r>
                      </m:sub>
                    </m:sSub>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𝜀</m:t>
                        </m:r>
                      </m:e>
                      <m:sub>
                        <m:r>
                          <a:rPr lang="en-US" b="0" i="1" smtClean="0">
                            <a:solidFill>
                              <a:srgbClr val="FF0000"/>
                            </a:solidFill>
                            <a:latin typeface="Cambria Math" panose="02040503050406030204" pitchFamily="18" charset="0"/>
                          </a:rPr>
                          <m:t>𝑖</m:t>
                        </m:r>
                      </m:sub>
                    </m:sSub>
                  </m:oMath>
                </a14:m>
                <a:r>
                  <a:rPr lang="en-US" dirty="0">
                    <a:latin typeface="Cambria Math" panose="02040503050406030204" pitchFamily="18" charset="0"/>
                  </a:rPr>
                  <a:t>  =&gt; Simple Linear Model</a:t>
                </a:r>
              </a:p>
              <a:p>
                <a:pPr algn="just"/>
                <a:endParaRPr lang="en-US" dirty="0"/>
              </a:p>
            </p:txBody>
          </p:sp>
        </mc:Choice>
        <mc:Fallback>
          <p:sp>
            <p:nvSpPr>
              <p:cNvPr id="3" name="Content Placeholder 2">
                <a:extLst>
                  <a:ext uri="{FF2B5EF4-FFF2-40B4-BE49-F238E27FC236}">
                    <a16:creationId xmlns:a16="http://schemas.microsoft.com/office/drawing/2014/main" id="{883189E8-62DD-4CAC-B04B-0A59E8AF7BA1}"/>
                  </a:ext>
                </a:extLst>
              </p:cNvPr>
              <p:cNvSpPr>
                <a:spLocks noGrp="1" noRot="1" noChangeAspect="1" noMove="1" noResize="1" noEditPoints="1" noAdjustHandles="1" noChangeArrowheads="1" noChangeShapeType="1" noTextEdit="1"/>
              </p:cNvSpPr>
              <p:nvPr>
                <p:ph idx="1"/>
              </p:nvPr>
            </p:nvSpPr>
            <p:spPr>
              <a:xfrm>
                <a:off x="838200" y="1104900"/>
                <a:ext cx="10515600" cy="5072063"/>
              </a:xfrm>
              <a:blipFill>
                <a:blip r:embed="rId2"/>
                <a:stretch>
                  <a:fillRect l="-928" t="-2404" r="-133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C69AC05-D7B4-4FB7-AA97-2ECA1B971856}"/>
              </a:ext>
            </a:extLst>
          </p:cNvPr>
          <p:cNvSpPr>
            <a:spLocks noGrp="1"/>
          </p:cNvSpPr>
          <p:nvPr>
            <p:ph type="sldNum" sz="quarter" idx="12"/>
          </p:nvPr>
        </p:nvSpPr>
        <p:spPr/>
        <p:txBody>
          <a:bodyPr/>
          <a:lstStyle/>
          <a:p>
            <a:fld id="{6B97D948-30E8-43F7-AE10-F6E2D9F2BBB1}" type="slidenum">
              <a:rPr lang="en-US" smtClean="0"/>
              <a:t>428</a:t>
            </a:fld>
            <a:endParaRPr lang="en-US"/>
          </a:p>
        </p:txBody>
      </p:sp>
    </p:spTree>
    <p:extLst>
      <p:ext uri="{BB962C8B-B14F-4D97-AF65-F5344CB8AC3E}">
        <p14:creationId xmlns:p14="http://schemas.microsoft.com/office/powerpoint/2010/main" val="1454286745"/>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577F1-2988-4DF3-A97C-D5907F52D286}"/>
              </a:ext>
            </a:extLst>
          </p:cNvPr>
          <p:cNvSpPr>
            <a:spLocks noGrp="1"/>
          </p:cNvSpPr>
          <p:nvPr>
            <p:ph type="title"/>
          </p:nvPr>
        </p:nvSpPr>
        <p:spPr>
          <a:xfrm>
            <a:off x="838200" y="365125"/>
            <a:ext cx="10515600" cy="638175"/>
          </a:xfrm>
        </p:spPr>
        <p:txBody>
          <a:bodyPr>
            <a:normAutofit fontScale="90000"/>
          </a:bodyPr>
          <a:lstStyle/>
          <a:p>
            <a:r>
              <a:rPr lang="en-US" dirty="0"/>
              <a:t>Assumptions</a:t>
            </a:r>
          </a:p>
        </p:txBody>
      </p:sp>
      <p:sp>
        <p:nvSpPr>
          <p:cNvPr id="3" name="Content Placeholder 2">
            <a:extLst>
              <a:ext uri="{FF2B5EF4-FFF2-40B4-BE49-F238E27FC236}">
                <a16:creationId xmlns:a16="http://schemas.microsoft.com/office/drawing/2014/main" id="{763E93D4-CEFD-4E22-AC36-47DC8B09921E}"/>
              </a:ext>
            </a:extLst>
          </p:cNvPr>
          <p:cNvSpPr>
            <a:spLocks noGrp="1"/>
          </p:cNvSpPr>
          <p:nvPr>
            <p:ph idx="1"/>
          </p:nvPr>
        </p:nvSpPr>
        <p:spPr>
          <a:xfrm>
            <a:off x="838200" y="1003300"/>
            <a:ext cx="10515600" cy="5173663"/>
          </a:xfrm>
        </p:spPr>
        <p:txBody>
          <a:bodyPr>
            <a:normAutofit/>
          </a:bodyPr>
          <a:lstStyle/>
          <a:p>
            <a:r>
              <a:rPr lang="en-US" dirty="0"/>
              <a:t>    Linearity</a:t>
            </a:r>
          </a:p>
          <a:p>
            <a:r>
              <a:rPr lang="en-US" dirty="0"/>
              <a:t>    Normality</a:t>
            </a:r>
          </a:p>
          <a:p>
            <a:r>
              <a:rPr lang="en-US" dirty="0"/>
              <a:t>    Multicollinearity</a:t>
            </a:r>
          </a:p>
          <a:p>
            <a:r>
              <a:rPr lang="en-US" dirty="0"/>
              <a:t>    Autocorrelation</a:t>
            </a:r>
          </a:p>
          <a:p>
            <a:r>
              <a:rPr lang="en-US" dirty="0"/>
              <a:t>    Homoscedasticity</a:t>
            </a:r>
          </a:p>
          <a:p>
            <a:endParaRPr lang="en-US" dirty="0"/>
          </a:p>
        </p:txBody>
      </p:sp>
      <p:sp>
        <p:nvSpPr>
          <p:cNvPr id="4" name="Slide Number Placeholder 3">
            <a:extLst>
              <a:ext uri="{FF2B5EF4-FFF2-40B4-BE49-F238E27FC236}">
                <a16:creationId xmlns:a16="http://schemas.microsoft.com/office/drawing/2014/main" id="{22B5B595-AD2A-4976-920C-E883364BB8CC}"/>
              </a:ext>
            </a:extLst>
          </p:cNvPr>
          <p:cNvSpPr>
            <a:spLocks noGrp="1"/>
          </p:cNvSpPr>
          <p:nvPr>
            <p:ph type="sldNum" sz="quarter" idx="12"/>
          </p:nvPr>
        </p:nvSpPr>
        <p:spPr/>
        <p:txBody>
          <a:bodyPr/>
          <a:lstStyle/>
          <a:p>
            <a:fld id="{6B97D948-30E8-43F7-AE10-F6E2D9F2BBB1}" type="slidenum">
              <a:rPr lang="en-US" smtClean="0"/>
              <a:t>429</a:t>
            </a:fld>
            <a:endParaRPr lang="en-US"/>
          </a:p>
        </p:txBody>
      </p:sp>
    </p:spTree>
    <p:extLst>
      <p:ext uri="{BB962C8B-B14F-4D97-AF65-F5344CB8AC3E}">
        <p14:creationId xmlns:p14="http://schemas.microsoft.com/office/powerpoint/2010/main" val="2394832622"/>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B0B43-3FB5-4B5E-9855-04058A8CAADE}"/>
              </a:ext>
            </a:extLst>
          </p:cNvPr>
          <p:cNvSpPr>
            <a:spLocks noGrp="1"/>
          </p:cNvSpPr>
          <p:nvPr>
            <p:ph type="title"/>
          </p:nvPr>
        </p:nvSpPr>
        <p:spPr>
          <a:xfrm>
            <a:off x="838200" y="365125"/>
            <a:ext cx="10515600" cy="663575"/>
          </a:xfrm>
        </p:spPr>
        <p:txBody>
          <a:bodyPr>
            <a:normAutofit fontScale="90000"/>
          </a:bodyPr>
          <a:lstStyle/>
          <a:p>
            <a:r>
              <a:rPr lang="en-US" dirty="0"/>
              <a:t>Linearity</a:t>
            </a:r>
          </a:p>
        </p:txBody>
      </p:sp>
      <p:sp>
        <p:nvSpPr>
          <p:cNvPr id="3" name="Content Placeholder 2">
            <a:extLst>
              <a:ext uri="{FF2B5EF4-FFF2-40B4-BE49-F238E27FC236}">
                <a16:creationId xmlns:a16="http://schemas.microsoft.com/office/drawing/2014/main" id="{772F990F-737A-4059-A09D-FE696CDB974F}"/>
              </a:ext>
            </a:extLst>
          </p:cNvPr>
          <p:cNvSpPr>
            <a:spLocks noGrp="1"/>
          </p:cNvSpPr>
          <p:nvPr>
            <p:ph idx="1"/>
          </p:nvPr>
        </p:nvSpPr>
        <p:spPr>
          <a:xfrm>
            <a:off x="838200" y="1028700"/>
            <a:ext cx="10515600" cy="5148263"/>
          </a:xfrm>
        </p:spPr>
        <p:txBody>
          <a:bodyPr/>
          <a:lstStyle/>
          <a:p>
            <a:pPr algn="just"/>
            <a:r>
              <a:rPr lang="en-US" dirty="0"/>
              <a:t>This assumes that there is a </a:t>
            </a:r>
            <a:r>
              <a:rPr lang="en-US" dirty="0">
                <a:solidFill>
                  <a:srgbClr val="FF0000"/>
                </a:solidFill>
              </a:rPr>
              <a:t>linear relationship </a:t>
            </a:r>
            <a:r>
              <a:rPr lang="en-US" dirty="0"/>
              <a:t>between the </a:t>
            </a:r>
            <a:r>
              <a:rPr lang="en-US" dirty="0">
                <a:solidFill>
                  <a:srgbClr val="FF0000"/>
                </a:solidFill>
              </a:rPr>
              <a:t>independent variables </a:t>
            </a:r>
            <a:r>
              <a:rPr lang="en-US" dirty="0"/>
              <a:t>and the </a:t>
            </a:r>
            <a:r>
              <a:rPr lang="en-US" dirty="0">
                <a:solidFill>
                  <a:srgbClr val="FF0000"/>
                </a:solidFill>
              </a:rPr>
              <a:t>dependent variable</a:t>
            </a:r>
            <a:r>
              <a:rPr lang="en-US" dirty="0"/>
              <a:t>. </a:t>
            </a:r>
          </a:p>
          <a:p>
            <a:pPr algn="just"/>
            <a:endParaRPr lang="en-US" dirty="0"/>
          </a:p>
          <a:p>
            <a:pPr algn="just"/>
            <a:r>
              <a:rPr lang="en-US" dirty="0"/>
              <a:t>Since we have multiple independent variables, we can do this by using a scatter plot to see our predicted values versus the actual values.</a:t>
            </a:r>
          </a:p>
        </p:txBody>
      </p:sp>
      <p:sp>
        <p:nvSpPr>
          <p:cNvPr id="4" name="Slide Number Placeholder 3">
            <a:extLst>
              <a:ext uri="{FF2B5EF4-FFF2-40B4-BE49-F238E27FC236}">
                <a16:creationId xmlns:a16="http://schemas.microsoft.com/office/drawing/2014/main" id="{4813A18C-4494-41C5-B97E-AEA2A196F73E}"/>
              </a:ext>
            </a:extLst>
          </p:cNvPr>
          <p:cNvSpPr>
            <a:spLocks noGrp="1"/>
          </p:cNvSpPr>
          <p:nvPr>
            <p:ph type="sldNum" sz="quarter" idx="12"/>
          </p:nvPr>
        </p:nvSpPr>
        <p:spPr/>
        <p:txBody>
          <a:bodyPr/>
          <a:lstStyle/>
          <a:p>
            <a:fld id="{6B97D948-30E8-43F7-AE10-F6E2D9F2BBB1}" type="slidenum">
              <a:rPr lang="en-US" smtClean="0"/>
              <a:t>430</a:t>
            </a:fld>
            <a:endParaRPr lang="en-US"/>
          </a:p>
        </p:txBody>
      </p:sp>
    </p:spTree>
    <p:extLst>
      <p:ext uri="{BB962C8B-B14F-4D97-AF65-F5344CB8AC3E}">
        <p14:creationId xmlns:p14="http://schemas.microsoft.com/office/powerpoint/2010/main" val="432848016"/>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8660F-BFB9-4E19-AA6E-8CBE7DB7BC0B}"/>
              </a:ext>
            </a:extLst>
          </p:cNvPr>
          <p:cNvSpPr>
            <a:spLocks noGrp="1"/>
          </p:cNvSpPr>
          <p:nvPr>
            <p:ph type="title"/>
          </p:nvPr>
        </p:nvSpPr>
        <p:spPr>
          <a:xfrm>
            <a:off x="838200" y="365125"/>
            <a:ext cx="10515600" cy="752475"/>
          </a:xfrm>
        </p:spPr>
        <p:txBody>
          <a:bodyPr/>
          <a:lstStyle/>
          <a:p>
            <a:r>
              <a:rPr lang="en-US" dirty="0"/>
              <a:t>Normality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6957B96-B2B1-4E05-A4FC-4D08CA92F493}"/>
                  </a:ext>
                </a:extLst>
              </p:cNvPr>
              <p:cNvSpPr>
                <a:spLocks noGrp="1"/>
              </p:cNvSpPr>
              <p:nvPr>
                <p:ph idx="1"/>
              </p:nvPr>
            </p:nvSpPr>
            <p:spPr>
              <a:xfrm>
                <a:off x="838200" y="1117600"/>
                <a:ext cx="10515600" cy="5059363"/>
              </a:xfrm>
            </p:spPr>
            <p:txBody>
              <a:bodyPr/>
              <a:lstStyle/>
              <a:p>
                <a:pPr algn="just"/>
                <a:r>
                  <a:rPr lang="en-US" dirty="0"/>
                  <a:t>This assumes that the error terms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𝜀</m:t>
                    </m:r>
                  </m:oMath>
                </a14:m>
                <a:r>
                  <a:rPr lang="en-US" dirty="0"/>
                  <a:t> of the model are normally distributed. </a:t>
                </a:r>
              </a:p>
              <a:p>
                <a:pPr algn="just"/>
                <a:r>
                  <a:rPr lang="en-US" dirty="0"/>
                  <a:t>We will examine the normality of the residuals by plotting it into histogram and looking at the </a:t>
                </a:r>
                <a:r>
                  <a:rPr lang="en-US" dirty="0">
                    <a:solidFill>
                      <a:srgbClr val="FF0000"/>
                    </a:solidFill>
                  </a:rPr>
                  <a:t>p-value</a:t>
                </a:r>
                <a:r>
                  <a:rPr lang="en-US" dirty="0"/>
                  <a:t> from the </a:t>
                </a:r>
                <a:r>
                  <a:rPr lang="en-US" dirty="0">
                    <a:solidFill>
                      <a:srgbClr val="FF0000"/>
                    </a:solidFill>
                  </a:rPr>
                  <a:t>Anderson-Darling test for normality</a:t>
                </a:r>
                <a:r>
                  <a:rPr lang="en-US" dirty="0"/>
                  <a:t>. </a:t>
                </a:r>
              </a:p>
              <a:p>
                <a:pPr algn="just"/>
                <a:r>
                  <a:rPr lang="en-US" dirty="0"/>
                  <a:t>We will use the </a:t>
                </a:r>
                <a:r>
                  <a:rPr lang="en-US" dirty="0" err="1"/>
                  <a:t>normal_ad</a:t>
                </a:r>
                <a:r>
                  <a:rPr lang="en-US" dirty="0"/>
                  <a:t>() function from </a:t>
                </a:r>
                <a:r>
                  <a:rPr lang="en-US" dirty="0" err="1"/>
                  <a:t>statsmodel</a:t>
                </a:r>
                <a:r>
                  <a:rPr lang="en-US" dirty="0"/>
                  <a:t> to calculate our p-value and then compare it to threshold of 0.05.</a:t>
                </a:r>
              </a:p>
              <a:p>
                <a:pPr algn="just"/>
                <a:endParaRPr lang="en-US" dirty="0"/>
              </a:p>
              <a:p>
                <a:pPr algn="just"/>
                <a:r>
                  <a:rPr lang="en-US" dirty="0"/>
                  <a:t>If the p-value we get is higher than the threshold then we can assume that our residual is normally distributed.</a:t>
                </a:r>
              </a:p>
            </p:txBody>
          </p:sp>
        </mc:Choice>
        <mc:Fallback>
          <p:sp>
            <p:nvSpPr>
              <p:cNvPr id="3" name="Content Placeholder 2">
                <a:extLst>
                  <a:ext uri="{FF2B5EF4-FFF2-40B4-BE49-F238E27FC236}">
                    <a16:creationId xmlns:a16="http://schemas.microsoft.com/office/drawing/2014/main" id="{B6957B96-B2B1-4E05-A4FC-4D08CA92F493}"/>
                  </a:ext>
                </a:extLst>
              </p:cNvPr>
              <p:cNvSpPr>
                <a:spLocks noGrp="1" noRot="1" noChangeAspect="1" noMove="1" noResize="1" noEditPoints="1" noAdjustHandles="1" noChangeArrowheads="1" noChangeShapeType="1" noTextEdit="1"/>
              </p:cNvSpPr>
              <p:nvPr>
                <p:ph idx="1"/>
              </p:nvPr>
            </p:nvSpPr>
            <p:spPr>
              <a:xfrm>
                <a:off x="838200" y="1117600"/>
                <a:ext cx="10515600" cy="5059363"/>
              </a:xfrm>
              <a:blipFill>
                <a:blip r:embed="rId2"/>
                <a:stretch>
                  <a:fillRect l="-1043" t="-1928"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CE96185-35E8-4E3E-BDC7-1D6A4C0C8C8F}"/>
              </a:ext>
            </a:extLst>
          </p:cNvPr>
          <p:cNvSpPr>
            <a:spLocks noGrp="1"/>
          </p:cNvSpPr>
          <p:nvPr>
            <p:ph type="sldNum" sz="quarter" idx="12"/>
          </p:nvPr>
        </p:nvSpPr>
        <p:spPr/>
        <p:txBody>
          <a:bodyPr/>
          <a:lstStyle/>
          <a:p>
            <a:fld id="{6B97D948-30E8-43F7-AE10-F6E2D9F2BBB1}" type="slidenum">
              <a:rPr lang="en-US" smtClean="0"/>
              <a:t>431</a:t>
            </a:fld>
            <a:endParaRPr lang="en-US"/>
          </a:p>
        </p:txBody>
      </p:sp>
    </p:spTree>
    <p:extLst>
      <p:ext uri="{BB962C8B-B14F-4D97-AF65-F5344CB8AC3E}">
        <p14:creationId xmlns:p14="http://schemas.microsoft.com/office/powerpoint/2010/main" val="3389580831"/>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3CEA7-B89A-44FE-A3B6-84AE06BE2AF0}"/>
              </a:ext>
            </a:extLst>
          </p:cNvPr>
          <p:cNvSpPr>
            <a:spLocks noGrp="1"/>
          </p:cNvSpPr>
          <p:nvPr>
            <p:ph type="title"/>
          </p:nvPr>
        </p:nvSpPr>
        <p:spPr>
          <a:xfrm>
            <a:off x="838200" y="365125"/>
            <a:ext cx="10515600" cy="638175"/>
          </a:xfrm>
        </p:spPr>
        <p:txBody>
          <a:bodyPr>
            <a:normAutofit fontScale="90000"/>
          </a:bodyPr>
          <a:lstStyle/>
          <a:p>
            <a:r>
              <a:rPr lang="en-US" dirty="0"/>
              <a:t>Multicollinearity</a:t>
            </a:r>
          </a:p>
        </p:txBody>
      </p:sp>
      <p:sp>
        <p:nvSpPr>
          <p:cNvPr id="3" name="Content Placeholder 2">
            <a:extLst>
              <a:ext uri="{FF2B5EF4-FFF2-40B4-BE49-F238E27FC236}">
                <a16:creationId xmlns:a16="http://schemas.microsoft.com/office/drawing/2014/main" id="{8F29D439-D72E-4A08-B82A-0814E6C5D418}"/>
              </a:ext>
            </a:extLst>
          </p:cNvPr>
          <p:cNvSpPr>
            <a:spLocks noGrp="1"/>
          </p:cNvSpPr>
          <p:nvPr>
            <p:ph idx="1"/>
          </p:nvPr>
        </p:nvSpPr>
        <p:spPr>
          <a:xfrm>
            <a:off x="838200" y="1003300"/>
            <a:ext cx="10515600" cy="5173663"/>
          </a:xfrm>
        </p:spPr>
        <p:txBody>
          <a:bodyPr/>
          <a:lstStyle/>
          <a:p>
            <a:pPr algn="just"/>
            <a:r>
              <a:rPr lang="en-US" dirty="0"/>
              <a:t>This assumes that the predictors used in the regression are </a:t>
            </a:r>
            <a:r>
              <a:rPr lang="en-US" dirty="0">
                <a:solidFill>
                  <a:srgbClr val="FF0000"/>
                </a:solidFill>
              </a:rPr>
              <a:t>not correlated with each other</a:t>
            </a:r>
            <a:r>
              <a:rPr lang="en-US" dirty="0"/>
              <a:t>. </a:t>
            </a:r>
          </a:p>
          <a:p>
            <a:pPr algn="just"/>
            <a:r>
              <a:rPr lang="en-US" dirty="0"/>
              <a:t>To identify if there are any correlation between our predictors we can calculate the </a:t>
            </a:r>
            <a:r>
              <a:rPr lang="en-US" dirty="0">
                <a:solidFill>
                  <a:srgbClr val="FF0000"/>
                </a:solidFill>
              </a:rPr>
              <a:t>Pearson correlation coefficient between each column in our data using the </a:t>
            </a:r>
            <a:r>
              <a:rPr lang="en-US" dirty="0" err="1">
                <a:solidFill>
                  <a:srgbClr val="FF0000"/>
                </a:solidFill>
              </a:rPr>
              <a:t>corr</a:t>
            </a:r>
            <a:r>
              <a:rPr lang="en-US" dirty="0">
                <a:solidFill>
                  <a:srgbClr val="FF0000"/>
                </a:solidFill>
              </a:rPr>
              <a:t>() function from Pandas </a:t>
            </a:r>
            <a:r>
              <a:rPr lang="en-US" dirty="0" err="1">
                <a:solidFill>
                  <a:srgbClr val="FF0000"/>
                </a:solidFill>
              </a:rPr>
              <a:t>dataframe</a:t>
            </a:r>
            <a:r>
              <a:rPr lang="en-US" dirty="0"/>
              <a:t>. </a:t>
            </a:r>
          </a:p>
          <a:p>
            <a:pPr algn="just"/>
            <a:endParaRPr lang="en-US" dirty="0"/>
          </a:p>
          <a:p>
            <a:pPr algn="just"/>
            <a:r>
              <a:rPr lang="en-US" dirty="0"/>
              <a:t>Then we can display it as a heatmap using heatmap() function from Seaborn.</a:t>
            </a:r>
          </a:p>
        </p:txBody>
      </p:sp>
      <p:sp>
        <p:nvSpPr>
          <p:cNvPr id="4" name="Slide Number Placeholder 3">
            <a:extLst>
              <a:ext uri="{FF2B5EF4-FFF2-40B4-BE49-F238E27FC236}">
                <a16:creationId xmlns:a16="http://schemas.microsoft.com/office/drawing/2014/main" id="{49397FAC-45B4-4F88-AC80-1A630E87B534}"/>
              </a:ext>
            </a:extLst>
          </p:cNvPr>
          <p:cNvSpPr>
            <a:spLocks noGrp="1"/>
          </p:cNvSpPr>
          <p:nvPr>
            <p:ph type="sldNum" sz="quarter" idx="12"/>
          </p:nvPr>
        </p:nvSpPr>
        <p:spPr/>
        <p:txBody>
          <a:bodyPr/>
          <a:lstStyle/>
          <a:p>
            <a:fld id="{6B97D948-30E8-43F7-AE10-F6E2D9F2BBB1}" type="slidenum">
              <a:rPr lang="en-US" smtClean="0"/>
              <a:t>432</a:t>
            </a:fld>
            <a:endParaRPr lang="en-US"/>
          </a:p>
        </p:txBody>
      </p:sp>
    </p:spTree>
    <p:extLst>
      <p:ext uri="{BB962C8B-B14F-4D97-AF65-F5344CB8AC3E}">
        <p14:creationId xmlns:p14="http://schemas.microsoft.com/office/powerpoint/2010/main" val="2152741830"/>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B80C6-E351-4D1A-AA9B-4886870CB214}"/>
              </a:ext>
            </a:extLst>
          </p:cNvPr>
          <p:cNvSpPr>
            <a:spLocks noGrp="1"/>
          </p:cNvSpPr>
          <p:nvPr>
            <p:ph type="title"/>
          </p:nvPr>
        </p:nvSpPr>
        <p:spPr>
          <a:xfrm>
            <a:off x="838200" y="365125"/>
            <a:ext cx="10515600" cy="574675"/>
          </a:xfrm>
        </p:spPr>
        <p:txBody>
          <a:bodyPr>
            <a:normAutofit fontScale="90000"/>
          </a:bodyPr>
          <a:lstStyle/>
          <a:p>
            <a:r>
              <a:rPr lang="en-US" dirty="0"/>
              <a:t>Autocorrelation</a:t>
            </a:r>
          </a:p>
        </p:txBody>
      </p:sp>
      <p:sp>
        <p:nvSpPr>
          <p:cNvPr id="3" name="Content Placeholder 2">
            <a:extLst>
              <a:ext uri="{FF2B5EF4-FFF2-40B4-BE49-F238E27FC236}">
                <a16:creationId xmlns:a16="http://schemas.microsoft.com/office/drawing/2014/main" id="{D6C2F643-AFBC-4009-B233-FD855CB7B0AC}"/>
              </a:ext>
            </a:extLst>
          </p:cNvPr>
          <p:cNvSpPr>
            <a:spLocks noGrp="1"/>
          </p:cNvSpPr>
          <p:nvPr>
            <p:ph idx="1"/>
          </p:nvPr>
        </p:nvSpPr>
        <p:spPr>
          <a:xfrm>
            <a:off x="838200" y="939800"/>
            <a:ext cx="10515600" cy="5237163"/>
          </a:xfrm>
        </p:spPr>
        <p:txBody>
          <a:bodyPr>
            <a:normAutofit fontScale="92500" lnSpcReduction="20000"/>
          </a:bodyPr>
          <a:lstStyle/>
          <a:p>
            <a:pPr algn="just"/>
            <a:r>
              <a:rPr lang="en-US" dirty="0"/>
              <a:t>Autocorrelation is </a:t>
            </a:r>
            <a:r>
              <a:rPr lang="en-US" dirty="0">
                <a:solidFill>
                  <a:srgbClr val="FF0000"/>
                </a:solidFill>
              </a:rPr>
              <a:t>correlation of the errors (residuals) over time</a:t>
            </a:r>
            <a:r>
              <a:rPr lang="en-US" dirty="0"/>
              <a:t>. </a:t>
            </a:r>
          </a:p>
          <a:p>
            <a:pPr algn="just"/>
            <a:r>
              <a:rPr lang="en-US" dirty="0"/>
              <a:t>Autocorrelation exists if residuals in one time period are related to residuals in another period. </a:t>
            </a:r>
          </a:p>
          <a:p>
            <a:pPr algn="just"/>
            <a:r>
              <a:rPr lang="en-US" dirty="0"/>
              <a:t>We can detect autocorrelation by performing </a:t>
            </a:r>
            <a:r>
              <a:rPr lang="en-US" dirty="0">
                <a:solidFill>
                  <a:srgbClr val="FF0000"/>
                </a:solidFill>
              </a:rPr>
              <a:t>Durbin-Watson test </a:t>
            </a:r>
            <a:r>
              <a:rPr lang="en-US" dirty="0"/>
              <a:t>to determine if either positive or negative correlation is present. </a:t>
            </a:r>
          </a:p>
          <a:p>
            <a:pPr algn="just"/>
            <a:r>
              <a:rPr lang="en-US" dirty="0"/>
              <a:t>In this step we will use the </a:t>
            </a:r>
            <a:r>
              <a:rPr lang="en-US" dirty="0" err="1"/>
              <a:t>durbin_watson</a:t>
            </a:r>
            <a:r>
              <a:rPr lang="en-US" dirty="0"/>
              <a:t> () function from </a:t>
            </a:r>
            <a:r>
              <a:rPr lang="en-US" dirty="0" err="1"/>
              <a:t>statsmodel</a:t>
            </a:r>
            <a:r>
              <a:rPr lang="en-US" dirty="0"/>
              <a:t> to calculate our Durbin-Watson score and then assess the value with the following condition:</a:t>
            </a:r>
          </a:p>
          <a:p>
            <a:pPr algn="just"/>
            <a:r>
              <a:rPr lang="en-US" dirty="0"/>
              <a:t>If the Durbin-Watson score is less than 1.5 then there is a positive autocorrelation and the assumption is not satisfied</a:t>
            </a:r>
          </a:p>
          <a:p>
            <a:pPr algn="just"/>
            <a:r>
              <a:rPr lang="en-US" i="1" dirty="0">
                <a:solidFill>
                  <a:srgbClr val="00B050"/>
                </a:solidFill>
              </a:rPr>
              <a:t>If the Durbin-Watson score is between 1.5 and 2.5 then there is no autocorrelation and the assumption is satisfied</a:t>
            </a:r>
          </a:p>
          <a:p>
            <a:pPr algn="just"/>
            <a:r>
              <a:rPr lang="en-US" dirty="0"/>
              <a:t>If the Durbin-Watson score is more than 2.5 then there is a negative autocorrelation and the assumption is not satisfied</a:t>
            </a:r>
          </a:p>
          <a:p>
            <a:endParaRPr lang="en-US" dirty="0"/>
          </a:p>
        </p:txBody>
      </p:sp>
      <p:sp>
        <p:nvSpPr>
          <p:cNvPr id="4" name="Slide Number Placeholder 3">
            <a:extLst>
              <a:ext uri="{FF2B5EF4-FFF2-40B4-BE49-F238E27FC236}">
                <a16:creationId xmlns:a16="http://schemas.microsoft.com/office/drawing/2014/main" id="{8B07B2DE-B235-4F44-B0EC-AC7A700714BC}"/>
              </a:ext>
            </a:extLst>
          </p:cNvPr>
          <p:cNvSpPr>
            <a:spLocks noGrp="1"/>
          </p:cNvSpPr>
          <p:nvPr>
            <p:ph type="sldNum" sz="quarter" idx="12"/>
          </p:nvPr>
        </p:nvSpPr>
        <p:spPr/>
        <p:txBody>
          <a:bodyPr/>
          <a:lstStyle/>
          <a:p>
            <a:fld id="{6B97D948-30E8-43F7-AE10-F6E2D9F2BBB1}" type="slidenum">
              <a:rPr lang="en-US" smtClean="0"/>
              <a:t>433</a:t>
            </a:fld>
            <a:endParaRPr lang="en-US"/>
          </a:p>
        </p:txBody>
      </p:sp>
    </p:spTree>
    <p:extLst>
      <p:ext uri="{BB962C8B-B14F-4D97-AF65-F5344CB8AC3E}">
        <p14:creationId xmlns:p14="http://schemas.microsoft.com/office/powerpoint/2010/main" val="1968219085"/>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25D98-2C0A-4FAE-991E-2B21311D9153}"/>
              </a:ext>
            </a:extLst>
          </p:cNvPr>
          <p:cNvSpPr>
            <a:spLocks noGrp="1"/>
          </p:cNvSpPr>
          <p:nvPr>
            <p:ph type="title"/>
          </p:nvPr>
        </p:nvSpPr>
        <p:spPr>
          <a:xfrm>
            <a:off x="838200" y="365125"/>
            <a:ext cx="10515600" cy="600075"/>
          </a:xfrm>
        </p:spPr>
        <p:txBody>
          <a:bodyPr>
            <a:normAutofit fontScale="90000"/>
          </a:bodyPr>
          <a:lstStyle/>
          <a:p>
            <a:r>
              <a:rPr lang="en-US" dirty="0"/>
              <a:t>Homoscedasticity</a:t>
            </a:r>
          </a:p>
        </p:txBody>
      </p:sp>
      <p:sp>
        <p:nvSpPr>
          <p:cNvPr id="3" name="Content Placeholder 2">
            <a:extLst>
              <a:ext uri="{FF2B5EF4-FFF2-40B4-BE49-F238E27FC236}">
                <a16:creationId xmlns:a16="http://schemas.microsoft.com/office/drawing/2014/main" id="{77187E49-4B20-4596-90A6-96C743D5CE92}"/>
              </a:ext>
            </a:extLst>
          </p:cNvPr>
          <p:cNvSpPr>
            <a:spLocks noGrp="1"/>
          </p:cNvSpPr>
          <p:nvPr>
            <p:ph idx="1"/>
          </p:nvPr>
        </p:nvSpPr>
        <p:spPr>
          <a:xfrm>
            <a:off x="838200" y="965200"/>
            <a:ext cx="10515600" cy="5211763"/>
          </a:xfrm>
        </p:spPr>
        <p:txBody>
          <a:bodyPr/>
          <a:lstStyle/>
          <a:p>
            <a:pPr algn="just"/>
            <a:r>
              <a:rPr lang="en-US" dirty="0"/>
              <a:t>This assumes homoscedasticity, which is the same variance within our error terms. </a:t>
            </a:r>
          </a:p>
          <a:p>
            <a:pPr algn="just"/>
            <a:endParaRPr lang="en-US" dirty="0"/>
          </a:p>
          <a:p>
            <a:pPr algn="just"/>
            <a:r>
              <a:rPr lang="en-US" dirty="0"/>
              <a:t>Heteroscedasticity, the violation of homoscedasticity, occurs when we don’t have an even variance across the error terms. </a:t>
            </a:r>
          </a:p>
          <a:p>
            <a:pPr algn="just"/>
            <a:endParaRPr lang="en-US" dirty="0"/>
          </a:p>
          <a:p>
            <a:pPr algn="just"/>
            <a:r>
              <a:rPr lang="en-US" dirty="0"/>
              <a:t>To detect homoscedasticity, we can plot our residual and see if the variance appears to be uniform.</a:t>
            </a:r>
          </a:p>
        </p:txBody>
      </p:sp>
      <p:sp>
        <p:nvSpPr>
          <p:cNvPr id="4" name="Slide Number Placeholder 3">
            <a:extLst>
              <a:ext uri="{FF2B5EF4-FFF2-40B4-BE49-F238E27FC236}">
                <a16:creationId xmlns:a16="http://schemas.microsoft.com/office/drawing/2014/main" id="{0EB87188-F6F9-4210-B78D-5B95790EE38F}"/>
              </a:ext>
            </a:extLst>
          </p:cNvPr>
          <p:cNvSpPr>
            <a:spLocks noGrp="1"/>
          </p:cNvSpPr>
          <p:nvPr>
            <p:ph type="sldNum" sz="quarter" idx="12"/>
          </p:nvPr>
        </p:nvSpPr>
        <p:spPr/>
        <p:txBody>
          <a:bodyPr/>
          <a:lstStyle/>
          <a:p>
            <a:fld id="{6B97D948-30E8-43F7-AE10-F6E2D9F2BBB1}" type="slidenum">
              <a:rPr lang="en-US" smtClean="0"/>
              <a:t>434</a:t>
            </a:fld>
            <a:endParaRPr lang="en-US"/>
          </a:p>
        </p:txBody>
      </p:sp>
    </p:spTree>
    <p:extLst>
      <p:ext uri="{BB962C8B-B14F-4D97-AF65-F5344CB8AC3E}">
        <p14:creationId xmlns:p14="http://schemas.microsoft.com/office/powerpoint/2010/main" val="1146059339"/>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22451-5DFD-409C-811F-CC9896056CBC}"/>
              </a:ext>
            </a:extLst>
          </p:cNvPr>
          <p:cNvSpPr>
            <a:spLocks noGrp="1"/>
          </p:cNvSpPr>
          <p:nvPr>
            <p:ph type="title"/>
          </p:nvPr>
        </p:nvSpPr>
        <p:spPr>
          <a:xfrm>
            <a:off x="838200" y="365125"/>
            <a:ext cx="10515600" cy="815975"/>
          </a:xfrm>
        </p:spPr>
        <p:txBody>
          <a:bodyPr/>
          <a:lstStyle/>
          <a:p>
            <a:r>
              <a:rPr lang="en-US" dirty="0"/>
              <a:t>Code</a:t>
            </a:r>
          </a:p>
        </p:txBody>
      </p:sp>
      <p:sp>
        <p:nvSpPr>
          <p:cNvPr id="3" name="Content Placeholder 2">
            <a:extLst>
              <a:ext uri="{FF2B5EF4-FFF2-40B4-BE49-F238E27FC236}">
                <a16:creationId xmlns:a16="http://schemas.microsoft.com/office/drawing/2014/main" id="{9FDB5B72-0D6F-47BA-9F48-9AF74CE755EC}"/>
              </a:ext>
            </a:extLst>
          </p:cNvPr>
          <p:cNvSpPr>
            <a:spLocks noGrp="1"/>
          </p:cNvSpPr>
          <p:nvPr>
            <p:ph idx="1"/>
          </p:nvPr>
        </p:nvSpPr>
        <p:spPr>
          <a:xfrm>
            <a:off x="838200" y="1181100"/>
            <a:ext cx="10515600" cy="4995863"/>
          </a:xfrm>
        </p:spPr>
        <p:txBody>
          <a:bodyPr>
            <a:normAutofit/>
          </a:bodyPr>
          <a:lstStyle/>
          <a:p>
            <a:r>
              <a:rPr lang="en-US" dirty="0">
                <a:solidFill>
                  <a:srgbClr val="FF0000"/>
                </a:solidFill>
              </a:rPr>
              <a:t>import pandas as pd</a:t>
            </a:r>
          </a:p>
          <a:p>
            <a:r>
              <a:rPr lang="en-US" dirty="0">
                <a:solidFill>
                  <a:srgbClr val="FF0000"/>
                </a:solidFill>
              </a:rPr>
              <a:t>import </a:t>
            </a:r>
            <a:r>
              <a:rPr lang="en-US" dirty="0" err="1">
                <a:solidFill>
                  <a:srgbClr val="FF0000"/>
                </a:solidFill>
              </a:rPr>
              <a:t>numpy</a:t>
            </a:r>
            <a:r>
              <a:rPr lang="en-US" dirty="0">
                <a:solidFill>
                  <a:srgbClr val="FF0000"/>
                </a:solidFill>
              </a:rPr>
              <a:t> as np</a:t>
            </a:r>
          </a:p>
          <a:p>
            <a:r>
              <a:rPr lang="en-US" dirty="0">
                <a:solidFill>
                  <a:srgbClr val="FF0000"/>
                </a:solidFill>
              </a:rPr>
              <a:t>import warnings</a:t>
            </a:r>
          </a:p>
        </p:txBody>
      </p:sp>
      <p:sp>
        <p:nvSpPr>
          <p:cNvPr id="4" name="Slide Number Placeholder 3">
            <a:extLst>
              <a:ext uri="{FF2B5EF4-FFF2-40B4-BE49-F238E27FC236}">
                <a16:creationId xmlns:a16="http://schemas.microsoft.com/office/drawing/2014/main" id="{BD5C01D8-47C5-43A0-9D70-8866302CBEFA}"/>
              </a:ext>
            </a:extLst>
          </p:cNvPr>
          <p:cNvSpPr>
            <a:spLocks noGrp="1"/>
          </p:cNvSpPr>
          <p:nvPr>
            <p:ph type="sldNum" sz="quarter" idx="12"/>
          </p:nvPr>
        </p:nvSpPr>
        <p:spPr/>
        <p:txBody>
          <a:bodyPr/>
          <a:lstStyle/>
          <a:p>
            <a:fld id="{6B97D948-30E8-43F7-AE10-F6E2D9F2BBB1}" type="slidenum">
              <a:rPr lang="en-US" smtClean="0"/>
              <a:t>435</a:t>
            </a:fld>
            <a:endParaRPr lang="en-US"/>
          </a:p>
        </p:txBody>
      </p:sp>
    </p:spTree>
    <p:extLst>
      <p:ext uri="{BB962C8B-B14F-4D97-AF65-F5344CB8AC3E}">
        <p14:creationId xmlns:p14="http://schemas.microsoft.com/office/powerpoint/2010/main" val="1311828334"/>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E62ED7-1300-48B4-A381-813B5100B22B}"/>
              </a:ext>
            </a:extLst>
          </p:cNvPr>
          <p:cNvSpPr>
            <a:spLocks noGrp="1"/>
          </p:cNvSpPr>
          <p:nvPr>
            <p:ph idx="1"/>
          </p:nvPr>
        </p:nvSpPr>
        <p:spPr>
          <a:xfrm>
            <a:off x="838200" y="520700"/>
            <a:ext cx="10515600" cy="5656263"/>
          </a:xfrm>
        </p:spPr>
        <p:txBody>
          <a:bodyPr/>
          <a:lstStyle/>
          <a:p>
            <a:r>
              <a:rPr lang="en-US" dirty="0"/>
              <a:t>## Building Model</a:t>
            </a:r>
          </a:p>
          <a:p>
            <a:r>
              <a:rPr lang="en-US" dirty="0">
                <a:solidFill>
                  <a:srgbClr val="FF0000"/>
                </a:solidFill>
              </a:rPr>
              <a:t>from </a:t>
            </a:r>
            <a:r>
              <a:rPr lang="en-US" dirty="0" err="1">
                <a:solidFill>
                  <a:srgbClr val="FF0000"/>
                </a:solidFill>
              </a:rPr>
              <a:t>sklearn</a:t>
            </a:r>
            <a:r>
              <a:rPr lang="en-US" dirty="0">
                <a:solidFill>
                  <a:srgbClr val="FF0000"/>
                </a:solidFill>
              </a:rPr>
              <a:t> import </a:t>
            </a:r>
            <a:r>
              <a:rPr lang="en-US" dirty="0" err="1">
                <a:solidFill>
                  <a:srgbClr val="FF0000"/>
                </a:solidFill>
              </a:rPr>
              <a:t>linear_model</a:t>
            </a:r>
            <a:endParaRPr lang="en-US" dirty="0">
              <a:solidFill>
                <a:srgbClr val="FF0000"/>
              </a:solidFill>
            </a:endParaRPr>
          </a:p>
          <a:p>
            <a:r>
              <a:rPr lang="en-US" dirty="0">
                <a:solidFill>
                  <a:srgbClr val="FF0000"/>
                </a:solidFill>
              </a:rPr>
              <a:t>from </a:t>
            </a:r>
            <a:r>
              <a:rPr lang="en-US" dirty="0" err="1">
                <a:solidFill>
                  <a:srgbClr val="FF0000"/>
                </a:solidFill>
              </a:rPr>
              <a:t>scipy</a:t>
            </a:r>
            <a:r>
              <a:rPr lang="en-US" dirty="0">
                <a:solidFill>
                  <a:srgbClr val="FF0000"/>
                </a:solidFill>
              </a:rPr>
              <a:t> import stats</a:t>
            </a:r>
          </a:p>
          <a:p>
            <a:r>
              <a:rPr lang="en-US" dirty="0">
                <a:solidFill>
                  <a:srgbClr val="FF0000"/>
                </a:solidFill>
              </a:rPr>
              <a:t>import </a:t>
            </a:r>
            <a:r>
              <a:rPr lang="en-US" dirty="0" err="1">
                <a:solidFill>
                  <a:srgbClr val="FF0000"/>
                </a:solidFill>
              </a:rPr>
              <a:t>statsmodels</a:t>
            </a:r>
            <a:endParaRPr lang="en-US" dirty="0">
              <a:solidFill>
                <a:srgbClr val="FF0000"/>
              </a:solidFill>
            </a:endParaRPr>
          </a:p>
          <a:p>
            <a:r>
              <a:rPr lang="en-US" dirty="0">
                <a:solidFill>
                  <a:srgbClr val="FF0000"/>
                </a:solidFill>
              </a:rPr>
              <a:t>import </a:t>
            </a:r>
            <a:r>
              <a:rPr lang="en-US" dirty="0" err="1">
                <a:solidFill>
                  <a:srgbClr val="FF0000"/>
                </a:solidFill>
              </a:rPr>
              <a:t>statsmodels.api</a:t>
            </a:r>
            <a:r>
              <a:rPr lang="en-US" dirty="0">
                <a:solidFill>
                  <a:srgbClr val="FF0000"/>
                </a:solidFill>
              </a:rPr>
              <a:t> as </a:t>
            </a:r>
            <a:r>
              <a:rPr lang="en-US" dirty="0" err="1">
                <a:solidFill>
                  <a:srgbClr val="FF0000"/>
                </a:solidFill>
              </a:rPr>
              <a:t>sm</a:t>
            </a:r>
            <a:endParaRPr lang="en-US" dirty="0">
              <a:solidFill>
                <a:srgbClr val="FF0000"/>
              </a:solidFill>
            </a:endParaRPr>
          </a:p>
          <a:p>
            <a:r>
              <a:rPr lang="en-US" dirty="0">
                <a:solidFill>
                  <a:srgbClr val="FF0000"/>
                </a:solidFill>
              </a:rPr>
              <a:t>import </a:t>
            </a:r>
            <a:r>
              <a:rPr lang="en-US" dirty="0" err="1">
                <a:solidFill>
                  <a:srgbClr val="FF0000"/>
                </a:solidFill>
              </a:rPr>
              <a:t>statsmodels.formula.api</a:t>
            </a:r>
            <a:r>
              <a:rPr lang="en-US" dirty="0">
                <a:solidFill>
                  <a:srgbClr val="FF0000"/>
                </a:solidFill>
              </a:rPr>
              <a:t> as </a:t>
            </a:r>
            <a:r>
              <a:rPr lang="en-US" dirty="0" err="1">
                <a:solidFill>
                  <a:srgbClr val="FF0000"/>
                </a:solidFill>
              </a:rPr>
              <a:t>smf</a:t>
            </a:r>
            <a:endParaRPr lang="en-US" dirty="0">
              <a:solidFill>
                <a:srgbClr val="FF0000"/>
              </a:solidFill>
            </a:endParaRPr>
          </a:p>
          <a:p>
            <a:r>
              <a:rPr lang="en-US" dirty="0">
                <a:solidFill>
                  <a:srgbClr val="FF0000"/>
                </a:solidFill>
              </a:rPr>
              <a:t>import </a:t>
            </a:r>
            <a:r>
              <a:rPr lang="en-US" dirty="0" err="1">
                <a:solidFill>
                  <a:srgbClr val="FF0000"/>
                </a:solidFill>
              </a:rPr>
              <a:t>statsmodels.stats.api</a:t>
            </a:r>
            <a:r>
              <a:rPr lang="en-US" dirty="0">
                <a:solidFill>
                  <a:srgbClr val="FF0000"/>
                </a:solidFill>
              </a:rPr>
              <a:t> as </a:t>
            </a:r>
            <a:r>
              <a:rPr lang="en-US" dirty="0" err="1">
                <a:solidFill>
                  <a:srgbClr val="FF0000"/>
                </a:solidFill>
              </a:rPr>
              <a:t>sms</a:t>
            </a:r>
            <a:endParaRPr lang="en-US" dirty="0">
              <a:solidFill>
                <a:srgbClr val="FF0000"/>
              </a:solidFill>
            </a:endParaRPr>
          </a:p>
          <a:p>
            <a:r>
              <a:rPr lang="en-US" dirty="0">
                <a:solidFill>
                  <a:srgbClr val="FF0000"/>
                </a:solidFill>
              </a:rPr>
              <a:t>from </a:t>
            </a:r>
            <a:r>
              <a:rPr lang="en-US" dirty="0" err="1">
                <a:solidFill>
                  <a:srgbClr val="FF0000"/>
                </a:solidFill>
              </a:rPr>
              <a:t>statsmodels.compat</a:t>
            </a:r>
            <a:r>
              <a:rPr lang="en-US" dirty="0">
                <a:solidFill>
                  <a:srgbClr val="FF0000"/>
                </a:solidFill>
              </a:rPr>
              <a:t> import </a:t>
            </a:r>
            <a:r>
              <a:rPr lang="en-US" dirty="0" err="1">
                <a:solidFill>
                  <a:srgbClr val="FF0000"/>
                </a:solidFill>
              </a:rPr>
              <a:t>lzip</a:t>
            </a:r>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1CFA8095-8DDC-4788-AB42-D76A469F8B0A}"/>
              </a:ext>
            </a:extLst>
          </p:cNvPr>
          <p:cNvSpPr>
            <a:spLocks noGrp="1"/>
          </p:cNvSpPr>
          <p:nvPr>
            <p:ph type="sldNum" sz="quarter" idx="12"/>
          </p:nvPr>
        </p:nvSpPr>
        <p:spPr/>
        <p:txBody>
          <a:bodyPr/>
          <a:lstStyle/>
          <a:p>
            <a:fld id="{6B97D948-30E8-43F7-AE10-F6E2D9F2BBB1}" type="slidenum">
              <a:rPr lang="en-US" smtClean="0"/>
              <a:t>436</a:t>
            </a:fld>
            <a:endParaRPr lang="en-US"/>
          </a:p>
        </p:txBody>
      </p:sp>
    </p:spTree>
    <p:extLst>
      <p:ext uri="{BB962C8B-B14F-4D97-AF65-F5344CB8AC3E}">
        <p14:creationId xmlns:p14="http://schemas.microsoft.com/office/powerpoint/2010/main" val="3423578944"/>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1F138B-7F69-4806-9573-6E23C6299568}"/>
              </a:ext>
            </a:extLst>
          </p:cNvPr>
          <p:cNvSpPr>
            <a:spLocks noGrp="1"/>
          </p:cNvSpPr>
          <p:nvPr>
            <p:ph idx="1"/>
          </p:nvPr>
        </p:nvSpPr>
        <p:spPr>
          <a:xfrm>
            <a:off x="838200" y="482600"/>
            <a:ext cx="10515600" cy="5694363"/>
          </a:xfrm>
        </p:spPr>
        <p:txBody>
          <a:bodyPr/>
          <a:lstStyle/>
          <a:p>
            <a:r>
              <a:rPr lang="en-US" dirty="0"/>
              <a:t>## Data Visualization</a:t>
            </a:r>
          </a:p>
          <a:p>
            <a:r>
              <a:rPr lang="en-US" dirty="0">
                <a:solidFill>
                  <a:srgbClr val="FF0000"/>
                </a:solidFill>
              </a:rPr>
              <a:t>import seaborn as </a:t>
            </a:r>
            <a:r>
              <a:rPr lang="en-US" dirty="0" err="1">
                <a:solidFill>
                  <a:srgbClr val="FF0000"/>
                </a:solidFill>
              </a:rPr>
              <a:t>sns</a:t>
            </a:r>
            <a:endParaRPr lang="en-US" dirty="0">
              <a:solidFill>
                <a:srgbClr val="FF0000"/>
              </a:solidFill>
            </a:endParaRPr>
          </a:p>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r>
              <a:rPr lang="en-US" dirty="0">
                <a:solidFill>
                  <a:schemeClr val="bg1"/>
                </a:solidFill>
              </a:rPr>
              <a:t>from mpl_toolkits.mplot3d import Axes3D</a:t>
            </a:r>
          </a:p>
          <a:p>
            <a:r>
              <a:rPr lang="en-US" dirty="0">
                <a:solidFill>
                  <a:srgbClr val="FF0000"/>
                </a:solidFill>
              </a:rPr>
              <a:t>%matplotlib</a:t>
            </a:r>
          </a:p>
          <a:p>
            <a:r>
              <a:rPr lang="en-US" dirty="0" err="1">
                <a:solidFill>
                  <a:schemeClr val="bg1"/>
                </a:solidFill>
              </a:rPr>
              <a:t>warnings.filterwarnings</a:t>
            </a:r>
            <a:r>
              <a:rPr lang="en-US" dirty="0">
                <a:solidFill>
                  <a:schemeClr val="bg1"/>
                </a:solidFill>
              </a:rPr>
              <a:t>('ignore')</a:t>
            </a:r>
          </a:p>
          <a:p>
            <a:r>
              <a:rPr lang="en-US" dirty="0" err="1">
                <a:solidFill>
                  <a:schemeClr val="bg1"/>
                </a:solidFill>
              </a:rPr>
              <a:t>plt.rcParams</a:t>
            </a:r>
            <a:r>
              <a:rPr lang="en-US" dirty="0">
                <a:solidFill>
                  <a:schemeClr val="bg1"/>
                </a:solidFill>
              </a:rPr>
              <a:t>['</a:t>
            </a:r>
            <a:r>
              <a:rPr lang="en-US" dirty="0" err="1">
                <a:solidFill>
                  <a:schemeClr val="bg1"/>
                </a:solidFill>
              </a:rPr>
              <a:t>figure.figsize</a:t>
            </a:r>
            <a:r>
              <a:rPr lang="en-US" dirty="0">
                <a:solidFill>
                  <a:schemeClr val="bg1"/>
                </a:solidFill>
              </a:rPr>
              <a:t>'] = (7, 7)</a:t>
            </a:r>
          </a:p>
          <a:p>
            <a:r>
              <a:rPr lang="en-US" dirty="0" err="1">
                <a:solidFill>
                  <a:srgbClr val="FF0000"/>
                </a:solidFill>
              </a:rPr>
              <a:t>plt.style.use</a:t>
            </a:r>
            <a:r>
              <a:rPr lang="en-US" dirty="0">
                <a:solidFill>
                  <a:srgbClr val="FF0000"/>
                </a:solidFill>
              </a:rPr>
              <a:t>('</a:t>
            </a:r>
            <a:r>
              <a:rPr lang="en-US" dirty="0" err="1">
                <a:solidFill>
                  <a:srgbClr val="FF0000"/>
                </a:solidFill>
              </a:rPr>
              <a:t>ggplot</a:t>
            </a:r>
            <a:r>
              <a:rPr lang="en-US" dirty="0">
                <a:solidFill>
                  <a:srgbClr val="FF0000"/>
                </a:solidFill>
              </a:rPr>
              <a:t>')</a:t>
            </a:r>
          </a:p>
          <a:p>
            <a:endParaRPr lang="en-US" dirty="0"/>
          </a:p>
        </p:txBody>
      </p:sp>
      <p:sp>
        <p:nvSpPr>
          <p:cNvPr id="4" name="Slide Number Placeholder 3">
            <a:extLst>
              <a:ext uri="{FF2B5EF4-FFF2-40B4-BE49-F238E27FC236}">
                <a16:creationId xmlns:a16="http://schemas.microsoft.com/office/drawing/2014/main" id="{494A00C0-FFAF-4E07-BE00-CA5A1DEA3D19}"/>
              </a:ext>
            </a:extLst>
          </p:cNvPr>
          <p:cNvSpPr>
            <a:spLocks noGrp="1"/>
          </p:cNvSpPr>
          <p:nvPr>
            <p:ph type="sldNum" sz="quarter" idx="12"/>
          </p:nvPr>
        </p:nvSpPr>
        <p:spPr/>
        <p:txBody>
          <a:bodyPr/>
          <a:lstStyle/>
          <a:p>
            <a:fld id="{6B97D948-30E8-43F7-AE10-F6E2D9F2BBB1}" type="slidenum">
              <a:rPr lang="en-US" smtClean="0"/>
              <a:t>437</a:t>
            </a:fld>
            <a:endParaRPr lang="en-US"/>
          </a:p>
        </p:txBody>
      </p:sp>
    </p:spTree>
    <p:extLst>
      <p:ext uri="{BB962C8B-B14F-4D97-AF65-F5344CB8AC3E}">
        <p14:creationId xmlns:p14="http://schemas.microsoft.com/office/powerpoint/2010/main" val="3688293858"/>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C954B-0BE7-426C-89C0-52F63E579EA1}"/>
              </a:ext>
            </a:extLst>
          </p:cNvPr>
          <p:cNvSpPr>
            <a:spLocks noGrp="1"/>
          </p:cNvSpPr>
          <p:nvPr>
            <p:ph type="title"/>
          </p:nvPr>
        </p:nvSpPr>
        <p:spPr>
          <a:xfrm>
            <a:off x="838200" y="365125"/>
            <a:ext cx="10515600" cy="663575"/>
          </a:xfrm>
        </p:spPr>
        <p:txBody>
          <a:bodyPr>
            <a:normAutofit fontScale="90000"/>
          </a:bodyPr>
          <a:lstStyle/>
          <a:p>
            <a:r>
              <a:rPr lang="en-US" dirty="0"/>
              <a:t>Load advert data</a:t>
            </a:r>
          </a:p>
        </p:txBody>
      </p:sp>
      <p:sp>
        <p:nvSpPr>
          <p:cNvPr id="3" name="Content Placeholder 2">
            <a:extLst>
              <a:ext uri="{FF2B5EF4-FFF2-40B4-BE49-F238E27FC236}">
                <a16:creationId xmlns:a16="http://schemas.microsoft.com/office/drawing/2014/main" id="{967C8885-FA17-4075-8E4F-D32FA08BE8B0}"/>
              </a:ext>
            </a:extLst>
          </p:cNvPr>
          <p:cNvSpPr>
            <a:spLocks noGrp="1"/>
          </p:cNvSpPr>
          <p:nvPr>
            <p:ph idx="1"/>
          </p:nvPr>
        </p:nvSpPr>
        <p:spPr>
          <a:xfrm>
            <a:off x="838200" y="1028700"/>
            <a:ext cx="10515600" cy="5148263"/>
          </a:xfrm>
        </p:spPr>
        <p:txBody>
          <a:bodyPr/>
          <a:lstStyle/>
          <a:p>
            <a:r>
              <a:rPr lang="en-US" dirty="0">
                <a:solidFill>
                  <a:srgbClr val="FF0000"/>
                </a:solidFill>
              </a:rPr>
              <a:t>advert = </a:t>
            </a:r>
            <a:r>
              <a:rPr lang="en-US" dirty="0" err="1">
                <a:solidFill>
                  <a:srgbClr val="FF0000"/>
                </a:solidFill>
              </a:rPr>
              <a:t>pd.read_csv</a:t>
            </a:r>
            <a:r>
              <a:rPr lang="en-US" dirty="0">
                <a:solidFill>
                  <a:srgbClr val="FF0000"/>
                </a:solidFill>
              </a:rPr>
              <a:t>('advertising.csv')</a:t>
            </a:r>
          </a:p>
          <a:p>
            <a:r>
              <a:rPr lang="en-US" dirty="0" err="1">
                <a:solidFill>
                  <a:srgbClr val="FF0000"/>
                </a:solidFill>
              </a:rPr>
              <a:t>advert.head</a:t>
            </a:r>
            <a:r>
              <a:rPr lang="en-US" dirty="0">
                <a:solidFill>
                  <a:srgbClr val="FF0000"/>
                </a:solidFill>
              </a:rPr>
              <a:t>()</a:t>
            </a:r>
          </a:p>
          <a:p>
            <a:r>
              <a:rPr lang="en-US" dirty="0"/>
              <a:t>Out[121]:</a:t>
            </a:r>
          </a:p>
          <a:p>
            <a:r>
              <a:rPr lang="en-US" dirty="0"/>
              <a:t>      TV  Radio  Newspaper  Sales</a:t>
            </a:r>
          </a:p>
          <a:p>
            <a:r>
              <a:rPr lang="en-US" dirty="0"/>
              <a:t>0  230.1   37.8       69.2   22.1</a:t>
            </a:r>
          </a:p>
          <a:p>
            <a:r>
              <a:rPr lang="en-US" dirty="0"/>
              <a:t>1   44.5   39.3       45.1   10.4</a:t>
            </a:r>
          </a:p>
          <a:p>
            <a:r>
              <a:rPr lang="en-US" dirty="0"/>
              <a:t>2   17.2   45.9       69.3   12.0</a:t>
            </a:r>
          </a:p>
          <a:p>
            <a:r>
              <a:rPr lang="en-US" dirty="0"/>
              <a:t>3  151.5   41.3       58.5   16.5</a:t>
            </a:r>
          </a:p>
          <a:p>
            <a:r>
              <a:rPr lang="en-US" dirty="0"/>
              <a:t>4  180.8   10.8       58.4   17.9</a:t>
            </a:r>
          </a:p>
        </p:txBody>
      </p:sp>
      <p:sp>
        <p:nvSpPr>
          <p:cNvPr id="4" name="Slide Number Placeholder 3">
            <a:extLst>
              <a:ext uri="{FF2B5EF4-FFF2-40B4-BE49-F238E27FC236}">
                <a16:creationId xmlns:a16="http://schemas.microsoft.com/office/drawing/2014/main" id="{36E831F5-18EE-457A-85AE-16C0C969EB7E}"/>
              </a:ext>
            </a:extLst>
          </p:cNvPr>
          <p:cNvSpPr>
            <a:spLocks noGrp="1"/>
          </p:cNvSpPr>
          <p:nvPr>
            <p:ph type="sldNum" sz="quarter" idx="12"/>
          </p:nvPr>
        </p:nvSpPr>
        <p:spPr/>
        <p:txBody>
          <a:bodyPr/>
          <a:lstStyle/>
          <a:p>
            <a:fld id="{6B97D948-30E8-43F7-AE10-F6E2D9F2BBB1}" type="slidenum">
              <a:rPr lang="en-US" smtClean="0"/>
              <a:t>438</a:t>
            </a:fld>
            <a:endParaRPr lang="en-US"/>
          </a:p>
        </p:txBody>
      </p:sp>
    </p:spTree>
    <p:extLst>
      <p:ext uri="{BB962C8B-B14F-4D97-AF65-F5344CB8AC3E}">
        <p14:creationId xmlns:p14="http://schemas.microsoft.com/office/powerpoint/2010/main" val="3563220471"/>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F77913-3A41-4145-9AC4-8404A6C0757A}"/>
              </a:ext>
            </a:extLst>
          </p:cNvPr>
          <p:cNvSpPr>
            <a:spLocks noGrp="1"/>
          </p:cNvSpPr>
          <p:nvPr>
            <p:ph idx="1"/>
          </p:nvPr>
        </p:nvSpPr>
        <p:spPr>
          <a:xfrm>
            <a:off x="838200" y="533400"/>
            <a:ext cx="10515600" cy="5643563"/>
          </a:xfrm>
        </p:spPr>
        <p:txBody>
          <a:bodyPr/>
          <a:lstStyle/>
          <a:p>
            <a:r>
              <a:rPr lang="en-US" dirty="0" err="1">
                <a:solidFill>
                  <a:srgbClr val="FF0000"/>
                </a:solidFill>
              </a:rPr>
              <a:t>advert.shape</a:t>
            </a:r>
            <a:endParaRPr lang="en-US" dirty="0">
              <a:solidFill>
                <a:srgbClr val="FF0000"/>
              </a:solidFill>
            </a:endParaRPr>
          </a:p>
          <a:p>
            <a:r>
              <a:rPr lang="en-US" dirty="0"/>
              <a:t>Out[122]: (200, 4)</a:t>
            </a:r>
          </a:p>
        </p:txBody>
      </p:sp>
      <p:sp>
        <p:nvSpPr>
          <p:cNvPr id="4" name="Slide Number Placeholder 3">
            <a:extLst>
              <a:ext uri="{FF2B5EF4-FFF2-40B4-BE49-F238E27FC236}">
                <a16:creationId xmlns:a16="http://schemas.microsoft.com/office/drawing/2014/main" id="{975C3A9B-AAA5-4622-81DE-B17F2E214178}"/>
              </a:ext>
            </a:extLst>
          </p:cNvPr>
          <p:cNvSpPr>
            <a:spLocks noGrp="1"/>
          </p:cNvSpPr>
          <p:nvPr>
            <p:ph type="sldNum" sz="quarter" idx="12"/>
          </p:nvPr>
        </p:nvSpPr>
        <p:spPr/>
        <p:txBody>
          <a:bodyPr/>
          <a:lstStyle/>
          <a:p>
            <a:fld id="{6B97D948-30E8-43F7-AE10-F6E2D9F2BBB1}" type="slidenum">
              <a:rPr lang="en-US" smtClean="0"/>
              <a:t>439</a:t>
            </a:fld>
            <a:endParaRPr lang="en-US"/>
          </a:p>
        </p:txBody>
      </p:sp>
    </p:spTree>
    <p:extLst>
      <p:ext uri="{BB962C8B-B14F-4D97-AF65-F5344CB8AC3E}">
        <p14:creationId xmlns:p14="http://schemas.microsoft.com/office/powerpoint/2010/main" val="2224983022"/>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D81C9-4542-4D8F-9553-A30084BD5F01}"/>
              </a:ext>
            </a:extLst>
          </p:cNvPr>
          <p:cNvSpPr>
            <a:spLocks noGrp="1"/>
          </p:cNvSpPr>
          <p:nvPr>
            <p:ph type="title"/>
          </p:nvPr>
        </p:nvSpPr>
        <p:spPr>
          <a:xfrm>
            <a:off x="838200" y="365125"/>
            <a:ext cx="10515600" cy="676275"/>
          </a:xfrm>
        </p:spPr>
        <p:txBody>
          <a:bodyPr>
            <a:normAutofit fontScale="90000"/>
          </a:bodyPr>
          <a:lstStyle/>
          <a:p>
            <a:r>
              <a:rPr lang="en-US" dirty="0"/>
              <a:t>Descriptive Analysis (EDA)</a:t>
            </a:r>
          </a:p>
        </p:txBody>
      </p:sp>
      <p:sp>
        <p:nvSpPr>
          <p:cNvPr id="3" name="Content Placeholder 2">
            <a:extLst>
              <a:ext uri="{FF2B5EF4-FFF2-40B4-BE49-F238E27FC236}">
                <a16:creationId xmlns:a16="http://schemas.microsoft.com/office/drawing/2014/main" id="{94D6CFB4-6B21-4934-80CD-E73334580B11}"/>
              </a:ext>
            </a:extLst>
          </p:cNvPr>
          <p:cNvSpPr>
            <a:spLocks noGrp="1"/>
          </p:cNvSpPr>
          <p:nvPr>
            <p:ph idx="1"/>
          </p:nvPr>
        </p:nvSpPr>
        <p:spPr>
          <a:xfrm>
            <a:off x="838200" y="1041400"/>
            <a:ext cx="10515600" cy="5135563"/>
          </a:xfrm>
        </p:spPr>
        <p:txBody>
          <a:bodyPr/>
          <a:lstStyle/>
          <a:p>
            <a:pPr algn="just"/>
            <a:r>
              <a:rPr lang="en-US" dirty="0"/>
              <a:t>We start with the description of the data.</a:t>
            </a:r>
          </a:p>
          <a:p>
            <a:pPr algn="just"/>
            <a:r>
              <a:rPr lang="en-US" dirty="0"/>
              <a:t>First, we use the </a:t>
            </a:r>
            <a:r>
              <a:rPr lang="en-US" dirty="0" err="1"/>
              <a:t>pairplot</a:t>
            </a:r>
            <a:r>
              <a:rPr lang="en-US" dirty="0"/>
              <a:t>() function from the Seaborn library. </a:t>
            </a:r>
          </a:p>
          <a:p>
            <a:pPr algn="just"/>
            <a:r>
              <a:rPr lang="en-US" dirty="0"/>
              <a:t>The function will output a figure containing histogram and scatter plot between each variable.</a:t>
            </a:r>
          </a:p>
          <a:p>
            <a:pPr algn="just"/>
            <a:r>
              <a:rPr lang="en-US" dirty="0" err="1">
                <a:solidFill>
                  <a:srgbClr val="FF0000"/>
                </a:solidFill>
              </a:rPr>
              <a:t>sns.set_palette</a:t>
            </a:r>
            <a:r>
              <a:rPr lang="en-US" dirty="0">
                <a:solidFill>
                  <a:srgbClr val="FF0000"/>
                </a:solidFill>
              </a:rPr>
              <a:t>('colorblind')</a:t>
            </a:r>
          </a:p>
          <a:p>
            <a:pPr algn="just"/>
            <a:r>
              <a:rPr lang="en-US" dirty="0" err="1">
                <a:solidFill>
                  <a:srgbClr val="FF0000"/>
                </a:solidFill>
              </a:rPr>
              <a:t>sns.pairplot</a:t>
            </a:r>
            <a:r>
              <a:rPr lang="en-US" dirty="0">
                <a:solidFill>
                  <a:srgbClr val="FF0000"/>
                </a:solidFill>
              </a:rPr>
              <a:t>(data = advert, height=2)</a:t>
            </a:r>
          </a:p>
        </p:txBody>
      </p:sp>
      <p:sp>
        <p:nvSpPr>
          <p:cNvPr id="4" name="Slide Number Placeholder 3">
            <a:extLst>
              <a:ext uri="{FF2B5EF4-FFF2-40B4-BE49-F238E27FC236}">
                <a16:creationId xmlns:a16="http://schemas.microsoft.com/office/drawing/2014/main" id="{F8EDF228-9E0F-4CEF-88AC-92084A72B034}"/>
              </a:ext>
            </a:extLst>
          </p:cNvPr>
          <p:cNvSpPr>
            <a:spLocks noGrp="1"/>
          </p:cNvSpPr>
          <p:nvPr>
            <p:ph type="sldNum" sz="quarter" idx="12"/>
          </p:nvPr>
        </p:nvSpPr>
        <p:spPr/>
        <p:txBody>
          <a:bodyPr/>
          <a:lstStyle/>
          <a:p>
            <a:fld id="{6B97D948-30E8-43F7-AE10-F6E2D9F2BBB1}" type="slidenum">
              <a:rPr lang="en-US" smtClean="0"/>
              <a:t>440</a:t>
            </a:fld>
            <a:endParaRPr lang="en-US"/>
          </a:p>
        </p:txBody>
      </p:sp>
    </p:spTree>
    <p:extLst>
      <p:ext uri="{BB962C8B-B14F-4D97-AF65-F5344CB8AC3E}">
        <p14:creationId xmlns:p14="http://schemas.microsoft.com/office/powerpoint/2010/main" val="3677445416"/>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67BDC56-4AB7-4816-B34C-73C98D5842AC}"/>
              </a:ext>
            </a:extLst>
          </p:cNvPr>
          <p:cNvPicPr>
            <a:picLocks noGrp="1" noChangeAspect="1"/>
          </p:cNvPicPr>
          <p:nvPr>
            <p:ph idx="1"/>
          </p:nvPr>
        </p:nvPicPr>
        <p:blipFill>
          <a:blip r:embed="rId2"/>
          <a:stretch>
            <a:fillRect/>
          </a:stretch>
        </p:blipFill>
        <p:spPr>
          <a:xfrm>
            <a:off x="2298700" y="685673"/>
            <a:ext cx="7929660" cy="5491290"/>
          </a:xfrm>
          <a:prstGeom prst="rect">
            <a:avLst/>
          </a:prstGeom>
        </p:spPr>
      </p:pic>
      <p:sp>
        <p:nvSpPr>
          <p:cNvPr id="4" name="Slide Number Placeholder 3">
            <a:extLst>
              <a:ext uri="{FF2B5EF4-FFF2-40B4-BE49-F238E27FC236}">
                <a16:creationId xmlns:a16="http://schemas.microsoft.com/office/drawing/2014/main" id="{93DC5A76-7553-4FAA-A15D-55670E1D2113}"/>
              </a:ext>
            </a:extLst>
          </p:cNvPr>
          <p:cNvSpPr>
            <a:spLocks noGrp="1"/>
          </p:cNvSpPr>
          <p:nvPr>
            <p:ph type="sldNum" sz="quarter" idx="12"/>
          </p:nvPr>
        </p:nvSpPr>
        <p:spPr/>
        <p:txBody>
          <a:bodyPr/>
          <a:lstStyle/>
          <a:p>
            <a:fld id="{6B97D948-30E8-43F7-AE10-F6E2D9F2BBB1}" type="slidenum">
              <a:rPr lang="en-US" smtClean="0"/>
              <a:t>441</a:t>
            </a:fld>
            <a:endParaRPr lang="en-US"/>
          </a:p>
        </p:txBody>
      </p:sp>
    </p:spTree>
    <p:extLst>
      <p:ext uri="{BB962C8B-B14F-4D97-AF65-F5344CB8AC3E}">
        <p14:creationId xmlns:p14="http://schemas.microsoft.com/office/powerpoint/2010/main" val="1234377360"/>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3F89E-637D-4987-9ACF-223147E13D0A}"/>
              </a:ext>
            </a:extLst>
          </p:cNvPr>
          <p:cNvSpPr>
            <a:spLocks noGrp="1"/>
          </p:cNvSpPr>
          <p:nvPr>
            <p:ph type="title"/>
          </p:nvPr>
        </p:nvSpPr>
        <p:spPr>
          <a:xfrm>
            <a:off x="838200" y="365125"/>
            <a:ext cx="10515600" cy="536575"/>
          </a:xfrm>
        </p:spPr>
        <p:txBody>
          <a:bodyPr>
            <a:normAutofit fontScale="90000"/>
          </a:bodyPr>
          <a:lstStyle/>
          <a:p>
            <a:r>
              <a:rPr lang="en-US" dirty="0"/>
              <a:t>Building Regression Model</a:t>
            </a:r>
          </a:p>
        </p:txBody>
      </p:sp>
      <p:sp>
        <p:nvSpPr>
          <p:cNvPr id="3" name="Content Placeholder 2">
            <a:extLst>
              <a:ext uri="{FF2B5EF4-FFF2-40B4-BE49-F238E27FC236}">
                <a16:creationId xmlns:a16="http://schemas.microsoft.com/office/drawing/2014/main" id="{B0FDAE8A-1C88-4760-910C-959027ADC9EF}"/>
              </a:ext>
            </a:extLst>
          </p:cNvPr>
          <p:cNvSpPr>
            <a:spLocks noGrp="1"/>
          </p:cNvSpPr>
          <p:nvPr>
            <p:ph idx="1"/>
          </p:nvPr>
        </p:nvSpPr>
        <p:spPr>
          <a:xfrm>
            <a:off x="838200" y="1016000"/>
            <a:ext cx="10515600" cy="5160963"/>
          </a:xfrm>
        </p:spPr>
        <p:txBody>
          <a:bodyPr/>
          <a:lstStyle/>
          <a:p>
            <a:pPr algn="just"/>
            <a:r>
              <a:rPr lang="en-US" dirty="0"/>
              <a:t>In the diagram above we see that there might be relations between our independent and dependent variable</a:t>
            </a:r>
          </a:p>
        </p:txBody>
      </p:sp>
      <p:sp>
        <p:nvSpPr>
          <p:cNvPr id="4" name="Slide Number Placeholder 3">
            <a:extLst>
              <a:ext uri="{FF2B5EF4-FFF2-40B4-BE49-F238E27FC236}">
                <a16:creationId xmlns:a16="http://schemas.microsoft.com/office/drawing/2014/main" id="{7A6D9432-D081-4C45-9C97-72CD5105159C}"/>
              </a:ext>
            </a:extLst>
          </p:cNvPr>
          <p:cNvSpPr>
            <a:spLocks noGrp="1"/>
          </p:cNvSpPr>
          <p:nvPr>
            <p:ph type="sldNum" sz="quarter" idx="12"/>
          </p:nvPr>
        </p:nvSpPr>
        <p:spPr/>
        <p:txBody>
          <a:bodyPr/>
          <a:lstStyle/>
          <a:p>
            <a:fld id="{6B97D948-30E8-43F7-AE10-F6E2D9F2BBB1}" type="slidenum">
              <a:rPr lang="en-US" smtClean="0"/>
              <a:t>442</a:t>
            </a:fld>
            <a:endParaRPr lang="en-US"/>
          </a:p>
        </p:txBody>
      </p:sp>
    </p:spTree>
    <p:extLst>
      <p:ext uri="{BB962C8B-B14F-4D97-AF65-F5344CB8AC3E}">
        <p14:creationId xmlns:p14="http://schemas.microsoft.com/office/powerpoint/2010/main" val="30349638"/>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FEBA-5F83-45F1-B711-943D5DA06166}"/>
              </a:ext>
            </a:extLst>
          </p:cNvPr>
          <p:cNvSpPr>
            <a:spLocks noGrp="1"/>
          </p:cNvSpPr>
          <p:nvPr>
            <p:ph type="title"/>
          </p:nvPr>
        </p:nvSpPr>
        <p:spPr>
          <a:xfrm>
            <a:off x="838200" y="365125"/>
            <a:ext cx="10515600" cy="793115"/>
          </a:xfrm>
        </p:spPr>
        <p:txBody>
          <a:bodyPr/>
          <a:lstStyle/>
          <a:p>
            <a:r>
              <a:rPr lang="en-US" dirty="0"/>
              <a:t>Ordinary Least Squares Methods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8503F6B-3B22-4A60-9EB7-839641D7B5A7}"/>
                  </a:ext>
                </a:extLst>
              </p:cNvPr>
              <p:cNvSpPr>
                <a:spLocks noGrp="1"/>
              </p:cNvSpPr>
              <p:nvPr>
                <p:ph idx="1"/>
              </p:nvPr>
            </p:nvSpPr>
            <p:spPr>
              <a:xfrm>
                <a:off x="838200" y="1158241"/>
                <a:ext cx="10515600" cy="4968240"/>
              </a:xfrm>
            </p:spPr>
            <p:txBody>
              <a:bodyPr/>
              <a:lstStyle/>
              <a:p>
                <a:r>
                  <a:rPr lang="en-US" sz="2800" b="0" dirty="0"/>
                  <a:t>Building the linear regression involves finding the value of </a:t>
                </a:r>
                <a14:m>
                  <m:oMath xmlns:m="http://schemas.openxmlformats.org/officeDocument/2006/math">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𝛽</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a14:m>
                <a:r>
                  <a:rPr lang="en-US" sz="2800" b="0" dirty="0"/>
                  <a:t> in th</a:t>
                </a:r>
                <a:r>
                  <a:rPr lang="en-US" dirty="0"/>
                  <a:t>e regression equation:</a:t>
                </a:r>
                <a:endParaRPr lang="en-US" sz="2800" b="0" dirty="0"/>
              </a:p>
              <a:p>
                <a14:m>
                  <m:oMath xmlns:m="http://schemas.openxmlformats.org/officeDocument/2006/math">
                    <m:r>
                      <a:rPr lang="en-US" sz="2800" b="0" i="1" smtClean="0">
                        <a:solidFill>
                          <a:srgbClr val="FF0000"/>
                        </a:solidFill>
                        <a:latin typeface="Cambria Math" panose="02040503050406030204" pitchFamily="18" charset="0"/>
                      </a:rPr>
                      <m:t>𝑦</m:t>
                    </m:r>
                    <m:r>
                      <a:rPr lang="en-US" sz="2800" b="0" i="1" smtClean="0">
                        <a:solidFill>
                          <a:srgbClr val="FF0000"/>
                        </a:solidFill>
                        <a:latin typeface="Cambria Math" panose="02040503050406030204" pitchFamily="18" charset="0"/>
                      </a:rPr>
                      <m:t>= </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𝛽</m:t>
                        </m:r>
                      </m:e>
                      <m:sub>
                        <m:r>
                          <a:rPr lang="en-US" sz="2800" b="0" i="1" smtClean="0">
                            <a:solidFill>
                              <a:srgbClr val="FF0000"/>
                            </a:solidFill>
                            <a:latin typeface="Cambria Math" panose="02040503050406030204" pitchFamily="18" charset="0"/>
                          </a:rPr>
                          <m:t>0</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𝛽</m:t>
                        </m:r>
                      </m:e>
                      <m:sub>
                        <m:r>
                          <a:rPr lang="en-US" sz="2800" b="0" i="1" smtClean="0">
                            <a:solidFill>
                              <a:srgbClr val="FF0000"/>
                            </a:solidFill>
                            <a:latin typeface="Cambria Math" panose="02040503050406030204" pitchFamily="18" charset="0"/>
                          </a:rPr>
                          <m:t>1</m:t>
                        </m:r>
                      </m:sub>
                    </m:sSub>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𝑋</m:t>
                        </m:r>
                      </m:e>
                      <m:sub>
                        <m:r>
                          <a:rPr lang="en-US" sz="2800" b="0" i="1" smtClean="0">
                            <a:solidFill>
                              <a:srgbClr val="FF0000"/>
                            </a:solidFill>
                            <a:latin typeface="Cambria Math" panose="02040503050406030204" pitchFamily="18" charset="0"/>
                          </a:rPr>
                          <m:t>1</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𝛽</m:t>
                        </m:r>
                      </m:e>
                      <m:sub>
                        <m:r>
                          <a:rPr lang="en-US" sz="2800" b="0" i="1" smtClean="0">
                            <a:solidFill>
                              <a:srgbClr val="FF0000"/>
                            </a:solidFill>
                            <a:latin typeface="Cambria Math" panose="02040503050406030204" pitchFamily="18" charset="0"/>
                          </a:rPr>
                          <m:t>2</m:t>
                        </m:r>
                      </m:sub>
                    </m:sSub>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𝑋</m:t>
                        </m:r>
                      </m:e>
                      <m:sub>
                        <m:r>
                          <a:rPr lang="en-US" sz="2800" b="0" i="1" smtClean="0">
                            <a:solidFill>
                              <a:srgbClr val="FF0000"/>
                            </a:solidFill>
                            <a:latin typeface="Cambria Math" panose="02040503050406030204" pitchFamily="18" charset="0"/>
                          </a:rPr>
                          <m:t>2</m:t>
                        </m:r>
                      </m:sub>
                    </m:sSub>
                    <m:r>
                      <a:rPr lang="en-US" sz="2800" b="0" i="1" smtClean="0">
                        <a:solidFill>
                          <a:srgbClr val="FF0000"/>
                        </a:solidFill>
                        <a:latin typeface="Cambria Math" panose="02040503050406030204" pitchFamily="18" charset="0"/>
                      </a:rPr>
                      <m:t>+ . . . +</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𝛽</m:t>
                        </m:r>
                      </m:e>
                      <m:sub>
                        <m:r>
                          <a:rPr lang="en-US" sz="2800" b="0" i="1" smtClean="0">
                            <a:solidFill>
                              <a:srgbClr val="FF0000"/>
                            </a:solidFill>
                            <a:latin typeface="Cambria Math" panose="02040503050406030204" pitchFamily="18" charset="0"/>
                          </a:rPr>
                          <m:t>𝑝</m:t>
                        </m:r>
                      </m:sub>
                    </m:sSub>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𝑋</m:t>
                        </m:r>
                      </m:e>
                      <m:sub>
                        <m:r>
                          <a:rPr lang="en-US" sz="2800" b="0" i="1" smtClean="0">
                            <a:solidFill>
                              <a:srgbClr val="FF0000"/>
                            </a:solidFill>
                            <a:latin typeface="Cambria Math" panose="02040503050406030204" pitchFamily="18" charset="0"/>
                          </a:rPr>
                          <m:t>𝑝</m:t>
                        </m:r>
                      </m:sub>
                    </m:sSub>
                    <m:r>
                      <a:rPr lang="en-US" sz="2800" b="0" i="1" smtClean="0">
                        <a:solidFill>
                          <a:srgbClr val="FF0000"/>
                        </a:solidFill>
                        <a:latin typeface="Cambria Math" panose="02040503050406030204" pitchFamily="18" charset="0"/>
                      </a:rPr>
                      <m:t>+ </m:t>
                    </m:r>
                    <m:r>
                      <a:rPr lang="en-US" sz="2800" b="0" i="1" smtClean="0">
                        <a:solidFill>
                          <a:srgbClr val="FF0000"/>
                        </a:solidFill>
                        <a:latin typeface="Cambria Math" panose="02040503050406030204" pitchFamily="18" charset="0"/>
                        <a:ea typeface="Cambria Math" panose="02040503050406030204" pitchFamily="18" charset="0"/>
                      </a:rPr>
                      <m:t>𝜀</m:t>
                    </m:r>
                  </m:oMath>
                </a14:m>
                <a:endParaRPr lang="en-US" dirty="0"/>
              </a:p>
              <a:p>
                <a:pPr algn="just"/>
                <a:r>
                  <a:rPr lang="en-US" dirty="0"/>
                  <a:t>We use the method of least squares which involves the </a:t>
                </a:r>
                <a:r>
                  <a:rPr lang="en-US" i="1" dirty="0"/>
                  <a:t>minimization of the sum of squared errors</a:t>
                </a:r>
                <a:r>
                  <a:rPr lang="en-US" dirty="0"/>
                  <a:t> between an </a:t>
                </a:r>
                <a:r>
                  <a:rPr lang="en-US" dirty="0">
                    <a:solidFill>
                      <a:srgbClr val="FF0000"/>
                    </a:solidFill>
                  </a:rPr>
                  <a:t>observed</a:t>
                </a:r>
                <a:r>
                  <a:rPr lang="en-US" dirty="0"/>
                  <a:t> and a </a:t>
                </a:r>
                <a:r>
                  <a:rPr lang="en-US" dirty="0">
                    <a:solidFill>
                      <a:srgbClr val="FF0000"/>
                    </a:solidFill>
                  </a:rPr>
                  <a:t>predicted value</a:t>
                </a:r>
                <a:r>
                  <a:rPr lang="en-US" dirty="0"/>
                  <a:t>.</a:t>
                </a:r>
              </a:p>
            </p:txBody>
          </p:sp>
        </mc:Choice>
        <mc:Fallback>
          <p:sp>
            <p:nvSpPr>
              <p:cNvPr id="3" name="Content Placeholder 2">
                <a:extLst>
                  <a:ext uri="{FF2B5EF4-FFF2-40B4-BE49-F238E27FC236}">
                    <a16:creationId xmlns:a16="http://schemas.microsoft.com/office/drawing/2014/main" id="{B8503F6B-3B22-4A60-9EB7-839641D7B5A7}"/>
                  </a:ext>
                </a:extLst>
              </p:cNvPr>
              <p:cNvSpPr>
                <a:spLocks noGrp="1" noRot="1" noChangeAspect="1" noMove="1" noResize="1" noEditPoints="1" noAdjustHandles="1" noChangeArrowheads="1" noChangeShapeType="1" noTextEdit="1"/>
              </p:cNvSpPr>
              <p:nvPr>
                <p:ph idx="1"/>
              </p:nvPr>
            </p:nvSpPr>
            <p:spPr>
              <a:xfrm>
                <a:off x="838200" y="1158241"/>
                <a:ext cx="10515600" cy="4968240"/>
              </a:xfrm>
              <a:blipFill>
                <a:blip r:embed="rId2"/>
                <a:stretch>
                  <a:fillRect l="-1043" t="-1963"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A1157D7-9411-4E8F-8F35-8D4C1DBD5BC4}"/>
              </a:ext>
            </a:extLst>
          </p:cNvPr>
          <p:cNvSpPr>
            <a:spLocks noGrp="1"/>
          </p:cNvSpPr>
          <p:nvPr>
            <p:ph type="sldNum" sz="quarter" idx="12"/>
          </p:nvPr>
        </p:nvSpPr>
        <p:spPr/>
        <p:txBody>
          <a:bodyPr/>
          <a:lstStyle/>
          <a:p>
            <a:fld id="{6B97D948-30E8-43F7-AE10-F6E2D9F2BBB1}" type="slidenum">
              <a:rPr lang="en-US" smtClean="0"/>
              <a:t>443</a:t>
            </a:fld>
            <a:endParaRPr lang="en-US"/>
          </a:p>
        </p:txBody>
      </p:sp>
    </p:spTree>
    <p:extLst>
      <p:ext uri="{BB962C8B-B14F-4D97-AF65-F5344CB8AC3E}">
        <p14:creationId xmlns:p14="http://schemas.microsoft.com/office/powerpoint/2010/main" val="3297430195"/>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65311C-16CA-4B9A-BC29-70E2915881E8}"/>
              </a:ext>
            </a:extLst>
          </p:cNvPr>
          <p:cNvSpPr>
            <a:spLocks noGrp="1"/>
          </p:cNvSpPr>
          <p:nvPr>
            <p:ph type="title"/>
          </p:nvPr>
        </p:nvSpPr>
        <p:spPr>
          <a:xfrm>
            <a:off x="838200" y="365125"/>
            <a:ext cx="10515600" cy="869315"/>
          </a:xfrm>
        </p:spPr>
        <p:txBody>
          <a:bodyPr/>
          <a:lstStyle/>
          <a:p>
            <a:r>
              <a:rPr lang="en-US" dirty="0"/>
              <a:t>Illustration</a:t>
            </a:r>
          </a:p>
        </p:txBody>
      </p:sp>
      <p:pic>
        <p:nvPicPr>
          <p:cNvPr id="9" name="Content Placeholder 8">
            <a:extLst>
              <a:ext uri="{FF2B5EF4-FFF2-40B4-BE49-F238E27FC236}">
                <a16:creationId xmlns:a16="http://schemas.microsoft.com/office/drawing/2014/main" id="{873886C1-43DD-405E-9A0C-1197AD7E47B2}"/>
              </a:ext>
            </a:extLst>
          </p:cNvPr>
          <p:cNvPicPr>
            <a:picLocks noGrp="1" noChangeAspect="1"/>
          </p:cNvPicPr>
          <p:nvPr>
            <p:ph sz="half"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240112"/>
            <a:ext cx="5181600" cy="3522363"/>
          </a:xfrm>
        </p:spPr>
      </p:pic>
      <p:pic>
        <p:nvPicPr>
          <p:cNvPr id="11" name="Content Placeholder 10">
            <a:extLst>
              <a:ext uri="{FF2B5EF4-FFF2-40B4-BE49-F238E27FC236}">
                <a16:creationId xmlns:a16="http://schemas.microsoft.com/office/drawing/2014/main" id="{10F5E462-F0C2-439A-B9F3-970C5FAEE45F}"/>
              </a:ext>
            </a:extLst>
          </p:cNvPr>
          <p:cNvPicPr>
            <a:picLocks noGrp="1" noChangeAspect="1"/>
          </p:cNvPicPr>
          <p:nvPr>
            <p:ph sz="half" idx="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72200" y="2240112"/>
            <a:ext cx="5181600" cy="3522363"/>
          </a:xfrm>
        </p:spPr>
      </p:pic>
      <p:sp>
        <p:nvSpPr>
          <p:cNvPr id="4" name="Slide Number Placeholder 3">
            <a:extLst>
              <a:ext uri="{FF2B5EF4-FFF2-40B4-BE49-F238E27FC236}">
                <a16:creationId xmlns:a16="http://schemas.microsoft.com/office/drawing/2014/main" id="{E12F8607-36E7-4A7E-98F8-802C9999A12B}"/>
              </a:ext>
            </a:extLst>
          </p:cNvPr>
          <p:cNvSpPr>
            <a:spLocks noGrp="1"/>
          </p:cNvSpPr>
          <p:nvPr>
            <p:ph type="sldNum" sz="quarter" idx="12"/>
          </p:nvPr>
        </p:nvSpPr>
        <p:spPr/>
        <p:txBody>
          <a:bodyPr/>
          <a:lstStyle/>
          <a:p>
            <a:fld id="{6B97D948-30E8-43F7-AE10-F6E2D9F2BBB1}" type="slidenum">
              <a:rPr lang="en-US" smtClean="0"/>
              <a:t>444</a:t>
            </a:fld>
            <a:endParaRPr lang="en-US"/>
          </a:p>
        </p:txBody>
      </p:sp>
    </p:spTree>
    <p:extLst>
      <p:ext uri="{BB962C8B-B14F-4D97-AF65-F5344CB8AC3E}">
        <p14:creationId xmlns:p14="http://schemas.microsoft.com/office/powerpoint/2010/main" val="4251383660"/>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4661A-3EFE-4559-8B63-D7F48F61EEC6}"/>
              </a:ext>
            </a:extLst>
          </p:cNvPr>
          <p:cNvSpPr>
            <a:spLocks noGrp="1"/>
          </p:cNvSpPr>
          <p:nvPr>
            <p:ph type="title"/>
          </p:nvPr>
        </p:nvSpPr>
        <p:spPr>
          <a:xfrm>
            <a:off x="838200" y="365125"/>
            <a:ext cx="10515600" cy="899795"/>
          </a:xfrm>
        </p:spPr>
        <p:txBody>
          <a:bodyPr/>
          <a:lstStyle/>
          <a:p>
            <a:r>
              <a:rPr lang="en-US" dirty="0"/>
              <a:t>Some Math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33A72F3-2ABA-49A7-9C4C-1096F9F8823C}"/>
                  </a:ext>
                </a:extLst>
              </p:cNvPr>
              <p:cNvSpPr>
                <a:spLocks noGrp="1"/>
              </p:cNvSpPr>
              <p:nvPr>
                <p:ph idx="1"/>
              </p:nvPr>
            </p:nvSpPr>
            <p:spPr>
              <a:xfrm>
                <a:off x="838200" y="1143000"/>
                <a:ext cx="10515600" cy="5033963"/>
              </a:xfrm>
            </p:spPr>
            <p:txBody>
              <a:bodyPr>
                <a:normAutofit lnSpcReduction="10000"/>
              </a:bodyPr>
              <a:lstStyle/>
              <a:p>
                <a:r>
                  <a:rPr lang="en-US" dirty="0"/>
                  <a:t>Remember that we can rewrite</a:t>
                </a:r>
              </a:p>
              <a:p>
                <a:r>
                  <a:rPr lang="en-US" dirty="0"/>
                  <a:t> </a:t>
                </a:r>
                <a14:m>
                  <m:oMath xmlns:m="http://schemas.openxmlformats.org/officeDocument/2006/math">
                    <m:r>
                      <a:rPr lang="en-US" sz="2800" b="0" i="1" smtClean="0">
                        <a:solidFill>
                          <a:srgbClr val="FF0000"/>
                        </a:solidFill>
                        <a:latin typeface="Cambria Math" panose="02040503050406030204" pitchFamily="18" charset="0"/>
                      </a:rPr>
                      <m:t>𝑦</m:t>
                    </m:r>
                    <m:r>
                      <a:rPr lang="en-US" sz="2800" b="0" i="1" smtClean="0">
                        <a:solidFill>
                          <a:srgbClr val="FF0000"/>
                        </a:solidFill>
                        <a:latin typeface="Cambria Math" panose="02040503050406030204" pitchFamily="18" charset="0"/>
                      </a:rPr>
                      <m:t>= </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𝛽</m:t>
                        </m:r>
                      </m:e>
                      <m:sub>
                        <m:r>
                          <a:rPr lang="en-US" sz="2800" b="0" i="1" smtClean="0">
                            <a:solidFill>
                              <a:srgbClr val="FF0000"/>
                            </a:solidFill>
                            <a:latin typeface="Cambria Math" panose="02040503050406030204" pitchFamily="18" charset="0"/>
                          </a:rPr>
                          <m:t>0</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𝛽</m:t>
                        </m:r>
                      </m:e>
                      <m:sub>
                        <m:r>
                          <a:rPr lang="en-US" sz="2800" b="0" i="1" smtClean="0">
                            <a:solidFill>
                              <a:srgbClr val="FF0000"/>
                            </a:solidFill>
                            <a:latin typeface="Cambria Math" panose="02040503050406030204" pitchFamily="18" charset="0"/>
                          </a:rPr>
                          <m:t>1</m:t>
                        </m:r>
                      </m:sub>
                    </m:sSub>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𝑋</m:t>
                        </m:r>
                      </m:e>
                      <m:sub>
                        <m:r>
                          <a:rPr lang="en-US" sz="2800" b="0" i="1" smtClean="0">
                            <a:solidFill>
                              <a:srgbClr val="FF0000"/>
                            </a:solidFill>
                            <a:latin typeface="Cambria Math" panose="02040503050406030204" pitchFamily="18" charset="0"/>
                          </a:rPr>
                          <m:t>1</m:t>
                        </m:r>
                      </m:sub>
                    </m:sSub>
                    <m:r>
                      <a:rPr lang="en-US" sz="2800" b="0" i="1" smtClean="0">
                        <a:solidFill>
                          <a:srgbClr val="FF0000"/>
                        </a:solidFill>
                        <a:latin typeface="Cambria Math" panose="02040503050406030204" pitchFamily="18" charset="0"/>
                      </a:rPr>
                      <m:t>+</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𝛽</m:t>
                        </m:r>
                      </m:e>
                      <m:sub>
                        <m:r>
                          <a:rPr lang="en-US" sz="2800" b="0" i="1" smtClean="0">
                            <a:solidFill>
                              <a:srgbClr val="FF0000"/>
                            </a:solidFill>
                            <a:latin typeface="Cambria Math" panose="02040503050406030204" pitchFamily="18" charset="0"/>
                          </a:rPr>
                          <m:t>2</m:t>
                        </m:r>
                      </m:sub>
                    </m:sSub>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𝑋</m:t>
                        </m:r>
                      </m:e>
                      <m:sub>
                        <m:r>
                          <a:rPr lang="en-US" sz="2800" b="0" i="1" smtClean="0">
                            <a:solidFill>
                              <a:srgbClr val="FF0000"/>
                            </a:solidFill>
                            <a:latin typeface="Cambria Math" panose="02040503050406030204" pitchFamily="18" charset="0"/>
                          </a:rPr>
                          <m:t>2</m:t>
                        </m:r>
                      </m:sub>
                    </m:sSub>
                    <m:r>
                      <a:rPr lang="en-US" sz="2800" b="0" i="1" smtClean="0">
                        <a:solidFill>
                          <a:srgbClr val="FF0000"/>
                        </a:solidFill>
                        <a:latin typeface="Cambria Math" panose="02040503050406030204" pitchFamily="18" charset="0"/>
                      </a:rPr>
                      <m:t>+ . . . +</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𝛽</m:t>
                        </m:r>
                      </m:e>
                      <m:sub>
                        <m:r>
                          <a:rPr lang="en-US" sz="2800" b="0" i="1" smtClean="0">
                            <a:solidFill>
                              <a:srgbClr val="FF0000"/>
                            </a:solidFill>
                            <a:latin typeface="Cambria Math" panose="02040503050406030204" pitchFamily="18" charset="0"/>
                          </a:rPr>
                          <m:t>𝑝</m:t>
                        </m:r>
                      </m:sub>
                    </m:sSub>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𝑋</m:t>
                        </m:r>
                      </m:e>
                      <m:sub>
                        <m:r>
                          <a:rPr lang="en-US" sz="2800" b="0" i="1" smtClean="0">
                            <a:solidFill>
                              <a:srgbClr val="FF0000"/>
                            </a:solidFill>
                            <a:latin typeface="Cambria Math" panose="02040503050406030204" pitchFamily="18" charset="0"/>
                          </a:rPr>
                          <m:t>𝑝</m:t>
                        </m:r>
                      </m:sub>
                    </m:sSub>
                    <m:r>
                      <a:rPr lang="en-US" sz="2800" b="0" i="1" smtClean="0">
                        <a:solidFill>
                          <a:srgbClr val="FF0000"/>
                        </a:solidFill>
                        <a:latin typeface="Cambria Math" panose="02040503050406030204" pitchFamily="18" charset="0"/>
                      </a:rPr>
                      <m:t>+ </m:t>
                    </m:r>
                    <m:r>
                      <a:rPr lang="en-US" sz="2800" b="0" i="1" smtClean="0">
                        <a:solidFill>
                          <a:srgbClr val="FF0000"/>
                        </a:solidFill>
                        <a:latin typeface="Cambria Math" panose="02040503050406030204" pitchFamily="18" charset="0"/>
                        <a:ea typeface="Cambria Math" panose="02040503050406030204" pitchFamily="18" charset="0"/>
                      </a:rPr>
                      <m:t>𝜀</m:t>
                    </m:r>
                  </m:oMath>
                </a14:m>
                <a:endParaRPr lang="en-US" dirty="0"/>
              </a:p>
              <a:p>
                <a:r>
                  <a:rPr lang="en-US" dirty="0"/>
                  <a:t>as</a:t>
                </a:r>
              </a:p>
              <a:p>
                <a14:m>
                  <m:oMath xmlns:m="http://schemas.openxmlformats.org/officeDocument/2006/math">
                    <m:r>
                      <a:rPr lang="en-US" sz="2800" b="0" i="1" smtClean="0">
                        <a:solidFill>
                          <a:srgbClr val="FF0000"/>
                        </a:solidFill>
                        <a:latin typeface="Cambria Math" panose="02040503050406030204" pitchFamily="18" charset="0"/>
                      </a:rPr>
                      <m:t>𝑦</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𝑋</m:t>
                    </m:r>
                    <m:r>
                      <a:rPr lang="en-US" sz="2800" b="0" i="1" smtClean="0">
                        <a:solidFill>
                          <a:srgbClr val="FF0000"/>
                        </a:solidFill>
                        <a:latin typeface="Cambria Math" panose="02040503050406030204" pitchFamily="18" charset="0"/>
                        <a:ea typeface="Cambria Math" panose="02040503050406030204" pitchFamily="18" charset="0"/>
                      </a:rPr>
                      <m:t>𝛽</m:t>
                    </m:r>
                    <m:r>
                      <a:rPr lang="en-US" sz="2800" b="0" i="1" smtClean="0">
                        <a:solidFill>
                          <a:srgbClr val="FF0000"/>
                        </a:solidFill>
                        <a:latin typeface="Cambria Math" panose="02040503050406030204" pitchFamily="18" charset="0"/>
                        <a:ea typeface="Cambria Math" panose="02040503050406030204" pitchFamily="18" charset="0"/>
                      </a:rPr>
                      <m:t>+ </m:t>
                    </m:r>
                    <m:r>
                      <a:rPr lang="en-US" sz="2800" b="0" i="1" smtClean="0">
                        <a:solidFill>
                          <a:srgbClr val="FF0000"/>
                        </a:solidFill>
                        <a:latin typeface="Cambria Math" panose="02040503050406030204" pitchFamily="18" charset="0"/>
                        <a:ea typeface="Cambria Math" panose="02040503050406030204" pitchFamily="18" charset="0"/>
                      </a:rPr>
                      <m:t>𝜀</m:t>
                    </m:r>
                  </m:oMath>
                </a14:m>
                <a:r>
                  <a:rPr lang="en-US" dirty="0"/>
                  <a:t>  (Matrix form)</a:t>
                </a:r>
              </a:p>
              <a:p>
                <a:r>
                  <a:rPr lang="en-US" dirty="0"/>
                  <a:t>And therefore</a:t>
                </a:r>
              </a:p>
              <a:p>
                <a14:m>
                  <m:oMath xmlns:m="http://schemas.openxmlformats.org/officeDocument/2006/math">
                    <m:r>
                      <a:rPr lang="en-US" i="1">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 </m:t>
                    </m:r>
                    <m:r>
                      <a:rPr lang="en-US" sz="2800" b="0" i="1" smtClean="0">
                        <a:solidFill>
                          <a:srgbClr val="FF0000"/>
                        </a:solidFill>
                        <a:latin typeface="Cambria Math" panose="02040503050406030204" pitchFamily="18" charset="0"/>
                      </a:rPr>
                      <m:t>𝑦</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𝑋</m:t>
                    </m:r>
                    <m:r>
                      <a:rPr lang="en-US" sz="2800" b="0" i="1" smtClean="0">
                        <a:solidFill>
                          <a:srgbClr val="FF0000"/>
                        </a:solidFill>
                        <a:latin typeface="Cambria Math" panose="02040503050406030204" pitchFamily="18" charset="0"/>
                        <a:ea typeface="Cambria Math" panose="02040503050406030204" pitchFamily="18" charset="0"/>
                      </a:rPr>
                      <m:t>𝛽</m:t>
                    </m:r>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𝑦</m:t>
                    </m:r>
                    <m:r>
                      <a:rPr lang="en-US" b="0" i="1" smtClean="0">
                        <a:solidFill>
                          <a:srgbClr val="FF0000"/>
                        </a:solidFill>
                        <a:latin typeface="Cambria Math" panose="02040503050406030204" pitchFamily="18" charset="0"/>
                        <a:ea typeface="Cambria Math" panose="02040503050406030204" pitchFamily="18" charset="0"/>
                      </a:rPr>
                      <m:t> − </m:t>
                    </m:r>
                    <m:acc>
                      <m:accPr>
                        <m:chr m:val="̂"/>
                        <m:ctrlPr>
                          <a:rPr lang="en-US" b="0" i="1" smtClean="0">
                            <a:solidFill>
                              <a:srgbClr val="FF0000"/>
                            </a:solidFill>
                            <a:latin typeface="Cambria Math" panose="02040503050406030204" pitchFamily="18" charset="0"/>
                            <a:ea typeface="Cambria Math" panose="02040503050406030204" pitchFamily="18" charset="0"/>
                          </a:rPr>
                        </m:ctrlPr>
                      </m:accPr>
                      <m:e>
                        <m:r>
                          <a:rPr lang="en-US" b="0" i="1" smtClean="0">
                            <a:solidFill>
                              <a:srgbClr val="FF0000"/>
                            </a:solidFill>
                            <a:latin typeface="Cambria Math" panose="02040503050406030204" pitchFamily="18" charset="0"/>
                            <a:ea typeface="Cambria Math" panose="02040503050406030204" pitchFamily="18" charset="0"/>
                          </a:rPr>
                          <m:t>𝑦</m:t>
                        </m:r>
                      </m:e>
                    </m:acc>
                  </m:oMath>
                </a14:m>
                <a:endParaRPr lang="en-US" dirty="0"/>
              </a:p>
              <a:p>
                <a:r>
                  <a:rPr lang="en-US" dirty="0"/>
                  <a:t>which when squared becomes</a:t>
                </a:r>
              </a:p>
              <a:p>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rPr>
                          <m:t>2</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𝑦</m:t>
                        </m:r>
                        <m:r>
                          <a:rPr lang="en-US" i="1">
                            <a:solidFill>
                              <a:srgbClr val="FF0000"/>
                            </a:solidFill>
                            <a:latin typeface="Cambria Math" panose="02040503050406030204" pitchFamily="18" charset="0"/>
                            <a:ea typeface="Cambria Math" panose="02040503050406030204" pitchFamily="18" charset="0"/>
                          </a:rPr>
                          <m:t> − </m:t>
                        </m:r>
                        <m:acc>
                          <m:accPr>
                            <m:chr m:val="̂"/>
                            <m:ctrlPr>
                              <a:rPr lang="en-US" i="1">
                                <a:solidFill>
                                  <a:srgbClr val="FF0000"/>
                                </a:solidFill>
                                <a:latin typeface="Cambria Math" panose="02040503050406030204" pitchFamily="18" charset="0"/>
                                <a:ea typeface="Cambria Math" panose="02040503050406030204" pitchFamily="18" charset="0"/>
                              </a:rPr>
                            </m:ctrlPr>
                          </m:accPr>
                          <m:e>
                            <m:r>
                              <a:rPr lang="en-US" i="1">
                                <a:solidFill>
                                  <a:srgbClr val="FF0000"/>
                                </a:solidFill>
                                <a:latin typeface="Cambria Math" panose="02040503050406030204" pitchFamily="18" charset="0"/>
                                <a:ea typeface="Cambria Math" panose="02040503050406030204" pitchFamily="18" charset="0"/>
                              </a:rPr>
                              <m:t>𝑦</m:t>
                            </m:r>
                          </m:e>
                        </m:acc>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r>
                  <a:rPr lang="en-US" dirty="0"/>
                  <a:t> </a:t>
                </a:r>
                <a:r>
                  <a:rPr lang="en-US" dirty="0" err="1"/>
                  <a:t>ie</a:t>
                </a:r>
                <a:r>
                  <a:rPr lang="en-US" dirty="0"/>
                  <a:t> for an individual error.</a:t>
                </a:r>
              </a:p>
              <a:p>
                <a:r>
                  <a:rPr lang="en-US" dirty="0"/>
                  <a:t>For the sum of squared errors, we have:</a:t>
                </a:r>
              </a:p>
              <a:p>
                <a14:m>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𝜀</m:t>
                            </m:r>
                          </m:e>
                          <m:sup>
                            <m:r>
                              <a:rPr lang="en-US" i="1">
                                <a:latin typeface="Cambria Math" panose="02040503050406030204" pitchFamily="18" charset="0"/>
                              </a:rPr>
                              <m:t>2</m:t>
                            </m:r>
                          </m:sup>
                        </m:sSup>
                        <m:r>
                          <a:rPr lang="en-US" b="0" i="1" smtClean="0">
                            <a:latin typeface="Cambria Math" panose="02040503050406030204" pitchFamily="18" charset="0"/>
                          </a:rPr>
                          <m:t>= </m:t>
                        </m:r>
                        <m:nary>
                          <m:naryPr>
                            <m:chr m:val="∑"/>
                            <m:subHide m:val="on"/>
                            <m:supHide m:val="on"/>
                            <m:ctrlPr>
                              <a:rPr lang="en-US" b="0" i="1" smtClean="0">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𝑦</m:t>
                                </m:r>
                                <m:r>
                                  <a:rPr lang="en-US" i="1">
                                    <a:solidFill>
                                      <a:srgbClr val="FF0000"/>
                                    </a:solidFill>
                                    <a:latin typeface="Cambria Math" panose="02040503050406030204" pitchFamily="18" charset="0"/>
                                    <a:ea typeface="Cambria Math" panose="02040503050406030204" pitchFamily="18" charset="0"/>
                                  </a:rPr>
                                  <m:t> − </m:t>
                                </m:r>
                                <m:acc>
                                  <m:accPr>
                                    <m:chr m:val="̂"/>
                                    <m:ctrlPr>
                                      <a:rPr lang="en-US" i="1">
                                        <a:solidFill>
                                          <a:srgbClr val="FF0000"/>
                                        </a:solidFill>
                                        <a:latin typeface="Cambria Math" panose="02040503050406030204" pitchFamily="18" charset="0"/>
                                        <a:ea typeface="Cambria Math" panose="02040503050406030204" pitchFamily="18" charset="0"/>
                                      </a:rPr>
                                    </m:ctrlPr>
                                  </m:accPr>
                                  <m:e>
                                    <m:r>
                                      <a:rPr lang="en-US" i="1">
                                        <a:solidFill>
                                          <a:srgbClr val="FF0000"/>
                                        </a:solidFill>
                                        <a:latin typeface="Cambria Math" panose="02040503050406030204" pitchFamily="18" charset="0"/>
                                        <a:ea typeface="Cambria Math" panose="02040503050406030204" pitchFamily="18" charset="0"/>
                                      </a:rPr>
                                      <m:t>𝑦</m:t>
                                    </m:r>
                                  </m:e>
                                </m:acc>
                                <m:r>
                                  <a:rPr lang="en-US" i="1">
                                    <a:latin typeface="Cambria Math" panose="02040503050406030204" pitchFamily="18" charset="0"/>
                                  </a:rPr>
                                  <m:t>)</m:t>
                                </m:r>
                              </m:e>
                              <m:sup>
                                <m:r>
                                  <a:rPr lang="en-US" i="1">
                                    <a:latin typeface="Cambria Math" panose="02040503050406030204" pitchFamily="18" charset="0"/>
                                  </a:rPr>
                                  <m:t>2</m:t>
                                </m:r>
                              </m:sup>
                            </m:sSup>
                          </m:e>
                        </m:nary>
                      </m:e>
                    </m:nary>
                    <m:r>
                      <a:rPr lang="en-US" b="0" i="1" smtClean="0">
                        <a:latin typeface="Cambria Math" panose="02040503050406030204" pitchFamily="18" charset="0"/>
                      </a:rPr>
                      <m:t>⇒</m:t>
                    </m:r>
                    <m:r>
                      <a:rPr lang="en-US" b="0" i="1" smtClean="0">
                        <a:latin typeface="Cambria Math" panose="02040503050406030204" pitchFamily="18" charset="0"/>
                      </a:rPr>
                      <m:t>𝑡h𝑖𝑠</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𝑚𝑖𝑛𝑖𝑚𝑖𝑠𝑒𝑑</m:t>
                    </m:r>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𝑔𝑒𝑡</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oMath>
                </a14:m>
                <a:r>
                  <a:rPr lang="en-US" dirty="0"/>
                  <a:t>s.</a:t>
                </a:r>
              </a:p>
              <a:p>
                <a:endParaRPr lang="en-US" dirty="0"/>
              </a:p>
              <a:p>
                <a:endParaRPr lang="en-US" dirty="0"/>
              </a:p>
            </p:txBody>
          </p:sp>
        </mc:Choice>
        <mc:Fallback>
          <p:sp>
            <p:nvSpPr>
              <p:cNvPr id="3" name="Content Placeholder 2">
                <a:extLst>
                  <a:ext uri="{FF2B5EF4-FFF2-40B4-BE49-F238E27FC236}">
                    <a16:creationId xmlns:a16="http://schemas.microsoft.com/office/drawing/2014/main" id="{433A72F3-2ABA-49A7-9C4C-1096F9F8823C}"/>
                  </a:ext>
                </a:extLst>
              </p:cNvPr>
              <p:cNvSpPr>
                <a:spLocks noGrp="1" noRot="1" noChangeAspect="1" noMove="1" noResize="1" noEditPoints="1" noAdjustHandles="1" noChangeArrowheads="1" noChangeShapeType="1" noTextEdit="1"/>
              </p:cNvSpPr>
              <p:nvPr>
                <p:ph idx="1"/>
              </p:nvPr>
            </p:nvSpPr>
            <p:spPr>
              <a:xfrm>
                <a:off x="838200" y="1143000"/>
                <a:ext cx="10515600" cy="5033963"/>
              </a:xfrm>
              <a:blipFill>
                <a:blip r:embed="rId2"/>
                <a:stretch>
                  <a:fillRect l="-1043" t="-278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48FC34F-8294-4BBC-AA4B-D9EBFA9F3987}"/>
              </a:ext>
            </a:extLst>
          </p:cNvPr>
          <p:cNvSpPr>
            <a:spLocks noGrp="1"/>
          </p:cNvSpPr>
          <p:nvPr>
            <p:ph type="sldNum" sz="quarter" idx="12"/>
          </p:nvPr>
        </p:nvSpPr>
        <p:spPr/>
        <p:txBody>
          <a:bodyPr/>
          <a:lstStyle/>
          <a:p>
            <a:fld id="{6B97D948-30E8-43F7-AE10-F6E2D9F2BBB1}" type="slidenum">
              <a:rPr lang="en-US" smtClean="0"/>
              <a:t>445</a:t>
            </a:fld>
            <a:endParaRPr lang="en-US"/>
          </a:p>
        </p:txBody>
      </p:sp>
    </p:spTree>
    <p:extLst>
      <p:ext uri="{BB962C8B-B14F-4D97-AF65-F5344CB8AC3E}">
        <p14:creationId xmlns:p14="http://schemas.microsoft.com/office/powerpoint/2010/main" val="218317173"/>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EA8236-19B5-4D8D-899F-53E037722156}"/>
              </a:ext>
            </a:extLst>
          </p:cNvPr>
          <p:cNvSpPr>
            <a:spLocks noGrp="1"/>
          </p:cNvSpPr>
          <p:nvPr>
            <p:ph idx="1"/>
          </p:nvPr>
        </p:nvSpPr>
        <p:spPr>
          <a:xfrm>
            <a:off x="838200" y="419100"/>
            <a:ext cx="10515600" cy="5757863"/>
          </a:xfrm>
        </p:spPr>
        <p:txBody>
          <a:bodyPr>
            <a:normAutofit fontScale="85000" lnSpcReduction="20000"/>
          </a:bodyPr>
          <a:lstStyle/>
          <a:p>
            <a:pPr algn="just"/>
            <a:r>
              <a:rPr lang="en-US" dirty="0"/>
              <a:t>So, let's continue to building our regression model. </a:t>
            </a:r>
          </a:p>
          <a:p>
            <a:pPr algn="just"/>
            <a:endParaRPr lang="en-US" dirty="0"/>
          </a:p>
          <a:p>
            <a:pPr algn="just"/>
            <a:r>
              <a:rPr lang="en-US" dirty="0"/>
              <a:t>We will use the </a:t>
            </a:r>
            <a:r>
              <a:rPr lang="en-US" dirty="0" err="1"/>
              <a:t>LinearRegression</a:t>
            </a:r>
            <a:r>
              <a:rPr lang="en-US" dirty="0"/>
              <a:t>() function from the </a:t>
            </a:r>
            <a:r>
              <a:rPr lang="en-US" dirty="0" err="1"/>
              <a:t>sklearn</a:t>
            </a:r>
            <a:r>
              <a:rPr lang="en-US" dirty="0"/>
              <a:t> library to build our models.</a:t>
            </a:r>
          </a:p>
          <a:p>
            <a:endParaRPr lang="en-US" dirty="0">
              <a:solidFill>
                <a:srgbClr val="FF0000"/>
              </a:solidFill>
            </a:endParaRPr>
          </a:p>
          <a:p>
            <a:r>
              <a:rPr lang="en-US" dirty="0" err="1">
                <a:solidFill>
                  <a:srgbClr val="FF0000"/>
                </a:solidFill>
              </a:rPr>
              <a:t>advert.columns</a:t>
            </a:r>
            <a:endParaRPr lang="en-US" dirty="0">
              <a:solidFill>
                <a:srgbClr val="FF0000"/>
              </a:solidFill>
            </a:endParaRPr>
          </a:p>
          <a:p>
            <a:r>
              <a:rPr lang="en-US" dirty="0"/>
              <a:t>Out[129]: Index(['TV', 'Radio', 'Newspaper', 'Sales'], </a:t>
            </a:r>
            <a:r>
              <a:rPr lang="en-US" dirty="0" err="1"/>
              <a:t>dtype</a:t>
            </a:r>
            <a:r>
              <a:rPr lang="en-US" dirty="0"/>
              <a:t>='object')</a:t>
            </a:r>
          </a:p>
          <a:p>
            <a:r>
              <a:rPr lang="en-US" dirty="0"/>
              <a:t># Set independent and dependent variables</a:t>
            </a:r>
          </a:p>
          <a:p>
            <a:pPr>
              <a:lnSpc>
                <a:spcPct val="100000"/>
              </a:lnSpc>
            </a:pPr>
            <a:r>
              <a:rPr lang="en-US" dirty="0">
                <a:solidFill>
                  <a:srgbClr val="FF0000"/>
                </a:solidFill>
              </a:rPr>
              <a:t>X = advert[['Radio', 'TV', 'Newspaper’]]</a:t>
            </a:r>
          </a:p>
          <a:p>
            <a:pPr>
              <a:lnSpc>
                <a:spcPct val="100000"/>
              </a:lnSpc>
            </a:pPr>
            <a:r>
              <a:rPr lang="en-US" dirty="0">
                <a:solidFill>
                  <a:srgbClr val="FF0000"/>
                </a:solidFill>
              </a:rPr>
              <a:t>y = advert['Sales']</a:t>
            </a:r>
          </a:p>
          <a:p>
            <a:pPr>
              <a:lnSpc>
                <a:spcPct val="110000"/>
              </a:lnSpc>
            </a:pPr>
            <a:r>
              <a:rPr lang="en-US" dirty="0">
                <a:solidFill>
                  <a:srgbClr val="FF0000"/>
                </a:solidFill>
              </a:rPr>
              <a:t>type(X)</a:t>
            </a:r>
          </a:p>
          <a:p>
            <a:r>
              <a:rPr lang="en-US" dirty="0"/>
              <a:t>Out[131]: </a:t>
            </a:r>
            <a:r>
              <a:rPr lang="en-US" dirty="0" err="1"/>
              <a:t>pandas.core.frame.DataFrame</a:t>
            </a:r>
            <a:endParaRPr lang="en-US" dirty="0"/>
          </a:p>
          <a:p>
            <a:endParaRPr lang="en-US" dirty="0"/>
          </a:p>
          <a:p>
            <a:r>
              <a:rPr lang="en-US" dirty="0">
                <a:solidFill>
                  <a:srgbClr val="FF0000"/>
                </a:solidFill>
              </a:rPr>
              <a:t>type(y)</a:t>
            </a:r>
          </a:p>
          <a:p>
            <a:r>
              <a:rPr lang="en-US" dirty="0"/>
              <a:t>Out[132]: </a:t>
            </a:r>
            <a:r>
              <a:rPr lang="en-US" dirty="0" err="1"/>
              <a:t>pandas.core.series.Series</a:t>
            </a:r>
            <a:endParaRPr lang="en-US" dirty="0"/>
          </a:p>
        </p:txBody>
      </p:sp>
      <p:sp>
        <p:nvSpPr>
          <p:cNvPr id="4" name="Slide Number Placeholder 3">
            <a:extLst>
              <a:ext uri="{FF2B5EF4-FFF2-40B4-BE49-F238E27FC236}">
                <a16:creationId xmlns:a16="http://schemas.microsoft.com/office/drawing/2014/main" id="{767EA574-83A3-48E7-B297-74462D10C655}"/>
              </a:ext>
            </a:extLst>
          </p:cNvPr>
          <p:cNvSpPr>
            <a:spLocks noGrp="1"/>
          </p:cNvSpPr>
          <p:nvPr>
            <p:ph type="sldNum" sz="quarter" idx="12"/>
          </p:nvPr>
        </p:nvSpPr>
        <p:spPr/>
        <p:txBody>
          <a:bodyPr/>
          <a:lstStyle/>
          <a:p>
            <a:fld id="{6B97D948-30E8-43F7-AE10-F6E2D9F2BBB1}" type="slidenum">
              <a:rPr lang="en-US" smtClean="0"/>
              <a:t>446</a:t>
            </a:fld>
            <a:endParaRPr lang="en-US"/>
          </a:p>
        </p:txBody>
      </p:sp>
    </p:spTree>
    <p:extLst>
      <p:ext uri="{BB962C8B-B14F-4D97-AF65-F5344CB8AC3E}">
        <p14:creationId xmlns:p14="http://schemas.microsoft.com/office/powerpoint/2010/main" val="78753375"/>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C41C546-BF91-4E42-8A87-978A40385AD5}"/>
                  </a:ext>
                </a:extLst>
              </p:cNvPr>
              <p:cNvSpPr>
                <a:spLocks noGrp="1"/>
              </p:cNvSpPr>
              <p:nvPr>
                <p:ph idx="1"/>
              </p:nvPr>
            </p:nvSpPr>
            <p:spPr>
              <a:xfrm>
                <a:off x="838200" y="279400"/>
                <a:ext cx="10515600" cy="5897563"/>
              </a:xfrm>
            </p:spPr>
            <p:txBody>
              <a:bodyPr/>
              <a:lstStyle/>
              <a:p>
                <a:r>
                  <a:rPr lang="en-US" dirty="0"/>
                  <a:t># Initialize model from </a:t>
                </a:r>
                <a:r>
                  <a:rPr lang="en-US" dirty="0" err="1"/>
                  <a:t>sklearn</a:t>
                </a:r>
                <a:r>
                  <a:rPr lang="en-US" dirty="0"/>
                  <a:t> and fit it into our data</a:t>
                </a:r>
              </a:p>
              <a:p>
                <a:r>
                  <a:rPr lang="en-US" dirty="0" err="1">
                    <a:solidFill>
                      <a:srgbClr val="FF0000"/>
                    </a:solidFill>
                  </a:rPr>
                  <a:t>regr</a:t>
                </a:r>
                <a:r>
                  <a:rPr lang="en-US" dirty="0">
                    <a:solidFill>
                      <a:srgbClr val="FF0000"/>
                    </a:solidFill>
                  </a:rPr>
                  <a:t> = </a:t>
                </a:r>
                <a:r>
                  <a:rPr lang="en-US" dirty="0" err="1">
                    <a:solidFill>
                      <a:srgbClr val="FF0000"/>
                    </a:solidFill>
                  </a:rPr>
                  <a:t>linear_model.LinearRegression</a:t>
                </a:r>
                <a:r>
                  <a:rPr lang="en-US" dirty="0">
                    <a:solidFill>
                      <a:srgbClr val="FF0000"/>
                    </a:solidFill>
                  </a:rPr>
                  <a:t>()</a:t>
                </a:r>
              </a:p>
              <a:p>
                <a:r>
                  <a:rPr lang="en-US" dirty="0">
                    <a:solidFill>
                      <a:srgbClr val="FF0000"/>
                    </a:solidFill>
                  </a:rPr>
                  <a:t>model = </a:t>
                </a:r>
                <a:r>
                  <a:rPr lang="en-US" dirty="0" err="1">
                    <a:solidFill>
                      <a:srgbClr val="FF0000"/>
                    </a:solidFill>
                  </a:rPr>
                  <a:t>regr.fit</a:t>
                </a:r>
                <a:r>
                  <a:rPr lang="en-US" dirty="0">
                    <a:solidFill>
                      <a:srgbClr val="FF0000"/>
                    </a:solidFill>
                  </a:rPr>
                  <a:t>(X, y)</a:t>
                </a:r>
              </a:p>
              <a:p>
                <a:r>
                  <a:rPr lang="en-US" dirty="0">
                    <a:solidFill>
                      <a:srgbClr val="FF0000"/>
                    </a:solidFill>
                  </a:rPr>
                  <a:t>print('Intercept:', </a:t>
                </a:r>
                <a:r>
                  <a:rPr lang="en-US" dirty="0" err="1">
                    <a:solidFill>
                      <a:srgbClr val="FF0000"/>
                    </a:solidFill>
                  </a:rPr>
                  <a:t>model.intercept</a:t>
                </a:r>
                <a:r>
                  <a:rPr lang="en-US" dirty="0">
                    <a:solidFill>
                      <a:srgbClr val="FF0000"/>
                    </a:solidFill>
                  </a:rPr>
                  <a:t>_)</a:t>
                </a:r>
              </a:p>
              <a:p>
                <a:r>
                  <a:rPr lang="en-US" dirty="0">
                    <a:solidFill>
                      <a:srgbClr val="FF0000"/>
                    </a:solidFill>
                  </a:rPr>
                  <a:t>print('Coefficients:', </a:t>
                </a:r>
                <a:r>
                  <a:rPr lang="en-US" dirty="0" err="1">
                    <a:solidFill>
                      <a:srgbClr val="FF0000"/>
                    </a:solidFill>
                  </a:rPr>
                  <a:t>model.coef</a:t>
                </a:r>
                <a:r>
                  <a:rPr lang="en-US" dirty="0">
                    <a:solidFill>
                      <a:srgbClr val="FF0000"/>
                    </a:solidFill>
                  </a:rPr>
                  <a:t>_)</a:t>
                </a:r>
              </a:p>
              <a:p>
                <a:r>
                  <a:rPr lang="en-US" dirty="0"/>
                  <a:t>Intercept: 4.625124078808657</a:t>
                </a:r>
              </a:p>
              <a:p>
                <a:r>
                  <a:rPr lang="en-US" dirty="0"/>
                  <a:t>Coefficients: [0.10700123 0.05444578 0.00033566]</a:t>
                </a:r>
              </a:p>
              <a:p>
                <a:pPr algn="just"/>
                <a:r>
                  <a:rPr lang="en-US" dirty="0"/>
                  <a:t>Those values are the intercept and coefficients values of the models which can be put in mathematics equation as below:</a:t>
                </a:r>
              </a:p>
              <a:p>
                <a:pPr algn="just"/>
                <a14:m>
                  <m:oMath xmlns:m="http://schemas.openxmlformats.org/officeDocument/2006/math">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𝑆𝑎𝑙𝑒𝑠</m:t>
                        </m:r>
                      </m:e>
                    </m:acc>
                    <m:r>
                      <a:rPr lang="en-US" b="0" i="1" smtClean="0">
                        <a:solidFill>
                          <a:srgbClr val="FF0000"/>
                        </a:solidFill>
                        <a:latin typeface="Cambria Math" panose="02040503050406030204" pitchFamily="18" charset="0"/>
                      </a:rPr>
                      <m:t>=4.6251+0.107</m:t>
                    </m:r>
                    <m:r>
                      <a:rPr lang="en-US" b="0" i="1" smtClean="0">
                        <a:solidFill>
                          <a:srgbClr val="FF0000"/>
                        </a:solidFill>
                        <a:latin typeface="Cambria Math" panose="02040503050406030204" pitchFamily="18" charset="0"/>
                      </a:rPr>
                      <m:t>𝑅𝑎𝑑𝑖𝑜</m:t>
                    </m:r>
                    <m:r>
                      <a:rPr lang="en-US" b="0" i="1" smtClean="0">
                        <a:solidFill>
                          <a:srgbClr val="FF0000"/>
                        </a:solidFill>
                        <a:latin typeface="Cambria Math" panose="02040503050406030204" pitchFamily="18" charset="0"/>
                      </a:rPr>
                      <m:t>+0.0544</m:t>
                    </m:r>
                    <m:r>
                      <a:rPr lang="en-US" b="0" i="1" smtClean="0">
                        <a:solidFill>
                          <a:srgbClr val="FF0000"/>
                        </a:solidFill>
                        <a:latin typeface="Cambria Math" panose="02040503050406030204" pitchFamily="18" charset="0"/>
                      </a:rPr>
                      <m:t>𝑇𝑉</m:t>
                    </m:r>
                    <m:r>
                      <a:rPr lang="en-US" b="0" i="1" smtClean="0">
                        <a:solidFill>
                          <a:srgbClr val="FF0000"/>
                        </a:solidFill>
                        <a:latin typeface="Cambria Math" panose="02040503050406030204" pitchFamily="18" charset="0"/>
                      </a:rPr>
                      <m:t>+0.0003</m:t>
                    </m:r>
                    <m:r>
                      <a:rPr lang="en-US" b="0" i="1" smtClean="0">
                        <a:solidFill>
                          <a:srgbClr val="FF0000"/>
                        </a:solidFill>
                        <a:latin typeface="Cambria Math" panose="02040503050406030204" pitchFamily="18" charset="0"/>
                      </a:rPr>
                      <m:t>𝑁𝑒𝑤𝑠𝑝𝑎𝑝𝑒𝑟</m:t>
                    </m:r>
                  </m:oMath>
                </a14:m>
                <a:endParaRPr lang="en-US" dirty="0">
                  <a:solidFill>
                    <a:srgbClr val="FF0000"/>
                  </a:solidFill>
                </a:endParaRPr>
              </a:p>
            </p:txBody>
          </p:sp>
        </mc:Choice>
        <mc:Fallback>
          <p:sp>
            <p:nvSpPr>
              <p:cNvPr id="3" name="Content Placeholder 2">
                <a:extLst>
                  <a:ext uri="{FF2B5EF4-FFF2-40B4-BE49-F238E27FC236}">
                    <a16:creationId xmlns:a16="http://schemas.microsoft.com/office/drawing/2014/main" id="{CC41C546-BF91-4E42-8A87-978A40385AD5}"/>
                  </a:ext>
                </a:extLst>
              </p:cNvPr>
              <p:cNvSpPr>
                <a:spLocks noGrp="1" noRot="1" noChangeAspect="1" noMove="1" noResize="1" noEditPoints="1" noAdjustHandles="1" noChangeArrowheads="1" noChangeShapeType="1" noTextEdit="1"/>
              </p:cNvSpPr>
              <p:nvPr>
                <p:ph idx="1"/>
              </p:nvPr>
            </p:nvSpPr>
            <p:spPr>
              <a:xfrm>
                <a:off x="838200" y="279400"/>
                <a:ext cx="10515600" cy="5897563"/>
              </a:xfrm>
              <a:blipFill>
                <a:blip r:embed="rId2"/>
                <a:stretch>
                  <a:fillRect l="-1043" t="-1758"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77927A2-AF7C-4B81-A3AE-4FF85C7D0540}"/>
              </a:ext>
            </a:extLst>
          </p:cNvPr>
          <p:cNvSpPr>
            <a:spLocks noGrp="1"/>
          </p:cNvSpPr>
          <p:nvPr>
            <p:ph type="sldNum" sz="quarter" idx="12"/>
          </p:nvPr>
        </p:nvSpPr>
        <p:spPr/>
        <p:txBody>
          <a:bodyPr/>
          <a:lstStyle/>
          <a:p>
            <a:fld id="{6B97D948-30E8-43F7-AE10-F6E2D9F2BBB1}" type="slidenum">
              <a:rPr lang="en-US" smtClean="0"/>
              <a:t>447</a:t>
            </a:fld>
            <a:endParaRPr lang="en-US" dirty="0"/>
          </a:p>
        </p:txBody>
      </p:sp>
    </p:spTree>
    <p:extLst>
      <p:ext uri="{BB962C8B-B14F-4D97-AF65-F5344CB8AC3E}">
        <p14:creationId xmlns:p14="http://schemas.microsoft.com/office/powerpoint/2010/main" val="3525391988"/>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0227402-FE3A-4CD3-B83C-C817BAB09676}"/>
                  </a:ext>
                </a:extLst>
              </p:cNvPr>
              <p:cNvSpPr>
                <a:spLocks noGrp="1"/>
              </p:cNvSpPr>
              <p:nvPr>
                <p:ph idx="1"/>
              </p:nvPr>
            </p:nvSpPr>
            <p:spPr>
              <a:xfrm>
                <a:off x="838200" y="444500"/>
                <a:ext cx="10515600" cy="5732463"/>
              </a:xfrm>
            </p:spPr>
            <p:txBody>
              <a:bodyPr>
                <a:normAutofit lnSpcReduction="10000"/>
              </a:bodyPr>
              <a:lstStyle/>
              <a:p>
                <a:pPr algn="just"/>
                <a:r>
                  <a:rPr lang="en-US" dirty="0"/>
                  <a:t>Let's breakdown what each of those number means:</a:t>
                </a:r>
              </a:p>
              <a:p>
                <a:pPr algn="just"/>
                <a:r>
                  <a:rPr lang="en-US" dirty="0"/>
                  <a:t>The intercept value is the estimated average value of our dependent variable when all of our independent variables values is 0. </a:t>
                </a:r>
              </a:p>
              <a:p>
                <a:pPr algn="just"/>
                <a:r>
                  <a:rPr lang="en-US" dirty="0"/>
                  <a:t>In our case this means that in the case where there are not adverts on TV, on Radio and in Newspapers, the shops will generate an average of 4.6251 units in Sales.</a:t>
                </a:r>
              </a:p>
              <a:p>
                <a:pPr algn="just"/>
                <a:r>
                  <a:rPr lang="en-US" dirty="0"/>
                  <a:t>For the coefficients we have 3 values for </a:t>
                </a:r>
                <a:r>
                  <a:rPr lang="en-US" dirty="0">
                    <a:solidFill>
                      <a:srgbClr val="FF0000"/>
                    </a:solidFill>
                  </a:rPr>
                  <a:t>Radio, TV,  and Newspaper </a:t>
                </a:r>
                <a:r>
                  <a:rPr lang="en-US" dirty="0"/>
                  <a:t> respectively. </a:t>
                </a:r>
              </a:p>
              <a:p>
                <a:pPr algn="just"/>
                <a:r>
                  <a:rPr lang="en-US" dirty="0"/>
                  <a:t>This value represents the relation of our independent variable to the dependent variable, where a change of exactly 1 at the independent variable will change the value of our dependent variable the same amount as the coefficient. </a:t>
                </a:r>
              </a:p>
              <a:p>
                <a:pPr algn="just"/>
                <a:r>
                  <a:rPr lang="en-US" dirty="0"/>
                  <a:t>For example, if we increase our </a:t>
                </a:r>
                <a:r>
                  <a:rPr lang="en-US" dirty="0">
                    <a:solidFill>
                      <a:srgbClr val="FF0000"/>
                    </a:solidFill>
                  </a:rPr>
                  <a:t>Radio</a:t>
                </a:r>
                <a:r>
                  <a:rPr lang="en-US" dirty="0"/>
                  <a:t> ads by 1 unit, we will also increase our </a:t>
                </a:r>
                <a:r>
                  <a:rPr lang="en-US" dirty="0">
                    <a:solidFill>
                      <a:srgbClr val="FF0000"/>
                    </a:solidFill>
                  </a:rPr>
                  <a:t>Sales</a:t>
                </a:r>
                <a:r>
                  <a:rPr lang="en-US" dirty="0"/>
                  <a:t> by </a:t>
                </a:r>
                <a14:m>
                  <m:oMath xmlns:m="http://schemas.openxmlformats.org/officeDocument/2006/math">
                    <m:r>
                      <a:rPr lang="en-US" b="0" i="1" smtClean="0">
                        <a:latin typeface="Cambria Math" panose="02040503050406030204" pitchFamily="18" charset="0"/>
                      </a:rPr>
                      <m:t>0.107</m:t>
                    </m:r>
                  </m:oMath>
                </a14:m>
                <a:r>
                  <a:rPr lang="en-US" dirty="0"/>
                  <a:t> units.</a:t>
                </a:r>
              </a:p>
            </p:txBody>
          </p:sp>
        </mc:Choice>
        <mc:Fallback>
          <p:sp>
            <p:nvSpPr>
              <p:cNvPr id="3" name="Content Placeholder 2">
                <a:extLst>
                  <a:ext uri="{FF2B5EF4-FFF2-40B4-BE49-F238E27FC236}">
                    <a16:creationId xmlns:a16="http://schemas.microsoft.com/office/drawing/2014/main" id="{60227402-FE3A-4CD3-B83C-C817BAB09676}"/>
                  </a:ext>
                </a:extLst>
              </p:cNvPr>
              <p:cNvSpPr>
                <a:spLocks noGrp="1" noRot="1" noChangeAspect="1" noMove="1" noResize="1" noEditPoints="1" noAdjustHandles="1" noChangeArrowheads="1" noChangeShapeType="1" noTextEdit="1"/>
              </p:cNvSpPr>
              <p:nvPr>
                <p:ph idx="1"/>
              </p:nvPr>
            </p:nvSpPr>
            <p:spPr>
              <a:xfrm>
                <a:off x="838200" y="444500"/>
                <a:ext cx="10515600" cy="5732463"/>
              </a:xfrm>
              <a:blipFill>
                <a:blip r:embed="rId2"/>
                <a:stretch>
                  <a:fillRect l="-1043" t="-2447"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A9BA649-2CB1-4E1E-AAD9-1C4B9027A565}"/>
              </a:ext>
            </a:extLst>
          </p:cNvPr>
          <p:cNvSpPr>
            <a:spLocks noGrp="1"/>
          </p:cNvSpPr>
          <p:nvPr>
            <p:ph type="sldNum" sz="quarter" idx="12"/>
          </p:nvPr>
        </p:nvSpPr>
        <p:spPr/>
        <p:txBody>
          <a:bodyPr/>
          <a:lstStyle/>
          <a:p>
            <a:fld id="{6B97D948-30E8-43F7-AE10-F6E2D9F2BBB1}" type="slidenum">
              <a:rPr lang="en-US" smtClean="0"/>
              <a:t>448</a:t>
            </a:fld>
            <a:endParaRPr lang="en-US"/>
          </a:p>
        </p:txBody>
      </p:sp>
    </p:spTree>
    <p:extLst>
      <p:ext uri="{BB962C8B-B14F-4D97-AF65-F5344CB8AC3E}">
        <p14:creationId xmlns:p14="http://schemas.microsoft.com/office/powerpoint/2010/main" val="364591437"/>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7BA8-D903-420F-BCCC-94A4EFC8EB92}"/>
              </a:ext>
            </a:extLst>
          </p:cNvPr>
          <p:cNvSpPr>
            <a:spLocks noGrp="1"/>
          </p:cNvSpPr>
          <p:nvPr>
            <p:ph type="title"/>
          </p:nvPr>
        </p:nvSpPr>
        <p:spPr>
          <a:xfrm>
            <a:off x="838200" y="365125"/>
            <a:ext cx="10515600" cy="676275"/>
          </a:xfrm>
        </p:spPr>
        <p:txBody>
          <a:bodyPr>
            <a:normAutofit fontScale="90000"/>
          </a:bodyPr>
          <a:lstStyle/>
          <a:p>
            <a:r>
              <a:rPr lang="en-US" dirty="0"/>
              <a:t>Model Validation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4F2E4D5-B265-4DD5-A8FA-F3D0574B7D1B}"/>
                  </a:ext>
                </a:extLst>
              </p:cNvPr>
              <p:cNvSpPr>
                <a:spLocks noGrp="1"/>
              </p:cNvSpPr>
              <p:nvPr>
                <p:ph idx="1"/>
              </p:nvPr>
            </p:nvSpPr>
            <p:spPr>
              <a:xfrm>
                <a:off x="838200" y="952500"/>
                <a:ext cx="10515600" cy="5224463"/>
              </a:xfrm>
            </p:spPr>
            <p:txBody>
              <a:bodyPr/>
              <a:lstStyle/>
              <a:p>
                <a:pPr algn="just"/>
                <a:r>
                  <a:rPr lang="en-US" dirty="0"/>
                  <a:t>After building the model it is important for us to validate it's performance. </a:t>
                </a:r>
              </a:p>
              <a:p>
                <a:pPr algn="just"/>
                <a:r>
                  <a:rPr lang="en-US" dirty="0"/>
                  <a:t>We can evaluate a model by looking at it's coefficient of determination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 F-test, t-test, and also residuals. </a:t>
                </a:r>
              </a:p>
              <a:p>
                <a:pPr algn="just"/>
                <a:r>
                  <a:rPr lang="en-US" dirty="0"/>
                  <a:t>Before we continue we will rebuild our model using the </a:t>
                </a:r>
                <a:r>
                  <a:rPr lang="en-US" dirty="0" err="1"/>
                  <a:t>statsmodel</a:t>
                </a:r>
                <a:r>
                  <a:rPr lang="en-US" dirty="0"/>
                  <a:t> library with the OLS() function. </a:t>
                </a:r>
              </a:p>
              <a:p>
                <a:pPr algn="just"/>
                <a:r>
                  <a:rPr lang="en-US" dirty="0"/>
                  <a:t>Then we will print the model summary using the summary() function on the model. </a:t>
                </a:r>
              </a:p>
              <a:p>
                <a:pPr algn="just"/>
                <a:r>
                  <a:rPr lang="en-US" dirty="0"/>
                  <a:t>The model summary contains lots of important value we can use to evaluate our model.</a:t>
                </a:r>
              </a:p>
            </p:txBody>
          </p:sp>
        </mc:Choice>
        <mc:Fallback>
          <p:sp>
            <p:nvSpPr>
              <p:cNvPr id="3" name="Content Placeholder 2">
                <a:extLst>
                  <a:ext uri="{FF2B5EF4-FFF2-40B4-BE49-F238E27FC236}">
                    <a16:creationId xmlns:a16="http://schemas.microsoft.com/office/drawing/2014/main" id="{C4F2E4D5-B265-4DD5-A8FA-F3D0574B7D1B}"/>
                  </a:ext>
                </a:extLst>
              </p:cNvPr>
              <p:cNvSpPr>
                <a:spLocks noGrp="1" noRot="1" noChangeAspect="1" noMove="1" noResize="1" noEditPoints="1" noAdjustHandles="1" noChangeArrowheads="1" noChangeShapeType="1" noTextEdit="1"/>
              </p:cNvSpPr>
              <p:nvPr>
                <p:ph idx="1"/>
              </p:nvPr>
            </p:nvSpPr>
            <p:spPr>
              <a:xfrm>
                <a:off x="838200" y="952500"/>
                <a:ext cx="10515600" cy="5224463"/>
              </a:xfrm>
              <a:blipFill>
                <a:blip r:embed="rId2"/>
                <a:stretch>
                  <a:fillRect l="-1043" t="-1867"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BFFA11F-C487-44EB-B493-FB12363A11D8}"/>
              </a:ext>
            </a:extLst>
          </p:cNvPr>
          <p:cNvSpPr>
            <a:spLocks noGrp="1"/>
          </p:cNvSpPr>
          <p:nvPr>
            <p:ph type="sldNum" sz="quarter" idx="12"/>
          </p:nvPr>
        </p:nvSpPr>
        <p:spPr/>
        <p:txBody>
          <a:bodyPr/>
          <a:lstStyle/>
          <a:p>
            <a:fld id="{6B97D948-30E8-43F7-AE10-F6E2D9F2BBB1}" type="slidenum">
              <a:rPr lang="en-US" smtClean="0"/>
              <a:t>449</a:t>
            </a:fld>
            <a:endParaRPr lang="en-US"/>
          </a:p>
        </p:txBody>
      </p:sp>
    </p:spTree>
    <p:extLst>
      <p:ext uri="{BB962C8B-B14F-4D97-AF65-F5344CB8AC3E}">
        <p14:creationId xmlns:p14="http://schemas.microsoft.com/office/powerpoint/2010/main" val="3696949688"/>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7F62ED-2979-4A63-BAD6-39F4966AFE04}"/>
              </a:ext>
            </a:extLst>
          </p:cNvPr>
          <p:cNvSpPr>
            <a:spLocks noGrp="1"/>
          </p:cNvSpPr>
          <p:nvPr>
            <p:ph idx="1"/>
          </p:nvPr>
        </p:nvSpPr>
        <p:spPr>
          <a:xfrm>
            <a:off x="838200" y="406400"/>
            <a:ext cx="10515600" cy="5770563"/>
          </a:xfrm>
        </p:spPr>
        <p:txBody>
          <a:bodyPr/>
          <a:lstStyle/>
          <a:p>
            <a:r>
              <a:rPr lang="en-US" dirty="0"/>
              <a:t> </a:t>
            </a:r>
            <a:r>
              <a:rPr lang="en-US" dirty="0">
                <a:solidFill>
                  <a:srgbClr val="FF0000"/>
                </a:solidFill>
              </a:rPr>
              <a:t>fit = </a:t>
            </a:r>
            <a:r>
              <a:rPr lang="en-US" dirty="0" err="1">
                <a:solidFill>
                  <a:srgbClr val="FF0000"/>
                </a:solidFill>
              </a:rPr>
              <a:t>smf.ols</a:t>
            </a:r>
            <a:r>
              <a:rPr lang="en-US" dirty="0">
                <a:solidFill>
                  <a:srgbClr val="FF0000"/>
                </a:solidFill>
              </a:rPr>
              <a:t>(formula = 'Sales ~ Radio + TV + Newspaper', data = advert).fit()</a:t>
            </a:r>
          </a:p>
          <a:p>
            <a:r>
              <a:rPr lang="en-US" dirty="0" err="1">
                <a:solidFill>
                  <a:srgbClr val="FF0000"/>
                </a:solidFill>
              </a:rPr>
              <a:t>fit.summary</a:t>
            </a:r>
            <a:r>
              <a:rPr lang="en-US" dirty="0">
                <a:solidFill>
                  <a:srgbClr val="FF0000"/>
                </a:solidFill>
              </a:rPr>
              <a:t>()</a:t>
            </a:r>
          </a:p>
          <a:p>
            <a:endParaRPr lang="en-US" dirty="0"/>
          </a:p>
        </p:txBody>
      </p:sp>
      <p:sp>
        <p:nvSpPr>
          <p:cNvPr id="4" name="Slide Number Placeholder 3">
            <a:extLst>
              <a:ext uri="{FF2B5EF4-FFF2-40B4-BE49-F238E27FC236}">
                <a16:creationId xmlns:a16="http://schemas.microsoft.com/office/drawing/2014/main" id="{16DDC889-31C5-41E4-BF38-424B4D1D8957}"/>
              </a:ext>
            </a:extLst>
          </p:cNvPr>
          <p:cNvSpPr>
            <a:spLocks noGrp="1"/>
          </p:cNvSpPr>
          <p:nvPr>
            <p:ph type="sldNum" sz="quarter" idx="12"/>
          </p:nvPr>
        </p:nvSpPr>
        <p:spPr/>
        <p:txBody>
          <a:bodyPr/>
          <a:lstStyle/>
          <a:p>
            <a:fld id="{6B97D948-30E8-43F7-AE10-F6E2D9F2BBB1}" type="slidenum">
              <a:rPr lang="en-US" smtClean="0"/>
              <a:t>450</a:t>
            </a:fld>
            <a:endParaRPr lang="en-US"/>
          </a:p>
        </p:txBody>
      </p:sp>
    </p:spTree>
    <p:extLst>
      <p:ext uri="{BB962C8B-B14F-4D97-AF65-F5344CB8AC3E}">
        <p14:creationId xmlns:p14="http://schemas.microsoft.com/office/powerpoint/2010/main" val="267710307"/>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4ECDC0-4394-47EB-95DE-90397AF15C02}"/>
              </a:ext>
            </a:extLst>
          </p:cNvPr>
          <p:cNvSpPr>
            <a:spLocks noGrp="1"/>
          </p:cNvSpPr>
          <p:nvPr>
            <p:ph idx="1"/>
          </p:nvPr>
        </p:nvSpPr>
        <p:spPr>
          <a:xfrm>
            <a:off x="838200" y="655320"/>
            <a:ext cx="10515600" cy="5521643"/>
          </a:xfrm>
        </p:spPr>
        <p:txBody>
          <a:bodyPr>
            <a:normAutofit lnSpcReduction="10000"/>
          </a:bodyPr>
          <a:lstStyle/>
          <a:p>
            <a:r>
              <a:rPr lang="en-US" dirty="0"/>
              <a:t>OLS Regression Results</a:t>
            </a:r>
          </a:p>
          <a:p>
            <a:r>
              <a:rPr lang="en-US" dirty="0"/>
              <a:t>_____________________________________________________</a:t>
            </a:r>
          </a:p>
          <a:p>
            <a:r>
              <a:rPr lang="en-US" dirty="0"/>
              <a:t>Dep. Variable:                  Sales   R-squared:                       0.903</a:t>
            </a:r>
          </a:p>
          <a:p>
            <a:r>
              <a:rPr lang="en-US" dirty="0"/>
              <a:t>Model:                            OLS   Adj. R-squared:                    0.901</a:t>
            </a:r>
          </a:p>
          <a:p>
            <a:r>
              <a:rPr lang="en-US" dirty="0"/>
              <a:t>Method:                 Least Squares   F-statistic:                     605.4</a:t>
            </a:r>
          </a:p>
          <a:p>
            <a:r>
              <a:rPr lang="en-US" dirty="0"/>
              <a:t>Date:                Fri, 24 Oct 2025   Prob (F-statistic):           8.13e-99</a:t>
            </a:r>
          </a:p>
          <a:p>
            <a:r>
              <a:rPr lang="en-US" dirty="0"/>
              <a:t>Time:                        16:00:59   Log-Likelihood:                   -383.34</a:t>
            </a:r>
          </a:p>
          <a:p>
            <a:r>
              <a:rPr lang="en-US" dirty="0"/>
              <a:t>No. Observations:                 200   AIC:                                 774.7</a:t>
            </a:r>
          </a:p>
          <a:p>
            <a:r>
              <a:rPr lang="en-US" dirty="0"/>
              <a:t>Df Residuals:                     196   BIC:                                      787.9</a:t>
            </a:r>
          </a:p>
          <a:p>
            <a:r>
              <a:rPr lang="en-US" dirty="0"/>
              <a:t>Df Model:                           3</a:t>
            </a:r>
          </a:p>
          <a:p>
            <a:r>
              <a:rPr lang="en-US" dirty="0"/>
              <a:t>Covariance Type:            </a:t>
            </a:r>
            <a:r>
              <a:rPr lang="en-US" dirty="0" err="1"/>
              <a:t>nonrobust</a:t>
            </a:r>
            <a:endParaRPr lang="en-US" dirty="0"/>
          </a:p>
        </p:txBody>
      </p:sp>
      <p:sp>
        <p:nvSpPr>
          <p:cNvPr id="4" name="Slide Number Placeholder 3">
            <a:extLst>
              <a:ext uri="{FF2B5EF4-FFF2-40B4-BE49-F238E27FC236}">
                <a16:creationId xmlns:a16="http://schemas.microsoft.com/office/drawing/2014/main" id="{F7CF2E50-957A-41CC-86D6-15772E2CB818}"/>
              </a:ext>
            </a:extLst>
          </p:cNvPr>
          <p:cNvSpPr>
            <a:spLocks noGrp="1"/>
          </p:cNvSpPr>
          <p:nvPr>
            <p:ph type="sldNum" sz="quarter" idx="12"/>
          </p:nvPr>
        </p:nvSpPr>
        <p:spPr/>
        <p:txBody>
          <a:bodyPr/>
          <a:lstStyle/>
          <a:p>
            <a:fld id="{6B97D948-30E8-43F7-AE10-F6E2D9F2BBB1}" type="slidenum">
              <a:rPr lang="en-US" smtClean="0"/>
              <a:t>451</a:t>
            </a:fld>
            <a:endParaRPr lang="en-US"/>
          </a:p>
        </p:txBody>
      </p:sp>
    </p:spTree>
    <p:extLst>
      <p:ext uri="{BB962C8B-B14F-4D97-AF65-F5344CB8AC3E}">
        <p14:creationId xmlns:p14="http://schemas.microsoft.com/office/powerpoint/2010/main" val="1349397163"/>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3BCD29-936D-4BA3-A386-039A165611AA}"/>
              </a:ext>
            </a:extLst>
          </p:cNvPr>
          <p:cNvSpPr>
            <a:spLocks noGrp="1"/>
          </p:cNvSpPr>
          <p:nvPr>
            <p:ph idx="1"/>
          </p:nvPr>
        </p:nvSpPr>
        <p:spPr>
          <a:xfrm>
            <a:off x="838200" y="520700"/>
            <a:ext cx="10515600" cy="5656263"/>
          </a:xfrm>
        </p:spPr>
        <p:txBody>
          <a:bodyPr/>
          <a:lstStyle/>
          <a:p>
            <a:pPr marL="0" indent="0">
              <a:buNone/>
            </a:pPr>
            <a:r>
              <a:rPr lang="en-US" dirty="0"/>
              <a:t>     		</a:t>
            </a:r>
            <a:r>
              <a:rPr lang="en-US" dirty="0" err="1"/>
              <a:t>coef</a:t>
            </a:r>
            <a:r>
              <a:rPr lang="en-US" dirty="0"/>
              <a:t>    	std err      t             P&gt;|t|      [0.025      0.975]</a:t>
            </a:r>
          </a:p>
          <a:p>
            <a:r>
              <a:rPr lang="en-US" dirty="0"/>
              <a:t>-----------------------------------------------------------------------------------------</a:t>
            </a:r>
          </a:p>
          <a:p>
            <a:r>
              <a:rPr lang="en-US" dirty="0"/>
              <a:t>Intercept         4.6251      0.308     15.041      0.000       4.019       5.232</a:t>
            </a:r>
          </a:p>
          <a:p>
            <a:r>
              <a:rPr lang="en-US" dirty="0"/>
              <a:t>Radio              0.1070      0.008     12.604      0.000       0.090       0.124</a:t>
            </a:r>
          </a:p>
          <a:p>
            <a:r>
              <a:rPr lang="en-US" dirty="0"/>
              <a:t>TV                    0.0544      0.001     39.592      0.000       0.052       0.057</a:t>
            </a:r>
          </a:p>
          <a:p>
            <a:r>
              <a:rPr lang="en-US" dirty="0"/>
              <a:t>Newspaper      0.0003      0.006      0.058      0.954      -0.011       0.012</a:t>
            </a:r>
          </a:p>
        </p:txBody>
      </p:sp>
      <p:sp>
        <p:nvSpPr>
          <p:cNvPr id="4" name="Slide Number Placeholder 3">
            <a:extLst>
              <a:ext uri="{FF2B5EF4-FFF2-40B4-BE49-F238E27FC236}">
                <a16:creationId xmlns:a16="http://schemas.microsoft.com/office/drawing/2014/main" id="{63591B08-7CDE-4F65-8DDB-2D84AFC7E71F}"/>
              </a:ext>
            </a:extLst>
          </p:cNvPr>
          <p:cNvSpPr>
            <a:spLocks noGrp="1"/>
          </p:cNvSpPr>
          <p:nvPr>
            <p:ph type="sldNum" sz="quarter" idx="12"/>
          </p:nvPr>
        </p:nvSpPr>
        <p:spPr/>
        <p:txBody>
          <a:bodyPr/>
          <a:lstStyle/>
          <a:p>
            <a:fld id="{6B97D948-30E8-43F7-AE10-F6E2D9F2BBB1}" type="slidenum">
              <a:rPr lang="en-US" smtClean="0"/>
              <a:t>452</a:t>
            </a:fld>
            <a:endParaRPr lang="en-US"/>
          </a:p>
        </p:txBody>
      </p:sp>
    </p:spTree>
    <p:extLst>
      <p:ext uri="{BB962C8B-B14F-4D97-AF65-F5344CB8AC3E}">
        <p14:creationId xmlns:p14="http://schemas.microsoft.com/office/powerpoint/2010/main" val="462628036"/>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F13130-7953-465E-A220-5CBCEA07553D}"/>
              </a:ext>
            </a:extLst>
          </p:cNvPr>
          <p:cNvSpPr>
            <a:spLocks noGrp="1"/>
          </p:cNvSpPr>
          <p:nvPr>
            <p:ph idx="1"/>
          </p:nvPr>
        </p:nvSpPr>
        <p:spPr>
          <a:xfrm>
            <a:off x="838200" y="838200"/>
            <a:ext cx="10515600" cy="5338763"/>
          </a:xfrm>
        </p:spPr>
        <p:txBody>
          <a:bodyPr/>
          <a:lstStyle/>
          <a:p>
            <a:r>
              <a:rPr lang="en-US" dirty="0"/>
              <a:t>Omnibus:                       16.081   Durbin-Watson:                   2.251</a:t>
            </a:r>
          </a:p>
          <a:p>
            <a:r>
              <a:rPr lang="en-US" dirty="0"/>
              <a:t>Prob(Omnibus):                  0.000   </a:t>
            </a:r>
            <a:r>
              <a:rPr lang="en-US" dirty="0" err="1"/>
              <a:t>Jarque-Bera</a:t>
            </a:r>
            <a:r>
              <a:rPr lang="en-US" dirty="0"/>
              <a:t> (JB):               27.655</a:t>
            </a:r>
          </a:p>
          <a:p>
            <a:r>
              <a:rPr lang="en-US" dirty="0"/>
              <a:t>Skew:                          -0.431   		Prob(JB):                     9.88e-07</a:t>
            </a:r>
          </a:p>
          <a:p>
            <a:r>
              <a:rPr lang="en-US" dirty="0"/>
              <a:t>Kurtosis:                       4.605   Cond. No.                         454.</a:t>
            </a:r>
          </a:p>
        </p:txBody>
      </p:sp>
      <p:sp>
        <p:nvSpPr>
          <p:cNvPr id="4" name="Slide Number Placeholder 3">
            <a:extLst>
              <a:ext uri="{FF2B5EF4-FFF2-40B4-BE49-F238E27FC236}">
                <a16:creationId xmlns:a16="http://schemas.microsoft.com/office/drawing/2014/main" id="{7ABB6AA2-B072-4D06-9588-A6902045EDE6}"/>
              </a:ext>
            </a:extLst>
          </p:cNvPr>
          <p:cNvSpPr>
            <a:spLocks noGrp="1"/>
          </p:cNvSpPr>
          <p:nvPr>
            <p:ph type="sldNum" sz="quarter" idx="12"/>
          </p:nvPr>
        </p:nvSpPr>
        <p:spPr/>
        <p:txBody>
          <a:bodyPr/>
          <a:lstStyle/>
          <a:p>
            <a:fld id="{6B97D948-30E8-43F7-AE10-F6E2D9F2BBB1}" type="slidenum">
              <a:rPr lang="en-US" smtClean="0"/>
              <a:t>453</a:t>
            </a:fld>
            <a:endParaRPr lang="en-US"/>
          </a:p>
        </p:txBody>
      </p:sp>
    </p:spTree>
    <p:extLst>
      <p:ext uri="{BB962C8B-B14F-4D97-AF65-F5344CB8AC3E}">
        <p14:creationId xmlns:p14="http://schemas.microsoft.com/office/powerpoint/2010/main" val="411676117"/>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9E009B36-2425-4414-9E4D-56575872E963}"/>
                  </a:ext>
                </a:extLst>
              </p:cNvPr>
              <p:cNvSpPr>
                <a:spLocks noGrp="1"/>
              </p:cNvSpPr>
              <p:nvPr>
                <p:ph type="title"/>
              </p:nvPr>
            </p:nvSpPr>
            <p:spPr>
              <a:xfrm>
                <a:off x="838200" y="365125"/>
                <a:ext cx="10515600" cy="676275"/>
              </a:xfrm>
            </p:spPr>
            <p:txBody>
              <a:bodyPr>
                <a:normAutofit fontScale="90000"/>
              </a:bodyPr>
              <a:lstStyle/>
              <a:p>
                <a:r>
                  <a:rPr lang="en-US" dirty="0"/>
                  <a:t>Coefficient of Determination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a:t>
                </a:r>
              </a:p>
            </p:txBody>
          </p:sp>
        </mc:Choice>
        <mc:Fallback>
          <p:sp>
            <p:nvSpPr>
              <p:cNvPr id="2" name="Title 1">
                <a:extLst>
                  <a:ext uri="{FF2B5EF4-FFF2-40B4-BE49-F238E27FC236}">
                    <a16:creationId xmlns:a16="http://schemas.microsoft.com/office/drawing/2014/main" id="{9E009B36-2425-4414-9E4D-56575872E963}"/>
                  </a:ext>
                </a:extLst>
              </p:cNvPr>
              <p:cNvSpPr>
                <a:spLocks noGrp="1" noRot="1" noChangeAspect="1" noMove="1" noResize="1" noEditPoints="1" noAdjustHandles="1" noChangeArrowheads="1" noChangeShapeType="1" noTextEdit="1"/>
              </p:cNvSpPr>
              <p:nvPr>
                <p:ph type="title"/>
              </p:nvPr>
            </p:nvSpPr>
            <p:spPr>
              <a:xfrm>
                <a:off x="838200" y="365125"/>
                <a:ext cx="10515600" cy="676275"/>
              </a:xfrm>
              <a:blipFill>
                <a:blip r:embed="rId2"/>
                <a:stretch>
                  <a:fillRect l="-2087" t="-21622" b="-3693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94E4CA1-F268-46B6-9B8E-4AC051890776}"/>
                  </a:ext>
                </a:extLst>
              </p:cNvPr>
              <p:cNvSpPr>
                <a:spLocks noGrp="1"/>
              </p:cNvSpPr>
              <p:nvPr>
                <p:ph idx="1"/>
              </p:nvPr>
            </p:nvSpPr>
            <p:spPr>
              <a:xfrm>
                <a:off x="838200" y="1041400"/>
                <a:ext cx="10515600" cy="5135563"/>
              </a:xfrm>
            </p:spPr>
            <p:txBody>
              <a:bodyPr>
                <a:normAutofit fontScale="92500"/>
              </a:bodyPr>
              <a:lstStyle/>
              <a:p>
                <a:pPr algn="just"/>
                <a:r>
                  <a:rPr lang="en-US" dirty="0"/>
                  <a:t>Coefficient of determination is the portion of the total variation in the dependent variable that is explained by variation in the independent variable. </a:t>
                </a:r>
              </a:p>
              <a:p>
                <a:pPr algn="just"/>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r>
                      <a:rPr lang="en-US" b="0" i="1" smtClean="0">
                        <a:latin typeface="Cambria Math" panose="02040503050406030204" pitchFamily="18" charset="0"/>
                      </a:rPr>
                      <m:t>= </m:t>
                    </m:r>
                    <m:f>
                      <m:fPr>
                        <m:ctrlPr>
                          <a:rPr lang="en-US" b="0" i="1" smtClean="0">
                            <a:latin typeface="Cambria Math" panose="02040503050406030204" pitchFamily="18" charset="0"/>
                          </a:rPr>
                        </m:ctrlPr>
                      </m:fPr>
                      <m:num>
                        <m:nary>
                          <m:naryPr>
                            <m:chr m:val="∑"/>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e>
                              <m:sup>
                                <m:r>
                                  <a:rPr lang="en-US" b="0" i="1" smtClean="0">
                                    <a:latin typeface="Cambria Math" panose="02040503050406030204" pitchFamily="18" charset="0"/>
                                  </a:rPr>
                                  <m:t>2</m:t>
                                </m:r>
                              </m:sup>
                            </m:sSup>
                          </m:e>
                        </m:nary>
                      </m:num>
                      <m:den>
                        <m:nary>
                          <m:naryPr>
                            <m:chr m:val="∑"/>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m:t>
                                </m:r>
                              </m:e>
                              <m:sup>
                                <m:r>
                                  <a:rPr lang="en-US" i="1">
                                    <a:latin typeface="Cambria Math" panose="02040503050406030204" pitchFamily="18" charset="0"/>
                                  </a:rPr>
                                  <m:t>2</m:t>
                                </m:r>
                              </m:sup>
                            </m:sSup>
                          </m:e>
                        </m:nary>
                      </m:den>
                    </m:f>
                    <m:r>
                      <a:rPr lang="en-US" b="0" i="1" smtClean="0">
                        <a:latin typeface="Cambria Math" panose="02040503050406030204" pitchFamily="18" charset="0"/>
                      </a:rPr>
                      <m:t> </m:t>
                    </m:r>
                  </m:oMath>
                </a14:m>
                <a:endParaRPr lang="en-US" dirty="0"/>
              </a:p>
              <a:p>
                <a:endParaRPr lang="en-US" dirty="0"/>
              </a:p>
              <a:p>
                <a:r>
                  <a:rPr lang="en-US" dirty="0"/>
                  <a:t>In the estimated MLR,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 = 90.3%</a:t>
                </a:r>
              </a:p>
              <a:p>
                <a:pPr algn="just"/>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 range between 0 and 1, where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oMath>
                </a14:m>
                <a:r>
                  <a:rPr lang="en-US" dirty="0"/>
                  <a:t>= 0 means there are no linear relationship between the variables and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oMath>
                </a14:m>
                <a:r>
                  <a:rPr lang="en-US" dirty="0"/>
                  <a:t> =  1 shows a perfect linear relationship. </a:t>
                </a:r>
              </a:p>
              <a:p>
                <a:pPr algn="just"/>
                <a:r>
                  <a:rPr lang="en-US" dirty="0"/>
                  <a:t>In our case, we got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 score about 0.903 which means 90.3% of our dependent variable can be explained using our independent variables.</a:t>
                </a:r>
              </a:p>
            </p:txBody>
          </p:sp>
        </mc:Choice>
        <mc:Fallback>
          <p:sp>
            <p:nvSpPr>
              <p:cNvPr id="3" name="Content Placeholder 2">
                <a:extLst>
                  <a:ext uri="{FF2B5EF4-FFF2-40B4-BE49-F238E27FC236}">
                    <a16:creationId xmlns:a16="http://schemas.microsoft.com/office/drawing/2014/main" id="{894E4CA1-F268-46B6-9B8E-4AC051890776}"/>
                  </a:ext>
                </a:extLst>
              </p:cNvPr>
              <p:cNvSpPr>
                <a:spLocks noGrp="1" noRot="1" noChangeAspect="1" noMove="1" noResize="1" noEditPoints="1" noAdjustHandles="1" noChangeArrowheads="1" noChangeShapeType="1" noTextEdit="1"/>
              </p:cNvSpPr>
              <p:nvPr>
                <p:ph idx="1"/>
              </p:nvPr>
            </p:nvSpPr>
            <p:spPr>
              <a:xfrm>
                <a:off x="838200" y="1041400"/>
                <a:ext cx="10515600" cy="5135563"/>
              </a:xfrm>
              <a:blipFill>
                <a:blip r:embed="rId3"/>
                <a:stretch>
                  <a:fillRect l="-928" t="-1781" r="-9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0637165-442C-4692-A67E-371E45CAA9D1}"/>
              </a:ext>
            </a:extLst>
          </p:cNvPr>
          <p:cNvSpPr>
            <a:spLocks noGrp="1"/>
          </p:cNvSpPr>
          <p:nvPr>
            <p:ph type="sldNum" sz="quarter" idx="12"/>
          </p:nvPr>
        </p:nvSpPr>
        <p:spPr/>
        <p:txBody>
          <a:bodyPr/>
          <a:lstStyle/>
          <a:p>
            <a:fld id="{6B97D948-30E8-43F7-AE10-F6E2D9F2BBB1}" type="slidenum">
              <a:rPr lang="en-US" smtClean="0"/>
              <a:t>454</a:t>
            </a:fld>
            <a:endParaRPr lang="en-US"/>
          </a:p>
        </p:txBody>
      </p:sp>
    </p:spTree>
    <p:extLst>
      <p:ext uri="{BB962C8B-B14F-4D97-AF65-F5344CB8AC3E}">
        <p14:creationId xmlns:p14="http://schemas.microsoft.com/office/powerpoint/2010/main" val="1531885112"/>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234C-A3FE-4144-A70D-A9CC539E9A50}"/>
              </a:ext>
            </a:extLst>
          </p:cNvPr>
          <p:cNvSpPr>
            <a:spLocks noGrp="1"/>
          </p:cNvSpPr>
          <p:nvPr>
            <p:ph type="title"/>
          </p:nvPr>
        </p:nvSpPr>
        <p:spPr>
          <a:xfrm>
            <a:off x="838200" y="365125"/>
            <a:ext cx="10515600" cy="676275"/>
          </a:xfrm>
        </p:spPr>
        <p:txBody>
          <a:bodyPr>
            <a:normAutofit fontScale="90000"/>
          </a:bodyPr>
          <a:lstStyle/>
          <a:p>
            <a:r>
              <a:rPr lang="en-US" dirty="0"/>
              <a:t>F-test (ANOVA)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682C026-0AE5-4E6D-B951-50EE48C0E8DB}"/>
                  </a:ext>
                </a:extLst>
              </p:cNvPr>
              <p:cNvSpPr>
                <a:spLocks noGrp="1"/>
              </p:cNvSpPr>
              <p:nvPr>
                <p:ph idx="1"/>
              </p:nvPr>
            </p:nvSpPr>
            <p:spPr>
              <a:xfrm>
                <a:off x="838200" y="1041400"/>
                <a:ext cx="10515600" cy="5135563"/>
              </a:xfrm>
            </p:spPr>
            <p:txBody>
              <a:bodyPr/>
              <a:lstStyle/>
              <a:p>
                <a:pPr algn="just"/>
                <a:r>
                  <a:rPr lang="en-US" dirty="0"/>
                  <a:t>F-test answers the question: Has the model been </a:t>
                </a:r>
                <a:r>
                  <a:rPr lang="en-US" i="1" dirty="0"/>
                  <a:t>correctly specified</a:t>
                </a:r>
                <a:r>
                  <a:rPr lang="en-US" dirty="0"/>
                  <a:t>?</a:t>
                </a:r>
              </a:p>
              <a:p>
                <a:pPr algn="just"/>
                <a:r>
                  <a:rPr lang="en-US" dirty="0"/>
                  <a:t>It test the hypothesis:</a:t>
                </a:r>
              </a:p>
              <a:p>
                <a:pPr algn="just"/>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a14:m>
                <a:r>
                  <a:rPr lang="en-US" b="0" dirty="0"/>
                  <a:t> . . . . . . .  . . . . . . . . . . . . </a:t>
                </a:r>
                <a:r>
                  <a:rPr lang="en-US" dirty="0">
                    <a:solidFill>
                      <a:srgbClr val="FF0000"/>
                    </a:solidFill>
                  </a:rPr>
                  <a:t>1</a:t>
                </a:r>
              </a:p>
              <a:p>
                <a:pPr algn="just"/>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𝐴</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𝑎𝑡</m:t>
                        </m:r>
                        <m:r>
                          <a:rPr lang="en-US" b="0" i="1" smtClean="0">
                            <a:latin typeface="Cambria Math" panose="02040503050406030204" pitchFamily="18" charset="0"/>
                          </a:rPr>
                          <m:t> </m:t>
                        </m:r>
                        <m:r>
                          <a:rPr lang="en-US" b="0" i="1" smtClean="0">
                            <a:latin typeface="Cambria Math" panose="02040503050406030204" pitchFamily="18" charset="0"/>
                          </a:rPr>
                          <m:t>𝑙𝑒𝑎𝑠𝑡</m:t>
                        </m:r>
                        <m:r>
                          <a:rPr lang="en-US" b="0" i="1" smtClean="0">
                            <a:latin typeface="Cambria Math" panose="02040503050406030204" pitchFamily="18" charset="0"/>
                          </a:rPr>
                          <m:t> </m:t>
                        </m:r>
                        <m:r>
                          <a:rPr lang="en-US" b="0" i="1" smtClean="0">
                            <a:latin typeface="Cambria Math" panose="02040503050406030204" pitchFamily="18" charset="0"/>
                          </a:rPr>
                          <m:t>𝑜𝑛𝑒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m:t>
                    </m:r>
                  </m:oMath>
                </a14:m>
                <a:r>
                  <a:rPr lang="en-US" b="0" dirty="0"/>
                  <a:t> . . . . . . . . .</a:t>
                </a:r>
                <a:r>
                  <a:rPr lang="en-US" b="0" dirty="0">
                    <a:solidFill>
                      <a:srgbClr val="FF0000"/>
                    </a:solidFill>
                  </a:rPr>
                  <a:t>2</a:t>
                </a:r>
              </a:p>
              <a:p>
                <a:pPr algn="just"/>
                <a:r>
                  <a:rPr lang="en-US" dirty="0">
                    <a:solidFill>
                      <a:srgbClr val="FF0000"/>
                    </a:solidFill>
                  </a:rPr>
                  <a:t>In 1, we have </a:t>
                </a:r>
              </a:p>
              <a:p>
                <a:pPr algn="just"/>
                <a:r>
                  <a:rPr lang="en-US" dirty="0">
                    <a:solidFill>
                      <a:srgbClr val="FF0000"/>
                    </a:solidFill>
                  </a:rPr>
                  <a:t>Sales = 0! =&gt; Sales = NULL, Sales is a purely random thing!</a:t>
                </a:r>
              </a:p>
              <a:p>
                <a:pPr algn="just"/>
                <a:r>
                  <a:rPr lang="en-US" b="0" dirty="0">
                    <a:solidFill>
                      <a:srgbClr val="FF0000"/>
                    </a:solidFill>
                  </a:rPr>
                  <a:t>In 2, there is some influence of ads whether from Radio, TV or Newspaper on Sales.</a:t>
                </a:r>
              </a:p>
              <a:p>
                <a:pPr algn="just"/>
                <a:r>
                  <a:rPr lang="en-US" dirty="0">
                    <a:solidFill>
                      <a:srgbClr val="FF0000"/>
                    </a:solidFill>
                  </a:rPr>
                  <a:t>How do we know which option holds?</a:t>
                </a:r>
                <a:endParaRPr lang="en-US" b="0" dirty="0">
                  <a:solidFill>
                    <a:srgbClr val="FF0000"/>
                  </a:solidFill>
                </a:endParaRPr>
              </a:p>
              <a:p>
                <a:pPr algn="just"/>
                <a:endParaRPr lang="en-US" b="0" dirty="0"/>
              </a:p>
              <a:p>
                <a:pPr algn="just"/>
                <a:endParaRPr lang="en-US" dirty="0"/>
              </a:p>
            </p:txBody>
          </p:sp>
        </mc:Choice>
        <mc:Fallback>
          <p:sp>
            <p:nvSpPr>
              <p:cNvPr id="3" name="Content Placeholder 2">
                <a:extLst>
                  <a:ext uri="{FF2B5EF4-FFF2-40B4-BE49-F238E27FC236}">
                    <a16:creationId xmlns:a16="http://schemas.microsoft.com/office/drawing/2014/main" id="{4682C026-0AE5-4E6D-B951-50EE48C0E8DB}"/>
                  </a:ext>
                </a:extLst>
              </p:cNvPr>
              <p:cNvSpPr>
                <a:spLocks noGrp="1" noRot="1" noChangeAspect="1" noMove="1" noResize="1" noEditPoints="1" noAdjustHandles="1" noChangeArrowheads="1" noChangeShapeType="1" noTextEdit="1"/>
              </p:cNvSpPr>
              <p:nvPr>
                <p:ph idx="1"/>
              </p:nvPr>
            </p:nvSpPr>
            <p:spPr>
              <a:xfrm>
                <a:off x="838200" y="1041400"/>
                <a:ext cx="10515600" cy="5135563"/>
              </a:xfrm>
              <a:blipFill>
                <a:blip r:embed="rId2"/>
                <a:stretch>
                  <a:fillRect l="-1043" t="-2019"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97B6668-A16E-4DD8-B17C-B499FCE8A1E7}"/>
              </a:ext>
            </a:extLst>
          </p:cNvPr>
          <p:cNvSpPr>
            <a:spLocks noGrp="1"/>
          </p:cNvSpPr>
          <p:nvPr>
            <p:ph type="sldNum" sz="quarter" idx="12"/>
          </p:nvPr>
        </p:nvSpPr>
        <p:spPr/>
        <p:txBody>
          <a:bodyPr/>
          <a:lstStyle/>
          <a:p>
            <a:fld id="{6B97D948-30E8-43F7-AE10-F6E2D9F2BBB1}" type="slidenum">
              <a:rPr lang="en-US" smtClean="0"/>
              <a:t>455</a:t>
            </a:fld>
            <a:endParaRPr lang="en-US"/>
          </a:p>
        </p:txBody>
      </p:sp>
    </p:spTree>
    <p:extLst>
      <p:ext uri="{BB962C8B-B14F-4D97-AF65-F5344CB8AC3E}">
        <p14:creationId xmlns:p14="http://schemas.microsoft.com/office/powerpoint/2010/main" val="2160809030"/>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80068-A705-4FB6-A8E2-E107BA480B34}"/>
              </a:ext>
            </a:extLst>
          </p:cNvPr>
          <p:cNvSpPr>
            <a:spLocks noGrp="1"/>
          </p:cNvSpPr>
          <p:nvPr>
            <p:ph type="title"/>
          </p:nvPr>
        </p:nvSpPr>
        <p:spPr>
          <a:xfrm>
            <a:off x="838200" y="365125"/>
            <a:ext cx="10515600" cy="671195"/>
          </a:xfrm>
        </p:spPr>
        <p:txBody>
          <a:bodyPr>
            <a:normAutofit fontScale="90000"/>
          </a:bodyPr>
          <a:lstStyle/>
          <a:p>
            <a:r>
              <a:rPr lang="en-US" dirty="0"/>
              <a:t>The </a:t>
            </a:r>
            <a:r>
              <a:rPr lang="en-US" dirty="0">
                <a:solidFill>
                  <a:srgbClr val="00B050"/>
                </a:solidFill>
              </a:rPr>
              <a:t>p-value</a:t>
            </a:r>
          </a:p>
        </p:txBody>
      </p:sp>
      <p:sp>
        <p:nvSpPr>
          <p:cNvPr id="3" name="Content Placeholder 2">
            <a:extLst>
              <a:ext uri="{FF2B5EF4-FFF2-40B4-BE49-F238E27FC236}">
                <a16:creationId xmlns:a16="http://schemas.microsoft.com/office/drawing/2014/main" id="{F672F4E7-3348-4DA5-8397-804600C86C1C}"/>
              </a:ext>
            </a:extLst>
          </p:cNvPr>
          <p:cNvSpPr>
            <a:spLocks noGrp="1"/>
          </p:cNvSpPr>
          <p:nvPr>
            <p:ph idx="1"/>
          </p:nvPr>
        </p:nvSpPr>
        <p:spPr>
          <a:xfrm>
            <a:off x="838200" y="1036320"/>
            <a:ext cx="10515600" cy="5140643"/>
          </a:xfrm>
        </p:spPr>
        <p:txBody>
          <a:bodyPr/>
          <a:lstStyle/>
          <a:p>
            <a:r>
              <a:rPr lang="en-US" dirty="0"/>
              <a:t>We may have to listen carefully. . .</a:t>
            </a:r>
          </a:p>
          <a:p>
            <a:endParaRPr lang="en-US" dirty="0"/>
          </a:p>
          <a:p>
            <a:r>
              <a:rPr lang="en-US" dirty="0"/>
              <a:t>0       α                                                                          1</a:t>
            </a:r>
          </a:p>
          <a:p>
            <a:r>
              <a:rPr lang="en-US" dirty="0"/>
              <a:t>Probability span [0, 1]</a:t>
            </a:r>
          </a:p>
          <a:p>
            <a:r>
              <a:rPr lang="en-US" dirty="0"/>
              <a:t>An event with a probability of 0 =&gt; </a:t>
            </a:r>
            <a:r>
              <a:rPr lang="en-US" dirty="0">
                <a:solidFill>
                  <a:srgbClr val="FF0000"/>
                </a:solidFill>
              </a:rPr>
              <a:t>Impossible</a:t>
            </a:r>
          </a:p>
          <a:p>
            <a:r>
              <a:rPr lang="en-US" dirty="0"/>
              <a:t>An event with a probability of 1 =&gt; </a:t>
            </a:r>
            <a:r>
              <a:rPr lang="en-US" b="1" dirty="0">
                <a:solidFill>
                  <a:srgbClr val="00B050"/>
                </a:solidFill>
              </a:rPr>
              <a:t>Certain</a:t>
            </a:r>
          </a:p>
          <a:p>
            <a:r>
              <a:rPr lang="en-US" dirty="0"/>
              <a:t>Between 0 and 1 are varying degrees of likelihood of occurring.</a:t>
            </a:r>
          </a:p>
          <a:p>
            <a:r>
              <a:rPr lang="en-US" dirty="0"/>
              <a:t>Sounds confusing, isn’t it?</a:t>
            </a:r>
          </a:p>
          <a:p>
            <a:r>
              <a:rPr lang="en-US" dirty="0"/>
              <a:t>Let’s cut a region α to denote the </a:t>
            </a:r>
            <a:r>
              <a:rPr lang="en-US" dirty="0">
                <a:solidFill>
                  <a:srgbClr val="FF0000"/>
                </a:solidFill>
              </a:rPr>
              <a:t>level of significance</a:t>
            </a:r>
            <a:r>
              <a:rPr lang="en-US" dirty="0"/>
              <a:t>.</a:t>
            </a:r>
          </a:p>
          <a:p>
            <a:r>
              <a:rPr lang="en-US" dirty="0"/>
              <a:t>The region [0, α) is impossible; [α, 1] is certain.</a:t>
            </a:r>
          </a:p>
          <a:p>
            <a:endParaRPr lang="en-US" dirty="0"/>
          </a:p>
        </p:txBody>
      </p:sp>
      <p:sp>
        <p:nvSpPr>
          <p:cNvPr id="4" name="Slide Number Placeholder 3">
            <a:extLst>
              <a:ext uri="{FF2B5EF4-FFF2-40B4-BE49-F238E27FC236}">
                <a16:creationId xmlns:a16="http://schemas.microsoft.com/office/drawing/2014/main" id="{8D4AFABF-4393-4543-B2AF-10FEC29BAF15}"/>
              </a:ext>
            </a:extLst>
          </p:cNvPr>
          <p:cNvSpPr>
            <a:spLocks noGrp="1"/>
          </p:cNvSpPr>
          <p:nvPr>
            <p:ph type="sldNum" sz="quarter" idx="12"/>
          </p:nvPr>
        </p:nvSpPr>
        <p:spPr/>
        <p:txBody>
          <a:bodyPr/>
          <a:lstStyle/>
          <a:p>
            <a:fld id="{6B97D948-30E8-43F7-AE10-F6E2D9F2BBB1}" type="slidenum">
              <a:rPr lang="en-US" smtClean="0"/>
              <a:t>456</a:t>
            </a:fld>
            <a:endParaRPr lang="en-US"/>
          </a:p>
        </p:txBody>
      </p:sp>
      <p:cxnSp>
        <p:nvCxnSpPr>
          <p:cNvPr id="6" name="Straight Connector 5">
            <a:extLst>
              <a:ext uri="{FF2B5EF4-FFF2-40B4-BE49-F238E27FC236}">
                <a16:creationId xmlns:a16="http://schemas.microsoft.com/office/drawing/2014/main" id="{EC0D6A88-DC0A-49B0-884C-83450057B022}"/>
              </a:ext>
            </a:extLst>
          </p:cNvPr>
          <p:cNvCxnSpPr>
            <a:cxnSpLocks/>
          </p:cNvCxnSpPr>
          <p:nvPr/>
        </p:nvCxnSpPr>
        <p:spPr>
          <a:xfrm flipV="1">
            <a:off x="1219200" y="1889760"/>
            <a:ext cx="6918960" cy="45720"/>
          </a:xfrm>
          <a:prstGeom prst="line">
            <a:avLst/>
          </a:prstGeom>
          <a:ln w="28575"/>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6138ED9D-34E9-4929-83CF-BCAEE1C2ADC6}"/>
              </a:ext>
            </a:extLst>
          </p:cNvPr>
          <p:cNvCxnSpPr/>
          <p:nvPr/>
        </p:nvCxnSpPr>
        <p:spPr>
          <a:xfrm>
            <a:off x="1219200" y="1707515"/>
            <a:ext cx="0" cy="410845"/>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C372ACAD-30F5-4E4D-B95C-C3C3D287D583}"/>
              </a:ext>
            </a:extLst>
          </p:cNvPr>
          <p:cNvCxnSpPr/>
          <p:nvPr/>
        </p:nvCxnSpPr>
        <p:spPr>
          <a:xfrm>
            <a:off x="1935480" y="1722755"/>
            <a:ext cx="0" cy="410845"/>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11" name="Straight Connector 10">
            <a:extLst>
              <a:ext uri="{FF2B5EF4-FFF2-40B4-BE49-F238E27FC236}">
                <a16:creationId xmlns:a16="http://schemas.microsoft.com/office/drawing/2014/main" id="{2E1BF4C2-CD7C-42A0-BF90-570FB94602D4}"/>
              </a:ext>
            </a:extLst>
          </p:cNvPr>
          <p:cNvCxnSpPr/>
          <p:nvPr/>
        </p:nvCxnSpPr>
        <p:spPr>
          <a:xfrm>
            <a:off x="8122920" y="1661795"/>
            <a:ext cx="0" cy="410845"/>
          </a:xfrm>
          <a:prstGeom prst="line">
            <a:avLst/>
          </a:prstGeom>
          <a:ln w="3810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102654638"/>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BFAB1D3-290F-4958-83D9-EE3FE4B68977}"/>
                  </a:ext>
                </a:extLst>
              </p:cNvPr>
              <p:cNvSpPr>
                <a:spLocks noGrp="1"/>
              </p:cNvSpPr>
              <p:nvPr>
                <p:ph idx="1"/>
              </p:nvPr>
            </p:nvSpPr>
            <p:spPr>
              <a:xfrm>
                <a:off x="838200" y="685800"/>
                <a:ext cx="10515600" cy="5491163"/>
              </a:xfrm>
            </p:spPr>
            <p:txBody>
              <a:bodyPr/>
              <a:lstStyle/>
              <a:p>
                <a:r>
                  <a:rPr lang="en-US" dirty="0"/>
                  <a:t>Suppose α = 0.05 (</a:t>
                </a:r>
                <a:r>
                  <a:rPr lang="en-US" dirty="0" err="1"/>
                  <a:t>ie</a:t>
                </a:r>
                <a:r>
                  <a:rPr lang="en-US" dirty="0"/>
                  <a:t>. 5%)</a:t>
                </a:r>
              </a:p>
              <a:p>
                <a:endParaRPr lang="en-US" dirty="0"/>
              </a:p>
              <a:p>
                <a:endParaRPr lang="en-US" dirty="0"/>
              </a:p>
              <a:p>
                <a:r>
                  <a:rPr lang="en-US" dirty="0"/>
                  <a:t>0      α=0.05                                                                 1</a:t>
                </a:r>
              </a:p>
              <a:p>
                <a:r>
                  <a:rPr lang="en-US" dirty="0"/>
                  <a:t>If we have a probability of 0.001, we say it is impossible.</a:t>
                </a:r>
              </a:p>
              <a:p>
                <a:r>
                  <a:rPr lang="en-US" dirty="0"/>
                  <a:t>A probability of 0.6945 will be . . . .</a:t>
                </a:r>
              </a:p>
              <a:p>
                <a:r>
                  <a:rPr lang="en-US" dirty="0"/>
                  <a:t>The probability we are referring to is the </a:t>
                </a:r>
                <a:r>
                  <a:rPr lang="en-US" i="1" dirty="0">
                    <a:solidFill>
                      <a:srgbClr val="00B050"/>
                    </a:solidFill>
                  </a:rPr>
                  <a:t>p-value</a:t>
                </a:r>
                <a:r>
                  <a:rPr lang="en-US" dirty="0"/>
                  <a:t>.</a:t>
                </a:r>
              </a:p>
              <a:p>
                <a:pPr algn="just"/>
                <a:r>
                  <a:rPr lang="en-US" dirty="0"/>
                  <a:t>In hypothesis testing, the </a:t>
                </a:r>
                <a:r>
                  <a:rPr lang="en-US" i="1" dirty="0">
                    <a:solidFill>
                      <a:srgbClr val="00B050"/>
                    </a:solidFill>
                  </a:rPr>
                  <a:t>p-value is always tied to the NULL hypothesis</a:t>
                </a:r>
                <a:r>
                  <a:rPr lang="en-US" dirty="0"/>
                  <a:t>.</a:t>
                </a:r>
              </a:p>
              <a:p>
                <a:pPr algn="just"/>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a14:m>
                <a:r>
                  <a:rPr lang="en-US" b="0" dirty="0"/>
                  <a:t> </a:t>
                </a:r>
                <a:r>
                  <a:rPr lang="en-US" dirty="0"/>
                  <a:t>&lt;= </a:t>
                </a:r>
                <a:r>
                  <a:rPr lang="en-US" dirty="0">
                    <a:solidFill>
                      <a:srgbClr val="FF0000"/>
                    </a:solidFill>
                  </a:rPr>
                  <a:t>p-value </a:t>
                </a:r>
              </a:p>
              <a:p>
                <a:pPr algn="just"/>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𝐴</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𝑎𝑡</m:t>
                        </m:r>
                        <m:r>
                          <a:rPr lang="en-US" b="0" i="1" smtClean="0">
                            <a:latin typeface="Cambria Math" panose="02040503050406030204" pitchFamily="18" charset="0"/>
                          </a:rPr>
                          <m:t> </m:t>
                        </m:r>
                        <m:r>
                          <a:rPr lang="en-US" b="0" i="1" smtClean="0">
                            <a:latin typeface="Cambria Math" panose="02040503050406030204" pitchFamily="18" charset="0"/>
                          </a:rPr>
                          <m:t>𝑙𝑒𝑎𝑠𝑡</m:t>
                        </m:r>
                        <m:r>
                          <a:rPr lang="en-US" b="0" i="1" smtClean="0">
                            <a:latin typeface="Cambria Math" panose="02040503050406030204" pitchFamily="18" charset="0"/>
                          </a:rPr>
                          <m:t> </m:t>
                        </m:r>
                        <m:r>
                          <a:rPr lang="en-US" b="0" i="1" smtClean="0">
                            <a:latin typeface="Cambria Math" panose="02040503050406030204" pitchFamily="18" charset="0"/>
                          </a:rPr>
                          <m:t>𝑜𝑛𝑒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m:t>
                    </m:r>
                  </m:oMath>
                </a14:m>
                <a:r>
                  <a:rPr lang="en-US" b="0" dirty="0"/>
                  <a:t> </a:t>
                </a:r>
                <a:endParaRPr lang="en-US" b="0" dirty="0">
                  <a:solidFill>
                    <a:srgbClr val="FF0000"/>
                  </a:solidFill>
                </a:endParaRPr>
              </a:p>
              <a:p>
                <a:pPr algn="just"/>
                <a:endParaRPr lang="en-US" dirty="0"/>
              </a:p>
            </p:txBody>
          </p:sp>
        </mc:Choice>
        <mc:Fallback>
          <p:sp>
            <p:nvSpPr>
              <p:cNvPr id="3" name="Content Placeholder 2">
                <a:extLst>
                  <a:ext uri="{FF2B5EF4-FFF2-40B4-BE49-F238E27FC236}">
                    <a16:creationId xmlns:a16="http://schemas.microsoft.com/office/drawing/2014/main" id="{BBFAB1D3-290F-4958-83D9-EE3FE4B68977}"/>
                  </a:ext>
                </a:extLst>
              </p:cNvPr>
              <p:cNvSpPr>
                <a:spLocks noGrp="1" noRot="1" noChangeAspect="1" noMove="1" noResize="1" noEditPoints="1" noAdjustHandles="1" noChangeArrowheads="1" noChangeShapeType="1" noTextEdit="1"/>
              </p:cNvSpPr>
              <p:nvPr>
                <p:ph idx="1"/>
              </p:nvPr>
            </p:nvSpPr>
            <p:spPr>
              <a:xfrm>
                <a:off x="838200" y="685800"/>
                <a:ext cx="10515600" cy="5491163"/>
              </a:xfrm>
              <a:blipFill>
                <a:blip r:embed="rId2"/>
                <a:stretch>
                  <a:fillRect l="-1043" t="-1889"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A6A9D02-3FFF-43A7-B437-C0AB5937CF95}"/>
              </a:ext>
            </a:extLst>
          </p:cNvPr>
          <p:cNvSpPr>
            <a:spLocks noGrp="1"/>
          </p:cNvSpPr>
          <p:nvPr>
            <p:ph type="sldNum" sz="quarter" idx="12"/>
          </p:nvPr>
        </p:nvSpPr>
        <p:spPr/>
        <p:txBody>
          <a:bodyPr/>
          <a:lstStyle/>
          <a:p>
            <a:fld id="{6B97D948-30E8-43F7-AE10-F6E2D9F2BBB1}" type="slidenum">
              <a:rPr lang="en-US" smtClean="0"/>
              <a:t>457</a:t>
            </a:fld>
            <a:endParaRPr lang="en-US"/>
          </a:p>
        </p:txBody>
      </p:sp>
      <p:cxnSp>
        <p:nvCxnSpPr>
          <p:cNvPr id="5" name="Straight Connector 4">
            <a:extLst>
              <a:ext uri="{FF2B5EF4-FFF2-40B4-BE49-F238E27FC236}">
                <a16:creationId xmlns:a16="http://schemas.microsoft.com/office/drawing/2014/main" id="{507A78B5-8C52-49AD-BC9A-18245C996F36}"/>
              </a:ext>
            </a:extLst>
          </p:cNvPr>
          <p:cNvCxnSpPr>
            <a:cxnSpLocks/>
          </p:cNvCxnSpPr>
          <p:nvPr/>
        </p:nvCxnSpPr>
        <p:spPr>
          <a:xfrm flipV="1">
            <a:off x="1219200" y="1889760"/>
            <a:ext cx="6918960" cy="45720"/>
          </a:xfrm>
          <a:prstGeom prst="line">
            <a:avLst/>
          </a:prstGeom>
          <a:ln w="28575"/>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402FC96F-2B93-4352-BCD0-BD47C3BD2BC8}"/>
              </a:ext>
            </a:extLst>
          </p:cNvPr>
          <p:cNvCxnSpPr/>
          <p:nvPr/>
        </p:nvCxnSpPr>
        <p:spPr>
          <a:xfrm>
            <a:off x="1219200" y="1707515"/>
            <a:ext cx="0" cy="410845"/>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90BE7CDD-295C-4792-81BC-C0F2E42FDBF2}"/>
              </a:ext>
            </a:extLst>
          </p:cNvPr>
          <p:cNvCxnSpPr/>
          <p:nvPr/>
        </p:nvCxnSpPr>
        <p:spPr>
          <a:xfrm>
            <a:off x="1935480" y="1722755"/>
            <a:ext cx="0" cy="410845"/>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C9CA76ED-689D-405F-8FFE-4A79E12649E6}"/>
              </a:ext>
            </a:extLst>
          </p:cNvPr>
          <p:cNvCxnSpPr/>
          <p:nvPr/>
        </p:nvCxnSpPr>
        <p:spPr>
          <a:xfrm>
            <a:off x="8122920" y="1661795"/>
            <a:ext cx="0" cy="410845"/>
          </a:xfrm>
          <a:prstGeom prst="line">
            <a:avLst/>
          </a:prstGeom>
          <a:ln w="3810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064934772"/>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F248823-57C9-42F6-9205-A5A1AA51668D}"/>
                  </a:ext>
                </a:extLst>
              </p:cNvPr>
              <p:cNvSpPr>
                <a:spLocks noGrp="1"/>
              </p:cNvSpPr>
              <p:nvPr>
                <p:ph idx="1"/>
              </p:nvPr>
            </p:nvSpPr>
            <p:spPr>
              <a:xfrm>
                <a:off x="838200" y="670560"/>
                <a:ext cx="10515600" cy="5506403"/>
              </a:xfrm>
            </p:spPr>
            <p:txBody>
              <a:bodyPr/>
              <a:lstStyle/>
              <a:p>
                <a:pPr algn="just"/>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a14:m>
                <a:r>
                  <a:rPr lang="en-US" b="0" dirty="0"/>
                  <a:t> </a:t>
                </a:r>
                <a:r>
                  <a:rPr lang="en-US" dirty="0"/>
                  <a:t>&lt;= </a:t>
                </a:r>
                <a:r>
                  <a:rPr lang="en-US" dirty="0">
                    <a:solidFill>
                      <a:srgbClr val="FF0000"/>
                    </a:solidFill>
                  </a:rPr>
                  <a:t>p-value</a:t>
                </a:r>
              </a:p>
              <a:p>
                <a:pPr algn="just"/>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𝐴</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𝑎𝑡</m:t>
                        </m:r>
                        <m:r>
                          <a:rPr lang="en-US" b="0" i="1" smtClean="0">
                            <a:latin typeface="Cambria Math" panose="02040503050406030204" pitchFamily="18" charset="0"/>
                          </a:rPr>
                          <m:t> </m:t>
                        </m:r>
                        <m:r>
                          <a:rPr lang="en-US" b="0" i="1" smtClean="0">
                            <a:latin typeface="Cambria Math" panose="02040503050406030204" pitchFamily="18" charset="0"/>
                          </a:rPr>
                          <m:t>𝑙𝑒𝑎𝑠𝑡</m:t>
                        </m:r>
                        <m:r>
                          <a:rPr lang="en-US" b="0" i="1" smtClean="0">
                            <a:latin typeface="Cambria Math" panose="02040503050406030204" pitchFamily="18" charset="0"/>
                          </a:rPr>
                          <m:t> </m:t>
                        </m:r>
                        <m:r>
                          <a:rPr lang="en-US" b="0" i="1" smtClean="0">
                            <a:latin typeface="Cambria Math" panose="02040503050406030204" pitchFamily="18" charset="0"/>
                          </a:rPr>
                          <m:t>𝑜𝑛𝑒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m:t>
                    </m:r>
                  </m:oMath>
                </a14:m>
                <a:endParaRPr lang="en-US" b="0" dirty="0"/>
              </a:p>
              <a:p>
                <a:pPr algn="just"/>
                <a:r>
                  <a:rPr lang="en-US" dirty="0"/>
                  <a:t>If you have a </a:t>
                </a:r>
                <a:r>
                  <a:rPr lang="en-US" dirty="0">
                    <a:solidFill>
                      <a:srgbClr val="FF0000"/>
                    </a:solidFill>
                  </a:rPr>
                  <a:t>p-value = 0.0001</a:t>
                </a:r>
                <a:r>
                  <a:rPr lang="en-US" dirty="0"/>
                  <a:t>, that would be in the </a:t>
                </a:r>
                <a:r>
                  <a:rPr lang="en-US" dirty="0">
                    <a:solidFill>
                      <a:srgbClr val="FF0000"/>
                    </a:solidFill>
                  </a:rPr>
                  <a:t>Impossible</a:t>
                </a:r>
                <a:r>
                  <a:rPr lang="en-US" dirty="0"/>
                  <a:t> region.</a:t>
                </a:r>
                <a:r>
                  <a:rPr lang="en-US" b="0" dirty="0"/>
                  <a:t> </a:t>
                </a:r>
              </a:p>
              <a:p>
                <a:pPr algn="just"/>
                <a:r>
                  <a:rPr lang="en-US" dirty="0"/>
                  <a:t>Who is impossible? The term p-value is tied to! So, we </a:t>
                </a:r>
                <a:r>
                  <a:rPr lang="en-US" dirty="0">
                    <a:solidFill>
                      <a:srgbClr val="FF0000"/>
                    </a:solidFill>
                  </a:rPr>
                  <a:t>reject</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dirty="0"/>
                  <a:t>.</a:t>
                </a:r>
              </a:p>
              <a:p>
                <a:pPr algn="just"/>
                <a:r>
                  <a:rPr lang="en-US" dirty="0"/>
                  <a:t>If you have a </a:t>
                </a:r>
                <a:r>
                  <a:rPr lang="en-US" dirty="0">
                    <a:solidFill>
                      <a:srgbClr val="FF0000"/>
                    </a:solidFill>
                  </a:rPr>
                  <a:t>p-value = 0.6947</a:t>
                </a:r>
                <a:r>
                  <a:rPr lang="en-US" dirty="0"/>
                  <a:t>, that would be in the </a:t>
                </a:r>
                <a:r>
                  <a:rPr lang="en-US" dirty="0">
                    <a:solidFill>
                      <a:srgbClr val="FF0000"/>
                    </a:solidFill>
                  </a:rPr>
                  <a:t>Certain</a:t>
                </a:r>
                <a:r>
                  <a:rPr lang="en-US" dirty="0"/>
                  <a:t> region.</a:t>
                </a:r>
                <a:r>
                  <a:rPr lang="en-US" b="0" dirty="0"/>
                  <a:t> </a:t>
                </a:r>
              </a:p>
              <a:p>
                <a:pPr algn="just"/>
                <a:r>
                  <a:rPr lang="en-US" dirty="0"/>
                  <a:t>Who is Certain? The term p-value is tied to! So, we </a:t>
                </a:r>
                <a:r>
                  <a:rPr lang="en-US" dirty="0">
                    <a:solidFill>
                      <a:srgbClr val="FF0000"/>
                    </a:solidFill>
                  </a:rPr>
                  <a:t>cannot</a:t>
                </a:r>
                <a:r>
                  <a:rPr lang="en-US" dirty="0"/>
                  <a:t> </a:t>
                </a:r>
                <a:r>
                  <a:rPr lang="en-US" dirty="0">
                    <a:solidFill>
                      <a:srgbClr val="FF0000"/>
                    </a:solidFill>
                  </a:rPr>
                  <a:t>reject</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dirty="0"/>
                  <a:t>.</a:t>
                </a:r>
              </a:p>
              <a:p>
                <a:pPr algn="just"/>
                <a:endParaRPr lang="en-US" b="0" dirty="0"/>
              </a:p>
              <a:p>
                <a:pPr algn="just"/>
                <a:endParaRPr lang="en-US" b="0" dirty="0"/>
              </a:p>
              <a:p>
                <a:endParaRPr lang="en-US" dirty="0"/>
              </a:p>
            </p:txBody>
          </p:sp>
        </mc:Choice>
        <mc:Fallback>
          <p:sp>
            <p:nvSpPr>
              <p:cNvPr id="3" name="Content Placeholder 2">
                <a:extLst>
                  <a:ext uri="{FF2B5EF4-FFF2-40B4-BE49-F238E27FC236}">
                    <a16:creationId xmlns:a16="http://schemas.microsoft.com/office/drawing/2014/main" id="{9F248823-57C9-42F6-9205-A5A1AA51668D}"/>
                  </a:ext>
                </a:extLst>
              </p:cNvPr>
              <p:cNvSpPr>
                <a:spLocks noGrp="1" noRot="1" noChangeAspect="1" noMove="1" noResize="1" noEditPoints="1" noAdjustHandles="1" noChangeArrowheads="1" noChangeShapeType="1" noTextEdit="1"/>
              </p:cNvSpPr>
              <p:nvPr>
                <p:ph idx="1"/>
              </p:nvPr>
            </p:nvSpPr>
            <p:spPr>
              <a:xfrm>
                <a:off x="838200" y="670560"/>
                <a:ext cx="10515600" cy="5506403"/>
              </a:xfrm>
              <a:blipFill>
                <a:blip r:embed="rId2"/>
                <a:stretch>
                  <a:fillRect l="-1043" t="-1772"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EF0D43A-1CBB-4970-8919-ABD0AA265CCB}"/>
              </a:ext>
            </a:extLst>
          </p:cNvPr>
          <p:cNvSpPr>
            <a:spLocks noGrp="1"/>
          </p:cNvSpPr>
          <p:nvPr>
            <p:ph type="sldNum" sz="quarter" idx="12"/>
          </p:nvPr>
        </p:nvSpPr>
        <p:spPr/>
        <p:txBody>
          <a:bodyPr/>
          <a:lstStyle/>
          <a:p>
            <a:fld id="{6B97D948-30E8-43F7-AE10-F6E2D9F2BBB1}" type="slidenum">
              <a:rPr lang="en-US" smtClean="0"/>
              <a:t>458</a:t>
            </a:fld>
            <a:endParaRPr lang="en-US"/>
          </a:p>
        </p:txBody>
      </p:sp>
    </p:spTree>
    <p:extLst>
      <p:ext uri="{BB962C8B-B14F-4D97-AF65-F5344CB8AC3E}">
        <p14:creationId xmlns:p14="http://schemas.microsoft.com/office/powerpoint/2010/main" val="1531815764"/>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2A37-A84D-4794-8DD7-1F40C212F774}"/>
              </a:ext>
            </a:extLst>
          </p:cNvPr>
          <p:cNvSpPr>
            <a:spLocks noGrp="1"/>
          </p:cNvSpPr>
          <p:nvPr>
            <p:ph type="title"/>
          </p:nvPr>
        </p:nvSpPr>
        <p:spPr>
          <a:xfrm>
            <a:off x="838200" y="365125"/>
            <a:ext cx="10515600" cy="747395"/>
          </a:xfrm>
        </p:spPr>
        <p:txBody>
          <a:bodyPr/>
          <a:lstStyle/>
          <a:p>
            <a:r>
              <a:rPr lang="en-US" dirty="0"/>
              <a:t>Back to the results. . . </a:t>
            </a:r>
          </a:p>
        </p:txBody>
      </p:sp>
      <p:sp>
        <p:nvSpPr>
          <p:cNvPr id="3" name="Content Placeholder 2">
            <a:extLst>
              <a:ext uri="{FF2B5EF4-FFF2-40B4-BE49-F238E27FC236}">
                <a16:creationId xmlns:a16="http://schemas.microsoft.com/office/drawing/2014/main" id="{FAD54658-1082-4AC6-9E47-3C8FAE205BD9}"/>
              </a:ext>
            </a:extLst>
          </p:cNvPr>
          <p:cNvSpPr>
            <a:spLocks noGrp="1"/>
          </p:cNvSpPr>
          <p:nvPr>
            <p:ph idx="1"/>
          </p:nvPr>
        </p:nvSpPr>
        <p:spPr>
          <a:xfrm>
            <a:off x="838200" y="1112520"/>
            <a:ext cx="10515600" cy="5064443"/>
          </a:xfrm>
        </p:spPr>
        <p:txBody>
          <a:bodyPr>
            <a:normAutofit lnSpcReduction="10000"/>
          </a:bodyPr>
          <a:lstStyle/>
          <a:p>
            <a:r>
              <a:rPr lang="en-US" dirty="0"/>
              <a:t> OLS Regression Results</a:t>
            </a:r>
          </a:p>
          <a:p>
            <a:pPr marL="0" indent="0">
              <a:buNone/>
            </a:pPr>
            <a:r>
              <a:rPr lang="en-US" dirty="0"/>
              <a:t>-------------------------------------------------------------------------------------------</a:t>
            </a:r>
          </a:p>
          <a:p>
            <a:r>
              <a:rPr lang="en-US" dirty="0"/>
              <a:t>Dep. Variable:                  Sales   	R-squared:                       0.903</a:t>
            </a:r>
          </a:p>
          <a:p>
            <a:r>
              <a:rPr lang="en-US" dirty="0"/>
              <a:t>Model:                            OLS   		Adj. R-squared:               0.901</a:t>
            </a:r>
          </a:p>
          <a:p>
            <a:r>
              <a:rPr lang="en-US" dirty="0"/>
              <a:t>Method:                 Least Squares   	</a:t>
            </a:r>
            <a:r>
              <a:rPr lang="en-US" dirty="0">
                <a:solidFill>
                  <a:srgbClr val="FF0000"/>
                </a:solidFill>
              </a:rPr>
              <a:t>F-statistic:                        605.4</a:t>
            </a:r>
          </a:p>
          <a:p>
            <a:r>
              <a:rPr lang="en-US" dirty="0"/>
              <a:t>Date:                Sat, 25 Oct 2025   	</a:t>
            </a:r>
            <a:r>
              <a:rPr lang="en-US" dirty="0">
                <a:solidFill>
                  <a:srgbClr val="FF0000"/>
                </a:solidFill>
              </a:rPr>
              <a:t>Prob (F-statistic):           8.13e-99</a:t>
            </a:r>
          </a:p>
          <a:p>
            <a:r>
              <a:rPr lang="en-US" dirty="0"/>
              <a:t>Time:                        05:29:12   		Log-Likelihood:              -383.34</a:t>
            </a:r>
          </a:p>
          <a:p>
            <a:r>
              <a:rPr lang="en-US" dirty="0"/>
              <a:t>No. Observations:                 200   	AIC:                                  774.7</a:t>
            </a:r>
          </a:p>
          <a:p>
            <a:r>
              <a:rPr lang="en-US" dirty="0"/>
              <a:t>Df Residuals:                     196   		BIC:                                  787.9</a:t>
            </a:r>
          </a:p>
          <a:p>
            <a:r>
              <a:rPr lang="en-US" dirty="0"/>
              <a:t>Df Model:                           3</a:t>
            </a:r>
          </a:p>
        </p:txBody>
      </p:sp>
      <p:sp>
        <p:nvSpPr>
          <p:cNvPr id="4" name="Slide Number Placeholder 3">
            <a:extLst>
              <a:ext uri="{FF2B5EF4-FFF2-40B4-BE49-F238E27FC236}">
                <a16:creationId xmlns:a16="http://schemas.microsoft.com/office/drawing/2014/main" id="{C29108F8-728F-4B05-81E5-15F3ED284AA8}"/>
              </a:ext>
            </a:extLst>
          </p:cNvPr>
          <p:cNvSpPr>
            <a:spLocks noGrp="1"/>
          </p:cNvSpPr>
          <p:nvPr>
            <p:ph type="sldNum" sz="quarter" idx="12"/>
          </p:nvPr>
        </p:nvSpPr>
        <p:spPr/>
        <p:txBody>
          <a:bodyPr/>
          <a:lstStyle/>
          <a:p>
            <a:fld id="{6B97D948-30E8-43F7-AE10-F6E2D9F2BBB1}" type="slidenum">
              <a:rPr lang="en-US" smtClean="0"/>
              <a:t>459</a:t>
            </a:fld>
            <a:endParaRPr lang="en-US"/>
          </a:p>
        </p:txBody>
      </p:sp>
    </p:spTree>
    <p:extLst>
      <p:ext uri="{BB962C8B-B14F-4D97-AF65-F5344CB8AC3E}">
        <p14:creationId xmlns:p14="http://schemas.microsoft.com/office/powerpoint/2010/main" val="1530187704"/>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DCDD6-3CEE-4D67-A903-C4110FF041AC}"/>
              </a:ext>
            </a:extLst>
          </p:cNvPr>
          <p:cNvSpPr>
            <a:spLocks noGrp="1"/>
          </p:cNvSpPr>
          <p:nvPr>
            <p:ph type="title"/>
          </p:nvPr>
        </p:nvSpPr>
        <p:spPr>
          <a:xfrm>
            <a:off x="838200" y="365125"/>
            <a:ext cx="10515600" cy="686435"/>
          </a:xfrm>
        </p:spPr>
        <p:txBody>
          <a:bodyPr>
            <a:normAutofit fontScale="90000"/>
          </a:bodyPr>
          <a:lstStyle/>
          <a:p>
            <a:r>
              <a:rPr lang="en-US" dirty="0"/>
              <a:t>T-test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EE9F287-0182-41C7-B327-DB58FA334DDC}"/>
                  </a:ext>
                </a:extLst>
              </p:cNvPr>
              <p:cNvSpPr>
                <a:spLocks noGrp="1"/>
              </p:cNvSpPr>
              <p:nvPr>
                <p:ph idx="1"/>
              </p:nvPr>
            </p:nvSpPr>
            <p:spPr>
              <a:xfrm>
                <a:off x="838200" y="1051560"/>
                <a:ext cx="10515600" cy="5125403"/>
              </a:xfrm>
            </p:spPr>
            <p:txBody>
              <a:bodyPr/>
              <a:lstStyle/>
              <a:p>
                <a:pPr algn="just"/>
                <a:r>
                  <a:rPr lang="en-US" dirty="0"/>
                  <a:t>The t-statistic is the </a:t>
                </a:r>
                <a:r>
                  <a:rPr lang="en-US" dirty="0">
                    <a:solidFill>
                      <a:srgbClr val="FF0000"/>
                    </a:solidFill>
                  </a:rPr>
                  <a:t>coefficient divided by its standard error</a:t>
                </a:r>
                <a:r>
                  <a:rPr lang="en-US" dirty="0"/>
                  <a:t>. </a:t>
                </a:r>
              </a:p>
              <a:p>
                <a:pPr algn="just"/>
                <a:endParaRPr lang="en-US" dirty="0"/>
              </a:p>
              <a:p>
                <a:pPr algn="just"/>
                <a:r>
                  <a:rPr lang="en-US" dirty="0"/>
                  <a:t>The standard error is an estimate of the standard deviation of the coefficient, the amount it varies across cases. </a:t>
                </a:r>
              </a:p>
              <a:p>
                <a:pPr algn="just"/>
                <a:r>
                  <a:rPr lang="en-US" dirty="0"/>
                  <a:t>It can be thought of as a measure of the precision with which the regression coefficient is measured.</a:t>
                </a:r>
              </a:p>
              <a:p>
                <a:pPr algn="just"/>
                <a:r>
                  <a:rPr lang="en-US" dirty="0"/>
                  <a:t>Same as the F-test, the test hypothesis is: </a:t>
                </a:r>
              </a:p>
              <a:p>
                <a:pPr algn="just"/>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𝑅𝑎𝑑𝑖𝑜</m:t>
                        </m:r>
                      </m:sub>
                    </m:sSub>
                    <m:r>
                      <a:rPr lang="en-US" b="0" i="1" smtClean="0">
                        <a:latin typeface="Cambria Math" panose="02040503050406030204" pitchFamily="18" charset="0"/>
                      </a:rPr>
                      <m:t>=0</m:t>
                    </m:r>
                  </m:oMath>
                </a14:m>
                <a:r>
                  <a:rPr lang="en-US" b="0" dirty="0"/>
                  <a:t> </a:t>
                </a:r>
                <a:r>
                  <a:rPr lang="en-US" dirty="0"/>
                  <a:t>&lt;= </a:t>
                </a:r>
                <a:r>
                  <a:rPr lang="en-US" dirty="0">
                    <a:solidFill>
                      <a:srgbClr val="FF0000"/>
                    </a:solidFill>
                  </a:rPr>
                  <a:t>p-value = 0.0000 (actually 4.602097e-27)</a:t>
                </a:r>
              </a:p>
              <a:p>
                <a:pPr algn="just"/>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𝐴</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𝑅𝑎𝑑𝑖𝑜</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m:t>
                    </m:r>
                  </m:oMath>
                </a14:m>
                <a:r>
                  <a:rPr lang="en-US" b="0" dirty="0"/>
                  <a:t> </a:t>
                </a:r>
                <a:endParaRPr lang="en-US" b="0" dirty="0">
                  <a:solidFill>
                    <a:srgbClr val="FF0000"/>
                  </a:solidFill>
                </a:endParaRPr>
              </a:p>
            </p:txBody>
          </p:sp>
        </mc:Choice>
        <mc:Fallback>
          <p:sp>
            <p:nvSpPr>
              <p:cNvPr id="3" name="Content Placeholder 2">
                <a:extLst>
                  <a:ext uri="{FF2B5EF4-FFF2-40B4-BE49-F238E27FC236}">
                    <a16:creationId xmlns:a16="http://schemas.microsoft.com/office/drawing/2014/main" id="{BEE9F287-0182-41C7-B327-DB58FA334DDC}"/>
                  </a:ext>
                </a:extLst>
              </p:cNvPr>
              <p:cNvSpPr>
                <a:spLocks noGrp="1" noRot="1" noChangeAspect="1" noMove="1" noResize="1" noEditPoints="1" noAdjustHandles="1" noChangeArrowheads="1" noChangeShapeType="1" noTextEdit="1"/>
              </p:cNvSpPr>
              <p:nvPr>
                <p:ph idx="1"/>
              </p:nvPr>
            </p:nvSpPr>
            <p:spPr>
              <a:xfrm>
                <a:off x="838200" y="1051560"/>
                <a:ext cx="10515600" cy="5125403"/>
              </a:xfrm>
              <a:blipFill>
                <a:blip r:embed="rId2"/>
                <a:stretch>
                  <a:fillRect l="-1043" t="-2024"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2E99993-DF59-40A6-82C9-ED6617A02D41}"/>
              </a:ext>
            </a:extLst>
          </p:cNvPr>
          <p:cNvSpPr>
            <a:spLocks noGrp="1"/>
          </p:cNvSpPr>
          <p:nvPr>
            <p:ph type="sldNum" sz="quarter" idx="12"/>
          </p:nvPr>
        </p:nvSpPr>
        <p:spPr/>
        <p:txBody>
          <a:bodyPr/>
          <a:lstStyle/>
          <a:p>
            <a:fld id="{6B97D948-30E8-43F7-AE10-F6E2D9F2BBB1}" type="slidenum">
              <a:rPr lang="en-US" smtClean="0"/>
              <a:t>460</a:t>
            </a:fld>
            <a:endParaRPr lang="en-US"/>
          </a:p>
        </p:txBody>
      </p:sp>
    </p:spTree>
    <p:extLst>
      <p:ext uri="{BB962C8B-B14F-4D97-AF65-F5344CB8AC3E}">
        <p14:creationId xmlns:p14="http://schemas.microsoft.com/office/powerpoint/2010/main" val="3194980426"/>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3BCF85-7667-4292-AF6A-1C7B57C9E42C}"/>
              </a:ext>
            </a:extLst>
          </p:cNvPr>
          <p:cNvSpPr>
            <a:spLocks noGrp="1"/>
          </p:cNvSpPr>
          <p:nvPr>
            <p:ph idx="1"/>
          </p:nvPr>
        </p:nvSpPr>
        <p:spPr>
          <a:xfrm>
            <a:off x="838200" y="685800"/>
            <a:ext cx="10515600" cy="5491163"/>
          </a:xfrm>
        </p:spPr>
        <p:txBody>
          <a:bodyPr/>
          <a:lstStyle/>
          <a:p>
            <a:r>
              <a:rPr lang="en-US" dirty="0" err="1">
                <a:solidFill>
                  <a:srgbClr val="FF0000"/>
                </a:solidFill>
              </a:rPr>
              <a:t>fit.pvalues</a:t>
            </a:r>
            <a:endParaRPr lang="en-US" dirty="0">
              <a:solidFill>
                <a:srgbClr val="FF0000"/>
              </a:solidFill>
            </a:endParaRPr>
          </a:p>
          <a:p>
            <a:r>
              <a:rPr lang="en-US" dirty="0"/>
              <a:t>Out[179]:</a:t>
            </a:r>
          </a:p>
          <a:p>
            <a:r>
              <a:rPr lang="en-US" dirty="0"/>
              <a:t>Intercept    1.682677e-34 </a:t>
            </a:r>
          </a:p>
          <a:p>
            <a:r>
              <a:rPr lang="en-US" dirty="0"/>
              <a:t>Radio        4.602097e-27</a:t>
            </a:r>
          </a:p>
          <a:p>
            <a:r>
              <a:rPr lang="en-US" dirty="0"/>
              <a:t>TV           1.892945e-95</a:t>
            </a:r>
          </a:p>
          <a:p>
            <a:r>
              <a:rPr lang="en-US" dirty="0"/>
              <a:t>Newspaper    9.538145e-01</a:t>
            </a:r>
          </a:p>
          <a:p>
            <a:r>
              <a:rPr lang="en-US" dirty="0" err="1"/>
              <a:t>dtype</a:t>
            </a:r>
            <a:r>
              <a:rPr lang="en-US" dirty="0"/>
              <a:t>: float64</a:t>
            </a:r>
          </a:p>
          <a:p>
            <a:endParaRPr lang="en-US" dirty="0"/>
          </a:p>
          <a:p>
            <a:r>
              <a:rPr lang="en-US" dirty="0"/>
              <a:t>From the p-values, we see that Intercept, Radio and TV ads are </a:t>
            </a:r>
            <a:r>
              <a:rPr lang="en-US" i="1" dirty="0">
                <a:solidFill>
                  <a:srgbClr val="FF0000"/>
                </a:solidFill>
              </a:rPr>
              <a:t>significant</a:t>
            </a:r>
            <a:r>
              <a:rPr lang="en-US" dirty="0"/>
              <a:t>; Newspaper is not.</a:t>
            </a:r>
          </a:p>
          <a:p>
            <a:endParaRPr lang="en-US" dirty="0"/>
          </a:p>
        </p:txBody>
      </p:sp>
      <p:sp>
        <p:nvSpPr>
          <p:cNvPr id="4" name="Slide Number Placeholder 3">
            <a:extLst>
              <a:ext uri="{FF2B5EF4-FFF2-40B4-BE49-F238E27FC236}">
                <a16:creationId xmlns:a16="http://schemas.microsoft.com/office/drawing/2014/main" id="{8CB51A07-8AC3-40D4-A2F1-DB048D426A89}"/>
              </a:ext>
            </a:extLst>
          </p:cNvPr>
          <p:cNvSpPr>
            <a:spLocks noGrp="1"/>
          </p:cNvSpPr>
          <p:nvPr>
            <p:ph type="sldNum" sz="quarter" idx="12"/>
          </p:nvPr>
        </p:nvSpPr>
        <p:spPr/>
        <p:txBody>
          <a:bodyPr/>
          <a:lstStyle/>
          <a:p>
            <a:fld id="{6B97D948-30E8-43F7-AE10-F6E2D9F2BBB1}" type="slidenum">
              <a:rPr lang="en-US" smtClean="0"/>
              <a:t>461</a:t>
            </a:fld>
            <a:endParaRPr lang="en-US"/>
          </a:p>
        </p:txBody>
      </p:sp>
    </p:spTree>
    <p:extLst>
      <p:ext uri="{BB962C8B-B14F-4D97-AF65-F5344CB8AC3E}">
        <p14:creationId xmlns:p14="http://schemas.microsoft.com/office/powerpoint/2010/main" val="2083049775"/>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05471-918F-408E-9F9C-B95FC8CC91EC}"/>
              </a:ext>
            </a:extLst>
          </p:cNvPr>
          <p:cNvSpPr>
            <a:spLocks noGrp="1"/>
          </p:cNvSpPr>
          <p:nvPr>
            <p:ph type="title"/>
          </p:nvPr>
        </p:nvSpPr>
        <p:spPr/>
        <p:txBody>
          <a:bodyPr/>
          <a:lstStyle/>
          <a:p>
            <a:r>
              <a:rPr lang="en-US" dirty="0"/>
              <a:t>95%</a:t>
            </a:r>
          </a:p>
        </p:txBody>
      </p:sp>
      <p:sp>
        <p:nvSpPr>
          <p:cNvPr id="3" name="Content Placeholder 2">
            <a:extLst>
              <a:ext uri="{FF2B5EF4-FFF2-40B4-BE49-F238E27FC236}">
                <a16:creationId xmlns:a16="http://schemas.microsoft.com/office/drawing/2014/main" id="{CA0680AE-AA43-466C-8FD4-3807705C1872}"/>
              </a:ext>
            </a:extLst>
          </p:cNvPr>
          <p:cNvSpPr>
            <a:spLocks noGrp="1"/>
          </p:cNvSpPr>
          <p:nvPr>
            <p:ph idx="1"/>
          </p:nvPr>
        </p:nvSpPr>
        <p:spPr/>
        <p:txBody>
          <a:bodyPr/>
          <a:lstStyle/>
          <a:p>
            <a:r>
              <a:rPr lang="en-US" dirty="0"/>
              <a:t>5%</a:t>
            </a:r>
          </a:p>
          <a:p>
            <a:endParaRPr lang="en-US" dirty="0"/>
          </a:p>
          <a:p>
            <a:r>
              <a:rPr lang="en-US" dirty="0"/>
              <a:t>2.5%            97.5%</a:t>
            </a:r>
          </a:p>
          <a:p>
            <a:endParaRPr lang="en-US" dirty="0"/>
          </a:p>
          <a:p>
            <a:r>
              <a:rPr lang="en-US" dirty="0"/>
              <a:t>0.025         0.975</a:t>
            </a:r>
          </a:p>
        </p:txBody>
      </p:sp>
      <p:sp>
        <p:nvSpPr>
          <p:cNvPr id="4" name="Slide Number Placeholder 3">
            <a:extLst>
              <a:ext uri="{FF2B5EF4-FFF2-40B4-BE49-F238E27FC236}">
                <a16:creationId xmlns:a16="http://schemas.microsoft.com/office/drawing/2014/main" id="{EE4E2A97-42D8-4FB5-B79A-D92A95BC494F}"/>
              </a:ext>
            </a:extLst>
          </p:cNvPr>
          <p:cNvSpPr>
            <a:spLocks noGrp="1"/>
          </p:cNvSpPr>
          <p:nvPr>
            <p:ph type="sldNum" sz="quarter" idx="12"/>
          </p:nvPr>
        </p:nvSpPr>
        <p:spPr/>
        <p:txBody>
          <a:bodyPr/>
          <a:lstStyle/>
          <a:p>
            <a:fld id="{6B97D948-30E8-43F7-AE10-F6E2D9F2BBB1}" type="slidenum">
              <a:rPr lang="en-US" smtClean="0"/>
              <a:t>462</a:t>
            </a:fld>
            <a:endParaRPr lang="en-US"/>
          </a:p>
        </p:txBody>
      </p:sp>
    </p:spTree>
    <p:extLst>
      <p:ext uri="{BB962C8B-B14F-4D97-AF65-F5344CB8AC3E}">
        <p14:creationId xmlns:p14="http://schemas.microsoft.com/office/powerpoint/2010/main" val="2109620270"/>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E957-D926-4E05-805A-AC84A6B06A15}"/>
              </a:ext>
            </a:extLst>
          </p:cNvPr>
          <p:cNvSpPr>
            <a:spLocks noGrp="1"/>
          </p:cNvSpPr>
          <p:nvPr>
            <p:ph type="title"/>
          </p:nvPr>
        </p:nvSpPr>
        <p:spPr>
          <a:xfrm>
            <a:off x="838200" y="365125"/>
            <a:ext cx="10515600" cy="716915"/>
          </a:xfrm>
        </p:spPr>
        <p:txBody>
          <a:bodyPr/>
          <a:lstStyle/>
          <a:p>
            <a:r>
              <a:rPr lang="en-US" dirty="0"/>
              <a:t>Testing of Assumptions</a:t>
            </a:r>
          </a:p>
        </p:txBody>
      </p:sp>
      <p:sp>
        <p:nvSpPr>
          <p:cNvPr id="3" name="Content Placeholder 2">
            <a:extLst>
              <a:ext uri="{FF2B5EF4-FFF2-40B4-BE49-F238E27FC236}">
                <a16:creationId xmlns:a16="http://schemas.microsoft.com/office/drawing/2014/main" id="{0804A0CF-BFCE-46F8-964F-C82EBC531CFD}"/>
              </a:ext>
            </a:extLst>
          </p:cNvPr>
          <p:cNvSpPr>
            <a:spLocks noGrp="1"/>
          </p:cNvSpPr>
          <p:nvPr>
            <p:ph idx="1"/>
          </p:nvPr>
        </p:nvSpPr>
        <p:spPr>
          <a:xfrm>
            <a:off x="838200" y="1082040"/>
            <a:ext cx="10515600" cy="5094923"/>
          </a:xfrm>
        </p:spPr>
        <p:txBody>
          <a:bodyPr>
            <a:normAutofit fontScale="92500" lnSpcReduction="10000"/>
          </a:bodyPr>
          <a:lstStyle/>
          <a:p>
            <a:r>
              <a:rPr lang="en-US" dirty="0"/>
              <a:t>First, let’s expand the dataset </a:t>
            </a:r>
            <a:r>
              <a:rPr lang="en-US" dirty="0">
                <a:solidFill>
                  <a:srgbClr val="FF0000"/>
                </a:solidFill>
              </a:rPr>
              <a:t>advert</a:t>
            </a:r>
            <a:r>
              <a:rPr lang="en-US" dirty="0"/>
              <a:t>.</a:t>
            </a:r>
          </a:p>
          <a:p>
            <a:r>
              <a:rPr lang="en-US" dirty="0">
                <a:solidFill>
                  <a:srgbClr val="FF0000"/>
                </a:solidFill>
              </a:rPr>
              <a:t>advert['</a:t>
            </a:r>
            <a:r>
              <a:rPr lang="en-US" dirty="0" err="1">
                <a:solidFill>
                  <a:srgbClr val="FF0000"/>
                </a:solidFill>
              </a:rPr>
              <a:t>Predicted_Sales</a:t>
            </a:r>
            <a:r>
              <a:rPr lang="en-US" dirty="0">
                <a:solidFill>
                  <a:srgbClr val="FF0000"/>
                </a:solidFill>
              </a:rPr>
              <a:t>'] = </a:t>
            </a:r>
            <a:r>
              <a:rPr lang="en-US" dirty="0" err="1">
                <a:solidFill>
                  <a:srgbClr val="FF0000"/>
                </a:solidFill>
              </a:rPr>
              <a:t>fit.predict</a:t>
            </a:r>
            <a:r>
              <a:rPr lang="en-US" dirty="0">
                <a:solidFill>
                  <a:srgbClr val="FF0000"/>
                </a:solidFill>
              </a:rPr>
              <a:t>(X)</a:t>
            </a:r>
          </a:p>
          <a:p>
            <a:r>
              <a:rPr lang="en-US" dirty="0">
                <a:solidFill>
                  <a:srgbClr val="FF0000"/>
                </a:solidFill>
              </a:rPr>
              <a:t>advert['Residuals'] = </a:t>
            </a:r>
            <a:r>
              <a:rPr lang="en-US" dirty="0" err="1">
                <a:solidFill>
                  <a:srgbClr val="FF0000"/>
                </a:solidFill>
              </a:rPr>
              <a:t>fit.resid</a:t>
            </a:r>
            <a:endParaRPr lang="en-US" dirty="0">
              <a:solidFill>
                <a:srgbClr val="FF0000"/>
              </a:solidFill>
            </a:endParaRPr>
          </a:p>
          <a:p>
            <a:r>
              <a:rPr lang="en-US" dirty="0">
                <a:solidFill>
                  <a:srgbClr val="FF0000"/>
                </a:solidFill>
              </a:rPr>
              <a:t> </a:t>
            </a:r>
            <a:r>
              <a:rPr lang="en-US" dirty="0" err="1">
                <a:solidFill>
                  <a:srgbClr val="FF0000"/>
                </a:solidFill>
              </a:rPr>
              <a:t>advert.head</a:t>
            </a:r>
            <a:r>
              <a:rPr lang="en-US" dirty="0">
                <a:solidFill>
                  <a:srgbClr val="FF0000"/>
                </a:solidFill>
              </a:rPr>
              <a:t>()</a:t>
            </a:r>
          </a:p>
          <a:p>
            <a:r>
              <a:rPr lang="en-US" dirty="0"/>
              <a:t>Out[184]:</a:t>
            </a:r>
          </a:p>
          <a:p>
            <a:r>
              <a:rPr lang="en-US" dirty="0"/>
              <a:t>      TV  Radio  Newspaper  Sales  </a:t>
            </a:r>
            <a:r>
              <a:rPr lang="en-US" dirty="0" err="1"/>
              <a:t>Predicted_Sales</a:t>
            </a:r>
            <a:r>
              <a:rPr lang="en-US" dirty="0"/>
              <a:t>  Residuals</a:t>
            </a:r>
          </a:p>
          <a:p>
            <a:r>
              <a:rPr lang="en-US" dirty="0"/>
              <a:t>0  230.1   37.8       69.2   22.1        21.220972   0.879028</a:t>
            </a:r>
          </a:p>
          <a:p>
            <a:r>
              <a:rPr lang="en-US" dirty="0"/>
              <a:t>1   44.5   39.3       45.1   10.4        11.268248  -0.868248</a:t>
            </a:r>
          </a:p>
          <a:p>
            <a:r>
              <a:rPr lang="en-US" dirty="0"/>
              <a:t>2   17.2   45.9       69.3   12.0        10.496209   1.503791</a:t>
            </a:r>
          </a:p>
          <a:p>
            <a:r>
              <a:rPr lang="en-US" dirty="0"/>
              <a:t>3  151.5   41.3       58.5   16.5        17.312447  -0.812447</a:t>
            </a:r>
          </a:p>
          <a:p>
            <a:r>
              <a:rPr lang="en-US" dirty="0"/>
              <a:t>4  180.8   10.8       58.4   17.9        15.644137   2.255863</a:t>
            </a:r>
          </a:p>
        </p:txBody>
      </p:sp>
      <p:sp>
        <p:nvSpPr>
          <p:cNvPr id="4" name="Slide Number Placeholder 3">
            <a:extLst>
              <a:ext uri="{FF2B5EF4-FFF2-40B4-BE49-F238E27FC236}">
                <a16:creationId xmlns:a16="http://schemas.microsoft.com/office/drawing/2014/main" id="{B55C22E3-6C7F-4B19-8A3D-389332BA4429}"/>
              </a:ext>
            </a:extLst>
          </p:cNvPr>
          <p:cNvSpPr>
            <a:spLocks noGrp="1"/>
          </p:cNvSpPr>
          <p:nvPr>
            <p:ph type="sldNum" sz="quarter" idx="12"/>
          </p:nvPr>
        </p:nvSpPr>
        <p:spPr/>
        <p:txBody>
          <a:bodyPr/>
          <a:lstStyle/>
          <a:p>
            <a:fld id="{6B97D948-30E8-43F7-AE10-F6E2D9F2BBB1}" type="slidenum">
              <a:rPr lang="en-US" smtClean="0"/>
              <a:t>463</a:t>
            </a:fld>
            <a:endParaRPr lang="en-US"/>
          </a:p>
        </p:txBody>
      </p:sp>
    </p:spTree>
    <p:extLst>
      <p:ext uri="{BB962C8B-B14F-4D97-AF65-F5344CB8AC3E}">
        <p14:creationId xmlns:p14="http://schemas.microsoft.com/office/powerpoint/2010/main" val="1932465127"/>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656F8-1A26-41B4-BE45-316254B779C6}"/>
              </a:ext>
            </a:extLst>
          </p:cNvPr>
          <p:cNvSpPr>
            <a:spLocks noGrp="1"/>
          </p:cNvSpPr>
          <p:nvPr>
            <p:ph type="title"/>
          </p:nvPr>
        </p:nvSpPr>
        <p:spPr>
          <a:xfrm>
            <a:off x="838200" y="365125"/>
            <a:ext cx="10515600" cy="686435"/>
          </a:xfrm>
        </p:spPr>
        <p:txBody>
          <a:bodyPr>
            <a:normAutofit fontScale="90000"/>
          </a:bodyPr>
          <a:lstStyle/>
          <a:p>
            <a:r>
              <a:rPr lang="en-US" dirty="0"/>
              <a:t>Linearity</a:t>
            </a:r>
          </a:p>
        </p:txBody>
      </p:sp>
      <p:sp>
        <p:nvSpPr>
          <p:cNvPr id="3" name="Content Placeholder 2">
            <a:extLst>
              <a:ext uri="{FF2B5EF4-FFF2-40B4-BE49-F238E27FC236}">
                <a16:creationId xmlns:a16="http://schemas.microsoft.com/office/drawing/2014/main" id="{FC6A7D00-D37C-429F-8194-BAB9F50AF6C5}"/>
              </a:ext>
            </a:extLst>
          </p:cNvPr>
          <p:cNvSpPr>
            <a:spLocks noGrp="1"/>
          </p:cNvSpPr>
          <p:nvPr>
            <p:ph idx="1"/>
          </p:nvPr>
        </p:nvSpPr>
        <p:spPr>
          <a:xfrm>
            <a:off x="838200" y="1051560"/>
            <a:ext cx="10515600" cy="4952999"/>
          </a:xfrm>
        </p:spPr>
        <p:txBody>
          <a:bodyPr>
            <a:normAutofit/>
          </a:bodyPr>
          <a:lstStyle/>
          <a:p>
            <a:r>
              <a:rPr lang="en-US" dirty="0"/>
              <a:t>Let’s plotting the observed vs predicted values. . . </a:t>
            </a:r>
          </a:p>
          <a:p>
            <a:r>
              <a:rPr lang="en-US" dirty="0" err="1">
                <a:solidFill>
                  <a:srgbClr val="FF0000"/>
                </a:solidFill>
              </a:rPr>
              <a:t>sns.lmplot</a:t>
            </a:r>
            <a:r>
              <a:rPr lang="en-US" dirty="0">
                <a:solidFill>
                  <a:srgbClr val="FF0000"/>
                </a:solidFill>
              </a:rPr>
              <a:t>(x ='Sales', y = '</a:t>
            </a:r>
            <a:r>
              <a:rPr lang="en-US" dirty="0" err="1">
                <a:solidFill>
                  <a:srgbClr val="FF0000"/>
                </a:solidFill>
              </a:rPr>
              <a:t>Predicted_Sales</a:t>
            </a:r>
            <a:r>
              <a:rPr lang="en-US" dirty="0">
                <a:solidFill>
                  <a:srgbClr val="FF0000"/>
                </a:solidFill>
              </a:rPr>
              <a:t>', data = advert, </a:t>
            </a:r>
            <a:r>
              <a:rPr lang="en-US" dirty="0" err="1">
                <a:solidFill>
                  <a:srgbClr val="FF0000"/>
                </a:solidFill>
              </a:rPr>
              <a:t>fit_reg</a:t>
            </a:r>
            <a:r>
              <a:rPr lang="en-US" dirty="0">
                <a:solidFill>
                  <a:srgbClr val="FF0000"/>
                </a:solidFill>
              </a:rPr>
              <a:t> = True)</a:t>
            </a:r>
          </a:p>
          <a:p>
            <a:endParaRPr lang="en-US" dirty="0">
              <a:solidFill>
                <a:srgbClr val="FF0000"/>
              </a:solidFill>
            </a:endParaRPr>
          </a:p>
          <a:p>
            <a:pPr algn="just"/>
            <a:r>
              <a:rPr lang="en-US" dirty="0"/>
              <a:t>The scatter plots show residual point evenly spread around the diagonal line, so we can assume that </a:t>
            </a:r>
            <a:r>
              <a:rPr lang="en-US" b="1" dirty="0"/>
              <a:t>there is linear relationship between our independent and dependent variables.</a:t>
            </a:r>
            <a:endParaRPr lang="en-US" dirty="0">
              <a:solidFill>
                <a:srgbClr val="FF0000"/>
              </a:solidFill>
            </a:endParaRPr>
          </a:p>
        </p:txBody>
      </p:sp>
      <p:sp>
        <p:nvSpPr>
          <p:cNvPr id="4" name="Slide Number Placeholder 3">
            <a:extLst>
              <a:ext uri="{FF2B5EF4-FFF2-40B4-BE49-F238E27FC236}">
                <a16:creationId xmlns:a16="http://schemas.microsoft.com/office/drawing/2014/main" id="{CC1FD817-7370-48CF-AF17-DA4EA06DF651}"/>
              </a:ext>
            </a:extLst>
          </p:cNvPr>
          <p:cNvSpPr>
            <a:spLocks noGrp="1"/>
          </p:cNvSpPr>
          <p:nvPr>
            <p:ph type="sldNum" sz="quarter" idx="12"/>
          </p:nvPr>
        </p:nvSpPr>
        <p:spPr/>
        <p:txBody>
          <a:bodyPr/>
          <a:lstStyle/>
          <a:p>
            <a:fld id="{6B97D948-30E8-43F7-AE10-F6E2D9F2BBB1}" type="slidenum">
              <a:rPr lang="en-US" smtClean="0"/>
              <a:t>464</a:t>
            </a:fld>
            <a:endParaRPr lang="en-US"/>
          </a:p>
        </p:txBody>
      </p:sp>
    </p:spTree>
    <p:extLst>
      <p:ext uri="{BB962C8B-B14F-4D97-AF65-F5344CB8AC3E}">
        <p14:creationId xmlns:p14="http://schemas.microsoft.com/office/powerpoint/2010/main" val="895301733"/>
      </p:ext>
    </p:extLst>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AEBBB6C-4A78-461B-B76E-0943A6E36226}"/>
              </a:ext>
            </a:extLst>
          </p:cNvPr>
          <p:cNvPicPr>
            <a:picLocks noGrp="1" noChangeAspect="1"/>
          </p:cNvPicPr>
          <p:nvPr>
            <p:ph idx="1"/>
          </p:nvPr>
        </p:nvPicPr>
        <p:blipFill>
          <a:blip r:embed="rId2"/>
          <a:stretch>
            <a:fillRect/>
          </a:stretch>
        </p:blipFill>
        <p:spPr>
          <a:xfrm>
            <a:off x="2743201" y="652782"/>
            <a:ext cx="5531254" cy="5524181"/>
          </a:xfrm>
          <a:prstGeom prst="rect">
            <a:avLst/>
          </a:prstGeom>
        </p:spPr>
      </p:pic>
      <p:sp>
        <p:nvSpPr>
          <p:cNvPr id="4" name="Slide Number Placeholder 3">
            <a:extLst>
              <a:ext uri="{FF2B5EF4-FFF2-40B4-BE49-F238E27FC236}">
                <a16:creationId xmlns:a16="http://schemas.microsoft.com/office/drawing/2014/main" id="{E82742EC-6490-4942-833F-276EAB6248BF}"/>
              </a:ext>
            </a:extLst>
          </p:cNvPr>
          <p:cNvSpPr>
            <a:spLocks noGrp="1"/>
          </p:cNvSpPr>
          <p:nvPr>
            <p:ph type="sldNum" sz="quarter" idx="12"/>
          </p:nvPr>
        </p:nvSpPr>
        <p:spPr/>
        <p:txBody>
          <a:bodyPr/>
          <a:lstStyle/>
          <a:p>
            <a:fld id="{6B97D948-30E8-43F7-AE10-F6E2D9F2BBB1}" type="slidenum">
              <a:rPr lang="en-US" smtClean="0"/>
              <a:t>465</a:t>
            </a:fld>
            <a:endParaRPr lang="en-US"/>
          </a:p>
        </p:txBody>
      </p:sp>
    </p:spTree>
    <p:extLst>
      <p:ext uri="{BB962C8B-B14F-4D97-AF65-F5344CB8AC3E}">
        <p14:creationId xmlns:p14="http://schemas.microsoft.com/office/powerpoint/2010/main" val="680731113"/>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5516C-BB91-4ADE-92D5-7ABB5DD27D73}"/>
              </a:ext>
            </a:extLst>
          </p:cNvPr>
          <p:cNvSpPr>
            <a:spLocks noGrp="1"/>
          </p:cNvSpPr>
          <p:nvPr>
            <p:ph type="title"/>
          </p:nvPr>
        </p:nvSpPr>
        <p:spPr>
          <a:xfrm>
            <a:off x="838200" y="365125"/>
            <a:ext cx="10515600" cy="701675"/>
          </a:xfrm>
        </p:spPr>
        <p:txBody>
          <a:bodyPr/>
          <a:lstStyle/>
          <a:p>
            <a:r>
              <a:rPr lang="en-US" dirty="0"/>
              <a:t>Normality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380CCE0-E644-46AA-B7BB-97A66B1E12C2}"/>
                  </a:ext>
                </a:extLst>
              </p:cNvPr>
              <p:cNvSpPr>
                <a:spLocks noGrp="1"/>
              </p:cNvSpPr>
              <p:nvPr>
                <p:ph idx="1"/>
              </p:nvPr>
            </p:nvSpPr>
            <p:spPr>
              <a:xfrm>
                <a:off x="838200" y="1066800"/>
                <a:ext cx="10515600" cy="5110163"/>
              </a:xfrm>
            </p:spPr>
            <p:txBody>
              <a:bodyPr>
                <a:normAutofit fontScale="92500" lnSpcReduction="20000"/>
              </a:bodyPr>
              <a:lstStyle/>
              <a:p>
                <a:pPr algn="just"/>
                <a:r>
                  <a:rPr lang="en-US" dirty="0"/>
                  <a:t>This assumes that the error terms of the model are normally distributed. </a:t>
                </a:r>
              </a:p>
              <a:p>
                <a:pPr algn="just"/>
                <a14:m>
                  <m:oMath xmlns:m="http://schemas.openxmlformats.org/officeDocument/2006/math">
                    <m:sSub>
                      <m:sSubPr>
                        <m:ctrlPr>
                          <a:rPr lang="en-US"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𝐻</m:t>
                        </m:r>
                      </m:e>
                      <m:sub>
                        <m:r>
                          <a:rPr lang="en-US" b="0" i="1" smtClean="0">
                            <a:solidFill>
                              <a:srgbClr val="00B050"/>
                            </a:solidFill>
                            <a:latin typeface="Cambria Math" panose="02040503050406030204" pitchFamily="18" charset="0"/>
                          </a:rPr>
                          <m:t>0</m:t>
                        </m:r>
                      </m:sub>
                    </m:sSub>
                    <m:r>
                      <a:rPr lang="en-US" b="0" i="1" smtClean="0">
                        <a:solidFill>
                          <a:srgbClr val="00B050"/>
                        </a:solidFill>
                        <a:latin typeface="Cambria Math" panose="02040503050406030204" pitchFamily="18" charset="0"/>
                      </a:rPr>
                      <m:t>: </m:t>
                    </m:r>
                  </m:oMath>
                </a14:m>
                <a:r>
                  <a:rPr lang="en-US" dirty="0">
                    <a:solidFill>
                      <a:srgbClr val="00B050"/>
                    </a:solidFill>
                  </a:rPr>
                  <a:t>Population from which the sample is drawn is normally distributed.</a:t>
                </a:r>
              </a:p>
              <a:p>
                <a:pPr algn="just"/>
                <a14:m>
                  <m:oMath xmlns:m="http://schemas.openxmlformats.org/officeDocument/2006/math">
                    <m:sSub>
                      <m:sSubPr>
                        <m:ctrlPr>
                          <a:rPr lang="en-US"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𝐻</m:t>
                        </m:r>
                      </m:e>
                      <m:sub>
                        <m:r>
                          <a:rPr lang="en-US" b="0" i="1" smtClean="0">
                            <a:solidFill>
                              <a:srgbClr val="00B050"/>
                            </a:solidFill>
                            <a:latin typeface="Cambria Math" panose="02040503050406030204" pitchFamily="18" charset="0"/>
                          </a:rPr>
                          <m:t>𝐴</m:t>
                        </m:r>
                      </m:sub>
                    </m:sSub>
                    <m:r>
                      <a:rPr lang="en-US" b="0" i="1" smtClean="0">
                        <a:solidFill>
                          <a:srgbClr val="00B050"/>
                        </a:solidFill>
                        <a:latin typeface="Cambria Math" panose="02040503050406030204" pitchFamily="18" charset="0"/>
                      </a:rPr>
                      <m:t>:</m:t>
                    </m:r>
                  </m:oMath>
                </a14:m>
                <a:r>
                  <a:rPr lang="en-US" dirty="0">
                    <a:solidFill>
                      <a:srgbClr val="00B050"/>
                    </a:solidFill>
                  </a:rPr>
                  <a:t>Population from which the sample is drawn is not normally distributed. </a:t>
                </a:r>
              </a:p>
              <a:p>
                <a:pPr algn="just"/>
                <a:endParaRPr lang="en-US" dirty="0">
                  <a:solidFill>
                    <a:srgbClr val="00B050"/>
                  </a:solidFill>
                </a:endParaRPr>
              </a:p>
              <a:p>
                <a:pPr algn="just"/>
                <a:r>
                  <a:rPr lang="en-US" dirty="0">
                    <a:solidFill>
                      <a:srgbClr val="FF0000"/>
                    </a:solidFill>
                  </a:rPr>
                  <a:t>from </a:t>
                </a:r>
                <a:r>
                  <a:rPr lang="en-US" dirty="0" err="1">
                    <a:solidFill>
                      <a:srgbClr val="FF0000"/>
                    </a:solidFill>
                  </a:rPr>
                  <a:t>statsmodels.stats.diagnostic</a:t>
                </a:r>
                <a:r>
                  <a:rPr lang="en-US" dirty="0">
                    <a:solidFill>
                      <a:srgbClr val="FF0000"/>
                    </a:solidFill>
                  </a:rPr>
                  <a:t> import </a:t>
                </a:r>
                <a:r>
                  <a:rPr lang="en-US" dirty="0" err="1">
                    <a:solidFill>
                      <a:srgbClr val="FF0000"/>
                    </a:solidFill>
                  </a:rPr>
                  <a:t>normal_ad</a:t>
                </a:r>
                <a:endParaRPr lang="en-US" dirty="0">
                  <a:solidFill>
                    <a:srgbClr val="FF0000"/>
                  </a:solidFill>
                </a:endParaRPr>
              </a:p>
              <a:p>
                <a:pPr algn="just"/>
                <a:endParaRPr lang="en-US" dirty="0"/>
              </a:p>
              <a:p>
                <a:pPr algn="just"/>
                <a:r>
                  <a:rPr lang="en-US" dirty="0"/>
                  <a:t>Performing the test on the residuals</a:t>
                </a:r>
              </a:p>
              <a:p>
                <a:pPr algn="just"/>
                <a:endParaRPr lang="en-US" dirty="0"/>
              </a:p>
              <a:p>
                <a:pPr algn="just"/>
                <a:r>
                  <a:rPr lang="en-US" dirty="0" err="1">
                    <a:solidFill>
                      <a:srgbClr val="FF0000"/>
                    </a:solidFill>
                  </a:rPr>
                  <a:t>p_value</a:t>
                </a:r>
                <a:r>
                  <a:rPr lang="en-US" dirty="0">
                    <a:solidFill>
                      <a:srgbClr val="FF0000"/>
                    </a:solidFill>
                  </a:rPr>
                  <a:t> = </a:t>
                </a:r>
                <a:r>
                  <a:rPr lang="en-US" dirty="0" err="1">
                    <a:solidFill>
                      <a:srgbClr val="FF0000"/>
                    </a:solidFill>
                  </a:rPr>
                  <a:t>normal_ad</a:t>
                </a:r>
                <a:r>
                  <a:rPr lang="en-US" dirty="0">
                    <a:solidFill>
                      <a:srgbClr val="FF0000"/>
                    </a:solidFill>
                  </a:rPr>
                  <a:t>(advert['Residuals'])[1]</a:t>
                </a:r>
              </a:p>
              <a:p>
                <a:pPr algn="just"/>
                <a:endParaRPr lang="en-US" dirty="0">
                  <a:solidFill>
                    <a:srgbClr val="FF0000"/>
                  </a:solidFill>
                </a:endParaRPr>
              </a:p>
              <a:p>
                <a:pPr algn="just"/>
                <a:r>
                  <a:rPr lang="en-US" dirty="0">
                    <a:solidFill>
                      <a:srgbClr val="FF0000"/>
                    </a:solidFill>
                  </a:rPr>
                  <a:t> </a:t>
                </a:r>
                <a:r>
                  <a:rPr lang="en-US" dirty="0" err="1">
                    <a:solidFill>
                      <a:srgbClr val="FF0000"/>
                    </a:solidFill>
                  </a:rPr>
                  <a:t>p_value</a:t>
                </a:r>
                <a:endParaRPr lang="en-US" dirty="0">
                  <a:solidFill>
                    <a:srgbClr val="FF0000"/>
                  </a:solidFill>
                </a:endParaRPr>
              </a:p>
              <a:p>
                <a:pPr algn="just"/>
                <a:r>
                  <a:rPr lang="en-US" dirty="0"/>
                  <a:t>Out[191]: 0.028710104443456536</a:t>
                </a:r>
              </a:p>
            </p:txBody>
          </p:sp>
        </mc:Choice>
        <mc:Fallback>
          <p:sp>
            <p:nvSpPr>
              <p:cNvPr id="3" name="Content Placeholder 2">
                <a:extLst>
                  <a:ext uri="{FF2B5EF4-FFF2-40B4-BE49-F238E27FC236}">
                    <a16:creationId xmlns:a16="http://schemas.microsoft.com/office/drawing/2014/main" id="{1380CCE0-E644-46AA-B7BB-97A66B1E12C2}"/>
                  </a:ext>
                </a:extLst>
              </p:cNvPr>
              <p:cNvSpPr>
                <a:spLocks noGrp="1" noRot="1" noChangeAspect="1" noMove="1" noResize="1" noEditPoints="1" noAdjustHandles="1" noChangeArrowheads="1" noChangeShapeType="1" noTextEdit="1"/>
              </p:cNvSpPr>
              <p:nvPr>
                <p:ph idx="1"/>
              </p:nvPr>
            </p:nvSpPr>
            <p:spPr>
              <a:xfrm>
                <a:off x="838200" y="1066800"/>
                <a:ext cx="10515600" cy="5110163"/>
              </a:xfrm>
              <a:blipFill>
                <a:blip r:embed="rId2"/>
                <a:stretch>
                  <a:fillRect l="-928" t="-298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F639223-9FF7-4C89-8D4B-AEB1E9681FC2}"/>
              </a:ext>
            </a:extLst>
          </p:cNvPr>
          <p:cNvSpPr>
            <a:spLocks noGrp="1"/>
          </p:cNvSpPr>
          <p:nvPr>
            <p:ph type="sldNum" sz="quarter" idx="12"/>
          </p:nvPr>
        </p:nvSpPr>
        <p:spPr/>
        <p:txBody>
          <a:bodyPr/>
          <a:lstStyle/>
          <a:p>
            <a:fld id="{6B97D948-30E8-43F7-AE10-F6E2D9F2BBB1}" type="slidenum">
              <a:rPr lang="en-US" smtClean="0"/>
              <a:t>466</a:t>
            </a:fld>
            <a:endParaRPr lang="en-US"/>
          </a:p>
        </p:txBody>
      </p:sp>
    </p:spTree>
    <p:extLst>
      <p:ext uri="{BB962C8B-B14F-4D97-AF65-F5344CB8AC3E}">
        <p14:creationId xmlns:p14="http://schemas.microsoft.com/office/powerpoint/2010/main" val="3505132572"/>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5BCA-E54D-4A2B-8E1D-64FB204E36B0}"/>
              </a:ext>
            </a:extLst>
          </p:cNvPr>
          <p:cNvSpPr>
            <a:spLocks noGrp="1"/>
          </p:cNvSpPr>
          <p:nvPr>
            <p:ph type="title"/>
          </p:nvPr>
        </p:nvSpPr>
        <p:spPr>
          <a:xfrm>
            <a:off x="838200" y="365125"/>
            <a:ext cx="10515600" cy="716915"/>
          </a:xfrm>
        </p:spPr>
        <p:txBody>
          <a:bodyPr/>
          <a:lstStyle/>
          <a:p>
            <a:r>
              <a:rPr lang="en-US" dirty="0"/>
              <a:t>Plot the histogram</a:t>
            </a:r>
          </a:p>
        </p:txBody>
      </p:sp>
      <p:sp>
        <p:nvSpPr>
          <p:cNvPr id="3" name="Content Placeholder 2">
            <a:extLst>
              <a:ext uri="{FF2B5EF4-FFF2-40B4-BE49-F238E27FC236}">
                <a16:creationId xmlns:a16="http://schemas.microsoft.com/office/drawing/2014/main" id="{752ACF08-89D4-42C0-85FE-39CF0733C857}"/>
              </a:ext>
            </a:extLst>
          </p:cNvPr>
          <p:cNvSpPr>
            <a:spLocks noGrp="1"/>
          </p:cNvSpPr>
          <p:nvPr>
            <p:ph idx="1"/>
          </p:nvPr>
        </p:nvSpPr>
        <p:spPr>
          <a:xfrm>
            <a:off x="838200" y="1082040"/>
            <a:ext cx="10515600" cy="5094923"/>
          </a:xfrm>
        </p:spPr>
        <p:txBody>
          <a:bodyPr/>
          <a:lstStyle/>
          <a:p>
            <a:r>
              <a:rPr lang="en-US" dirty="0" err="1">
                <a:solidFill>
                  <a:srgbClr val="FF0000"/>
                </a:solidFill>
              </a:rPr>
              <a:t>plt.subplots</a:t>
            </a:r>
            <a:r>
              <a:rPr lang="en-US" dirty="0">
                <a:solidFill>
                  <a:srgbClr val="FF0000"/>
                </a:solidFill>
              </a:rPr>
              <a:t>(</a:t>
            </a:r>
            <a:r>
              <a:rPr lang="en-US" dirty="0" err="1">
                <a:solidFill>
                  <a:srgbClr val="FF0000"/>
                </a:solidFill>
              </a:rPr>
              <a:t>figsize</a:t>
            </a:r>
            <a:r>
              <a:rPr lang="en-US" dirty="0">
                <a:solidFill>
                  <a:srgbClr val="FF0000"/>
                </a:solidFill>
              </a:rPr>
              <a:t>=(6, 4))</a:t>
            </a:r>
          </a:p>
          <a:p>
            <a:r>
              <a:rPr lang="en-US" dirty="0" err="1">
                <a:solidFill>
                  <a:srgbClr val="FF0000"/>
                </a:solidFill>
              </a:rPr>
              <a:t>plt.title</a:t>
            </a:r>
            <a:r>
              <a:rPr lang="en-US" dirty="0">
                <a:solidFill>
                  <a:srgbClr val="FF0000"/>
                </a:solidFill>
              </a:rPr>
              <a:t>('Distribution of Residuals', </a:t>
            </a:r>
            <a:r>
              <a:rPr lang="en-US" dirty="0" err="1">
                <a:solidFill>
                  <a:srgbClr val="FF0000"/>
                </a:solidFill>
              </a:rPr>
              <a:t>fontsize</a:t>
            </a:r>
            <a:r>
              <a:rPr lang="en-US" dirty="0">
                <a:solidFill>
                  <a:srgbClr val="FF0000"/>
                </a:solidFill>
              </a:rPr>
              <a:t>=18)</a:t>
            </a:r>
          </a:p>
          <a:p>
            <a:r>
              <a:rPr lang="en-US" dirty="0" err="1">
                <a:solidFill>
                  <a:srgbClr val="FF0000"/>
                </a:solidFill>
              </a:rPr>
              <a:t>sns.distplot</a:t>
            </a:r>
            <a:r>
              <a:rPr lang="en-US" dirty="0">
                <a:solidFill>
                  <a:srgbClr val="FF0000"/>
                </a:solidFill>
              </a:rPr>
              <a:t>(advert['Residuals’])</a:t>
            </a:r>
          </a:p>
          <a:p>
            <a:endParaRPr lang="en-US" dirty="0">
              <a:solidFill>
                <a:srgbClr val="FF0000"/>
              </a:solidFill>
            </a:endParaRPr>
          </a:p>
          <a:p>
            <a:r>
              <a:rPr lang="en-US" dirty="0"/>
              <a:t>Let’s calculate the mean:</a:t>
            </a:r>
          </a:p>
          <a:p>
            <a:r>
              <a:rPr lang="en-US" dirty="0" err="1">
                <a:solidFill>
                  <a:srgbClr val="FF0000"/>
                </a:solidFill>
              </a:rPr>
              <a:t>np.mean</a:t>
            </a:r>
            <a:r>
              <a:rPr lang="en-US" dirty="0">
                <a:solidFill>
                  <a:srgbClr val="FF0000"/>
                </a:solidFill>
              </a:rPr>
              <a:t>(advert['Residuals'])</a:t>
            </a:r>
          </a:p>
          <a:p>
            <a:r>
              <a:rPr lang="en-US" dirty="0">
                <a:solidFill>
                  <a:srgbClr val="FF0000"/>
                </a:solidFill>
              </a:rPr>
              <a:t>Out[193]: 6.226130722097878e-15</a:t>
            </a:r>
          </a:p>
        </p:txBody>
      </p:sp>
      <p:sp>
        <p:nvSpPr>
          <p:cNvPr id="4" name="Slide Number Placeholder 3">
            <a:extLst>
              <a:ext uri="{FF2B5EF4-FFF2-40B4-BE49-F238E27FC236}">
                <a16:creationId xmlns:a16="http://schemas.microsoft.com/office/drawing/2014/main" id="{4D301B89-3109-49F5-B13A-3FDB93462B8C}"/>
              </a:ext>
            </a:extLst>
          </p:cNvPr>
          <p:cNvSpPr>
            <a:spLocks noGrp="1"/>
          </p:cNvSpPr>
          <p:nvPr>
            <p:ph type="sldNum" sz="quarter" idx="12"/>
          </p:nvPr>
        </p:nvSpPr>
        <p:spPr/>
        <p:txBody>
          <a:bodyPr/>
          <a:lstStyle/>
          <a:p>
            <a:fld id="{6B97D948-30E8-43F7-AE10-F6E2D9F2BBB1}" type="slidenum">
              <a:rPr lang="en-US" smtClean="0"/>
              <a:t>467</a:t>
            </a:fld>
            <a:endParaRPr lang="en-US"/>
          </a:p>
        </p:txBody>
      </p:sp>
    </p:spTree>
    <p:extLst>
      <p:ext uri="{BB962C8B-B14F-4D97-AF65-F5344CB8AC3E}">
        <p14:creationId xmlns:p14="http://schemas.microsoft.com/office/powerpoint/2010/main" val="1475431576"/>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D6EB6C-EAEA-4392-98EF-7BD42059EFA0}"/>
              </a:ext>
            </a:extLst>
          </p:cNvPr>
          <p:cNvPicPr>
            <a:picLocks noGrp="1" noChangeAspect="1"/>
          </p:cNvPicPr>
          <p:nvPr>
            <p:ph idx="1"/>
          </p:nvPr>
        </p:nvPicPr>
        <p:blipFill>
          <a:blip r:embed="rId2"/>
          <a:stretch>
            <a:fillRect/>
          </a:stretch>
        </p:blipFill>
        <p:spPr>
          <a:xfrm>
            <a:off x="2220039" y="990600"/>
            <a:ext cx="7373541" cy="4915694"/>
          </a:xfrm>
          <a:prstGeom prst="rect">
            <a:avLst/>
          </a:prstGeom>
        </p:spPr>
      </p:pic>
      <p:sp>
        <p:nvSpPr>
          <p:cNvPr id="4" name="Slide Number Placeholder 3">
            <a:extLst>
              <a:ext uri="{FF2B5EF4-FFF2-40B4-BE49-F238E27FC236}">
                <a16:creationId xmlns:a16="http://schemas.microsoft.com/office/drawing/2014/main" id="{34DA26B8-DB8A-4E52-AE4F-284B9296CADF}"/>
              </a:ext>
            </a:extLst>
          </p:cNvPr>
          <p:cNvSpPr>
            <a:spLocks noGrp="1"/>
          </p:cNvSpPr>
          <p:nvPr>
            <p:ph type="sldNum" sz="quarter" idx="12"/>
          </p:nvPr>
        </p:nvSpPr>
        <p:spPr/>
        <p:txBody>
          <a:bodyPr/>
          <a:lstStyle/>
          <a:p>
            <a:fld id="{6B97D948-30E8-43F7-AE10-F6E2D9F2BBB1}" type="slidenum">
              <a:rPr lang="en-US" smtClean="0"/>
              <a:t>468</a:t>
            </a:fld>
            <a:endParaRPr lang="en-US"/>
          </a:p>
        </p:txBody>
      </p:sp>
    </p:spTree>
    <p:extLst>
      <p:ext uri="{BB962C8B-B14F-4D97-AF65-F5344CB8AC3E}">
        <p14:creationId xmlns:p14="http://schemas.microsoft.com/office/powerpoint/2010/main" val="3425655966"/>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B35BA-EEAF-4D49-B254-7FA1799268A8}"/>
              </a:ext>
            </a:extLst>
          </p:cNvPr>
          <p:cNvSpPr>
            <a:spLocks noGrp="1"/>
          </p:cNvSpPr>
          <p:nvPr>
            <p:ph type="title"/>
          </p:nvPr>
        </p:nvSpPr>
        <p:spPr>
          <a:xfrm>
            <a:off x="838200" y="365125"/>
            <a:ext cx="10515600" cy="716915"/>
          </a:xfrm>
        </p:spPr>
        <p:txBody>
          <a:bodyPr/>
          <a:lstStyle/>
          <a:p>
            <a:r>
              <a:rPr lang="en-US" b="1" dirty="0"/>
              <a:t>Multicollinearity</a:t>
            </a:r>
            <a:endParaRPr lang="en-US" dirty="0"/>
          </a:p>
        </p:txBody>
      </p:sp>
      <p:sp>
        <p:nvSpPr>
          <p:cNvPr id="3" name="Content Placeholder 2">
            <a:extLst>
              <a:ext uri="{FF2B5EF4-FFF2-40B4-BE49-F238E27FC236}">
                <a16:creationId xmlns:a16="http://schemas.microsoft.com/office/drawing/2014/main" id="{5F41F8C4-B375-4B9D-945A-E07A5540BDA0}"/>
              </a:ext>
            </a:extLst>
          </p:cNvPr>
          <p:cNvSpPr>
            <a:spLocks noGrp="1"/>
          </p:cNvSpPr>
          <p:nvPr>
            <p:ph idx="1"/>
          </p:nvPr>
        </p:nvSpPr>
        <p:spPr>
          <a:xfrm>
            <a:off x="838200" y="1082040"/>
            <a:ext cx="10515600" cy="5094923"/>
          </a:xfrm>
        </p:spPr>
        <p:txBody>
          <a:bodyPr/>
          <a:lstStyle/>
          <a:p>
            <a:r>
              <a:rPr lang="en-US" dirty="0" err="1">
                <a:solidFill>
                  <a:srgbClr val="FF0000"/>
                </a:solidFill>
              </a:rPr>
              <a:t>corr</a:t>
            </a:r>
            <a:r>
              <a:rPr lang="en-US" dirty="0">
                <a:solidFill>
                  <a:srgbClr val="FF0000"/>
                </a:solidFill>
              </a:rPr>
              <a:t> = advert[['Radio', 'TV', 'Newspaper']].</a:t>
            </a:r>
            <a:r>
              <a:rPr lang="en-US" dirty="0" err="1">
                <a:solidFill>
                  <a:srgbClr val="FF0000"/>
                </a:solidFill>
              </a:rPr>
              <a:t>corr</a:t>
            </a:r>
            <a:r>
              <a:rPr lang="en-US" dirty="0">
                <a:solidFill>
                  <a:srgbClr val="FF0000"/>
                </a:solidFill>
              </a:rPr>
              <a:t>()</a:t>
            </a:r>
          </a:p>
          <a:p>
            <a:r>
              <a:rPr lang="en-US" dirty="0" err="1">
                <a:solidFill>
                  <a:srgbClr val="FF0000"/>
                </a:solidFill>
              </a:rPr>
              <a:t>corr</a:t>
            </a:r>
            <a:endParaRPr lang="en-US" dirty="0">
              <a:solidFill>
                <a:srgbClr val="FF0000"/>
              </a:solidFill>
            </a:endParaRPr>
          </a:p>
          <a:p>
            <a:r>
              <a:rPr lang="en-US" dirty="0"/>
              <a:t>Out[195]:</a:t>
            </a:r>
          </a:p>
          <a:p>
            <a:pPr marL="0" indent="0">
              <a:buNone/>
            </a:pPr>
            <a:r>
              <a:rPr lang="en-US" dirty="0"/>
              <a:t>	              Radio        TV  		Newspaper</a:t>
            </a:r>
          </a:p>
          <a:p>
            <a:r>
              <a:rPr lang="en-US" dirty="0"/>
              <a:t>Radio      	1.000000  	0.054809   	0.354104</a:t>
            </a:r>
          </a:p>
          <a:p>
            <a:r>
              <a:rPr lang="en-US" dirty="0"/>
              <a:t>TV         	0.054809  	1.000000   	0.056648</a:t>
            </a:r>
          </a:p>
          <a:p>
            <a:r>
              <a:rPr lang="en-US" dirty="0"/>
              <a:t>Newspaper  0.354104  	0.056648   	1.000000</a:t>
            </a:r>
          </a:p>
          <a:p>
            <a:r>
              <a:rPr lang="en-US" dirty="0"/>
              <a:t>Correlation in all cases is below 0.5.</a:t>
            </a:r>
          </a:p>
          <a:p>
            <a:pPr algn="just"/>
            <a:r>
              <a:rPr lang="en-US" dirty="0"/>
              <a:t>This means our independent variable are not affecting each other and that there is no multicollinearity in our data.</a:t>
            </a:r>
          </a:p>
        </p:txBody>
      </p:sp>
      <p:sp>
        <p:nvSpPr>
          <p:cNvPr id="4" name="Slide Number Placeholder 3">
            <a:extLst>
              <a:ext uri="{FF2B5EF4-FFF2-40B4-BE49-F238E27FC236}">
                <a16:creationId xmlns:a16="http://schemas.microsoft.com/office/drawing/2014/main" id="{27D154EA-7AFE-400A-B71A-3BA959D256FE}"/>
              </a:ext>
            </a:extLst>
          </p:cNvPr>
          <p:cNvSpPr>
            <a:spLocks noGrp="1"/>
          </p:cNvSpPr>
          <p:nvPr>
            <p:ph type="sldNum" sz="quarter" idx="12"/>
          </p:nvPr>
        </p:nvSpPr>
        <p:spPr/>
        <p:txBody>
          <a:bodyPr/>
          <a:lstStyle/>
          <a:p>
            <a:fld id="{6B97D948-30E8-43F7-AE10-F6E2D9F2BBB1}" type="slidenum">
              <a:rPr lang="en-US" smtClean="0"/>
              <a:t>469</a:t>
            </a:fld>
            <a:endParaRPr lang="en-US"/>
          </a:p>
        </p:txBody>
      </p:sp>
    </p:spTree>
    <p:extLst>
      <p:ext uri="{BB962C8B-B14F-4D97-AF65-F5344CB8AC3E}">
        <p14:creationId xmlns:p14="http://schemas.microsoft.com/office/powerpoint/2010/main" val="2540436550"/>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7A20-BEF9-4E28-8F81-D895D0898070}"/>
              </a:ext>
            </a:extLst>
          </p:cNvPr>
          <p:cNvSpPr>
            <a:spLocks noGrp="1"/>
          </p:cNvSpPr>
          <p:nvPr>
            <p:ph type="title"/>
          </p:nvPr>
        </p:nvSpPr>
        <p:spPr>
          <a:xfrm>
            <a:off x="838200" y="365125"/>
            <a:ext cx="10515600" cy="625475"/>
          </a:xfrm>
        </p:spPr>
        <p:txBody>
          <a:bodyPr>
            <a:normAutofit fontScale="90000"/>
          </a:bodyPr>
          <a:lstStyle/>
          <a:p>
            <a:r>
              <a:rPr lang="en-US" dirty="0"/>
              <a:t>Heatmap</a:t>
            </a:r>
          </a:p>
        </p:txBody>
      </p:sp>
      <p:sp>
        <p:nvSpPr>
          <p:cNvPr id="3" name="Content Placeholder 2">
            <a:extLst>
              <a:ext uri="{FF2B5EF4-FFF2-40B4-BE49-F238E27FC236}">
                <a16:creationId xmlns:a16="http://schemas.microsoft.com/office/drawing/2014/main" id="{8E9F5DB1-DE34-477A-8FA4-61E1763524DB}"/>
              </a:ext>
            </a:extLst>
          </p:cNvPr>
          <p:cNvSpPr>
            <a:spLocks noGrp="1"/>
          </p:cNvSpPr>
          <p:nvPr>
            <p:ph idx="1"/>
          </p:nvPr>
        </p:nvSpPr>
        <p:spPr>
          <a:xfrm>
            <a:off x="838200" y="1097281"/>
            <a:ext cx="10515600" cy="625476"/>
          </a:xfrm>
        </p:spPr>
        <p:txBody>
          <a:bodyPr/>
          <a:lstStyle/>
          <a:p>
            <a:r>
              <a:rPr lang="en-US" dirty="0" err="1"/>
              <a:t>sns.heatmap</a:t>
            </a:r>
            <a:r>
              <a:rPr lang="en-US" dirty="0"/>
              <a:t>(</a:t>
            </a:r>
            <a:r>
              <a:rPr lang="en-US" dirty="0" err="1"/>
              <a:t>corr</a:t>
            </a:r>
            <a:r>
              <a:rPr lang="en-US" dirty="0"/>
              <a:t>)</a:t>
            </a:r>
          </a:p>
        </p:txBody>
      </p:sp>
      <p:sp>
        <p:nvSpPr>
          <p:cNvPr id="4" name="Slide Number Placeholder 3">
            <a:extLst>
              <a:ext uri="{FF2B5EF4-FFF2-40B4-BE49-F238E27FC236}">
                <a16:creationId xmlns:a16="http://schemas.microsoft.com/office/drawing/2014/main" id="{01875F15-6869-436D-A537-E1C749210DB3}"/>
              </a:ext>
            </a:extLst>
          </p:cNvPr>
          <p:cNvSpPr>
            <a:spLocks noGrp="1"/>
          </p:cNvSpPr>
          <p:nvPr>
            <p:ph type="sldNum" sz="quarter" idx="12"/>
          </p:nvPr>
        </p:nvSpPr>
        <p:spPr/>
        <p:txBody>
          <a:bodyPr/>
          <a:lstStyle/>
          <a:p>
            <a:fld id="{6B97D948-30E8-43F7-AE10-F6E2D9F2BBB1}" type="slidenum">
              <a:rPr lang="en-US" smtClean="0"/>
              <a:t>470</a:t>
            </a:fld>
            <a:endParaRPr lang="en-US"/>
          </a:p>
        </p:txBody>
      </p:sp>
      <p:pic>
        <p:nvPicPr>
          <p:cNvPr id="8" name="Picture 7">
            <a:extLst>
              <a:ext uri="{FF2B5EF4-FFF2-40B4-BE49-F238E27FC236}">
                <a16:creationId xmlns:a16="http://schemas.microsoft.com/office/drawing/2014/main" id="{BA12068F-7CC1-4962-A3F2-8082BB9A5A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7883" y="1569715"/>
            <a:ext cx="5193797" cy="5032749"/>
          </a:xfrm>
          <a:prstGeom prst="rect">
            <a:avLst/>
          </a:prstGeom>
        </p:spPr>
      </p:pic>
    </p:spTree>
    <p:extLst>
      <p:ext uri="{BB962C8B-B14F-4D97-AF65-F5344CB8AC3E}">
        <p14:creationId xmlns:p14="http://schemas.microsoft.com/office/powerpoint/2010/main" val="3365616050"/>
      </p:ext>
    </p:extLst>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CF835-AA30-408C-B60C-1DB889022DE6}"/>
              </a:ext>
            </a:extLst>
          </p:cNvPr>
          <p:cNvSpPr>
            <a:spLocks noGrp="1"/>
          </p:cNvSpPr>
          <p:nvPr>
            <p:ph type="title"/>
          </p:nvPr>
        </p:nvSpPr>
        <p:spPr>
          <a:xfrm>
            <a:off x="838200" y="365125"/>
            <a:ext cx="10515600" cy="655955"/>
          </a:xfrm>
        </p:spPr>
        <p:txBody>
          <a:bodyPr>
            <a:normAutofit fontScale="90000"/>
          </a:bodyPr>
          <a:lstStyle/>
          <a:p>
            <a:r>
              <a:rPr lang="en-US" dirty="0"/>
              <a:t>Autocorrelation</a:t>
            </a:r>
          </a:p>
        </p:txBody>
      </p:sp>
      <p:sp>
        <p:nvSpPr>
          <p:cNvPr id="3" name="Content Placeholder 2">
            <a:extLst>
              <a:ext uri="{FF2B5EF4-FFF2-40B4-BE49-F238E27FC236}">
                <a16:creationId xmlns:a16="http://schemas.microsoft.com/office/drawing/2014/main" id="{93C132B1-7BF3-4FAF-8824-984EE9097F57}"/>
              </a:ext>
            </a:extLst>
          </p:cNvPr>
          <p:cNvSpPr>
            <a:spLocks noGrp="1"/>
          </p:cNvSpPr>
          <p:nvPr>
            <p:ph idx="1"/>
          </p:nvPr>
        </p:nvSpPr>
        <p:spPr>
          <a:xfrm>
            <a:off x="838200" y="1021080"/>
            <a:ext cx="10515600" cy="5155883"/>
          </a:xfrm>
        </p:spPr>
        <p:txBody>
          <a:bodyPr/>
          <a:lstStyle/>
          <a:p>
            <a:pPr algn="just"/>
            <a:r>
              <a:rPr lang="en-US" dirty="0"/>
              <a:t>Autocorrelation is </a:t>
            </a:r>
            <a:r>
              <a:rPr lang="en-US" dirty="0">
                <a:solidFill>
                  <a:srgbClr val="FF0000"/>
                </a:solidFill>
              </a:rPr>
              <a:t>correlation of the errors (residuals) over time</a:t>
            </a:r>
            <a:r>
              <a:rPr lang="en-US" dirty="0"/>
              <a:t>. </a:t>
            </a:r>
          </a:p>
          <a:p>
            <a:pPr algn="just"/>
            <a:r>
              <a:rPr lang="en-US" dirty="0"/>
              <a:t>Used when data are collected over time to detect if autocorrelation is present. </a:t>
            </a:r>
          </a:p>
          <a:p>
            <a:pPr algn="just"/>
            <a:r>
              <a:rPr lang="en-US" dirty="0"/>
              <a:t>Autocorrelation exists if residuals in one time period are related to residuals in another period. </a:t>
            </a:r>
          </a:p>
          <a:p>
            <a:pPr algn="just"/>
            <a:r>
              <a:rPr lang="en-US" dirty="0"/>
              <a:t>We can detect autocorrelation by performing </a:t>
            </a:r>
            <a:r>
              <a:rPr lang="en-US" dirty="0">
                <a:solidFill>
                  <a:srgbClr val="FF0000"/>
                </a:solidFill>
              </a:rPr>
              <a:t>Durbin-Watson</a:t>
            </a:r>
            <a:r>
              <a:rPr lang="en-US" dirty="0"/>
              <a:t> test to determine if either positive or negative correlation is present.</a:t>
            </a:r>
          </a:p>
        </p:txBody>
      </p:sp>
      <p:sp>
        <p:nvSpPr>
          <p:cNvPr id="4" name="Slide Number Placeholder 3">
            <a:extLst>
              <a:ext uri="{FF2B5EF4-FFF2-40B4-BE49-F238E27FC236}">
                <a16:creationId xmlns:a16="http://schemas.microsoft.com/office/drawing/2014/main" id="{2050ADDB-BB16-4086-A6FF-E8836A3B6E0A}"/>
              </a:ext>
            </a:extLst>
          </p:cNvPr>
          <p:cNvSpPr>
            <a:spLocks noGrp="1"/>
          </p:cNvSpPr>
          <p:nvPr>
            <p:ph type="sldNum" sz="quarter" idx="12"/>
          </p:nvPr>
        </p:nvSpPr>
        <p:spPr/>
        <p:txBody>
          <a:bodyPr/>
          <a:lstStyle/>
          <a:p>
            <a:fld id="{6B97D948-30E8-43F7-AE10-F6E2D9F2BBB1}" type="slidenum">
              <a:rPr lang="en-US" smtClean="0"/>
              <a:t>471</a:t>
            </a:fld>
            <a:endParaRPr lang="en-US"/>
          </a:p>
        </p:txBody>
      </p:sp>
    </p:spTree>
    <p:extLst>
      <p:ext uri="{BB962C8B-B14F-4D97-AF65-F5344CB8AC3E}">
        <p14:creationId xmlns:p14="http://schemas.microsoft.com/office/powerpoint/2010/main" val="822710330"/>
      </p:ext>
    </p:extLst>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5E52B-A50F-4885-938E-7B54B011E6E0}"/>
              </a:ext>
            </a:extLst>
          </p:cNvPr>
          <p:cNvSpPr>
            <a:spLocks noGrp="1"/>
          </p:cNvSpPr>
          <p:nvPr>
            <p:ph type="title"/>
          </p:nvPr>
        </p:nvSpPr>
        <p:spPr>
          <a:xfrm>
            <a:off x="838200" y="365125"/>
            <a:ext cx="10515600" cy="732155"/>
          </a:xfrm>
        </p:spPr>
        <p:txBody>
          <a:bodyPr/>
          <a:lstStyle/>
          <a:p>
            <a:r>
              <a:rPr lang="en-US" dirty="0"/>
              <a:t>Decision</a:t>
            </a:r>
          </a:p>
        </p:txBody>
      </p:sp>
      <p:sp>
        <p:nvSpPr>
          <p:cNvPr id="3" name="Content Placeholder 2">
            <a:extLst>
              <a:ext uri="{FF2B5EF4-FFF2-40B4-BE49-F238E27FC236}">
                <a16:creationId xmlns:a16="http://schemas.microsoft.com/office/drawing/2014/main" id="{B32D6C2E-79B9-41BF-8587-6D0659D57947}"/>
              </a:ext>
            </a:extLst>
          </p:cNvPr>
          <p:cNvSpPr>
            <a:spLocks noGrp="1"/>
          </p:cNvSpPr>
          <p:nvPr>
            <p:ph idx="1"/>
          </p:nvPr>
        </p:nvSpPr>
        <p:spPr>
          <a:xfrm>
            <a:off x="838200" y="1097280"/>
            <a:ext cx="10515600" cy="5079683"/>
          </a:xfrm>
        </p:spPr>
        <p:txBody>
          <a:bodyPr/>
          <a:lstStyle/>
          <a:p>
            <a:pPr algn="just"/>
            <a:r>
              <a:rPr lang="en-US" dirty="0"/>
              <a:t>If the Durbin-Watson </a:t>
            </a:r>
            <a:r>
              <a:rPr lang="en-US" dirty="0">
                <a:solidFill>
                  <a:srgbClr val="FF0000"/>
                </a:solidFill>
              </a:rPr>
              <a:t>score is less than 1.5 </a:t>
            </a:r>
            <a:r>
              <a:rPr lang="en-US" dirty="0"/>
              <a:t>then there is a </a:t>
            </a:r>
            <a:r>
              <a:rPr lang="en-US" dirty="0">
                <a:solidFill>
                  <a:srgbClr val="FF0000"/>
                </a:solidFill>
              </a:rPr>
              <a:t>positive autocorrelation and the assumption is not satisfied</a:t>
            </a:r>
          </a:p>
          <a:p>
            <a:pPr algn="just"/>
            <a:endParaRPr lang="en-US" dirty="0"/>
          </a:p>
          <a:p>
            <a:pPr algn="just"/>
            <a:r>
              <a:rPr lang="en-US" dirty="0"/>
              <a:t>If the Durbin-Watson score is </a:t>
            </a:r>
            <a:r>
              <a:rPr lang="en-US" dirty="0">
                <a:solidFill>
                  <a:srgbClr val="FF0000"/>
                </a:solidFill>
              </a:rPr>
              <a:t>between 1.5 and 2.5 </a:t>
            </a:r>
            <a:r>
              <a:rPr lang="en-US" dirty="0"/>
              <a:t>then there is </a:t>
            </a:r>
            <a:r>
              <a:rPr lang="en-US" dirty="0">
                <a:solidFill>
                  <a:srgbClr val="FF0000"/>
                </a:solidFill>
              </a:rPr>
              <a:t>no autocorrelation and the assumption is satisfied</a:t>
            </a:r>
          </a:p>
          <a:p>
            <a:pPr algn="just"/>
            <a:endParaRPr lang="en-US" dirty="0"/>
          </a:p>
          <a:p>
            <a:pPr algn="just"/>
            <a:r>
              <a:rPr lang="en-US" dirty="0"/>
              <a:t>If the Durbin-Watson score is </a:t>
            </a:r>
            <a:r>
              <a:rPr lang="en-US" dirty="0">
                <a:solidFill>
                  <a:srgbClr val="FF0000"/>
                </a:solidFill>
              </a:rPr>
              <a:t>more than 2.5 </a:t>
            </a:r>
            <a:r>
              <a:rPr lang="en-US" dirty="0"/>
              <a:t>then there is a </a:t>
            </a:r>
            <a:r>
              <a:rPr lang="en-US" dirty="0">
                <a:solidFill>
                  <a:srgbClr val="FF0000"/>
                </a:solidFill>
              </a:rPr>
              <a:t>negative autocorrelation and the assumption is not satisfied</a:t>
            </a:r>
          </a:p>
          <a:p>
            <a:endParaRPr lang="en-US" dirty="0"/>
          </a:p>
        </p:txBody>
      </p:sp>
      <p:sp>
        <p:nvSpPr>
          <p:cNvPr id="4" name="Slide Number Placeholder 3">
            <a:extLst>
              <a:ext uri="{FF2B5EF4-FFF2-40B4-BE49-F238E27FC236}">
                <a16:creationId xmlns:a16="http://schemas.microsoft.com/office/drawing/2014/main" id="{92F5E16D-4DDA-4775-92EB-A7A4B347DC30}"/>
              </a:ext>
            </a:extLst>
          </p:cNvPr>
          <p:cNvSpPr>
            <a:spLocks noGrp="1"/>
          </p:cNvSpPr>
          <p:nvPr>
            <p:ph type="sldNum" sz="quarter" idx="12"/>
          </p:nvPr>
        </p:nvSpPr>
        <p:spPr/>
        <p:txBody>
          <a:bodyPr/>
          <a:lstStyle/>
          <a:p>
            <a:fld id="{6B97D948-30E8-43F7-AE10-F6E2D9F2BBB1}" type="slidenum">
              <a:rPr lang="en-US" smtClean="0"/>
              <a:t>472</a:t>
            </a:fld>
            <a:endParaRPr lang="en-US"/>
          </a:p>
        </p:txBody>
      </p:sp>
    </p:spTree>
    <p:extLst>
      <p:ext uri="{BB962C8B-B14F-4D97-AF65-F5344CB8AC3E}">
        <p14:creationId xmlns:p14="http://schemas.microsoft.com/office/powerpoint/2010/main" val="4119299206"/>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09C727-4685-4F82-A422-55E073413145}"/>
              </a:ext>
            </a:extLst>
          </p:cNvPr>
          <p:cNvSpPr>
            <a:spLocks noGrp="1"/>
          </p:cNvSpPr>
          <p:nvPr>
            <p:ph idx="1"/>
          </p:nvPr>
        </p:nvSpPr>
        <p:spPr>
          <a:xfrm>
            <a:off x="838200" y="411480"/>
            <a:ext cx="10515600" cy="5765483"/>
          </a:xfrm>
        </p:spPr>
        <p:txBody>
          <a:bodyPr>
            <a:normAutofit/>
          </a:bodyPr>
          <a:lstStyle/>
          <a:p>
            <a:r>
              <a:rPr lang="en-US" dirty="0">
                <a:solidFill>
                  <a:srgbClr val="FF0000"/>
                </a:solidFill>
              </a:rPr>
              <a:t>from </a:t>
            </a:r>
            <a:r>
              <a:rPr lang="en-US" dirty="0" err="1">
                <a:solidFill>
                  <a:srgbClr val="FF0000"/>
                </a:solidFill>
              </a:rPr>
              <a:t>statsmodels.stats.stattools</a:t>
            </a:r>
            <a:r>
              <a:rPr lang="en-US" dirty="0">
                <a:solidFill>
                  <a:srgbClr val="FF0000"/>
                </a:solidFill>
              </a:rPr>
              <a:t> import </a:t>
            </a:r>
            <a:r>
              <a:rPr lang="en-US" dirty="0" err="1">
                <a:solidFill>
                  <a:srgbClr val="FF0000"/>
                </a:solidFill>
              </a:rPr>
              <a:t>durbin_watson</a:t>
            </a:r>
            <a:endParaRPr lang="en-US" dirty="0">
              <a:solidFill>
                <a:srgbClr val="FF0000"/>
              </a:solidFill>
            </a:endParaRPr>
          </a:p>
          <a:p>
            <a:r>
              <a:rPr lang="en-US" dirty="0" err="1">
                <a:solidFill>
                  <a:srgbClr val="FF0000"/>
                </a:solidFill>
              </a:rPr>
              <a:t>durbinWatson</a:t>
            </a:r>
            <a:r>
              <a:rPr lang="en-US" dirty="0">
                <a:solidFill>
                  <a:srgbClr val="FF0000"/>
                </a:solidFill>
              </a:rPr>
              <a:t> = </a:t>
            </a:r>
            <a:r>
              <a:rPr lang="en-US" dirty="0" err="1">
                <a:solidFill>
                  <a:srgbClr val="FF0000"/>
                </a:solidFill>
              </a:rPr>
              <a:t>durbin_watson</a:t>
            </a:r>
            <a:r>
              <a:rPr lang="en-US" dirty="0">
                <a:solidFill>
                  <a:srgbClr val="FF0000"/>
                </a:solidFill>
              </a:rPr>
              <a:t>(advert['Residuals'])</a:t>
            </a:r>
          </a:p>
          <a:p>
            <a:endParaRPr lang="en-US" dirty="0">
              <a:solidFill>
                <a:srgbClr val="FF0000"/>
              </a:solidFill>
            </a:endParaRPr>
          </a:p>
          <a:p>
            <a:r>
              <a:rPr lang="en-US" dirty="0">
                <a:solidFill>
                  <a:srgbClr val="FF0000"/>
                </a:solidFill>
              </a:rPr>
              <a:t>print('Durbin-Watson:', </a:t>
            </a:r>
            <a:r>
              <a:rPr lang="en-US" dirty="0" err="1">
                <a:solidFill>
                  <a:srgbClr val="FF0000"/>
                </a:solidFill>
              </a:rPr>
              <a:t>durbinWatson</a:t>
            </a:r>
            <a:r>
              <a:rPr lang="en-US" dirty="0">
                <a:solidFill>
                  <a:srgbClr val="FF0000"/>
                </a:solidFill>
              </a:rPr>
              <a:t>)</a:t>
            </a:r>
          </a:p>
          <a:p>
            <a:r>
              <a:rPr lang="en-US" dirty="0"/>
              <a:t>Durbin-Watson: 2.2505518360793566</a:t>
            </a:r>
          </a:p>
        </p:txBody>
      </p:sp>
      <p:sp>
        <p:nvSpPr>
          <p:cNvPr id="4" name="Slide Number Placeholder 3">
            <a:extLst>
              <a:ext uri="{FF2B5EF4-FFF2-40B4-BE49-F238E27FC236}">
                <a16:creationId xmlns:a16="http://schemas.microsoft.com/office/drawing/2014/main" id="{063C0C6C-B0E1-48C4-8AC5-74CF95BA84AF}"/>
              </a:ext>
            </a:extLst>
          </p:cNvPr>
          <p:cNvSpPr>
            <a:spLocks noGrp="1"/>
          </p:cNvSpPr>
          <p:nvPr>
            <p:ph type="sldNum" sz="quarter" idx="12"/>
          </p:nvPr>
        </p:nvSpPr>
        <p:spPr/>
        <p:txBody>
          <a:bodyPr/>
          <a:lstStyle/>
          <a:p>
            <a:fld id="{6B97D948-30E8-43F7-AE10-F6E2D9F2BBB1}" type="slidenum">
              <a:rPr lang="en-US" smtClean="0"/>
              <a:t>473</a:t>
            </a:fld>
            <a:endParaRPr lang="en-US"/>
          </a:p>
        </p:txBody>
      </p:sp>
    </p:spTree>
    <p:extLst>
      <p:ext uri="{BB962C8B-B14F-4D97-AF65-F5344CB8AC3E}">
        <p14:creationId xmlns:p14="http://schemas.microsoft.com/office/powerpoint/2010/main" val="2072497233"/>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1CF13-0DE4-4E55-A8D9-B1FFD29318B3}"/>
              </a:ext>
            </a:extLst>
          </p:cNvPr>
          <p:cNvSpPr>
            <a:spLocks noGrp="1"/>
          </p:cNvSpPr>
          <p:nvPr>
            <p:ph type="title"/>
          </p:nvPr>
        </p:nvSpPr>
        <p:spPr>
          <a:xfrm>
            <a:off x="838200" y="365125"/>
            <a:ext cx="10515600" cy="716915"/>
          </a:xfrm>
        </p:spPr>
        <p:txBody>
          <a:bodyPr/>
          <a:lstStyle/>
          <a:p>
            <a:r>
              <a:rPr lang="en-US" dirty="0"/>
              <a:t>Homoscedasticity</a:t>
            </a:r>
          </a:p>
        </p:txBody>
      </p:sp>
      <p:sp>
        <p:nvSpPr>
          <p:cNvPr id="3" name="Content Placeholder 2">
            <a:extLst>
              <a:ext uri="{FF2B5EF4-FFF2-40B4-BE49-F238E27FC236}">
                <a16:creationId xmlns:a16="http://schemas.microsoft.com/office/drawing/2014/main" id="{F1F3290A-5DBC-4864-A482-946EB23DE962}"/>
              </a:ext>
            </a:extLst>
          </p:cNvPr>
          <p:cNvSpPr>
            <a:spLocks noGrp="1"/>
          </p:cNvSpPr>
          <p:nvPr>
            <p:ph idx="1"/>
          </p:nvPr>
        </p:nvSpPr>
        <p:spPr>
          <a:xfrm>
            <a:off x="838200" y="960120"/>
            <a:ext cx="10515600" cy="5216843"/>
          </a:xfrm>
        </p:spPr>
        <p:txBody>
          <a:bodyPr/>
          <a:lstStyle/>
          <a:p>
            <a:pPr algn="just"/>
            <a:r>
              <a:rPr lang="en-US" dirty="0">
                <a:solidFill>
                  <a:srgbClr val="FF0000"/>
                </a:solidFill>
              </a:rPr>
              <a:t>Homo</a:t>
            </a:r>
            <a:r>
              <a:rPr lang="en-US" dirty="0"/>
              <a:t>scedasticity assumes same variance within our error terms. </a:t>
            </a:r>
          </a:p>
          <a:p>
            <a:pPr algn="just"/>
            <a:endParaRPr lang="en-US" dirty="0">
              <a:solidFill>
                <a:srgbClr val="FF0000"/>
              </a:solidFill>
            </a:endParaRPr>
          </a:p>
          <a:p>
            <a:pPr algn="just"/>
            <a:r>
              <a:rPr lang="en-US" dirty="0">
                <a:solidFill>
                  <a:srgbClr val="FF0000"/>
                </a:solidFill>
              </a:rPr>
              <a:t>Hetero</a:t>
            </a:r>
            <a:r>
              <a:rPr lang="en-US" dirty="0"/>
              <a:t>scedasticity is the violation of homoscedasticity and it occurs when we don’t have an even variance across the error terms. </a:t>
            </a:r>
          </a:p>
          <a:p>
            <a:pPr algn="just"/>
            <a:endParaRPr lang="en-US" dirty="0"/>
          </a:p>
          <a:p>
            <a:pPr algn="just"/>
            <a:r>
              <a:rPr lang="en-US" dirty="0"/>
              <a:t>To detect homoscedasticity, we can plot our residual and see if the variance appears to be uniform.</a:t>
            </a:r>
          </a:p>
        </p:txBody>
      </p:sp>
      <p:sp>
        <p:nvSpPr>
          <p:cNvPr id="4" name="Slide Number Placeholder 3">
            <a:extLst>
              <a:ext uri="{FF2B5EF4-FFF2-40B4-BE49-F238E27FC236}">
                <a16:creationId xmlns:a16="http://schemas.microsoft.com/office/drawing/2014/main" id="{87579019-D5D5-4E73-B1FA-62FF8E12B4A5}"/>
              </a:ext>
            </a:extLst>
          </p:cNvPr>
          <p:cNvSpPr>
            <a:spLocks noGrp="1"/>
          </p:cNvSpPr>
          <p:nvPr>
            <p:ph type="sldNum" sz="quarter" idx="12"/>
          </p:nvPr>
        </p:nvSpPr>
        <p:spPr/>
        <p:txBody>
          <a:bodyPr/>
          <a:lstStyle/>
          <a:p>
            <a:fld id="{6B97D948-30E8-43F7-AE10-F6E2D9F2BBB1}" type="slidenum">
              <a:rPr lang="en-US" smtClean="0"/>
              <a:t>474</a:t>
            </a:fld>
            <a:endParaRPr lang="en-US"/>
          </a:p>
        </p:txBody>
      </p:sp>
    </p:spTree>
    <p:extLst>
      <p:ext uri="{BB962C8B-B14F-4D97-AF65-F5344CB8AC3E}">
        <p14:creationId xmlns:p14="http://schemas.microsoft.com/office/powerpoint/2010/main" val="398259148"/>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BD614-D159-48CA-9A1B-F7EE4FA1F99B}"/>
              </a:ext>
            </a:extLst>
          </p:cNvPr>
          <p:cNvSpPr>
            <a:spLocks noGrp="1"/>
          </p:cNvSpPr>
          <p:nvPr>
            <p:ph idx="1"/>
          </p:nvPr>
        </p:nvSpPr>
        <p:spPr>
          <a:xfrm>
            <a:off x="838200" y="472440"/>
            <a:ext cx="10515600" cy="5704523"/>
          </a:xfrm>
        </p:spPr>
        <p:txBody>
          <a:bodyPr>
            <a:normAutofit lnSpcReduction="10000"/>
          </a:bodyPr>
          <a:lstStyle/>
          <a:p>
            <a:r>
              <a:rPr lang="en-US" dirty="0" err="1">
                <a:solidFill>
                  <a:srgbClr val="FF0000"/>
                </a:solidFill>
              </a:rPr>
              <a:t>plt.subplots</a:t>
            </a:r>
            <a:r>
              <a:rPr lang="en-US" dirty="0">
                <a:solidFill>
                  <a:srgbClr val="FF0000"/>
                </a:solidFill>
              </a:rPr>
              <a:t>(</a:t>
            </a:r>
            <a:r>
              <a:rPr lang="en-US" dirty="0" err="1">
                <a:solidFill>
                  <a:srgbClr val="FF0000"/>
                </a:solidFill>
              </a:rPr>
              <a:t>figsize</a:t>
            </a:r>
            <a:r>
              <a:rPr lang="en-US" dirty="0">
                <a:solidFill>
                  <a:srgbClr val="FF0000"/>
                </a:solidFill>
              </a:rPr>
              <a:t>=(6, 4))</a:t>
            </a:r>
          </a:p>
          <a:p>
            <a:endParaRPr lang="en-US" dirty="0">
              <a:solidFill>
                <a:srgbClr val="FF0000"/>
              </a:solidFill>
            </a:endParaRPr>
          </a:p>
          <a:p>
            <a:r>
              <a:rPr lang="en-US" dirty="0" err="1">
                <a:solidFill>
                  <a:srgbClr val="FF0000"/>
                </a:solidFill>
              </a:rPr>
              <a:t>plt.scatter</a:t>
            </a:r>
            <a:r>
              <a:rPr lang="en-US" dirty="0">
                <a:solidFill>
                  <a:srgbClr val="FF0000"/>
                </a:solidFill>
              </a:rPr>
              <a:t>(x = </a:t>
            </a:r>
            <a:r>
              <a:rPr lang="en-US" dirty="0" err="1">
                <a:solidFill>
                  <a:srgbClr val="FF0000"/>
                </a:solidFill>
              </a:rPr>
              <a:t>advert.index</a:t>
            </a:r>
            <a:r>
              <a:rPr lang="en-US" dirty="0">
                <a:solidFill>
                  <a:srgbClr val="FF0000"/>
                </a:solidFill>
              </a:rPr>
              <a:t>, y = </a:t>
            </a:r>
            <a:r>
              <a:rPr lang="en-US" dirty="0" err="1">
                <a:solidFill>
                  <a:srgbClr val="FF0000"/>
                </a:solidFill>
              </a:rPr>
              <a:t>advert.Residuals</a:t>
            </a:r>
            <a:r>
              <a:rPr lang="en-US" dirty="0">
                <a:solidFill>
                  <a:srgbClr val="FF0000"/>
                </a:solidFill>
              </a:rPr>
              <a:t>, alpha=0.8)</a:t>
            </a:r>
          </a:p>
          <a:p>
            <a:endParaRPr lang="en-US" dirty="0">
              <a:solidFill>
                <a:srgbClr val="FF0000"/>
              </a:solidFill>
            </a:endParaRPr>
          </a:p>
          <a:p>
            <a:r>
              <a:rPr lang="en-US" dirty="0" err="1">
                <a:solidFill>
                  <a:srgbClr val="FF0000"/>
                </a:solidFill>
              </a:rPr>
              <a:t>plt.plot</a:t>
            </a:r>
            <a:r>
              <a:rPr lang="en-US" dirty="0">
                <a:solidFill>
                  <a:srgbClr val="FF0000"/>
                </a:solidFill>
              </a:rPr>
              <a:t>(</a:t>
            </a:r>
            <a:r>
              <a:rPr lang="en-US" dirty="0" err="1">
                <a:solidFill>
                  <a:srgbClr val="FF0000"/>
                </a:solidFill>
              </a:rPr>
              <a:t>np.repeat</a:t>
            </a:r>
            <a:r>
              <a:rPr lang="en-US" dirty="0">
                <a:solidFill>
                  <a:srgbClr val="FF0000"/>
                </a:solidFill>
              </a:rPr>
              <a:t>(0, </a:t>
            </a:r>
            <a:r>
              <a:rPr lang="en-US" dirty="0" err="1">
                <a:solidFill>
                  <a:srgbClr val="FF0000"/>
                </a:solidFill>
              </a:rPr>
              <a:t>len</a:t>
            </a:r>
            <a:r>
              <a:rPr lang="en-US" dirty="0">
                <a:solidFill>
                  <a:srgbClr val="FF0000"/>
                </a:solidFill>
              </a:rPr>
              <a:t>(</a:t>
            </a:r>
            <a:r>
              <a:rPr lang="en-US" dirty="0" err="1">
                <a:solidFill>
                  <a:srgbClr val="FF0000"/>
                </a:solidFill>
              </a:rPr>
              <a:t>advert.index</a:t>
            </a:r>
            <a:r>
              <a:rPr lang="en-US" dirty="0">
                <a:solidFill>
                  <a:srgbClr val="FF0000"/>
                </a:solidFill>
              </a:rPr>
              <a:t>)), color = '</a:t>
            </a:r>
            <a:r>
              <a:rPr lang="en-US" dirty="0" err="1">
                <a:solidFill>
                  <a:srgbClr val="FF0000"/>
                </a:solidFill>
              </a:rPr>
              <a:t>darkorange</a:t>
            </a:r>
            <a:r>
              <a:rPr lang="en-US" dirty="0">
                <a:solidFill>
                  <a:srgbClr val="FF0000"/>
                </a:solidFill>
              </a:rPr>
              <a:t>', </a:t>
            </a:r>
            <a:r>
              <a:rPr lang="en-US" dirty="0" err="1">
                <a:solidFill>
                  <a:srgbClr val="FF0000"/>
                </a:solidFill>
              </a:rPr>
              <a:t>linestyle</a:t>
            </a:r>
            <a:r>
              <a:rPr lang="en-US" dirty="0">
                <a:solidFill>
                  <a:srgbClr val="FF0000"/>
                </a:solidFill>
              </a:rPr>
              <a:t> = '--’)</a:t>
            </a:r>
          </a:p>
          <a:p>
            <a:endParaRPr lang="en-US" dirty="0">
              <a:solidFill>
                <a:srgbClr val="FF0000"/>
              </a:solidFill>
            </a:endParaRPr>
          </a:p>
          <a:p>
            <a:r>
              <a:rPr lang="en-US" dirty="0" err="1">
                <a:solidFill>
                  <a:srgbClr val="FF0000"/>
                </a:solidFill>
              </a:rPr>
              <a:t>plt.ylabel</a:t>
            </a:r>
            <a:r>
              <a:rPr lang="en-US" dirty="0">
                <a:solidFill>
                  <a:srgbClr val="FF0000"/>
                </a:solidFill>
              </a:rPr>
              <a:t>('Residual', </a:t>
            </a:r>
            <a:r>
              <a:rPr lang="en-US" dirty="0" err="1">
                <a:solidFill>
                  <a:srgbClr val="FF0000"/>
                </a:solidFill>
              </a:rPr>
              <a:t>fontsize</a:t>
            </a:r>
            <a:r>
              <a:rPr lang="en-US" dirty="0">
                <a:solidFill>
                  <a:srgbClr val="FF0000"/>
                </a:solidFill>
              </a:rPr>
              <a:t> = 14)</a:t>
            </a:r>
          </a:p>
          <a:p>
            <a:endParaRPr lang="en-US" dirty="0">
              <a:solidFill>
                <a:srgbClr val="FF0000"/>
              </a:solidFill>
            </a:endParaRPr>
          </a:p>
          <a:p>
            <a:r>
              <a:rPr lang="en-US" dirty="0" err="1">
                <a:solidFill>
                  <a:srgbClr val="FF0000"/>
                </a:solidFill>
              </a:rPr>
              <a:t>plt.xlabel</a:t>
            </a:r>
            <a:r>
              <a:rPr lang="en-US" dirty="0">
                <a:solidFill>
                  <a:srgbClr val="FF0000"/>
                </a:solidFill>
              </a:rPr>
              <a:t>('Index', </a:t>
            </a:r>
            <a:r>
              <a:rPr lang="en-US" dirty="0" err="1">
                <a:solidFill>
                  <a:srgbClr val="FF0000"/>
                </a:solidFill>
              </a:rPr>
              <a:t>fontsize</a:t>
            </a:r>
            <a:r>
              <a:rPr lang="en-US" dirty="0">
                <a:solidFill>
                  <a:srgbClr val="FF0000"/>
                </a:solidFill>
              </a:rPr>
              <a:t>=14)</a:t>
            </a:r>
          </a:p>
          <a:p>
            <a:endParaRPr lang="en-US" dirty="0">
              <a:solidFill>
                <a:srgbClr val="FF0000"/>
              </a:solidFill>
            </a:endParaRPr>
          </a:p>
          <a:p>
            <a:r>
              <a:rPr lang="en-US" dirty="0" err="1">
                <a:solidFill>
                  <a:srgbClr val="FF0000"/>
                </a:solidFill>
              </a:rPr>
              <a:t>plt.title</a:t>
            </a:r>
            <a:r>
              <a:rPr lang="en-US" dirty="0">
                <a:solidFill>
                  <a:srgbClr val="FF0000"/>
                </a:solidFill>
              </a:rPr>
              <a:t>('</a:t>
            </a:r>
            <a:r>
              <a:rPr lang="en-US" dirty="0" err="1">
                <a:solidFill>
                  <a:srgbClr val="FF0000"/>
                </a:solidFill>
              </a:rPr>
              <a:t>Homescedasticity</a:t>
            </a:r>
            <a:r>
              <a:rPr lang="en-US" dirty="0">
                <a:solidFill>
                  <a:srgbClr val="FF0000"/>
                </a:solidFill>
              </a:rPr>
              <a:t> Assumption', </a:t>
            </a:r>
            <a:r>
              <a:rPr lang="en-US" dirty="0" err="1">
                <a:solidFill>
                  <a:srgbClr val="FF0000"/>
                </a:solidFill>
              </a:rPr>
              <a:t>fontsize</a:t>
            </a:r>
            <a:r>
              <a:rPr lang="en-US" dirty="0">
                <a:solidFill>
                  <a:srgbClr val="FF0000"/>
                </a:solidFill>
              </a:rPr>
              <a:t>=16)</a:t>
            </a:r>
          </a:p>
          <a:p>
            <a:endParaRPr lang="en-US" dirty="0"/>
          </a:p>
        </p:txBody>
      </p:sp>
      <p:sp>
        <p:nvSpPr>
          <p:cNvPr id="4" name="Slide Number Placeholder 3">
            <a:extLst>
              <a:ext uri="{FF2B5EF4-FFF2-40B4-BE49-F238E27FC236}">
                <a16:creationId xmlns:a16="http://schemas.microsoft.com/office/drawing/2014/main" id="{C6B521DC-0F27-4905-9B1E-17A644B49067}"/>
              </a:ext>
            </a:extLst>
          </p:cNvPr>
          <p:cNvSpPr>
            <a:spLocks noGrp="1"/>
          </p:cNvSpPr>
          <p:nvPr>
            <p:ph type="sldNum" sz="quarter" idx="12"/>
          </p:nvPr>
        </p:nvSpPr>
        <p:spPr/>
        <p:txBody>
          <a:bodyPr/>
          <a:lstStyle/>
          <a:p>
            <a:fld id="{6B97D948-30E8-43F7-AE10-F6E2D9F2BBB1}" type="slidenum">
              <a:rPr lang="en-US" smtClean="0"/>
              <a:t>475</a:t>
            </a:fld>
            <a:endParaRPr lang="en-US"/>
          </a:p>
        </p:txBody>
      </p:sp>
    </p:spTree>
    <p:extLst>
      <p:ext uri="{BB962C8B-B14F-4D97-AF65-F5344CB8AC3E}">
        <p14:creationId xmlns:p14="http://schemas.microsoft.com/office/powerpoint/2010/main" val="1741841285"/>
      </p:ext>
    </p:extLst>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FC4CB1-3E90-4A03-8A86-36B762106EB1}"/>
              </a:ext>
            </a:extLst>
          </p:cNvPr>
          <p:cNvPicPr>
            <a:picLocks noGrp="1" noChangeAspect="1"/>
          </p:cNvPicPr>
          <p:nvPr>
            <p:ph idx="1"/>
          </p:nvPr>
        </p:nvPicPr>
        <p:blipFill>
          <a:blip r:embed="rId2"/>
          <a:stretch>
            <a:fillRect/>
          </a:stretch>
        </p:blipFill>
        <p:spPr>
          <a:xfrm>
            <a:off x="2194560" y="872014"/>
            <a:ext cx="7551420" cy="5034280"/>
          </a:xfrm>
          <a:prstGeom prst="rect">
            <a:avLst/>
          </a:prstGeom>
        </p:spPr>
      </p:pic>
      <p:sp>
        <p:nvSpPr>
          <p:cNvPr id="4" name="Slide Number Placeholder 3">
            <a:extLst>
              <a:ext uri="{FF2B5EF4-FFF2-40B4-BE49-F238E27FC236}">
                <a16:creationId xmlns:a16="http://schemas.microsoft.com/office/drawing/2014/main" id="{7E52D901-4F60-4729-895E-CB7FA6F7883B}"/>
              </a:ext>
            </a:extLst>
          </p:cNvPr>
          <p:cNvSpPr>
            <a:spLocks noGrp="1"/>
          </p:cNvSpPr>
          <p:nvPr>
            <p:ph type="sldNum" sz="quarter" idx="12"/>
          </p:nvPr>
        </p:nvSpPr>
        <p:spPr/>
        <p:txBody>
          <a:bodyPr/>
          <a:lstStyle/>
          <a:p>
            <a:fld id="{6B97D948-30E8-43F7-AE10-F6E2D9F2BBB1}" type="slidenum">
              <a:rPr lang="en-US" smtClean="0"/>
              <a:t>476</a:t>
            </a:fld>
            <a:endParaRPr lang="en-US"/>
          </a:p>
        </p:txBody>
      </p:sp>
    </p:spTree>
    <p:extLst>
      <p:ext uri="{BB962C8B-B14F-4D97-AF65-F5344CB8AC3E}">
        <p14:creationId xmlns:p14="http://schemas.microsoft.com/office/powerpoint/2010/main" val="3798666995"/>
      </p:ext>
    </p:extLst>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407B10-E247-4AFE-9DE2-99472FBF6F88}"/>
              </a:ext>
            </a:extLst>
          </p:cNvPr>
          <p:cNvSpPr>
            <a:spLocks noGrp="1"/>
          </p:cNvSpPr>
          <p:nvPr>
            <p:ph idx="1"/>
          </p:nvPr>
        </p:nvSpPr>
        <p:spPr>
          <a:xfrm>
            <a:off x="838200" y="553453"/>
            <a:ext cx="10515600" cy="5623510"/>
          </a:xfrm>
        </p:spPr>
        <p:txBody>
          <a:bodyPr>
            <a:normAutofit/>
          </a:bodyPr>
          <a:lstStyle/>
          <a:p>
            <a:r>
              <a:rPr lang="en-US" dirty="0"/>
              <a:t>    </a:t>
            </a:r>
            <a:r>
              <a:rPr lang="en-US" dirty="0">
                <a:solidFill>
                  <a:srgbClr val="FF0000"/>
                </a:solidFill>
              </a:rPr>
              <a:t>NumPy</a:t>
            </a:r>
            <a:r>
              <a:rPr lang="en-US" dirty="0"/>
              <a:t> and built-in function support</a:t>
            </a:r>
          </a:p>
          <a:p>
            <a:r>
              <a:rPr lang="en-US" dirty="0"/>
              <a:t>    </a:t>
            </a:r>
            <a:r>
              <a:rPr lang="en-US" dirty="0">
                <a:solidFill>
                  <a:srgbClr val="FF0000"/>
                </a:solidFill>
              </a:rPr>
              <a:t>.shape</a:t>
            </a:r>
          </a:p>
          <a:p>
            <a:r>
              <a:rPr lang="en-US" dirty="0">
                <a:solidFill>
                  <a:srgbClr val="FF0000"/>
                </a:solidFill>
              </a:rPr>
              <a:t>    .size</a:t>
            </a:r>
          </a:p>
          <a:p>
            <a:r>
              <a:rPr lang="en-US" dirty="0">
                <a:solidFill>
                  <a:srgbClr val="FF0000"/>
                </a:solidFill>
              </a:rPr>
              <a:t>    .describe()</a:t>
            </a:r>
          </a:p>
          <a:p>
            <a:r>
              <a:rPr lang="en-US" dirty="0">
                <a:solidFill>
                  <a:srgbClr val="FF0000"/>
                </a:solidFill>
              </a:rPr>
              <a:t>    .sample()</a:t>
            </a:r>
          </a:p>
          <a:p>
            <a:r>
              <a:rPr lang="en-US" dirty="0">
                <a:solidFill>
                  <a:srgbClr val="FF0000"/>
                </a:solidFill>
              </a:rPr>
              <a:t>    .</a:t>
            </a:r>
            <a:r>
              <a:rPr lang="en-US" dirty="0" err="1">
                <a:solidFill>
                  <a:srgbClr val="FF0000"/>
                </a:solidFill>
              </a:rPr>
              <a:t>value_counts</a:t>
            </a:r>
            <a:r>
              <a:rPr lang="en-US" dirty="0">
                <a:solidFill>
                  <a:srgbClr val="FF0000"/>
                </a:solidFill>
              </a:rPr>
              <a:t>()</a:t>
            </a:r>
          </a:p>
          <a:p>
            <a:r>
              <a:rPr lang="en-US" dirty="0">
                <a:solidFill>
                  <a:srgbClr val="FF0000"/>
                </a:solidFill>
              </a:rPr>
              <a:t>    .unique()</a:t>
            </a:r>
          </a:p>
          <a:p>
            <a:r>
              <a:rPr lang="en-US" dirty="0">
                <a:solidFill>
                  <a:srgbClr val="FF0000"/>
                </a:solidFill>
              </a:rPr>
              <a:t>    .</a:t>
            </a:r>
            <a:r>
              <a:rPr lang="en-US" dirty="0" err="1">
                <a:solidFill>
                  <a:srgbClr val="FF0000"/>
                </a:solidFill>
              </a:rPr>
              <a:t>sort_values</a:t>
            </a:r>
            <a:r>
              <a:rPr lang="en-US" dirty="0">
                <a:solidFill>
                  <a:srgbClr val="FF0000"/>
                </a:solidFill>
              </a:rPr>
              <a:t>()</a:t>
            </a:r>
          </a:p>
          <a:p>
            <a:endParaRPr lang="en-US" dirty="0"/>
          </a:p>
        </p:txBody>
      </p:sp>
      <p:sp>
        <p:nvSpPr>
          <p:cNvPr id="4" name="Slide Number Placeholder 3">
            <a:extLst>
              <a:ext uri="{FF2B5EF4-FFF2-40B4-BE49-F238E27FC236}">
                <a16:creationId xmlns:a16="http://schemas.microsoft.com/office/drawing/2014/main" id="{EEEE79CD-FE47-459D-9B24-2EA819C678DD}"/>
              </a:ext>
            </a:extLst>
          </p:cNvPr>
          <p:cNvSpPr>
            <a:spLocks noGrp="1"/>
          </p:cNvSpPr>
          <p:nvPr>
            <p:ph type="sldNum" sz="quarter" idx="12"/>
          </p:nvPr>
        </p:nvSpPr>
        <p:spPr/>
        <p:txBody>
          <a:bodyPr/>
          <a:lstStyle/>
          <a:p>
            <a:fld id="{6B97D948-30E8-43F7-AE10-F6E2D9F2BBB1}" type="slidenum">
              <a:rPr lang="en-US" smtClean="0"/>
              <a:t>477</a:t>
            </a:fld>
            <a:endParaRPr lang="en-US"/>
          </a:p>
        </p:txBody>
      </p:sp>
    </p:spTree>
    <p:extLst>
      <p:ext uri="{BB962C8B-B14F-4D97-AF65-F5344CB8AC3E}">
        <p14:creationId xmlns:p14="http://schemas.microsoft.com/office/powerpoint/2010/main" val="4292549564"/>
      </p:ext>
    </p:extLst>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8829D-A8AE-45C0-9703-A6B1DCEF1818}"/>
              </a:ext>
            </a:extLst>
          </p:cNvPr>
          <p:cNvSpPr>
            <a:spLocks noGrp="1"/>
          </p:cNvSpPr>
          <p:nvPr>
            <p:ph type="title"/>
          </p:nvPr>
        </p:nvSpPr>
        <p:spPr>
          <a:xfrm>
            <a:off x="838200" y="365126"/>
            <a:ext cx="10515600" cy="513180"/>
          </a:xfrm>
        </p:spPr>
        <p:txBody>
          <a:bodyPr>
            <a:normAutofit fontScale="90000"/>
          </a:bodyPr>
          <a:lstStyle/>
          <a:p>
            <a:r>
              <a:rPr lang="en-US" dirty="0"/>
              <a:t>NumPy</a:t>
            </a:r>
          </a:p>
        </p:txBody>
      </p:sp>
      <p:sp>
        <p:nvSpPr>
          <p:cNvPr id="3" name="Content Placeholder 2">
            <a:extLst>
              <a:ext uri="{FF2B5EF4-FFF2-40B4-BE49-F238E27FC236}">
                <a16:creationId xmlns:a16="http://schemas.microsoft.com/office/drawing/2014/main" id="{B2D2EF87-CDEE-4E26-B689-6812A2374D85}"/>
              </a:ext>
            </a:extLst>
          </p:cNvPr>
          <p:cNvSpPr>
            <a:spLocks noGrp="1"/>
          </p:cNvSpPr>
          <p:nvPr>
            <p:ph idx="1"/>
          </p:nvPr>
        </p:nvSpPr>
        <p:spPr>
          <a:xfrm>
            <a:off x="838200" y="1010653"/>
            <a:ext cx="10515600" cy="5166310"/>
          </a:xfrm>
        </p:spPr>
        <p:txBody>
          <a:bodyPr>
            <a:normAutofit fontScale="92500" lnSpcReduction="20000"/>
          </a:bodyPr>
          <a:lstStyle/>
          <a:p>
            <a:pPr algn="just"/>
            <a:r>
              <a:rPr lang="en-US" dirty="0">
                <a:solidFill>
                  <a:srgbClr val="FF0000"/>
                </a:solidFill>
              </a:rPr>
              <a:t>pandas</a:t>
            </a:r>
            <a:r>
              <a:rPr lang="en-US" dirty="0"/>
              <a:t> is designed to work well with </a:t>
            </a:r>
            <a:r>
              <a:rPr lang="en-US" dirty="0">
                <a:solidFill>
                  <a:srgbClr val="FF0000"/>
                </a:solidFill>
              </a:rPr>
              <a:t>NumPy</a:t>
            </a:r>
            <a:r>
              <a:rPr lang="en-US" dirty="0"/>
              <a:t>, the framework for array computations.</a:t>
            </a:r>
          </a:p>
          <a:p>
            <a:pPr algn="just"/>
            <a:r>
              <a:rPr lang="en-US" dirty="0"/>
              <a:t>Just about any NumPy function can be applied to pandas </a:t>
            </a:r>
            <a:r>
              <a:rPr lang="en-US" dirty="0" err="1"/>
              <a:t>DataFrames</a:t>
            </a:r>
            <a:r>
              <a:rPr lang="en-US" dirty="0"/>
              <a:t> and Series.</a:t>
            </a:r>
          </a:p>
          <a:p>
            <a:pPr algn="just"/>
            <a:r>
              <a:rPr lang="en-US" dirty="0"/>
              <a:t># Pull out the number of babies named Bella each year</a:t>
            </a:r>
          </a:p>
          <a:p>
            <a:pPr algn="just"/>
            <a:r>
              <a:rPr lang="en-US" dirty="0" err="1">
                <a:solidFill>
                  <a:srgbClr val="FF0000"/>
                </a:solidFill>
              </a:rPr>
              <a:t>bella_counts</a:t>
            </a:r>
            <a:r>
              <a:rPr lang="en-US" dirty="0">
                <a:solidFill>
                  <a:srgbClr val="FF0000"/>
                </a:solidFill>
              </a:rPr>
              <a:t> = </a:t>
            </a:r>
            <a:r>
              <a:rPr lang="en-US" dirty="0" err="1">
                <a:solidFill>
                  <a:srgbClr val="FF0000"/>
                </a:solidFill>
              </a:rPr>
              <a:t>babynames</a:t>
            </a:r>
            <a:r>
              <a:rPr lang="en-US" dirty="0">
                <a:solidFill>
                  <a:srgbClr val="FF0000"/>
                </a:solidFill>
              </a:rPr>
              <a:t>[</a:t>
            </a:r>
            <a:r>
              <a:rPr lang="en-US" dirty="0" err="1">
                <a:solidFill>
                  <a:srgbClr val="FF0000"/>
                </a:solidFill>
              </a:rPr>
              <a:t>babynames</a:t>
            </a:r>
            <a:r>
              <a:rPr lang="en-US" dirty="0">
                <a:solidFill>
                  <a:srgbClr val="FF0000"/>
                </a:solidFill>
              </a:rPr>
              <a:t>[‘Name’] == ‘Bella’][‘Count’]</a:t>
            </a:r>
          </a:p>
          <a:p>
            <a:pPr algn="just"/>
            <a:endParaRPr lang="en-US" dirty="0"/>
          </a:p>
          <a:p>
            <a:pPr algn="just"/>
            <a:r>
              <a:rPr lang="en-US" dirty="0"/>
              <a:t># Average number of babies named Bella each year</a:t>
            </a:r>
          </a:p>
          <a:p>
            <a:pPr algn="just">
              <a:lnSpc>
                <a:spcPct val="100000"/>
              </a:lnSpc>
            </a:pPr>
            <a:r>
              <a:rPr lang="en-US" dirty="0" err="1">
                <a:solidFill>
                  <a:srgbClr val="FF0000"/>
                </a:solidFill>
              </a:rPr>
              <a:t>np.mean</a:t>
            </a:r>
            <a:r>
              <a:rPr lang="en-US" dirty="0">
                <a:solidFill>
                  <a:srgbClr val="FF0000"/>
                </a:solidFill>
              </a:rPr>
              <a:t>(</a:t>
            </a:r>
            <a:r>
              <a:rPr lang="en-US" dirty="0" err="1">
                <a:solidFill>
                  <a:srgbClr val="FF0000"/>
                </a:solidFill>
              </a:rPr>
              <a:t>bella_counts</a:t>
            </a:r>
            <a:r>
              <a:rPr lang="en-US" dirty="0">
                <a:solidFill>
                  <a:srgbClr val="FF0000"/>
                </a:solidFill>
              </a:rPr>
              <a:t>)</a:t>
            </a:r>
          </a:p>
          <a:p>
            <a:pPr algn="just">
              <a:lnSpc>
                <a:spcPct val="100000"/>
              </a:lnSpc>
            </a:pPr>
            <a:endParaRPr lang="en-US" dirty="0">
              <a:solidFill>
                <a:srgbClr val="FF0000"/>
              </a:solidFill>
            </a:endParaRPr>
          </a:p>
          <a:p>
            <a:pPr algn="just">
              <a:lnSpc>
                <a:spcPct val="100000"/>
              </a:lnSpc>
            </a:pPr>
            <a:r>
              <a:rPr lang="en-US" dirty="0"/>
              <a:t># Max number of babies named Bella born in any one year</a:t>
            </a:r>
          </a:p>
          <a:p>
            <a:pPr algn="just">
              <a:lnSpc>
                <a:spcPct val="100000"/>
              </a:lnSpc>
            </a:pPr>
            <a:r>
              <a:rPr lang="en-US" dirty="0" err="1">
                <a:solidFill>
                  <a:srgbClr val="FF0000"/>
                </a:solidFill>
              </a:rPr>
              <a:t>np.max</a:t>
            </a:r>
            <a:r>
              <a:rPr lang="en-US" dirty="0">
                <a:solidFill>
                  <a:srgbClr val="FF0000"/>
                </a:solidFill>
              </a:rPr>
              <a:t>(</a:t>
            </a:r>
            <a:r>
              <a:rPr lang="en-US" dirty="0" err="1">
                <a:solidFill>
                  <a:srgbClr val="FF0000"/>
                </a:solidFill>
              </a:rPr>
              <a:t>bella_counts</a:t>
            </a:r>
            <a:r>
              <a:rPr lang="en-US" dirty="0">
                <a:solidFill>
                  <a:srgbClr val="FF0000"/>
                </a:solidFill>
              </a:rPr>
              <a:t>)</a:t>
            </a:r>
          </a:p>
        </p:txBody>
      </p:sp>
      <p:sp>
        <p:nvSpPr>
          <p:cNvPr id="5" name="Slide Number Placeholder 4">
            <a:extLst>
              <a:ext uri="{FF2B5EF4-FFF2-40B4-BE49-F238E27FC236}">
                <a16:creationId xmlns:a16="http://schemas.microsoft.com/office/drawing/2014/main" id="{4A9DCDD7-EE0E-43C9-A6DD-D3CAF1F5F9B8}"/>
              </a:ext>
            </a:extLst>
          </p:cNvPr>
          <p:cNvSpPr>
            <a:spLocks noGrp="1"/>
          </p:cNvSpPr>
          <p:nvPr>
            <p:ph type="sldNum" sz="quarter" idx="12"/>
          </p:nvPr>
        </p:nvSpPr>
        <p:spPr/>
        <p:txBody>
          <a:bodyPr/>
          <a:lstStyle/>
          <a:p>
            <a:fld id="{6B97D948-30E8-43F7-AE10-F6E2D9F2BBB1}" type="slidenum">
              <a:rPr lang="en-US" smtClean="0"/>
              <a:t>478</a:t>
            </a:fld>
            <a:endParaRPr lang="en-US"/>
          </a:p>
        </p:txBody>
      </p:sp>
    </p:spTree>
    <p:extLst>
      <p:ext uri="{BB962C8B-B14F-4D97-AF65-F5344CB8AC3E}">
        <p14:creationId xmlns:p14="http://schemas.microsoft.com/office/powerpoint/2010/main" val="3281170957"/>
      </p:ext>
    </p:extLst>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698B4-3B0D-4CD1-A216-A3760B19B97F}"/>
              </a:ext>
            </a:extLst>
          </p:cNvPr>
          <p:cNvSpPr>
            <a:spLocks noGrp="1"/>
          </p:cNvSpPr>
          <p:nvPr>
            <p:ph type="title"/>
          </p:nvPr>
        </p:nvSpPr>
        <p:spPr>
          <a:xfrm>
            <a:off x="838200" y="365126"/>
            <a:ext cx="10515600" cy="645528"/>
          </a:xfrm>
        </p:spPr>
        <p:txBody>
          <a:bodyPr>
            <a:normAutofit fontScale="90000"/>
          </a:bodyPr>
          <a:lstStyle/>
          <a:p>
            <a:r>
              <a:rPr lang="en-US" dirty="0">
                <a:solidFill>
                  <a:srgbClr val="FF0000"/>
                </a:solidFill>
              </a:rPr>
              <a:t>.shape </a:t>
            </a:r>
            <a:r>
              <a:rPr lang="en-US" dirty="0"/>
              <a:t>and </a:t>
            </a:r>
            <a:r>
              <a:rPr lang="en-US" dirty="0">
                <a:solidFill>
                  <a:srgbClr val="FF0000"/>
                </a:solidFill>
              </a:rPr>
              <a:t>.size</a:t>
            </a:r>
          </a:p>
        </p:txBody>
      </p:sp>
      <p:sp>
        <p:nvSpPr>
          <p:cNvPr id="3" name="Content Placeholder 2">
            <a:extLst>
              <a:ext uri="{FF2B5EF4-FFF2-40B4-BE49-F238E27FC236}">
                <a16:creationId xmlns:a16="http://schemas.microsoft.com/office/drawing/2014/main" id="{647F285A-5B03-4251-B3D7-86FEA3BCB72C}"/>
              </a:ext>
            </a:extLst>
          </p:cNvPr>
          <p:cNvSpPr>
            <a:spLocks noGrp="1"/>
          </p:cNvSpPr>
          <p:nvPr>
            <p:ph idx="1"/>
          </p:nvPr>
        </p:nvSpPr>
        <p:spPr>
          <a:xfrm>
            <a:off x="838200" y="1010654"/>
            <a:ext cx="10515600" cy="5166309"/>
          </a:xfrm>
        </p:spPr>
        <p:txBody>
          <a:bodyPr>
            <a:normAutofit fontScale="92500" lnSpcReduction="20000"/>
          </a:bodyPr>
          <a:lstStyle/>
          <a:p>
            <a:pPr algn="just"/>
            <a:r>
              <a:rPr lang="en-US" dirty="0">
                <a:solidFill>
                  <a:srgbClr val="FF0000"/>
                </a:solidFill>
              </a:rPr>
              <a:t>.shape </a:t>
            </a:r>
            <a:r>
              <a:rPr lang="en-US" dirty="0"/>
              <a:t>and </a:t>
            </a:r>
            <a:r>
              <a:rPr lang="en-US" dirty="0">
                <a:solidFill>
                  <a:srgbClr val="FF0000"/>
                </a:solidFill>
              </a:rPr>
              <a:t>.size </a:t>
            </a:r>
            <a:r>
              <a:rPr lang="en-US" dirty="0"/>
              <a:t>are attributes of Series and </a:t>
            </a:r>
            <a:r>
              <a:rPr lang="en-US" dirty="0" err="1"/>
              <a:t>DataFrames</a:t>
            </a:r>
            <a:r>
              <a:rPr lang="en-US" dirty="0"/>
              <a:t> that measure the “amount” of data stored in the structure. </a:t>
            </a:r>
          </a:p>
          <a:p>
            <a:pPr algn="just"/>
            <a:endParaRPr lang="en-US" dirty="0"/>
          </a:p>
          <a:p>
            <a:pPr algn="just"/>
            <a:r>
              <a:rPr lang="en-US" dirty="0"/>
              <a:t>Calling .shape returns a tuple containing the number of rows and columns present in the </a:t>
            </a:r>
            <a:r>
              <a:rPr lang="en-US" dirty="0" err="1"/>
              <a:t>DataFrame</a:t>
            </a:r>
            <a:r>
              <a:rPr lang="en-US" dirty="0"/>
              <a:t> or Series. </a:t>
            </a:r>
          </a:p>
          <a:p>
            <a:pPr algn="just"/>
            <a:endParaRPr lang="en-US" dirty="0"/>
          </a:p>
          <a:p>
            <a:pPr algn="just"/>
            <a:r>
              <a:rPr lang="en-US" dirty="0"/>
              <a:t>.size is used to find the total number of elements in a structure, equivalent to the number of rows times the number of columns.</a:t>
            </a:r>
          </a:p>
          <a:p>
            <a:endParaRPr lang="en-US" dirty="0"/>
          </a:p>
          <a:p>
            <a:pPr algn="just"/>
            <a:r>
              <a:rPr lang="en-US" dirty="0"/>
              <a:t>Many functions strictly require the dimensions of the arguments along certain axes to match. </a:t>
            </a:r>
          </a:p>
          <a:p>
            <a:pPr algn="just"/>
            <a:endParaRPr lang="en-US" dirty="0"/>
          </a:p>
          <a:p>
            <a:pPr algn="just"/>
            <a:r>
              <a:rPr lang="en-US" dirty="0"/>
              <a:t>Calling these dimension-finding functions is much faster than counting all of the items by hand.</a:t>
            </a:r>
          </a:p>
        </p:txBody>
      </p:sp>
      <p:sp>
        <p:nvSpPr>
          <p:cNvPr id="5" name="Slide Number Placeholder 4">
            <a:extLst>
              <a:ext uri="{FF2B5EF4-FFF2-40B4-BE49-F238E27FC236}">
                <a16:creationId xmlns:a16="http://schemas.microsoft.com/office/drawing/2014/main" id="{678C38C2-9B4A-4C64-B917-E501F6017223}"/>
              </a:ext>
            </a:extLst>
          </p:cNvPr>
          <p:cNvSpPr>
            <a:spLocks noGrp="1"/>
          </p:cNvSpPr>
          <p:nvPr>
            <p:ph type="sldNum" sz="quarter" idx="12"/>
          </p:nvPr>
        </p:nvSpPr>
        <p:spPr/>
        <p:txBody>
          <a:bodyPr/>
          <a:lstStyle/>
          <a:p>
            <a:fld id="{6B97D948-30E8-43F7-AE10-F6E2D9F2BBB1}" type="slidenum">
              <a:rPr lang="en-US" smtClean="0"/>
              <a:t>479</a:t>
            </a:fld>
            <a:endParaRPr lang="en-US"/>
          </a:p>
        </p:txBody>
      </p:sp>
    </p:spTree>
    <p:extLst>
      <p:ext uri="{BB962C8B-B14F-4D97-AF65-F5344CB8AC3E}">
        <p14:creationId xmlns:p14="http://schemas.microsoft.com/office/powerpoint/2010/main" val="348265245"/>
      </p:ext>
    </p:extLst>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2BC4D9-258E-4F7B-9A1C-B7AF0607ED8B}"/>
              </a:ext>
            </a:extLst>
          </p:cNvPr>
          <p:cNvSpPr>
            <a:spLocks noGrp="1"/>
          </p:cNvSpPr>
          <p:nvPr>
            <p:ph idx="1"/>
          </p:nvPr>
        </p:nvSpPr>
        <p:spPr>
          <a:xfrm>
            <a:off x="838200" y="457200"/>
            <a:ext cx="10515600" cy="5719763"/>
          </a:xfrm>
        </p:spPr>
        <p:txBody>
          <a:bodyPr/>
          <a:lstStyle/>
          <a:p>
            <a:r>
              <a:rPr lang="en-US" dirty="0"/>
              <a:t># Return the shape of the </a:t>
            </a:r>
            <a:r>
              <a:rPr lang="en-US" dirty="0" err="1"/>
              <a:t>DataFrame</a:t>
            </a:r>
            <a:r>
              <a:rPr lang="en-US" dirty="0"/>
              <a:t>, in the format (</a:t>
            </a:r>
            <a:r>
              <a:rPr lang="en-US" dirty="0" err="1"/>
              <a:t>num_rows</a:t>
            </a:r>
            <a:r>
              <a:rPr lang="en-US" dirty="0"/>
              <a:t>, </a:t>
            </a:r>
            <a:r>
              <a:rPr lang="en-US" dirty="0" err="1"/>
              <a:t>num_columns</a:t>
            </a:r>
            <a:r>
              <a:rPr lang="en-US" dirty="0"/>
              <a:t>)</a:t>
            </a:r>
          </a:p>
          <a:p>
            <a:r>
              <a:rPr lang="en-US" dirty="0" err="1">
                <a:solidFill>
                  <a:srgbClr val="FF0000"/>
                </a:solidFill>
              </a:rPr>
              <a:t>babynames.shape</a:t>
            </a:r>
            <a:endParaRPr lang="en-US" dirty="0">
              <a:solidFill>
                <a:srgbClr val="FF0000"/>
              </a:solidFill>
            </a:endParaRPr>
          </a:p>
          <a:p>
            <a:endParaRPr lang="en-US" dirty="0"/>
          </a:p>
          <a:p>
            <a:r>
              <a:rPr lang="en-US" dirty="0"/>
              <a:t># Return the size of the </a:t>
            </a:r>
            <a:r>
              <a:rPr lang="en-US" dirty="0" err="1"/>
              <a:t>DataFrame</a:t>
            </a:r>
            <a:r>
              <a:rPr lang="en-US" dirty="0"/>
              <a:t>, equal to </a:t>
            </a:r>
            <a:r>
              <a:rPr lang="en-US" dirty="0" err="1"/>
              <a:t>num_rows</a:t>
            </a:r>
            <a:r>
              <a:rPr lang="en-US" dirty="0"/>
              <a:t> * </a:t>
            </a:r>
            <a:r>
              <a:rPr lang="en-US" dirty="0" err="1"/>
              <a:t>num_columns</a:t>
            </a:r>
            <a:endParaRPr lang="en-US" dirty="0"/>
          </a:p>
          <a:p>
            <a:r>
              <a:rPr lang="en-US" dirty="0" err="1">
                <a:solidFill>
                  <a:srgbClr val="FF0000"/>
                </a:solidFill>
              </a:rPr>
              <a:t>babynames.size</a:t>
            </a:r>
            <a:endParaRPr lang="en-US" dirty="0">
              <a:solidFill>
                <a:srgbClr val="FF0000"/>
              </a:solidFill>
            </a:endParaRPr>
          </a:p>
        </p:txBody>
      </p:sp>
      <p:sp>
        <p:nvSpPr>
          <p:cNvPr id="4" name="Slide Number Placeholder 3">
            <a:extLst>
              <a:ext uri="{FF2B5EF4-FFF2-40B4-BE49-F238E27FC236}">
                <a16:creationId xmlns:a16="http://schemas.microsoft.com/office/drawing/2014/main" id="{72C014A1-7108-4205-8810-F33D15C0DB13}"/>
              </a:ext>
            </a:extLst>
          </p:cNvPr>
          <p:cNvSpPr>
            <a:spLocks noGrp="1"/>
          </p:cNvSpPr>
          <p:nvPr>
            <p:ph type="sldNum" sz="quarter" idx="12"/>
          </p:nvPr>
        </p:nvSpPr>
        <p:spPr/>
        <p:txBody>
          <a:bodyPr/>
          <a:lstStyle/>
          <a:p>
            <a:fld id="{6B97D948-30E8-43F7-AE10-F6E2D9F2BBB1}" type="slidenum">
              <a:rPr lang="en-US" smtClean="0"/>
              <a:t>480</a:t>
            </a:fld>
            <a:endParaRPr lang="en-US"/>
          </a:p>
        </p:txBody>
      </p:sp>
    </p:spTree>
    <p:extLst>
      <p:ext uri="{BB962C8B-B14F-4D97-AF65-F5344CB8AC3E}">
        <p14:creationId xmlns:p14="http://schemas.microsoft.com/office/powerpoint/2010/main" val="438724983"/>
      </p:ext>
    </p:extLst>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996BE-5328-4EE9-8B25-FFE226E986CC}"/>
              </a:ext>
            </a:extLst>
          </p:cNvPr>
          <p:cNvSpPr>
            <a:spLocks noGrp="1"/>
          </p:cNvSpPr>
          <p:nvPr>
            <p:ph type="title"/>
          </p:nvPr>
        </p:nvSpPr>
        <p:spPr>
          <a:xfrm>
            <a:off x="838200" y="365125"/>
            <a:ext cx="10515600" cy="501149"/>
          </a:xfrm>
        </p:spPr>
        <p:txBody>
          <a:bodyPr>
            <a:normAutofit fontScale="90000"/>
          </a:bodyPr>
          <a:lstStyle/>
          <a:p>
            <a:r>
              <a:rPr lang="en-US" dirty="0"/>
              <a:t>.describe()</a:t>
            </a:r>
          </a:p>
        </p:txBody>
      </p:sp>
      <p:sp>
        <p:nvSpPr>
          <p:cNvPr id="3" name="Content Placeholder 2">
            <a:extLst>
              <a:ext uri="{FF2B5EF4-FFF2-40B4-BE49-F238E27FC236}">
                <a16:creationId xmlns:a16="http://schemas.microsoft.com/office/drawing/2014/main" id="{6C6B4D22-F31B-4DF8-BC85-21B435453763}"/>
              </a:ext>
            </a:extLst>
          </p:cNvPr>
          <p:cNvSpPr>
            <a:spLocks noGrp="1"/>
          </p:cNvSpPr>
          <p:nvPr>
            <p:ph idx="1"/>
          </p:nvPr>
        </p:nvSpPr>
        <p:spPr>
          <a:xfrm>
            <a:off x="838200" y="866274"/>
            <a:ext cx="10515600" cy="5310689"/>
          </a:xfrm>
        </p:spPr>
        <p:txBody>
          <a:bodyPr/>
          <a:lstStyle/>
          <a:p>
            <a:pPr algn="just"/>
            <a:r>
              <a:rPr lang="en-US" dirty="0"/>
              <a:t>If many statistics are required from a </a:t>
            </a:r>
            <a:r>
              <a:rPr lang="en-US" dirty="0" err="1"/>
              <a:t>DataFrame</a:t>
            </a:r>
            <a:r>
              <a:rPr lang="en-US" dirty="0"/>
              <a:t> (minimum value, maximum value, mean value, etc.), then .describe() can be used to compute all of them at once.</a:t>
            </a:r>
          </a:p>
          <a:p>
            <a:endParaRPr lang="en-US" dirty="0"/>
          </a:p>
          <a:p>
            <a:r>
              <a:rPr lang="en-US" dirty="0" err="1">
                <a:solidFill>
                  <a:srgbClr val="FF0000"/>
                </a:solidFill>
              </a:rPr>
              <a:t>babynames.describe</a:t>
            </a:r>
            <a:r>
              <a:rPr lang="en-US" dirty="0">
                <a:solidFill>
                  <a:srgbClr val="FF0000"/>
                </a:solidFill>
              </a:rPr>
              <a:t>()</a:t>
            </a:r>
          </a:p>
          <a:p>
            <a:endParaRPr lang="en-US" dirty="0">
              <a:solidFill>
                <a:srgbClr val="FF0000"/>
              </a:solidFill>
            </a:endParaRPr>
          </a:p>
          <a:p>
            <a:r>
              <a:rPr lang="en-US" dirty="0"/>
              <a:t>A different set of statistics will be reported if .describe() is called on a Series.</a:t>
            </a:r>
          </a:p>
          <a:p>
            <a:endParaRPr lang="en-US" dirty="0">
              <a:solidFill>
                <a:srgbClr val="FF0000"/>
              </a:solidFill>
            </a:endParaRPr>
          </a:p>
          <a:p>
            <a:r>
              <a:rPr lang="en-US" dirty="0" err="1">
                <a:solidFill>
                  <a:srgbClr val="FF0000"/>
                </a:solidFill>
              </a:rPr>
              <a:t>babynames</a:t>
            </a:r>
            <a:r>
              <a:rPr lang="en-US" dirty="0">
                <a:solidFill>
                  <a:srgbClr val="FF0000"/>
                </a:solidFill>
              </a:rPr>
              <a:t>[‘Sex’].describe()</a:t>
            </a:r>
          </a:p>
        </p:txBody>
      </p:sp>
      <p:sp>
        <p:nvSpPr>
          <p:cNvPr id="5" name="Slide Number Placeholder 4">
            <a:extLst>
              <a:ext uri="{FF2B5EF4-FFF2-40B4-BE49-F238E27FC236}">
                <a16:creationId xmlns:a16="http://schemas.microsoft.com/office/drawing/2014/main" id="{F09ADEB4-0A13-4FBD-8C5C-324475FB5E77}"/>
              </a:ext>
            </a:extLst>
          </p:cNvPr>
          <p:cNvSpPr>
            <a:spLocks noGrp="1"/>
          </p:cNvSpPr>
          <p:nvPr>
            <p:ph type="sldNum" sz="quarter" idx="12"/>
          </p:nvPr>
        </p:nvSpPr>
        <p:spPr/>
        <p:txBody>
          <a:bodyPr/>
          <a:lstStyle/>
          <a:p>
            <a:fld id="{6B97D948-30E8-43F7-AE10-F6E2D9F2BBB1}" type="slidenum">
              <a:rPr lang="en-US" smtClean="0"/>
              <a:t>481</a:t>
            </a:fld>
            <a:endParaRPr lang="en-US"/>
          </a:p>
        </p:txBody>
      </p:sp>
    </p:spTree>
    <p:extLst>
      <p:ext uri="{BB962C8B-B14F-4D97-AF65-F5344CB8AC3E}">
        <p14:creationId xmlns:p14="http://schemas.microsoft.com/office/powerpoint/2010/main" val="3625137547"/>
      </p:ext>
    </p:extLst>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E246E-9409-4A6C-9490-AF25D038B7AB}"/>
              </a:ext>
            </a:extLst>
          </p:cNvPr>
          <p:cNvSpPr>
            <a:spLocks noGrp="1"/>
          </p:cNvSpPr>
          <p:nvPr>
            <p:ph type="title"/>
          </p:nvPr>
        </p:nvSpPr>
        <p:spPr>
          <a:xfrm>
            <a:off x="838200" y="365126"/>
            <a:ext cx="10515600" cy="585370"/>
          </a:xfrm>
        </p:spPr>
        <p:txBody>
          <a:bodyPr>
            <a:normAutofit fontScale="90000"/>
          </a:bodyPr>
          <a:lstStyle/>
          <a:p>
            <a:r>
              <a:rPr lang="en-US" dirty="0"/>
              <a:t>.sample()</a:t>
            </a:r>
          </a:p>
        </p:txBody>
      </p:sp>
      <p:sp>
        <p:nvSpPr>
          <p:cNvPr id="3" name="Content Placeholder 2">
            <a:extLst>
              <a:ext uri="{FF2B5EF4-FFF2-40B4-BE49-F238E27FC236}">
                <a16:creationId xmlns:a16="http://schemas.microsoft.com/office/drawing/2014/main" id="{E88A0E45-6307-4140-825F-227B9B9C2819}"/>
              </a:ext>
            </a:extLst>
          </p:cNvPr>
          <p:cNvSpPr>
            <a:spLocks noGrp="1"/>
          </p:cNvSpPr>
          <p:nvPr>
            <p:ph idx="1"/>
          </p:nvPr>
        </p:nvSpPr>
        <p:spPr>
          <a:xfrm>
            <a:off x="838200" y="950496"/>
            <a:ext cx="10515600" cy="5226467"/>
          </a:xfrm>
        </p:spPr>
        <p:txBody>
          <a:bodyPr>
            <a:normAutofit lnSpcReduction="10000"/>
          </a:bodyPr>
          <a:lstStyle/>
          <a:p>
            <a:pPr algn="just"/>
            <a:r>
              <a:rPr lang="en-US" dirty="0">
                <a:solidFill>
                  <a:srgbClr val="FF0000"/>
                </a:solidFill>
              </a:rPr>
              <a:t>.sample()</a:t>
            </a:r>
            <a:r>
              <a:rPr lang="en-US" dirty="0"/>
              <a:t> lets us quickly select random entries (a row if called from a </a:t>
            </a:r>
            <a:r>
              <a:rPr lang="en-US" dirty="0" err="1"/>
              <a:t>DataFrame</a:t>
            </a:r>
            <a:r>
              <a:rPr lang="en-US" dirty="0"/>
              <a:t>, or a value if called from a Series).</a:t>
            </a:r>
          </a:p>
          <a:p>
            <a:pPr algn="just"/>
            <a:endParaRPr lang="en-US" dirty="0"/>
          </a:p>
          <a:p>
            <a:pPr algn="just"/>
            <a:r>
              <a:rPr lang="en-US" dirty="0"/>
              <a:t>By default, .sample() selects entries </a:t>
            </a:r>
            <a:r>
              <a:rPr lang="en-US" dirty="0">
                <a:solidFill>
                  <a:srgbClr val="FF0000"/>
                </a:solidFill>
              </a:rPr>
              <a:t>without replacement</a:t>
            </a:r>
            <a:r>
              <a:rPr lang="en-US" dirty="0"/>
              <a:t>. </a:t>
            </a:r>
          </a:p>
          <a:p>
            <a:pPr algn="just"/>
            <a:r>
              <a:rPr lang="en-US" dirty="0"/>
              <a:t>Pass in the argument replace=True to sample with replacement.</a:t>
            </a:r>
          </a:p>
          <a:p>
            <a:pPr algn="just"/>
            <a:r>
              <a:rPr lang="en-US" dirty="0"/>
              <a:t># Sample a single row</a:t>
            </a:r>
          </a:p>
          <a:p>
            <a:pPr algn="just"/>
            <a:r>
              <a:rPr lang="en-US" dirty="0" err="1">
                <a:solidFill>
                  <a:srgbClr val="FF0000"/>
                </a:solidFill>
              </a:rPr>
              <a:t>babynames.sample</a:t>
            </a:r>
            <a:r>
              <a:rPr lang="en-US" dirty="0">
                <a:solidFill>
                  <a:srgbClr val="FF0000"/>
                </a:solidFill>
              </a:rPr>
              <a:t>()</a:t>
            </a:r>
          </a:p>
          <a:p>
            <a:pPr algn="just"/>
            <a:r>
              <a:rPr lang="en-US" dirty="0"/>
              <a:t># Sample 5 random rows</a:t>
            </a:r>
          </a:p>
          <a:p>
            <a:pPr algn="just">
              <a:lnSpc>
                <a:spcPct val="100000"/>
              </a:lnSpc>
            </a:pPr>
            <a:r>
              <a:rPr lang="en-US" dirty="0" err="1">
                <a:solidFill>
                  <a:srgbClr val="FF0000"/>
                </a:solidFill>
              </a:rPr>
              <a:t>babynames.sample</a:t>
            </a:r>
            <a:r>
              <a:rPr lang="en-US" dirty="0">
                <a:solidFill>
                  <a:srgbClr val="FF0000"/>
                </a:solidFill>
              </a:rPr>
              <a:t>(5)</a:t>
            </a:r>
          </a:p>
          <a:p>
            <a:pPr algn="just">
              <a:lnSpc>
                <a:spcPct val="100000"/>
              </a:lnSpc>
            </a:pPr>
            <a:r>
              <a:rPr lang="en-US" dirty="0"/>
              <a:t># Randomly sample 4 names from the year 2000, with replacement</a:t>
            </a:r>
          </a:p>
          <a:p>
            <a:pPr algn="just">
              <a:lnSpc>
                <a:spcPct val="100000"/>
              </a:lnSpc>
            </a:pPr>
            <a:r>
              <a:rPr lang="en-US" dirty="0" err="1">
                <a:solidFill>
                  <a:srgbClr val="FF0000"/>
                </a:solidFill>
              </a:rPr>
              <a:t>babynames</a:t>
            </a:r>
            <a:r>
              <a:rPr lang="en-US" dirty="0">
                <a:solidFill>
                  <a:srgbClr val="FF0000"/>
                </a:solidFill>
              </a:rPr>
              <a:t>[</a:t>
            </a:r>
            <a:r>
              <a:rPr lang="en-US" dirty="0" err="1">
                <a:solidFill>
                  <a:srgbClr val="FF0000"/>
                </a:solidFill>
              </a:rPr>
              <a:t>babynames</a:t>
            </a:r>
            <a:r>
              <a:rPr lang="en-US" dirty="0">
                <a:solidFill>
                  <a:srgbClr val="FF0000"/>
                </a:solidFill>
              </a:rPr>
              <a:t>["Year"] == 2000].sample(4, replace = True)</a:t>
            </a:r>
          </a:p>
        </p:txBody>
      </p:sp>
      <p:sp>
        <p:nvSpPr>
          <p:cNvPr id="5" name="Slide Number Placeholder 4">
            <a:extLst>
              <a:ext uri="{FF2B5EF4-FFF2-40B4-BE49-F238E27FC236}">
                <a16:creationId xmlns:a16="http://schemas.microsoft.com/office/drawing/2014/main" id="{AF87F0F3-3E47-45C1-AAAD-DC184FD7AE1A}"/>
              </a:ext>
            </a:extLst>
          </p:cNvPr>
          <p:cNvSpPr>
            <a:spLocks noGrp="1"/>
          </p:cNvSpPr>
          <p:nvPr>
            <p:ph type="sldNum" sz="quarter" idx="12"/>
          </p:nvPr>
        </p:nvSpPr>
        <p:spPr/>
        <p:txBody>
          <a:bodyPr/>
          <a:lstStyle/>
          <a:p>
            <a:fld id="{6B97D948-30E8-43F7-AE10-F6E2D9F2BBB1}" type="slidenum">
              <a:rPr lang="en-US" smtClean="0"/>
              <a:t>482</a:t>
            </a:fld>
            <a:endParaRPr lang="en-US"/>
          </a:p>
        </p:txBody>
      </p:sp>
    </p:spTree>
    <p:extLst>
      <p:ext uri="{BB962C8B-B14F-4D97-AF65-F5344CB8AC3E}">
        <p14:creationId xmlns:p14="http://schemas.microsoft.com/office/powerpoint/2010/main" val="4207860467"/>
      </p:ext>
    </p:extLst>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ACD3-A2CB-42FA-8D87-9F732E2BA54B}"/>
              </a:ext>
            </a:extLst>
          </p:cNvPr>
          <p:cNvSpPr>
            <a:spLocks noGrp="1"/>
          </p:cNvSpPr>
          <p:nvPr>
            <p:ph type="title"/>
          </p:nvPr>
        </p:nvSpPr>
        <p:spPr>
          <a:xfrm>
            <a:off x="838200" y="365126"/>
            <a:ext cx="10515600" cy="573337"/>
          </a:xfrm>
        </p:spPr>
        <p:txBody>
          <a:bodyPr>
            <a:normAutofit fontScale="90000"/>
          </a:bodyPr>
          <a:lstStyle/>
          <a:p>
            <a:r>
              <a:rPr lang="en-US" dirty="0"/>
              <a:t>.</a:t>
            </a:r>
            <a:r>
              <a:rPr lang="en-US" dirty="0" err="1"/>
              <a:t>value_counts</a:t>
            </a:r>
            <a:r>
              <a:rPr lang="en-US" dirty="0"/>
              <a:t>()</a:t>
            </a:r>
          </a:p>
        </p:txBody>
      </p:sp>
      <p:sp>
        <p:nvSpPr>
          <p:cNvPr id="3" name="Content Placeholder 2">
            <a:extLst>
              <a:ext uri="{FF2B5EF4-FFF2-40B4-BE49-F238E27FC236}">
                <a16:creationId xmlns:a16="http://schemas.microsoft.com/office/drawing/2014/main" id="{2B34604A-078B-4654-A541-B7423FE0691D}"/>
              </a:ext>
            </a:extLst>
          </p:cNvPr>
          <p:cNvSpPr>
            <a:spLocks noGrp="1"/>
          </p:cNvSpPr>
          <p:nvPr>
            <p:ph idx="1"/>
          </p:nvPr>
        </p:nvSpPr>
        <p:spPr>
          <a:xfrm>
            <a:off x="838200" y="938463"/>
            <a:ext cx="10515600" cy="5238500"/>
          </a:xfrm>
        </p:spPr>
        <p:txBody>
          <a:bodyPr>
            <a:normAutofit/>
          </a:bodyPr>
          <a:lstStyle/>
          <a:p>
            <a:pPr algn="just"/>
            <a:r>
              <a:rPr lang="en-US" dirty="0"/>
              <a:t>The </a:t>
            </a:r>
            <a:r>
              <a:rPr lang="en-US" dirty="0" err="1">
                <a:solidFill>
                  <a:srgbClr val="FF0000"/>
                </a:solidFill>
              </a:rPr>
              <a:t>Series.value_counts</a:t>
            </a:r>
            <a:r>
              <a:rPr lang="en-US" dirty="0">
                <a:solidFill>
                  <a:srgbClr val="FF0000"/>
                </a:solidFill>
              </a:rPr>
              <a:t>() </a:t>
            </a:r>
            <a:r>
              <a:rPr lang="en-US" dirty="0"/>
              <a:t>methods counts the number of occurrence of each unique value in a Series. </a:t>
            </a:r>
          </a:p>
          <a:p>
            <a:pPr algn="just"/>
            <a:r>
              <a:rPr lang="en-US" dirty="0"/>
              <a:t>In other words, it counts the number of times each unique value appears. </a:t>
            </a:r>
          </a:p>
          <a:p>
            <a:pPr algn="just"/>
            <a:r>
              <a:rPr lang="en-US" dirty="0"/>
              <a:t>This is often useful for determining the most or least common entries in a Series.</a:t>
            </a:r>
          </a:p>
          <a:p>
            <a:pPr algn="just"/>
            <a:r>
              <a:rPr lang="en-US" dirty="0"/>
              <a:t>In the example:</a:t>
            </a:r>
          </a:p>
          <a:p>
            <a:pPr algn="just"/>
            <a:r>
              <a:rPr lang="en-US" dirty="0" err="1">
                <a:solidFill>
                  <a:srgbClr val="FF0000"/>
                </a:solidFill>
              </a:rPr>
              <a:t>babynames</a:t>
            </a:r>
            <a:r>
              <a:rPr lang="en-US" dirty="0">
                <a:solidFill>
                  <a:srgbClr val="FF0000"/>
                </a:solidFill>
              </a:rPr>
              <a:t>["Name"].</a:t>
            </a:r>
            <a:r>
              <a:rPr lang="en-US" dirty="0" err="1">
                <a:solidFill>
                  <a:srgbClr val="FF0000"/>
                </a:solidFill>
              </a:rPr>
              <a:t>value_counts</a:t>
            </a:r>
            <a:r>
              <a:rPr lang="en-US" dirty="0">
                <a:solidFill>
                  <a:srgbClr val="FF0000"/>
                </a:solidFill>
              </a:rPr>
              <a:t>().head()</a:t>
            </a:r>
          </a:p>
          <a:p>
            <a:pPr algn="just"/>
            <a:r>
              <a:rPr lang="en-US" dirty="0"/>
              <a:t> </a:t>
            </a:r>
          </a:p>
        </p:txBody>
      </p:sp>
      <p:sp>
        <p:nvSpPr>
          <p:cNvPr id="5" name="Slide Number Placeholder 4">
            <a:extLst>
              <a:ext uri="{FF2B5EF4-FFF2-40B4-BE49-F238E27FC236}">
                <a16:creationId xmlns:a16="http://schemas.microsoft.com/office/drawing/2014/main" id="{CB7E6AD8-C783-46B8-8356-721A385562A5}"/>
              </a:ext>
            </a:extLst>
          </p:cNvPr>
          <p:cNvSpPr>
            <a:spLocks noGrp="1"/>
          </p:cNvSpPr>
          <p:nvPr>
            <p:ph type="sldNum" sz="quarter" idx="12"/>
          </p:nvPr>
        </p:nvSpPr>
        <p:spPr/>
        <p:txBody>
          <a:bodyPr/>
          <a:lstStyle/>
          <a:p>
            <a:fld id="{6B97D948-30E8-43F7-AE10-F6E2D9F2BBB1}" type="slidenum">
              <a:rPr lang="en-US" smtClean="0"/>
              <a:t>483</a:t>
            </a:fld>
            <a:endParaRPr lang="en-US"/>
          </a:p>
        </p:txBody>
      </p:sp>
    </p:spTree>
    <p:extLst>
      <p:ext uri="{BB962C8B-B14F-4D97-AF65-F5344CB8AC3E}">
        <p14:creationId xmlns:p14="http://schemas.microsoft.com/office/powerpoint/2010/main" val="2719200524"/>
      </p:ext>
    </p:extLst>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ED4CF-EDF3-4769-AF60-07945F291288}"/>
              </a:ext>
            </a:extLst>
          </p:cNvPr>
          <p:cNvSpPr>
            <a:spLocks noGrp="1"/>
          </p:cNvSpPr>
          <p:nvPr>
            <p:ph type="title"/>
          </p:nvPr>
        </p:nvSpPr>
        <p:spPr>
          <a:xfrm>
            <a:off x="838200" y="365126"/>
            <a:ext cx="10515600" cy="633496"/>
          </a:xfrm>
        </p:spPr>
        <p:txBody>
          <a:bodyPr>
            <a:normAutofit fontScale="90000"/>
          </a:bodyPr>
          <a:lstStyle/>
          <a:p>
            <a:r>
              <a:rPr lang="en-US" dirty="0"/>
              <a:t>.unique()</a:t>
            </a:r>
          </a:p>
        </p:txBody>
      </p:sp>
      <p:sp>
        <p:nvSpPr>
          <p:cNvPr id="3" name="Content Placeholder 2">
            <a:extLst>
              <a:ext uri="{FF2B5EF4-FFF2-40B4-BE49-F238E27FC236}">
                <a16:creationId xmlns:a16="http://schemas.microsoft.com/office/drawing/2014/main" id="{F5C3315B-4D47-48C2-B319-3D154779B4DC}"/>
              </a:ext>
            </a:extLst>
          </p:cNvPr>
          <p:cNvSpPr>
            <a:spLocks noGrp="1"/>
          </p:cNvSpPr>
          <p:nvPr>
            <p:ph idx="1"/>
          </p:nvPr>
        </p:nvSpPr>
        <p:spPr>
          <a:xfrm>
            <a:off x="838200" y="998622"/>
            <a:ext cx="10515600" cy="5178341"/>
          </a:xfrm>
        </p:spPr>
        <p:txBody>
          <a:bodyPr/>
          <a:lstStyle/>
          <a:p>
            <a:pPr algn="just"/>
            <a:r>
              <a:rPr lang="en-US" dirty="0"/>
              <a:t>If we have a Series with many repeated values, then .unique() can be used to identify only the </a:t>
            </a:r>
            <a:r>
              <a:rPr lang="en-US" dirty="0">
                <a:solidFill>
                  <a:srgbClr val="FF0000"/>
                </a:solidFill>
              </a:rPr>
              <a:t>unique values</a:t>
            </a:r>
            <a:r>
              <a:rPr lang="en-US" dirty="0"/>
              <a:t>. </a:t>
            </a:r>
          </a:p>
          <a:p>
            <a:pPr algn="just"/>
            <a:r>
              <a:rPr lang="en-US" dirty="0"/>
              <a:t>Here we return an array of all the names in </a:t>
            </a:r>
            <a:r>
              <a:rPr lang="en-US" dirty="0" err="1"/>
              <a:t>babynames</a:t>
            </a:r>
            <a:r>
              <a:rPr lang="en-US" dirty="0"/>
              <a:t>.</a:t>
            </a:r>
          </a:p>
          <a:p>
            <a:endParaRPr lang="en-US" dirty="0"/>
          </a:p>
          <a:p>
            <a:r>
              <a:rPr lang="en-US" dirty="0" err="1">
                <a:solidFill>
                  <a:srgbClr val="FF0000"/>
                </a:solidFill>
              </a:rPr>
              <a:t>babynames</a:t>
            </a:r>
            <a:r>
              <a:rPr lang="en-US" dirty="0">
                <a:solidFill>
                  <a:srgbClr val="FF0000"/>
                </a:solidFill>
              </a:rPr>
              <a:t>["Name"].unique()</a:t>
            </a:r>
          </a:p>
        </p:txBody>
      </p:sp>
      <p:sp>
        <p:nvSpPr>
          <p:cNvPr id="5" name="Slide Number Placeholder 4">
            <a:extLst>
              <a:ext uri="{FF2B5EF4-FFF2-40B4-BE49-F238E27FC236}">
                <a16:creationId xmlns:a16="http://schemas.microsoft.com/office/drawing/2014/main" id="{FF4A4066-4E33-4144-B0E5-A378AFF9283A}"/>
              </a:ext>
            </a:extLst>
          </p:cNvPr>
          <p:cNvSpPr>
            <a:spLocks noGrp="1"/>
          </p:cNvSpPr>
          <p:nvPr>
            <p:ph type="sldNum" sz="quarter" idx="12"/>
          </p:nvPr>
        </p:nvSpPr>
        <p:spPr/>
        <p:txBody>
          <a:bodyPr/>
          <a:lstStyle/>
          <a:p>
            <a:fld id="{6B97D948-30E8-43F7-AE10-F6E2D9F2BBB1}" type="slidenum">
              <a:rPr lang="en-US" smtClean="0"/>
              <a:t>484</a:t>
            </a:fld>
            <a:endParaRPr lang="en-US"/>
          </a:p>
        </p:txBody>
      </p:sp>
    </p:spTree>
    <p:extLst>
      <p:ext uri="{BB962C8B-B14F-4D97-AF65-F5344CB8AC3E}">
        <p14:creationId xmlns:p14="http://schemas.microsoft.com/office/powerpoint/2010/main" val="930451891"/>
      </p:ext>
    </p:extLst>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18A8-7C7B-473D-A766-8F077ECAB45B}"/>
              </a:ext>
            </a:extLst>
          </p:cNvPr>
          <p:cNvSpPr>
            <a:spLocks noGrp="1"/>
          </p:cNvSpPr>
          <p:nvPr>
            <p:ph type="title"/>
          </p:nvPr>
        </p:nvSpPr>
        <p:spPr>
          <a:xfrm>
            <a:off x="838200" y="365126"/>
            <a:ext cx="10515600" cy="585370"/>
          </a:xfrm>
        </p:spPr>
        <p:txBody>
          <a:bodyPr>
            <a:normAutofit fontScale="90000"/>
          </a:bodyPr>
          <a:lstStyle/>
          <a:p>
            <a:r>
              <a:rPr lang="en-US" dirty="0"/>
              <a:t>.</a:t>
            </a:r>
            <a:r>
              <a:rPr lang="en-US" dirty="0" err="1"/>
              <a:t>sort_values</a:t>
            </a:r>
            <a:r>
              <a:rPr lang="en-US" dirty="0"/>
              <a:t>()</a:t>
            </a:r>
          </a:p>
        </p:txBody>
      </p:sp>
      <p:sp>
        <p:nvSpPr>
          <p:cNvPr id="3" name="Content Placeholder 2">
            <a:extLst>
              <a:ext uri="{FF2B5EF4-FFF2-40B4-BE49-F238E27FC236}">
                <a16:creationId xmlns:a16="http://schemas.microsoft.com/office/drawing/2014/main" id="{85C8F358-E68A-4324-9C50-14DE3B726536}"/>
              </a:ext>
            </a:extLst>
          </p:cNvPr>
          <p:cNvSpPr>
            <a:spLocks noGrp="1"/>
          </p:cNvSpPr>
          <p:nvPr>
            <p:ph idx="1"/>
          </p:nvPr>
        </p:nvSpPr>
        <p:spPr>
          <a:xfrm>
            <a:off x="838200" y="950496"/>
            <a:ext cx="10515600" cy="5226467"/>
          </a:xfrm>
        </p:spPr>
        <p:txBody>
          <a:bodyPr>
            <a:normAutofit/>
          </a:bodyPr>
          <a:lstStyle/>
          <a:p>
            <a:pPr algn="just"/>
            <a:r>
              <a:rPr lang="en-US" dirty="0"/>
              <a:t>Ordering a </a:t>
            </a:r>
            <a:r>
              <a:rPr lang="en-US" dirty="0" err="1"/>
              <a:t>DataFrame</a:t>
            </a:r>
            <a:r>
              <a:rPr lang="en-US" dirty="0"/>
              <a:t> can be useful for isolating extreme values. </a:t>
            </a:r>
          </a:p>
          <a:p>
            <a:pPr algn="just"/>
            <a:r>
              <a:rPr lang="en-US" dirty="0"/>
              <a:t>For example, the first 5 entries of a row sorted in descending order (that is, from highest to lowest) are the largest 5 values. </a:t>
            </a:r>
          </a:p>
          <a:p>
            <a:pPr algn="just"/>
            <a:endParaRPr lang="en-US" dirty="0"/>
          </a:p>
          <a:p>
            <a:pPr algn="just"/>
            <a:r>
              <a:rPr lang="en-US" dirty="0"/>
              <a:t>.</a:t>
            </a:r>
            <a:r>
              <a:rPr lang="en-US" dirty="0" err="1"/>
              <a:t>sort_values</a:t>
            </a:r>
            <a:r>
              <a:rPr lang="en-US" dirty="0"/>
              <a:t> allows us to order a </a:t>
            </a:r>
            <a:r>
              <a:rPr lang="en-US" dirty="0" err="1"/>
              <a:t>DataFrame</a:t>
            </a:r>
            <a:r>
              <a:rPr lang="en-US" dirty="0"/>
              <a:t> or Series by a specified column. </a:t>
            </a:r>
          </a:p>
          <a:p>
            <a:pPr algn="just"/>
            <a:r>
              <a:rPr lang="en-US" dirty="0"/>
              <a:t>We can choose to either receive the rows in ascending order (default) or descending order.</a:t>
            </a:r>
          </a:p>
          <a:p>
            <a:pPr algn="just"/>
            <a:endParaRPr lang="en-US" dirty="0"/>
          </a:p>
          <a:p>
            <a:pPr algn="just"/>
            <a:r>
              <a:rPr lang="en-US" dirty="0"/>
              <a:t># Sort the "Count" column from highest to lowest</a:t>
            </a:r>
          </a:p>
          <a:p>
            <a:pPr algn="just"/>
            <a:r>
              <a:rPr lang="en-US" dirty="0" err="1"/>
              <a:t>babynames.sort_values</a:t>
            </a:r>
            <a:r>
              <a:rPr lang="en-US" dirty="0"/>
              <a:t>(by = ‘Count’, ascending=False).head()</a:t>
            </a:r>
          </a:p>
        </p:txBody>
      </p:sp>
      <p:sp>
        <p:nvSpPr>
          <p:cNvPr id="5" name="Slide Number Placeholder 4">
            <a:extLst>
              <a:ext uri="{FF2B5EF4-FFF2-40B4-BE49-F238E27FC236}">
                <a16:creationId xmlns:a16="http://schemas.microsoft.com/office/drawing/2014/main" id="{47E39375-4034-46E9-9A49-3241E8C77CDA}"/>
              </a:ext>
            </a:extLst>
          </p:cNvPr>
          <p:cNvSpPr>
            <a:spLocks noGrp="1"/>
          </p:cNvSpPr>
          <p:nvPr>
            <p:ph type="sldNum" sz="quarter" idx="12"/>
          </p:nvPr>
        </p:nvSpPr>
        <p:spPr/>
        <p:txBody>
          <a:bodyPr/>
          <a:lstStyle/>
          <a:p>
            <a:fld id="{6B97D948-30E8-43F7-AE10-F6E2D9F2BBB1}" type="slidenum">
              <a:rPr lang="en-US" smtClean="0"/>
              <a:t>485</a:t>
            </a:fld>
            <a:endParaRPr lang="en-US"/>
          </a:p>
        </p:txBody>
      </p:sp>
    </p:spTree>
    <p:extLst>
      <p:ext uri="{BB962C8B-B14F-4D97-AF65-F5344CB8AC3E}">
        <p14:creationId xmlns:p14="http://schemas.microsoft.com/office/powerpoint/2010/main" val="382371057"/>
      </p:ext>
    </p:extLst>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0DA9D-C761-4B82-94CC-571A844DE126}"/>
              </a:ext>
            </a:extLst>
          </p:cNvPr>
          <p:cNvSpPr>
            <a:spLocks noGrp="1"/>
          </p:cNvSpPr>
          <p:nvPr>
            <p:ph type="title"/>
          </p:nvPr>
        </p:nvSpPr>
        <p:spPr>
          <a:xfrm>
            <a:off x="838200" y="365125"/>
            <a:ext cx="10515600" cy="558153"/>
          </a:xfrm>
        </p:spPr>
        <p:txBody>
          <a:bodyPr>
            <a:normAutofit fontScale="90000"/>
          </a:bodyPr>
          <a:lstStyle/>
          <a:p>
            <a:r>
              <a:rPr lang="en-US" dirty="0"/>
              <a:t>Goals of Visualization</a:t>
            </a:r>
          </a:p>
        </p:txBody>
      </p:sp>
      <p:sp>
        <p:nvSpPr>
          <p:cNvPr id="3" name="Content Placeholder 2">
            <a:extLst>
              <a:ext uri="{FF2B5EF4-FFF2-40B4-BE49-F238E27FC236}">
                <a16:creationId xmlns:a16="http://schemas.microsoft.com/office/drawing/2014/main" id="{3787E54B-8F12-4248-BC9C-D1C4CEC98CE8}"/>
              </a:ext>
            </a:extLst>
          </p:cNvPr>
          <p:cNvSpPr>
            <a:spLocks noGrp="1"/>
          </p:cNvSpPr>
          <p:nvPr>
            <p:ph idx="1"/>
          </p:nvPr>
        </p:nvSpPr>
        <p:spPr>
          <a:xfrm>
            <a:off x="838200" y="923278"/>
            <a:ext cx="10515600" cy="5253685"/>
          </a:xfrm>
        </p:spPr>
        <p:txBody>
          <a:bodyPr>
            <a:normAutofit fontScale="92500" lnSpcReduction="20000"/>
          </a:bodyPr>
          <a:lstStyle/>
          <a:p>
            <a:pPr algn="just"/>
            <a:r>
              <a:rPr lang="en-US" dirty="0"/>
              <a:t>Visualizations are useful for a number of reasons. </a:t>
            </a:r>
          </a:p>
          <a:p>
            <a:pPr algn="just"/>
            <a:endParaRPr lang="en-US" dirty="0"/>
          </a:p>
          <a:p>
            <a:pPr algn="just"/>
            <a:r>
              <a:rPr lang="en-US" dirty="0"/>
              <a:t>To help your own understanding of the data</a:t>
            </a:r>
          </a:p>
          <a:p>
            <a:pPr marL="0" indent="0" algn="just">
              <a:buNone/>
            </a:pPr>
            <a:r>
              <a:rPr lang="en-US" dirty="0"/>
              <a:t>	Key part of exploratory data analysis.</a:t>
            </a:r>
          </a:p>
          <a:p>
            <a:pPr marL="0" indent="0" algn="just">
              <a:buNone/>
            </a:pPr>
            <a:r>
              <a:rPr lang="en-US" dirty="0"/>
              <a:t>	Summarize trends visually before in-depth analysis.</a:t>
            </a:r>
          </a:p>
          <a:p>
            <a:pPr algn="just"/>
            <a:r>
              <a:rPr lang="en-US" dirty="0"/>
              <a:t>To communicate results/conclusions to others</a:t>
            </a:r>
          </a:p>
          <a:p>
            <a:pPr marL="0" indent="0" algn="just">
              <a:buNone/>
            </a:pPr>
            <a:r>
              <a:rPr lang="en-US" dirty="0"/>
              <a:t>	Fine-tuned to achieve a communications goal.</a:t>
            </a:r>
          </a:p>
          <a:p>
            <a:pPr marL="0" indent="0" algn="just">
              <a:buNone/>
            </a:pPr>
            <a:r>
              <a:rPr lang="en-US" dirty="0"/>
              <a:t>	Considerations: clarity, accessibility, providing necessary context.</a:t>
            </a:r>
          </a:p>
          <a:p>
            <a:pPr algn="just"/>
            <a:endParaRPr lang="en-US" dirty="0"/>
          </a:p>
          <a:p>
            <a:pPr algn="just"/>
            <a:r>
              <a:rPr lang="en-US" dirty="0"/>
              <a:t>Put together, these goals add more nuance to our visualization task. </a:t>
            </a:r>
          </a:p>
          <a:p>
            <a:pPr algn="just"/>
            <a:r>
              <a:rPr lang="en-US" dirty="0"/>
              <a:t>Visualization is not simply a matter of making “pretty” pictures; rather, we will need to do a lot of thinking about what stylistic choices communicate ideas in the most effective way.</a:t>
            </a:r>
          </a:p>
        </p:txBody>
      </p:sp>
      <p:sp>
        <p:nvSpPr>
          <p:cNvPr id="5" name="Slide Number Placeholder 4">
            <a:extLst>
              <a:ext uri="{FF2B5EF4-FFF2-40B4-BE49-F238E27FC236}">
                <a16:creationId xmlns:a16="http://schemas.microsoft.com/office/drawing/2014/main" id="{96409A03-2D94-4C10-8F15-CF7F35A3BA77}"/>
              </a:ext>
            </a:extLst>
          </p:cNvPr>
          <p:cNvSpPr>
            <a:spLocks noGrp="1"/>
          </p:cNvSpPr>
          <p:nvPr>
            <p:ph type="sldNum" sz="quarter" idx="12"/>
          </p:nvPr>
        </p:nvSpPr>
        <p:spPr/>
        <p:txBody>
          <a:bodyPr/>
          <a:lstStyle/>
          <a:p>
            <a:fld id="{6B97D948-30E8-43F7-AE10-F6E2D9F2BBB1}" type="slidenum">
              <a:rPr lang="en-US" smtClean="0"/>
              <a:t>486</a:t>
            </a:fld>
            <a:endParaRPr lang="en-US"/>
          </a:p>
        </p:txBody>
      </p:sp>
    </p:spTree>
    <p:extLst>
      <p:ext uri="{BB962C8B-B14F-4D97-AF65-F5344CB8AC3E}">
        <p14:creationId xmlns:p14="http://schemas.microsoft.com/office/powerpoint/2010/main" val="631401419"/>
      </p:ext>
    </p:extLst>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E626-8F87-4124-904A-610390305F16}"/>
              </a:ext>
            </a:extLst>
          </p:cNvPr>
          <p:cNvSpPr>
            <a:spLocks noGrp="1"/>
          </p:cNvSpPr>
          <p:nvPr>
            <p:ph type="title"/>
          </p:nvPr>
        </p:nvSpPr>
        <p:spPr/>
        <p:txBody>
          <a:bodyPr/>
          <a:lstStyle/>
          <a:p>
            <a:r>
              <a:rPr lang="en-US" dirty="0"/>
              <a:t>In short. . . </a:t>
            </a:r>
          </a:p>
        </p:txBody>
      </p:sp>
      <p:sp>
        <p:nvSpPr>
          <p:cNvPr id="3" name="Content Placeholder 2">
            <a:extLst>
              <a:ext uri="{FF2B5EF4-FFF2-40B4-BE49-F238E27FC236}">
                <a16:creationId xmlns:a16="http://schemas.microsoft.com/office/drawing/2014/main" id="{829279AA-9BF6-4E04-9AE6-AD6ADFE70D8B}"/>
              </a:ext>
            </a:extLst>
          </p:cNvPr>
          <p:cNvSpPr>
            <a:spLocks noGrp="1"/>
          </p:cNvSpPr>
          <p:nvPr>
            <p:ph idx="1"/>
          </p:nvPr>
        </p:nvSpPr>
        <p:spPr>
          <a:xfrm>
            <a:off x="838200" y="1403131"/>
            <a:ext cx="10515600" cy="4773832"/>
          </a:xfrm>
        </p:spPr>
        <p:txBody>
          <a:bodyPr/>
          <a:lstStyle/>
          <a:p>
            <a:pPr algn="just"/>
            <a:endParaRPr lang="en-US" b="1" dirty="0"/>
          </a:p>
          <a:p>
            <a:pPr algn="just"/>
            <a:r>
              <a:rPr lang="en-US" b="1" dirty="0"/>
              <a:t>One of the most common applications of visualizations is in understanding a distribution of data.</a:t>
            </a:r>
          </a:p>
        </p:txBody>
      </p:sp>
      <p:sp>
        <p:nvSpPr>
          <p:cNvPr id="5" name="Slide Number Placeholder 4">
            <a:extLst>
              <a:ext uri="{FF2B5EF4-FFF2-40B4-BE49-F238E27FC236}">
                <a16:creationId xmlns:a16="http://schemas.microsoft.com/office/drawing/2014/main" id="{5C68B421-9AE4-4EBC-8C1D-B1B9D1F7F1F2}"/>
              </a:ext>
            </a:extLst>
          </p:cNvPr>
          <p:cNvSpPr>
            <a:spLocks noGrp="1"/>
          </p:cNvSpPr>
          <p:nvPr>
            <p:ph type="sldNum" sz="quarter" idx="12"/>
          </p:nvPr>
        </p:nvSpPr>
        <p:spPr/>
        <p:txBody>
          <a:bodyPr/>
          <a:lstStyle/>
          <a:p>
            <a:fld id="{6B97D948-30E8-43F7-AE10-F6E2D9F2BBB1}" type="slidenum">
              <a:rPr lang="en-US" smtClean="0"/>
              <a:t>487</a:t>
            </a:fld>
            <a:endParaRPr lang="en-US"/>
          </a:p>
        </p:txBody>
      </p:sp>
    </p:spTree>
    <p:extLst>
      <p:ext uri="{BB962C8B-B14F-4D97-AF65-F5344CB8AC3E}">
        <p14:creationId xmlns:p14="http://schemas.microsoft.com/office/powerpoint/2010/main" val="2222471467"/>
      </p:ext>
    </p:extLst>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C5B91-667D-48C6-88C5-28F718F18EA7}"/>
              </a:ext>
            </a:extLst>
          </p:cNvPr>
          <p:cNvSpPr>
            <a:spLocks noGrp="1"/>
          </p:cNvSpPr>
          <p:nvPr>
            <p:ph type="title"/>
          </p:nvPr>
        </p:nvSpPr>
        <p:spPr>
          <a:xfrm>
            <a:off x="838200" y="365126"/>
            <a:ext cx="10515600" cy="848820"/>
          </a:xfrm>
        </p:spPr>
        <p:txBody>
          <a:bodyPr/>
          <a:lstStyle/>
          <a:p>
            <a:r>
              <a:rPr lang="en-US" dirty="0"/>
              <a:t>Distributions</a:t>
            </a:r>
          </a:p>
        </p:txBody>
      </p:sp>
      <p:sp>
        <p:nvSpPr>
          <p:cNvPr id="3" name="Content Placeholder 2">
            <a:extLst>
              <a:ext uri="{FF2B5EF4-FFF2-40B4-BE49-F238E27FC236}">
                <a16:creationId xmlns:a16="http://schemas.microsoft.com/office/drawing/2014/main" id="{B1180167-A836-4C67-8413-A23B29D5A907}"/>
              </a:ext>
            </a:extLst>
          </p:cNvPr>
          <p:cNvSpPr>
            <a:spLocks noGrp="1"/>
          </p:cNvSpPr>
          <p:nvPr>
            <p:ph idx="1"/>
          </p:nvPr>
        </p:nvSpPr>
        <p:spPr>
          <a:xfrm>
            <a:off x="838200" y="1213946"/>
            <a:ext cx="10515600" cy="4963017"/>
          </a:xfrm>
        </p:spPr>
        <p:txBody>
          <a:bodyPr/>
          <a:lstStyle/>
          <a:p>
            <a:pPr algn="just"/>
            <a:r>
              <a:rPr lang="en-US" dirty="0"/>
              <a:t>A distribution describes the frequency of unique values in a variable. </a:t>
            </a:r>
          </a:p>
          <a:p>
            <a:pPr algn="just"/>
            <a:endParaRPr lang="en-US" dirty="0"/>
          </a:p>
          <a:p>
            <a:pPr algn="just"/>
            <a:r>
              <a:rPr lang="en-US" dirty="0"/>
              <a:t>Distributions must satisfy two properties:</a:t>
            </a:r>
          </a:p>
          <a:p>
            <a:endParaRPr lang="en-US" dirty="0"/>
          </a:p>
          <a:p>
            <a:pPr algn="just"/>
            <a:r>
              <a:rPr lang="en-US" dirty="0"/>
              <a:t>Each data point must belong to only one category.</a:t>
            </a:r>
          </a:p>
          <a:p>
            <a:endParaRPr lang="en-US" dirty="0"/>
          </a:p>
          <a:p>
            <a:r>
              <a:rPr lang="en-US" dirty="0"/>
              <a:t>The total frequency of all categories must sum to 100%. </a:t>
            </a:r>
          </a:p>
          <a:p>
            <a:endParaRPr lang="en-US" dirty="0"/>
          </a:p>
          <a:p>
            <a:r>
              <a:rPr lang="en-US" dirty="0"/>
              <a:t>In other words, their total count should equal the number of values in consideration.</a:t>
            </a:r>
          </a:p>
          <a:p>
            <a:endParaRPr lang="en-US" dirty="0"/>
          </a:p>
        </p:txBody>
      </p:sp>
      <p:sp>
        <p:nvSpPr>
          <p:cNvPr id="5" name="Slide Number Placeholder 4">
            <a:extLst>
              <a:ext uri="{FF2B5EF4-FFF2-40B4-BE49-F238E27FC236}">
                <a16:creationId xmlns:a16="http://schemas.microsoft.com/office/drawing/2014/main" id="{27843339-9876-4E42-B09D-86C355581BD9}"/>
              </a:ext>
            </a:extLst>
          </p:cNvPr>
          <p:cNvSpPr>
            <a:spLocks noGrp="1"/>
          </p:cNvSpPr>
          <p:nvPr>
            <p:ph type="sldNum" sz="quarter" idx="12"/>
          </p:nvPr>
        </p:nvSpPr>
        <p:spPr/>
        <p:txBody>
          <a:bodyPr/>
          <a:lstStyle/>
          <a:p>
            <a:fld id="{6B97D948-30E8-43F7-AE10-F6E2D9F2BBB1}" type="slidenum">
              <a:rPr lang="en-US" smtClean="0"/>
              <a:t>488</a:t>
            </a:fld>
            <a:endParaRPr lang="en-US"/>
          </a:p>
        </p:txBody>
      </p:sp>
    </p:spTree>
    <p:extLst>
      <p:ext uri="{BB962C8B-B14F-4D97-AF65-F5344CB8AC3E}">
        <p14:creationId xmlns:p14="http://schemas.microsoft.com/office/powerpoint/2010/main" val="849324393"/>
      </p:ext>
    </p:extLst>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1F89A-AD92-48A5-8642-C07E994C37A2}"/>
              </a:ext>
            </a:extLst>
          </p:cNvPr>
          <p:cNvSpPr>
            <a:spLocks noGrp="1"/>
          </p:cNvSpPr>
          <p:nvPr>
            <p:ph type="title"/>
          </p:nvPr>
        </p:nvSpPr>
        <p:spPr/>
        <p:txBody>
          <a:bodyPr/>
          <a:lstStyle/>
          <a:p>
            <a:r>
              <a:rPr lang="en-US" dirty="0"/>
              <a:t>Example</a:t>
            </a:r>
          </a:p>
        </p:txBody>
      </p:sp>
      <p:pic>
        <p:nvPicPr>
          <p:cNvPr id="8" name="Content Placeholder 7">
            <a:extLst>
              <a:ext uri="{FF2B5EF4-FFF2-40B4-BE49-F238E27FC236}">
                <a16:creationId xmlns:a16="http://schemas.microsoft.com/office/drawing/2014/main" id="{8E2655A0-C16F-43C8-90D2-572D527ADA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6980" y="1372738"/>
            <a:ext cx="7346730" cy="5120137"/>
          </a:xfrm>
        </p:spPr>
      </p:pic>
      <p:sp>
        <p:nvSpPr>
          <p:cNvPr id="4" name="Slide Number Placeholder 3">
            <a:extLst>
              <a:ext uri="{FF2B5EF4-FFF2-40B4-BE49-F238E27FC236}">
                <a16:creationId xmlns:a16="http://schemas.microsoft.com/office/drawing/2014/main" id="{759C4005-E559-4376-B706-839D562C3B29}"/>
              </a:ext>
            </a:extLst>
          </p:cNvPr>
          <p:cNvSpPr>
            <a:spLocks noGrp="1"/>
          </p:cNvSpPr>
          <p:nvPr>
            <p:ph type="sldNum" sz="quarter" idx="12"/>
          </p:nvPr>
        </p:nvSpPr>
        <p:spPr/>
        <p:txBody>
          <a:bodyPr/>
          <a:lstStyle/>
          <a:p>
            <a:fld id="{6B97D948-30E8-43F7-AE10-F6E2D9F2BBB1}" type="slidenum">
              <a:rPr lang="en-US" smtClean="0"/>
              <a:t>489</a:t>
            </a:fld>
            <a:endParaRPr lang="en-US"/>
          </a:p>
        </p:txBody>
      </p:sp>
    </p:spTree>
    <p:extLst>
      <p:ext uri="{BB962C8B-B14F-4D97-AF65-F5344CB8AC3E}">
        <p14:creationId xmlns:p14="http://schemas.microsoft.com/office/powerpoint/2010/main" val="3789632044"/>
      </p:ext>
    </p:extLst>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07E78-CAD5-4739-9774-9C952AD87FB8}"/>
              </a:ext>
            </a:extLst>
          </p:cNvPr>
          <p:cNvSpPr>
            <a:spLocks noGrp="1"/>
          </p:cNvSpPr>
          <p:nvPr>
            <p:ph type="title"/>
          </p:nvPr>
        </p:nvSpPr>
        <p:spPr/>
        <p:txBody>
          <a:bodyPr/>
          <a:lstStyle/>
          <a:p>
            <a:r>
              <a:rPr lang="en-US" dirty="0"/>
              <a:t>Variable Types</a:t>
            </a:r>
          </a:p>
        </p:txBody>
      </p:sp>
      <p:pic>
        <p:nvPicPr>
          <p:cNvPr id="4" name="Content Placeholder 3">
            <a:extLst>
              <a:ext uri="{FF2B5EF4-FFF2-40B4-BE49-F238E27FC236}">
                <a16:creationId xmlns:a16="http://schemas.microsoft.com/office/drawing/2014/main" id="{7D1E89EF-EEC1-49E1-9CC2-C933399C7CBB}"/>
              </a:ext>
            </a:extLst>
          </p:cNvPr>
          <p:cNvPicPr>
            <a:picLocks noGrp="1" noChangeAspect="1"/>
          </p:cNvPicPr>
          <p:nvPr>
            <p:ph idx="1"/>
          </p:nvPr>
        </p:nvPicPr>
        <p:blipFill>
          <a:blip r:embed="rId2"/>
          <a:stretch>
            <a:fillRect/>
          </a:stretch>
        </p:blipFill>
        <p:spPr>
          <a:xfrm>
            <a:off x="838200" y="2405176"/>
            <a:ext cx="10515600" cy="3192235"/>
          </a:xfrm>
          <a:prstGeom prst="rect">
            <a:avLst/>
          </a:prstGeom>
        </p:spPr>
      </p:pic>
      <p:sp>
        <p:nvSpPr>
          <p:cNvPr id="5" name="Slide Number Placeholder 4">
            <a:extLst>
              <a:ext uri="{FF2B5EF4-FFF2-40B4-BE49-F238E27FC236}">
                <a16:creationId xmlns:a16="http://schemas.microsoft.com/office/drawing/2014/main" id="{E80D08CE-F2CC-4A84-832F-44CD545A4750}"/>
              </a:ext>
            </a:extLst>
          </p:cNvPr>
          <p:cNvSpPr>
            <a:spLocks noGrp="1"/>
          </p:cNvSpPr>
          <p:nvPr>
            <p:ph type="sldNum" sz="quarter" idx="12"/>
          </p:nvPr>
        </p:nvSpPr>
        <p:spPr/>
        <p:txBody>
          <a:bodyPr/>
          <a:lstStyle/>
          <a:p>
            <a:fld id="{6B97D948-30E8-43F7-AE10-F6E2D9F2BBB1}" type="slidenum">
              <a:rPr lang="en-US" smtClean="0"/>
              <a:t>490</a:t>
            </a:fld>
            <a:endParaRPr lang="en-US"/>
          </a:p>
        </p:txBody>
      </p:sp>
    </p:spTree>
    <p:extLst>
      <p:ext uri="{BB962C8B-B14F-4D97-AF65-F5344CB8AC3E}">
        <p14:creationId xmlns:p14="http://schemas.microsoft.com/office/powerpoint/2010/main" val="1200265741"/>
      </p:ext>
    </p:extLst>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0E7B02-876D-4633-A885-F1C455A14B36}"/>
              </a:ext>
            </a:extLst>
          </p:cNvPr>
          <p:cNvSpPr>
            <a:spLocks noGrp="1"/>
          </p:cNvSpPr>
          <p:nvPr>
            <p:ph idx="1"/>
          </p:nvPr>
        </p:nvSpPr>
        <p:spPr>
          <a:xfrm>
            <a:off x="838200" y="457200"/>
            <a:ext cx="10515600" cy="5719763"/>
          </a:xfrm>
        </p:spPr>
        <p:txBody>
          <a:bodyPr/>
          <a:lstStyle/>
          <a:p>
            <a:pPr algn="just"/>
            <a:r>
              <a:rPr lang="en-US" dirty="0"/>
              <a:t>Different plot types are more or less suited for displaying particular types of variables. </a:t>
            </a:r>
          </a:p>
          <a:p>
            <a:pPr algn="just"/>
            <a:r>
              <a:rPr lang="en-US" dirty="0"/>
              <a:t>Before creating a visualization, you should always ask yourself: </a:t>
            </a:r>
          </a:p>
          <a:p>
            <a:pPr algn="just"/>
            <a:endParaRPr lang="en-US" dirty="0"/>
          </a:p>
          <a:p>
            <a:pPr marL="0" indent="0" algn="just">
              <a:buNone/>
            </a:pPr>
            <a:r>
              <a:rPr lang="en-US" dirty="0"/>
              <a:t>	What types of variables am I presenting? </a:t>
            </a:r>
          </a:p>
          <a:p>
            <a:pPr marL="0" indent="0" algn="just">
              <a:buNone/>
            </a:pPr>
            <a:r>
              <a:rPr lang="en-US" dirty="0"/>
              <a:t>	What plots are suitable to present this variable type?</a:t>
            </a:r>
          </a:p>
          <a:p>
            <a:endParaRPr lang="en-US" dirty="0"/>
          </a:p>
          <a:p>
            <a:pPr algn="just"/>
            <a:r>
              <a:rPr lang="en-US" dirty="0"/>
              <a:t>A summary of the plots generally used to display different variable types is given on the next slide. </a:t>
            </a:r>
          </a:p>
        </p:txBody>
      </p:sp>
      <p:sp>
        <p:nvSpPr>
          <p:cNvPr id="4" name="Slide Number Placeholder 3">
            <a:extLst>
              <a:ext uri="{FF2B5EF4-FFF2-40B4-BE49-F238E27FC236}">
                <a16:creationId xmlns:a16="http://schemas.microsoft.com/office/drawing/2014/main" id="{ACB83365-511D-443F-BDBE-50654A6A7747}"/>
              </a:ext>
            </a:extLst>
          </p:cNvPr>
          <p:cNvSpPr>
            <a:spLocks noGrp="1"/>
          </p:cNvSpPr>
          <p:nvPr>
            <p:ph type="sldNum" sz="quarter" idx="12"/>
          </p:nvPr>
        </p:nvSpPr>
        <p:spPr/>
        <p:txBody>
          <a:bodyPr/>
          <a:lstStyle/>
          <a:p>
            <a:fld id="{6B97D948-30E8-43F7-AE10-F6E2D9F2BBB1}" type="slidenum">
              <a:rPr lang="en-US" smtClean="0"/>
              <a:t>491</a:t>
            </a:fld>
            <a:endParaRPr lang="en-US"/>
          </a:p>
        </p:txBody>
      </p:sp>
    </p:spTree>
    <p:extLst>
      <p:ext uri="{BB962C8B-B14F-4D97-AF65-F5344CB8AC3E}">
        <p14:creationId xmlns:p14="http://schemas.microsoft.com/office/powerpoint/2010/main" val="2459526090"/>
      </p:ext>
    </p:extLst>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9FA3EB3-871E-4FF1-B76B-1B000A5D945B}"/>
              </a:ext>
            </a:extLst>
          </p:cNvPr>
          <p:cNvSpPr>
            <a:spLocks noGrp="1"/>
          </p:cNvSpPr>
          <p:nvPr>
            <p:ph sz="half" idx="1"/>
          </p:nvPr>
        </p:nvSpPr>
        <p:spPr>
          <a:xfrm>
            <a:off x="838200" y="394138"/>
            <a:ext cx="5181600" cy="5782825"/>
          </a:xfrm>
        </p:spPr>
        <p:txBody>
          <a:bodyPr/>
          <a:lstStyle/>
          <a:p>
            <a:r>
              <a:rPr lang="en-US" b="1" dirty="0"/>
              <a:t>Distribution of a qualitative variable:</a:t>
            </a:r>
          </a:p>
          <a:p>
            <a:endParaRPr lang="en-US" dirty="0"/>
          </a:p>
          <a:p>
            <a:r>
              <a:rPr lang="en-US" dirty="0"/>
              <a:t>    Bar plot</a:t>
            </a:r>
          </a:p>
          <a:p>
            <a:endParaRPr lang="en-US" dirty="0"/>
          </a:p>
        </p:txBody>
      </p:sp>
      <p:sp>
        <p:nvSpPr>
          <p:cNvPr id="6" name="Content Placeholder 5">
            <a:extLst>
              <a:ext uri="{FF2B5EF4-FFF2-40B4-BE49-F238E27FC236}">
                <a16:creationId xmlns:a16="http://schemas.microsoft.com/office/drawing/2014/main" id="{93945CB0-01CB-4706-98C6-6CD0D92AAAB0}"/>
              </a:ext>
            </a:extLst>
          </p:cNvPr>
          <p:cNvSpPr>
            <a:spLocks noGrp="1"/>
          </p:cNvSpPr>
          <p:nvPr>
            <p:ph sz="half" idx="2"/>
          </p:nvPr>
        </p:nvSpPr>
        <p:spPr>
          <a:xfrm>
            <a:off x="6172200" y="394138"/>
            <a:ext cx="5181600" cy="5782825"/>
          </a:xfrm>
        </p:spPr>
        <p:txBody>
          <a:bodyPr/>
          <a:lstStyle/>
          <a:p>
            <a:r>
              <a:rPr lang="en-US" b="1" dirty="0"/>
              <a:t>Distribution of a quantitative continuous variable:</a:t>
            </a:r>
          </a:p>
          <a:p>
            <a:r>
              <a:rPr lang="en-US" dirty="0"/>
              <a:t>    Histogram</a:t>
            </a:r>
          </a:p>
          <a:p>
            <a:r>
              <a:rPr lang="en-US" dirty="0"/>
              <a:t>    Box plot</a:t>
            </a:r>
          </a:p>
          <a:p>
            <a:r>
              <a:rPr lang="en-US" dirty="0"/>
              <a:t>    Violin plot</a:t>
            </a:r>
          </a:p>
          <a:p>
            <a:r>
              <a:rPr lang="en-US" dirty="0"/>
              <a:t>    KDE plot</a:t>
            </a:r>
          </a:p>
          <a:p>
            <a:endParaRPr lang="en-US" dirty="0"/>
          </a:p>
        </p:txBody>
      </p:sp>
      <p:sp>
        <p:nvSpPr>
          <p:cNvPr id="3" name="Slide Number Placeholder 2">
            <a:extLst>
              <a:ext uri="{FF2B5EF4-FFF2-40B4-BE49-F238E27FC236}">
                <a16:creationId xmlns:a16="http://schemas.microsoft.com/office/drawing/2014/main" id="{87DAA897-9C4E-4A19-B093-5CAC7746EE3F}"/>
              </a:ext>
            </a:extLst>
          </p:cNvPr>
          <p:cNvSpPr>
            <a:spLocks noGrp="1"/>
          </p:cNvSpPr>
          <p:nvPr>
            <p:ph type="sldNum" sz="quarter" idx="12"/>
          </p:nvPr>
        </p:nvSpPr>
        <p:spPr/>
        <p:txBody>
          <a:bodyPr/>
          <a:lstStyle/>
          <a:p>
            <a:fld id="{6B97D948-30E8-43F7-AE10-F6E2D9F2BBB1}" type="slidenum">
              <a:rPr lang="en-US" smtClean="0"/>
              <a:t>492</a:t>
            </a:fld>
            <a:endParaRPr lang="en-US"/>
          </a:p>
        </p:txBody>
      </p:sp>
    </p:spTree>
    <p:extLst>
      <p:ext uri="{BB962C8B-B14F-4D97-AF65-F5344CB8AC3E}">
        <p14:creationId xmlns:p14="http://schemas.microsoft.com/office/powerpoint/2010/main" val="2812218339"/>
      </p:ext>
    </p:extLst>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BA2AF8B-54B0-4DAB-81FE-357F161BA17D}"/>
              </a:ext>
            </a:extLst>
          </p:cNvPr>
          <p:cNvSpPr>
            <a:spLocks noGrp="1"/>
          </p:cNvSpPr>
          <p:nvPr>
            <p:ph sz="half" idx="1"/>
          </p:nvPr>
        </p:nvSpPr>
        <p:spPr>
          <a:xfrm>
            <a:off x="838200" y="520262"/>
            <a:ext cx="5181600" cy="5656701"/>
          </a:xfrm>
        </p:spPr>
        <p:txBody>
          <a:bodyPr/>
          <a:lstStyle/>
          <a:p>
            <a:pPr algn="just"/>
            <a:r>
              <a:rPr lang="en-US" b="1" dirty="0"/>
              <a:t>Distribution of a continuous variable across qualitative categories:</a:t>
            </a:r>
          </a:p>
          <a:p>
            <a:endParaRPr lang="en-US" dirty="0"/>
          </a:p>
          <a:p>
            <a:r>
              <a:rPr lang="en-US" dirty="0"/>
              <a:t>    Overlaid histograms</a:t>
            </a:r>
          </a:p>
          <a:p>
            <a:r>
              <a:rPr lang="en-US" dirty="0"/>
              <a:t>    Side-by-side box plots</a:t>
            </a:r>
          </a:p>
          <a:p>
            <a:r>
              <a:rPr lang="en-US" dirty="0"/>
              <a:t>    Side-by-side violin plots</a:t>
            </a:r>
          </a:p>
          <a:p>
            <a:r>
              <a:rPr lang="en-US" dirty="0"/>
              <a:t>    Overlaid KDE plots</a:t>
            </a:r>
          </a:p>
          <a:p>
            <a:endParaRPr lang="en-US" dirty="0"/>
          </a:p>
        </p:txBody>
      </p:sp>
      <p:sp>
        <p:nvSpPr>
          <p:cNvPr id="8" name="Content Placeholder 7">
            <a:extLst>
              <a:ext uri="{FF2B5EF4-FFF2-40B4-BE49-F238E27FC236}">
                <a16:creationId xmlns:a16="http://schemas.microsoft.com/office/drawing/2014/main" id="{3AB98297-8694-4504-8BB1-629823D995AF}"/>
              </a:ext>
            </a:extLst>
          </p:cNvPr>
          <p:cNvSpPr>
            <a:spLocks noGrp="1"/>
          </p:cNvSpPr>
          <p:nvPr>
            <p:ph sz="half" idx="2"/>
          </p:nvPr>
        </p:nvSpPr>
        <p:spPr>
          <a:xfrm>
            <a:off x="6172200" y="520262"/>
            <a:ext cx="5181600" cy="5656701"/>
          </a:xfrm>
        </p:spPr>
        <p:txBody>
          <a:bodyPr/>
          <a:lstStyle/>
          <a:p>
            <a:pPr algn="just"/>
            <a:r>
              <a:rPr lang="en-US" b="1" dirty="0"/>
              <a:t>Relationship between quantitative continuous variables</a:t>
            </a:r>
            <a:r>
              <a:rPr lang="en-US" dirty="0"/>
              <a:t>:</a:t>
            </a:r>
          </a:p>
          <a:p>
            <a:endParaRPr lang="en-US" dirty="0"/>
          </a:p>
          <a:p>
            <a:r>
              <a:rPr lang="en-US" dirty="0"/>
              <a:t>    Scatter plot</a:t>
            </a:r>
          </a:p>
          <a:p>
            <a:r>
              <a:rPr lang="en-US" dirty="0"/>
              <a:t>    Hex plot</a:t>
            </a:r>
          </a:p>
          <a:p>
            <a:r>
              <a:rPr lang="en-US" dirty="0"/>
              <a:t>    Contour map</a:t>
            </a:r>
          </a:p>
          <a:p>
            <a:endParaRPr lang="en-US" dirty="0"/>
          </a:p>
        </p:txBody>
      </p:sp>
      <p:sp>
        <p:nvSpPr>
          <p:cNvPr id="3" name="Slide Number Placeholder 2">
            <a:extLst>
              <a:ext uri="{FF2B5EF4-FFF2-40B4-BE49-F238E27FC236}">
                <a16:creationId xmlns:a16="http://schemas.microsoft.com/office/drawing/2014/main" id="{0CF1F0D8-E3B8-4492-B2F3-6E9076879519}"/>
              </a:ext>
            </a:extLst>
          </p:cNvPr>
          <p:cNvSpPr>
            <a:spLocks noGrp="1"/>
          </p:cNvSpPr>
          <p:nvPr>
            <p:ph type="sldNum" sz="quarter" idx="12"/>
          </p:nvPr>
        </p:nvSpPr>
        <p:spPr/>
        <p:txBody>
          <a:bodyPr/>
          <a:lstStyle/>
          <a:p>
            <a:fld id="{6B97D948-30E8-43F7-AE10-F6E2D9F2BBB1}" type="slidenum">
              <a:rPr lang="en-US" smtClean="0"/>
              <a:t>493</a:t>
            </a:fld>
            <a:endParaRPr lang="en-US"/>
          </a:p>
        </p:txBody>
      </p:sp>
    </p:spTree>
    <p:extLst>
      <p:ext uri="{BB962C8B-B14F-4D97-AF65-F5344CB8AC3E}">
        <p14:creationId xmlns:p14="http://schemas.microsoft.com/office/powerpoint/2010/main" val="797323737"/>
      </p:ext>
    </p:extLst>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08566-486A-4996-BE2D-82909358397E}"/>
              </a:ext>
            </a:extLst>
          </p:cNvPr>
          <p:cNvSpPr>
            <a:spLocks noGrp="1"/>
          </p:cNvSpPr>
          <p:nvPr>
            <p:ph type="title"/>
          </p:nvPr>
        </p:nvSpPr>
        <p:spPr>
          <a:xfrm>
            <a:off x="838200" y="365125"/>
            <a:ext cx="10515600" cy="738461"/>
          </a:xfrm>
        </p:spPr>
        <p:txBody>
          <a:bodyPr/>
          <a:lstStyle/>
          <a:p>
            <a:r>
              <a:rPr lang="en-US" dirty="0"/>
              <a:t>Examples</a:t>
            </a:r>
          </a:p>
        </p:txBody>
      </p:sp>
      <p:sp>
        <p:nvSpPr>
          <p:cNvPr id="3" name="Content Placeholder 2">
            <a:extLst>
              <a:ext uri="{FF2B5EF4-FFF2-40B4-BE49-F238E27FC236}">
                <a16:creationId xmlns:a16="http://schemas.microsoft.com/office/drawing/2014/main" id="{7AA9364A-C70A-48AA-97D1-D8E01F705229}"/>
              </a:ext>
            </a:extLst>
          </p:cNvPr>
          <p:cNvSpPr>
            <a:spLocks noGrp="1"/>
          </p:cNvSpPr>
          <p:nvPr>
            <p:ph idx="1"/>
          </p:nvPr>
        </p:nvSpPr>
        <p:spPr>
          <a:xfrm>
            <a:off x="838200" y="1103586"/>
            <a:ext cx="10515600" cy="5073377"/>
          </a:xfrm>
        </p:spPr>
        <p:txBody>
          <a:bodyPr>
            <a:normAutofit/>
          </a:bodyPr>
          <a:lstStyle/>
          <a:p>
            <a:pPr algn="just"/>
            <a:r>
              <a:rPr lang="en-US" dirty="0"/>
              <a:t>Let’s contextualize with examples using the World Bank dataset </a:t>
            </a:r>
            <a:r>
              <a:rPr lang="en-US" dirty="0" err="1"/>
              <a:t>wb</a:t>
            </a:r>
            <a:r>
              <a:rPr lang="en-US" dirty="0"/>
              <a:t>, which contains information about countries and social statistics.</a:t>
            </a:r>
          </a:p>
          <a:p>
            <a:pPr algn="just"/>
            <a:r>
              <a:rPr lang="en-US" dirty="0">
                <a:solidFill>
                  <a:srgbClr val="FF0000"/>
                </a:solidFill>
              </a:rPr>
              <a:t>import </a:t>
            </a:r>
            <a:r>
              <a:rPr lang="en-US" dirty="0" err="1">
                <a:solidFill>
                  <a:srgbClr val="FF0000"/>
                </a:solidFill>
              </a:rPr>
              <a:t>os</a:t>
            </a:r>
            <a:endParaRPr lang="en-US" dirty="0">
              <a:solidFill>
                <a:srgbClr val="FF0000"/>
              </a:solidFill>
            </a:endParaRPr>
          </a:p>
          <a:p>
            <a:pPr algn="just"/>
            <a:r>
              <a:rPr lang="en-US" dirty="0">
                <a:solidFill>
                  <a:srgbClr val="FF0000"/>
                </a:solidFill>
              </a:rPr>
              <a:t> </a:t>
            </a:r>
            <a:r>
              <a:rPr lang="en-US" dirty="0" err="1">
                <a:solidFill>
                  <a:srgbClr val="FF0000"/>
                </a:solidFill>
              </a:rPr>
              <a:t>os.chdir</a:t>
            </a:r>
            <a:r>
              <a:rPr lang="en-US" dirty="0">
                <a:solidFill>
                  <a:srgbClr val="FF0000"/>
                </a:solidFill>
              </a:rPr>
              <a:t>(‘C:/. . . ')</a:t>
            </a:r>
          </a:p>
          <a:p>
            <a:pPr algn="just"/>
            <a:endParaRPr lang="en-US" dirty="0">
              <a:solidFill>
                <a:srgbClr val="FF0000"/>
              </a:solidFill>
            </a:endParaRPr>
          </a:p>
          <a:p>
            <a:pPr algn="just"/>
            <a:r>
              <a:rPr lang="en-US" dirty="0">
                <a:solidFill>
                  <a:srgbClr val="FF0000"/>
                </a:solidFill>
              </a:rPr>
              <a:t>import pandas as pd</a:t>
            </a:r>
          </a:p>
          <a:p>
            <a:pPr algn="just"/>
            <a:endParaRPr lang="en-US" dirty="0">
              <a:solidFill>
                <a:srgbClr val="FF0000"/>
              </a:solidFill>
            </a:endParaRPr>
          </a:p>
          <a:p>
            <a:pPr algn="just"/>
            <a:r>
              <a:rPr lang="en-US" dirty="0" err="1">
                <a:solidFill>
                  <a:srgbClr val="FF0000"/>
                </a:solidFill>
              </a:rPr>
              <a:t>wb</a:t>
            </a:r>
            <a:r>
              <a:rPr lang="en-US" dirty="0">
                <a:solidFill>
                  <a:srgbClr val="FF0000"/>
                </a:solidFill>
              </a:rPr>
              <a:t> = </a:t>
            </a:r>
            <a:r>
              <a:rPr lang="en-US" dirty="0" err="1">
                <a:solidFill>
                  <a:srgbClr val="FF0000"/>
                </a:solidFill>
              </a:rPr>
              <a:t>pd.read_csv</a:t>
            </a:r>
            <a:r>
              <a:rPr lang="en-US" dirty="0">
                <a:solidFill>
                  <a:srgbClr val="FF0000"/>
                </a:solidFill>
              </a:rPr>
              <a:t>('worldbank.csv', </a:t>
            </a:r>
            <a:r>
              <a:rPr lang="en-US" dirty="0" err="1">
                <a:solidFill>
                  <a:srgbClr val="FF0000"/>
                </a:solidFill>
              </a:rPr>
              <a:t>index_col</a:t>
            </a:r>
            <a:r>
              <a:rPr lang="en-US" dirty="0">
                <a:solidFill>
                  <a:srgbClr val="FF0000"/>
                </a:solidFill>
              </a:rPr>
              <a:t> = 0)</a:t>
            </a:r>
          </a:p>
          <a:p>
            <a:pPr algn="just"/>
            <a:endParaRPr lang="en-US" dirty="0">
              <a:solidFill>
                <a:srgbClr val="FF0000"/>
              </a:solidFill>
            </a:endParaRPr>
          </a:p>
          <a:p>
            <a:pPr algn="just"/>
            <a:r>
              <a:rPr lang="en-US" dirty="0" err="1">
                <a:solidFill>
                  <a:srgbClr val="FF0000"/>
                </a:solidFill>
              </a:rPr>
              <a:t>wb.head</a:t>
            </a:r>
            <a:r>
              <a:rPr lang="en-US" dirty="0">
                <a:solidFill>
                  <a:srgbClr val="FF0000"/>
                </a:solidFill>
              </a:rPr>
              <a:t>()</a:t>
            </a:r>
          </a:p>
        </p:txBody>
      </p:sp>
      <p:sp>
        <p:nvSpPr>
          <p:cNvPr id="5" name="Slide Number Placeholder 4">
            <a:extLst>
              <a:ext uri="{FF2B5EF4-FFF2-40B4-BE49-F238E27FC236}">
                <a16:creationId xmlns:a16="http://schemas.microsoft.com/office/drawing/2014/main" id="{29781529-A8D4-481B-A5E8-FADAF5AD2D93}"/>
              </a:ext>
            </a:extLst>
          </p:cNvPr>
          <p:cNvSpPr>
            <a:spLocks noGrp="1"/>
          </p:cNvSpPr>
          <p:nvPr>
            <p:ph type="sldNum" sz="quarter" idx="12"/>
          </p:nvPr>
        </p:nvSpPr>
        <p:spPr/>
        <p:txBody>
          <a:bodyPr/>
          <a:lstStyle/>
          <a:p>
            <a:fld id="{6B97D948-30E8-43F7-AE10-F6E2D9F2BBB1}" type="slidenum">
              <a:rPr lang="en-US" smtClean="0"/>
              <a:t>494</a:t>
            </a:fld>
            <a:endParaRPr lang="en-US"/>
          </a:p>
        </p:txBody>
      </p:sp>
    </p:spTree>
    <p:extLst>
      <p:ext uri="{BB962C8B-B14F-4D97-AF65-F5344CB8AC3E}">
        <p14:creationId xmlns:p14="http://schemas.microsoft.com/office/powerpoint/2010/main" val="2764673994"/>
      </p:ext>
    </p:extLst>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12D912-B1A3-4313-81CC-EB50A1B5965B}"/>
              </a:ext>
            </a:extLst>
          </p:cNvPr>
          <p:cNvSpPr>
            <a:spLocks noGrp="1"/>
          </p:cNvSpPr>
          <p:nvPr>
            <p:ph idx="1"/>
          </p:nvPr>
        </p:nvSpPr>
        <p:spPr>
          <a:xfrm>
            <a:off x="838200" y="488731"/>
            <a:ext cx="10515600" cy="5688232"/>
          </a:xfrm>
        </p:spPr>
        <p:txBody>
          <a:bodyPr/>
          <a:lstStyle/>
          <a:p>
            <a:pPr algn="just"/>
            <a:r>
              <a:rPr lang="en-US" dirty="0"/>
              <a:t>Let’s visualize the distribution of the "Continent" column using a bar plot. </a:t>
            </a:r>
          </a:p>
          <a:p>
            <a:pPr algn="just"/>
            <a:endParaRPr lang="en-US" dirty="0"/>
          </a:p>
          <a:p>
            <a:pPr algn="just"/>
            <a:r>
              <a:rPr lang="en-US" dirty="0"/>
              <a:t>There are a few ways to do this.</a:t>
            </a:r>
          </a:p>
        </p:txBody>
      </p:sp>
      <p:sp>
        <p:nvSpPr>
          <p:cNvPr id="4" name="Slide Number Placeholder 3">
            <a:extLst>
              <a:ext uri="{FF2B5EF4-FFF2-40B4-BE49-F238E27FC236}">
                <a16:creationId xmlns:a16="http://schemas.microsoft.com/office/drawing/2014/main" id="{3E123B08-C612-4A12-86F4-99853B349B2E}"/>
              </a:ext>
            </a:extLst>
          </p:cNvPr>
          <p:cNvSpPr>
            <a:spLocks noGrp="1"/>
          </p:cNvSpPr>
          <p:nvPr>
            <p:ph type="sldNum" sz="quarter" idx="12"/>
          </p:nvPr>
        </p:nvSpPr>
        <p:spPr/>
        <p:txBody>
          <a:bodyPr/>
          <a:lstStyle/>
          <a:p>
            <a:fld id="{6B97D948-30E8-43F7-AE10-F6E2D9F2BBB1}" type="slidenum">
              <a:rPr lang="en-US" smtClean="0"/>
              <a:t>495</a:t>
            </a:fld>
            <a:endParaRPr lang="en-US"/>
          </a:p>
        </p:txBody>
      </p:sp>
    </p:spTree>
    <p:extLst>
      <p:ext uri="{BB962C8B-B14F-4D97-AF65-F5344CB8AC3E}">
        <p14:creationId xmlns:p14="http://schemas.microsoft.com/office/powerpoint/2010/main" val="3247755447"/>
      </p:ext>
    </p:extLst>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A150B-1002-4677-A7F4-CFA55B6F4FA2}"/>
              </a:ext>
            </a:extLst>
          </p:cNvPr>
          <p:cNvSpPr>
            <a:spLocks noGrp="1"/>
          </p:cNvSpPr>
          <p:nvPr>
            <p:ph type="title"/>
          </p:nvPr>
        </p:nvSpPr>
        <p:spPr>
          <a:xfrm>
            <a:off x="838200" y="365125"/>
            <a:ext cx="10515600" cy="565041"/>
          </a:xfrm>
        </p:spPr>
        <p:txBody>
          <a:bodyPr>
            <a:normAutofit fontScale="90000"/>
          </a:bodyPr>
          <a:lstStyle/>
          <a:p>
            <a:r>
              <a:rPr lang="en-US" dirty="0"/>
              <a:t>Plotting in Matplotlib</a:t>
            </a:r>
          </a:p>
        </p:txBody>
      </p:sp>
      <p:sp>
        <p:nvSpPr>
          <p:cNvPr id="3" name="Content Placeholder 2">
            <a:extLst>
              <a:ext uri="{FF2B5EF4-FFF2-40B4-BE49-F238E27FC236}">
                <a16:creationId xmlns:a16="http://schemas.microsoft.com/office/drawing/2014/main" id="{A9FEB413-97FA-4A29-97DE-10A1552A5BB4}"/>
              </a:ext>
            </a:extLst>
          </p:cNvPr>
          <p:cNvSpPr>
            <a:spLocks noGrp="1"/>
          </p:cNvSpPr>
          <p:nvPr>
            <p:ph idx="1"/>
          </p:nvPr>
        </p:nvSpPr>
        <p:spPr>
          <a:xfrm>
            <a:off x="838200" y="930166"/>
            <a:ext cx="10515600" cy="5246797"/>
          </a:xfrm>
        </p:spPr>
        <p:txBody>
          <a:bodyPr/>
          <a:lstStyle/>
          <a:p>
            <a:pPr algn="just"/>
            <a:r>
              <a:rPr lang="en-US" dirty="0">
                <a:solidFill>
                  <a:srgbClr val="FF0000"/>
                </a:solidFill>
              </a:rPr>
              <a:t>Matplotlib</a:t>
            </a:r>
            <a:r>
              <a:rPr lang="en-US" dirty="0"/>
              <a:t> is a common library used for generating visualizations in Python. </a:t>
            </a:r>
          </a:p>
          <a:p>
            <a:pPr algn="just"/>
            <a:endParaRPr lang="en-US" dirty="0"/>
          </a:p>
          <a:p>
            <a:pPr algn="just"/>
            <a:r>
              <a:rPr lang="en-US" dirty="0"/>
              <a:t>Most Matplotlib plotting functions follow the same structure: we pass in a sequence (list, array, or Series) of values to be plotted on the x-axis, and a second sequence of values to be plotted on the y-axis. </a:t>
            </a:r>
          </a:p>
          <a:p>
            <a:pPr algn="just"/>
            <a:endParaRPr lang="en-US" dirty="0"/>
          </a:p>
          <a:p>
            <a:pPr algn="just"/>
            <a:r>
              <a:rPr lang="en-US" dirty="0"/>
              <a:t>In pseudocode, Matplotlib plotting calls typically have the form:</a:t>
            </a:r>
          </a:p>
        </p:txBody>
      </p:sp>
      <p:sp>
        <p:nvSpPr>
          <p:cNvPr id="5" name="Slide Number Placeholder 4">
            <a:extLst>
              <a:ext uri="{FF2B5EF4-FFF2-40B4-BE49-F238E27FC236}">
                <a16:creationId xmlns:a16="http://schemas.microsoft.com/office/drawing/2014/main" id="{11351604-EF2E-46CE-A6F5-66AB3C752908}"/>
              </a:ext>
            </a:extLst>
          </p:cNvPr>
          <p:cNvSpPr>
            <a:spLocks noGrp="1"/>
          </p:cNvSpPr>
          <p:nvPr>
            <p:ph type="sldNum" sz="quarter" idx="12"/>
          </p:nvPr>
        </p:nvSpPr>
        <p:spPr/>
        <p:txBody>
          <a:bodyPr/>
          <a:lstStyle/>
          <a:p>
            <a:fld id="{6B97D948-30E8-43F7-AE10-F6E2D9F2BBB1}" type="slidenum">
              <a:rPr lang="en-US" smtClean="0"/>
              <a:t>496</a:t>
            </a:fld>
            <a:endParaRPr lang="en-US"/>
          </a:p>
        </p:txBody>
      </p:sp>
    </p:spTree>
    <p:extLst>
      <p:ext uri="{BB962C8B-B14F-4D97-AF65-F5344CB8AC3E}">
        <p14:creationId xmlns:p14="http://schemas.microsoft.com/office/powerpoint/2010/main" val="3355620337"/>
      </p:ext>
    </p:extLst>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68E3-31CD-4291-9603-9D13A24C1D6A}"/>
              </a:ext>
            </a:extLst>
          </p:cNvPr>
          <p:cNvSpPr>
            <a:spLocks noGrp="1"/>
          </p:cNvSpPr>
          <p:nvPr>
            <p:ph type="title"/>
          </p:nvPr>
        </p:nvSpPr>
        <p:spPr>
          <a:xfrm>
            <a:off x="838200" y="365126"/>
            <a:ext cx="10515600" cy="785758"/>
          </a:xfrm>
        </p:spPr>
        <p:txBody>
          <a:bodyPr/>
          <a:lstStyle/>
          <a:p>
            <a:r>
              <a:rPr lang="en-US" dirty="0"/>
              <a:t>In pseudocode. .. </a:t>
            </a:r>
          </a:p>
        </p:txBody>
      </p:sp>
      <p:sp>
        <p:nvSpPr>
          <p:cNvPr id="3" name="Content Placeholder 2">
            <a:extLst>
              <a:ext uri="{FF2B5EF4-FFF2-40B4-BE49-F238E27FC236}">
                <a16:creationId xmlns:a16="http://schemas.microsoft.com/office/drawing/2014/main" id="{FF89363C-557B-4FD1-AB92-9705F613E5D2}"/>
              </a:ext>
            </a:extLst>
          </p:cNvPr>
          <p:cNvSpPr>
            <a:spLocks noGrp="1"/>
          </p:cNvSpPr>
          <p:nvPr>
            <p:ph idx="1"/>
          </p:nvPr>
        </p:nvSpPr>
        <p:spPr>
          <a:xfrm>
            <a:off x="838200" y="1150884"/>
            <a:ext cx="10515600" cy="5026079"/>
          </a:xfrm>
        </p:spPr>
        <p:txBody>
          <a:bodyPr>
            <a:normAutofit/>
          </a:bodyPr>
          <a:lstStyle/>
          <a:p>
            <a:pPr algn="just"/>
            <a:r>
              <a:rPr lang="en-US" dirty="0"/>
              <a:t># </a:t>
            </a:r>
            <a:r>
              <a:rPr lang="en-US" dirty="0" err="1"/>
              <a:t>plt</a:t>
            </a:r>
            <a:r>
              <a:rPr lang="en-US" dirty="0"/>
              <a:t> is the typical alias for Matplotlib</a:t>
            </a:r>
          </a:p>
          <a:p>
            <a:pPr algn="just"/>
            <a:r>
              <a:rPr lang="en-US" dirty="0"/>
              <a:t>import </a:t>
            </a:r>
            <a:r>
              <a:rPr lang="en-US" dirty="0" err="1"/>
              <a:t>matplotlib.pyplot</a:t>
            </a:r>
            <a:r>
              <a:rPr lang="en-US" dirty="0"/>
              <a:t> as </a:t>
            </a:r>
            <a:r>
              <a:rPr lang="en-US" dirty="0" err="1"/>
              <a:t>plt</a:t>
            </a:r>
            <a:r>
              <a:rPr lang="en-US" dirty="0"/>
              <a:t> </a:t>
            </a:r>
          </a:p>
          <a:p>
            <a:pPr algn="just"/>
            <a:r>
              <a:rPr lang="en-US" dirty="0" err="1"/>
              <a:t>plt.plotting_function</a:t>
            </a:r>
            <a:r>
              <a:rPr lang="en-US" dirty="0"/>
              <a:t>(</a:t>
            </a:r>
            <a:r>
              <a:rPr lang="en-US" dirty="0" err="1"/>
              <a:t>x_values</a:t>
            </a:r>
            <a:r>
              <a:rPr lang="en-US" dirty="0"/>
              <a:t>, </a:t>
            </a:r>
            <a:r>
              <a:rPr lang="en-US" dirty="0" err="1"/>
              <a:t>y_values</a:t>
            </a:r>
            <a:r>
              <a:rPr lang="en-US" dirty="0"/>
              <a:t>)</a:t>
            </a:r>
          </a:p>
          <a:p>
            <a:pPr algn="just"/>
            <a:endParaRPr lang="en-US" dirty="0"/>
          </a:p>
          <a:p>
            <a:pPr algn="just"/>
            <a:r>
              <a:rPr lang="en-US" dirty="0"/>
              <a:t>To add labels and a title to a plot, we call the functions </a:t>
            </a:r>
            <a:r>
              <a:rPr lang="en-US" dirty="0" err="1"/>
              <a:t>plt.xlabel</a:t>
            </a:r>
            <a:r>
              <a:rPr lang="en-US" dirty="0"/>
              <a:t>, </a:t>
            </a:r>
            <a:r>
              <a:rPr lang="en-US" dirty="0" err="1"/>
              <a:t>plt.ylabel</a:t>
            </a:r>
            <a:r>
              <a:rPr lang="en-US" dirty="0"/>
              <a:t>, and </a:t>
            </a:r>
            <a:r>
              <a:rPr lang="en-US" dirty="0" err="1"/>
              <a:t>plt.title</a:t>
            </a:r>
            <a:r>
              <a:rPr lang="en-US" dirty="0"/>
              <a:t>.</a:t>
            </a:r>
          </a:p>
          <a:p>
            <a:pPr algn="just"/>
            <a:r>
              <a:rPr lang="en-US" dirty="0" err="1"/>
              <a:t>plt.xlabel</a:t>
            </a:r>
            <a:r>
              <a:rPr lang="en-US" dirty="0"/>
              <a:t>(“x axis label”)</a:t>
            </a:r>
          </a:p>
          <a:p>
            <a:pPr algn="just"/>
            <a:r>
              <a:rPr lang="en-US" dirty="0" err="1"/>
              <a:t>plt.ylabel</a:t>
            </a:r>
            <a:r>
              <a:rPr lang="en-US" dirty="0"/>
              <a:t>(“y axis label”)</a:t>
            </a:r>
          </a:p>
          <a:p>
            <a:pPr algn="just"/>
            <a:r>
              <a:rPr lang="en-US" dirty="0" err="1"/>
              <a:t>plt.title</a:t>
            </a:r>
            <a:r>
              <a:rPr lang="en-US" dirty="0"/>
              <a:t>(“Title of the plot”);</a:t>
            </a:r>
          </a:p>
        </p:txBody>
      </p:sp>
      <p:sp>
        <p:nvSpPr>
          <p:cNvPr id="5" name="Slide Number Placeholder 4">
            <a:extLst>
              <a:ext uri="{FF2B5EF4-FFF2-40B4-BE49-F238E27FC236}">
                <a16:creationId xmlns:a16="http://schemas.microsoft.com/office/drawing/2014/main" id="{4AA4CB50-628D-4213-A04D-2020BAFC9AAB}"/>
              </a:ext>
            </a:extLst>
          </p:cNvPr>
          <p:cNvSpPr>
            <a:spLocks noGrp="1"/>
          </p:cNvSpPr>
          <p:nvPr>
            <p:ph type="sldNum" sz="quarter" idx="12"/>
          </p:nvPr>
        </p:nvSpPr>
        <p:spPr/>
        <p:txBody>
          <a:bodyPr/>
          <a:lstStyle/>
          <a:p>
            <a:fld id="{6B97D948-30E8-43F7-AE10-F6E2D9F2BBB1}" type="slidenum">
              <a:rPr lang="en-US" smtClean="0"/>
              <a:t>497</a:t>
            </a:fld>
            <a:endParaRPr lang="en-US"/>
          </a:p>
        </p:txBody>
      </p:sp>
    </p:spTree>
    <p:extLst>
      <p:ext uri="{BB962C8B-B14F-4D97-AF65-F5344CB8AC3E}">
        <p14:creationId xmlns:p14="http://schemas.microsoft.com/office/powerpoint/2010/main" val="3373653040"/>
      </p:ext>
    </p:extLst>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F790CB-626F-4E0B-92FB-F99FA5AE6B9D}"/>
              </a:ext>
            </a:extLst>
          </p:cNvPr>
          <p:cNvSpPr>
            <a:spLocks noGrp="1"/>
          </p:cNvSpPr>
          <p:nvPr>
            <p:ph idx="1"/>
          </p:nvPr>
        </p:nvSpPr>
        <p:spPr>
          <a:xfrm>
            <a:off x="838200" y="504497"/>
            <a:ext cx="10515600" cy="5672466"/>
          </a:xfrm>
        </p:spPr>
        <p:txBody>
          <a:bodyPr/>
          <a:lstStyle/>
          <a:p>
            <a:pPr algn="just"/>
            <a:r>
              <a:rPr lang="en-US" dirty="0"/>
              <a:t>The plotting function to create a bar plot in Matplotlib is </a:t>
            </a:r>
            <a:r>
              <a:rPr lang="en-US" dirty="0" err="1">
                <a:solidFill>
                  <a:srgbClr val="FF0000"/>
                </a:solidFill>
              </a:rPr>
              <a:t>plt.bar</a:t>
            </a:r>
            <a:r>
              <a:rPr lang="en-US" dirty="0"/>
              <a:t>. </a:t>
            </a:r>
          </a:p>
          <a:p>
            <a:pPr algn="just"/>
            <a:endParaRPr lang="en-US" dirty="0"/>
          </a:p>
          <a:p>
            <a:pPr algn="just"/>
            <a:r>
              <a:rPr lang="en-US" dirty="0"/>
              <a:t>To generate a bar plot, we will need to create a set of x values and y values to pass in as arguments to </a:t>
            </a:r>
            <a:r>
              <a:rPr lang="en-US" dirty="0" err="1"/>
              <a:t>plt.bar</a:t>
            </a:r>
            <a:r>
              <a:rPr lang="en-US" dirty="0"/>
              <a:t>. </a:t>
            </a:r>
          </a:p>
          <a:p>
            <a:pPr algn="just"/>
            <a:endParaRPr lang="en-US" dirty="0"/>
          </a:p>
          <a:p>
            <a:pPr algn="just"/>
            <a:r>
              <a:rPr lang="en-US" dirty="0"/>
              <a:t>In the code, we call </a:t>
            </a:r>
            <a:r>
              <a:rPr lang="en-US" dirty="0">
                <a:solidFill>
                  <a:srgbClr val="FF0000"/>
                </a:solidFill>
              </a:rPr>
              <a:t>.</a:t>
            </a:r>
            <a:r>
              <a:rPr lang="en-US" dirty="0" err="1">
                <a:solidFill>
                  <a:srgbClr val="FF0000"/>
                </a:solidFill>
              </a:rPr>
              <a:t>value_counts</a:t>
            </a:r>
            <a:r>
              <a:rPr lang="en-US" dirty="0">
                <a:solidFill>
                  <a:srgbClr val="FF0000"/>
                </a:solidFill>
              </a:rPr>
              <a:t>() </a:t>
            </a:r>
            <a:r>
              <a:rPr lang="en-US" dirty="0"/>
              <a:t>to obtain the distribution of the "Continent" column. </a:t>
            </a:r>
          </a:p>
          <a:p>
            <a:pPr algn="just"/>
            <a:endParaRPr lang="en-US" dirty="0"/>
          </a:p>
          <a:p>
            <a:pPr algn="just"/>
            <a:r>
              <a:rPr lang="en-US" dirty="0"/>
              <a:t>The index of the resulting Series contains our desired x values (the names of each unique continent), while the values contain our y data (the counts of countries in each continent).</a:t>
            </a:r>
          </a:p>
        </p:txBody>
      </p:sp>
      <p:sp>
        <p:nvSpPr>
          <p:cNvPr id="4" name="Slide Number Placeholder 3">
            <a:extLst>
              <a:ext uri="{FF2B5EF4-FFF2-40B4-BE49-F238E27FC236}">
                <a16:creationId xmlns:a16="http://schemas.microsoft.com/office/drawing/2014/main" id="{1287E399-5AC0-4404-9556-B58394CCC611}"/>
              </a:ext>
            </a:extLst>
          </p:cNvPr>
          <p:cNvSpPr>
            <a:spLocks noGrp="1"/>
          </p:cNvSpPr>
          <p:nvPr>
            <p:ph type="sldNum" sz="quarter" idx="12"/>
          </p:nvPr>
        </p:nvSpPr>
        <p:spPr/>
        <p:txBody>
          <a:bodyPr/>
          <a:lstStyle/>
          <a:p>
            <a:fld id="{6B97D948-30E8-43F7-AE10-F6E2D9F2BBB1}" type="slidenum">
              <a:rPr lang="en-US" smtClean="0"/>
              <a:t>498</a:t>
            </a:fld>
            <a:endParaRPr lang="en-US"/>
          </a:p>
        </p:txBody>
      </p:sp>
    </p:spTree>
    <p:extLst>
      <p:ext uri="{BB962C8B-B14F-4D97-AF65-F5344CB8AC3E}">
        <p14:creationId xmlns:p14="http://schemas.microsoft.com/office/powerpoint/2010/main" val="671803895"/>
      </p:ext>
    </p:extLst>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74A376-C2C9-41FB-8EE7-2CC9818A12C8}"/>
              </a:ext>
            </a:extLst>
          </p:cNvPr>
          <p:cNvSpPr>
            <a:spLocks noGrp="1"/>
          </p:cNvSpPr>
          <p:nvPr>
            <p:ph idx="1"/>
          </p:nvPr>
        </p:nvSpPr>
        <p:spPr>
          <a:xfrm>
            <a:off x="838200" y="441434"/>
            <a:ext cx="10515600" cy="5735529"/>
          </a:xfrm>
        </p:spPr>
        <p:txBody>
          <a:bodyPr>
            <a:normAutofit fontScale="92500" lnSpcReduction="20000"/>
          </a:bodyPr>
          <a:lstStyle/>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endParaRPr lang="en-US" dirty="0">
              <a:solidFill>
                <a:srgbClr val="FF0000"/>
              </a:solidFill>
            </a:endParaRPr>
          </a:p>
          <a:p>
            <a:r>
              <a:rPr lang="en-US" dirty="0">
                <a:solidFill>
                  <a:srgbClr val="FF0000"/>
                </a:solidFill>
              </a:rPr>
              <a:t>continents = </a:t>
            </a:r>
            <a:r>
              <a:rPr lang="en-US" dirty="0" err="1">
                <a:solidFill>
                  <a:srgbClr val="FF0000"/>
                </a:solidFill>
              </a:rPr>
              <a:t>wb</a:t>
            </a:r>
            <a:r>
              <a:rPr lang="en-US" dirty="0">
                <a:solidFill>
                  <a:srgbClr val="FF0000"/>
                </a:solidFill>
              </a:rPr>
              <a:t>["Continent"].</a:t>
            </a:r>
            <a:r>
              <a:rPr lang="en-US" dirty="0" err="1">
                <a:solidFill>
                  <a:srgbClr val="FF0000"/>
                </a:solidFill>
              </a:rPr>
              <a:t>value_counts</a:t>
            </a:r>
            <a:r>
              <a:rPr lang="en-US" dirty="0">
                <a:solidFill>
                  <a:srgbClr val="FF0000"/>
                </a:solidFill>
              </a:rPr>
              <a:t>()</a:t>
            </a:r>
          </a:p>
          <a:p>
            <a:endParaRPr lang="en-US" dirty="0">
              <a:solidFill>
                <a:srgbClr val="FF0000"/>
              </a:solidFill>
            </a:endParaRPr>
          </a:p>
          <a:p>
            <a:r>
              <a:rPr lang="en-US" dirty="0" err="1">
                <a:solidFill>
                  <a:srgbClr val="FF0000"/>
                </a:solidFill>
              </a:rPr>
              <a:t>plt.bar</a:t>
            </a:r>
            <a:r>
              <a:rPr lang="en-US" dirty="0">
                <a:solidFill>
                  <a:srgbClr val="FF0000"/>
                </a:solidFill>
              </a:rPr>
              <a:t>(</a:t>
            </a:r>
            <a:r>
              <a:rPr lang="en-US" dirty="0" err="1">
                <a:solidFill>
                  <a:srgbClr val="FF0000"/>
                </a:solidFill>
              </a:rPr>
              <a:t>continents.index</a:t>
            </a:r>
            <a:r>
              <a:rPr lang="en-US" dirty="0">
                <a:solidFill>
                  <a:srgbClr val="FF0000"/>
                </a:solidFill>
              </a:rPr>
              <a:t>, continents)</a:t>
            </a:r>
          </a:p>
          <a:p>
            <a:endParaRPr lang="en-US" dirty="0">
              <a:solidFill>
                <a:srgbClr val="FF0000"/>
              </a:solidFill>
            </a:endParaRPr>
          </a:p>
          <a:p>
            <a:r>
              <a:rPr lang="en-US" dirty="0" err="1">
                <a:solidFill>
                  <a:srgbClr val="FF0000"/>
                </a:solidFill>
              </a:rPr>
              <a:t>plt.xlabel</a:t>
            </a:r>
            <a:r>
              <a:rPr lang="en-US" dirty="0">
                <a:solidFill>
                  <a:srgbClr val="FF0000"/>
                </a:solidFill>
              </a:rPr>
              <a:t>("Continent")</a:t>
            </a:r>
          </a:p>
          <a:p>
            <a:endParaRPr lang="en-US" dirty="0">
              <a:solidFill>
                <a:srgbClr val="FF0000"/>
              </a:solidFill>
            </a:endParaRPr>
          </a:p>
          <a:p>
            <a:r>
              <a:rPr lang="en-US" dirty="0" err="1">
                <a:solidFill>
                  <a:srgbClr val="FF0000"/>
                </a:solidFill>
              </a:rPr>
              <a:t>plt.ylabel</a:t>
            </a:r>
            <a:r>
              <a:rPr lang="en-US" dirty="0">
                <a:solidFill>
                  <a:srgbClr val="FF0000"/>
                </a:solidFill>
              </a:rPr>
              <a:t>("Count of countries")</a:t>
            </a:r>
          </a:p>
          <a:p>
            <a:endParaRPr lang="en-US" dirty="0">
              <a:solidFill>
                <a:srgbClr val="FF0000"/>
              </a:solidFill>
            </a:endParaRPr>
          </a:p>
          <a:p>
            <a:r>
              <a:rPr lang="en-US" dirty="0" err="1">
                <a:solidFill>
                  <a:srgbClr val="FF0000"/>
                </a:solidFill>
              </a:rPr>
              <a:t>plt.title</a:t>
            </a:r>
            <a:r>
              <a:rPr lang="en-US" dirty="0">
                <a:solidFill>
                  <a:srgbClr val="FF0000"/>
                </a:solidFill>
              </a:rPr>
              <a:t>("Distribution of countries across continents");</a:t>
            </a:r>
          </a:p>
          <a:p>
            <a:endParaRPr lang="en-US" dirty="0">
              <a:solidFill>
                <a:srgbClr val="FF0000"/>
              </a:solidFill>
            </a:endParaRPr>
          </a:p>
          <a:p>
            <a:r>
              <a:rPr lang="en-US" dirty="0" err="1">
                <a:solidFill>
                  <a:srgbClr val="FF0000"/>
                </a:solidFill>
              </a:rPr>
              <a:t>plt.show</a:t>
            </a:r>
            <a:r>
              <a:rPr lang="en-US" dirty="0">
                <a:solidFill>
                  <a:srgbClr val="FF0000"/>
                </a:solidFill>
              </a:rPr>
              <a:t>()</a:t>
            </a:r>
          </a:p>
        </p:txBody>
      </p:sp>
      <p:sp>
        <p:nvSpPr>
          <p:cNvPr id="4" name="Slide Number Placeholder 3">
            <a:extLst>
              <a:ext uri="{FF2B5EF4-FFF2-40B4-BE49-F238E27FC236}">
                <a16:creationId xmlns:a16="http://schemas.microsoft.com/office/drawing/2014/main" id="{E5C38FA2-3B19-45CD-A672-3C3ED9AC5F12}"/>
              </a:ext>
            </a:extLst>
          </p:cNvPr>
          <p:cNvSpPr>
            <a:spLocks noGrp="1"/>
          </p:cNvSpPr>
          <p:nvPr>
            <p:ph type="sldNum" sz="quarter" idx="12"/>
          </p:nvPr>
        </p:nvSpPr>
        <p:spPr/>
        <p:txBody>
          <a:bodyPr/>
          <a:lstStyle/>
          <a:p>
            <a:fld id="{6B97D948-30E8-43F7-AE10-F6E2D9F2BBB1}" type="slidenum">
              <a:rPr lang="en-US" smtClean="0"/>
              <a:t>499</a:t>
            </a:fld>
            <a:endParaRPr lang="en-US"/>
          </a:p>
        </p:txBody>
      </p:sp>
    </p:spTree>
    <p:extLst>
      <p:ext uri="{BB962C8B-B14F-4D97-AF65-F5344CB8AC3E}">
        <p14:creationId xmlns:p14="http://schemas.microsoft.com/office/powerpoint/2010/main" val="1770385232"/>
      </p:ext>
    </p:extLst>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3D5A61A-4DC9-48E1-B7E1-8B268D681E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5064" y="804041"/>
            <a:ext cx="8873792" cy="5372922"/>
          </a:xfrm>
        </p:spPr>
      </p:pic>
      <p:sp>
        <p:nvSpPr>
          <p:cNvPr id="3" name="Slide Number Placeholder 2">
            <a:extLst>
              <a:ext uri="{FF2B5EF4-FFF2-40B4-BE49-F238E27FC236}">
                <a16:creationId xmlns:a16="http://schemas.microsoft.com/office/drawing/2014/main" id="{0B44CBE2-A20C-463E-9BB4-BFEE5936AA9A}"/>
              </a:ext>
            </a:extLst>
          </p:cNvPr>
          <p:cNvSpPr>
            <a:spLocks noGrp="1"/>
          </p:cNvSpPr>
          <p:nvPr>
            <p:ph type="sldNum" sz="quarter" idx="12"/>
          </p:nvPr>
        </p:nvSpPr>
        <p:spPr/>
        <p:txBody>
          <a:bodyPr/>
          <a:lstStyle/>
          <a:p>
            <a:fld id="{6B97D948-30E8-43F7-AE10-F6E2D9F2BBB1}" type="slidenum">
              <a:rPr lang="en-US" smtClean="0"/>
              <a:t>500</a:t>
            </a:fld>
            <a:endParaRPr lang="en-US"/>
          </a:p>
        </p:txBody>
      </p:sp>
    </p:spTree>
    <p:extLst>
      <p:ext uri="{BB962C8B-B14F-4D97-AF65-F5344CB8AC3E}">
        <p14:creationId xmlns:p14="http://schemas.microsoft.com/office/powerpoint/2010/main" val="1016661595"/>
      </p:ext>
    </p:extLst>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DEF6C-9626-456F-891A-F9BF207492E8}"/>
              </a:ext>
            </a:extLst>
          </p:cNvPr>
          <p:cNvSpPr>
            <a:spLocks noGrp="1"/>
          </p:cNvSpPr>
          <p:nvPr>
            <p:ph type="title"/>
          </p:nvPr>
        </p:nvSpPr>
        <p:spPr>
          <a:xfrm>
            <a:off x="838200" y="365125"/>
            <a:ext cx="10515600" cy="612337"/>
          </a:xfrm>
        </p:spPr>
        <p:txBody>
          <a:bodyPr>
            <a:normAutofit fontScale="90000"/>
          </a:bodyPr>
          <a:lstStyle/>
          <a:p>
            <a:r>
              <a:rPr lang="en-US" dirty="0"/>
              <a:t>Plotting in Seaborn</a:t>
            </a:r>
          </a:p>
        </p:txBody>
      </p:sp>
      <p:sp>
        <p:nvSpPr>
          <p:cNvPr id="3" name="Content Placeholder 2">
            <a:extLst>
              <a:ext uri="{FF2B5EF4-FFF2-40B4-BE49-F238E27FC236}">
                <a16:creationId xmlns:a16="http://schemas.microsoft.com/office/drawing/2014/main" id="{28F03D46-B687-4955-BF78-D277FBCDF79C}"/>
              </a:ext>
            </a:extLst>
          </p:cNvPr>
          <p:cNvSpPr>
            <a:spLocks noGrp="1"/>
          </p:cNvSpPr>
          <p:nvPr>
            <p:ph idx="1"/>
          </p:nvPr>
        </p:nvSpPr>
        <p:spPr>
          <a:xfrm>
            <a:off x="838200" y="977462"/>
            <a:ext cx="10515600" cy="5199501"/>
          </a:xfrm>
        </p:spPr>
        <p:txBody>
          <a:bodyPr>
            <a:normAutofit/>
          </a:bodyPr>
          <a:lstStyle/>
          <a:p>
            <a:pPr algn="just"/>
            <a:r>
              <a:rPr lang="en-US" dirty="0">
                <a:solidFill>
                  <a:srgbClr val="FF0000"/>
                </a:solidFill>
              </a:rPr>
              <a:t>Seaborn</a:t>
            </a:r>
            <a:r>
              <a:rPr lang="en-US" dirty="0"/>
              <a:t> is another popular Python library for creating plots. </a:t>
            </a:r>
          </a:p>
          <a:p>
            <a:endParaRPr lang="en-US" dirty="0"/>
          </a:p>
          <a:p>
            <a:pPr algn="just"/>
            <a:r>
              <a:rPr lang="en-US" dirty="0"/>
              <a:t>Seaborn plotting functions use a different structure to Matplotlib. </a:t>
            </a:r>
          </a:p>
          <a:p>
            <a:pPr algn="just"/>
            <a:endParaRPr lang="en-US" dirty="0"/>
          </a:p>
          <a:p>
            <a:pPr algn="just"/>
            <a:r>
              <a:rPr lang="en-US" dirty="0"/>
              <a:t>In Seaborn, we pass in an entire </a:t>
            </a:r>
            <a:r>
              <a:rPr lang="en-US" dirty="0" err="1"/>
              <a:t>DataFrame</a:t>
            </a:r>
            <a:r>
              <a:rPr lang="en-US" dirty="0"/>
              <a:t> as an argument, then specify what column(s) from the </a:t>
            </a:r>
            <a:r>
              <a:rPr lang="en-US" dirty="0" err="1"/>
              <a:t>DataFrame</a:t>
            </a:r>
            <a:r>
              <a:rPr lang="en-US" dirty="0"/>
              <a:t> to plot. </a:t>
            </a:r>
          </a:p>
        </p:txBody>
      </p:sp>
      <p:sp>
        <p:nvSpPr>
          <p:cNvPr id="5" name="Slide Number Placeholder 4">
            <a:extLst>
              <a:ext uri="{FF2B5EF4-FFF2-40B4-BE49-F238E27FC236}">
                <a16:creationId xmlns:a16="http://schemas.microsoft.com/office/drawing/2014/main" id="{89C863A2-C2E8-4DDF-B70A-036E7EEB1F35}"/>
              </a:ext>
            </a:extLst>
          </p:cNvPr>
          <p:cNvSpPr>
            <a:spLocks noGrp="1"/>
          </p:cNvSpPr>
          <p:nvPr>
            <p:ph type="sldNum" sz="quarter" idx="12"/>
          </p:nvPr>
        </p:nvSpPr>
        <p:spPr/>
        <p:txBody>
          <a:bodyPr/>
          <a:lstStyle/>
          <a:p>
            <a:fld id="{6B97D948-30E8-43F7-AE10-F6E2D9F2BBB1}" type="slidenum">
              <a:rPr lang="en-US" smtClean="0"/>
              <a:t>501</a:t>
            </a:fld>
            <a:endParaRPr lang="en-US"/>
          </a:p>
        </p:txBody>
      </p:sp>
    </p:spTree>
    <p:extLst>
      <p:ext uri="{BB962C8B-B14F-4D97-AF65-F5344CB8AC3E}">
        <p14:creationId xmlns:p14="http://schemas.microsoft.com/office/powerpoint/2010/main" val="3390180359"/>
      </p:ext>
    </p:extLst>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FBC9A-CDBF-4F31-B250-0A35F96E3697}"/>
              </a:ext>
            </a:extLst>
          </p:cNvPr>
          <p:cNvSpPr>
            <a:spLocks noGrp="1"/>
          </p:cNvSpPr>
          <p:nvPr>
            <p:ph type="title"/>
          </p:nvPr>
        </p:nvSpPr>
        <p:spPr>
          <a:xfrm>
            <a:off x="838200" y="365126"/>
            <a:ext cx="10515600" cy="722696"/>
          </a:xfrm>
        </p:spPr>
        <p:txBody>
          <a:bodyPr/>
          <a:lstStyle/>
          <a:p>
            <a:r>
              <a:rPr lang="en-US" dirty="0"/>
              <a:t>Pseudocode</a:t>
            </a:r>
          </a:p>
        </p:txBody>
      </p:sp>
      <p:sp>
        <p:nvSpPr>
          <p:cNvPr id="3" name="Content Placeholder 2">
            <a:extLst>
              <a:ext uri="{FF2B5EF4-FFF2-40B4-BE49-F238E27FC236}">
                <a16:creationId xmlns:a16="http://schemas.microsoft.com/office/drawing/2014/main" id="{64D8FA2C-DCBC-420B-98B4-7434FEEC19E1}"/>
              </a:ext>
            </a:extLst>
          </p:cNvPr>
          <p:cNvSpPr>
            <a:spLocks noGrp="1"/>
          </p:cNvSpPr>
          <p:nvPr>
            <p:ph idx="1"/>
          </p:nvPr>
        </p:nvSpPr>
        <p:spPr>
          <a:xfrm>
            <a:off x="838200" y="1087822"/>
            <a:ext cx="10515600" cy="5089141"/>
          </a:xfrm>
        </p:spPr>
        <p:txBody>
          <a:bodyPr>
            <a:normAutofit/>
          </a:bodyPr>
          <a:lstStyle/>
          <a:p>
            <a:r>
              <a:rPr lang="en-US" dirty="0"/>
              <a:t># </a:t>
            </a:r>
            <a:r>
              <a:rPr lang="en-US" dirty="0" err="1"/>
              <a:t>sns</a:t>
            </a:r>
            <a:r>
              <a:rPr lang="en-US" dirty="0"/>
              <a:t> is the typical alias for Seaborn</a:t>
            </a:r>
          </a:p>
          <a:p>
            <a:r>
              <a:rPr lang="en-US" dirty="0"/>
              <a:t>import seaborn as </a:t>
            </a:r>
            <a:r>
              <a:rPr lang="en-US" dirty="0" err="1"/>
              <a:t>sns</a:t>
            </a:r>
            <a:endParaRPr lang="en-US" dirty="0"/>
          </a:p>
          <a:p>
            <a:r>
              <a:rPr lang="en-US" dirty="0" err="1"/>
              <a:t>sns.plotting_function</a:t>
            </a:r>
            <a:r>
              <a:rPr lang="en-US" dirty="0"/>
              <a:t>(data = df, x = "</a:t>
            </a:r>
            <a:r>
              <a:rPr lang="en-US" dirty="0" err="1"/>
              <a:t>x_col</a:t>
            </a:r>
            <a:r>
              <a:rPr lang="en-US" dirty="0"/>
              <a:t>", y = "</a:t>
            </a:r>
            <a:r>
              <a:rPr lang="en-US" dirty="0" err="1"/>
              <a:t>y_col</a:t>
            </a:r>
            <a:r>
              <a:rPr lang="en-US" dirty="0"/>
              <a:t>")</a:t>
            </a:r>
          </a:p>
          <a:p>
            <a:endParaRPr lang="en-US" dirty="0"/>
          </a:p>
          <a:p>
            <a:r>
              <a:rPr lang="en-US" dirty="0"/>
              <a:t>As before, we can add axis labels and a title:</a:t>
            </a:r>
          </a:p>
          <a:p>
            <a:endParaRPr lang="en-US" dirty="0"/>
          </a:p>
          <a:p>
            <a:r>
              <a:rPr lang="en-US" dirty="0" err="1"/>
              <a:t>plt.xlabel</a:t>
            </a:r>
            <a:r>
              <a:rPr lang="en-US" dirty="0"/>
              <a:t>(“x axis label”)</a:t>
            </a:r>
          </a:p>
          <a:p>
            <a:r>
              <a:rPr lang="en-US" dirty="0" err="1"/>
              <a:t>plt.ylabel</a:t>
            </a:r>
            <a:r>
              <a:rPr lang="en-US" dirty="0"/>
              <a:t>(“y axis label”)</a:t>
            </a:r>
          </a:p>
          <a:p>
            <a:r>
              <a:rPr lang="en-US" dirty="0" err="1"/>
              <a:t>plt.title</a:t>
            </a:r>
            <a:r>
              <a:rPr lang="en-US" dirty="0"/>
              <a:t>(“Title of the plot”)</a:t>
            </a:r>
          </a:p>
        </p:txBody>
      </p:sp>
      <p:sp>
        <p:nvSpPr>
          <p:cNvPr id="5" name="Slide Number Placeholder 4">
            <a:extLst>
              <a:ext uri="{FF2B5EF4-FFF2-40B4-BE49-F238E27FC236}">
                <a16:creationId xmlns:a16="http://schemas.microsoft.com/office/drawing/2014/main" id="{00374294-FD05-4CE3-B078-2FD14AFFD19C}"/>
              </a:ext>
            </a:extLst>
          </p:cNvPr>
          <p:cNvSpPr>
            <a:spLocks noGrp="1"/>
          </p:cNvSpPr>
          <p:nvPr>
            <p:ph type="sldNum" sz="quarter" idx="12"/>
          </p:nvPr>
        </p:nvSpPr>
        <p:spPr/>
        <p:txBody>
          <a:bodyPr/>
          <a:lstStyle/>
          <a:p>
            <a:fld id="{6B97D948-30E8-43F7-AE10-F6E2D9F2BBB1}" type="slidenum">
              <a:rPr lang="en-US" smtClean="0"/>
              <a:t>502</a:t>
            </a:fld>
            <a:endParaRPr lang="en-US"/>
          </a:p>
        </p:txBody>
      </p:sp>
    </p:spTree>
    <p:extLst>
      <p:ext uri="{BB962C8B-B14F-4D97-AF65-F5344CB8AC3E}">
        <p14:creationId xmlns:p14="http://schemas.microsoft.com/office/powerpoint/2010/main" val="1742816855"/>
      </p:ext>
    </p:extLst>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A72925-0C86-4C38-8C26-C80AE145FDD5}"/>
              </a:ext>
            </a:extLst>
          </p:cNvPr>
          <p:cNvSpPr>
            <a:spLocks noGrp="1"/>
          </p:cNvSpPr>
          <p:nvPr>
            <p:ph idx="1"/>
          </p:nvPr>
        </p:nvSpPr>
        <p:spPr>
          <a:xfrm>
            <a:off x="838200" y="520262"/>
            <a:ext cx="10515600" cy="5656701"/>
          </a:xfrm>
        </p:spPr>
        <p:txBody>
          <a:bodyPr/>
          <a:lstStyle/>
          <a:p>
            <a:r>
              <a:rPr lang="en-US" dirty="0">
                <a:solidFill>
                  <a:srgbClr val="FF0000"/>
                </a:solidFill>
              </a:rPr>
              <a:t>#import seaborn as </a:t>
            </a:r>
            <a:r>
              <a:rPr lang="en-US" dirty="0" err="1">
                <a:solidFill>
                  <a:srgbClr val="FF0000"/>
                </a:solidFill>
              </a:rPr>
              <a:t>sns</a:t>
            </a:r>
            <a:endParaRPr lang="en-US" dirty="0">
              <a:solidFill>
                <a:srgbClr val="FF0000"/>
              </a:solidFill>
            </a:endParaRPr>
          </a:p>
          <a:p>
            <a:r>
              <a:rPr lang="en-US" dirty="0" err="1">
                <a:solidFill>
                  <a:srgbClr val="FF0000"/>
                </a:solidFill>
              </a:rPr>
              <a:t>sns.countplot</a:t>
            </a:r>
            <a:r>
              <a:rPr lang="en-US" dirty="0">
                <a:solidFill>
                  <a:srgbClr val="FF0000"/>
                </a:solidFill>
              </a:rPr>
              <a:t>(data = </a:t>
            </a:r>
            <a:r>
              <a:rPr lang="en-US" dirty="0" err="1">
                <a:solidFill>
                  <a:srgbClr val="FF0000"/>
                </a:solidFill>
              </a:rPr>
              <a:t>wb</a:t>
            </a:r>
            <a:r>
              <a:rPr lang="en-US" dirty="0">
                <a:solidFill>
                  <a:srgbClr val="FF0000"/>
                </a:solidFill>
              </a:rPr>
              <a:t>, x = 'Continent');</a:t>
            </a:r>
          </a:p>
          <a:p>
            <a:endParaRPr lang="en-US" dirty="0">
              <a:solidFill>
                <a:srgbClr val="FF0000"/>
              </a:solidFill>
            </a:endParaRPr>
          </a:p>
          <a:p>
            <a:r>
              <a:rPr lang="en-US" dirty="0" err="1">
                <a:solidFill>
                  <a:srgbClr val="FF0000"/>
                </a:solidFill>
              </a:rPr>
              <a:t>plt.show</a:t>
            </a:r>
            <a:r>
              <a:rPr lang="en-US" dirty="0">
                <a:solidFill>
                  <a:srgbClr val="FF0000"/>
                </a:solidFill>
              </a:rPr>
              <a:t>()</a:t>
            </a:r>
          </a:p>
        </p:txBody>
      </p:sp>
      <p:sp>
        <p:nvSpPr>
          <p:cNvPr id="4" name="Slide Number Placeholder 3">
            <a:extLst>
              <a:ext uri="{FF2B5EF4-FFF2-40B4-BE49-F238E27FC236}">
                <a16:creationId xmlns:a16="http://schemas.microsoft.com/office/drawing/2014/main" id="{5BF42495-CDB2-437E-8921-FF28207A6208}"/>
              </a:ext>
            </a:extLst>
          </p:cNvPr>
          <p:cNvSpPr>
            <a:spLocks noGrp="1"/>
          </p:cNvSpPr>
          <p:nvPr>
            <p:ph type="sldNum" sz="quarter" idx="12"/>
          </p:nvPr>
        </p:nvSpPr>
        <p:spPr/>
        <p:txBody>
          <a:bodyPr/>
          <a:lstStyle/>
          <a:p>
            <a:fld id="{6B97D948-30E8-43F7-AE10-F6E2D9F2BBB1}" type="slidenum">
              <a:rPr lang="en-US" smtClean="0"/>
              <a:t>503</a:t>
            </a:fld>
            <a:endParaRPr lang="en-US"/>
          </a:p>
        </p:txBody>
      </p:sp>
    </p:spTree>
    <p:extLst>
      <p:ext uri="{BB962C8B-B14F-4D97-AF65-F5344CB8AC3E}">
        <p14:creationId xmlns:p14="http://schemas.microsoft.com/office/powerpoint/2010/main" val="571105297"/>
      </p:ext>
    </p:extLst>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9760E14-9BE6-4336-9DE9-FEBB1B7547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0854" y="599879"/>
            <a:ext cx="7436111" cy="5577083"/>
          </a:xfrm>
        </p:spPr>
      </p:pic>
      <p:sp>
        <p:nvSpPr>
          <p:cNvPr id="3" name="Slide Number Placeholder 2">
            <a:extLst>
              <a:ext uri="{FF2B5EF4-FFF2-40B4-BE49-F238E27FC236}">
                <a16:creationId xmlns:a16="http://schemas.microsoft.com/office/drawing/2014/main" id="{D61FE5D4-0901-4D4B-835C-B008E5F13ED2}"/>
              </a:ext>
            </a:extLst>
          </p:cNvPr>
          <p:cNvSpPr>
            <a:spLocks noGrp="1"/>
          </p:cNvSpPr>
          <p:nvPr>
            <p:ph type="sldNum" sz="quarter" idx="12"/>
          </p:nvPr>
        </p:nvSpPr>
        <p:spPr/>
        <p:txBody>
          <a:bodyPr/>
          <a:lstStyle/>
          <a:p>
            <a:fld id="{6B97D948-30E8-43F7-AE10-F6E2D9F2BBB1}" type="slidenum">
              <a:rPr lang="en-US" smtClean="0"/>
              <a:t>504</a:t>
            </a:fld>
            <a:endParaRPr lang="en-US"/>
          </a:p>
        </p:txBody>
      </p:sp>
    </p:spTree>
    <p:extLst>
      <p:ext uri="{BB962C8B-B14F-4D97-AF65-F5344CB8AC3E}">
        <p14:creationId xmlns:p14="http://schemas.microsoft.com/office/powerpoint/2010/main" val="3577695446"/>
      </p:ext>
    </p:extLst>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BAFA1-D786-4DF7-9DD1-5F738B0EAE14}"/>
              </a:ext>
            </a:extLst>
          </p:cNvPr>
          <p:cNvSpPr>
            <a:spLocks noGrp="1"/>
          </p:cNvSpPr>
          <p:nvPr>
            <p:ph idx="1"/>
          </p:nvPr>
        </p:nvSpPr>
        <p:spPr>
          <a:xfrm>
            <a:off x="838200" y="441434"/>
            <a:ext cx="10515600" cy="5735529"/>
          </a:xfrm>
        </p:spPr>
        <p:txBody>
          <a:bodyPr/>
          <a:lstStyle/>
          <a:p>
            <a:pPr algn="just"/>
            <a:r>
              <a:rPr lang="en-US" dirty="0" err="1">
                <a:solidFill>
                  <a:srgbClr val="FF0000"/>
                </a:solidFill>
              </a:rPr>
              <a:t>sns.countplot</a:t>
            </a:r>
            <a:r>
              <a:rPr lang="en-US" dirty="0">
                <a:solidFill>
                  <a:srgbClr val="FF0000"/>
                </a:solidFill>
              </a:rPr>
              <a:t> </a:t>
            </a:r>
            <a:r>
              <a:rPr lang="en-US" dirty="0"/>
              <a:t>both counts and visualizes the number of unique values in a given column, without the need for us to pre-process data using </a:t>
            </a:r>
            <a:r>
              <a:rPr lang="en-US" dirty="0">
                <a:solidFill>
                  <a:srgbClr val="FF0000"/>
                </a:solidFill>
              </a:rPr>
              <a:t>.</a:t>
            </a:r>
            <a:r>
              <a:rPr lang="en-US" dirty="0" err="1">
                <a:solidFill>
                  <a:srgbClr val="FF0000"/>
                </a:solidFill>
              </a:rPr>
              <a:t>value_counts</a:t>
            </a:r>
            <a:r>
              <a:rPr lang="en-US" dirty="0">
                <a:solidFill>
                  <a:srgbClr val="FF0000"/>
                </a:solidFill>
              </a:rPr>
              <a:t>(). </a:t>
            </a:r>
          </a:p>
          <a:p>
            <a:pPr algn="just"/>
            <a:endParaRPr lang="en-US" dirty="0"/>
          </a:p>
          <a:p>
            <a:pPr algn="just"/>
            <a:r>
              <a:rPr lang="en-US" dirty="0"/>
              <a:t>The </a:t>
            </a:r>
            <a:r>
              <a:rPr lang="en-US" dirty="0" err="1">
                <a:solidFill>
                  <a:srgbClr val="FF0000"/>
                </a:solidFill>
              </a:rPr>
              <a:t>DataFrame</a:t>
            </a:r>
            <a:r>
              <a:rPr lang="en-US" dirty="0"/>
              <a:t> containing our desired information is specified by the data argument, while the column to be plotted is specified by the x argument.</a:t>
            </a:r>
          </a:p>
        </p:txBody>
      </p:sp>
      <p:sp>
        <p:nvSpPr>
          <p:cNvPr id="4" name="Slide Number Placeholder 3">
            <a:extLst>
              <a:ext uri="{FF2B5EF4-FFF2-40B4-BE49-F238E27FC236}">
                <a16:creationId xmlns:a16="http://schemas.microsoft.com/office/drawing/2014/main" id="{B47EC048-6898-46AC-9145-C27A3418F3FB}"/>
              </a:ext>
            </a:extLst>
          </p:cNvPr>
          <p:cNvSpPr>
            <a:spLocks noGrp="1"/>
          </p:cNvSpPr>
          <p:nvPr>
            <p:ph type="sldNum" sz="quarter" idx="12"/>
          </p:nvPr>
        </p:nvSpPr>
        <p:spPr/>
        <p:txBody>
          <a:bodyPr/>
          <a:lstStyle/>
          <a:p>
            <a:fld id="{6B97D948-30E8-43F7-AE10-F6E2D9F2BBB1}" type="slidenum">
              <a:rPr lang="en-US" smtClean="0"/>
              <a:t>505</a:t>
            </a:fld>
            <a:endParaRPr lang="en-US"/>
          </a:p>
        </p:txBody>
      </p:sp>
    </p:spTree>
    <p:extLst>
      <p:ext uri="{BB962C8B-B14F-4D97-AF65-F5344CB8AC3E}">
        <p14:creationId xmlns:p14="http://schemas.microsoft.com/office/powerpoint/2010/main" val="1559780532"/>
      </p:ext>
    </p:extLst>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024F4-36CD-40DC-8A8C-CFBD68B28ABC}"/>
              </a:ext>
            </a:extLst>
          </p:cNvPr>
          <p:cNvSpPr>
            <a:spLocks noGrp="1"/>
          </p:cNvSpPr>
          <p:nvPr>
            <p:ph type="title"/>
          </p:nvPr>
        </p:nvSpPr>
        <p:spPr>
          <a:xfrm>
            <a:off x="838200" y="365125"/>
            <a:ext cx="10515600" cy="675399"/>
          </a:xfrm>
        </p:spPr>
        <p:txBody>
          <a:bodyPr>
            <a:normAutofit fontScale="90000"/>
          </a:bodyPr>
          <a:lstStyle/>
          <a:p>
            <a:r>
              <a:rPr lang="en-US" dirty="0"/>
              <a:t>Visualize quantitative variables</a:t>
            </a:r>
          </a:p>
        </p:txBody>
      </p:sp>
      <p:sp>
        <p:nvSpPr>
          <p:cNvPr id="3" name="Content Placeholder 2">
            <a:extLst>
              <a:ext uri="{FF2B5EF4-FFF2-40B4-BE49-F238E27FC236}">
                <a16:creationId xmlns:a16="http://schemas.microsoft.com/office/drawing/2014/main" id="{E9DBE22C-6C56-443D-A7F1-6C889E97198B}"/>
              </a:ext>
            </a:extLst>
          </p:cNvPr>
          <p:cNvSpPr>
            <a:spLocks noGrp="1"/>
          </p:cNvSpPr>
          <p:nvPr>
            <p:ph idx="1"/>
          </p:nvPr>
        </p:nvSpPr>
        <p:spPr>
          <a:xfrm>
            <a:off x="838200" y="1040524"/>
            <a:ext cx="10515600" cy="5136439"/>
          </a:xfrm>
        </p:spPr>
        <p:txBody>
          <a:bodyPr/>
          <a:lstStyle/>
          <a:p>
            <a:pPr algn="just"/>
            <a:r>
              <a:rPr lang="en-US" dirty="0"/>
              <a:t>To visualize the distribution of a quantitative variable, bar plots are </a:t>
            </a:r>
            <a:r>
              <a:rPr lang="en-US" dirty="0">
                <a:solidFill>
                  <a:srgbClr val="FF0000"/>
                </a:solidFill>
              </a:rPr>
              <a:t>no longer an appropriate choice of visualization</a:t>
            </a:r>
            <a:r>
              <a:rPr lang="en-US" dirty="0"/>
              <a:t>. </a:t>
            </a:r>
          </a:p>
          <a:p>
            <a:pPr algn="just"/>
            <a:endParaRPr lang="en-US" dirty="0"/>
          </a:p>
          <a:p>
            <a:pPr algn="just"/>
            <a:r>
              <a:rPr lang="en-US" dirty="0"/>
              <a:t>To see why, consider what happens when we use </a:t>
            </a:r>
            <a:r>
              <a:rPr lang="en-US" dirty="0" err="1"/>
              <a:t>sns.countplot</a:t>
            </a:r>
            <a:r>
              <a:rPr lang="en-US" dirty="0"/>
              <a:t> to visualize the distribution of gross national income, a quantitative continuous variable.</a:t>
            </a:r>
          </a:p>
        </p:txBody>
      </p:sp>
      <p:sp>
        <p:nvSpPr>
          <p:cNvPr id="5" name="Slide Number Placeholder 4">
            <a:extLst>
              <a:ext uri="{FF2B5EF4-FFF2-40B4-BE49-F238E27FC236}">
                <a16:creationId xmlns:a16="http://schemas.microsoft.com/office/drawing/2014/main" id="{C289C78A-863E-4D9C-8BB4-CC96D56A6C9D}"/>
              </a:ext>
            </a:extLst>
          </p:cNvPr>
          <p:cNvSpPr>
            <a:spLocks noGrp="1"/>
          </p:cNvSpPr>
          <p:nvPr>
            <p:ph type="sldNum" sz="quarter" idx="12"/>
          </p:nvPr>
        </p:nvSpPr>
        <p:spPr/>
        <p:txBody>
          <a:bodyPr/>
          <a:lstStyle/>
          <a:p>
            <a:fld id="{6B97D948-30E8-43F7-AE10-F6E2D9F2BBB1}" type="slidenum">
              <a:rPr lang="en-US" smtClean="0"/>
              <a:t>506</a:t>
            </a:fld>
            <a:endParaRPr lang="en-US"/>
          </a:p>
        </p:txBody>
      </p:sp>
    </p:spTree>
    <p:extLst>
      <p:ext uri="{BB962C8B-B14F-4D97-AF65-F5344CB8AC3E}">
        <p14:creationId xmlns:p14="http://schemas.microsoft.com/office/powerpoint/2010/main" val="1614331447"/>
      </p:ext>
    </p:extLst>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7FFE04-F0B0-4048-ADC7-E984489A1ADE}"/>
              </a:ext>
            </a:extLst>
          </p:cNvPr>
          <p:cNvSpPr>
            <a:spLocks noGrp="1"/>
          </p:cNvSpPr>
          <p:nvPr>
            <p:ph idx="1"/>
          </p:nvPr>
        </p:nvSpPr>
        <p:spPr>
          <a:xfrm>
            <a:off x="838200" y="583660"/>
            <a:ext cx="10515600" cy="5593303"/>
          </a:xfrm>
        </p:spPr>
        <p:txBody>
          <a:bodyPr/>
          <a:lstStyle/>
          <a:p>
            <a:r>
              <a:rPr lang="en-US" dirty="0"/>
              <a:t> </a:t>
            </a:r>
            <a:r>
              <a:rPr lang="en-US" dirty="0" err="1">
                <a:solidFill>
                  <a:srgbClr val="FF0000"/>
                </a:solidFill>
              </a:rPr>
              <a:t>sns.countplot</a:t>
            </a:r>
            <a:r>
              <a:rPr lang="en-US" dirty="0">
                <a:solidFill>
                  <a:srgbClr val="FF0000"/>
                </a:solidFill>
              </a:rPr>
              <a:t>(data = </a:t>
            </a:r>
            <a:r>
              <a:rPr lang="en-US" dirty="0" err="1">
                <a:solidFill>
                  <a:srgbClr val="FF0000"/>
                </a:solidFill>
              </a:rPr>
              <a:t>wb</a:t>
            </a:r>
            <a:r>
              <a:rPr lang="en-US" dirty="0">
                <a:solidFill>
                  <a:srgbClr val="FF0000"/>
                </a:solidFill>
              </a:rPr>
              <a:t>, x = 'Gross national income per capita, Atlas method: $: 2016')</a:t>
            </a:r>
            <a:r>
              <a:rPr lang="en-US" dirty="0"/>
              <a:t>;</a:t>
            </a:r>
          </a:p>
        </p:txBody>
      </p:sp>
      <p:sp>
        <p:nvSpPr>
          <p:cNvPr id="4" name="Slide Number Placeholder 3">
            <a:extLst>
              <a:ext uri="{FF2B5EF4-FFF2-40B4-BE49-F238E27FC236}">
                <a16:creationId xmlns:a16="http://schemas.microsoft.com/office/drawing/2014/main" id="{AC1A041E-2FDA-4D35-AA83-7D15A146458B}"/>
              </a:ext>
            </a:extLst>
          </p:cNvPr>
          <p:cNvSpPr>
            <a:spLocks noGrp="1"/>
          </p:cNvSpPr>
          <p:nvPr>
            <p:ph type="sldNum" sz="quarter" idx="12"/>
          </p:nvPr>
        </p:nvSpPr>
        <p:spPr/>
        <p:txBody>
          <a:bodyPr/>
          <a:lstStyle/>
          <a:p>
            <a:fld id="{6B97D948-30E8-43F7-AE10-F6E2D9F2BBB1}" type="slidenum">
              <a:rPr lang="en-US" smtClean="0"/>
              <a:t>507</a:t>
            </a:fld>
            <a:endParaRPr lang="en-US"/>
          </a:p>
        </p:txBody>
      </p:sp>
    </p:spTree>
    <p:extLst>
      <p:ext uri="{BB962C8B-B14F-4D97-AF65-F5344CB8AC3E}">
        <p14:creationId xmlns:p14="http://schemas.microsoft.com/office/powerpoint/2010/main" val="1852498741"/>
      </p:ext>
    </p:extLst>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BCD9ADB-51B8-4DE9-AB64-932FF2CD48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69485" y="583326"/>
            <a:ext cx="7668391" cy="5751294"/>
          </a:xfrm>
        </p:spPr>
      </p:pic>
      <p:sp>
        <p:nvSpPr>
          <p:cNvPr id="3" name="Slide Number Placeholder 2">
            <a:extLst>
              <a:ext uri="{FF2B5EF4-FFF2-40B4-BE49-F238E27FC236}">
                <a16:creationId xmlns:a16="http://schemas.microsoft.com/office/drawing/2014/main" id="{75990DB1-BE16-4026-97C8-E3B8164D2326}"/>
              </a:ext>
            </a:extLst>
          </p:cNvPr>
          <p:cNvSpPr>
            <a:spLocks noGrp="1"/>
          </p:cNvSpPr>
          <p:nvPr>
            <p:ph type="sldNum" sz="quarter" idx="12"/>
          </p:nvPr>
        </p:nvSpPr>
        <p:spPr/>
        <p:txBody>
          <a:bodyPr/>
          <a:lstStyle/>
          <a:p>
            <a:fld id="{6B97D948-30E8-43F7-AE10-F6E2D9F2BBB1}" type="slidenum">
              <a:rPr lang="en-US" smtClean="0"/>
              <a:t>508</a:t>
            </a:fld>
            <a:endParaRPr lang="en-US"/>
          </a:p>
        </p:txBody>
      </p:sp>
    </p:spTree>
    <p:extLst>
      <p:ext uri="{BB962C8B-B14F-4D97-AF65-F5344CB8AC3E}">
        <p14:creationId xmlns:p14="http://schemas.microsoft.com/office/powerpoint/2010/main" val="149656579"/>
      </p:ext>
    </p:extLst>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D7EAFA-C881-4D6C-8A0C-8187C4982522}"/>
              </a:ext>
            </a:extLst>
          </p:cNvPr>
          <p:cNvSpPr>
            <a:spLocks noGrp="1"/>
          </p:cNvSpPr>
          <p:nvPr>
            <p:ph idx="1"/>
          </p:nvPr>
        </p:nvSpPr>
        <p:spPr>
          <a:xfrm>
            <a:off x="838200" y="441434"/>
            <a:ext cx="10515600" cy="5735529"/>
          </a:xfrm>
        </p:spPr>
        <p:txBody>
          <a:bodyPr>
            <a:normAutofit fontScale="92500" lnSpcReduction="20000"/>
          </a:bodyPr>
          <a:lstStyle/>
          <a:p>
            <a:pPr algn="just"/>
            <a:r>
              <a:rPr lang="en-US" dirty="0" err="1"/>
              <a:t>Ooops</a:t>
            </a:r>
            <a:r>
              <a:rPr lang="en-US" dirty="0"/>
              <a:t>! What happened? </a:t>
            </a:r>
          </a:p>
          <a:p>
            <a:pPr algn="just"/>
            <a:endParaRPr lang="en-US" dirty="0"/>
          </a:p>
          <a:p>
            <a:pPr algn="just"/>
            <a:r>
              <a:rPr lang="en-US" dirty="0"/>
              <a:t>A bar plot (either </a:t>
            </a:r>
            <a:r>
              <a:rPr lang="en-US" dirty="0" err="1"/>
              <a:t>plt.bar</a:t>
            </a:r>
            <a:r>
              <a:rPr lang="en-US" dirty="0"/>
              <a:t> or </a:t>
            </a:r>
            <a:r>
              <a:rPr lang="en-US" dirty="0" err="1"/>
              <a:t>sns.countplot</a:t>
            </a:r>
            <a:r>
              <a:rPr lang="en-US" dirty="0"/>
              <a:t>) will create a separate bar for each unique value of a variable. </a:t>
            </a:r>
          </a:p>
          <a:p>
            <a:pPr algn="just"/>
            <a:endParaRPr lang="en-US" dirty="0"/>
          </a:p>
          <a:p>
            <a:pPr algn="just"/>
            <a:r>
              <a:rPr lang="en-US" dirty="0"/>
              <a:t>With a continuous variable, we may not have a finite number of possible values, which can lead to situations where we would need many, many bars to display each unique value.</a:t>
            </a:r>
          </a:p>
          <a:p>
            <a:endParaRPr lang="en-US" dirty="0"/>
          </a:p>
          <a:p>
            <a:pPr algn="just"/>
            <a:r>
              <a:rPr lang="en-US" dirty="0"/>
              <a:t>To visualize the distribution of a continuous variable, we use a different type of plot:</a:t>
            </a:r>
          </a:p>
          <a:p>
            <a:endParaRPr lang="en-US" dirty="0"/>
          </a:p>
          <a:p>
            <a:r>
              <a:rPr lang="en-US" dirty="0"/>
              <a:t>    Box plot</a:t>
            </a:r>
          </a:p>
          <a:p>
            <a:r>
              <a:rPr lang="en-US" dirty="0"/>
              <a:t>    Violin plot</a:t>
            </a:r>
          </a:p>
          <a:p>
            <a:r>
              <a:rPr lang="en-US" dirty="0"/>
              <a:t>    Histogram</a:t>
            </a:r>
          </a:p>
          <a:p>
            <a:endParaRPr lang="en-US" dirty="0"/>
          </a:p>
        </p:txBody>
      </p:sp>
      <p:sp>
        <p:nvSpPr>
          <p:cNvPr id="4" name="Slide Number Placeholder 3">
            <a:extLst>
              <a:ext uri="{FF2B5EF4-FFF2-40B4-BE49-F238E27FC236}">
                <a16:creationId xmlns:a16="http://schemas.microsoft.com/office/drawing/2014/main" id="{D2EA06CA-1598-4C6D-B1B7-425069D70248}"/>
              </a:ext>
            </a:extLst>
          </p:cNvPr>
          <p:cNvSpPr>
            <a:spLocks noGrp="1"/>
          </p:cNvSpPr>
          <p:nvPr>
            <p:ph type="sldNum" sz="quarter" idx="12"/>
          </p:nvPr>
        </p:nvSpPr>
        <p:spPr/>
        <p:txBody>
          <a:bodyPr/>
          <a:lstStyle/>
          <a:p>
            <a:fld id="{6B97D948-30E8-43F7-AE10-F6E2D9F2BBB1}" type="slidenum">
              <a:rPr lang="en-US" smtClean="0"/>
              <a:t>509</a:t>
            </a:fld>
            <a:endParaRPr lang="en-US"/>
          </a:p>
        </p:txBody>
      </p:sp>
    </p:spTree>
    <p:extLst>
      <p:ext uri="{BB962C8B-B14F-4D97-AF65-F5344CB8AC3E}">
        <p14:creationId xmlns:p14="http://schemas.microsoft.com/office/powerpoint/2010/main" val="1558929893"/>
      </p:ext>
    </p:extLst>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A301-8A31-4143-A840-2E646B00BD32}"/>
              </a:ext>
            </a:extLst>
          </p:cNvPr>
          <p:cNvSpPr>
            <a:spLocks noGrp="1"/>
          </p:cNvSpPr>
          <p:nvPr>
            <p:ph type="title"/>
          </p:nvPr>
        </p:nvSpPr>
        <p:spPr>
          <a:xfrm>
            <a:off x="838200" y="365125"/>
            <a:ext cx="10515600" cy="738461"/>
          </a:xfrm>
        </p:spPr>
        <p:txBody>
          <a:bodyPr/>
          <a:lstStyle/>
          <a:p>
            <a:r>
              <a:rPr lang="en-US" dirty="0"/>
              <a:t>Box Plots</a:t>
            </a:r>
          </a:p>
        </p:txBody>
      </p:sp>
      <p:sp>
        <p:nvSpPr>
          <p:cNvPr id="3" name="Content Placeholder 2">
            <a:extLst>
              <a:ext uri="{FF2B5EF4-FFF2-40B4-BE49-F238E27FC236}">
                <a16:creationId xmlns:a16="http://schemas.microsoft.com/office/drawing/2014/main" id="{10ECA128-BA36-4AE9-A748-AA3FE6C5D282}"/>
              </a:ext>
            </a:extLst>
          </p:cNvPr>
          <p:cNvSpPr>
            <a:spLocks noGrp="1"/>
          </p:cNvSpPr>
          <p:nvPr>
            <p:ph idx="1"/>
          </p:nvPr>
        </p:nvSpPr>
        <p:spPr>
          <a:xfrm>
            <a:off x="838200" y="1103586"/>
            <a:ext cx="10515600" cy="5073377"/>
          </a:xfrm>
        </p:spPr>
        <p:txBody>
          <a:bodyPr>
            <a:normAutofit lnSpcReduction="10000"/>
          </a:bodyPr>
          <a:lstStyle/>
          <a:p>
            <a:pPr algn="just"/>
            <a:r>
              <a:rPr lang="en-US" dirty="0"/>
              <a:t>Box plots display distributions using information about quartiles.</a:t>
            </a:r>
          </a:p>
          <a:p>
            <a:pPr algn="just"/>
            <a:r>
              <a:rPr lang="en-US" dirty="0"/>
              <a:t>A quartile represents a 25% portion of the data. </a:t>
            </a:r>
          </a:p>
          <a:p>
            <a:pPr algn="just"/>
            <a:endParaRPr lang="en-US" dirty="0"/>
          </a:p>
          <a:p>
            <a:pPr algn="just"/>
            <a:r>
              <a:rPr lang="en-US" dirty="0"/>
              <a:t>We say that: * The first quartile (Q1) represents the 25th percentile – 25% of the data lies below the first quartile </a:t>
            </a:r>
          </a:p>
          <a:p>
            <a:pPr algn="just"/>
            <a:endParaRPr lang="en-US" dirty="0"/>
          </a:p>
          <a:p>
            <a:pPr algn="just"/>
            <a:r>
              <a:rPr lang="en-US" dirty="0"/>
              <a:t>* The second quartile (Q2) represents the 50th percentile, also known as the median – 50% of the data lies below the second quartile </a:t>
            </a:r>
          </a:p>
          <a:p>
            <a:pPr algn="just"/>
            <a:endParaRPr lang="en-US" dirty="0"/>
          </a:p>
          <a:p>
            <a:pPr algn="just"/>
            <a:r>
              <a:rPr lang="en-US" dirty="0"/>
              <a:t>* The third quartile (Q3) represents the 75th percentile – 75% of the data lies below the third quartile.</a:t>
            </a:r>
          </a:p>
        </p:txBody>
      </p:sp>
      <p:sp>
        <p:nvSpPr>
          <p:cNvPr id="5" name="Slide Number Placeholder 4">
            <a:extLst>
              <a:ext uri="{FF2B5EF4-FFF2-40B4-BE49-F238E27FC236}">
                <a16:creationId xmlns:a16="http://schemas.microsoft.com/office/drawing/2014/main" id="{BE965A97-3292-4FCB-9500-39C2C823F80F}"/>
              </a:ext>
            </a:extLst>
          </p:cNvPr>
          <p:cNvSpPr>
            <a:spLocks noGrp="1"/>
          </p:cNvSpPr>
          <p:nvPr>
            <p:ph type="sldNum" sz="quarter" idx="12"/>
          </p:nvPr>
        </p:nvSpPr>
        <p:spPr/>
        <p:txBody>
          <a:bodyPr/>
          <a:lstStyle/>
          <a:p>
            <a:fld id="{6B97D948-30E8-43F7-AE10-F6E2D9F2BBB1}" type="slidenum">
              <a:rPr lang="en-US" smtClean="0"/>
              <a:t>510</a:t>
            </a:fld>
            <a:endParaRPr lang="en-US"/>
          </a:p>
        </p:txBody>
      </p:sp>
    </p:spTree>
    <p:extLst>
      <p:ext uri="{BB962C8B-B14F-4D97-AF65-F5344CB8AC3E}">
        <p14:creationId xmlns:p14="http://schemas.microsoft.com/office/powerpoint/2010/main" val="3710824426"/>
      </p:ext>
    </p:extLst>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0DEF1A-28CE-4551-9736-B8D866DC1B5C}"/>
                  </a:ext>
                </a:extLst>
              </p:cNvPr>
              <p:cNvSpPr>
                <a:spLocks noGrp="1"/>
              </p:cNvSpPr>
              <p:nvPr>
                <p:ph idx="1"/>
              </p:nvPr>
            </p:nvSpPr>
            <p:spPr>
              <a:xfrm>
                <a:off x="838200" y="457200"/>
                <a:ext cx="10515600" cy="5719763"/>
              </a:xfrm>
            </p:spPr>
            <p:txBody>
              <a:bodyPr>
                <a:normAutofit fontScale="92500" lnSpcReduction="20000"/>
              </a:bodyPr>
              <a:lstStyle/>
              <a:p>
                <a:pPr algn="just"/>
                <a:r>
                  <a:rPr lang="en-US" dirty="0"/>
                  <a:t>In a box plot, the lower extent of the box lies at </a:t>
                </a:r>
                <a:r>
                  <a:rPr lang="en-US" b="1" dirty="0">
                    <a:solidFill>
                      <a:srgbClr val="0070C0"/>
                    </a:solidFill>
                  </a:rPr>
                  <a:t>Q1</a:t>
                </a:r>
                <a:r>
                  <a:rPr lang="en-US" dirty="0"/>
                  <a:t>, while the upper extent of the box lies at </a:t>
                </a:r>
                <a:r>
                  <a:rPr lang="en-US" b="1" dirty="0">
                    <a:solidFill>
                      <a:srgbClr val="0070C0"/>
                    </a:solidFill>
                  </a:rPr>
                  <a:t>Q3</a:t>
                </a:r>
                <a:r>
                  <a:rPr lang="en-US" dirty="0"/>
                  <a:t>. </a:t>
                </a:r>
              </a:p>
              <a:p>
                <a:pPr algn="just"/>
                <a:endParaRPr lang="en-US" dirty="0"/>
              </a:p>
              <a:p>
                <a:pPr algn="just"/>
                <a:r>
                  <a:rPr lang="en-US" dirty="0"/>
                  <a:t>The horizontal line in the middle of the box corresponds to </a:t>
                </a:r>
                <a:r>
                  <a:rPr lang="en-US" b="1" dirty="0">
                    <a:solidFill>
                      <a:srgbClr val="0070C0"/>
                    </a:solidFill>
                  </a:rPr>
                  <a:t>Q2</a:t>
                </a:r>
                <a:r>
                  <a:rPr lang="en-US" dirty="0"/>
                  <a:t> (equivalently, the median).</a:t>
                </a:r>
              </a:p>
              <a:p>
                <a:pPr algn="just"/>
                <a:endParaRPr lang="en-US" dirty="0"/>
              </a:p>
              <a:p>
                <a:pPr algn="just"/>
                <a:r>
                  <a:rPr lang="en-US" dirty="0"/>
                  <a:t>The interquartile range measures the spread of the middle % of the distribution, calculated as the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𝑟𝑑</m:t>
                        </m:r>
                      </m:sup>
                    </m:sSup>
                  </m:oMath>
                </a14:m>
                <a:r>
                  <a:rPr lang="en-US" dirty="0"/>
                  <a:t> Quartile -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1</m:t>
                        </m:r>
                      </m:e>
                      <m:sup>
                        <m:r>
                          <a:rPr lang="en-US" b="0" i="1" smtClean="0">
                            <a:latin typeface="Cambria Math" panose="02040503050406030204" pitchFamily="18" charset="0"/>
                          </a:rPr>
                          <m:t>𝑠𝑡</m:t>
                        </m:r>
                      </m:sup>
                    </m:sSup>
                    <m:r>
                      <a:rPr lang="en-US" i="1">
                        <a:latin typeface="Cambria Math" panose="02040503050406030204" pitchFamily="18" charset="0"/>
                      </a:rPr>
                      <m:t> </m:t>
                    </m:r>
                  </m:oMath>
                </a14:m>
                <a:r>
                  <a:rPr lang="en-US" dirty="0"/>
                  <a:t>Quartile).</a:t>
                </a:r>
              </a:p>
              <a:p>
                <a:pPr algn="just"/>
                <a:endParaRPr lang="en-US" dirty="0"/>
              </a:p>
              <a:p>
                <a:pPr algn="just"/>
                <a:r>
                  <a:rPr lang="en-US" dirty="0"/>
                  <a:t>The </a:t>
                </a:r>
                <a:r>
                  <a:rPr lang="en-US" b="1" dirty="0"/>
                  <a:t>whiskers</a:t>
                </a:r>
                <a:r>
                  <a:rPr lang="en-US" dirty="0"/>
                  <a:t> of a box-plot are the two points that lie at the [</a:t>
                </a:r>
                <a14:m>
                  <m:oMath xmlns:m="http://schemas.openxmlformats.org/officeDocument/2006/math">
                    <m:sSup>
                      <m:sSupPr>
                        <m:ctrlPr>
                          <a:rPr lang="en-US" b="1" i="1">
                            <a:latin typeface="Cambria Math" panose="02040503050406030204" pitchFamily="18" charset="0"/>
                          </a:rPr>
                        </m:ctrlPr>
                      </m:sSupPr>
                      <m:e>
                        <m:r>
                          <a:rPr lang="en-US" b="1">
                            <a:latin typeface="Cambria Math" panose="02040503050406030204" pitchFamily="18" charset="0"/>
                          </a:rPr>
                          <m:t>1</m:t>
                        </m:r>
                      </m:e>
                      <m:sup>
                        <m:r>
                          <a:rPr lang="en-US" b="1">
                            <a:latin typeface="Cambria Math" panose="02040503050406030204" pitchFamily="18" charset="0"/>
                          </a:rPr>
                          <m:t>𝑠𝑡</m:t>
                        </m:r>
                      </m:sup>
                    </m:sSup>
                    <m:r>
                      <a:rPr lang="en-US" b="1">
                        <a:latin typeface="Cambria Math" panose="02040503050406030204" pitchFamily="18" charset="0"/>
                      </a:rPr>
                      <m:t> </m:t>
                    </m:r>
                  </m:oMath>
                </a14:m>
                <a:r>
                  <a:rPr lang="en-US" b="1" dirty="0"/>
                  <a:t>Quartile - (1.5 * IQR)</a:t>
                </a:r>
                <a:r>
                  <a:rPr lang="en-US" dirty="0"/>
                  <a:t>], and the [</a:t>
                </a:r>
                <a14:m>
                  <m:oMath xmlns:m="http://schemas.openxmlformats.org/officeDocument/2006/math">
                    <m:sSup>
                      <m:sSupPr>
                        <m:ctrlPr>
                          <a:rPr lang="en-US" b="1" i="1">
                            <a:latin typeface="Cambria Math" panose="02040503050406030204" pitchFamily="18" charset="0"/>
                          </a:rPr>
                        </m:ctrlPr>
                      </m:sSupPr>
                      <m:e>
                        <m:r>
                          <a:rPr lang="en-US" b="1">
                            <a:latin typeface="Cambria Math" panose="02040503050406030204" pitchFamily="18" charset="0"/>
                          </a:rPr>
                          <m:t>3</m:t>
                        </m:r>
                      </m:e>
                      <m:sup>
                        <m:r>
                          <a:rPr lang="en-US" b="1">
                            <a:latin typeface="Cambria Math" panose="02040503050406030204" pitchFamily="18" charset="0"/>
                          </a:rPr>
                          <m:t>𝑟𝑑</m:t>
                        </m:r>
                      </m:sup>
                    </m:sSup>
                  </m:oMath>
                </a14:m>
                <a:r>
                  <a:rPr lang="en-US" b="1" dirty="0"/>
                  <a:t> Quartile + (1.5 * IQR)]. </a:t>
                </a:r>
              </a:p>
              <a:p>
                <a:pPr algn="just"/>
                <a:r>
                  <a:rPr lang="en-US" dirty="0"/>
                  <a:t>They are the lower and upper ranges of “normal” data (the points excluding outliers). </a:t>
                </a:r>
              </a:p>
              <a:p>
                <a:pPr algn="just"/>
                <a:r>
                  <a:rPr lang="en-US" dirty="0"/>
                  <a:t>Subsequently, the </a:t>
                </a:r>
                <a:r>
                  <a:rPr lang="en-US" b="1" dirty="0"/>
                  <a:t>outliers</a:t>
                </a:r>
                <a:r>
                  <a:rPr lang="en-US" dirty="0"/>
                  <a:t> are the data points that fall beyond the whiskers, or further than ( IQR) from the extreme quartiles.</a:t>
                </a:r>
              </a:p>
            </p:txBody>
          </p:sp>
        </mc:Choice>
        <mc:Fallback xmlns="">
          <p:sp>
            <p:nvSpPr>
              <p:cNvPr id="3" name="Content Placeholder 2">
                <a:extLst>
                  <a:ext uri="{FF2B5EF4-FFF2-40B4-BE49-F238E27FC236}">
                    <a16:creationId xmlns:a16="http://schemas.microsoft.com/office/drawing/2014/main" id="{230DEF1A-28CE-4551-9736-B8D866DC1B5C}"/>
                  </a:ext>
                </a:extLst>
              </p:cNvPr>
              <p:cNvSpPr>
                <a:spLocks noGrp="1" noRot="1" noChangeAspect="1" noMove="1" noResize="1" noEditPoints="1" noAdjustHandles="1" noChangeArrowheads="1" noChangeShapeType="1" noTextEdit="1"/>
              </p:cNvSpPr>
              <p:nvPr>
                <p:ph idx="1"/>
              </p:nvPr>
            </p:nvSpPr>
            <p:spPr>
              <a:xfrm>
                <a:off x="838200" y="457200"/>
                <a:ext cx="10515600" cy="5719763"/>
              </a:xfrm>
              <a:blipFill>
                <a:blip r:embed="rId2"/>
                <a:stretch>
                  <a:fillRect l="-928" t="-2665" r="-9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24190BA-6719-431E-AA03-CF003338F6C6}"/>
              </a:ext>
            </a:extLst>
          </p:cNvPr>
          <p:cNvSpPr>
            <a:spLocks noGrp="1"/>
          </p:cNvSpPr>
          <p:nvPr>
            <p:ph type="sldNum" sz="quarter" idx="12"/>
          </p:nvPr>
        </p:nvSpPr>
        <p:spPr/>
        <p:txBody>
          <a:bodyPr/>
          <a:lstStyle/>
          <a:p>
            <a:fld id="{6B97D948-30E8-43F7-AE10-F6E2D9F2BBB1}" type="slidenum">
              <a:rPr lang="en-US" smtClean="0"/>
              <a:t>511</a:t>
            </a:fld>
            <a:endParaRPr lang="en-US"/>
          </a:p>
        </p:txBody>
      </p:sp>
    </p:spTree>
    <p:extLst>
      <p:ext uri="{BB962C8B-B14F-4D97-AF65-F5344CB8AC3E}">
        <p14:creationId xmlns:p14="http://schemas.microsoft.com/office/powerpoint/2010/main" val="1431178140"/>
      </p:ext>
    </p:extLst>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3B2FBED-4969-407B-A563-3EDC3BD0E2FF}"/>
              </a:ext>
            </a:extLst>
          </p:cNvPr>
          <p:cNvPicPr>
            <a:picLocks noGrp="1" noChangeAspect="1"/>
          </p:cNvPicPr>
          <p:nvPr>
            <p:ph idx="1"/>
          </p:nvPr>
        </p:nvPicPr>
        <p:blipFill>
          <a:blip r:embed="rId2"/>
          <a:stretch>
            <a:fillRect/>
          </a:stretch>
        </p:blipFill>
        <p:spPr>
          <a:xfrm>
            <a:off x="2312582" y="756749"/>
            <a:ext cx="8326791" cy="5546342"/>
          </a:xfrm>
          <a:prstGeom prst="rect">
            <a:avLst/>
          </a:prstGeom>
        </p:spPr>
      </p:pic>
      <p:sp>
        <p:nvSpPr>
          <p:cNvPr id="3" name="Slide Number Placeholder 2">
            <a:extLst>
              <a:ext uri="{FF2B5EF4-FFF2-40B4-BE49-F238E27FC236}">
                <a16:creationId xmlns:a16="http://schemas.microsoft.com/office/drawing/2014/main" id="{205D8E3E-0076-45B1-B1B3-9409573559BA}"/>
              </a:ext>
            </a:extLst>
          </p:cNvPr>
          <p:cNvSpPr>
            <a:spLocks noGrp="1"/>
          </p:cNvSpPr>
          <p:nvPr>
            <p:ph type="sldNum" sz="quarter" idx="12"/>
          </p:nvPr>
        </p:nvSpPr>
        <p:spPr/>
        <p:txBody>
          <a:bodyPr/>
          <a:lstStyle/>
          <a:p>
            <a:fld id="{6B97D948-30E8-43F7-AE10-F6E2D9F2BBB1}" type="slidenum">
              <a:rPr lang="en-US" smtClean="0"/>
              <a:t>512</a:t>
            </a:fld>
            <a:endParaRPr lang="en-US"/>
          </a:p>
        </p:txBody>
      </p:sp>
    </p:spTree>
    <p:extLst>
      <p:ext uri="{BB962C8B-B14F-4D97-AF65-F5344CB8AC3E}">
        <p14:creationId xmlns:p14="http://schemas.microsoft.com/office/powerpoint/2010/main" val="1898547641"/>
      </p:ext>
    </p:extLst>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EEEAF-84B3-4606-8573-6DA06FDC2640}"/>
              </a:ext>
            </a:extLst>
          </p:cNvPr>
          <p:cNvSpPr>
            <a:spLocks noGrp="1"/>
          </p:cNvSpPr>
          <p:nvPr>
            <p:ph idx="1"/>
          </p:nvPr>
        </p:nvSpPr>
        <p:spPr>
          <a:xfrm>
            <a:off x="838200" y="488731"/>
            <a:ext cx="10515600" cy="5688232"/>
          </a:xfrm>
        </p:spPr>
        <p:txBody>
          <a:bodyPr/>
          <a:lstStyle/>
          <a:p>
            <a:r>
              <a:rPr lang="en-US" dirty="0"/>
              <a:t>In Matplotlib, box plots are created using the function </a:t>
            </a:r>
            <a:r>
              <a:rPr lang="en-US" dirty="0" err="1"/>
              <a:t>plt.boxplot</a:t>
            </a:r>
            <a:r>
              <a:rPr lang="en-US" dirty="0"/>
              <a:t>.</a:t>
            </a:r>
          </a:p>
          <a:p>
            <a:endParaRPr lang="en-US" dirty="0"/>
          </a:p>
          <a:p>
            <a:r>
              <a:rPr lang="en-US" dirty="0" err="1">
                <a:solidFill>
                  <a:srgbClr val="FF0000"/>
                </a:solidFill>
              </a:rPr>
              <a:t>wb</a:t>
            </a:r>
            <a:r>
              <a:rPr lang="en-US" dirty="0">
                <a:solidFill>
                  <a:srgbClr val="FF0000"/>
                </a:solidFill>
              </a:rPr>
              <a:t> = </a:t>
            </a:r>
            <a:r>
              <a:rPr lang="en-US" dirty="0" err="1">
                <a:solidFill>
                  <a:srgbClr val="FF0000"/>
                </a:solidFill>
              </a:rPr>
              <a:t>wb</a:t>
            </a:r>
            <a:r>
              <a:rPr lang="en-US" dirty="0">
                <a:solidFill>
                  <a:srgbClr val="FF0000"/>
                </a:solidFill>
              </a:rPr>
              <a:t>[~</a:t>
            </a:r>
            <a:r>
              <a:rPr lang="en-US" dirty="0" err="1">
                <a:solidFill>
                  <a:srgbClr val="FF0000"/>
                </a:solidFill>
              </a:rPr>
              <a:t>wb</a:t>
            </a:r>
            <a:r>
              <a:rPr lang="en-US" dirty="0">
                <a:solidFill>
                  <a:srgbClr val="FF0000"/>
                </a:solidFill>
              </a:rPr>
              <a:t>["Gross domestic product: % growth : 2016"].</a:t>
            </a:r>
            <a:r>
              <a:rPr lang="en-US" dirty="0" err="1">
                <a:solidFill>
                  <a:srgbClr val="FF0000"/>
                </a:solidFill>
              </a:rPr>
              <a:t>isna</a:t>
            </a:r>
            <a:r>
              <a:rPr lang="en-US" dirty="0">
                <a:solidFill>
                  <a:srgbClr val="FF0000"/>
                </a:solidFill>
              </a:rPr>
              <a:t>()]</a:t>
            </a:r>
          </a:p>
          <a:p>
            <a:endParaRPr lang="en-US" dirty="0">
              <a:solidFill>
                <a:srgbClr val="FF0000"/>
              </a:solidFill>
            </a:endParaRPr>
          </a:p>
          <a:p>
            <a:r>
              <a:rPr lang="en-US" dirty="0" err="1">
                <a:solidFill>
                  <a:srgbClr val="FF0000"/>
                </a:solidFill>
              </a:rPr>
              <a:t>plt.boxplot</a:t>
            </a:r>
            <a:r>
              <a:rPr lang="en-US" dirty="0">
                <a:solidFill>
                  <a:srgbClr val="FF0000"/>
                </a:solidFill>
              </a:rPr>
              <a:t>(</a:t>
            </a:r>
            <a:r>
              <a:rPr lang="en-US" dirty="0" err="1">
                <a:solidFill>
                  <a:srgbClr val="FF0000"/>
                </a:solidFill>
              </a:rPr>
              <a:t>wb</a:t>
            </a:r>
            <a:r>
              <a:rPr lang="en-US" dirty="0">
                <a:solidFill>
                  <a:srgbClr val="FF0000"/>
                </a:solidFill>
              </a:rPr>
              <a:t>['Gross domestic product: % growth : 2016’])</a:t>
            </a:r>
          </a:p>
          <a:p>
            <a:endParaRPr lang="en-US" dirty="0">
              <a:solidFill>
                <a:srgbClr val="FF0000"/>
              </a:solidFill>
            </a:endParaRPr>
          </a:p>
          <a:p>
            <a:r>
              <a:rPr lang="en-US" dirty="0" err="1">
                <a:solidFill>
                  <a:srgbClr val="FF0000"/>
                </a:solidFill>
              </a:rPr>
              <a:t>plt.ylabel</a:t>
            </a:r>
            <a:r>
              <a:rPr lang="en-US" dirty="0">
                <a:solidFill>
                  <a:srgbClr val="FF0000"/>
                </a:solidFill>
              </a:rPr>
              <a:t>("% GDP growth")</a:t>
            </a:r>
          </a:p>
          <a:p>
            <a:endParaRPr lang="en-US" dirty="0">
              <a:solidFill>
                <a:srgbClr val="FF0000"/>
              </a:solidFill>
            </a:endParaRPr>
          </a:p>
          <a:p>
            <a:r>
              <a:rPr lang="en-US" dirty="0" err="1">
                <a:solidFill>
                  <a:srgbClr val="FF0000"/>
                </a:solidFill>
              </a:rPr>
              <a:t>plt.title</a:t>
            </a:r>
            <a:r>
              <a:rPr lang="en-US" dirty="0">
                <a:solidFill>
                  <a:srgbClr val="FF0000"/>
                </a:solidFill>
              </a:rPr>
              <a:t>("Distribution of GDP growth across countries");</a:t>
            </a:r>
          </a:p>
        </p:txBody>
      </p:sp>
      <p:sp>
        <p:nvSpPr>
          <p:cNvPr id="4" name="Slide Number Placeholder 3">
            <a:extLst>
              <a:ext uri="{FF2B5EF4-FFF2-40B4-BE49-F238E27FC236}">
                <a16:creationId xmlns:a16="http://schemas.microsoft.com/office/drawing/2014/main" id="{CBF3F064-CC10-4B8F-8511-6D7E24079ABA}"/>
              </a:ext>
            </a:extLst>
          </p:cNvPr>
          <p:cNvSpPr>
            <a:spLocks noGrp="1"/>
          </p:cNvSpPr>
          <p:nvPr>
            <p:ph type="sldNum" sz="quarter" idx="12"/>
          </p:nvPr>
        </p:nvSpPr>
        <p:spPr/>
        <p:txBody>
          <a:bodyPr/>
          <a:lstStyle/>
          <a:p>
            <a:fld id="{6B97D948-30E8-43F7-AE10-F6E2D9F2BBB1}" type="slidenum">
              <a:rPr lang="en-US" smtClean="0"/>
              <a:t>513</a:t>
            </a:fld>
            <a:endParaRPr lang="en-US"/>
          </a:p>
        </p:txBody>
      </p:sp>
    </p:spTree>
    <p:extLst>
      <p:ext uri="{BB962C8B-B14F-4D97-AF65-F5344CB8AC3E}">
        <p14:creationId xmlns:p14="http://schemas.microsoft.com/office/powerpoint/2010/main" val="1570348106"/>
      </p:ext>
    </p:extLst>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A039DF-2A49-4105-86CB-BF8693112B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0615" y="362607"/>
            <a:ext cx="7752475" cy="5814356"/>
          </a:xfrm>
        </p:spPr>
      </p:pic>
      <p:sp>
        <p:nvSpPr>
          <p:cNvPr id="3" name="Slide Number Placeholder 2">
            <a:extLst>
              <a:ext uri="{FF2B5EF4-FFF2-40B4-BE49-F238E27FC236}">
                <a16:creationId xmlns:a16="http://schemas.microsoft.com/office/drawing/2014/main" id="{7967A9B3-79C0-49D7-89C7-DA094E70FB60}"/>
              </a:ext>
            </a:extLst>
          </p:cNvPr>
          <p:cNvSpPr>
            <a:spLocks noGrp="1"/>
          </p:cNvSpPr>
          <p:nvPr>
            <p:ph type="sldNum" sz="quarter" idx="12"/>
          </p:nvPr>
        </p:nvSpPr>
        <p:spPr/>
        <p:txBody>
          <a:bodyPr/>
          <a:lstStyle/>
          <a:p>
            <a:fld id="{6B97D948-30E8-43F7-AE10-F6E2D9F2BBB1}" type="slidenum">
              <a:rPr lang="en-US" smtClean="0"/>
              <a:t>514</a:t>
            </a:fld>
            <a:endParaRPr lang="en-US"/>
          </a:p>
        </p:txBody>
      </p:sp>
    </p:spTree>
    <p:extLst>
      <p:ext uri="{BB962C8B-B14F-4D97-AF65-F5344CB8AC3E}">
        <p14:creationId xmlns:p14="http://schemas.microsoft.com/office/powerpoint/2010/main" val="751822563"/>
      </p:ext>
    </p:extLst>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1DD165-958D-4AA8-8252-10A51BA9E57A}"/>
              </a:ext>
            </a:extLst>
          </p:cNvPr>
          <p:cNvSpPr>
            <a:spLocks noGrp="1"/>
          </p:cNvSpPr>
          <p:nvPr>
            <p:ph idx="1"/>
          </p:nvPr>
        </p:nvSpPr>
        <p:spPr>
          <a:xfrm>
            <a:off x="838200" y="709448"/>
            <a:ext cx="10515600" cy="5467515"/>
          </a:xfrm>
        </p:spPr>
        <p:txBody>
          <a:bodyPr/>
          <a:lstStyle/>
          <a:p>
            <a:r>
              <a:rPr lang="en-US" dirty="0"/>
              <a:t>And in Seaborn, box plots are generated by </a:t>
            </a:r>
            <a:r>
              <a:rPr lang="en-US" dirty="0" err="1"/>
              <a:t>sns.boxplot</a:t>
            </a:r>
            <a:r>
              <a:rPr lang="en-US" dirty="0"/>
              <a:t>.</a:t>
            </a:r>
          </a:p>
          <a:p>
            <a:endParaRPr lang="en-US" dirty="0"/>
          </a:p>
          <a:p>
            <a:r>
              <a:rPr lang="en-US" dirty="0" err="1">
                <a:solidFill>
                  <a:srgbClr val="FF0000"/>
                </a:solidFill>
              </a:rPr>
              <a:t>sns.boxplot</a:t>
            </a:r>
            <a:r>
              <a:rPr lang="en-US" dirty="0">
                <a:solidFill>
                  <a:srgbClr val="FF0000"/>
                </a:solidFill>
              </a:rPr>
              <a:t>(data = </a:t>
            </a:r>
            <a:r>
              <a:rPr lang="en-US" dirty="0" err="1">
                <a:solidFill>
                  <a:srgbClr val="FF0000"/>
                </a:solidFill>
              </a:rPr>
              <a:t>wb</a:t>
            </a:r>
            <a:r>
              <a:rPr lang="en-US" dirty="0">
                <a:solidFill>
                  <a:srgbClr val="FF0000"/>
                </a:solidFill>
              </a:rPr>
              <a:t>, y = "Gross domestic product: % growth : 2016")</a:t>
            </a:r>
          </a:p>
        </p:txBody>
      </p:sp>
      <p:sp>
        <p:nvSpPr>
          <p:cNvPr id="4" name="Slide Number Placeholder 3">
            <a:extLst>
              <a:ext uri="{FF2B5EF4-FFF2-40B4-BE49-F238E27FC236}">
                <a16:creationId xmlns:a16="http://schemas.microsoft.com/office/drawing/2014/main" id="{91A88F97-ABE9-4384-9E17-341187DAEB19}"/>
              </a:ext>
            </a:extLst>
          </p:cNvPr>
          <p:cNvSpPr>
            <a:spLocks noGrp="1"/>
          </p:cNvSpPr>
          <p:nvPr>
            <p:ph type="sldNum" sz="quarter" idx="12"/>
          </p:nvPr>
        </p:nvSpPr>
        <p:spPr/>
        <p:txBody>
          <a:bodyPr/>
          <a:lstStyle/>
          <a:p>
            <a:fld id="{6B97D948-30E8-43F7-AE10-F6E2D9F2BBB1}" type="slidenum">
              <a:rPr lang="en-US" smtClean="0"/>
              <a:t>515</a:t>
            </a:fld>
            <a:endParaRPr lang="en-US"/>
          </a:p>
        </p:txBody>
      </p:sp>
    </p:spTree>
    <p:extLst>
      <p:ext uri="{BB962C8B-B14F-4D97-AF65-F5344CB8AC3E}">
        <p14:creationId xmlns:p14="http://schemas.microsoft.com/office/powerpoint/2010/main" val="1021598425"/>
      </p:ext>
    </p:extLst>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3F23DA-FB67-432A-8FEE-2981640EF3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4946" y="599090"/>
            <a:ext cx="7437164" cy="5577873"/>
          </a:xfrm>
        </p:spPr>
      </p:pic>
      <p:sp>
        <p:nvSpPr>
          <p:cNvPr id="3" name="Slide Number Placeholder 2">
            <a:extLst>
              <a:ext uri="{FF2B5EF4-FFF2-40B4-BE49-F238E27FC236}">
                <a16:creationId xmlns:a16="http://schemas.microsoft.com/office/drawing/2014/main" id="{0EED8A60-421B-4194-A4B9-DA5B3294DECB}"/>
              </a:ext>
            </a:extLst>
          </p:cNvPr>
          <p:cNvSpPr>
            <a:spLocks noGrp="1"/>
          </p:cNvSpPr>
          <p:nvPr>
            <p:ph type="sldNum" sz="quarter" idx="12"/>
          </p:nvPr>
        </p:nvSpPr>
        <p:spPr/>
        <p:txBody>
          <a:bodyPr/>
          <a:lstStyle/>
          <a:p>
            <a:fld id="{6B97D948-30E8-43F7-AE10-F6E2D9F2BBB1}" type="slidenum">
              <a:rPr lang="en-US" smtClean="0"/>
              <a:t>516</a:t>
            </a:fld>
            <a:endParaRPr lang="en-US"/>
          </a:p>
        </p:txBody>
      </p:sp>
    </p:spTree>
    <p:extLst>
      <p:ext uri="{BB962C8B-B14F-4D97-AF65-F5344CB8AC3E}">
        <p14:creationId xmlns:p14="http://schemas.microsoft.com/office/powerpoint/2010/main" val="736971187"/>
      </p:ext>
    </p:extLst>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C5941-4A74-446E-A84A-4F9E001A5B9B}"/>
              </a:ext>
            </a:extLst>
          </p:cNvPr>
          <p:cNvSpPr>
            <a:spLocks noGrp="1"/>
          </p:cNvSpPr>
          <p:nvPr>
            <p:ph idx="1"/>
          </p:nvPr>
        </p:nvSpPr>
        <p:spPr>
          <a:xfrm>
            <a:off x="838200" y="709448"/>
            <a:ext cx="10515600" cy="5467515"/>
          </a:xfrm>
        </p:spPr>
        <p:txBody>
          <a:bodyPr/>
          <a:lstStyle/>
          <a:p>
            <a:pPr algn="just"/>
            <a:r>
              <a:rPr lang="en-US" dirty="0"/>
              <a:t>Sometimes, we may wish to also incorporate a </a:t>
            </a:r>
            <a:r>
              <a:rPr lang="en-US" dirty="0" err="1"/>
              <a:t>qualitatative</a:t>
            </a:r>
            <a:r>
              <a:rPr lang="en-US" dirty="0"/>
              <a:t> variable. </a:t>
            </a:r>
          </a:p>
          <a:p>
            <a:pPr algn="just"/>
            <a:endParaRPr lang="en-US" dirty="0"/>
          </a:p>
          <a:p>
            <a:pPr algn="just"/>
            <a:r>
              <a:rPr lang="en-US" dirty="0"/>
              <a:t>For example, we may wish to compare the distribution of a quantitative variable across a set of categories.</a:t>
            </a:r>
          </a:p>
          <a:p>
            <a:pPr algn="just"/>
            <a:endParaRPr lang="en-US" dirty="0"/>
          </a:p>
          <a:p>
            <a:pPr algn="just"/>
            <a:r>
              <a:rPr lang="en-US" dirty="0"/>
              <a:t>To do so, we can plot side-by-side box plots. </a:t>
            </a:r>
          </a:p>
          <a:p>
            <a:pPr algn="just"/>
            <a:endParaRPr lang="en-US" dirty="0"/>
          </a:p>
          <a:p>
            <a:pPr algn="just"/>
            <a:r>
              <a:rPr lang="en-US" dirty="0"/>
              <a:t>In the example below, the continent of each county, a qualitative nominal variable, is plotted on the x-axis, while GDP growth, a </a:t>
            </a:r>
            <a:r>
              <a:rPr lang="en-US" dirty="0" err="1"/>
              <a:t>quantiative</a:t>
            </a:r>
            <a:r>
              <a:rPr lang="en-US" dirty="0"/>
              <a:t> continuous variable, is plotted on the y-axis.</a:t>
            </a:r>
          </a:p>
        </p:txBody>
      </p:sp>
      <p:sp>
        <p:nvSpPr>
          <p:cNvPr id="4" name="Slide Number Placeholder 3">
            <a:extLst>
              <a:ext uri="{FF2B5EF4-FFF2-40B4-BE49-F238E27FC236}">
                <a16:creationId xmlns:a16="http://schemas.microsoft.com/office/drawing/2014/main" id="{13511AFF-9DF1-46CF-A7BA-6B6248889E4D}"/>
              </a:ext>
            </a:extLst>
          </p:cNvPr>
          <p:cNvSpPr>
            <a:spLocks noGrp="1"/>
          </p:cNvSpPr>
          <p:nvPr>
            <p:ph type="sldNum" sz="quarter" idx="12"/>
          </p:nvPr>
        </p:nvSpPr>
        <p:spPr/>
        <p:txBody>
          <a:bodyPr/>
          <a:lstStyle/>
          <a:p>
            <a:fld id="{6B97D948-30E8-43F7-AE10-F6E2D9F2BBB1}" type="slidenum">
              <a:rPr lang="en-US" smtClean="0"/>
              <a:t>517</a:t>
            </a:fld>
            <a:endParaRPr lang="en-US"/>
          </a:p>
        </p:txBody>
      </p:sp>
    </p:spTree>
    <p:extLst>
      <p:ext uri="{BB962C8B-B14F-4D97-AF65-F5344CB8AC3E}">
        <p14:creationId xmlns:p14="http://schemas.microsoft.com/office/powerpoint/2010/main" val="1063462197"/>
      </p:ext>
    </p:extLst>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8DE9CD-CCEE-4767-8EEC-E17BC5B88AE0}"/>
              </a:ext>
            </a:extLst>
          </p:cNvPr>
          <p:cNvSpPr>
            <a:spLocks noGrp="1"/>
          </p:cNvSpPr>
          <p:nvPr>
            <p:ph idx="1"/>
          </p:nvPr>
        </p:nvSpPr>
        <p:spPr>
          <a:xfrm>
            <a:off x="838200" y="977462"/>
            <a:ext cx="10515600" cy="5199501"/>
          </a:xfrm>
        </p:spPr>
        <p:txBody>
          <a:bodyPr/>
          <a:lstStyle/>
          <a:p>
            <a:r>
              <a:rPr lang="en-US" dirty="0" err="1">
                <a:solidFill>
                  <a:srgbClr val="FF0000"/>
                </a:solidFill>
              </a:rPr>
              <a:t>sns.boxplot</a:t>
            </a:r>
            <a:r>
              <a:rPr lang="en-US" dirty="0">
                <a:solidFill>
                  <a:srgbClr val="FF0000"/>
                </a:solidFill>
              </a:rPr>
              <a:t>(data=</a:t>
            </a:r>
            <a:r>
              <a:rPr lang="en-US" dirty="0" err="1">
                <a:solidFill>
                  <a:srgbClr val="FF0000"/>
                </a:solidFill>
              </a:rPr>
              <a:t>wb</a:t>
            </a:r>
            <a:r>
              <a:rPr lang="en-US" dirty="0">
                <a:solidFill>
                  <a:srgbClr val="FF0000"/>
                </a:solidFill>
              </a:rPr>
              <a:t>, x= "Continent", y= "Gross domestic product: % growth : 2016")</a:t>
            </a:r>
          </a:p>
          <a:p>
            <a:endParaRPr lang="en-US" dirty="0">
              <a:solidFill>
                <a:srgbClr val="FF0000"/>
              </a:solidFill>
            </a:endParaRPr>
          </a:p>
          <a:p>
            <a:r>
              <a:rPr lang="en-US" dirty="0" err="1">
                <a:solidFill>
                  <a:srgbClr val="FF0000"/>
                </a:solidFill>
              </a:rPr>
              <a:t>plt.title</a:t>
            </a:r>
            <a:r>
              <a:rPr lang="en-US" dirty="0">
                <a:solidFill>
                  <a:srgbClr val="FF0000"/>
                </a:solidFill>
              </a:rPr>
              <a:t>("Distribution of GDP growth by continent");</a:t>
            </a:r>
          </a:p>
        </p:txBody>
      </p:sp>
      <p:sp>
        <p:nvSpPr>
          <p:cNvPr id="4" name="Slide Number Placeholder 3">
            <a:extLst>
              <a:ext uri="{FF2B5EF4-FFF2-40B4-BE49-F238E27FC236}">
                <a16:creationId xmlns:a16="http://schemas.microsoft.com/office/drawing/2014/main" id="{A360BBE6-077B-4A26-A0D7-67CD3FA80E20}"/>
              </a:ext>
            </a:extLst>
          </p:cNvPr>
          <p:cNvSpPr>
            <a:spLocks noGrp="1"/>
          </p:cNvSpPr>
          <p:nvPr>
            <p:ph type="sldNum" sz="quarter" idx="12"/>
          </p:nvPr>
        </p:nvSpPr>
        <p:spPr/>
        <p:txBody>
          <a:bodyPr/>
          <a:lstStyle/>
          <a:p>
            <a:fld id="{6B97D948-30E8-43F7-AE10-F6E2D9F2BBB1}" type="slidenum">
              <a:rPr lang="en-US" smtClean="0"/>
              <a:t>518</a:t>
            </a:fld>
            <a:endParaRPr lang="en-US"/>
          </a:p>
        </p:txBody>
      </p:sp>
    </p:spTree>
    <p:extLst>
      <p:ext uri="{BB962C8B-B14F-4D97-AF65-F5344CB8AC3E}">
        <p14:creationId xmlns:p14="http://schemas.microsoft.com/office/powerpoint/2010/main" val="3966003330"/>
      </p:ext>
    </p:extLst>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123612-BB26-4621-959E-97403FC5B2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7697" y="781186"/>
            <a:ext cx="7341517" cy="5506138"/>
          </a:xfrm>
        </p:spPr>
      </p:pic>
      <p:sp>
        <p:nvSpPr>
          <p:cNvPr id="3" name="Slide Number Placeholder 2">
            <a:extLst>
              <a:ext uri="{FF2B5EF4-FFF2-40B4-BE49-F238E27FC236}">
                <a16:creationId xmlns:a16="http://schemas.microsoft.com/office/drawing/2014/main" id="{0575E59D-670C-44E3-B26D-729284545F60}"/>
              </a:ext>
            </a:extLst>
          </p:cNvPr>
          <p:cNvSpPr>
            <a:spLocks noGrp="1"/>
          </p:cNvSpPr>
          <p:nvPr>
            <p:ph type="sldNum" sz="quarter" idx="12"/>
          </p:nvPr>
        </p:nvSpPr>
        <p:spPr/>
        <p:txBody>
          <a:bodyPr/>
          <a:lstStyle/>
          <a:p>
            <a:fld id="{6B97D948-30E8-43F7-AE10-F6E2D9F2BBB1}" type="slidenum">
              <a:rPr lang="en-US" smtClean="0"/>
              <a:t>519</a:t>
            </a:fld>
            <a:endParaRPr lang="en-US"/>
          </a:p>
        </p:txBody>
      </p:sp>
    </p:spTree>
    <p:extLst>
      <p:ext uri="{BB962C8B-B14F-4D97-AF65-F5344CB8AC3E}">
        <p14:creationId xmlns:p14="http://schemas.microsoft.com/office/powerpoint/2010/main" val="656774164"/>
      </p:ext>
    </p:extLst>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397B2-B7DA-4435-BF68-07BCEE15608F}"/>
              </a:ext>
            </a:extLst>
          </p:cNvPr>
          <p:cNvSpPr>
            <a:spLocks noGrp="1"/>
          </p:cNvSpPr>
          <p:nvPr>
            <p:ph type="title"/>
          </p:nvPr>
        </p:nvSpPr>
        <p:spPr>
          <a:xfrm>
            <a:off x="838200" y="365125"/>
            <a:ext cx="10515600" cy="864585"/>
          </a:xfrm>
        </p:spPr>
        <p:txBody>
          <a:bodyPr/>
          <a:lstStyle/>
          <a:p>
            <a:r>
              <a:rPr lang="en-US" dirty="0"/>
              <a:t>Violin Plots</a:t>
            </a:r>
          </a:p>
        </p:txBody>
      </p:sp>
      <p:sp>
        <p:nvSpPr>
          <p:cNvPr id="3" name="Content Placeholder 2">
            <a:extLst>
              <a:ext uri="{FF2B5EF4-FFF2-40B4-BE49-F238E27FC236}">
                <a16:creationId xmlns:a16="http://schemas.microsoft.com/office/drawing/2014/main" id="{8C2F5619-6A00-4B97-81F0-BAD5296C94D3}"/>
              </a:ext>
            </a:extLst>
          </p:cNvPr>
          <p:cNvSpPr>
            <a:spLocks noGrp="1"/>
          </p:cNvSpPr>
          <p:nvPr>
            <p:ph idx="1"/>
          </p:nvPr>
        </p:nvSpPr>
        <p:spPr>
          <a:xfrm>
            <a:off x="838200" y="1229710"/>
            <a:ext cx="10515600" cy="4947253"/>
          </a:xfrm>
        </p:spPr>
        <p:txBody>
          <a:bodyPr/>
          <a:lstStyle/>
          <a:p>
            <a:pPr algn="just"/>
            <a:r>
              <a:rPr lang="en-US" dirty="0"/>
              <a:t>Violin plots, much like box plots, encode information about quantiles. </a:t>
            </a:r>
          </a:p>
          <a:p>
            <a:pPr algn="just"/>
            <a:endParaRPr lang="en-US" dirty="0"/>
          </a:p>
          <a:p>
            <a:pPr algn="just"/>
            <a:r>
              <a:rPr lang="en-US" dirty="0"/>
              <a:t>A violin plot also incorporates smoothed density curves to add an additional level of information – now, the width of the plot at each point also carries meaning.</a:t>
            </a:r>
          </a:p>
          <a:p>
            <a:endParaRPr lang="en-US" dirty="0"/>
          </a:p>
          <a:p>
            <a:r>
              <a:rPr lang="en-US" dirty="0"/>
              <a:t>The three quartiles and whiskers that we saw in box plots are still present in violin plots (look closely at the center)!</a:t>
            </a:r>
          </a:p>
        </p:txBody>
      </p:sp>
      <p:sp>
        <p:nvSpPr>
          <p:cNvPr id="5" name="Slide Number Placeholder 4">
            <a:extLst>
              <a:ext uri="{FF2B5EF4-FFF2-40B4-BE49-F238E27FC236}">
                <a16:creationId xmlns:a16="http://schemas.microsoft.com/office/drawing/2014/main" id="{851C82C4-6E82-46BC-8EA7-09C2325CC0BD}"/>
              </a:ext>
            </a:extLst>
          </p:cNvPr>
          <p:cNvSpPr>
            <a:spLocks noGrp="1"/>
          </p:cNvSpPr>
          <p:nvPr>
            <p:ph type="sldNum" sz="quarter" idx="12"/>
          </p:nvPr>
        </p:nvSpPr>
        <p:spPr/>
        <p:txBody>
          <a:bodyPr/>
          <a:lstStyle/>
          <a:p>
            <a:fld id="{6B97D948-30E8-43F7-AE10-F6E2D9F2BBB1}" type="slidenum">
              <a:rPr lang="en-US" smtClean="0"/>
              <a:t>520</a:t>
            </a:fld>
            <a:endParaRPr lang="en-US"/>
          </a:p>
        </p:txBody>
      </p:sp>
    </p:spTree>
    <p:extLst>
      <p:ext uri="{BB962C8B-B14F-4D97-AF65-F5344CB8AC3E}">
        <p14:creationId xmlns:p14="http://schemas.microsoft.com/office/powerpoint/2010/main" val="1356640060"/>
      </p:ext>
    </p:extLst>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B8841D-74E7-41FE-95E8-1F3DFC41D36D}"/>
              </a:ext>
            </a:extLst>
          </p:cNvPr>
          <p:cNvSpPr>
            <a:spLocks noGrp="1"/>
          </p:cNvSpPr>
          <p:nvPr>
            <p:ph idx="1"/>
          </p:nvPr>
        </p:nvSpPr>
        <p:spPr>
          <a:xfrm>
            <a:off x="838200" y="599090"/>
            <a:ext cx="10515600" cy="5577873"/>
          </a:xfrm>
        </p:spPr>
        <p:txBody>
          <a:bodyPr/>
          <a:lstStyle/>
          <a:p>
            <a:r>
              <a:rPr lang="en-US" dirty="0" err="1">
                <a:solidFill>
                  <a:srgbClr val="FF0000"/>
                </a:solidFill>
              </a:rPr>
              <a:t>sns.violinplot</a:t>
            </a:r>
            <a:r>
              <a:rPr lang="en-US" dirty="0">
                <a:solidFill>
                  <a:srgbClr val="FF0000"/>
                </a:solidFill>
              </a:rPr>
              <a:t>(data = </a:t>
            </a:r>
            <a:r>
              <a:rPr lang="en-US" dirty="0" err="1">
                <a:solidFill>
                  <a:srgbClr val="FF0000"/>
                </a:solidFill>
              </a:rPr>
              <a:t>wb</a:t>
            </a:r>
            <a:r>
              <a:rPr lang="en-US" dirty="0">
                <a:solidFill>
                  <a:srgbClr val="FF0000"/>
                </a:solidFill>
              </a:rPr>
              <a:t>, y = 'Gross domestic product: % growth : 2016 ‘)</a:t>
            </a:r>
          </a:p>
          <a:p>
            <a:endParaRPr lang="en-US" dirty="0">
              <a:solidFill>
                <a:srgbClr val="FF0000"/>
              </a:solidFill>
            </a:endParaRPr>
          </a:p>
          <a:p>
            <a:r>
              <a:rPr lang="en-US" dirty="0" err="1">
                <a:solidFill>
                  <a:srgbClr val="FF0000"/>
                </a:solidFill>
              </a:rPr>
              <a:t>plt.title</a:t>
            </a:r>
            <a:r>
              <a:rPr lang="en-US" dirty="0">
                <a:solidFill>
                  <a:srgbClr val="FF0000"/>
                </a:solidFill>
              </a:rPr>
              <a:t>("Distribution of GDP growth across countries");</a:t>
            </a:r>
          </a:p>
        </p:txBody>
      </p:sp>
      <p:sp>
        <p:nvSpPr>
          <p:cNvPr id="4" name="Slide Number Placeholder 3">
            <a:extLst>
              <a:ext uri="{FF2B5EF4-FFF2-40B4-BE49-F238E27FC236}">
                <a16:creationId xmlns:a16="http://schemas.microsoft.com/office/drawing/2014/main" id="{F214AA7F-05E0-4571-A61C-5B888623DCF5}"/>
              </a:ext>
            </a:extLst>
          </p:cNvPr>
          <p:cNvSpPr>
            <a:spLocks noGrp="1"/>
          </p:cNvSpPr>
          <p:nvPr>
            <p:ph type="sldNum" sz="quarter" idx="12"/>
          </p:nvPr>
        </p:nvSpPr>
        <p:spPr/>
        <p:txBody>
          <a:bodyPr/>
          <a:lstStyle/>
          <a:p>
            <a:fld id="{6B97D948-30E8-43F7-AE10-F6E2D9F2BBB1}" type="slidenum">
              <a:rPr lang="en-US" smtClean="0"/>
              <a:t>521</a:t>
            </a:fld>
            <a:endParaRPr lang="en-US"/>
          </a:p>
        </p:txBody>
      </p:sp>
    </p:spTree>
    <p:extLst>
      <p:ext uri="{BB962C8B-B14F-4D97-AF65-F5344CB8AC3E}">
        <p14:creationId xmlns:p14="http://schemas.microsoft.com/office/powerpoint/2010/main" val="74832793"/>
      </p:ext>
    </p:extLst>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32CF06-15E6-4350-83F0-3D6412C9E1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2942" y="552587"/>
            <a:ext cx="7499168" cy="5624376"/>
          </a:xfrm>
        </p:spPr>
      </p:pic>
      <p:sp>
        <p:nvSpPr>
          <p:cNvPr id="3" name="Slide Number Placeholder 2">
            <a:extLst>
              <a:ext uri="{FF2B5EF4-FFF2-40B4-BE49-F238E27FC236}">
                <a16:creationId xmlns:a16="http://schemas.microsoft.com/office/drawing/2014/main" id="{8991ADF6-AA2C-49D3-8082-86681DE05271}"/>
              </a:ext>
            </a:extLst>
          </p:cNvPr>
          <p:cNvSpPr>
            <a:spLocks noGrp="1"/>
          </p:cNvSpPr>
          <p:nvPr>
            <p:ph type="sldNum" sz="quarter" idx="12"/>
          </p:nvPr>
        </p:nvSpPr>
        <p:spPr/>
        <p:txBody>
          <a:bodyPr/>
          <a:lstStyle/>
          <a:p>
            <a:fld id="{6B97D948-30E8-43F7-AE10-F6E2D9F2BBB1}" type="slidenum">
              <a:rPr lang="en-US" smtClean="0"/>
              <a:t>522</a:t>
            </a:fld>
            <a:endParaRPr lang="en-US"/>
          </a:p>
        </p:txBody>
      </p:sp>
    </p:spTree>
    <p:extLst>
      <p:ext uri="{BB962C8B-B14F-4D97-AF65-F5344CB8AC3E}">
        <p14:creationId xmlns:p14="http://schemas.microsoft.com/office/powerpoint/2010/main" val="844363613"/>
      </p:ext>
    </p:extLst>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77DFAB-05DD-466E-9147-A391DADC414D}"/>
              </a:ext>
            </a:extLst>
          </p:cNvPr>
          <p:cNvSpPr>
            <a:spLocks noGrp="1"/>
          </p:cNvSpPr>
          <p:nvPr>
            <p:ph idx="1"/>
          </p:nvPr>
        </p:nvSpPr>
        <p:spPr/>
        <p:txBody>
          <a:bodyPr/>
          <a:lstStyle/>
          <a:p>
            <a:r>
              <a:rPr lang="en-US" dirty="0"/>
              <a:t> </a:t>
            </a:r>
            <a:r>
              <a:rPr lang="en-US" dirty="0" err="1"/>
              <a:t>plt.violinplot</a:t>
            </a:r>
            <a:r>
              <a:rPr lang="en-US" dirty="0"/>
              <a:t>(</a:t>
            </a:r>
            <a:r>
              <a:rPr lang="en-US" dirty="0" err="1"/>
              <a:t>wb</a:t>
            </a:r>
            <a:r>
              <a:rPr lang="en-US" dirty="0"/>
              <a:t>['Gross domestic product: % growth : 2016'])</a:t>
            </a:r>
          </a:p>
          <a:p>
            <a:endParaRPr lang="en-US" dirty="0"/>
          </a:p>
          <a:p>
            <a:r>
              <a:rPr lang="en-US" dirty="0" err="1"/>
              <a:t>plt.ylabel</a:t>
            </a:r>
            <a:r>
              <a:rPr lang="en-US" dirty="0"/>
              <a:t>("% GDP growth")</a:t>
            </a:r>
          </a:p>
          <a:p>
            <a:endParaRPr lang="en-US" dirty="0"/>
          </a:p>
          <a:p>
            <a:endParaRPr lang="en-US" dirty="0"/>
          </a:p>
          <a:p>
            <a:r>
              <a:rPr lang="en-US" dirty="0" err="1"/>
              <a:t>plt.title</a:t>
            </a:r>
            <a:r>
              <a:rPr lang="en-US" dirty="0"/>
              <a:t>("Distribution of GDP growth across countries");</a:t>
            </a:r>
          </a:p>
        </p:txBody>
      </p:sp>
      <p:sp>
        <p:nvSpPr>
          <p:cNvPr id="4" name="Slide Number Placeholder 3">
            <a:extLst>
              <a:ext uri="{FF2B5EF4-FFF2-40B4-BE49-F238E27FC236}">
                <a16:creationId xmlns:a16="http://schemas.microsoft.com/office/drawing/2014/main" id="{674A2F36-B526-46F2-9943-2B2A2E6BA357}"/>
              </a:ext>
            </a:extLst>
          </p:cNvPr>
          <p:cNvSpPr>
            <a:spLocks noGrp="1"/>
          </p:cNvSpPr>
          <p:nvPr>
            <p:ph type="sldNum" sz="quarter" idx="12"/>
          </p:nvPr>
        </p:nvSpPr>
        <p:spPr/>
        <p:txBody>
          <a:bodyPr/>
          <a:lstStyle/>
          <a:p>
            <a:fld id="{6B97D948-30E8-43F7-AE10-F6E2D9F2BBB1}" type="slidenum">
              <a:rPr lang="en-US" smtClean="0"/>
              <a:t>523</a:t>
            </a:fld>
            <a:endParaRPr lang="en-US"/>
          </a:p>
        </p:txBody>
      </p:sp>
    </p:spTree>
    <p:extLst>
      <p:ext uri="{BB962C8B-B14F-4D97-AF65-F5344CB8AC3E}">
        <p14:creationId xmlns:p14="http://schemas.microsoft.com/office/powerpoint/2010/main" val="3069850416"/>
      </p:ext>
    </p:extLst>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16061-6216-455D-94FB-7F9EBDF7AD1F}"/>
              </a:ext>
            </a:extLst>
          </p:cNvPr>
          <p:cNvSpPr>
            <a:spLocks noGrp="1"/>
          </p:cNvSpPr>
          <p:nvPr>
            <p:ph type="title"/>
          </p:nvPr>
        </p:nvSpPr>
        <p:spPr>
          <a:xfrm>
            <a:off x="838200" y="365126"/>
            <a:ext cx="10515600" cy="580806"/>
          </a:xfrm>
        </p:spPr>
        <p:txBody>
          <a:bodyPr>
            <a:normAutofit fontScale="90000"/>
          </a:bodyPr>
          <a:lstStyle/>
          <a:p>
            <a:r>
              <a:rPr lang="en-US" dirty="0"/>
              <a:t>Histograms</a:t>
            </a:r>
          </a:p>
        </p:txBody>
      </p:sp>
      <p:sp>
        <p:nvSpPr>
          <p:cNvPr id="3" name="Content Placeholder 2">
            <a:extLst>
              <a:ext uri="{FF2B5EF4-FFF2-40B4-BE49-F238E27FC236}">
                <a16:creationId xmlns:a16="http://schemas.microsoft.com/office/drawing/2014/main" id="{6428DECB-61DC-489B-A3BB-A090375823B8}"/>
              </a:ext>
            </a:extLst>
          </p:cNvPr>
          <p:cNvSpPr>
            <a:spLocks noGrp="1"/>
          </p:cNvSpPr>
          <p:nvPr>
            <p:ph idx="1"/>
          </p:nvPr>
        </p:nvSpPr>
        <p:spPr>
          <a:xfrm>
            <a:off x="838200" y="945932"/>
            <a:ext cx="10515600" cy="5231031"/>
          </a:xfrm>
        </p:spPr>
        <p:txBody>
          <a:bodyPr/>
          <a:lstStyle/>
          <a:p>
            <a:pPr algn="just"/>
            <a:r>
              <a:rPr lang="en-US" dirty="0"/>
              <a:t>Histograms are an alternative method of visualizing quantitative continuous distributions. </a:t>
            </a:r>
          </a:p>
          <a:p>
            <a:pPr algn="just"/>
            <a:endParaRPr lang="en-US" dirty="0"/>
          </a:p>
          <a:p>
            <a:pPr algn="just"/>
            <a:r>
              <a:rPr lang="en-US" dirty="0"/>
              <a:t>In a histogram, datapoints with similar values are collected into a shared “bin”. </a:t>
            </a:r>
          </a:p>
          <a:p>
            <a:pPr algn="just"/>
            <a:endParaRPr lang="en-US" dirty="0"/>
          </a:p>
          <a:p>
            <a:pPr algn="just"/>
            <a:endParaRPr lang="en-US" dirty="0"/>
          </a:p>
          <a:p>
            <a:pPr algn="just"/>
            <a:r>
              <a:rPr lang="en-US" dirty="0"/>
              <a:t>These bins are scaled such that the area of each bin is equal to the percentage of datapoints it contains.</a:t>
            </a:r>
          </a:p>
        </p:txBody>
      </p:sp>
      <p:sp>
        <p:nvSpPr>
          <p:cNvPr id="5" name="Slide Number Placeholder 4">
            <a:extLst>
              <a:ext uri="{FF2B5EF4-FFF2-40B4-BE49-F238E27FC236}">
                <a16:creationId xmlns:a16="http://schemas.microsoft.com/office/drawing/2014/main" id="{6C925BC8-10B0-4024-8311-7B63A262C6CD}"/>
              </a:ext>
            </a:extLst>
          </p:cNvPr>
          <p:cNvSpPr>
            <a:spLocks noGrp="1"/>
          </p:cNvSpPr>
          <p:nvPr>
            <p:ph type="sldNum" sz="quarter" idx="12"/>
          </p:nvPr>
        </p:nvSpPr>
        <p:spPr/>
        <p:txBody>
          <a:bodyPr/>
          <a:lstStyle/>
          <a:p>
            <a:fld id="{6B97D948-30E8-43F7-AE10-F6E2D9F2BBB1}" type="slidenum">
              <a:rPr lang="en-US" smtClean="0"/>
              <a:t>524</a:t>
            </a:fld>
            <a:endParaRPr lang="en-US"/>
          </a:p>
        </p:txBody>
      </p:sp>
    </p:spTree>
    <p:extLst>
      <p:ext uri="{BB962C8B-B14F-4D97-AF65-F5344CB8AC3E}">
        <p14:creationId xmlns:p14="http://schemas.microsoft.com/office/powerpoint/2010/main" val="2869058452"/>
      </p:ext>
    </p:extLst>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0D20D5-4DA4-49A6-9A66-39801F93155D}"/>
              </a:ext>
            </a:extLst>
          </p:cNvPr>
          <p:cNvSpPr>
            <a:spLocks noGrp="1"/>
          </p:cNvSpPr>
          <p:nvPr>
            <p:ph idx="1"/>
          </p:nvPr>
        </p:nvSpPr>
        <p:spPr>
          <a:xfrm>
            <a:off x="838200" y="583324"/>
            <a:ext cx="10515600" cy="5593639"/>
          </a:xfrm>
        </p:spPr>
        <p:txBody>
          <a:bodyPr/>
          <a:lstStyle/>
          <a:p>
            <a:r>
              <a:rPr lang="en-US" dirty="0" err="1">
                <a:solidFill>
                  <a:srgbClr val="FF0000"/>
                </a:solidFill>
              </a:rPr>
              <a:t>gni</a:t>
            </a:r>
            <a:r>
              <a:rPr lang="en-US" dirty="0">
                <a:solidFill>
                  <a:srgbClr val="FF0000"/>
                </a:solidFill>
              </a:rPr>
              <a:t> = </a:t>
            </a:r>
            <a:r>
              <a:rPr lang="en-US" dirty="0" err="1">
                <a:solidFill>
                  <a:srgbClr val="FF0000"/>
                </a:solidFill>
              </a:rPr>
              <a:t>wb</a:t>
            </a:r>
            <a:r>
              <a:rPr lang="en-US" dirty="0">
                <a:solidFill>
                  <a:srgbClr val="FF0000"/>
                </a:solidFill>
              </a:rPr>
              <a:t>["Gross national income per capita, Atlas method: $: 2016"]</a:t>
            </a:r>
          </a:p>
          <a:p>
            <a:endParaRPr lang="en-US" dirty="0">
              <a:solidFill>
                <a:srgbClr val="FF0000"/>
              </a:solidFill>
            </a:endParaRPr>
          </a:p>
          <a:p>
            <a:r>
              <a:rPr lang="en-US" dirty="0" err="1">
                <a:solidFill>
                  <a:srgbClr val="FF0000"/>
                </a:solidFill>
              </a:rPr>
              <a:t>plt.hist</a:t>
            </a:r>
            <a:r>
              <a:rPr lang="en-US" dirty="0">
                <a:solidFill>
                  <a:srgbClr val="FF0000"/>
                </a:solidFill>
              </a:rPr>
              <a:t>(</a:t>
            </a:r>
            <a:r>
              <a:rPr lang="en-US" dirty="0" err="1">
                <a:solidFill>
                  <a:srgbClr val="FF0000"/>
                </a:solidFill>
              </a:rPr>
              <a:t>gni</a:t>
            </a:r>
            <a:r>
              <a:rPr lang="en-US" dirty="0">
                <a:solidFill>
                  <a:srgbClr val="FF0000"/>
                </a:solidFill>
              </a:rPr>
              <a:t>, density=True, </a:t>
            </a:r>
            <a:r>
              <a:rPr lang="en-US" dirty="0" err="1">
                <a:solidFill>
                  <a:srgbClr val="FF0000"/>
                </a:solidFill>
              </a:rPr>
              <a:t>edgecolor</a:t>
            </a:r>
            <a:r>
              <a:rPr lang="en-US" dirty="0">
                <a:solidFill>
                  <a:srgbClr val="FF0000"/>
                </a:solidFill>
              </a:rPr>
              <a:t>="white")</a:t>
            </a:r>
          </a:p>
          <a:p>
            <a:endParaRPr lang="en-US" dirty="0">
              <a:solidFill>
                <a:srgbClr val="FF0000"/>
              </a:solidFill>
            </a:endParaRPr>
          </a:p>
          <a:p>
            <a:r>
              <a:rPr lang="en-US" dirty="0" err="1">
                <a:solidFill>
                  <a:srgbClr val="FF0000"/>
                </a:solidFill>
              </a:rPr>
              <a:t>plt.xlabel</a:t>
            </a:r>
            <a:r>
              <a:rPr lang="en-US" dirty="0">
                <a:solidFill>
                  <a:srgbClr val="FF0000"/>
                </a:solidFill>
              </a:rPr>
              <a:t>("Gross national income per capita")</a:t>
            </a:r>
          </a:p>
          <a:p>
            <a:endParaRPr lang="en-US" dirty="0">
              <a:solidFill>
                <a:srgbClr val="FF0000"/>
              </a:solidFill>
            </a:endParaRPr>
          </a:p>
          <a:p>
            <a:r>
              <a:rPr lang="en-US" dirty="0" err="1">
                <a:solidFill>
                  <a:srgbClr val="FF0000"/>
                </a:solidFill>
              </a:rPr>
              <a:t>plt.ylabel</a:t>
            </a:r>
            <a:r>
              <a:rPr lang="en-US" dirty="0">
                <a:solidFill>
                  <a:srgbClr val="FF0000"/>
                </a:solidFill>
              </a:rPr>
              <a:t>("Density")</a:t>
            </a:r>
          </a:p>
          <a:p>
            <a:endParaRPr lang="en-US" dirty="0">
              <a:solidFill>
                <a:srgbClr val="FF0000"/>
              </a:solidFill>
            </a:endParaRPr>
          </a:p>
          <a:p>
            <a:r>
              <a:rPr lang="en-US" dirty="0" err="1">
                <a:solidFill>
                  <a:srgbClr val="FF0000"/>
                </a:solidFill>
              </a:rPr>
              <a:t>plt.title</a:t>
            </a:r>
            <a:r>
              <a:rPr lang="en-US" dirty="0">
                <a:solidFill>
                  <a:srgbClr val="FF0000"/>
                </a:solidFill>
              </a:rPr>
              <a:t>("Distribution of gross national income per capita");</a:t>
            </a:r>
          </a:p>
        </p:txBody>
      </p:sp>
      <p:sp>
        <p:nvSpPr>
          <p:cNvPr id="4" name="Slide Number Placeholder 3">
            <a:extLst>
              <a:ext uri="{FF2B5EF4-FFF2-40B4-BE49-F238E27FC236}">
                <a16:creationId xmlns:a16="http://schemas.microsoft.com/office/drawing/2014/main" id="{25AC37D8-8258-469A-B58C-1400AA522F8A}"/>
              </a:ext>
            </a:extLst>
          </p:cNvPr>
          <p:cNvSpPr>
            <a:spLocks noGrp="1"/>
          </p:cNvSpPr>
          <p:nvPr>
            <p:ph type="sldNum" sz="quarter" idx="12"/>
          </p:nvPr>
        </p:nvSpPr>
        <p:spPr/>
        <p:txBody>
          <a:bodyPr/>
          <a:lstStyle/>
          <a:p>
            <a:fld id="{6B97D948-30E8-43F7-AE10-F6E2D9F2BBB1}" type="slidenum">
              <a:rPr lang="en-US" smtClean="0"/>
              <a:t>525</a:t>
            </a:fld>
            <a:endParaRPr lang="en-US"/>
          </a:p>
        </p:txBody>
      </p:sp>
    </p:spTree>
    <p:extLst>
      <p:ext uri="{BB962C8B-B14F-4D97-AF65-F5344CB8AC3E}">
        <p14:creationId xmlns:p14="http://schemas.microsoft.com/office/powerpoint/2010/main" val="3636645277"/>
      </p:ext>
    </p:extLst>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E67E59-4F2A-48ED-952D-B49B82AA1D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5379" y="670828"/>
            <a:ext cx="7341513" cy="5506135"/>
          </a:xfrm>
        </p:spPr>
      </p:pic>
      <p:sp>
        <p:nvSpPr>
          <p:cNvPr id="3" name="Slide Number Placeholder 2">
            <a:extLst>
              <a:ext uri="{FF2B5EF4-FFF2-40B4-BE49-F238E27FC236}">
                <a16:creationId xmlns:a16="http://schemas.microsoft.com/office/drawing/2014/main" id="{F9E0CC69-B427-499D-B382-3C5D1730C507}"/>
              </a:ext>
            </a:extLst>
          </p:cNvPr>
          <p:cNvSpPr>
            <a:spLocks noGrp="1"/>
          </p:cNvSpPr>
          <p:nvPr>
            <p:ph type="sldNum" sz="quarter" idx="12"/>
          </p:nvPr>
        </p:nvSpPr>
        <p:spPr/>
        <p:txBody>
          <a:bodyPr/>
          <a:lstStyle/>
          <a:p>
            <a:fld id="{6B97D948-30E8-43F7-AE10-F6E2D9F2BBB1}" type="slidenum">
              <a:rPr lang="en-US" smtClean="0"/>
              <a:t>526</a:t>
            </a:fld>
            <a:endParaRPr lang="en-US"/>
          </a:p>
        </p:txBody>
      </p:sp>
    </p:spTree>
    <p:extLst>
      <p:ext uri="{BB962C8B-B14F-4D97-AF65-F5344CB8AC3E}">
        <p14:creationId xmlns:p14="http://schemas.microsoft.com/office/powerpoint/2010/main" val="2153880813"/>
      </p:ext>
    </p:extLst>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79DFEE-FBFF-48E8-9D54-35B5BAE9E99D}"/>
              </a:ext>
            </a:extLst>
          </p:cNvPr>
          <p:cNvSpPr>
            <a:spLocks noGrp="1"/>
          </p:cNvSpPr>
          <p:nvPr>
            <p:ph idx="1"/>
          </p:nvPr>
        </p:nvSpPr>
        <p:spPr>
          <a:xfrm>
            <a:off x="838200" y="709448"/>
            <a:ext cx="10515600" cy="5467515"/>
          </a:xfrm>
        </p:spPr>
        <p:txBody>
          <a:bodyPr/>
          <a:lstStyle/>
          <a:p>
            <a:r>
              <a:rPr lang="en-US" dirty="0" err="1">
                <a:solidFill>
                  <a:srgbClr val="FF0000"/>
                </a:solidFill>
              </a:rPr>
              <a:t>sns.histplot</a:t>
            </a:r>
            <a:r>
              <a:rPr lang="en-US" dirty="0">
                <a:solidFill>
                  <a:srgbClr val="FF0000"/>
                </a:solidFill>
              </a:rPr>
              <a:t>(data = </a:t>
            </a:r>
            <a:r>
              <a:rPr lang="en-US" dirty="0" err="1">
                <a:solidFill>
                  <a:srgbClr val="FF0000"/>
                </a:solidFill>
              </a:rPr>
              <a:t>wb</a:t>
            </a:r>
            <a:r>
              <a:rPr lang="en-US" dirty="0">
                <a:solidFill>
                  <a:srgbClr val="FF0000"/>
                </a:solidFill>
              </a:rPr>
              <a:t>, x = "Gross national income per capita, Atlas method: $: 2016", stat="density")</a:t>
            </a:r>
          </a:p>
          <a:p>
            <a:endParaRPr lang="en-US" dirty="0">
              <a:solidFill>
                <a:srgbClr val="FF0000"/>
              </a:solidFill>
            </a:endParaRPr>
          </a:p>
          <a:p>
            <a:r>
              <a:rPr lang="en-US" dirty="0" err="1">
                <a:solidFill>
                  <a:srgbClr val="FF0000"/>
                </a:solidFill>
              </a:rPr>
              <a:t>plt.title</a:t>
            </a:r>
            <a:r>
              <a:rPr lang="en-US" dirty="0">
                <a:solidFill>
                  <a:srgbClr val="FF0000"/>
                </a:solidFill>
              </a:rPr>
              <a:t>("Distribution of gross national income per capita");</a:t>
            </a:r>
          </a:p>
        </p:txBody>
      </p:sp>
      <p:sp>
        <p:nvSpPr>
          <p:cNvPr id="4" name="Slide Number Placeholder 3">
            <a:extLst>
              <a:ext uri="{FF2B5EF4-FFF2-40B4-BE49-F238E27FC236}">
                <a16:creationId xmlns:a16="http://schemas.microsoft.com/office/drawing/2014/main" id="{F81D5F0B-1ADF-4DD4-A8C0-5F9346328E68}"/>
              </a:ext>
            </a:extLst>
          </p:cNvPr>
          <p:cNvSpPr>
            <a:spLocks noGrp="1"/>
          </p:cNvSpPr>
          <p:nvPr>
            <p:ph type="sldNum" sz="quarter" idx="12"/>
          </p:nvPr>
        </p:nvSpPr>
        <p:spPr/>
        <p:txBody>
          <a:bodyPr/>
          <a:lstStyle/>
          <a:p>
            <a:fld id="{6B97D948-30E8-43F7-AE10-F6E2D9F2BBB1}" type="slidenum">
              <a:rPr lang="en-US" smtClean="0"/>
              <a:t>527</a:t>
            </a:fld>
            <a:endParaRPr lang="en-US"/>
          </a:p>
        </p:txBody>
      </p:sp>
    </p:spTree>
    <p:extLst>
      <p:ext uri="{BB962C8B-B14F-4D97-AF65-F5344CB8AC3E}">
        <p14:creationId xmlns:p14="http://schemas.microsoft.com/office/powerpoint/2010/main" val="387595329"/>
      </p:ext>
    </p:extLst>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A29092-4B1C-4798-9367-13FE729D37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63924" y="698419"/>
            <a:ext cx="7325747" cy="5494310"/>
          </a:xfrm>
        </p:spPr>
      </p:pic>
      <p:sp>
        <p:nvSpPr>
          <p:cNvPr id="3" name="Slide Number Placeholder 2">
            <a:extLst>
              <a:ext uri="{FF2B5EF4-FFF2-40B4-BE49-F238E27FC236}">
                <a16:creationId xmlns:a16="http://schemas.microsoft.com/office/drawing/2014/main" id="{706315DF-38E1-4A77-A6F7-ABC8F0B8087B}"/>
              </a:ext>
            </a:extLst>
          </p:cNvPr>
          <p:cNvSpPr>
            <a:spLocks noGrp="1"/>
          </p:cNvSpPr>
          <p:nvPr>
            <p:ph type="sldNum" sz="quarter" idx="12"/>
          </p:nvPr>
        </p:nvSpPr>
        <p:spPr/>
        <p:txBody>
          <a:bodyPr/>
          <a:lstStyle/>
          <a:p>
            <a:fld id="{6B97D948-30E8-43F7-AE10-F6E2D9F2BBB1}" type="slidenum">
              <a:rPr lang="en-US" smtClean="0"/>
              <a:t>528</a:t>
            </a:fld>
            <a:endParaRPr lang="en-US"/>
          </a:p>
        </p:txBody>
      </p:sp>
    </p:spTree>
    <p:extLst>
      <p:ext uri="{BB962C8B-B14F-4D97-AF65-F5344CB8AC3E}">
        <p14:creationId xmlns:p14="http://schemas.microsoft.com/office/powerpoint/2010/main" val="1290486431"/>
      </p:ext>
    </p:extLst>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465C77-8BD5-40EA-B568-B0331BAF2C4A}"/>
              </a:ext>
            </a:extLst>
          </p:cNvPr>
          <p:cNvSpPr>
            <a:spLocks noGrp="1"/>
          </p:cNvSpPr>
          <p:nvPr>
            <p:ph idx="1"/>
          </p:nvPr>
        </p:nvSpPr>
        <p:spPr>
          <a:xfrm>
            <a:off x="838200" y="441434"/>
            <a:ext cx="10515600" cy="5735529"/>
          </a:xfrm>
        </p:spPr>
        <p:txBody>
          <a:bodyPr/>
          <a:lstStyle/>
          <a:p>
            <a:pPr algn="just"/>
            <a:r>
              <a:rPr lang="en-US" dirty="0"/>
              <a:t>The hue parameter of </a:t>
            </a:r>
            <a:r>
              <a:rPr lang="en-US" dirty="0" err="1">
                <a:solidFill>
                  <a:srgbClr val="FF0000"/>
                </a:solidFill>
              </a:rPr>
              <a:t>sns.histplot</a:t>
            </a:r>
            <a:r>
              <a:rPr lang="en-US" dirty="0">
                <a:solidFill>
                  <a:srgbClr val="FF0000"/>
                </a:solidFill>
              </a:rPr>
              <a:t> </a:t>
            </a:r>
            <a:r>
              <a:rPr lang="en-US" dirty="0"/>
              <a:t>specifies the column that should be used to determine the color of each category. hue can be used in many Seaborn plotting functions.</a:t>
            </a:r>
          </a:p>
          <a:p>
            <a:pPr algn="just"/>
            <a:endParaRPr lang="en-US" dirty="0"/>
          </a:p>
          <a:p>
            <a:pPr algn="just"/>
            <a:r>
              <a:rPr lang="en-US" dirty="0"/>
              <a:t>Notice that the resulting plot includes a legend describing which color corresponds to each hemisphere – a legend should always be included if color is used to encode information in a visualization! </a:t>
            </a:r>
          </a:p>
          <a:p>
            <a:pPr algn="just"/>
            <a:endParaRPr lang="en-US" dirty="0"/>
          </a:p>
          <a:p>
            <a:pPr algn="just"/>
            <a:endParaRPr lang="en-US" dirty="0"/>
          </a:p>
          <a:p>
            <a:pPr algn="just"/>
            <a:r>
              <a:rPr lang="en-US" dirty="0"/>
              <a:t>This assists with our visualization goal of communicating our results to a broader audience.</a:t>
            </a:r>
          </a:p>
        </p:txBody>
      </p:sp>
      <p:sp>
        <p:nvSpPr>
          <p:cNvPr id="4" name="Slide Number Placeholder 3">
            <a:extLst>
              <a:ext uri="{FF2B5EF4-FFF2-40B4-BE49-F238E27FC236}">
                <a16:creationId xmlns:a16="http://schemas.microsoft.com/office/drawing/2014/main" id="{FD07A3AD-6C21-464C-B047-E8ED351A54D8}"/>
              </a:ext>
            </a:extLst>
          </p:cNvPr>
          <p:cNvSpPr>
            <a:spLocks noGrp="1"/>
          </p:cNvSpPr>
          <p:nvPr>
            <p:ph type="sldNum" sz="quarter" idx="12"/>
          </p:nvPr>
        </p:nvSpPr>
        <p:spPr/>
        <p:txBody>
          <a:bodyPr/>
          <a:lstStyle/>
          <a:p>
            <a:fld id="{6B97D948-30E8-43F7-AE10-F6E2D9F2BBB1}" type="slidenum">
              <a:rPr lang="en-US" smtClean="0"/>
              <a:t>529</a:t>
            </a:fld>
            <a:endParaRPr lang="en-US"/>
          </a:p>
        </p:txBody>
      </p:sp>
    </p:spTree>
    <p:extLst>
      <p:ext uri="{BB962C8B-B14F-4D97-AF65-F5344CB8AC3E}">
        <p14:creationId xmlns:p14="http://schemas.microsoft.com/office/powerpoint/2010/main" val="3517687283"/>
      </p:ext>
    </p:extLst>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2B8F70-F7DC-454C-9EA6-23326CE9F1D9}"/>
              </a:ext>
            </a:extLst>
          </p:cNvPr>
          <p:cNvSpPr>
            <a:spLocks noGrp="1"/>
          </p:cNvSpPr>
          <p:nvPr>
            <p:ph idx="1"/>
          </p:nvPr>
        </p:nvSpPr>
        <p:spPr>
          <a:xfrm>
            <a:off x="838200" y="583324"/>
            <a:ext cx="10515600" cy="5593639"/>
          </a:xfrm>
        </p:spPr>
        <p:txBody>
          <a:bodyPr/>
          <a:lstStyle/>
          <a:p>
            <a:r>
              <a:rPr lang="en-US" dirty="0">
                <a:solidFill>
                  <a:srgbClr val="FF0000"/>
                </a:solidFill>
              </a:rPr>
              <a:t>north = ["Asia", "Europe", "N. America"]</a:t>
            </a:r>
          </a:p>
          <a:p>
            <a:endParaRPr lang="en-US" dirty="0">
              <a:solidFill>
                <a:srgbClr val="FF0000"/>
              </a:solidFill>
            </a:endParaRPr>
          </a:p>
          <a:p>
            <a:r>
              <a:rPr lang="en-US" dirty="0">
                <a:solidFill>
                  <a:srgbClr val="FF0000"/>
                </a:solidFill>
              </a:rPr>
              <a:t>south = ["Africa", "Oceania", "S. America"]</a:t>
            </a:r>
          </a:p>
          <a:p>
            <a:endParaRPr lang="en-US" dirty="0">
              <a:solidFill>
                <a:srgbClr val="FF0000"/>
              </a:solidFill>
            </a:endParaRPr>
          </a:p>
          <a:p>
            <a:r>
              <a:rPr lang="en-US" dirty="0" err="1">
                <a:solidFill>
                  <a:srgbClr val="FF0000"/>
                </a:solidFill>
              </a:rPr>
              <a:t>wb.loc</a:t>
            </a:r>
            <a:r>
              <a:rPr lang="en-US" dirty="0">
                <a:solidFill>
                  <a:srgbClr val="FF0000"/>
                </a:solidFill>
              </a:rPr>
              <a:t>[</a:t>
            </a:r>
            <a:r>
              <a:rPr lang="en-US" dirty="0" err="1">
                <a:solidFill>
                  <a:srgbClr val="FF0000"/>
                </a:solidFill>
              </a:rPr>
              <a:t>wb</a:t>
            </a:r>
            <a:r>
              <a:rPr lang="en-US" dirty="0">
                <a:solidFill>
                  <a:srgbClr val="FF0000"/>
                </a:solidFill>
              </a:rPr>
              <a:t>["Continent"].</a:t>
            </a:r>
            <a:r>
              <a:rPr lang="en-US" dirty="0" err="1">
                <a:solidFill>
                  <a:srgbClr val="FF0000"/>
                </a:solidFill>
              </a:rPr>
              <a:t>isin</a:t>
            </a:r>
            <a:r>
              <a:rPr lang="en-US" dirty="0">
                <a:solidFill>
                  <a:srgbClr val="FF0000"/>
                </a:solidFill>
              </a:rPr>
              <a:t>(north), "Hemisphere"] = "Northern"</a:t>
            </a:r>
          </a:p>
          <a:p>
            <a:endParaRPr lang="en-US" dirty="0">
              <a:solidFill>
                <a:srgbClr val="FF0000"/>
              </a:solidFill>
            </a:endParaRPr>
          </a:p>
          <a:p>
            <a:endParaRPr lang="en-US" dirty="0">
              <a:solidFill>
                <a:srgbClr val="FF0000"/>
              </a:solidFill>
            </a:endParaRPr>
          </a:p>
          <a:p>
            <a:r>
              <a:rPr lang="en-US" dirty="0" err="1">
                <a:solidFill>
                  <a:srgbClr val="FF0000"/>
                </a:solidFill>
              </a:rPr>
              <a:t>wb.loc</a:t>
            </a:r>
            <a:r>
              <a:rPr lang="en-US" dirty="0">
                <a:solidFill>
                  <a:srgbClr val="FF0000"/>
                </a:solidFill>
              </a:rPr>
              <a:t>[</a:t>
            </a:r>
            <a:r>
              <a:rPr lang="en-US" dirty="0" err="1">
                <a:solidFill>
                  <a:srgbClr val="FF0000"/>
                </a:solidFill>
              </a:rPr>
              <a:t>wb</a:t>
            </a:r>
            <a:r>
              <a:rPr lang="en-US" dirty="0">
                <a:solidFill>
                  <a:srgbClr val="FF0000"/>
                </a:solidFill>
              </a:rPr>
              <a:t>["Continent"].</a:t>
            </a:r>
            <a:r>
              <a:rPr lang="en-US" dirty="0" err="1">
                <a:solidFill>
                  <a:srgbClr val="FF0000"/>
                </a:solidFill>
              </a:rPr>
              <a:t>isin</a:t>
            </a:r>
            <a:r>
              <a:rPr lang="en-US" dirty="0">
                <a:solidFill>
                  <a:srgbClr val="FF0000"/>
                </a:solidFill>
              </a:rPr>
              <a:t>(south), "Hemisphere"] = "Southern"</a:t>
            </a:r>
          </a:p>
        </p:txBody>
      </p:sp>
      <p:sp>
        <p:nvSpPr>
          <p:cNvPr id="4" name="Slide Number Placeholder 3">
            <a:extLst>
              <a:ext uri="{FF2B5EF4-FFF2-40B4-BE49-F238E27FC236}">
                <a16:creationId xmlns:a16="http://schemas.microsoft.com/office/drawing/2014/main" id="{0136B221-A5E5-4B39-A863-3979270B7F08}"/>
              </a:ext>
            </a:extLst>
          </p:cNvPr>
          <p:cNvSpPr>
            <a:spLocks noGrp="1"/>
          </p:cNvSpPr>
          <p:nvPr>
            <p:ph type="sldNum" sz="quarter" idx="12"/>
          </p:nvPr>
        </p:nvSpPr>
        <p:spPr/>
        <p:txBody>
          <a:bodyPr/>
          <a:lstStyle/>
          <a:p>
            <a:fld id="{6B97D948-30E8-43F7-AE10-F6E2D9F2BBB1}" type="slidenum">
              <a:rPr lang="en-US" smtClean="0"/>
              <a:t>530</a:t>
            </a:fld>
            <a:endParaRPr lang="en-US"/>
          </a:p>
        </p:txBody>
      </p:sp>
    </p:spTree>
    <p:extLst>
      <p:ext uri="{BB962C8B-B14F-4D97-AF65-F5344CB8AC3E}">
        <p14:creationId xmlns:p14="http://schemas.microsoft.com/office/powerpoint/2010/main" val="2897507175"/>
      </p:ext>
    </p:extLst>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E87F92-BF81-4765-802A-4DEE7D6E8D2E}"/>
              </a:ext>
            </a:extLst>
          </p:cNvPr>
          <p:cNvSpPr>
            <a:spLocks noGrp="1"/>
          </p:cNvSpPr>
          <p:nvPr>
            <p:ph idx="1"/>
          </p:nvPr>
        </p:nvSpPr>
        <p:spPr>
          <a:xfrm>
            <a:off x="838200" y="630621"/>
            <a:ext cx="10515600" cy="5546342"/>
          </a:xfrm>
        </p:spPr>
        <p:txBody>
          <a:bodyPr/>
          <a:lstStyle/>
          <a:p>
            <a:pPr algn="just"/>
            <a:r>
              <a:rPr lang="en-US" dirty="0" err="1">
                <a:solidFill>
                  <a:srgbClr val="FF0000"/>
                </a:solidFill>
              </a:rPr>
              <a:t>sns.histplot</a:t>
            </a:r>
            <a:r>
              <a:rPr lang="en-US" dirty="0">
                <a:solidFill>
                  <a:srgbClr val="FF0000"/>
                </a:solidFill>
              </a:rPr>
              <a:t>(data = </a:t>
            </a:r>
            <a:r>
              <a:rPr lang="en-US" dirty="0" err="1">
                <a:solidFill>
                  <a:srgbClr val="FF0000"/>
                </a:solidFill>
              </a:rPr>
              <a:t>wb</a:t>
            </a:r>
            <a:r>
              <a:rPr lang="en-US" dirty="0">
                <a:solidFill>
                  <a:srgbClr val="FF0000"/>
                </a:solidFill>
              </a:rPr>
              <a:t>, x = "Gross national income per capita, Atlas method: $: 2016", hue="Hemisphere", stat="density")</a:t>
            </a:r>
          </a:p>
          <a:p>
            <a:pPr algn="just"/>
            <a:endParaRPr lang="en-US" dirty="0">
              <a:solidFill>
                <a:srgbClr val="FF0000"/>
              </a:solidFill>
            </a:endParaRPr>
          </a:p>
          <a:p>
            <a:pPr algn="just"/>
            <a:endParaRPr lang="en-US" dirty="0">
              <a:solidFill>
                <a:srgbClr val="FF0000"/>
              </a:solidFill>
            </a:endParaRPr>
          </a:p>
          <a:p>
            <a:pPr algn="just"/>
            <a:r>
              <a:rPr lang="en-US" dirty="0" err="1">
                <a:solidFill>
                  <a:srgbClr val="FF0000"/>
                </a:solidFill>
              </a:rPr>
              <a:t>plt.title</a:t>
            </a:r>
            <a:r>
              <a:rPr lang="en-US" dirty="0">
                <a:solidFill>
                  <a:srgbClr val="FF0000"/>
                </a:solidFill>
              </a:rPr>
              <a:t>("Distribution of gross national income per capita");</a:t>
            </a:r>
          </a:p>
        </p:txBody>
      </p:sp>
      <p:sp>
        <p:nvSpPr>
          <p:cNvPr id="4" name="Slide Number Placeholder 3">
            <a:extLst>
              <a:ext uri="{FF2B5EF4-FFF2-40B4-BE49-F238E27FC236}">
                <a16:creationId xmlns:a16="http://schemas.microsoft.com/office/drawing/2014/main" id="{5810103B-3250-4DDC-A8C0-AA32D3009839}"/>
              </a:ext>
            </a:extLst>
          </p:cNvPr>
          <p:cNvSpPr>
            <a:spLocks noGrp="1"/>
          </p:cNvSpPr>
          <p:nvPr>
            <p:ph type="sldNum" sz="quarter" idx="12"/>
          </p:nvPr>
        </p:nvSpPr>
        <p:spPr/>
        <p:txBody>
          <a:bodyPr/>
          <a:lstStyle/>
          <a:p>
            <a:fld id="{6B97D948-30E8-43F7-AE10-F6E2D9F2BBB1}" type="slidenum">
              <a:rPr lang="en-US" smtClean="0"/>
              <a:t>531</a:t>
            </a:fld>
            <a:endParaRPr lang="en-US"/>
          </a:p>
        </p:txBody>
      </p:sp>
    </p:spTree>
    <p:extLst>
      <p:ext uri="{BB962C8B-B14F-4D97-AF65-F5344CB8AC3E}">
        <p14:creationId xmlns:p14="http://schemas.microsoft.com/office/powerpoint/2010/main" val="2666209888"/>
      </p:ext>
    </p:extLst>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EFACF8-BF25-4E60-8B4F-4E591CEE76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5646" y="312168"/>
            <a:ext cx="8050961" cy="6038221"/>
          </a:xfrm>
        </p:spPr>
      </p:pic>
      <p:sp>
        <p:nvSpPr>
          <p:cNvPr id="3" name="Slide Number Placeholder 2">
            <a:extLst>
              <a:ext uri="{FF2B5EF4-FFF2-40B4-BE49-F238E27FC236}">
                <a16:creationId xmlns:a16="http://schemas.microsoft.com/office/drawing/2014/main" id="{DD3E0AEB-600B-41A0-A4F8-3CFD4FA85288}"/>
              </a:ext>
            </a:extLst>
          </p:cNvPr>
          <p:cNvSpPr>
            <a:spLocks noGrp="1"/>
          </p:cNvSpPr>
          <p:nvPr>
            <p:ph type="sldNum" sz="quarter" idx="12"/>
          </p:nvPr>
        </p:nvSpPr>
        <p:spPr/>
        <p:txBody>
          <a:bodyPr/>
          <a:lstStyle/>
          <a:p>
            <a:fld id="{6B97D948-30E8-43F7-AE10-F6E2D9F2BBB1}" type="slidenum">
              <a:rPr lang="en-US" smtClean="0"/>
              <a:t>532</a:t>
            </a:fld>
            <a:endParaRPr lang="en-US"/>
          </a:p>
        </p:txBody>
      </p:sp>
    </p:spTree>
    <p:extLst>
      <p:ext uri="{BB962C8B-B14F-4D97-AF65-F5344CB8AC3E}">
        <p14:creationId xmlns:p14="http://schemas.microsoft.com/office/powerpoint/2010/main" val="995698103"/>
      </p:ext>
    </p:extLst>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63819-0BAB-4816-A9DD-3F40859923F1}"/>
              </a:ext>
            </a:extLst>
          </p:cNvPr>
          <p:cNvSpPr>
            <a:spLocks noGrp="1"/>
          </p:cNvSpPr>
          <p:nvPr>
            <p:ph type="title"/>
          </p:nvPr>
        </p:nvSpPr>
        <p:spPr>
          <a:xfrm>
            <a:off x="838200" y="365125"/>
            <a:ext cx="10515600" cy="738461"/>
          </a:xfrm>
        </p:spPr>
        <p:txBody>
          <a:bodyPr/>
          <a:lstStyle/>
          <a:p>
            <a:r>
              <a:rPr lang="en-US" dirty="0"/>
              <a:t>Overlay histograms</a:t>
            </a:r>
          </a:p>
        </p:txBody>
      </p:sp>
      <p:sp>
        <p:nvSpPr>
          <p:cNvPr id="3" name="Content Placeholder 2">
            <a:extLst>
              <a:ext uri="{FF2B5EF4-FFF2-40B4-BE49-F238E27FC236}">
                <a16:creationId xmlns:a16="http://schemas.microsoft.com/office/drawing/2014/main" id="{A8DA66C9-399B-45FF-955B-B9624A190866}"/>
              </a:ext>
            </a:extLst>
          </p:cNvPr>
          <p:cNvSpPr>
            <a:spLocks noGrp="1"/>
          </p:cNvSpPr>
          <p:nvPr>
            <p:ph idx="1"/>
          </p:nvPr>
        </p:nvSpPr>
        <p:spPr>
          <a:xfrm>
            <a:off x="838200" y="1103586"/>
            <a:ext cx="10515600" cy="5073377"/>
          </a:xfrm>
        </p:spPr>
        <p:txBody>
          <a:bodyPr>
            <a:normAutofit lnSpcReduction="10000"/>
          </a:bodyPr>
          <a:lstStyle/>
          <a:p>
            <a:pPr algn="just"/>
            <a:r>
              <a:rPr lang="en-US" dirty="0"/>
              <a:t>You may have seen histograms drawn differently – perhaps with an overlaid density curve and normalized y-axis. </a:t>
            </a:r>
          </a:p>
          <a:p>
            <a:pPr algn="just"/>
            <a:endParaRPr lang="en-US" dirty="0"/>
          </a:p>
          <a:p>
            <a:pPr algn="just"/>
            <a:r>
              <a:rPr lang="en-US" dirty="0"/>
              <a:t>We can display both with a few tweaks to our code.</a:t>
            </a:r>
          </a:p>
          <a:p>
            <a:pPr algn="just"/>
            <a:endParaRPr lang="en-US" dirty="0"/>
          </a:p>
          <a:p>
            <a:pPr algn="just"/>
            <a:r>
              <a:rPr lang="en-US" dirty="0"/>
              <a:t>To visualize a density curve, we can set the </a:t>
            </a:r>
            <a:r>
              <a:rPr lang="en-US" dirty="0" err="1"/>
              <a:t>the</a:t>
            </a:r>
            <a:r>
              <a:rPr lang="en-US" dirty="0"/>
              <a:t> </a:t>
            </a:r>
            <a:r>
              <a:rPr lang="en-US" dirty="0" err="1"/>
              <a:t>kde</a:t>
            </a:r>
            <a:r>
              <a:rPr lang="en-US" dirty="0"/>
              <a:t> = True argument of the </a:t>
            </a:r>
            <a:r>
              <a:rPr lang="en-US" dirty="0" err="1"/>
              <a:t>sns.histplot</a:t>
            </a:r>
            <a:r>
              <a:rPr lang="en-US" dirty="0"/>
              <a:t>. </a:t>
            </a:r>
          </a:p>
          <a:p>
            <a:pPr algn="just"/>
            <a:endParaRPr lang="en-US" dirty="0"/>
          </a:p>
          <a:p>
            <a:pPr algn="just"/>
            <a:r>
              <a:rPr lang="en-US" dirty="0"/>
              <a:t>Setting the argument stat = 'density' normalizes our histogram and displays densities, instead of counts, on the y-axis. </a:t>
            </a:r>
          </a:p>
          <a:p>
            <a:pPr algn="just"/>
            <a:r>
              <a:rPr lang="en-US" dirty="0"/>
              <a:t>You’ll notice that the area under the density curve is 1.</a:t>
            </a:r>
          </a:p>
        </p:txBody>
      </p:sp>
      <p:sp>
        <p:nvSpPr>
          <p:cNvPr id="5" name="Slide Number Placeholder 4">
            <a:extLst>
              <a:ext uri="{FF2B5EF4-FFF2-40B4-BE49-F238E27FC236}">
                <a16:creationId xmlns:a16="http://schemas.microsoft.com/office/drawing/2014/main" id="{FE1C1D27-CB21-4BF9-92F8-E8FF4DCDFE34}"/>
              </a:ext>
            </a:extLst>
          </p:cNvPr>
          <p:cNvSpPr>
            <a:spLocks noGrp="1"/>
          </p:cNvSpPr>
          <p:nvPr>
            <p:ph type="sldNum" sz="quarter" idx="12"/>
          </p:nvPr>
        </p:nvSpPr>
        <p:spPr/>
        <p:txBody>
          <a:bodyPr/>
          <a:lstStyle/>
          <a:p>
            <a:fld id="{6B97D948-30E8-43F7-AE10-F6E2D9F2BBB1}" type="slidenum">
              <a:rPr lang="en-US" smtClean="0"/>
              <a:t>533</a:t>
            </a:fld>
            <a:endParaRPr lang="en-US"/>
          </a:p>
        </p:txBody>
      </p:sp>
    </p:spTree>
    <p:extLst>
      <p:ext uri="{BB962C8B-B14F-4D97-AF65-F5344CB8AC3E}">
        <p14:creationId xmlns:p14="http://schemas.microsoft.com/office/powerpoint/2010/main" val="2194647234"/>
      </p:ext>
    </p:extLst>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876DE-0528-4C21-8EAA-09DC553AAE0D}"/>
              </a:ext>
            </a:extLst>
          </p:cNvPr>
          <p:cNvSpPr>
            <a:spLocks noGrp="1"/>
          </p:cNvSpPr>
          <p:nvPr>
            <p:ph idx="1"/>
          </p:nvPr>
        </p:nvSpPr>
        <p:spPr/>
        <p:txBody>
          <a:bodyPr/>
          <a:lstStyle/>
          <a:p>
            <a:r>
              <a:rPr lang="en-US" dirty="0" err="1">
                <a:solidFill>
                  <a:srgbClr val="FF0000"/>
                </a:solidFill>
              </a:rPr>
              <a:t>sns.histplot</a:t>
            </a:r>
            <a:r>
              <a:rPr lang="en-US" dirty="0">
                <a:solidFill>
                  <a:srgbClr val="FF0000"/>
                </a:solidFill>
              </a:rPr>
              <a:t>(data = </a:t>
            </a:r>
            <a:r>
              <a:rPr lang="en-US" dirty="0" err="1">
                <a:solidFill>
                  <a:srgbClr val="FF0000"/>
                </a:solidFill>
              </a:rPr>
              <a:t>wb</a:t>
            </a:r>
            <a:r>
              <a:rPr lang="en-US" dirty="0">
                <a:solidFill>
                  <a:srgbClr val="FF0000"/>
                </a:solidFill>
              </a:rPr>
              <a:t>, x = "Gross national income per capita, Atlas method: $: 2016", </a:t>
            </a:r>
            <a:r>
              <a:rPr lang="en-US" dirty="0" err="1">
                <a:solidFill>
                  <a:srgbClr val="FF0000"/>
                </a:solidFill>
              </a:rPr>
              <a:t>kde</a:t>
            </a:r>
            <a:r>
              <a:rPr lang="en-US" dirty="0">
                <a:solidFill>
                  <a:srgbClr val="FF0000"/>
                </a:solidFill>
              </a:rPr>
              <a:t> = True, stat = 'density');</a:t>
            </a:r>
          </a:p>
        </p:txBody>
      </p:sp>
      <p:sp>
        <p:nvSpPr>
          <p:cNvPr id="4" name="Slide Number Placeholder 3">
            <a:extLst>
              <a:ext uri="{FF2B5EF4-FFF2-40B4-BE49-F238E27FC236}">
                <a16:creationId xmlns:a16="http://schemas.microsoft.com/office/drawing/2014/main" id="{B07E9635-6EAD-42EC-B86F-D3C89EC23F71}"/>
              </a:ext>
            </a:extLst>
          </p:cNvPr>
          <p:cNvSpPr>
            <a:spLocks noGrp="1"/>
          </p:cNvSpPr>
          <p:nvPr>
            <p:ph type="sldNum" sz="quarter" idx="12"/>
          </p:nvPr>
        </p:nvSpPr>
        <p:spPr/>
        <p:txBody>
          <a:bodyPr/>
          <a:lstStyle/>
          <a:p>
            <a:fld id="{6B97D948-30E8-43F7-AE10-F6E2D9F2BBB1}" type="slidenum">
              <a:rPr lang="en-US" smtClean="0"/>
              <a:t>534</a:t>
            </a:fld>
            <a:endParaRPr lang="en-US"/>
          </a:p>
        </p:txBody>
      </p:sp>
    </p:spTree>
    <p:extLst>
      <p:ext uri="{BB962C8B-B14F-4D97-AF65-F5344CB8AC3E}">
        <p14:creationId xmlns:p14="http://schemas.microsoft.com/office/powerpoint/2010/main" val="1316100948"/>
      </p:ext>
    </p:extLst>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2086625-FFD7-42D9-A1BF-4476DFC5EC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9430" y="517115"/>
            <a:ext cx="7609528" cy="5707146"/>
          </a:xfrm>
        </p:spPr>
      </p:pic>
      <p:sp>
        <p:nvSpPr>
          <p:cNvPr id="3" name="Slide Number Placeholder 2">
            <a:extLst>
              <a:ext uri="{FF2B5EF4-FFF2-40B4-BE49-F238E27FC236}">
                <a16:creationId xmlns:a16="http://schemas.microsoft.com/office/drawing/2014/main" id="{A03A9FDE-B600-43EE-9FF0-4479F2E68711}"/>
              </a:ext>
            </a:extLst>
          </p:cNvPr>
          <p:cNvSpPr>
            <a:spLocks noGrp="1"/>
          </p:cNvSpPr>
          <p:nvPr>
            <p:ph type="sldNum" sz="quarter" idx="12"/>
          </p:nvPr>
        </p:nvSpPr>
        <p:spPr/>
        <p:txBody>
          <a:bodyPr/>
          <a:lstStyle/>
          <a:p>
            <a:fld id="{6B97D948-30E8-43F7-AE10-F6E2D9F2BBB1}" type="slidenum">
              <a:rPr lang="en-US" smtClean="0"/>
              <a:t>535</a:t>
            </a:fld>
            <a:endParaRPr lang="en-US"/>
          </a:p>
        </p:txBody>
      </p:sp>
    </p:spTree>
    <p:extLst>
      <p:ext uri="{BB962C8B-B14F-4D97-AF65-F5344CB8AC3E}">
        <p14:creationId xmlns:p14="http://schemas.microsoft.com/office/powerpoint/2010/main" val="2410227590"/>
      </p:ext>
    </p:extLst>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B9C39-6560-4297-822A-EE68CB9D980B}"/>
              </a:ext>
            </a:extLst>
          </p:cNvPr>
          <p:cNvSpPr>
            <a:spLocks noGrp="1"/>
          </p:cNvSpPr>
          <p:nvPr>
            <p:ph type="title"/>
          </p:nvPr>
        </p:nvSpPr>
        <p:spPr>
          <a:xfrm>
            <a:off x="838200" y="365126"/>
            <a:ext cx="10515600" cy="706930"/>
          </a:xfrm>
        </p:spPr>
        <p:txBody>
          <a:bodyPr/>
          <a:lstStyle/>
          <a:p>
            <a:r>
              <a:rPr lang="en-US" dirty="0"/>
              <a:t>Interpreting Histograms</a:t>
            </a:r>
          </a:p>
        </p:txBody>
      </p:sp>
      <p:sp>
        <p:nvSpPr>
          <p:cNvPr id="3" name="Content Placeholder 2">
            <a:extLst>
              <a:ext uri="{FF2B5EF4-FFF2-40B4-BE49-F238E27FC236}">
                <a16:creationId xmlns:a16="http://schemas.microsoft.com/office/drawing/2014/main" id="{017D9003-7592-4781-A2B0-3D455934CC71}"/>
              </a:ext>
            </a:extLst>
          </p:cNvPr>
          <p:cNvSpPr>
            <a:spLocks noGrp="1"/>
          </p:cNvSpPr>
          <p:nvPr>
            <p:ph idx="1"/>
          </p:nvPr>
        </p:nvSpPr>
        <p:spPr>
          <a:xfrm>
            <a:off x="838200" y="1072056"/>
            <a:ext cx="10515600" cy="5104907"/>
          </a:xfrm>
        </p:spPr>
        <p:txBody>
          <a:bodyPr>
            <a:normAutofit fontScale="92500"/>
          </a:bodyPr>
          <a:lstStyle/>
          <a:p>
            <a:pPr algn="just"/>
            <a:r>
              <a:rPr lang="en-US" dirty="0"/>
              <a:t>Histograms allow us to assess a distribution by its shape. </a:t>
            </a:r>
          </a:p>
          <a:p>
            <a:pPr algn="just"/>
            <a:endParaRPr lang="en-US" dirty="0"/>
          </a:p>
          <a:p>
            <a:pPr algn="just"/>
            <a:r>
              <a:rPr lang="en-US" dirty="0"/>
              <a:t>In doing so, there are a few features that we typically consider.</a:t>
            </a:r>
          </a:p>
          <a:p>
            <a:pPr algn="just"/>
            <a:endParaRPr lang="en-US" dirty="0"/>
          </a:p>
          <a:p>
            <a:pPr algn="just"/>
            <a:r>
              <a:rPr lang="en-US" dirty="0"/>
              <a:t>The </a:t>
            </a:r>
            <a:r>
              <a:rPr lang="en-US" dirty="0">
                <a:solidFill>
                  <a:srgbClr val="FF0000"/>
                </a:solidFill>
              </a:rPr>
              <a:t>skew</a:t>
            </a:r>
            <a:r>
              <a:rPr lang="en-US" dirty="0"/>
              <a:t> of a histogram describes the direction in which its “tail” extends. </a:t>
            </a:r>
          </a:p>
          <a:p>
            <a:pPr algn="just"/>
            <a:endParaRPr lang="en-US" dirty="0"/>
          </a:p>
          <a:p>
            <a:pPr algn="just"/>
            <a:r>
              <a:rPr lang="en-US" dirty="0"/>
              <a:t>If a distribution has a long right tail (such as gross national income per capita), it is </a:t>
            </a:r>
            <a:r>
              <a:rPr lang="en-US" dirty="0">
                <a:solidFill>
                  <a:srgbClr val="FF0000"/>
                </a:solidFill>
              </a:rPr>
              <a:t>skewed right</a:t>
            </a:r>
            <a:r>
              <a:rPr lang="en-US" dirty="0"/>
              <a:t>. </a:t>
            </a:r>
          </a:p>
          <a:p>
            <a:pPr algn="just"/>
            <a:endParaRPr lang="en-US" dirty="0"/>
          </a:p>
          <a:p>
            <a:pPr algn="just"/>
            <a:r>
              <a:rPr lang="en-US" dirty="0"/>
              <a:t>In a right-skewed distribution, the few large outliers “pull” the </a:t>
            </a:r>
            <a:r>
              <a:rPr lang="en-US" dirty="0">
                <a:solidFill>
                  <a:srgbClr val="FF0000"/>
                </a:solidFill>
              </a:rPr>
              <a:t>mean to the right of the median</a:t>
            </a:r>
            <a:r>
              <a:rPr lang="en-US" dirty="0"/>
              <a:t>.</a:t>
            </a:r>
          </a:p>
          <a:p>
            <a:pPr algn="just"/>
            <a:endParaRPr lang="en-US" dirty="0"/>
          </a:p>
        </p:txBody>
      </p:sp>
      <p:sp>
        <p:nvSpPr>
          <p:cNvPr id="5" name="Slide Number Placeholder 4">
            <a:extLst>
              <a:ext uri="{FF2B5EF4-FFF2-40B4-BE49-F238E27FC236}">
                <a16:creationId xmlns:a16="http://schemas.microsoft.com/office/drawing/2014/main" id="{5F7CBFA3-46E2-4999-8027-1CA1CEBBD54D}"/>
              </a:ext>
            </a:extLst>
          </p:cNvPr>
          <p:cNvSpPr>
            <a:spLocks noGrp="1"/>
          </p:cNvSpPr>
          <p:nvPr>
            <p:ph type="sldNum" sz="quarter" idx="12"/>
          </p:nvPr>
        </p:nvSpPr>
        <p:spPr/>
        <p:txBody>
          <a:bodyPr/>
          <a:lstStyle/>
          <a:p>
            <a:fld id="{6B97D948-30E8-43F7-AE10-F6E2D9F2BBB1}" type="slidenum">
              <a:rPr lang="en-US" smtClean="0"/>
              <a:t>536</a:t>
            </a:fld>
            <a:endParaRPr lang="en-US"/>
          </a:p>
        </p:txBody>
      </p:sp>
    </p:spTree>
    <p:extLst>
      <p:ext uri="{BB962C8B-B14F-4D97-AF65-F5344CB8AC3E}">
        <p14:creationId xmlns:p14="http://schemas.microsoft.com/office/powerpoint/2010/main" val="3978430343"/>
      </p:ext>
    </p:extLst>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055EA8-CC0D-4913-932B-0C7359D5562C}"/>
              </a:ext>
            </a:extLst>
          </p:cNvPr>
          <p:cNvSpPr>
            <a:spLocks noGrp="1"/>
          </p:cNvSpPr>
          <p:nvPr>
            <p:ph idx="1"/>
          </p:nvPr>
        </p:nvSpPr>
        <p:spPr>
          <a:xfrm>
            <a:off x="838200" y="536028"/>
            <a:ext cx="10515600" cy="5640935"/>
          </a:xfrm>
        </p:spPr>
        <p:txBody>
          <a:bodyPr>
            <a:normAutofit lnSpcReduction="10000"/>
          </a:bodyPr>
          <a:lstStyle/>
          <a:p>
            <a:pPr algn="just"/>
            <a:r>
              <a:rPr lang="en-US" dirty="0"/>
              <a:t>If a distribution has a long left tail (such as water source access), it is skewed left. </a:t>
            </a:r>
          </a:p>
          <a:p>
            <a:pPr algn="just"/>
            <a:endParaRPr lang="en-US" dirty="0"/>
          </a:p>
          <a:p>
            <a:pPr algn="just"/>
            <a:r>
              <a:rPr lang="en-US" dirty="0"/>
              <a:t>In a left-skewed distribution, the few small outliers “pull” the mean to the left of the median.</a:t>
            </a:r>
          </a:p>
          <a:p>
            <a:pPr algn="just"/>
            <a:endParaRPr lang="en-US" dirty="0"/>
          </a:p>
          <a:p>
            <a:pPr algn="just"/>
            <a:r>
              <a:rPr lang="en-US" dirty="0"/>
              <a:t>In the case where a distribution has equal-sized right and left tails, it is symmetric. </a:t>
            </a:r>
          </a:p>
          <a:p>
            <a:pPr algn="just"/>
            <a:endParaRPr lang="en-US" dirty="0"/>
          </a:p>
          <a:p>
            <a:pPr algn="just"/>
            <a:r>
              <a:rPr lang="en-US" dirty="0"/>
              <a:t>The mean is approximately equal to the median. </a:t>
            </a:r>
          </a:p>
          <a:p>
            <a:pPr algn="just"/>
            <a:endParaRPr lang="en-US" dirty="0"/>
          </a:p>
          <a:p>
            <a:pPr algn="just"/>
            <a:r>
              <a:rPr lang="en-US" dirty="0"/>
              <a:t>Think of mean as the balancing point of the distribution</a:t>
            </a:r>
          </a:p>
          <a:p>
            <a:pPr algn="just"/>
            <a:endParaRPr lang="en-US" dirty="0"/>
          </a:p>
        </p:txBody>
      </p:sp>
      <p:sp>
        <p:nvSpPr>
          <p:cNvPr id="4" name="Slide Number Placeholder 3">
            <a:extLst>
              <a:ext uri="{FF2B5EF4-FFF2-40B4-BE49-F238E27FC236}">
                <a16:creationId xmlns:a16="http://schemas.microsoft.com/office/drawing/2014/main" id="{EE79B3B2-06D4-4220-85BC-F2CFA8510A70}"/>
              </a:ext>
            </a:extLst>
          </p:cNvPr>
          <p:cNvSpPr>
            <a:spLocks noGrp="1"/>
          </p:cNvSpPr>
          <p:nvPr>
            <p:ph type="sldNum" sz="quarter" idx="12"/>
          </p:nvPr>
        </p:nvSpPr>
        <p:spPr/>
        <p:txBody>
          <a:bodyPr/>
          <a:lstStyle/>
          <a:p>
            <a:fld id="{6B97D948-30E8-43F7-AE10-F6E2D9F2BBB1}" type="slidenum">
              <a:rPr lang="en-US" smtClean="0"/>
              <a:t>537</a:t>
            </a:fld>
            <a:endParaRPr lang="en-US"/>
          </a:p>
        </p:txBody>
      </p:sp>
    </p:spTree>
    <p:extLst>
      <p:ext uri="{BB962C8B-B14F-4D97-AF65-F5344CB8AC3E}">
        <p14:creationId xmlns:p14="http://schemas.microsoft.com/office/powerpoint/2010/main" val="4052401372"/>
      </p:ext>
    </p:extLst>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10B6FA-4639-4B3B-AC9F-A7C62C85FEF5}"/>
              </a:ext>
            </a:extLst>
          </p:cNvPr>
          <p:cNvSpPr>
            <a:spLocks noGrp="1"/>
          </p:cNvSpPr>
          <p:nvPr>
            <p:ph idx="1"/>
          </p:nvPr>
        </p:nvSpPr>
        <p:spPr>
          <a:xfrm>
            <a:off x="838200" y="346841"/>
            <a:ext cx="10515600" cy="5830122"/>
          </a:xfrm>
        </p:spPr>
        <p:txBody>
          <a:bodyPr>
            <a:normAutofit/>
          </a:bodyPr>
          <a:lstStyle/>
          <a:p>
            <a:r>
              <a:rPr lang="en-US" dirty="0">
                <a:solidFill>
                  <a:srgbClr val="FF0000"/>
                </a:solidFill>
              </a:rPr>
              <a:t> import </a:t>
            </a:r>
            <a:r>
              <a:rPr lang="en-US" dirty="0" err="1">
                <a:solidFill>
                  <a:srgbClr val="FF0000"/>
                </a:solidFill>
              </a:rPr>
              <a:t>numpy</a:t>
            </a:r>
            <a:r>
              <a:rPr lang="en-US" dirty="0">
                <a:solidFill>
                  <a:srgbClr val="FF0000"/>
                </a:solidFill>
              </a:rPr>
              <a:t> as np</a:t>
            </a:r>
          </a:p>
          <a:p>
            <a:r>
              <a:rPr lang="en-US" dirty="0">
                <a:solidFill>
                  <a:srgbClr val="FF0000"/>
                </a:solidFill>
              </a:rPr>
              <a:t> </a:t>
            </a:r>
            <a:r>
              <a:rPr lang="en-US" dirty="0" err="1">
                <a:solidFill>
                  <a:srgbClr val="FF0000"/>
                </a:solidFill>
              </a:rPr>
              <a:t>sns.histplot</a:t>
            </a:r>
            <a:r>
              <a:rPr lang="en-US" dirty="0">
                <a:solidFill>
                  <a:srgbClr val="FF0000"/>
                </a:solidFill>
              </a:rPr>
              <a:t>(data = </a:t>
            </a:r>
            <a:r>
              <a:rPr lang="en-US" dirty="0" err="1">
                <a:solidFill>
                  <a:srgbClr val="FF0000"/>
                </a:solidFill>
              </a:rPr>
              <a:t>wb</a:t>
            </a:r>
            <a:r>
              <a:rPr lang="en-US" dirty="0">
                <a:solidFill>
                  <a:srgbClr val="FF0000"/>
                </a:solidFill>
              </a:rPr>
              <a:t>, x = "Gross national income per capita, Atlas method: $: 2016", stat = "density");</a:t>
            </a:r>
          </a:p>
          <a:p>
            <a:endParaRPr lang="en-US" dirty="0">
              <a:solidFill>
                <a:srgbClr val="FF0000"/>
              </a:solidFill>
            </a:endParaRPr>
          </a:p>
          <a:p>
            <a:r>
              <a:rPr lang="en-US" dirty="0" err="1">
                <a:solidFill>
                  <a:srgbClr val="FF0000"/>
                </a:solidFill>
              </a:rPr>
              <a:t>df_mean</a:t>
            </a:r>
            <a:r>
              <a:rPr lang="en-US" dirty="0">
                <a:solidFill>
                  <a:srgbClr val="FF0000"/>
                </a:solidFill>
              </a:rPr>
              <a:t> = </a:t>
            </a:r>
            <a:r>
              <a:rPr lang="en-US" dirty="0" err="1">
                <a:solidFill>
                  <a:srgbClr val="FF0000"/>
                </a:solidFill>
              </a:rPr>
              <a:t>np.mean</a:t>
            </a:r>
            <a:r>
              <a:rPr lang="en-US" dirty="0">
                <a:solidFill>
                  <a:srgbClr val="FF0000"/>
                </a:solidFill>
              </a:rPr>
              <a:t>(</a:t>
            </a:r>
            <a:r>
              <a:rPr lang="en-US" dirty="0" err="1">
                <a:solidFill>
                  <a:srgbClr val="FF0000"/>
                </a:solidFill>
              </a:rPr>
              <a:t>wb</a:t>
            </a:r>
            <a:r>
              <a:rPr lang="en-US" dirty="0">
                <a:solidFill>
                  <a:srgbClr val="FF0000"/>
                </a:solidFill>
              </a:rPr>
              <a:t>["Gross national income per capita, Atlas method: $: 2016"])</a:t>
            </a:r>
          </a:p>
          <a:p>
            <a:r>
              <a:rPr lang="en-US" dirty="0" err="1">
                <a:solidFill>
                  <a:srgbClr val="FF0000"/>
                </a:solidFill>
              </a:rPr>
              <a:t>df_median</a:t>
            </a:r>
            <a:r>
              <a:rPr lang="en-US" dirty="0">
                <a:solidFill>
                  <a:srgbClr val="FF0000"/>
                </a:solidFill>
              </a:rPr>
              <a:t> = </a:t>
            </a:r>
            <a:r>
              <a:rPr lang="en-US" dirty="0" err="1">
                <a:solidFill>
                  <a:srgbClr val="FF0000"/>
                </a:solidFill>
              </a:rPr>
              <a:t>np.nanmedian</a:t>
            </a:r>
            <a:r>
              <a:rPr lang="en-US" dirty="0">
                <a:solidFill>
                  <a:srgbClr val="FF0000"/>
                </a:solidFill>
              </a:rPr>
              <a:t>(</a:t>
            </a:r>
            <a:r>
              <a:rPr lang="en-US" dirty="0" err="1">
                <a:solidFill>
                  <a:srgbClr val="FF0000"/>
                </a:solidFill>
              </a:rPr>
              <a:t>wb</a:t>
            </a:r>
            <a:r>
              <a:rPr lang="en-US" dirty="0">
                <a:solidFill>
                  <a:srgbClr val="FF0000"/>
                </a:solidFill>
              </a:rPr>
              <a:t>["Gross national income per capita, Atlas method: $: 2016"])</a:t>
            </a:r>
          </a:p>
          <a:p>
            <a:r>
              <a:rPr lang="en-US" dirty="0">
                <a:solidFill>
                  <a:srgbClr val="FF0000"/>
                </a:solidFill>
              </a:rPr>
              <a:t>print(</a:t>
            </a:r>
            <a:r>
              <a:rPr lang="en-US" dirty="0" err="1">
                <a:solidFill>
                  <a:srgbClr val="FF0000"/>
                </a:solidFill>
              </a:rPr>
              <a:t>f"The</a:t>
            </a:r>
            <a:r>
              <a:rPr lang="en-US" dirty="0">
                <a:solidFill>
                  <a:srgbClr val="FF0000"/>
                </a:solidFill>
              </a:rPr>
              <a:t> mean, {</a:t>
            </a:r>
            <a:r>
              <a:rPr lang="en-US" dirty="0" err="1">
                <a:solidFill>
                  <a:srgbClr val="FF0000"/>
                </a:solidFill>
              </a:rPr>
              <a:t>df_mean</a:t>
            </a:r>
            <a:r>
              <a:rPr lang="en-US" dirty="0">
                <a:solidFill>
                  <a:srgbClr val="FF0000"/>
                </a:solidFill>
              </a:rPr>
              <a:t>}, is right of the median, {</a:t>
            </a:r>
            <a:r>
              <a:rPr lang="en-US" dirty="0" err="1">
                <a:solidFill>
                  <a:srgbClr val="FF0000"/>
                </a:solidFill>
              </a:rPr>
              <a:t>df_median</a:t>
            </a:r>
            <a:r>
              <a:rPr lang="en-US" dirty="0">
                <a:solidFill>
                  <a:srgbClr val="FF0000"/>
                </a:solidFill>
              </a:rPr>
              <a:t>}")</a:t>
            </a:r>
          </a:p>
          <a:p>
            <a:endParaRPr lang="en-US" dirty="0"/>
          </a:p>
          <a:p>
            <a:r>
              <a:rPr lang="en-US" dirty="0"/>
              <a:t>The mean, 12963.312101910828, is right of the median, 5280.0</a:t>
            </a:r>
          </a:p>
        </p:txBody>
      </p:sp>
      <p:sp>
        <p:nvSpPr>
          <p:cNvPr id="4" name="Slide Number Placeholder 3">
            <a:extLst>
              <a:ext uri="{FF2B5EF4-FFF2-40B4-BE49-F238E27FC236}">
                <a16:creationId xmlns:a16="http://schemas.microsoft.com/office/drawing/2014/main" id="{CE97AD28-C5B9-4282-8EEA-6AA5954A751C}"/>
              </a:ext>
            </a:extLst>
          </p:cNvPr>
          <p:cNvSpPr>
            <a:spLocks noGrp="1"/>
          </p:cNvSpPr>
          <p:nvPr>
            <p:ph type="sldNum" sz="quarter" idx="12"/>
          </p:nvPr>
        </p:nvSpPr>
        <p:spPr/>
        <p:txBody>
          <a:bodyPr/>
          <a:lstStyle/>
          <a:p>
            <a:fld id="{6B97D948-30E8-43F7-AE10-F6E2D9F2BBB1}" type="slidenum">
              <a:rPr lang="en-US" smtClean="0"/>
              <a:t>538</a:t>
            </a:fld>
            <a:endParaRPr lang="en-US"/>
          </a:p>
        </p:txBody>
      </p:sp>
    </p:spTree>
    <p:extLst>
      <p:ext uri="{BB962C8B-B14F-4D97-AF65-F5344CB8AC3E}">
        <p14:creationId xmlns:p14="http://schemas.microsoft.com/office/powerpoint/2010/main" val="1249012820"/>
      </p:ext>
    </p:extLst>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CADA69-DD5E-4484-9160-9ED9513D85D9}"/>
              </a:ext>
            </a:extLst>
          </p:cNvPr>
          <p:cNvSpPr>
            <a:spLocks noGrp="1"/>
          </p:cNvSpPr>
          <p:nvPr>
            <p:ph idx="1"/>
          </p:nvPr>
        </p:nvSpPr>
        <p:spPr>
          <a:xfrm>
            <a:off x="838200" y="457200"/>
            <a:ext cx="10515600" cy="5719763"/>
          </a:xfrm>
        </p:spPr>
        <p:txBody>
          <a:bodyPr>
            <a:normAutofit/>
          </a:bodyPr>
          <a:lstStyle/>
          <a:p>
            <a:pPr algn="just"/>
            <a:r>
              <a:rPr lang="en-US" dirty="0" err="1">
                <a:solidFill>
                  <a:srgbClr val="FF0000"/>
                </a:solidFill>
              </a:rPr>
              <a:t>sns.histplot</a:t>
            </a:r>
            <a:r>
              <a:rPr lang="en-US" dirty="0">
                <a:solidFill>
                  <a:srgbClr val="FF0000"/>
                </a:solidFill>
              </a:rPr>
              <a:t>(data = </a:t>
            </a:r>
            <a:r>
              <a:rPr lang="en-US" dirty="0" err="1">
                <a:solidFill>
                  <a:srgbClr val="FF0000"/>
                </a:solidFill>
              </a:rPr>
              <a:t>wb</a:t>
            </a:r>
            <a:r>
              <a:rPr lang="en-US" dirty="0">
                <a:solidFill>
                  <a:srgbClr val="FF0000"/>
                </a:solidFill>
              </a:rPr>
              <a:t>, x = 'Access to an improved water source: % of population: 2015', stat = "density");</a:t>
            </a:r>
          </a:p>
          <a:p>
            <a:pPr algn="just"/>
            <a:r>
              <a:rPr lang="en-US" dirty="0">
                <a:solidFill>
                  <a:srgbClr val="FF0000"/>
                </a:solidFill>
              </a:rPr>
              <a:t> </a:t>
            </a:r>
          </a:p>
          <a:p>
            <a:pPr algn="just"/>
            <a:r>
              <a:rPr lang="en-US" dirty="0">
                <a:solidFill>
                  <a:srgbClr val="FF0000"/>
                </a:solidFill>
              </a:rPr>
              <a:t> </a:t>
            </a:r>
            <a:r>
              <a:rPr lang="en-US" dirty="0" err="1">
                <a:solidFill>
                  <a:srgbClr val="FF0000"/>
                </a:solidFill>
              </a:rPr>
              <a:t>df_mean</a:t>
            </a:r>
            <a:r>
              <a:rPr lang="en-US" dirty="0">
                <a:solidFill>
                  <a:srgbClr val="FF0000"/>
                </a:solidFill>
              </a:rPr>
              <a:t> = </a:t>
            </a:r>
            <a:r>
              <a:rPr lang="en-US" dirty="0" err="1">
                <a:solidFill>
                  <a:srgbClr val="FF0000"/>
                </a:solidFill>
              </a:rPr>
              <a:t>np.mean</a:t>
            </a:r>
            <a:r>
              <a:rPr lang="en-US" dirty="0">
                <a:solidFill>
                  <a:srgbClr val="FF0000"/>
                </a:solidFill>
              </a:rPr>
              <a:t>(</a:t>
            </a:r>
            <a:r>
              <a:rPr lang="en-US" dirty="0" err="1">
                <a:solidFill>
                  <a:srgbClr val="FF0000"/>
                </a:solidFill>
              </a:rPr>
              <a:t>wb</a:t>
            </a:r>
            <a:r>
              <a:rPr lang="en-US" dirty="0">
                <a:solidFill>
                  <a:srgbClr val="FF0000"/>
                </a:solidFill>
              </a:rPr>
              <a:t>['Access to an improved water source: % of population: 2015’])</a:t>
            </a:r>
          </a:p>
          <a:p>
            <a:pPr algn="just"/>
            <a:endParaRPr lang="en-US" dirty="0">
              <a:solidFill>
                <a:srgbClr val="FF0000"/>
              </a:solidFill>
            </a:endParaRPr>
          </a:p>
          <a:p>
            <a:pPr algn="just"/>
            <a:r>
              <a:rPr lang="en-US" dirty="0" err="1">
                <a:solidFill>
                  <a:srgbClr val="FF0000"/>
                </a:solidFill>
              </a:rPr>
              <a:t>df_median</a:t>
            </a:r>
            <a:r>
              <a:rPr lang="en-US" dirty="0">
                <a:solidFill>
                  <a:srgbClr val="FF0000"/>
                </a:solidFill>
              </a:rPr>
              <a:t> = </a:t>
            </a:r>
            <a:r>
              <a:rPr lang="en-US" dirty="0" err="1">
                <a:solidFill>
                  <a:srgbClr val="FF0000"/>
                </a:solidFill>
              </a:rPr>
              <a:t>np.nanmedian</a:t>
            </a:r>
            <a:r>
              <a:rPr lang="en-US" dirty="0">
                <a:solidFill>
                  <a:srgbClr val="FF0000"/>
                </a:solidFill>
              </a:rPr>
              <a:t>(</a:t>
            </a:r>
            <a:r>
              <a:rPr lang="en-US" dirty="0" err="1">
                <a:solidFill>
                  <a:srgbClr val="FF0000"/>
                </a:solidFill>
              </a:rPr>
              <a:t>wb</a:t>
            </a:r>
            <a:r>
              <a:rPr lang="en-US" dirty="0">
                <a:solidFill>
                  <a:srgbClr val="FF0000"/>
                </a:solidFill>
              </a:rPr>
              <a:t>['Access to an improved water source: % of population: 2015'])</a:t>
            </a:r>
          </a:p>
          <a:p>
            <a:pPr algn="just"/>
            <a:endParaRPr lang="en-US" dirty="0">
              <a:solidFill>
                <a:srgbClr val="FF0000"/>
              </a:solidFill>
            </a:endParaRPr>
          </a:p>
          <a:p>
            <a:pPr algn="just"/>
            <a:r>
              <a:rPr lang="en-US" dirty="0">
                <a:solidFill>
                  <a:srgbClr val="FF0000"/>
                </a:solidFill>
              </a:rPr>
              <a:t>print(</a:t>
            </a:r>
            <a:r>
              <a:rPr lang="en-US" dirty="0" err="1">
                <a:solidFill>
                  <a:srgbClr val="FF0000"/>
                </a:solidFill>
              </a:rPr>
              <a:t>f"The</a:t>
            </a:r>
            <a:r>
              <a:rPr lang="en-US" dirty="0">
                <a:solidFill>
                  <a:srgbClr val="FF0000"/>
                </a:solidFill>
              </a:rPr>
              <a:t> mean, {</a:t>
            </a:r>
            <a:r>
              <a:rPr lang="en-US" dirty="0" err="1">
                <a:solidFill>
                  <a:srgbClr val="FF0000"/>
                </a:solidFill>
              </a:rPr>
              <a:t>df_mean</a:t>
            </a:r>
            <a:r>
              <a:rPr lang="en-US" dirty="0">
                <a:solidFill>
                  <a:srgbClr val="FF0000"/>
                </a:solidFill>
              </a:rPr>
              <a:t>}, is left of the median, {</a:t>
            </a:r>
            <a:r>
              <a:rPr lang="en-US" dirty="0" err="1">
                <a:solidFill>
                  <a:srgbClr val="FF0000"/>
                </a:solidFill>
              </a:rPr>
              <a:t>df_median</a:t>
            </a:r>
            <a:r>
              <a:rPr lang="en-US" dirty="0">
                <a:solidFill>
                  <a:srgbClr val="FF0000"/>
                </a:solidFill>
              </a:rPr>
              <a:t>}")</a:t>
            </a:r>
          </a:p>
        </p:txBody>
      </p:sp>
      <p:sp>
        <p:nvSpPr>
          <p:cNvPr id="4" name="Slide Number Placeholder 3">
            <a:extLst>
              <a:ext uri="{FF2B5EF4-FFF2-40B4-BE49-F238E27FC236}">
                <a16:creationId xmlns:a16="http://schemas.microsoft.com/office/drawing/2014/main" id="{C492D288-7E10-462B-824F-1E59E1917B4F}"/>
              </a:ext>
            </a:extLst>
          </p:cNvPr>
          <p:cNvSpPr>
            <a:spLocks noGrp="1"/>
          </p:cNvSpPr>
          <p:nvPr>
            <p:ph type="sldNum" sz="quarter" idx="12"/>
          </p:nvPr>
        </p:nvSpPr>
        <p:spPr/>
        <p:txBody>
          <a:bodyPr/>
          <a:lstStyle/>
          <a:p>
            <a:fld id="{6B97D948-30E8-43F7-AE10-F6E2D9F2BBB1}" type="slidenum">
              <a:rPr lang="en-US" smtClean="0"/>
              <a:t>539</a:t>
            </a:fld>
            <a:endParaRPr lang="en-US"/>
          </a:p>
        </p:txBody>
      </p:sp>
    </p:spTree>
    <p:extLst>
      <p:ext uri="{BB962C8B-B14F-4D97-AF65-F5344CB8AC3E}">
        <p14:creationId xmlns:p14="http://schemas.microsoft.com/office/powerpoint/2010/main" val="127040484"/>
      </p:ext>
    </p:extLst>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62BD681-7848-4F67-A6C0-8DA8A1D08E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3110" y="583323"/>
            <a:ext cx="7458185" cy="5593639"/>
          </a:xfrm>
        </p:spPr>
      </p:pic>
      <p:sp>
        <p:nvSpPr>
          <p:cNvPr id="3" name="Slide Number Placeholder 2">
            <a:extLst>
              <a:ext uri="{FF2B5EF4-FFF2-40B4-BE49-F238E27FC236}">
                <a16:creationId xmlns:a16="http://schemas.microsoft.com/office/drawing/2014/main" id="{AE033683-A6D1-431A-949B-51513517D988}"/>
              </a:ext>
            </a:extLst>
          </p:cNvPr>
          <p:cNvSpPr>
            <a:spLocks noGrp="1"/>
          </p:cNvSpPr>
          <p:nvPr>
            <p:ph type="sldNum" sz="quarter" idx="12"/>
          </p:nvPr>
        </p:nvSpPr>
        <p:spPr/>
        <p:txBody>
          <a:bodyPr/>
          <a:lstStyle/>
          <a:p>
            <a:fld id="{6B97D948-30E8-43F7-AE10-F6E2D9F2BBB1}" type="slidenum">
              <a:rPr lang="en-US" smtClean="0"/>
              <a:t>540</a:t>
            </a:fld>
            <a:endParaRPr lang="en-US"/>
          </a:p>
        </p:txBody>
      </p:sp>
    </p:spTree>
    <p:extLst>
      <p:ext uri="{BB962C8B-B14F-4D97-AF65-F5344CB8AC3E}">
        <p14:creationId xmlns:p14="http://schemas.microsoft.com/office/powerpoint/2010/main" val="1130248257"/>
      </p:ext>
    </p:extLst>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D780EA-3581-4C6B-8BB1-57875FC8F40D}"/>
              </a:ext>
            </a:extLst>
          </p:cNvPr>
          <p:cNvSpPr>
            <a:spLocks noGrp="1"/>
          </p:cNvSpPr>
          <p:nvPr>
            <p:ph idx="1"/>
          </p:nvPr>
        </p:nvSpPr>
        <p:spPr>
          <a:xfrm>
            <a:off x="838200" y="614855"/>
            <a:ext cx="10515600" cy="5562108"/>
          </a:xfrm>
        </p:spPr>
        <p:txBody>
          <a:bodyPr>
            <a:normAutofit lnSpcReduction="10000"/>
          </a:bodyPr>
          <a:lstStyle/>
          <a:p>
            <a:pPr algn="just"/>
            <a:r>
              <a:rPr lang="en-US" dirty="0"/>
              <a:t>A </a:t>
            </a:r>
            <a:r>
              <a:rPr lang="en-US" dirty="0">
                <a:solidFill>
                  <a:srgbClr val="FF0000"/>
                </a:solidFill>
              </a:rPr>
              <a:t>mode</a:t>
            </a:r>
            <a:r>
              <a:rPr lang="en-US" dirty="0"/>
              <a:t> of a distribution is a local or global maximum. </a:t>
            </a:r>
          </a:p>
          <a:p>
            <a:pPr algn="just"/>
            <a:endParaRPr lang="en-US" dirty="0"/>
          </a:p>
          <a:p>
            <a:pPr algn="just"/>
            <a:r>
              <a:rPr lang="en-US" dirty="0"/>
              <a:t>A distribution with a single clear maximum is unimodal, distributions with two modes are bimodal, and those with 3 or more are multimodal.</a:t>
            </a:r>
          </a:p>
          <a:p>
            <a:pPr algn="just"/>
            <a:endParaRPr lang="en-US" dirty="0"/>
          </a:p>
          <a:p>
            <a:pPr algn="just"/>
            <a:r>
              <a:rPr lang="en-US" dirty="0"/>
              <a:t>You may need to distinguish between modes and random noise. </a:t>
            </a:r>
          </a:p>
          <a:p>
            <a:pPr algn="just"/>
            <a:endParaRPr lang="en-US" dirty="0"/>
          </a:p>
          <a:p>
            <a:pPr algn="just"/>
            <a:r>
              <a:rPr lang="en-US" dirty="0"/>
              <a:t>Often, it is difficult to discern noise from true modes when working with histograms – a histogram may contain too much detail to be able to identify general trends across the distribution. </a:t>
            </a:r>
          </a:p>
          <a:p>
            <a:pPr algn="just"/>
            <a:r>
              <a:rPr lang="en-US" dirty="0"/>
              <a:t>One solution to this issue, is to construct a kernel density estimate.</a:t>
            </a:r>
          </a:p>
        </p:txBody>
      </p:sp>
      <p:sp>
        <p:nvSpPr>
          <p:cNvPr id="4" name="Slide Number Placeholder 3">
            <a:extLst>
              <a:ext uri="{FF2B5EF4-FFF2-40B4-BE49-F238E27FC236}">
                <a16:creationId xmlns:a16="http://schemas.microsoft.com/office/drawing/2014/main" id="{28E64949-D138-435E-B469-1A5AF64E278F}"/>
              </a:ext>
            </a:extLst>
          </p:cNvPr>
          <p:cNvSpPr>
            <a:spLocks noGrp="1"/>
          </p:cNvSpPr>
          <p:nvPr>
            <p:ph type="sldNum" sz="quarter" idx="12"/>
          </p:nvPr>
        </p:nvSpPr>
        <p:spPr/>
        <p:txBody>
          <a:bodyPr/>
          <a:lstStyle/>
          <a:p>
            <a:fld id="{6B97D948-30E8-43F7-AE10-F6E2D9F2BBB1}" type="slidenum">
              <a:rPr lang="en-US" smtClean="0"/>
              <a:t>541</a:t>
            </a:fld>
            <a:endParaRPr lang="en-US"/>
          </a:p>
        </p:txBody>
      </p:sp>
    </p:spTree>
    <p:extLst>
      <p:ext uri="{BB962C8B-B14F-4D97-AF65-F5344CB8AC3E}">
        <p14:creationId xmlns:p14="http://schemas.microsoft.com/office/powerpoint/2010/main" val="3977852477"/>
      </p:ext>
    </p:extLst>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FE46981-15DC-42D0-BD4B-1225927B11AF}"/>
              </a:ext>
            </a:extLst>
          </p:cNvPr>
          <p:cNvPicPr>
            <a:picLocks noGrp="1" noChangeAspect="1"/>
          </p:cNvPicPr>
          <p:nvPr>
            <p:ph idx="1"/>
          </p:nvPr>
        </p:nvPicPr>
        <p:blipFill>
          <a:blip r:embed="rId2"/>
          <a:stretch>
            <a:fillRect/>
          </a:stretch>
        </p:blipFill>
        <p:spPr>
          <a:xfrm>
            <a:off x="838200" y="1851738"/>
            <a:ext cx="10515600" cy="4299112"/>
          </a:xfrm>
          <a:prstGeom prst="rect">
            <a:avLst/>
          </a:prstGeom>
        </p:spPr>
      </p:pic>
      <p:sp>
        <p:nvSpPr>
          <p:cNvPr id="3" name="Slide Number Placeholder 2">
            <a:extLst>
              <a:ext uri="{FF2B5EF4-FFF2-40B4-BE49-F238E27FC236}">
                <a16:creationId xmlns:a16="http://schemas.microsoft.com/office/drawing/2014/main" id="{676553CD-852E-4815-9113-99961D2F4CD1}"/>
              </a:ext>
            </a:extLst>
          </p:cNvPr>
          <p:cNvSpPr>
            <a:spLocks noGrp="1"/>
          </p:cNvSpPr>
          <p:nvPr>
            <p:ph type="sldNum" sz="quarter" idx="12"/>
          </p:nvPr>
        </p:nvSpPr>
        <p:spPr/>
        <p:txBody>
          <a:bodyPr/>
          <a:lstStyle/>
          <a:p>
            <a:fld id="{6B97D948-30E8-43F7-AE10-F6E2D9F2BBB1}" type="slidenum">
              <a:rPr lang="en-US" smtClean="0"/>
              <a:t>542</a:t>
            </a:fld>
            <a:endParaRPr lang="en-US"/>
          </a:p>
        </p:txBody>
      </p:sp>
    </p:spTree>
    <p:extLst>
      <p:ext uri="{BB962C8B-B14F-4D97-AF65-F5344CB8AC3E}">
        <p14:creationId xmlns:p14="http://schemas.microsoft.com/office/powerpoint/2010/main" val="2050933150"/>
      </p:ext>
    </p:extLst>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ADCB3-CBEB-4D2A-9B24-DED84FC59AE3}"/>
              </a:ext>
            </a:extLst>
          </p:cNvPr>
          <p:cNvSpPr>
            <a:spLocks noGrp="1"/>
          </p:cNvSpPr>
          <p:nvPr>
            <p:ph type="title"/>
          </p:nvPr>
        </p:nvSpPr>
        <p:spPr>
          <a:xfrm>
            <a:off x="838200" y="365125"/>
            <a:ext cx="10515600" cy="675399"/>
          </a:xfrm>
        </p:spPr>
        <p:txBody>
          <a:bodyPr>
            <a:normAutofit fontScale="90000"/>
          </a:bodyPr>
          <a:lstStyle/>
          <a:p>
            <a:r>
              <a:rPr lang="en-US" dirty="0"/>
              <a:t>Kernel Density Estimation</a:t>
            </a:r>
          </a:p>
        </p:txBody>
      </p:sp>
      <p:sp>
        <p:nvSpPr>
          <p:cNvPr id="3" name="Content Placeholder 2">
            <a:extLst>
              <a:ext uri="{FF2B5EF4-FFF2-40B4-BE49-F238E27FC236}">
                <a16:creationId xmlns:a16="http://schemas.microsoft.com/office/drawing/2014/main" id="{18781719-772D-469F-92FC-17E3700D66BE}"/>
              </a:ext>
            </a:extLst>
          </p:cNvPr>
          <p:cNvSpPr>
            <a:spLocks noGrp="1"/>
          </p:cNvSpPr>
          <p:nvPr>
            <p:ph idx="1"/>
          </p:nvPr>
        </p:nvSpPr>
        <p:spPr>
          <a:xfrm>
            <a:off x="838200" y="1040524"/>
            <a:ext cx="10515600" cy="5136439"/>
          </a:xfrm>
        </p:spPr>
        <p:txBody>
          <a:bodyPr>
            <a:normAutofit lnSpcReduction="10000"/>
          </a:bodyPr>
          <a:lstStyle/>
          <a:p>
            <a:pPr algn="just"/>
            <a:r>
              <a:rPr lang="en-US" dirty="0"/>
              <a:t>A kernel density estimate (KDE) is a smooth, continuous function that approximates a curve. </a:t>
            </a:r>
          </a:p>
          <a:p>
            <a:pPr algn="just"/>
            <a:endParaRPr lang="en-US" dirty="0"/>
          </a:p>
          <a:p>
            <a:pPr algn="just"/>
            <a:r>
              <a:rPr lang="en-US" dirty="0"/>
              <a:t>It allows us to represent general trends in a distribution without focusing on the details, which is useful to analyzing the broad structure of a dataset.</a:t>
            </a:r>
          </a:p>
          <a:p>
            <a:pPr algn="just"/>
            <a:endParaRPr lang="en-US" dirty="0"/>
          </a:p>
          <a:p>
            <a:pPr algn="just"/>
            <a:r>
              <a:rPr lang="en-US" dirty="0"/>
              <a:t>More formally, a KDE attempts to approximate the underlying probability distribution from which our dataset was drawn. </a:t>
            </a:r>
          </a:p>
          <a:p>
            <a:pPr algn="just"/>
            <a:endParaRPr lang="en-US" dirty="0"/>
          </a:p>
          <a:p>
            <a:pPr algn="just"/>
            <a:r>
              <a:rPr lang="en-US" dirty="0"/>
              <a:t>A KDE curve estimates the probability density function of a random variable.</a:t>
            </a:r>
          </a:p>
        </p:txBody>
      </p:sp>
      <p:sp>
        <p:nvSpPr>
          <p:cNvPr id="5" name="Slide Number Placeholder 4">
            <a:extLst>
              <a:ext uri="{FF2B5EF4-FFF2-40B4-BE49-F238E27FC236}">
                <a16:creationId xmlns:a16="http://schemas.microsoft.com/office/drawing/2014/main" id="{502386E9-F6BB-486C-AA51-E58551171204}"/>
              </a:ext>
            </a:extLst>
          </p:cNvPr>
          <p:cNvSpPr>
            <a:spLocks noGrp="1"/>
          </p:cNvSpPr>
          <p:nvPr>
            <p:ph type="sldNum" sz="quarter" idx="12"/>
          </p:nvPr>
        </p:nvSpPr>
        <p:spPr/>
        <p:txBody>
          <a:bodyPr/>
          <a:lstStyle/>
          <a:p>
            <a:fld id="{6B97D948-30E8-43F7-AE10-F6E2D9F2BBB1}" type="slidenum">
              <a:rPr lang="en-US" smtClean="0"/>
              <a:t>543</a:t>
            </a:fld>
            <a:endParaRPr lang="en-US"/>
          </a:p>
        </p:txBody>
      </p:sp>
    </p:spTree>
    <p:extLst>
      <p:ext uri="{BB962C8B-B14F-4D97-AF65-F5344CB8AC3E}">
        <p14:creationId xmlns:p14="http://schemas.microsoft.com/office/powerpoint/2010/main" val="1350837145"/>
      </p:ext>
    </p:extLst>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DB2906-EDC2-4FA6-9F6D-F2BEEAE738CA}"/>
              </a:ext>
            </a:extLst>
          </p:cNvPr>
          <p:cNvSpPr>
            <a:spLocks noGrp="1"/>
          </p:cNvSpPr>
          <p:nvPr>
            <p:ph idx="1"/>
          </p:nvPr>
        </p:nvSpPr>
        <p:spPr>
          <a:xfrm>
            <a:off x="838200" y="709448"/>
            <a:ext cx="10515600" cy="5467515"/>
          </a:xfrm>
        </p:spPr>
        <p:txBody>
          <a:bodyPr/>
          <a:lstStyle/>
          <a:p>
            <a:pPr algn="just"/>
            <a:r>
              <a:rPr lang="en-US" dirty="0" err="1"/>
              <a:t>sns.displot</a:t>
            </a:r>
            <a:r>
              <a:rPr lang="en-US" dirty="0"/>
              <a:t>(data = </a:t>
            </a:r>
            <a:r>
              <a:rPr lang="en-US" dirty="0" err="1"/>
              <a:t>wb</a:t>
            </a:r>
            <a:r>
              <a:rPr lang="en-US" dirty="0"/>
              <a:t>, x = 'Antiretroviral therapy coverage: % of people living with HIV: 2015', </a:t>
            </a:r>
            <a:r>
              <a:rPr lang="en-US" dirty="0" err="1"/>
              <a:t>kde</a:t>
            </a:r>
            <a:r>
              <a:rPr lang="en-US" dirty="0"/>
              <a:t> = True, stat = "density")</a:t>
            </a:r>
          </a:p>
          <a:p>
            <a:endParaRPr lang="en-US" dirty="0"/>
          </a:p>
          <a:p>
            <a:r>
              <a:rPr lang="en-US" dirty="0" err="1"/>
              <a:t>plt.title</a:t>
            </a:r>
            <a:r>
              <a:rPr lang="en-US" dirty="0"/>
              <a:t>("Distribution of HIV rates");</a:t>
            </a:r>
          </a:p>
        </p:txBody>
      </p:sp>
      <p:sp>
        <p:nvSpPr>
          <p:cNvPr id="4" name="Slide Number Placeholder 3">
            <a:extLst>
              <a:ext uri="{FF2B5EF4-FFF2-40B4-BE49-F238E27FC236}">
                <a16:creationId xmlns:a16="http://schemas.microsoft.com/office/drawing/2014/main" id="{D4FA450B-AD88-4FC2-A535-6E1DD3870284}"/>
              </a:ext>
            </a:extLst>
          </p:cNvPr>
          <p:cNvSpPr>
            <a:spLocks noGrp="1"/>
          </p:cNvSpPr>
          <p:nvPr>
            <p:ph type="sldNum" sz="quarter" idx="12"/>
          </p:nvPr>
        </p:nvSpPr>
        <p:spPr/>
        <p:txBody>
          <a:bodyPr/>
          <a:lstStyle/>
          <a:p>
            <a:fld id="{6B97D948-30E8-43F7-AE10-F6E2D9F2BBB1}" type="slidenum">
              <a:rPr lang="en-US" smtClean="0"/>
              <a:t>544</a:t>
            </a:fld>
            <a:endParaRPr lang="en-US"/>
          </a:p>
        </p:txBody>
      </p:sp>
    </p:spTree>
    <p:extLst>
      <p:ext uri="{BB962C8B-B14F-4D97-AF65-F5344CB8AC3E}">
        <p14:creationId xmlns:p14="http://schemas.microsoft.com/office/powerpoint/2010/main" val="3496335541"/>
      </p:ext>
    </p:extLst>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990EAF-3233-4E52-826A-2BC6BA00AA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4634" y="1089928"/>
            <a:ext cx="5087035" cy="5087035"/>
          </a:xfrm>
        </p:spPr>
      </p:pic>
      <p:sp>
        <p:nvSpPr>
          <p:cNvPr id="3" name="Slide Number Placeholder 2">
            <a:extLst>
              <a:ext uri="{FF2B5EF4-FFF2-40B4-BE49-F238E27FC236}">
                <a16:creationId xmlns:a16="http://schemas.microsoft.com/office/drawing/2014/main" id="{37F8AA07-77CB-482D-BFEA-2AA5224DF17F}"/>
              </a:ext>
            </a:extLst>
          </p:cNvPr>
          <p:cNvSpPr>
            <a:spLocks noGrp="1"/>
          </p:cNvSpPr>
          <p:nvPr>
            <p:ph type="sldNum" sz="quarter" idx="12"/>
          </p:nvPr>
        </p:nvSpPr>
        <p:spPr/>
        <p:txBody>
          <a:bodyPr/>
          <a:lstStyle/>
          <a:p>
            <a:fld id="{6B97D948-30E8-43F7-AE10-F6E2D9F2BBB1}" type="slidenum">
              <a:rPr lang="en-US" smtClean="0"/>
              <a:t>545</a:t>
            </a:fld>
            <a:endParaRPr lang="en-US"/>
          </a:p>
        </p:txBody>
      </p:sp>
    </p:spTree>
    <p:extLst>
      <p:ext uri="{BB962C8B-B14F-4D97-AF65-F5344CB8AC3E}">
        <p14:creationId xmlns:p14="http://schemas.microsoft.com/office/powerpoint/2010/main" val="3408004018"/>
      </p:ext>
    </p:extLst>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9F094-91A6-4E2F-A9F4-7E65D60F9BC4}"/>
              </a:ext>
            </a:extLst>
          </p:cNvPr>
          <p:cNvSpPr>
            <a:spLocks noGrp="1"/>
          </p:cNvSpPr>
          <p:nvPr>
            <p:ph type="title"/>
          </p:nvPr>
        </p:nvSpPr>
        <p:spPr>
          <a:xfrm>
            <a:off x="838200" y="365125"/>
            <a:ext cx="10515600" cy="754227"/>
          </a:xfrm>
        </p:spPr>
        <p:txBody>
          <a:bodyPr/>
          <a:lstStyle/>
          <a:p>
            <a:r>
              <a:rPr lang="en-US" dirty="0"/>
              <a:t>Visualizing Relationships</a:t>
            </a:r>
          </a:p>
        </p:txBody>
      </p:sp>
      <p:sp>
        <p:nvSpPr>
          <p:cNvPr id="3" name="Content Placeholder 2">
            <a:extLst>
              <a:ext uri="{FF2B5EF4-FFF2-40B4-BE49-F238E27FC236}">
                <a16:creationId xmlns:a16="http://schemas.microsoft.com/office/drawing/2014/main" id="{8B3C7547-0D20-4D17-A20E-FE77897383E6}"/>
              </a:ext>
            </a:extLst>
          </p:cNvPr>
          <p:cNvSpPr>
            <a:spLocks noGrp="1"/>
          </p:cNvSpPr>
          <p:nvPr>
            <p:ph idx="1"/>
          </p:nvPr>
        </p:nvSpPr>
        <p:spPr>
          <a:xfrm>
            <a:off x="838200" y="1119352"/>
            <a:ext cx="10515600" cy="5057611"/>
          </a:xfrm>
        </p:spPr>
        <p:txBody>
          <a:bodyPr>
            <a:normAutofit fontScale="92500" lnSpcReduction="10000"/>
          </a:bodyPr>
          <a:lstStyle/>
          <a:p>
            <a:pPr algn="just"/>
            <a:r>
              <a:rPr lang="en-US" dirty="0"/>
              <a:t>Now, let’s understand how to visualize the relationship between pairs of numerical variables.</a:t>
            </a:r>
          </a:p>
          <a:p>
            <a:pPr algn="just"/>
            <a:r>
              <a:rPr lang="en-US" dirty="0"/>
              <a:t>Scatter Plots</a:t>
            </a:r>
          </a:p>
          <a:p>
            <a:pPr algn="just"/>
            <a:endParaRPr lang="en-US" dirty="0"/>
          </a:p>
          <a:p>
            <a:pPr algn="just"/>
            <a:r>
              <a:rPr lang="en-US" dirty="0"/>
              <a:t>Scatter plots are one of the most useful tools in representing the relationship between two quantitative variables. </a:t>
            </a:r>
          </a:p>
          <a:p>
            <a:pPr algn="just"/>
            <a:endParaRPr lang="en-US" dirty="0"/>
          </a:p>
          <a:p>
            <a:pPr algn="just"/>
            <a:r>
              <a:rPr lang="en-US" dirty="0"/>
              <a:t>They are particularly important in gauging the strength, or correlation, of the relationship between variables. </a:t>
            </a:r>
          </a:p>
          <a:p>
            <a:pPr algn="just"/>
            <a:endParaRPr lang="en-US" dirty="0"/>
          </a:p>
          <a:p>
            <a:pPr algn="just"/>
            <a:r>
              <a:rPr lang="en-US" dirty="0"/>
              <a:t>Knowledge of these relationships can then motivate decisions in our modeling process.</a:t>
            </a:r>
          </a:p>
          <a:p>
            <a:pPr algn="just"/>
            <a:endParaRPr lang="en-US" dirty="0"/>
          </a:p>
        </p:txBody>
      </p:sp>
      <p:sp>
        <p:nvSpPr>
          <p:cNvPr id="5" name="Slide Number Placeholder 4">
            <a:extLst>
              <a:ext uri="{FF2B5EF4-FFF2-40B4-BE49-F238E27FC236}">
                <a16:creationId xmlns:a16="http://schemas.microsoft.com/office/drawing/2014/main" id="{7997F330-0792-46D3-B506-DECAA01E22FF}"/>
              </a:ext>
            </a:extLst>
          </p:cNvPr>
          <p:cNvSpPr>
            <a:spLocks noGrp="1"/>
          </p:cNvSpPr>
          <p:nvPr>
            <p:ph type="sldNum" sz="quarter" idx="12"/>
          </p:nvPr>
        </p:nvSpPr>
        <p:spPr/>
        <p:txBody>
          <a:bodyPr/>
          <a:lstStyle/>
          <a:p>
            <a:fld id="{6B97D948-30E8-43F7-AE10-F6E2D9F2BBB1}" type="slidenum">
              <a:rPr lang="en-US" smtClean="0"/>
              <a:t>546</a:t>
            </a:fld>
            <a:endParaRPr lang="en-US"/>
          </a:p>
        </p:txBody>
      </p:sp>
    </p:spTree>
    <p:extLst>
      <p:ext uri="{BB962C8B-B14F-4D97-AF65-F5344CB8AC3E}">
        <p14:creationId xmlns:p14="http://schemas.microsoft.com/office/powerpoint/2010/main" val="2933003886"/>
      </p:ext>
    </p:extLst>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26FB90-317F-4CAD-8DA3-06D59BF3FCC8}"/>
              </a:ext>
            </a:extLst>
          </p:cNvPr>
          <p:cNvSpPr>
            <a:spLocks noGrp="1"/>
          </p:cNvSpPr>
          <p:nvPr>
            <p:ph idx="1"/>
          </p:nvPr>
        </p:nvSpPr>
        <p:spPr>
          <a:xfrm>
            <a:off x="838200" y="599090"/>
            <a:ext cx="10515600" cy="5577873"/>
          </a:xfrm>
        </p:spPr>
        <p:txBody>
          <a:bodyPr/>
          <a:lstStyle/>
          <a:p>
            <a:pPr algn="just"/>
            <a:r>
              <a:rPr lang="en-US" dirty="0"/>
              <a:t>In Matplotlib, we use the function </a:t>
            </a:r>
            <a:r>
              <a:rPr lang="en-US" dirty="0" err="1">
                <a:solidFill>
                  <a:srgbClr val="FF0000"/>
                </a:solidFill>
              </a:rPr>
              <a:t>plt.scatter</a:t>
            </a:r>
            <a:r>
              <a:rPr lang="en-US" dirty="0">
                <a:solidFill>
                  <a:srgbClr val="FF0000"/>
                </a:solidFill>
              </a:rPr>
              <a:t> </a:t>
            </a:r>
            <a:r>
              <a:rPr lang="en-US" dirty="0"/>
              <a:t>to generate a scatter plot. </a:t>
            </a:r>
          </a:p>
          <a:p>
            <a:pPr algn="just"/>
            <a:endParaRPr lang="en-US" dirty="0"/>
          </a:p>
          <a:p>
            <a:pPr algn="just"/>
            <a:r>
              <a:rPr lang="en-US" dirty="0"/>
              <a:t>Notice that unlike our examples of plotting single-variable distributions, now we specify sequences of values to be plotted along the x axis and the y axis.</a:t>
            </a:r>
          </a:p>
          <a:p>
            <a:endParaRPr lang="en-US" dirty="0"/>
          </a:p>
        </p:txBody>
      </p:sp>
      <p:sp>
        <p:nvSpPr>
          <p:cNvPr id="4" name="Slide Number Placeholder 3">
            <a:extLst>
              <a:ext uri="{FF2B5EF4-FFF2-40B4-BE49-F238E27FC236}">
                <a16:creationId xmlns:a16="http://schemas.microsoft.com/office/drawing/2014/main" id="{187268EE-D580-4A5E-9331-4F7560851A34}"/>
              </a:ext>
            </a:extLst>
          </p:cNvPr>
          <p:cNvSpPr>
            <a:spLocks noGrp="1"/>
          </p:cNvSpPr>
          <p:nvPr>
            <p:ph type="sldNum" sz="quarter" idx="12"/>
          </p:nvPr>
        </p:nvSpPr>
        <p:spPr/>
        <p:txBody>
          <a:bodyPr/>
          <a:lstStyle/>
          <a:p>
            <a:fld id="{6B97D948-30E8-43F7-AE10-F6E2D9F2BBB1}" type="slidenum">
              <a:rPr lang="en-US" smtClean="0"/>
              <a:t>547</a:t>
            </a:fld>
            <a:endParaRPr lang="en-US"/>
          </a:p>
        </p:txBody>
      </p:sp>
    </p:spTree>
    <p:extLst>
      <p:ext uri="{BB962C8B-B14F-4D97-AF65-F5344CB8AC3E}">
        <p14:creationId xmlns:p14="http://schemas.microsoft.com/office/powerpoint/2010/main" val="2947885498"/>
      </p:ext>
    </p:extLst>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5FF3A-D828-4290-9F2C-F3000215FB3D}"/>
              </a:ext>
            </a:extLst>
          </p:cNvPr>
          <p:cNvSpPr>
            <a:spLocks noGrp="1"/>
          </p:cNvSpPr>
          <p:nvPr>
            <p:ph idx="1"/>
          </p:nvPr>
        </p:nvSpPr>
        <p:spPr>
          <a:xfrm>
            <a:off x="838200" y="520262"/>
            <a:ext cx="10515600" cy="5656701"/>
          </a:xfrm>
        </p:spPr>
        <p:txBody>
          <a:bodyPr/>
          <a:lstStyle/>
          <a:p>
            <a:r>
              <a:rPr lang="en-US" dirty="0" err="1">
                <a:solidFill>
                  <a:srgbClr val="FF0000"/>
                </a:solidFill>
              </a:rPr>
              <a:t>plt.scatter</a:t>
            </a:r>
            <a:r>
              <a:rPr lang="en-US" dirty="0">
                <a:solidFill>
                  <a:srgbClr val="FF0000"/>
                </a:solidFill>
              </a:rPr>
              <a:t>(</a:t>
            </a:r>
            <a:r>
              <a:rPr lang="en-US" dirty="0" err="1">
                <a:solidFill>
                  <a:srgbClr val="FF0000"/>
                </a:solidFill>
              </a:rPr>
              <a:t>wb</a:t>
            </a:r>
            <a:r>
              <a:rPr lang="en-US" dirty="0">
                <a:solidFill>
                  <a:srgbClr val="FF0000"/>
                </a:solidFill>
              </a:rPr>
              <a:t>["per capita: % growth: 2016"], </a:t>
            </a:r>
            <a:r>
              <a:rPr lang="en-US" dirty="0" err="1">
                <a:solidFill>
                  <a:srgbClr val="FF0000"/>
                </a:solidFill>
              </a:rPr>
              <a:t>wb</a:t>
            </a:r>
            <a:r>
              <a:rPr lang="en-US" dirty="0">
                <a:solidFill>
                  <a:srgbClr val="FF0000"/>
                </a:solidFill>
              </a:rPr>
              <a:t>['Adult literacy rate: Female: % ages 15 and older: 2005-14'])</a:t>
            </a:r>
          </a:p>
          <a:p>
            <a:endParaRPr lang="en-US" dirty="0">
              <a:solidFill>
                <a:srgbClr val="FF0000"/>
              </a:solidFill>
            </a:endParaRPr>
          </a:p>
          <a:p>
            <a:r>
              <a:rPr lang="en-US" dirty="0" err="1">
                <a:solidFill>
                  <a:srgbClr val="FF0000"/>
                </a:solidFill>
              </a:rPr>
              <a:t>plt.xlabel</a:t>
            </a:r>
            <a:r>
              <a:rPr lang="en-US" dirty="0">
                <a:solidFill>
                  <a:srgbClr val="FF0000"/>
                </a:solidFill>
              </a:rPr>
              <a:t>("% growth per capita")</a:t>
            </a:r>
          </a:p>
          <a:p>
            <a:endParaRPr lang="en-US" dirty="0">
              <a:solidFill>
                <a:srgbClr val="FF0000"/>
              </a:solidFill>
            </a:endParaRPr>
          </a:p>
          <a:p>
            <a:r>
              <a:rPr lang="en-US" dirty="0" err="1">
                <a:solidFill>
                  <a:srgbClr val="FF0000"/>
                </a:solidFill>
              </a:rPr>
              <a:t>plt.ylabel</a:t>
            </a:r>
            <a:r>
              <a:rPr lang="en-US" dirty="0">
                <a:solidFill>
                  <a:srgbClr val="FF0000"/>
                </a:solidFill>
              </a:rPr>
              <a:t>("Female adult literacy rate")</a:t>
            </a:r>
          </a:p>
          <a:p>
            <a:endParaRPr lang="en-US" dirty="0">
              <a:solidFill>
                <a:srgbClr val="FF0000"/>
              </a:solidFill>
            </a:endParaRPr>
          </a:p>
          <a:p>
            <a:r>
              <a:rPr lang="en-US" dirty="0" err="1">
                <a:solidFill>
                  <a:srgbClr val="FF0000"/>
                </a:solidFill>
              </a:rPr>
              <a:t>plt.title</a:t>
            </a:r>
            <a:r>
              <a:rPr lang="en-US" dirty="0">
                <a:solidFill>
                  <a:srgbClr val="FF0000"/>
                </a:solidFill>
              </a:rPr>
              <a:t>("Female adult literacy against % growth");</a:t>
            </a:r>
          </a:p>
        </p:txBody>
      </p:sp>
      <p:sp>
        <p:nvSpPr>
          <p:cNvPr id="4" name="Slide Number Placeholder 3">
            <a:extLst>
              <a:ext uri="{FF2B5EF4-FFF2-40B4-BE49-F238E27FC236}">
                <a16:creationId xmlns:a16="http://schemas.microsoft.com/office/drawing/2014/main" id="{783A61FD-0CC3-450D-8A2D-74577A515A55}"/>
              </a:ext>
            </a:extLst>
          </p:cNvPr>
          <p:cNvSpPr>
            <a:spLocks noGrp="1"/>
          </p:cNvSpPr>
          <p:nvPr>
            <p:ph type="sldNum" sz="quarter" idx="12"/>
          </p:nvPr>
        </p:nvSpPr>
        <p:spPr/>
        <p:txBody>
          <a:bodyPr/>
          <a:lstStyle/>
          <a:p>
            <a:fld id="{6B97D948-30E8-43F7-AE10-F6E2D9F2BBB1}" type="slidenum">
              <a:rPr lang="en-US" smtClean="0"/>
              <a:t>548</a:t>
            </a:fld>
            <a:endParaRPr lang="en-US"/>
          </a:p>
        </p:txBody>
      </p:sp>
    </p:spTree>
    <p:extLst>
      <p:ext uri="{BB962C8B-B14F-4D97-AF65-F5344CB8AC3E}">
        <p14:creationId xmlns:p14="http://schemas.microsoft.com/office/powerpoint/2010/main" val="262169557"/>
      </p:ext>
    </p:extLst>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F3BA7A-9A2B-4AA0-B480-75F9CC6BC4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2942" y="800893"/>
            <a:ext cx="7168092" cy="5376069"/>
          </a:xfrm>
        </p:spPr>
      </p:pic>
      <p:sp>
        <p:nvSpPr>
          <p:cNvPr id="3" name="Slide Number Placeholder 2">
            <a:extLst>
              <a:ext uri="{FF2B5EF4-FFF2-40B4-BE49-F238E27FC236}">
                <a16:creationId xmlns:a16="http://schemas.microsoft.com/office/drawing/2014/main" id="{02C43204-FA9A-46E3-995F-D1C1BADCFF77}"/>
              </a:ext>
            </a:extLst>
          </p:cNvPr>
          <p:cNvSpPr>
            <a:spLocks noGrp="1"/>
          </p:cNvSpPr>
          <p:nvPr>
            <p:ph type="sldNum" sz="quarter" idx="12"/>
          </p:nvPr>
        </p:nvSpPr>
        <p:spPr/>
        <p:txBody>
          <a:bodyPr/>
          <a:lstStyle/>
          <a:p>
            <a:fld id="{6B97D948-30E8-43F7-AE10-F6E2D9F2BBB1}" type="slidenum">
              <a:rPr lang="en-US" smtClean="0"/>
              <a:t>549</a:t>
            </a:fld>
            <a:endParaRPr lang="en-US"/>
          </a:p>
        </p:txBody>
      </p:sp>
    </p:spTree>
    <p:extLst>
      <p:ext uri="{BB962C8B-B14F-4D97-AF65-F5344CB8AC3E}">
        <p14:creationId xmlns:p14="http://schemas.microsoft.com/office/powerpoint/2010/main" val="1777973363"/>
      </p:ext>
    </p:extLst>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29A760-F24E-4929-9842-D099A5F2C34F}"/>
              </a:ext>
            </a:extLst>
          </p:cNvPr>
          <p:cNvSpPr>
            <a:spLocks noGrp="1"/>
          </p:cNvSpPr>
          <p:nvPr>
            <p:ph idx="1"/>
          </p:nvPr>
        </p:nvSpPr>
        <p:spPr>
          <a:xfrm>
            <a:off x="838200" y="437745"/>
            <a:ext cx="10515600" cy="5739218"/>
          </a:xfrm>
        </p:spPr>
        <p:txBody>
          <a:bodyPr/>
          <a:lstStyle/>
          <a:p>
            <a:pPr algn="just"/>
            <a:r>
              <a:rPr lang="en-US" dirty="0"/>
              <a:t>In Seaborn, we call the function </a:t>
            </a:r>
            <a:r>
              <a:rPr lang="en-US" dirty="0" err="1">
                <a:solidFill>
                  <a:srgbClr val="FF0000"/>
                </a:solidFill>
              </a:rPr>
              <a:t>sns.scatterplot</a:t>
            </a:r>
            <a:r>
              <a:rPr lang="en-US" dirty="0"/>
              <a:t>. </a:t>
            </a:r>
          </a:p>
          <a:p>
            <a:pPr algn="just"/>
            <a:r>
              <a:rPr lang="en-US" dirty="0"/>
              <a:t>We use the x and y parameters to indicate the values to be plotted along the x and y axes, respectively. </a:t>
            </a:r>
          </a:p>
          <a:p>
            <a:pPr algn="just"/>
            <a:endParaRPr lang="en-US" dirty="0"/>
          </a:p>
          <a:p>
            <a:pPr algn="just"/>
            <a:r>
              <a:rPr lang="en-US" dirty="0"/>
              <a:t>By using the hue parameter, we can specify a third variable to be used for coloring each scatter point.</a:t>
            </a:r>
          </a:p>
          <a:p>
            <a:pPr algn="just"/>
            <a:r>
              <a:rPr lang="en-US" dirty="0" err="1">
                <a:solidFill>
                  <a:srgbClr val="FF0000"/>
                </a:solidFill>
              </a:rPr>
              <a:t>sns.scatterplot</a:t>
            </a:r>
            <a:r>
              <a:rPr lang="en-US" dirty="0">
                <a:solidFill>
                  <a:srgbClr val="FF0000"/>
                </a:solidFill>
              </a:rPr>
              <a:t>(data = </a:t>
            </a:r>
            <a:r>
              <a:rPr lang="en-US" dirty="0" err="1">
                <a:solidFill>
                  <a:srgbClr val="FF0000"/>
                </a:solidFill>
              </a:rPr>
              <a:t>wb</a:t>
            </a:r>
            <a:r>
              <a:rPr lang="en-US" dirty="0">
                <a:solidFill>
                  <a:srgbClr val="FF0000"/>
                </a:solidFill>
              </a:rPr>
              <a:t>, x = "per capita: % growth: 2016", y = "Adult literacy rate: Female: % ages 15 and older: 2005-14", hue = "Continent")</a:t>
            </a:r>
          </a:p>
          <a:p>
            <a:pPr algn="just"/>
            <a:endParaRPr lang="en-US" dirty="0">
              <a:solidFill>
                <a:srgbClr val="FF0000"/>
              </a:solidFill>
            </a:endParaRPr>
          </a:p>
          <a:p>
            <a:pPr algn="just"/>
            <a:r>
              <a:rPr lang="en-US" dirty="0" err="1">
                <a:solidFill>
                  <a:srgbClr val="FF0000"/>
                </a:solidFill>
              </a:rPr>
              <a:t>plt.title</a:t>
            </a:r>
            <a:r>
              <a:rPr lang="en-US" dirty="0">
                <a:solidFill>
                  <a:srgbClr val="FF0000"/>
                </a:solidFill>
              </a:rPr>
              <a:t>("Female adult literacy against % growth");</a:t>
            </a:r>
          </a:p>
        </p:txBody>
      </p:sp>
      <p:sp>
        <p:nvSpPr>
          <p:cNvPr id="4" name="Slide Number Placeholder 3">
            <a:extLst>
              <a:ext uri="{FF2B5EF4-FFF2-40B4-BE49-F238E27FC236}">
                <a16:creationId xmlns:a16="http://schemas.microsoft.com/office/drawing/2014/main" id="{FFCEF018-9AA3-42D3-BAD4-E06C3872ABED}"/>
              </a:ext>
            </a:extLst>
          </p:cNvPr>
          <p:cNvSpPr>
            <a:spLocks noGrp="1"/>
          </p:cNvSpPr>
          <p:nvPr>
            <p:ph type="sldNum" sz="quarter" idx="12"/>
          </p:nvPr>
        </p:nvSpPr>
        <p:spPr/>
        <p:txBody>
          <a:bodyPr/>
          <a:lstStyle/>
          <a:p>
            <a:fld id="{6B97D948-30E8-43F7-AE10-F6E2D9F2BBB1}" type="slidenum">
              <a:rPr lang="en-US" smtClean="0"/>
              <a:t>550</a:t>
            </a:fld>
            <a:endParaRPr lang="en-US"/>
          </a:p>
        </p:txBody>
      </p:sp>
    </p:spTree>
    <p:extLst>
      <p:ext uri="{BB962C8B-B14F-4D97-AF65-F5344CB8AC3E}">
        <p14:creationId xmlns:p14="http://schemas.microsoft.com/office/powerpoint/2010/main" val="4022219986"/>
      </p:ext>
    </p:extLst>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6E5E59-79C0-4658-A14C-6A842A518E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6545" y="662274"/>
            <a:ext cx="7352918" cy="5514689"/>
          </a:xfrm>
        </p:spPr>
      </p:pic>
      <p:sp>
        <p:nvSpPr>
          <p:cNvPr id="3" name="Slide Number Placeholder 2">
            <a:extLst>
              <a:ext uri="{FF2B5EF4-FFF2-40B4-BE49-F238E27FC236}">
                <a16:creationId xmlns:a16="http://schemas.microsoft.com/office/drawing/2014/main" id="{9312E759-F591-4960-A367-CC57E56AB52A}"/>
              </a:ext>
            </a:extLst>
          </p:cNvPr>
          <p:cNvSpPr>
            <a:spLocks noGrp="1"/>
          </p:cNvSpPr>
          <p:nvPr>
            <p:ph type="sldNum" sz="quarter" idx="12"/>
          </p:nvPr>
        </p:nvSpPr>
        <p:spPr/>
        <p:txBody>
          <a:bodyPr/>
          <a:lstStyle/>
          <a:p>
            <a:fld id="{6B97D948-30E8-43F7-AE10-F6E2D9F2BBB1}" type="slidenum">
              <a:rPr lang="en-US" smtClean="0"/>
              <a:t>551</a:t>
            </a:fld>
            <a:endParaRPr lang="en-US"/>
          </a:p>
        </p:txBody>
      </p:sp>
    </p:spTree>
    <p:extLst>
      <p:ext uri="{BB962C8B-B14F-4D97-AF65-F5344CB8AC3E}">
        <p14:creationId xmlns:p14="http://schemas.microsoft.com/office/powerpoint/2010/main" val="3791320048"/>
      </p:ext>
    </p:extLst>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BDB8E-62D1-40A0-81D1-EF70F6520AA1}"/>
              </a:ext>
            </a:extLst>
          </p:cNvPr>
          <p:cNvSpPr>
            <a:spLocks noGrp="1"/>
          </p:cNvSpPr>
          <p:nvPr>
            <p:ph type="title"/>
          </p:nvPr>
        </p:nvSpPr>
        <p:spPr>
          <a:xfrm>
            <a:off x="838200" y="365125"/>
            <a:ext cx="10515600" cy="559003"/>
          </a:xfrm>
        </p:spPr>
        <p:txBody>
          <a:bodyPr>
            <a:normAutofit fontScale="90000"/>
          </a:bodyPr>
          <a:lstStyle/>
          <a:p>
            <a:r>
              <a:rPr lang="en-US" dirty="0"/>
              <a:t>Overplotting</a:t>
            </a:r>
          </a:p>
        </p:txBody>
      </p:sp>
      <p:sp>
        <p:nvSpPr>
          <p:cNvPr id="3" name="Content Placeholder 2">
            <a:extLst>
              <a:ext uri="{FF2B5EF4-FFF2-40B4-BE49-F238E27FC236}">
                <a16:creationId xmlns:a16="http://schemas.microsoft.com/office/drawing/2014/main" id="{B3AA1D83-A387-4B2E-9C08-1669D2993181}"/>
              </a:ext>
            </a:extLst>
          </p:cNvPr>
          <p:cNvSpPr>
            <a:spLocks noGrp="1"/>
          </p:cNvSpPr>
          <p:nvPr>
            <p:ph idx="1"/>
          </p:nvPr>
        </p:nvSpPr>
        <p:spPr>
          <a:xfrm>
            <a:off x="838200" y="924128"/>
            <a:ext cx="10515600" cy="5252835"/>
          </a:xfrm>
        </p:spPr>
        <p:txBody>
          <a:bodyPr>
            <a:normAutofit lnSpcReduction="10000"/>
          </a:bodyPr>
          <a:lstStyle/>
          <a:p>
            <a:pPr algn="just"/>
            <a:r>
              <a:rPr lang="en-US" dirty="0"/>
              <a:t>Although the plots above communicate the general relationship between the two plotted variables, they both suffer a major limitation – </a:t>
            </a:r>
            <a:r>
              <a:rPr lang="en-US" dirty="0">
                <a:solidFill>
                  <a:srgbClr val="FF0000"/>
                </a:solidFill>
              </a:rPr>
              <a:t>overplotting</a:t>
            </a:r>
            <a:r>
              <a:rPr lang="en-US" dirty="0"/>
              <a:t>. </a:t>
            </a:r>
          </a:p>
          <a:p>
            <a:pPr algn="just"/>
            <a:endParaRPr lang="en-US" dirty="0"/>
          </a:p>
          <a:p>
            <a:pPr algn="just"/>
            <a:r>
              <a:rPr lang="en-US" dirty="0"/>
              <a:t>Overplotting occurs when scatter points with similar values are stacked on top of one another, making it difficult to see the number of scatter points actually plotted in the visualization. </a:t>
            </a:r>
          </a:p>
          <a:p>
            <a:pPr algn="just"/>
            <a:endParaRPr lang="en-US" dirty="0"/>
          </a:p>
          <a:p>
            <a:pPr algn="just"/>
            <a:r>
              <a:rPr lang="en-US" dirty="0"/>
              <a:t>Notice how in the upper righthand region of the plots, we cannot easily tell just how many points have been plotted. </a:t>
            </a:r>
          </a:p>
          <a:p>
            <a:pPr algn="just"/>
            <a:endParaRPr lang="en-US" dirty="0"/>
          </a:p>
          <a:p>
            <a:pPr algn="just"/>
            <a:r>
              <a:rPr lang="en-US" dirty="0"/>
              <a:t>This make our visualizations difficult to interpret.</a:t>
            </a:r>
          </a:p>
        </p:txBody>
      </p:sp>
      <p:sp>
        <p:nvSpPr>
          <p:cNvPr id="5" name="Slide Number Placeholder 4">
            <a:extLst>
              <a:ext uri="{FF2B5EF4-FFF2-40B4-BE49-F238E27FC236}">
                <a16:creationId xmlns:a16="http://schemas.microsoft.com/office/drawing/2014/main" id="{3FE1F58C-A30E-44E6-ADC8-17B506504DED}"/>
              </a:ext>
            </a:extLst>
          </p:cNvPr>
          <p:cNvSpPr>
            <a:spLocks noGrp="1"/>
          </p:cNvSpPr>
          <p:nvPr>
            <p:ph type="sldNum" sz="quarter" idx="12"/>
          </p:nvPr>
        </p:nvSpPr>
        <p:spPr/>
        <p:txBody>
          <a:bodyPr/>
          <a:lstStyle/>
          <a:p>
            <a:fld id="{6B97D948-30E8-43F7-AE10-F6E2D9F2BBB1}" type="slidenum">
              <a:rPr lang="en-US" smtClean="0"/>
              <a:t>552</a:t>
            </a:fld>
            <a:endParaRPr lang="en-US"/>
          </a:p>
        </p:txBody>
      </p:sp>
    </p:spTree>
    <p:extLst>
      <p:ext uri="{BB962C8B-B14F-4D97-AF65-F5344CB8AC3E}">
        <p14:creationId xmlns:p14="http://schemas.microsoft.com/office/powerpoint/2010/main" val="857810399"/>
      </p:ext>
    </p:extLst>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00387-4560-408D-99AD-255F65C4D011}"/>
              </a:ext>
            </a:extLst>
          </p:cNvPr>
          <p:cNvSpPr>
            <a:spLocks noGrp="1"/>
          </p:cNvSpPr>
          <p:nvPr>
            <p:ph type="title"/>
          </p:nvPr>
        </p:nvSpPr>
        <p:spPr>
          <a:xfrm>
            <a:off x="838200" y="365126"/>
            <a:ext cx="10515600" cy="646552"/>
          </a:xfrm>
        </p:spPr>
        <p:txBody>
          <a:bodyPr>
            <a:normAutofit fontScale="90000"/>
          </a:bodyPr>
          <a:lstStyle/>
          <a:p>
            <a:r>
              <a:rPr lang="en-US" dirty="0"/>
              <a:t>Remedy</a:t>
            </a:r>
          </a:p>
        </p:txBody>
      </p:sp>
      <p:sp>
        <p:nvSpPr>
          <p:cNvPr id="3" name="Content Placeholder 2">
            <a:extLst>
              <a:ext uri="{FF2B5EF4-FFF2-40B4-BE49-F238E27FC236}">
                <a16:creationId xmlns:a16="http://schemas.microsoft.com/office/drawing/2014/main" id="{07ECD365-1FA8-44BE-A767-03FB22BDF508}"/>
              </a:ext>
            </a:extLst>
          </p:cNvPr>
          <p:cNvSpPr>
            <a:spLocks noGrp="1"/>
          </p:cNvSpPr>
          <p:nvPr>
            <p:ph idx="1"/>
          </p:nvPr>
        </p:nvSpPr>
        <p:spPr>
          <a:xfrm>
            <a:off x="838200" y="1011678"/>
            <a:ext cx="10515600" cy="5165285"/>
          </a:xfrm>
        </p:spPr>
        <p:txBody>
          <a:bodyPr/>
          <a:lstStyle/>
          <a:p>
            <a:pPr algn="just"/>
            <a:r>
              <a:rPr lang="en-US" dirty="0"/>
              <a:t>We have a few methods to help reduce overplotting:</a:t>
            </a:r>
          </a:p>
          <a:p>
            <a:pPr algn="just"/>
            <a:endParaRPr lang="en-US" dirty="0"/>
          </a:p>
          <a:p>
            <a:pPr algn="just"/>
            <a:r>
              <a:rPr lang="en-US" dirty="0"/>
              <a:t>Decreasing the size of the scatter point markers can improve readability. We do this by setting a new value to the size parameter, s, of </a:t>
            </a:r>
            <a:r>
              <a:rPr lang="en-US" dirty="0" err="1">
                <a:solidFill>
                  <a:srgbClr val="FF0000"/>
                </a:solidFill>
              </a:rPr>
              <a:t>plt.scatter</a:t>
            </a:r>
            <a:r>
              <a:rPr lang="en-US" dirty="0">
                <a:solidFill>
                  <a:srgbClr val="FF0000"/>
                </a:solidFill>
              </a:rPr>
              <a:t> </a:t>
            </a:r>
            <a:r>
              <a:rPr lang="en-US" dirty="0"/>
              <a:t>or </a:t>
            </a:r>
            <a:r>
              <a:rPr lang="en-US" dirty="0" err="1">
                <a:solidFill>
                  <a:srgbClr val="FF0000"/>
                </a:solidFill>
              </a:rPr>
              <a:t>sns.scatterplot</a:t>
            </a:r>
            <a:endParaRPr lang="en-US" dirty="0">
              <a:solidFill>
                <a:srgbClr val="FF0000"/>
              </a:solidFill>
            </a:endParaRPr>
          </a:p>
          <a:p>
            <a:pPr algn="just"/>
            <a:r>
              <a:rPr lang="en-US" dirty="0"/>
              <a:t> </a:t>
            </a:r>
          </a:p>
          <a:p>
            <a:pPr algn="just"/>
            <a:r>
              <a:rPr lang="en-US" dirty="0"/>
              <a:t>Jittering is the process of adding a small amount of random noise to all x and y values to slightly shift the position of each datapoint. By randomly shifting all the data by some small distance, we can discern individual points more clearly without modifying the major trends of the original dataset.</a:t>
            </a:r>
          </a:p>
          <a:p>
            <a:pPr algn="just"/>
            <a:endParaRPr lang="en-US" dirty="0"/>
          </a:p>
        </p:txBody>
      </p:sp>
      <p:sp>
        <p:nvSpPr>
          <p:cNvPr id="5" name="Slide Number Placeholder 4">
            <a:extLst>
              <a:ext uri="{FF2B5EF4-FFF2-40B4-BE49-F238E27FC236}">
                <a16:creationId xmlns:a16="http://schemas.microsoft.com/office/drawing/2014/main" id="{90F74C02-D00B-4C3C-8F8D-5AE716088643}"/>
              </a:ext>
            </a:extLst>
          </p:cNvPr>
          <p:cNvSpPr>
            <a:spLocks noGrp="1"/>
          </p:cNvSpPr>
          <p:nvPr>
            <p:ph type="sldNum" sz="quarter" idx="12"/>
          </p:nvPr>
        </p:nvSpPr>
        <p:spPr/>
        <p:txBody>
          <a:bodyPr/>
          <a:lstStyle/>
          <a:p>
            <a:fld id="{6B97D948-30E8-43F7-AE10-F6E2D9F2BBB1}" type="slidenum">
              <a:rPr lang="en-US" smtClean="0"/>
              <a:t>553</a:t>
            </a:fld>
            <a:endParaRPr lang="en-US"/>
          </a:p>
        </p:txBody>
      </p:sp>
    </p:spTree>
    <p:extLst>
      <p:ext uri="{BB962C8B-B14F-4D97-AF65-F5344CB8AC3E}">
        <p14:creationId xmlns:p14="http://schemas.microsoft.com/office/powerpoint/2010/main" val="1049370339"/>
      </p:ext>
    </p:extLst>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0C253-11A1-4DA8-BA2E-2C5133FDCD96}"/>
              </a:ext>
            </a:extLst>
          </p:cNvPr>
          <p:cNvSpPr>
            <a:spLocks noGrp="1"/>
          </p:cNvSpPr>
          <p:nvPr>
            <p:ph type="title"/>
          </p:nvPr>
        </p:nvSpPr>
        <p:spPr>
          <a:xfrm>
            <a:off x="838200" y="365126"/>
            <a:ext cx="10515600" cy="461726"/>
          </a:xfrm>
        </p:spPr>
        <p:txBody>
          <a:bodyPr>
            <a:normAutofit fontScale="90000"/>
          </a:bodyPr>
          <a:lstStyle/>
          <a:p>
            <a:r>
              <a:rPr lang="en-US" dirty="0"/>
              <a:t>Code</a:t>
            </a:r>
          </a:p>
        </p:txBody>
      </p:sp>
      <p:sp>
        <p:nvSpPr>
          <p:cNvPr id="3" name="Content Placeholder 2">
            <a:extLst>
              <a:ext uri="{FF2B5EF4-FFF2-40B4-BE49-F238E27FC236}">
                <a16:creationId xmlns:a16="http://schemas.microsoft.com/office/drawing/2014/main" id="{F3DD00BC-3573-411F-B8A2-84E3FC0A86B8}"/>
              </a:ext>
            </a:extLst>
          </p:cNvPr>
          <p:cNvSpPr>
            <a:spLocks noGrp="1"/>
          </p:cNvSpPr>
          <p:nvPr>
            <p:ph idx="1"/>
          </p:nvPr>
        </p:nvSpPr>
        <p:spPr>
          <a:xfrm>
            <a:off x="838200" y="904672"/>
            <a:ext cx="10515600" cy="5272291"/>
          </a:xfrm>
        </p:spPr>
        <p:txBody>
          <a:bodyPr>
            <a:normAutofit/>
          </a:bodyPr>
          <a:lstStyle/>
          <a:p>
            <a:r>
              <a:rPr lang="en-US" dirty="0"/>
              <a:t># This means we all get the same results</a:t>
            </a:r>
          </a:p>
          <a:p>
            <a:r>
              <a:rPr lang="en-US" dirty="0" err="1">
                <a:solidFill>
                  <a:srgbClr val="FF0000"/>
                </a:solidFill>
              </a:rPr>
              <a:t>np.random.seed</a:t>
            </a:r>
            <a:r>
              <a:rPr lang="en-US" dirty="0">
                <a:solidFill>
                  <a:srgbClr val="FF0000"/>
                </a:solidFill>
              </a:rPr>
              <a:t>(150)</a:t>
            </a:r>
          </a:p>
          <a:p>
            <a:r>
              <a:rPr lang="en-US" dirty="0"/>
              <a:t># We add these random numbers to the original x data to jitter it slightly</a:t>
            </a:r>
          </a:p>
          <a:p>
            <a:r>
              <a:rPr lang="en-US" dirty="0" err="1">
                <a:solidFill>
                  <a:srgbClr val="FF0000"/>
                </a:solidFill>
              </a:rPr>
              <a:t>x_noise</a:t>
            </a:r>
            <a:r>
              <a:rPr lang="en-US" dirty="0">
                <a:solidFill>
                  <a:srgbClr val="FF0000"/>
                </a:solidFill>
              </a:rPr>
              <a:t> = </a:t>
            </a:r>
            <a:r>
              <a:rPr lang="en-US" dirty="0" err="1">
                <a:solidFill>
                  <a:srgbClr val="FF0000"/>
                </a:solidFill>
              </a:rPr>
              <a:t>np.random.uniform</a:t>
            </a:r>
            <a:r>
              <a:rPr lang="en-US" dirty="0">
                <a:solidFill>
                  <a:srgbClr val="FF0000"/>
                </a:solidFill>
              </a:rPr>
              <a:t>(-1, 1, </a:t>
            </a:r>
            <a:r>
              <a:rPr lang="en-US" dirty="0" err="1">
                <a:solidFill>
                  <a:srgbClr val="FF0000"/>
                </a:solidFill>
              </a:rPr>
              <a:t>len</a:t>
            </a:r>
            <a:r>
              <a:rPr lang="en-US" dirty="0">
                <a:solidFill>
                  <a:srgbClr val="FF0000"/>
                </a:solidFill>
              </a:rPr>
              <a:t>(</a:t>
            </a:r>
            <a:r>
              <a:rPr lang="en-US" dirty="0" err="1">
                <a:solidFill>
                  <a:srgbClr val="FF0000"/>
                </a:solidFill>
              </a:rPr>
              <a:t>wb</a:t>
            </a:r>
            <a:r>
              <a:rPr lang="en-US" dirty="0">
                <a:solidFill>
                  <a:srgbClr val="FF0000"/>
                </a:solidFill>
              </a:rPr>
              <a:t>))</a:t>
            </a:r>
          </a:p>
          <a:p>
            <a:r>
              <a:rPr lang="en-US" dirty="0" err="1">
                <a:solidFill>
                  <a:srgbClr val="FF0000"/>
                </a:solidFill>
              </a:rPr>
              <a:t>jittered_x</a:t>
            </a:r>
            <a:r>
              <a:rPr lang="en-US" dirty="0">
                <a:solidFill>
                  <a:srgbClr val="FF0000"/>
                </a:solidFill>
              </a:rPr>
              <a:t> = </a:t>
            </a:r>
            <a:r>
              <a:rPr lang="en-US" dirty="0" err="1">
                <a:solidFill>
                  <a:srgbClr val="FF0000"/>
                </a:solidFill>
              </a:rPr>
              <a:t>wb</a:t>
            </a:r>
            <a:r>
              <a:rPr lang="en-US" dirty="0">
                <a:solidFill>
                  <a:srgbClr val="FF0000"/>
                </a:solidFill>
              </a:rPr>
              <a:t>["per capita: % growth: 2016"] + </a:t>
            </a:r>
            <a:r>
              <a:rPr lang="en-US" dirty="0" err="1">
                <a:solidFill>
                  <a:srgbClr val="FF0000"/>
                </a:solidFill>
              </a:rPr>
              <a:t>x_noise</a:t>
            </a:r>
            <a:endParaRPr lang="en-US" dirty="0">
              <a:solidFill>
                <a:srgbClr val="FF0000"/>
              </a:solidFill>
            </a:endParaRPr>
          </a:p>
          <a:p>
            <a:r>
              <a:rPr lang="en-US" dirty="0"/>
              <a:t># Repeat for y data</a:t>
            </a:r>
          </a:p>
          <a:p>
            <a:r>
              <a:rPr lang="en-US" dirty="0" err="1">
                <a:solidFill>
                  <a:srgbClr val="FF0000"/>
                </a:solidFill>
              </a:rPr>
              <a:t>y_noise</a:t>
            </a:r>
            <a:r>
              <a:rPr lang="en-US" dirty="0">
                <a:solidFill>
                  <a:srgbClr val="FF0000"/>
                </a:solidFill>
              </a:rPr>
              <a:t> = </a:t>
            </a:r>
            <a:r>
              <a:rPr lang="en-US" dirty="0" err="1">
                <a:solidFill>
                  <a:srgbClr val="FF0000"/>
                </a:solidFill>
              </a:rPr>
              <a:t>np.random.uniform</a:t>
            </a:r>
            <a:r>
              <a:rPr lang="en-US" dirty="0">
                <a:solidFill>
                  <a:srgbClr val="FF0000"/>
                </a:solidFill>
              </a:rPr>
              <a:t>(-5, 5, </a:t>
            </a:r>
            <a:r>
              <a:rPr lang="en-US" dirty="0" err="1">
                <a:solidFill>
                  <a:srgbClr val="FF0000"/>
                </a:solidFill>
              </a:rPr>
              <a:t>len</a:t>
            </a:r>
            <a:r>
              <a:rPr lang="en-US" dirty="0">
                <a:solidFill>
                  <a:srgbClr val="FF0000"/>
                </a:solidFill>
              </a:rPr>
              <a:t>(</a:t>
            </a:r>
            <a:r>
              <a:rPr lang="en-US" dirty="0" err="1">
                <a:solidFill>
                  <a:srgbClr val="FF0000"/>
                </a:solidFill>
              </a:rPr>
              <a:t>wb</a:t>
            </a:r>
            <a:r>
              <a:rPr lang="en-US" dirty="0">
                <a:solidFill>
                  <a:srgbClr val="FF0000"/>
                </a:solidFill>
              </a:rPr>
              <a:t>))</a:t>
            </a:r>
          </a:p>
          <a:p>
            <a:r>
              <a:rPr lang="en-US" dirty="0" err="1">
                <a:solidFill>
                  <a:srgbClr val="FF0000"/>
                </a:solidFill>
              </a:rPr>
              <a:t>jittered_y</a:t>
            </a:r>
            <a:r>
              <a:rPr lang="en-US" dirty="0">
                <a:solidFill>
                  <a:srgbClr val="FF0000"/>
                </a:solidFill>
              </a:rPr>
              <a:t> = </a:t>
            </a:r>
            <a:r>
              <a:rPr lang="en-US" dirty="0" err="1">
                <a:solidFill>
                  <a:srgbClr val="FF0000"/>
                </a:solidFill>
              </a:rPr>
              <a:t>wb</a:t>
            </a:r>
            <a:r>
              <a:rPr lang="en-US" dirty="0">
                <a:solidFill>
                  <a:srgbClr val="FF0000"/>
                </a:solidFill>
              </a:rPr>
              <a:t>["Adult literacy rate: Female: % ages 15 and older: 2005-14"] + </a:t>
            </a:r>
            <a:r>
              <a:rPr lang="en-US" dirty="0" err="1">
                <a:solidFill>
                  <a:srgbClr val="FF0000"/>
                </a:solidFill>
              </a:rPr>
              <a:t>y_noise</a:t>
            </a:r>
            <a:endParaRPr lang="en-US" dirty="0">
              <a:solidFill>
                <a:srgbClr val="FF0000"/>
              </a:solidFill>
            </a:endParaRPr>
          </a:p>
        </p:txBody>
      </p:sp>
      <p:sp>
        <p:nvSpPr>
          <p:cNvPr id="5" name="Slide Number Placeholder 4">
            <a:extLst>
              <a:ext uri="{FF2B5EF4-FFF2-40B4-BE49-F238E27FC236}">
                <a16:creationId xmlns:a16="http://schemas.microsoft.com/office/drawing/2014/main" id="{5E235A97-D956-49A6-A88A-31807780ECB6}"/>
              </a:ext>
            </a:extLst>
          </p:cNvPr>
          <p:cNvSpPr>
            <a:spLocks noGrp="1"/>
          </p:cNvSpPr>
          <p:nvPr>
            <p:ph type="sldNum" sz="quarter" idx="12"/>
          </p:nvPr>
        </p:nvSpPr>
        <p:spPr/>
        <p:txBody>
          <a:bodyPr/>
          <a:lstStyle/>
          <a:p>
            <a:fld id="{6B97D948-30E8-43F7-AE10-F6E2D9F2BBB1}" type="slidenum">
              <a:rPr lang="en-US" smtClean="0"/>
              <a:t>554</a:t>
            </a:fld>
            <a:endParaRPr lang="en-US"/>
          </a:p>
        </p:txBody>
      </p:sp>
    </p:spTree>
    <p:extLst>
      <p:ext uri="{BB962C8B-B14F-4D97-AF65-F5344CB8AC3E}">
        <p14:creationId xmlns:p14="http://schemas.microsoft.com/office/powerpoint/2010/main" val="210447391"/>
      </p:ext>
    </p:extLst>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98D171-C6D2-42D5-84DB-B886C064273E}"/>
              </a:ext>
            </a:extLst>
          </p:cNvPr>
          <p:cNvSpPr>
            <a:spLocks noGrp="1"/>
          </p:cNvSpPr>
          <p:nvPr>
            <p:ph idx="1"/>
          </p:nvPr>
        </p:nvSpPr>
        <p:spPr>
          <a:xfrm>
            <a:off x="838200" y="593387"/>
            <a:ext cx="10515600" cy="5583576"/>
          </a:xfrm>
        </p:spPr>
        <p:txBody>
          <a:bodyPr/>
          <a:lstStyle/>
          <a:p>
            <a:r>
              <a:rPr lang="en-US" dirty="0"/>
              <a:t># Setting the size parameter ‘s’ changes the size of each point</a:t>
            </a:r>
          </a:p>
          <a:p>
            <a:r>
              <a:rPr lang="en-US" dirty="0" err="1">
                <a:solidFill>
                  <a:srgbClr val="FF0000"/>
                </a:solidFill>
              </a:rPr>
              <a:t>plt.scatter</a:t>
            </a:r>
            <a:r>
              <a:rPr lang="en-US" dirty="0">
                <a:solidFill>
                  <a:srgbClr val="FF0000"/>
                </a:solidFill>
              </a:rPr>
              <a:t>(</a:t>
            </a:r>
            <a:r>
              <a:rPr lang="en-US" dirty="0" err="1">
                <a:solidFill>
                  <a:srgbClr val="FF0000"/>
                </a:solidFill>
              </a:rPr>
              <a:t>jittered_x</a:t>
            </a:r>
            <a:r>
              <a:rPr lang="en-US" dirty="0">
                <a:solidFill>
                  <a:srgbClr val="FF0000"/>
                </a:solidFill>
              </a:rPr>
              <a:t>, </a:t>
            </a:r>
            <a:r>
              <a:rPr lang="en-US" dirty="0" err="1">
                <a:solidFill>
                  <a:srgbClr val="FF0000"/>
                </a:solidFill>
              </a:rPr>
              <a:t>jittered_y</a:t>
            </a:r>
            <a:r>
              <a:rPr lang="en-US" dirty="0">
                <a:solidFill>
                  <a:srgbClr val="FF0000"/>
                </a:solidFill>
              </a:rPr>
              <a:t>, s=15)</a:t>
            </a:r>
          </a:p>
          <a:p>
            <a:endParaRPr lang="en-US" dirty="0">
              <a:solidFill>
                <a:srgbClr val="FF0000"/>
              </a:solidFill>
            </a:endParaRPr>
          </a:p>
          <a:p>
            <a:r>
              <a:rPr lang="en-US" dirty="0" err="1">
                <a:solidFill>
                  <a:srgbClr val="FF0000"/>
                </a:solidFill>
              </a:rPr>
              <a:t>plt.xlabel</a:t>
            </a:r>
            <a:r>
              <a:rPr lang="en-US" dirty="0">
                <a:solidFill>
                  <a:srgbClr val="FF0000"/>
                </a:solidFill>
              </a:rPr>
              <a:t>("% growth per capita (jittered)")</a:t>
            </a:r>
          </a:p>
          <a:p>
            <a:endParaRPr lang="en-US" dirty="0">
              <a:solidFill>
                <a:srgbClr val="FF0000"/>
              </a:solidFill>
            </a:endParaRPr>
          </a:p>
          <a:p>
            <a:r>
              <a:rPr lang="en-US" dirty="0" err="1">
                <a:solidFill>
                  <a:srgbClr val="FF0000"/>
                </a:solidFill>
              </a:rPr>
              <a:t>plt.ylabel</a:t>
            </a:r>
            <a:r>
              <a:rPr lang="en-US" dirty="0">
                <a:solidFill>
                  <a:srgbClr val="FF0000"/>
                </a:solidFill>
              </a:rPr>
              <a:t>("Female adult literacy rate (jittered)")</a:t>
            </a:r>
          </a:p>
          <a:p>
            <a:endParaRPr lang="en-US" dirty="0">
              <a:solidFill>
                <a:srgbClr val="FF0000"/>
              </a:solidFill>
            </a:endParaRPr>
          </a:p>
          <a:p>
            <a:r>
              <a:rPr lang="en-US" dirty="0" err="1">
                <a:solidFill>
                  <a:srgbClr val="FF0000"/>
                </a:solidFill>
              </a:rPr>
              <a:t>plt.title</a:t>
            </a:r>
            <a:r>
              <a:rPr lang="en-US" dirty="0">
                <a:solidFill>
                  <a:srgbClr val="FF0000"/>
                </a:solidFill>
              </a:rPr>
              <a:t>("Female adult literacy against % growth");</a:t>
            </a:r>
          </a:p>
          <a:p>
            <a:endParaRPr lang="en-US" dirty="0"/>
          </a:p>
        </p:txBody>
      </p:sp>
      <p:sp>
        <p:nvSpPr>
          <p:cNvPr id="4" name="Slide Number Placeholder 3">
            <a:extLst>
              <a:ext uri="{FF2B5EF4-FFF2-40B4-BE49-F238E27FC236}">
                <a16:creationId xmlns:a16="http://schemas.microsoft.com/office/drawing/2014/main" id="{3A112418-37A1-4F23-AB64-829A43C05A37}"/>
              </a:ext>
            </a:extLst>
          </p:cNvPr>
          <p:cNvSpPr>
            <a:spLocks noGrp="1"/>
          </p:cNvSpPr>
          <p:nvPr>
            <p:ph type="sldNum" sz="quarter" idx="12"/>
          </p:nvPr>
        </p:nvSpPr>
        <p:spPr/>
        <p:txBody>
          <a:bodyPr/>
          <a:lstStyle/>
          <a:p>
            <a:fld id="{6B97D948-30E8-43F7-AE10-F6E2D9F2BBB1}" type="slidenum">
              <a:rPr lang="en-US" smtClean="0"/>
              <a:t>555</a:t>
            </a:fld>
            <a:endParaRPr lang="en-US"/>
          </a:p>
        </p:txBody>
      </p:sp>
    </p:spTree>
    <p:extLst>
      <p:ext uri="{BB962C8B-B14F-4D97-AF65-F5344CB8AC3E}">
        <p14:creationId xmlns:p14="http://schemas.microsoft.com/office/powerpoint/2010/main" val="118827703"/>
      </p:ext>
    </p:extLst>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D9E969-82D6-46C1-94FF-A031EE962C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8528" y="808190"/>
            <a:ext cx="7158364" cy="5368773"/>
          </a:xfrm>
        </p:spPr>
      </p:pic>
      <p:sp>
        <p:nvSpPr>
          <p:cNvPr id="3" name="Slide Number Placeholder 2">
            <a:extLst>
              <a:ext uri="{FF2B5EF4-FFF2-40B4-BE49-F238E27FC236}">
                <a16:creationId xmlns:a16="http://schemas.microsoft.com/office/drawing/2014/main" id="{1D3FBF95-4187-4997-9A86-6A23BFA840C9}"/>
              </a:ext>
            </a:extLst>
          </p:cNvPr>
          <p:cNvSpPr>
            <a:spLocks noGrp="1"/>
          </p:cNvSpPr>
          <p:nvPr>
            <p:ph type="sldNum" sz="quarter" idx="12"/>
          </p:nvPr>
        </p:nvSpPr>
        <p:spPr/>
        <p:txBody>
          <a:bodyPr/>
          <a:lstStyle/>
          <a:p>
            <a:fld id="{6B97D948-30E8-43F7-AE10-F6E2D9F2BBB1}" type="slidenum">
              <a:rPr lang="en-US" smtClean="0"/>
              <a:t>556</a:t>
            </a:fld>
            <a:endParaRPr lang="en-US"/>
          </a:p>
        </p:txBody>
      </p:sp>
    </p:spTree>
    <p:extLst>
      <p:ext uri="{BB962C8B-B14F-4D97-AF65-F5344CB8AC3E}">
        <p14:creationId xmlns:p14="http://schemas.microsoft.com/office/powerpoint/2010/main" val="2091693125"/>
      </p:ext>
    </p:extLst>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502C-FA5F-4F93-B116-1803B5FCF413}"/>
              </a:ext>
            </a:extLst>
          </p:cNvPr>
          <p:cNvSpPr>
            <a:spLocks noGrp="1"/>
          </p:cNvSpPr>
          <p:nvPr>
            <p:ph type="title"/>
          </p:nvPr>
        </p:nvSpPr>
        <p:spPr>
          <a:xfrm>
            <a:off x="838200" y="365126"/>
            <a:ext cx="10515600" cy="646552"/>
          </a:xfrm>
        </p:spPr>
        <p:txBody>
          <a:bodyPr>
            <a:normAutofit fontScale="90000"/>
          </a:bodyPr>
          <a:lstStyle/>
          <a:p>
            <a:r>
              <a:rPr lang="en-US" dirty="0" err="1"/>
              <a:t>lmplot</a:t>
            </a:r>
            <a:r>
              <a:rPr lang="en-US" dirty="0"/>
              <a:t> and </a:t>
            </a:r>
            <a:r>
              <a:rPr lang="en-US" dirty="0" err="1"/>
              <a:t>jointplot</a:t>
            </a:r>
            <a:endParaRPr lang="en-US" dirty="0"/>
          </a:p>
        </p:txBody>
      </p:sp>
      <p:sp>
        <p:nvSpPr>
          <p:cNvPr id="3" name="Content Placeholder 2">
            <a:extLst>
              <a:ext uri="{FF2B5EF4-FFF2-40B4-BE49-F238E27FC236}">
                <a16:creationId xmlns:a16="http://schemas.microsoft.com/office/drawing/2014/main" id="{B43A917B-834A-4056-92FD-8B6CA554B762}"/>
              </a:ext>
            </a:extLst>
          </p:cNvPr>
          <p:cNvSpPr>
            <a:spLocks noGrp="1"/>
          </p:cNvSpPr>
          <p:nvPr>
            <p:ph idx="1"/>
          </p:nvPr>
        </p:nvSpPr>
        <p:spPr>
          <a:xfrm>
            <a:off x="838200" y="1011678"/>
            <a:ext cx="10515600" cy="5165285"/>
          </a:xfrm>
        </p:spPr>
        <p:txBody>
          <a:bodyPr/>
          <a:lstStyle/>
          <a:p>
            <a:pPr algn="just"/>
            <a:r>
              <a:rPr lang="en-US" dirty="0"/>
              <a:t>Seaborn also includes several built-in functions for creating more sophisticated scatter plots. </a:t>
            </a:r>
          </a:p>
          <a:p>
            <a:pPr algn="just"/>
            <a:endParaRPr lang="en-US" dirty="0"/>
          </a:p>
          <a:p>
            <a:pPr algn="just"/>
            <a:r>
              <a:rPr lang="en-US" dirty="0"/>
              <a:t>Two of the most commonly-used examples are </a:t>
            </a:r>
            <a:r>
              <a:rPr lang="en-US" dirty="0" err="1">
                <a:solidFill>
                  <a:srgbClr val="FF0000"/>
                </a:solidFill>
              </a:rPr>
              <a:t>sns.lmplot</a:t>
            </a:r>
            <a:r>
              <a:rPr lang="en-US" dirty="0"/>
              <a:t> and </a:t>
            </a:r>
            <a:r>
              <a:rPr lang="en-US" dirty="0" err="1">
                <a:solidFill>
                  <a:srgbClr val="FF0000"/>
                </a:solidFill>
              </a:rPr>
              <a:t>sns.jointplot</a:t>
            </a:r>
            <a:r>
              <a:rPr lang="en-US" dirty="0"/>
              <a:t>.</a:t>
            </a:r>
          </a:p>
          <a:p>
            <a:endParaRPr lang="en-US" dirty="0"/>
          </a:p>
          <a:p>
            <a:r>
              <a:rPr lang="en-US" dirty="0" err="1">
                <a:solidFill>
                  <a:srgbClr val="FF0000"/>
                </a:solidFill>
              </a:rPr>
              <a:t>sns.lmplot</a:t>
            </a:r>
            <a:r>
              <a:rPr lang="en-US" dirty="0">
                <a:solidFill>
                  <a:srgbClr val="FF0000"/>
                </a:solidFill>
              </a:rPr>
              <a:t> </a:t>
            </a:r>
            <a:r>
              <a:rPr lang="en-US" dirty="0"/>
              <a:t>plots both a scatter plot and a linear regression line, all in one function call. </a:t>
            </a:r>
          </a:p>
        </p:txBody>
      </p:sp>
      <p:sp>
        <p:nvSpPr>
          <p:cNvPr id="5" name="Slide Number Placeholder 4">
            <a:extLst>
              <a:ext uri="{FF2B5EF4-FFF2-40B4-BE49-F238E27FC236}">
                <a16:creationId xmlns:a16="http://schemas.microsoft.com/office/drawing/2014/main" id="{64B8681E-8B04-4292-99C6-6992374D40B9}"/>
              </a:ext>
            </a:extLst>
          </p:cNvPr>
          <p:cNvSpPr>
            <a:spLocks noGrp="1"/>
          </p:cNvSpPr>
          <p:nvPr>
            <p:ph type="sldNum" sz="quarter" idx="12"/>
          </p:nvPr>
        </p:nvSpPr>
        <p:spPr/>
        <p:txBody>
          <a:bodyPr/>
          <a:lstStyle/>
          <a:p>
            <a:fld id="{6B97D948-30E8-43F7-AE10-F6E2D9F2BBB1}" type="slidenum">
              <a:rPr lang="en-US" smtClean="0"/>
              <a:t>557</a:t>
            </a:fld>
            <a:endParaRPr lang="en-US"/>
          </a:p>
        </p:txBody>
      </p:sp>
    </p:spTree>
    <p:extLst>
      <p:ext uri="{BB962C8B-B14F-4D97-AF65-F5344CB8AC3E}">
        <p14:creationId xmlns:p14="http://schemas.microsoft.com/office/powerpoint/2010/main" val="2503190801"/>
      </p:ext>
    </p:extLst>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0D2AD-6214-4FD2-B01E-2E8C3DE6ED82}"/>
              </a:ext>
            </a:extLst>
          </p:cNvPr>
          <p:cNvSpPr>
            <a:spLocks noGrp="1"/>
          </p:cNvSpPr>
          <p:nvPr>
            <p:ph idx="1"/>
          </p:nvPr>
        </p:nvSpPr>
        <p:spPr>
          <a:xfrm>
            <a:off x="838200" y="593387"/>
            <a:ext cx="10515600" cy="5583576"/>
          </a:xfrm>
        </p:spPr>
        <p:txBody>
          <a:bodyPr/>
          <a:lstStyle/>
          <a:p>
            <a:pPr algn="just"/>
            <a:r>
              <a:rPr lang="en-US" dirty="0">
                <a:solidFill>
                  <a:srgbClr val="FF0000"/>
                </a:solidFill>
              </a:rPr>
              <a:t> </a:t>
            </a:r>
            <a:r>
              <a:rPr lang="en-US" dirty="0" err="1">
                <a:solidFill>
                  <a:srgbClr val="FF0000"/>
                </a:solidFill>
              </a:rPr>
              <a:t>sns.lmplot</a:t>
            </a:r>
            <a:r>
              <a:rPr lang="en-US" dirty="0">
                <a:solidFill>
                  <a:srgbClr val="FF0000"/>
                </a:solidFill>
              </a:rPr>
              <a:t>(data = </a:t>
            </a:r>
            <a:r>
              <a:rPr lang="en-US" dirty="0" err="1">
                <a:solidFill>
                  <a:srgbClr val="FF0000"/>
                </a:solidFill>
              </a:rPr>
              <a:t>wb</a:t>
            </a:r>
            <a:r>
              <a:rPr lang="en-US" dirty="0">
                <a:solidFill>
                  <a:srgbClr val="FF0000"/>
                </a:solidFill>
              </a:rPr>
              <a:t>, x = "per capita: % growth: 2016", y = "Adult literacy rate: Female: % ages 15 and older: 2005-14")</a:t>
            </a:r>
          </a:p>
          <a:p>
            <a:endParaRPr lang="en-US" dirty="0">
              <a:solidFill>
                <a:srgbClr val="FF0000"/>
              </a:solidFill>
            </a:endParaRPr>
          </a:p>
          <a:p>
            <a:r>
              <a:rPr lang="en-US" dirty="0" err="1">
                <a:solidFill>
                  <a:srgbClr val="FF0000"/>
                </a:solidFill>
              </a:rPr>
              <a:t>plt.title</a:t>
            </a:r>
            <a:r>
              <a:rPr lang="en-US" dirty="0">
                <a:solidFill>
                  <a:srgbClr val="FF0000"/>
                </a:solidFill>
              </a:rPr>
              <a:t>("Female adult literacy against % growth");</a:t>
            </a:r>
          </a:p>
        </p:txBody>
      </p:sp>
      <p:sp>
        <p:nvSpPr>
          <p:cNvPr id="4" name="Slide Number Placeholder 3">
            <a:extLst>
              <a:ext uri="{FF2B5EF4-FFF2-40B4-BE49-F238E27FC236}">
                <a16:creationId xmlns:a16="http://schemas.microsoft.com/office/drawing/2014/main" id="{1EB0408D-4FB5-4582-B85A-CAE7E7A12FFE}"/>
              </a:ext>
            </a:extLst>
          </p:cNvPr>
          <p:cNvSpPr>
            <a:spLocks noGrp="1"/>
          </p:cNvSpPr>
          <p:nvPr>
            <p:ph type="sldNum" sz="quarter" idx="12"/>
          </p:nvPr>
        </p:nvSpPr>
        <p:spPr/>
        <p:txBody>
          <a:bodyPr/>
          <a:lstStyle/>
          <a:p>
            <a:fld id="{6B97D948-30E8-43F7-AE10-F6E2D9F2BBB1}" type="slidenum">
              <a:rPr lang="en-US" smtClean="0"/>
              <a:t>558</a:t>
            </a:fld>
            <a:endParaRPr lang="en-US"/>
          </a:p>
        </p:txBody>
      </p:sp>
    </p:spTree>
    <p:extLst>
      <p:ext uri="{BB962C8B-B14F-4D97-AF65-F5344CB8AC3E}">
        <p14:creationId xmlns:p14="http://schemas.microsoft.com/office/powerpoint/2010/main" val="3719479120"/>
      </p:ext>
    </p:extLst>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B0E303-AE88-49F9-BD46-8D3D3C7CEE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28710" y="1825625"/>
            <a:ext cx="5134579" cy="4351338"/>
          </a:xfrm>
        </p:spPr>
      </p:pic>
      <p:sp>
        <p:nvSpPr>
          <p:cNvPr id="3" name="Slide Number Placeholder 2">
            <a:extLst>
              <a:ext uri="{FF2B5EF4-FFF2-40B4-BE49-F238E27FC236}">
                <a16:creationId xmlns:a16="http://schemas.microsoft.com/office/drawing/2014/main" id="{66A963C5-B18E-4A46-95E7-4F5A3B9C9CC8}"/>
              </a:ext>
            </a:extLst>
          </p:cNvPr>
          <p:cNvSpPr>
            <a:spLocks noGrp="1"/>
          </p:cNvSpPr>
          <p:nvPr>
            <p:ph type="sldNum" sz="quarter" idx="12"/>
          </p:nvPr>
        </p:nvSpPr>
        <p:spPr/>
        <p:txBody>
          <a:bodyPr/>
          <a:lstStyle/>
          <a:p>
            <a:fld id="{6B97D948-30E8-43F7-AE10-F6E2D9F2BBB1}" type="slidenum">
              <a:rPr lang="en-US" smtClean="0"/>
              <a:t>559</a:t>
            </a:fld>
            <a:endParaRPr lang="en-US"/>
          </a:p>
        </p:txBody>
      </p:sp>
    </p:spTree>
    <p:extLst>
      <p:ext uri="{BB962C8B-B14F-4D97-AF65-F5344CB8AC3E}">
        <p14:creationId xmlns:p14="http://schemas.microsoft.com/office/powerpoint/2010/main" val="1721823132"/>
      </p:ext>
    </p:extLst>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C69602-D8C2-48CF-AF47-5010C936E2ED}"/>
              </a:ext>
            </a:extLst>
          </p:cNvPr>
          <p:cNvSpPr>
            <a:spLocks noGrp="1"/>
          </p:cNvSpPr>
          <p:nvPr>
            <p:ph idx="1"/>
          </p:nvPr>
        </p:nvSpPr>
        <p:spPr>
          <a:xfrm>
            <a:off x="838200" y="457200"/>
            <a:ext cx="10515600" cy="5719763"/>
          </a:xfrm>
        </p:spPr>
        <p:txBody>
          <a:bodyPr/>
          <a:lstStyle/>
          <a:p>
            <a:pPr algn="just"/>
            <a:r>
              <a:rPr lang="en-US" dirty="0" err="1"/>
              <a:t>sns.jointplot</a:t>
            </a:r>
            <a:r>
              <a:rPr lang="en-US" dirty="0"/>
              <a:t> creates a visualization with three components: a scatter plot, a histogram of the distribution of x values, and a histogram of the distribution of y values.</a:t>
            </a:r>
          </a:p>
          <a:p>
            <a:pPr algn="just"/>
            <a:r>
              <a:rPr lang="en-US" dirty="0" err="1">
                <a:solidFill>
                  <a:srgbClr val="FF0000"/>
                </a:solidFill>
              </a:rPr>
              <a:t>sns.jointplot</a:t>
            </a:r>
            <a:r>
              <a:rPr lang="en-US" dirty="0">
                <a:solidFill>
                  <a:srgbClr val="FF0000"/>
                </a:solidFill>
              </a:rPr>
              <a:t>(data = </a:t>
            </a:r>
            <a:r>
              <a:rPr lang="en-US" dirty="0" err="1">
                <a:solidFill>
                  <a:srgbClr val="FF0000"/>
                </a:solidFill>
              </a:rPr>
              <a:t>wb</a:t>
            </a:r>
            <a:r>
              <a:rPr lang="en-US" dirty="0">
                <a:solidFill>
                  <a:srgbClr val="FF0000"/>
                </a:solidFill>
              </a:rPr>
              <a:t>, x = "per capita: % growth: 2016", y = "Adult literacy rate: Female: % ages 15 and older: 2005-14")</a:t>
            </a:r>
          </a:p>
          <a:p>
            <a:pPr algn="just"/>
            <a:r>
              <a:rPr lang="en-US" dirty="0"/>
              <a:t># </a:t>
            </a:r>
            <a:r>
              <a:rPr lang="en-US" dirty="0" err="1"/>
              <a:t>plt.suptitle</a:t>
            </a:r>
            <a:r>
              <a:rPr lang="en-US" dirty="0"/>
              <a:t> allows us to shift the title up so it does not overlap with the histogram</a:t>
            </a:r>
          </a:p>
          <a:p>
            <a:pPr algn="just"/>
            <a:endParaRPr lang="en-US" dirty="0"/>
          </a:p>
          <a:p>
            <a:pPr algn="just"/>
            <a:r>
              <a:rPr lang="en-US" dirty="0" err="1"/>
              <a:t>plt.suptitle</a:t>
            </a:r>
            <a:r>
              <a:rPr lang="en-US" dirty="0"/>
              <a:t>("Female adult literacy against % growth")</a:t>
            </a:r>
          </a:p>
          <a:p>
            <a:pPr algn="just"/>
            <a:r>
              <a:rPr lang="en-US" dirty="0" err="1">
                <a:solidFill>
                  <a:srgbClr val="FF0000"/>
                </a:solidFill>
              </a:rPr>
              <a:t>plt.subplots_adjust</a:t>
            </a:r>
            <a:r>
              <a:rPr lang="en-US" dirty="0">
                <a:solidFill>
                  <a:srgbClr val="FF0000"/>
                </a:solidFill>
              </a:rPr>
              <a:t>(top=0.9)</a:t>
            </a:r>
            <a:r>
              <a:rPr lang="en-US" dirty="0"/>
              <a:t>;</a:t>
            </a:r>
          </a:p>
        </p:txBody>
      </p:sp>
      <p:sp>
        <p:nvSpPr>
          <p:cNvPr id="4" name="Slide Number Placeholder 3">
            <a:extLst>
              <a:ext uri="{FF2B5EF4-FFF2-40B4-BE49-F238E27FC236}">
                <a16:creationId xmlns:a16="http://schemas.microsoft.com/office/drawing/2014/main" id="{FCC1EF45-4331-4E8A-893D-5D4C1B53A0CD}"/>
              </a:ext>
            </a:extLst>
          </p:cNvPr>
          <p:cNvSpPr>
            <a:spLocks noGrp="1"/>
          </p:cNvSpPr>
          <p:nvPr>
            <p:ph type="sldNum" sz="quarter" idx="12"/>
          </p:nvPr>
        </p:nvSpPr>
        <p:spPr/>
        <p:txBody>
          <a:bodyPr/>
          <a:lstStyle/>
          <a:p>
            <a:fld id="{6B97D948-30E8-43F7-AE10-F6E2D9F2BBB1}" type="slidenum">
              <a:rPr lang="en-US" smtClean="0"/>
              <a:t>560</a:t>
            </a:fld>
            <a:endParaRPr lang="en-US"/>
          </a:p>
        </p:txBody>
      </p:sp>
    </p:spTree>
    <p:extLst>
      <p:ext uri="{BB962C8B-B14F-4D97-AF65-F5344CB8AC3E}">
        <p14:creationId xmlns:p14="http://schemas.microsoft.com/office/powerpoint/2010/main" val="2133800775"/>
      </p:ext>
    </p:extLst>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A14974D-3D08-4A6A-B1F9-236D9E6AE4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7285" y="502579"/>
            <a:ext cx="5674384" cy="5674384"/>
          </a:xfrm>
        </p:spPr>
      </p:pic>
      <p:sp>
        <p:nvSpPr>
          <p:cNvPr id="3" name="Slide Number Placeholder 2">
            <a:extLst>
              <a:ext uri="{FF2B5EF4-FFF2-40B4-BE49-F238E27FC236}">
                <a16:creationId xmlns:a16="http://schemas.microsoft.com/office/drawing/2014/main" id="{D69B4F39-5805-42CA-B735-2C11D2CD50DA}"/>
              </a:ext>
            </a:extLst>
          </p:cNvPr>
          <p:cNvSpPr>
            <a:spLocks noGrp="1"/>
          </p:cNvSpPr>
          <p:nvPr>
            <p:ph type="sldNum" sz="quarter" idx="12"/>
          </p:nvPr>
        </p:nvSpPr>
        <p:spPr/>
        <p:txBody>
          <a:bodyPr/>
          <a:lstStyle/>
          <a:p>
            <a:fld id="{6B97D948-30E8-43F7-AE10-F6E2D9F2BBB1}" type="slidenum">
              <a:rPr lang="en-US" smtClean="0"/>
              <a:t>561</a:t>
            </a:fld>
            <a:endParaRPr lang="en-US"/>
          </a:p>
        </p:txBody>
      </p:sp>
    </p:spTree>
    <p:extLst>
      <p:ext uri="{BB962C8B-B14F-4D97-AF65-F5344CB8AC3E}">
        <p14:creationId xmlns:p14="http://schemas.microsoft.com/office/powerpoint/2010/main" val="3169084990"/>
      </p:ext>
    </p:extLst>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7F107-5DAC-4579-BAC0-640F2FCAF1F1}"/>
              </a:ext>
            </a:extLst>
          </p:cNvPr>
          <p:cNvSpPr>
            <a:spLocks noGrp="1"/>
          </p:cNvSpPr>
          <p:nvPr>
            <p:ph type="title"/>
          </p:nvPr>
        </p:nvSpPr>
        <p:spPr>
          <a:xfrm>
            <a:off x="838200" y="365125"/>
            <a:ext cx="10515600" cy="617369"/>
          </a:xfrm>
        </p:spPr>
        <p:txBody>
          <a:bodyPr>
            <a:normAutofit fontScale="90000"/>
          </a:bodyPr>
          <a:lstStyle/>
          <a:p>
            <a:r>
              <a:rPr lang="en-US" b="1" dirty="0"/>
              <a:t>Transformations</a:t>
            </a:r>
            <a:endParaRPr lang="en-US" dirty="0"/>
          </a:p>
        </p:txBody>
      </p:sp>
      <p:sp>
        <p:nvSpPr>
          <p:cNvPr id="3" name="Content Placeholder 2">
            <a:extLst>
              <a:ext uri="{FF2B5EF4-FFF2-40B4-BE49-F238E27FC236}">
                <a16:creationId xmlns:a16="http://schemas.microsoft.com/office/drawing/2014/main" id="{F8B49F25-7182-46B4-BB4D-01B542C0BDAD}"/>
              </a:ext>
            </a:extLst>
          </p:cNvPr>
          <p:cNvSpPr>
            <a:spLocks noGrp="1"/>
          </p:cNvSpPr>
          <p:nvPr>
            <p:ph idx="1"/>
          </p:nvPr>
        </p:nvSpPr>
        <p:spPr>
          <a:xfrm>
            <a:off x="838200" y="982494"/>
            <a:ext cx="10515600" cy="5194469"/>
          </a:xfrm>
        </p:spPr>
        <p:txBody>
          <a:bodyPr>
            <a:normAutofit fontScale="92500" lnSpcReduction="20000"/>
          </a:bodyPr>
          <a:lstStyle/>
          <a:p>
            <a:pPr algn="just"/>
            <a:r>
              <a:rPr lang="en-US" dirty="0"/>
              <a:t>A strong graphical correlation between two variables hints at an underlying relationship that we may want to study in greater detail. </a:t>
            </a:r>
          </a:p>
          <a:p>
            <a:pPr algn="just"/>
            <a:endParaRPr lang="en-US" dirty="0"/>
          </a:p>
          <a:p>
            <a:pPr algn="just"/>
            <a:r>
              <a:rPr lang="en-US" dirty="0"/>
              <a:t>However, relying on visual relationships alone is limiting - not all plots show association. </a:t>
            </a:r>
          </a:p>
          <a:p>
            <a:pPr algn="just"/>
            <a:endParaRPr lang="en-US" dirty="0"/>
          </a:p>
          <a:p>
            <a:pPr algn="just"/>
            <a:r>
              <a:rPr lang="en-US" dirty="0"/>
              <a:t>The presence of outliers and other statistical anomalies make it hard to interpret data.</a:t>
            </a:r>
          </a:p>
          <a:p>
            <a:endParaRPr lang="en-US" dirty="0"/>
          </a:p>
          <a:p>
            <a:pPr algn="just"/>
            <a:r>
              <a:rPr lang="en-US" dirty="0">
                <a:solidFill>
                  <a:srgbClr val="FF0000"/>
                </a:solidFill>
              </a:rPr>
              <a:t>Transformations</a:t>
            </a:r>
            <a:r>
              <a:rPr lang="en-US" dirty="0"/>
              <a:t> are the process of manipulating data to find significant relationships between variables. </a:t>
            </a:r>
          </a:p>
          <a:p>
            <a:pPr algn="just"/>
            <a:r>
              <a:rPr lang="en-US" dirty="0"/>
              <a:t>These are often found by applying mathematical functions to variables that “transform” their range of possible values and highlight some previously hidden associations between data.</a:t>
            </a:r>
          </a:p>
        </p:txBody>
      </p:sp>
      <p:sp>
        <p:nvSpPr>
          <p:cNvPr id="5" name="Slide Number Placeholder 4">
            <a:extLst>
              <a:ext uri="{FF2B5EF4-FFF2-40B4-BE49-F238E27FC236}">
                <a16:creationId xmlns:a16="http://schemas.microsoft.com/office/drawing/2014/main" id="{600D0A52-40C3-4018-BBA0-E42579366BD5}"/>
              </a:ext>
            </a:extLst>
          </p:cNvPr>
          <p:cNvSpPr>
            <a:spLocks noGrp="1"/>
          </p:cNvSpPr>
          <p:nvPr>
            <p:ph type="sldNum" sz="quarter" idx="12"/>
          </p:nvPr>
        </p:nvSpPr>
        <p:spPr/>
        <p:txBody>
          <a:bodyPr/>
          <a:lstStyle/>
          <a:p>
            <a:fld id="{6B97D948-30E8-43F7-AE10-F6E2D9F2BBB1}" type="slidenum">
              <a:rPr lang="en-US" smtClean="0"/>
              <a:t>562</a:t>
            </a:fld>
            <a:endParaRPr lang="en-US"/>
          </a:p>
        </p:txBody>
      </p:sp>
    </p:spTree>
    <p:extLst>
      <p:ext uri="{BB962C8B-B14F-4D97-AF65-F5344CB8AC3E}">
        <p14:creationId xmlns:p14="http://schemas.microsoft.com/office/powerpoint/2010/main" val="2695249386"/>
      </p:ext>
    </p:extLst>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CDDA2-0B84-4C6D-91CD-A24F09887889}"/>
              </a:ext>
            </a:extLst>
          </p:cNvPr>
          <p:cNvSpPr>
            <a:spLocks noGrp="1"/>
          </p:cNvSpPr>
          <p:nvPr>
            <p:ph type="title"/>
          </p:nvPr>
        </p:nvSpPr>
        <p:spPr>
          <a:xfrm>
            <a:off x="838200" y="365125"/>
            <a:ext cx="10515600" cy="442271"/>
          </a:xfrm>
        </p:spPr>
        <p:txBody>
          <a:bodyPr>
            <a:normAutofit/>
          </a:bodyPr>
          <a:lstStyle/>
          <a:p>
            <a:r>
              <a:rPr lang="en-US" sz="2400" b="1" dirty="0"/>
              <a:t>Consider the following plot of adult literacy rates against gross national income.</a:t>
            </a:r>
          </a:p>
        </p:txBody>
      </p:sp>
      <p:sp>
        <p:nvSpPr>
          <p:cNvPr id="3" name="Content Placeholder 2">
            <a:extLst>
              <a:ext uri="{FF2B5EF4-FFF2-40B4-BE49-F238E27FC236}">
                <a16:creationId xmlns:a16="http://schemas.microsoft.com/office/drawing/2014/main" id="{54ABCC2A-C70E-421E-8AE7-0BC767BDC377}"/>
              </a:ext>
            </a:extLst>
          </p:cNvPr>
          <p:cNvSpPr>
            <a:spLocks noGrp="1"/>
          </p:cNvSpPr>
          <p:nvPr>
            <p:ph idx="1"/>
          </p:nvPr>
        </p:nvSpPr>
        <p:spPr>
          <a:xfrm>
            <a:off x="838200" y="904672"/>
            <a:ext cx="10515600" cy="5272291"/>
          </a:xfrm>
        </p:spPr>
        <p:txBody>
          <a:bodyPr>
            <a:normAutofit/>
          </a:bodyPr>
          <a:lstStyle/>
          <a:p>
            <a:pPr algn="just"/>
            <a:r>
              <a:rPr lang="en-US" dirty="0">
                <a:solidFill>
                  <a:srgbClr val="FF0000"/>
                </a:solidFill>
              </a:rPr>
              <a:t>df = </a:t>
            </a:r>
            <a:r>
              <a:rPr lang="en-US" dirty="0" err="1">
                <a:solidFill>
                  <a:srgbClr val="FF0000"/>
                </a:solidFill>
              </a:rPr>
              <a:t>pd.DataFrame</a:t>
            </a:r>
            <a:r>
              <a:rPr lang="en-US" dirty="0">
                <a:solidFill>
                  <a:srgbClr val="FF0000"/>
                </a:solidFill>
              </a:rPr>
              <a:t>(index=</a:t>
            </a:r>
            <a:r>
              <a:rPr lang="en-US" dirty="0" err="1">
                <a:solidFill>
                  <a:srgbClr val="FF0000"/>
                </a:solidFill>
              </a:rPr>
              <a:t>wb.index</a:t>
            </a:r>
            <a:r>
              <a:rPr lang="en-US" dirty="0">
                <a:solidFill>
                  <a:srgbClr val="FF0000"/>
                </a:solidFill>
              </a:rPr>
              <a:t>)</a:t>
            </a:r>
          </a:p>
          <a:p>
            <a:pPr algn="just"/>
            <a:r>
              <a:rPr lang="en-US" dirty="0">
                <a:solidFill>
                  <a:srgbClr val="FF0000"/>
                </a:solidFill>
              </a:rPr>
              <a:t>df['lit'] = </a:t>
            </a:r>
            <a:r>
              <a:rPr lang="en-US" dirty="0" err="1">
                <a:solidFill>
                  <a:srgbClr val="FF0000"/>
                </a:solidFill>
              </a:rPr>
              <a:t>wb</a:t>
            </a:r>
            <a:r>
              <a:rPr lang="en-US" dirty="0">
                <a:solidFill>
                  <a:srgbClr val="FF0000"/>
                </a:solidFill>
              </a:rPr>
              <a:t>['Adult literacy rate: Female: % ages 15 and older: 2005-14'] + </a:t>
            </a:r>
            <a:r>
              <a:rPr lang="en-US" dirty="0" err="1">
                <a:solidFill>
                  <a:srgbClr val="FF0000"/>
                </a:solidFill>
              </a:rPr>
              <a:t>wb</a:t>
            </a:r>
            <a:r>
              <a:rPr lang="en-US" dirty="0">
                <a:solidFill>
                  <a:srgbClr val="FF0000"/>
                </a:solidFill>
              </a:rPr>
              <a:t>["Adult literacy rate: Male: % ages 15 and older: 2005-14"]</a:t>
            </a:r>
          </a:p>
          <a:p>
            <a:pPr algn="just"/>
            <a:r>
              <a:rPr lang="en-US" dirty="0">
                <a:solidFill>
                  <a:srgbClr val="FF0000"/>
                </a:solidFill>
              </a:rPr>
              <a:t>df['</a:t>
            </a:r>
            <a:r>
              <a:rPr lang="en-US" dirty="0" err="1">
                <a:solidFill>
                  <a:srgbClr val="FF0000"/>
                </a:solidFill>
              </a:rPr>
              <a:t>inc</a:t>
            </a:r>
            <a:r>
              <a:rPr lang="en-US" dirty="0">
                <a:solidFill>
                  <a:srgbClr val="FF0000"/>
                </a:solidFill>
              </a:rPr>
              <a:t>'] = </a:t>
            </a:r>
            <a:r>
              <a:rPr lang="en-US" dirty="0" err="1">
                <a:solidFill>
                  <a:srgbClr val="FF0000"/>
                </a:solidFill>
              </a:rPr>
              <a:t>wb</a:t>
            </a:r>
            <a:r>
              <a:rPr lang="en-US" dirty="0">
                <a:solidFill>
                  <a:srgbClr val="FF0000"/>
                </a:solidFill>
              </a:rPr>
              <a:t>['Gross national income per capita, Atlas method: $: 2016']</a:t>
            </a:r>
          </a:p>
          <a:p>
            <a:pPr algn="just"/>
            <a:r>
              <a:rPr lang="en-US" dirty="0" err="1">
                <a:solidFill>
                  <a:srgbClr val="FF0000"/>
                </a:solidFill>
              </a:rPr>
              <a:t>df.dropna</a:t>
            </a:r>
            <a:r>
              <a:rPr lang="en-US" dirty="0">
                <a:solidFill>
                  <a:srgbClr val="FF0000"/>
                </a:solidFill>
              </a:rPr>
              <a:t>(</a:t>
            </a:r>
            <a:r>
              <a:rPr lang="en-US" dirty="0" err="1">
                <a:solidFill>
                  <a:srgbClr val="FF0000"/>
                </a:solidFill>
              </a:rPr>
              <a:t>inplace</a:t>
            </a:r>
            <a:r>
              <a:rPr lang="en-US" dirty="0">
                <a:solidFill>
                  <a:srgbClr val="FF0000"/>
                </a:solidFill>
              </a:rPr>
              <a:t>=True)</a:t>
            </a:r>
          </a:p>
          <a:p>
            <a:pPr algn="just"/>
            <a:r>
              <a:rPr lang="en-US" dirty="0" err="1">
                <a:solidFill>
                  <a:srgbClr val="0070C0"/>
                </a:solidFill>
              </a:rPr>
              <a:t>plt.scatter</a:t>
            </a:r>
            <a:r>
              <a:rPr lang="en-US" dirty="0">
                <a:solidFill>
                  <a:srgbClr val="0070C0"/>
                </a:solidFill>
              </a:rPr>
              <a:t>(df["</a:t>
            </a:r>
            <a:r>
              <a:rPr lang="en-US" dirty="0" err="1">
                <a:solidFill>
                  <a:srgbClr val="0070C0"/>
                </a:solidFill>
              </a:rPr>
              <a:t>inc</a:t>
            </a:r>
            <a:r>
              <a:rPr lang="en-US" dirty="0">
                <a:solidFill>
                  <a:srgbClr val="0070C0"/>
                </a:solidFill>
              </a:rPr>
              <a:t>"], df["lit"])</a:t>
            </a:r>
          </a:p>
          <a:p>
            <a:pPr algn="just"/>
            <a:r>
              <a:rPr lang="en-US" dirty="0" err="1">
                <a:solidFill>
                  <a:srgbClr val="FF0000"/>
                </a:solidFill>
              </a:rPr>
              <a:t>plt.xlabel</a:t>
            </a:r>
            <a:r>
              <a:rPr lang="en-US" dirty="0">
                <a:solidFill>
                  <a:srgbClr val="FF0000"/>
                </a:solidFill>
              </a:rPr>
              <a:t>("Gross national income per capita")</a:t>
            </a:r>
          </a:p>
          <a:p>
            <a:pPr algn="just"/>
            <a:r>
              <a:rPr lang="en-US" dirty="0" err="1">
                <a:solidFill>
                  <a:srgbClr val="FF0000"/>
                </a:solidFill>
              </a:rPr>
              <a:t>plt.ylabel</a:t>
            </a:r>
            <a:r>
              <a:rPr lang="en-US" dirty="0">
                <a:solidFill>
                  <a:srgbClr val="FF0000"/>
                </a:solidFill>
              </a:rPr>
              <a:t>("Adult literacy rate")</a:t>
            </a:r>
          </a:p>
          <a:p>
            <a:pPr algn="just"/>
            <a:r>
              <a:rPr lang="en-US" dirty="0" err="1">
                <a:solidFill>
                  <a:srgbClr val="FF0000"/>
                </a:solidFill>
              </a:rPr>
              <a:t>plt.title</a:t>
            </a:r>
            <a:r>
              <a:rPr lang="en-US" dirty="0">
                <a:solidFill>
                  <a:srgbClr val="FF0000"/>
                </a:solidFill>
              </a:rPr>
              <a:t>("Adult literacy rate against GNI per capita");</a:t>
            </a:r>
          </a:p>
        </p:txBody>
      </p:sp>
      <p:sp>
        <p:nvSpPr>
          <p:cNvPr id="5" name="Slide Number Placeholder 4">
            <a:extLst>
              <a:ext uri="{FF2B5EF4-FFF2-40B4-BE49-F238E27FC236}">
                <a16:creationId xmlns:a16="http://schemas.microsoft.com/office/drawing/2014/main" id="{1D888CFB-F090-4F73-B687-D35732F065B9}"/>
              </a:ext>
            </a:extLst>
          </p:cNvPr>
          <p:cNvSpPr>
            <a:spLocks noGrp="1"/>
          </p:cNvSpPr>
          <p:nvPr>
            <p:ph type="sldNum" sz="quarter" idx="12"/>
          </p:nvPr>
        </p:nvSpPr>
        <p:spPr/>
        <p:txBody>
          <a:bodyPr/>
          <a:lstStyle/>
          <a:p>
            <a:fld id="{6B97D948-30E8-43F7-AE10-F6E2D9F2BBB1}" type="slidenum">
              <a:rPr lang="en-US" smtClean="0"/>
              <a:t>563</a:t>
            </a:fld>
            <a:endParaRPr lang="en-US"/>
          </a:p>
        </p:txBody>
      </p:sp>
    </p:spTree>
    <p:extLst>
      <p:ext uri="{BB962C8B-B14F-4D97-AF65-F5344CB8AC3E}">
        <p14:creationId xmlns:p14="http://schemas.microsoft.com/office/powerpoint/2010/main" val="1288946692"/>
      </p:ext>
    </p:extLst>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81F7B4-7786-4302-AB9F-7065AC8647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4993" y="496111"/>
            <a:ext cx="7574469" cy="5680852"/>
          </a:xfrm>
        </p:spPr>
      </p:pic>
      <p:sp>
        <p:nvSpPr>
          <p:cNvPr id="3" name="Slide Number Placeholder 2">
            <a:extLst>
              <a:ext uri="{FF2B5EF4-FFF2-40B4-BE49-F238E27FC236}">
                <a16:creationId xmlns:a16="http://schemas.microsoft.com/office/drawing/2014/main" id="{6CEE643A-B067-4D99-878F-BF2B6C8E8EE2}"/>
              </a:ext>
            </a:extLst>
          </p:cNvPr>
          <p:cNvSpPr>
            <a:spLocks noGrp="1"/>
          </p:cNvSpPr>
          <p:nvPr>
            <p:ph type="sldNum" sz="quarter" idx="12"/>
          </p:nvPr>
        </p:nvSpPr>
        <p:spPr/>
        <p:txBody>
          <a:bodyPr/>
          <a:lstStyle/>
          <a:p>
            <a:fld id="{6B97D948-30E8-43F7-AE10-F6E2D9F2BBB1}" type="slidenum">
              <a:rPr lang="en-US" smtClean="0"/>
              <a:t>564</a:t>
            </a:fld>
            <a:endParaRPr lang="en-US"/>
          </a:p>
        </p:txBody>
      </p:sp>
    </p:spTree>
    <p:extLst>
      <p:ext uri="{BB962C8B-B14F-4D97-AF65-F5344CB8AC3E}">
        <p14:creationId xmlns:p14="http://schemas.microsoft.com/office/powerpoint/2010/main" val="2051096090"/>
      </p:ext>
    </p:extLst>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B58BE2-09F4-4136-A84F-81CE3FE04288}"/>
              </a:ext>
            </a:extLst>
          </p:cNvPr>
          <p:cNvSpPr>
            <a:spLocks noGrp="1"/>
          </p:cNvSpPr>
          <p:nvPr>
            <p:ph idx="1"/>
          </p:nvPr>
        </p:nvSpPr>
        <p:spPr>
          <a:xfrm>
            <a:off x="838200" y="398834"/>
            <a:ext cx="10515600" cy="5778129"/>
          </a:xfrm>
        </p:spPr>
        <p:txBody>
          <a:bodyPr/>
          <a:lstStyle/>
          <a:p>
            <a:pPr algn="just"/>
            <a:r>
              <a:rPr lang="en-US" dirty="0"/>
              <a:t>This plot is difficult to interpret for two reasons:</a:t>
            </a:r>
          </a:p>
          <a:p>
            <a:pPr algn="just"/>
            <a:endParaRPr lang="en-US" dirty="0"/>
          </a:p>
          <a:p>
            <a:pPr algn="just"/>
            <a:r>
              <a:rPr lang="en-US" dirty="0"/>
              <a:t>The data shown in the visualization appears almost “smushed” – it is heavily concentrated in the upper </a:t>
            </a:r>
            <a:r>
              <a:rPr lang="en-US" dirty="0" err="1"/>
              <a:t>lefthand</a:t>
            </a:r>
            <a:r>
              <a:rPr lang="en-US" dirty="0"/>
              <a:t> region of the plot. Even if we </a:t>
            </a:r>
            <a:r>
              <a:rPr lang="en-US" dirty="0">
                <a:solidFill>
                  <a:srgbClr val="FF0000"/>
                </a:solidFill>
              </a:rPr>
              <a:t>jittered the dataset</a:t>
            </a:r>
            <a:r>
              <a:rPr lang="en-US" dirty="0"/>
              <a:t>, we likely would not be able to fully assess all datapoints in that area.</a:t>
            </a:r>
          </a:p>
          <a:p>
            <a:pPr algn="just"/>
            <a:endParaRPr lang="en-US" dirty="0"/>
          </a:p>
          <a:p>
            <a:pPr algn="just"/>
            <a:r>
              <a:rPr lang="en-US" dirty="0"/>
              <a:t>It is hard to generalize a clear relationship between the two plotted variables. While adult literacy rate appears to share some positive relationship with gross national income, we are not able to describe the specifics in this trend in much detail.</a:t>
            </a:r>
          </a:p>
          <a:p>
            <a:pPr algn="just"/>
            <a:endParaRPr lang="en-US" dirty="0"/>
          </a:p>
        </p:txBody>
      </p:sp>
      <p:sp>
        <p:nvSpPr>
          <p:cNvPr id="4" name="Slide Number Placeholder 3">
            <a:extLst>
              <a:ext uri="{FF2B5EF4-FFF2-40B4-BE49-F238E27FC236}">
                <a16:creationId xmlns:a16="http://schemas.microsoft.com/office/drawing/2014/main" id="{C969F223-F069-41BA-ACB5-64A6C30F44AD}"/>
              </a:ext>
            </a:extLst>
          </p:cNvPr>
          <p:cNvSpPr>
            <a:spLocks noGrp="1"/>
          </p:cNvSpPr>
          <p:nvPr>
            <p:ph type="sldNum" sz="quarter" idx="12"/>
          </p:nvPr>
        </p:nvSpPr>
        <p:spPr/>
        <p:txBody>
          <a:bodyPr/>
          <a:lstStyle/>
          <a:p>
            <a:fld id="{6B97D948-30E8-43F7-AE10-F6E2D9F2BBB1}" type="slidenum">
              <a:rPr lang="en-US" smtClean="0"/>
              <a:t>565</a:t>
            </a:fld>
            <a:endParaRPr lang="en-US"/>
          </a:p>
        </p:txBody>
      </p:sp>
    </p:spTree>
    <p:extLst>
      <p:ext uri="{BB962C8B-B14F-4D97-AF65-F5344CB8AC3E}">
        <p14:creationId xmlns:p14="http://schemas.microsoft.com/office/powerpoint/2010/main" val="897191402"/>
      </p:ext>
    </p:extLst>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D6ECB-3452-4DF7-BDBC-317E71425175}"/>
              </a:ext>
            </a:extLst>
          </p:cNvPr>
          <p:cNvSpPr>
            <a:spLocks noGrp="1"/>
          </p:cNvSpPr>
          <p:nvPr>
            <p:ph idx="1"/>
          </p:nvPr>
        </p:nvSpPr>
        <p:spPr>
          <a:xfrm>
            <a:off x="838200" y="505838"/>
            <a:ext cx="10515600" cy="5671125"/>
          </a:xfrm>
        </p:spPr>
        <p:txBody>
          <a:bodyPr/>
          <a:lstStyle/>
          <a:p>
            <a:pPr algn="just"/>
            <a:r>
              <a:rPr lang="en-US" dirty="0"/>
              <a:t>A </a:t>
            </a:r>
            <a:r>
              <a:rPr lang="en-US" dirty="0">
                <a:solidFill>
                  <a:srgbClr val="FF0000"/>
                </a:solidFill>
              </a:rPr>
              <a:t>transformation</a:t>
            </a:r>
            <a:r>
              <a:rPr lang="en-US" dirty="0"/>
              <a:t> would allow us to visualize this data more clearly, which, in turn, would enable us to describe the underlying relationship between our variables of interest.</a:t>
            </a:r>
          </a:p>
          <a:p>
            <a:pPr algn="just"/>
            <a:endParaRPr lang="en-US" dirty="0"/>
          </a:p>
          <a:p>
            <a:pPr algn="just"/>
            <a:r>
              <a:rPr lang="en-US" dirty="0"/>
              <a:t>We will most commonly apply a transformation to linearize a relationship between variables. </a:t>
            </a:r>
          </a:p>
          <a:p>
            <a:pPr algn="just"/>
            <a:endParaRPr lang="en-US" dirty="0"/>
          </a:p>
          <a:p>
            <a:pPr algn="just"/>
            <a:r>
              <a:rPr lang="en-US" dirty="0"/>
              <a:t>If we find a transformation to make a scatter plot of two variables linear, we can “backtrack” to find the exact relationship between the variables. </a:t>
            </a:r>
          </a:p>
        </p:txBody>
      </p:sp>
      <p:sp>
        <p:nvSpPr>
          <p:cNvPr id="4" name="Slide Number Placeholder 3">
            <a:extLst>
              <a:ext uri="{FF2B5EF4-FFF2-40B4-BE49-F238E27FC236}">
                <a16:creationId xmlns:a16="http://schemas.microsoft.com/office/drawing/2014/main" id="{D1608484-5C84-4B38-B19E-D83F1BEA0FD6}"/>
              </a:ext>
            </a:extLst>
          </p:cNvPr>
          <p:cNvSpPr>
            <a:spLocks noGrp="1"/>
          </p:cNvSpPr>
          <p:nvPr>
            <p:ph type="sldNum" sz="quarter" idx="12"/>
          </p:nvPr>
        </p:nvSpPr>
        <p:spPr/>
        <p:txBody>
          <a:bodyPr/>
          <a:lstStyle/>
          <a:p>
            <a:fld id="{6B97D948-30E8-43F7-AE10-F6E2D9F2BBB1}" type="slidenum">
              <a:rPr lang="en-US" smtClean="0"/>
              <a:t>566</a:t>
            </a:fld>
            <a:endParaRPr lang="en-US"/>
          </a:p>
        </p:txBody>
      </p:sp>
    </p:spTree>
    <p:extLst>
      <p:ext uri="{BB962C8B-B14F-4D97-AF65-F5344CB8AC3E}">
        <p14:creationId xmlns:p14="http://schemas.microsoft.com/office/powerpoint/2010/main" val="333925058"/>
      </p:ext>
    </p:extLst>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A5393F-610D-4A46-BE49-2B4BFF23C0A2}"/>
              </a:ext>
            </a:extLst>
          </p:cNvPr>
          <p:cNvSpPr>
            <a:spLocks noGrp="1"/>
          </p:cNvSpPr>
          <p:nvPr>
            <p:ph idx="1"/>
          </p:nvPr>
        </p:nvSpPr>
        <p:spPr>
          <a:xfrm>
            <a:off x="838200" y="418289"/>
            <a:ext cx="10515600" cy="5758674"/>
          </a:xfrm>
        </p:spPr>
        <p:txBody>
          <a:bodyPr/>
          <a:lstStyle/>
          <a:p>
            <a:r>
              <a:rPr lang="en-US" dirty="0"/>
              <a:t>This helps us in two major ways.</a:t>
            </a:r>
          </a:p>
          <a:p>
            <a:pPr algn="just"/>
            <a:r>
              <a:rPr lang="en-US" dirty="0"/>
              <a:t>Firstly, </a:t>
            </a:r>
            <a:r>
              <a:rPr lang="en-US" i="1" dirty="0"/>
              <a:t>linear relationships are particularly simple to interpret.</a:t>
            </a:r>
          </a:p>
          <a:p>
            <a:pPr algn="just"/>
            <a:endParaRPr lang="en-US" i="1" dirty="0"/>
          </a:p>
          <a:p>
            <a:pPr algn="just"/>
            <a:r>
              <a:rPr lang="en-US" i="1" dirty="0"/>
              <a:t>W</a:t>
            </a:r>
            <a:r>
              <a:rPr lang="en-US" dirty="0"/>
              <a:t>e have an intuitive sense of what the slope and intercept of a linear trend represent, and how they can help us understand the relationship between two variables. </a:t>
            </a:r>
          </a:p>
          <a:p>
            <a:pPr algn="just"/>
            <a:endParaRPr lang="en-US" dirty="0"/>
          </a:p>
          <a:p>
            <a:pPr algn="just"/>
            <a:r>
              <a:rPr lang="en-US" dirty="0"/>
              <a:t>Secondly, linear relationships are the backbone of linear models. </a:t>
            </a:r>
          </a:p>
          <a:p>
            <a:pPr algn="just"/>
            <a:endParaRPr lang="en-US" dirty="0"/>
          </a:p>
          <a:p>
            <a:pPr algn="just"/>
            <a:r>
              <a:rPr lang="en-US" dirty="0"/>
              <a:t>As we’ll soon see, </a:t>
            </a:r>
            <a:r>
              <a:rPr lang="en-US" i="1" dirty="0"/>
              <a:t>linear models become much more effective </a:t>
            </a:r>
            <a:r>
              <a:rPr lang="en-US" dirty="0"/>
              <a:t>when we are working with linearized data.</a:t>
            </a:r>
          </a:p>
        </p:txBody>
      </p:sp>
      <p:sp>
        <p:nvSpPr>
          <p:cNvPr id="4" name="Slide Number Placeholder 3">
            <a:extLst>
              <a:ext uri="{FF2B5EF4-FFF2-40B4-BE49-F238E27FC236}">
                <a16:creationId xmlns:a16="http://schemas.microsoft.com/office/drawing/2014/main" id="{D67AD037-077A-440C-B174-E608761E9DF7}"/>
              </a:ext>
            </a:extLst>
          </p:cNvPr>
          <p:cNvSpPr>
            <a:spLocks noGrp="1"/>
          </p:cNvSpPr>
          <p:nvPr>
            <p:ph type="sldNum" sz="quarter" idx="12"/>
          </p:nvPr>
        </p:nvSpPr>
        <p:spPr/>
        <p:txBody>
          <a:bodyPr/>
          <a:lstStyle/>
          <a:p>
            <a:fld id="{6B97D948-30E8-43F7-AE10-F6E2D9F2BBB1}" type="slidenum">
              <a:rPr lang="en-US" smtClean="0"/>
              <a:t>567</a:t>
            </a:fld>
            <a:endParaRPr lang="en-US"/>
          </a:p>
        </p:txBody>
      </p:sp>
    </p:spTree>
    <p:extLst>
      <p:ext uri="{BB962C8B-B14F-4D97-AF65-F5344CB8AC3E}">
        <p14:creationId xmlns:p14="http://schemas.microsoft.com/office/powerpoint/2010/main" val="4043446946"/>
      </p:ext>
    </p:extLst>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50EA76-584E-4E2A-A978-FC50881DBE7F}"/>
              </a:ext>
            </a:extLst>
          </p:cNvPr>
          <p:cNvSpPr>
            <a:spLocks noGrp="1"/>
          </p:cNvSpPr>
          <p:nvPr>
            <p:ph idx="1"/>
          </p:nvPr>
        </p:nvSpPr>
        <p:spPr>
          <a:xfrm>
            <a:off x="838200" y="350196"/>
            <a:ext cx="10515600" cy="5826767"/>
          </a:xfrm>
        </p:spPr>
        <p:txBody>
          <a:bodyPr/>
          <a:lstStyle/>
          <a:p>
            <a:pPr algn="just"/>
            <a:r>
              <a:rPr lang="en-US" dirty="0"/>
              <a:t>We will linearize a dataset to produce the result below. </a:t>
            </a:r>
          </a:p>
          <a:p>
            <a:pPr algn="just"/>
            <a:endParaRPr lang="en-US" dirty="0"/>
          </a:p>
          <a:p>
            <a:pPr algn="just"/>
            <a:r>
              <a:rPr lang="en-US" dirty="0"/>
              <a:t>Notice that the resulting plot displays a rough linear relationship between the values plotted on the x and y axes.</a:t>
            </a:r>
          </a:p>
        </p:txBody>
      </p:sp>
      <p:pic>
        <p:nvPicPr>
          <p:cNvPr id="5" name="Picture 4">
            <a:extLst>
              <a:ext uri="{FF2B5EF4-FFF2-40B4-BE49-F238E27FC236}">
                <a16:creationId xmlns:a16="http://schemas.microsoft.com/office/drawing/2014/main" id="{D3C99EC2-3BDB-4781-834D-0389F0AA08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5181" y="2643258"/>
            <a:ext cx="8359302" cy="2902066"/>
          </a:xfrm>
          <a:prstGeom prst="rect">
            <a:avLst/>
          </a:prstGeom>
        </p:spPr>
      </p:pic>
      <p:sp>
        <p:nvSpPr>
          <p:cNvPr id="4" name="Slide Number Placeholder 3">
            <a:extLst>
              <a:ext uri="{FF2B5EF4-FFF2-40B4-BE49-F238E27FC236}">
                <a16:creationId xmlns:a16="http://schemas.microsoft.com/office/drawing/2014/main" id="{312FD95B-BDD5-4576-B040-FF9C637B463D}"/>
              </a:ext>
            </a:extLst>
          </p:cNvPr>
          <p:cNvSpPr>
            <a:spLocks noGrp="1"/>
          </p:cNvSpPr>
          <p:nvPr>
            <p:ph type="sldNum" sz="quarter" idx="12"/>
          </p:nvPr>
        </p:nvSpPr>
        <p:spPr/>
        <p:txBody>
          <a:bodyPr/>
          <a:lstStyle/>
          <a:p>
            <a:fld id="{6B97D948-30E8-43F7-AE10-F6E2D9F2BBB1}" type="slidenum">
              <a:rPr lang="en-US" smtClean="0"/>
              <a:t>568</a:t>
            </a:fld>
            <a:endParaRPr lang="en-US"/>
          </a:p>
        </p:txBody>
      </p:sp>
    </p:spTree>
    <p:extLst>
      <p:ext uri="{BB962C8B-B14F-4D97-AF65-F5344CB8AC3E}">
        <p14:creationId xmlns:p14="http://schemas.microsoft.com/office/powerpoint/2010/main" val="2634028186"/>
      </p:ext>
    </p:extLst>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AC26C-6F77-4FBA-BA8A-AF7A7591B7A5}"/>
              </a:ext>
            </a:extLst>
          </p:cNvPr>
          <p:cNvSpPr>
            <a:spLocks noGrp="1"/>
          </p:cNvSpPr>
          <p:nvPr>
            <p:ph type="title"/>
          </p:nvPr>
        </p:nvSpPr>
        <p:spPr>
          <a:xfrm>
            <a:off x="838200" y="365125"/>
            <a:ext cx="10515600" cy="666007"/>
          </a:xfrm>
        </p:spPr>
        <p:txBody>
          <a:bodyPr>
            <a:normAutofit fontScale="90000"/>
          </a:bodyPr>
          <a:lstStyle/>
          <a:p>
            <a:r>
              <a:rPr lang="en-US" dirty="0"/>
              <a:t>Applying Transformations</a:t>
            </a:r>
          </a:p>
        </p:txBody>
      </p:sp>
      <p:sp>
        <p:nvSpPr>
          <p:cNvPr id="3" name="Content Placeholder 2">
            <a:extLst>
              <a:ext uri="{FF2B5EF4-FFF2-40B4-BE49-F238E27FC236}">
                <a16:creationId xmlns:a16="http://schemas.microsoft.com/office/drawing/2014/main" id="{2863E09C-09F2-4B04-9C0B-0F0B3595F471}"/>
              </a:ext>
            </a:extLst>
          </p:cNvPr>
          <p:cNvSpPr>
            <a:spLocks noGrp="1"/>
          </p:cNvSpPr>
          <p:nvPr>
            <p:ph idx="1"/>
          </p:nvPr>
        </p:nvSpPr>
        <p:spPr>
          <a:xfrm>
            <a:off x="838200" y="1031132"/>
            <a:ext cx="10515600" cy="5145831"/>
          </a:xfrm>
        </p:spPr>
        <p:txBody>
          <a:bodyPr>
            <a:normAutofit fontScale="92500" lnSpcReduction="10000"/>
          </a:bodyPr>
          <a:lstStyle/>
          <a:p>
            <a:pPr algn="just"/>
            <a:r>
              <a:rPr lang="en-US" dirty="0"/>
              <a:t>To linearize a relationship, begin by asking: what makes the data non-linear? </a:t>
            </a:r>
          </a:p>
          <a:p>
            <a:pPr algn="just"/>
            <a:endParaRPr lang="en-US" dirty="0"/>
          </a:p>
          <a:p>
            <a:pPr algn="just"/>
            <a:r>
              <a:rPr lang="en-US" dirty="0"/>
              <a:t>It is helpful to repeat this question for each variable in your visualization.</a:t>
            </a:r>
          </a:p>
          <a:p>
            <a:pPr algn="just"/>
            <a:endParaRPr lang="en-US" dirty="0"/>
          </a:p>
          <a:p>
            <a:pPr algn="just"/>
            <a:r>
              <a:rPr lang="en-US" dirty="0"/>
              <a:t>Let’s start by considering the gross national income variable in our plot above. </a:t>
            </a:r>
          </a:p>
          <a:p>
            <a:pPr algn="just"/>
            <a:r>
              <a:rPr lang="en-US" dirty="0"/>
              <a:t>Looking at just the x values in the scatter plot, we notice that most datapoints are clustered at low values to the left of the plot. </a:t>
            </a:r>
          </a:p>
          <a:p>
            <a:pPr algn="just"/>
            <a:endParaRPr lang="en-US" dirty="0"/>
          </a:p>
          <a:p>
            <a:pPr algn="just"/>
            <a:r>
              <a:rPr lang="en-US" dirty="0"/>
              <a:t>The scale of the x axis is being distorted by the few outlying datapoints at extremely large values on the right.</a:t>
            </a:r>
          </a:p>
        </p:txBody>
      </p:sp>
      <p:sp>
        <p:nvSpPr>
          <p:cNvPr id="5" name="Slide Number Placeholder 4">
            <a:extLst>
              <a:ext uri="{FF2B5EF4-FFF2-40B4-BE49-F238E27FC236}">
                <a16:creationId xmlns:a16="http://schemas.microsoft.com/office/drawing/2014/main" id="{E54F3081-7F0E-4C45-BA64-8DD274ED99DB}"/>
              </a:ext>
            </a:extLst>
          </p:cNvPr>
          <p:cNvSpPr>
            <a:spLocks noGrp="1"/>
          </p:cNvSpPr>
          <p:nvPr>
            <p:ph type="sldNum" sz="quarter" idx="12"/>
          </p:nvPr>
        </p:nvSpPr>
        <p:spPr/>
        <p:txBody>
          <a:bodyPr/>
          <a:lstStyle/>
          <a:p>
            <a:fld id="{6B97D948-30E8-43F7-AE10-F6E2D9F2BBB1}" type="slidenum">
              <a:rPr lang="en-US" smtClean="0"/>
              <a:t>569</a:t>
            </a:fld>
            <a:endParaRPr lang="en-US"/>
          </a:p>
        </p:txBody>
      </p:sp>
    </p:spTree>
    <p:extLst>
      <p:ext uri="{BB962C8B-B14F-4D97-AF65-F5344CB8AC3E}">
        <p14:creationId xmlns:p14="http://schemas.microsoft.com/office/powerpoint/2010/main" val="2501629474"/>
      </p:ext>
    </p:extLst>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B85FA1F-AD21-4ADA-8F05-B81692599985}"/>
              </a:ext>
            </a:extLst>
          </p:cNvPr>
          <p:cNvPicPr>
            <a:picLocks noGrp="1" noChangeAspect="1"/>
          </p:cNvPicPr>
          <p:nvPr>
            <p:ph idx="1"/>
          </p:nvPr>
        </p:nvPicPr>
        <p:blipFill>
          <a:blip r:embed="rId2"/>
          <a:stretch>
            <a:fillRect/>
          </a:stretch>
        </p:blipFill>
        <p:spPr>
          <a:xfrm>
            <a:off x="2422188" y="465325"/>
            <a:ext cx="6622689" cy="5760276"/>
          </a:xfrm>
          <a:prstGeom prst="rect">
            <a:avLst/>
          </a:prstGeom>
        </p:spPr>
      </p:pic>
      <p:sp>
        <p:nvSpPr>
          <p:cNvPr id="3" name="Slide Number Placeholder 2">
            <a:extLst>
              <a:ext uri="{FF2B5EF4-FFF2-40B4-BE49-F238E27FC236}">
                <a16:creationId xmlns:a16="http://schemas.microsoft.com/office/drawing/2014/main" id="{70FE2B81-F787-4763-A15F-03A45441EA8F}"/>
              </a:ext>
            </a:extLst>
          </p:cNvPr>
          <p:cNvSpPr>
            <a:spLocks noGrp="1"/>
          </p:cNvSpPr>
          <p:nvPr>
            <p:ph type="sldNum" sz="quarter" idx="12"/>
          </p:nvPr>
        </p:nvSpPr>
        <p:spPr/>
        <p:txBody>
          <a:bodyPr/>
          <a:lstStyle/>
          <a:p>
            <a:fld id="{6B97D948-30E8-43F7-AE10-F6E2D9F2BBB1}" type="slidenum">
              <a:rPr lang="en-US" smtClean="0"/>
              <a:t>570</a:t>
            </a:fld>
            <a:endParaRPr lang="en-US"/>
          </a:p>
        </p:txBody>
      </p:sp>
    </p:spTree>
    <p:extLst>
      <p:ext uri="{BB962C8B-B14F-4D97-AF65-F5344CB8AC3E}">
        <p14:creationId xmlns:p14="http://schemas.microsoft.com/office/powerpoint/2010/main" val="3163507220"/>
      </p:ext>
    </p:extLst>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2B029F-223C-48D1-9574-AFCFC99B9499}"/>
              </a:ext>
            </a:extLst>
          </p:cNvPr>
          <p:cNvSpPr>
            <a:spLocks noGrp="1"/>
          </p:cNvSpPr>
          <p:nvPr>
            <p:ph idx="1"/>
          </p:nvPr>
        </p:nvSpPr>
        <p:spPr>
          <a:xfrm>
            <a:off x="838200" y="321013"/>
            <a:ext cx="10515600" cy="5855950"/>
          </a:xfrm>
        </p:spPr>
        <p:txBody>
          <a:bodyPr/>
          <a:lstStyle/>
          <a:p>
            <a:pPr algn="just"/>
            <a:r>
              <a:rPr lang="en-US" dirty="0"/>
              <a:t>If we decreased the size of these outliers relative to the bulk of the data, we could reduce the distortion of the horizontal axis. </a:t>
            </a:r>
          </a:p>
          <a:p>
            <a:pPr algn="just"/>
            <a:endParaRPr lang="en-US" dirty="0"/>
          </a:p>
          <a:p>
            <a:pPr algn="just"/>
            <a:r>
              <a:rPr lang="en-US" dirty="0"/>
              <a:t>How can we do this? We need a transformation that will:</a:t>
            </a:r>
          </a:p>
          <a:p>
            <a:endParaRPr lang="en-US" dirty="0"/>
          </a:p>
          <a:p>
            <a:r>
              <a:rPr lang="en-US" dirty="0"/>
              <a:t>    Decrease the magnitude of large x values by a significant amount</a:t>
            </a:r>
          </a:p>
          <a:p>
            <a:r>
              <a:rPr lang="en-US" dirty="0"/>
              <a:t>    Not drastically change the magnitude of small x values</a:t>
            </a:r>
          </a:p>
          <a:p>
            <a:endParaRPr lang="en-US" dirty="0"/>
          </a:p>
        </p:txBody>
      </p:sp>
      <p:sp>
        <p:nvSpPr>
          <p:cNvPr id="4" name="Slide Number Placeholder 3">
            <a:extLst>
              <a:ext uri="{FF2B5EF4-FFF2-40B4-BE49-F238E27FC236}">
                <a16:creationId xmlns:a16="http://schemas.microsoft.com/office/drawing/2014/main" id="{90B2A6E8-E8C2-4549-84B2-C23927E1CAD7}"/>
              </a:ext>
            </a:extLst>
          </p:cNvPr>
          <p:cNvSpPr>
            <a:spLocks noGrp="1"/>
          </p:cNvSpPr>
          <p:nvPr>
            <p:ph type="sldNum" sz="quarter" idx="12"/>
          </p:nvPr>
        </p:nvSpPr>
        <p:spPr/>
        <p:txBody>
          <a:bodyPr/>
          <a:lstStyle/>
          <a:p>
            <a:fld id="{6B97D948-30E8-43F7-AE10-F6E2D9F2BBB1}" type="slidenum">
              <a:rPr lang="en-US" smtClean="0"/>
              <a:t>571</a:t>
            </a:fld>
            <a:endParaRPr lang="en-US"/>
          </a:p>
        </p:txBody>
      </p:sp>
    </p:spTree>
    <p:extLst>
      <p:ext uri="{BB962C8B-B14F-4D97-AF65-F5344CB8AC3E}">
        <p14:creationId xmlns:p14="http://schemas.microsoft.com/office/powerpoint/2010/main" val="4217793710"/>
      </p:ext>
    </p:extLst>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7A3224-BC89-4BF9-A4A7-F118C528A7EF}"/>
              </a:ext>
            </a:extLst>
          </p:cNvPr>
          <p:cNvSpPr>
            <a:spLocks noGrp="1"/>
          </p:cNvSpPr>
          <p:nvPr>
            <p:ph idx="1"/>
          </p:nvPr>
        </p:nvSpPr>
        <p:spPr>
          <a:xfrm>
            <a:off x="838200" y="428017"/>
            <a:ext cx="10515600" cy="5748946"/>
          </a:xfrm>
        </p:spPr>
        <p:txBody>
          <a:bodyPr/>
          <a:lstStyle/>
          <a:p>
            <a:pPr algn="just"/>
            <a:r>
              <a:rPr lang="en-US" dirty="0"/>
              <a:t>One function that produces this result is the </a:t>
            </a:r>
            <a:r>
              <a:rPr lang="en-US" dirty="0">
                <a:solidFill>
                  <a:srgbClr val="FF0000"/>
                </a:solidFill>
              </a:rPr>
              <a:t>log transformation</a:t>
            </a:r>
            <a:r>
              <a:rPr lang="en-US" dirty="0"/>
              <a:t>. </a:t>
            </a:r>
          </a:p>
          <a:p>
            <a:pPr algn="just"/>
            <a:endParaRPr lang="en-US" dirty="0"/>
          </a:p>
          <a:p>
            <a:pPr algn="just"/>
            <a:r>
              <a:rPr lang="en-US" dirty="0"/>
              <a:t>When we take the logarithm of a large number, the original number will decrease in magnitude dramatically. </a:t>
            </a:r>
          </a:p>
          <a:p>
            <a:pPr algn="just"/>
            <a:endParaRPr lang="en-US" dirty="0"/>
          </a:p>
          <a:p>
            <a:pPr algn="just"/>
            <a:r>
              <a:rPr lang="en-US" dirty="0"/>
              <a:t>Conversely, when we take the logarithm of a small number, the original number does not change its value by as significant of an amount.</a:t>
            </a:r>
          </a:p>
          <a:p>
            <a:pPr algn="just"/>
            <a:endParaRPr lang="en-US" dirty="0"/>
          </a:p>
          <a:p>
            <a:pPr algn="just"/>
            <a:r>
              <a:rPr lang="en-US" dirty="0"/>
              <a:t>To illustrate this, consider the difference between log(100) = 4.61 and log = 2.3.</a:t>
            </a:r>
          </a:p>
        </p:txBody>
      </p:sp>
      <p:sp>
        <p:nvSpPr>
          <p:cNvPr id="4" name="Slide Number Placeholder 3">
            <a:extLst>
              <a:ext uri="{FF2B5EF4-FFF2-40B4-BE49-F238E27FC236}">
                <a16:creationId xmlns:a16="http://schemas.microsoft.com/office/drawing/2014/main" id="{95D60F7B-E5B6-4720-9E83-32E9725432E2}"/>
              </a:ext>
            </a:extLst>
          </p:cNvPr>
          <p:cNvSpPr>
            <a:spLocks noGrp="1"/>
          </p:cNvSpPr>
          <p:nvPr>
            <p:ph type="sldNum" sz="quarter" idx="12"/>
          </p:nvPr>
        </p:nvSpPr>
        <p:spPr/>
        <p:txBody>
          <a:bodyPr/>
          <a:lstStyle/>
          <a:p>
            <a:fld id="{6B97D948-30E8-43F7-AE10-F6E2D9F2BBB1}" type="slidenum">
              <a:rPr lang="en-US" smtClean="0"/>
              <a:t>572</a:t>
            </a:fld>
            <a:endParaRPr lang="en-US"/>
          </a:p>
        </p:txBody>
      </p:sp>
    </p:spTree>
    <p:extLst>
      <p:ext uri="{BB962C8B-B14F-4D97-AF65-F5344CB8AC3E}">
        <p14:creationId xmlns:p14="http://schemas.microsoft.com/office/powerpoint/2010/main" val="3642553629"/>
      </p:ext>
    </p:extLst>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BE85F2-3CE8-4905-A4A6-9436D1E633FE}"/>
              </a:ext>
            </a:extLst>
          </p:cNvPr>
          <p:cNvSpPr>
            <a:spLocks noGrp="1"/>
          </p:cNvSpPr>
          <p:nvPr>
            <p:ph idx="1"/>
          </p:nvPr>
        </p:nvSpPr>
        <p:spPr>
          <a:xfrm>
            <a:off x="838200" y="712694"/>
            <a:ext cx="10515600" cy="5464269"/>
          </a:xfrm>
        </p:spPr>
        <p:txBody>
          <a:bodyPr/>
          <a:lstStyle/>
          <a:p>
            <a:r>
              <a:rPr lang="en-US" dirty="0" err="1">
                <a:solidFill>
                  <a:srgbClr val="FF0000"/>
                </a:solidFill>
              </a:rPr>
              <a:t>plt.scatter</a:t>
            </a:r>
            <a:r>
              <a:rPr lang="en-US" dirty="0">
                <a:solidFill>
                  <a:srgbClr val="FF0000"/>
                </a:solidFill>
              </a:rPr>
              <a:t>(np.log(df["</a:t>
            </a:r>
            <a:r>
              <a:rPr lang="en-US" dirty="0" err="1">
                <a:solidFill>
                  <a:srgbClr val="FF0000"/>
                </a:solidFill>
              </a:rPr>
              <a:t>inc</a:t>
            </a:r>
            <a:r>
              <a:rPr lang="en-US" dirty="0">
                <a:solidFill>
                  <a:srgbClr val="FF0000"/>
                </a:solidFill>
              </a:rPr>
              <a:t>"]), df["lit"])</a:t>
            </a:r>
          </a:p>
          <a:p>
            <a:endParaRPr lang="en-US" dirty="0">
              <a:solidFill>
                <a:srgbClr val="FF0000"/>
              </a:solidFill>
            </a:endParaRPr>
          </a:p>
          <a:p>
            <a:r>
              <a:rPr lang="en-US" dirty="0" err="1">
                <a:solidFill>
                  <a:srgbClr val="FF0000"/>
                </a:solidFill>
              </a:rPr>
              <a:t>plt.xlabel</a:t>
            </a:r>
            <a:r>
              <a:rPr lang="en-US" dirty="0">
                <a:solidFill>
                  <a:srgbClr val="FF0000"/>
                </a:solidFill>
              </a:rPr>
              <a:t>("Log(gross national income per capita)")</a:t>
            </a:r>
          </a:p>
          <a:p>
            <a:endParaRPr lang="en-US" dirty="0">
              <a:solidFill>
                <a:srgbClr val="FF0000"/>
              </a:solidFill>
            </a:endParaRPr>
          </a:p>
          <a:p>
            <a:r>
              <a:rPr lang="en-US" dirty="0" err="1">
                <a:solidFill>
                  <a:srgbClr val="FF0000"/>
                </a:solidFill>
              </a:rPr>
              <a:t>plt.ylabel</a:t>
            </a:r>
            <a:r>
              <a:rPr lang="en-US" dirty="0">
                <a:solidFill>
                  <a:srgbClr val="FF0000"/>
                </a:solidFill>
              </a:rPr>
              <a:t>("Adult literacy rate")</a:t>
            </a:r>
          </a:p>
          <a:p>
            <a:endParaRPr lang="en-US" dirty="0">
              <a:solidFill>
                <a:srgbClr val="FF0000"/>
              </a:solidFill>
            </a:endParaRPr>
          </a:p>
          <a:p>
            <a:r>
              <a:rPr lang="en-US" dirty="0" err="1">
                <a:solidFill>
                  <a:srgbClr val="FF0000"/>
                </a:solidFill>
              </a:rPr>
              <a:t>plt.title</a:t>
            </a:r>
            <a:r>
              <a:rPr lang="en-US" dirty="0">
                <a:solidFill>
                  <a:srgbClr val="FF0000"/>
                </a:solidFill>
              </a:rPr>
              <a:t>("Adult literacy rate against Log(GNI per capita)");</a:t>
            </a:r>
          </a:p>
        </p:txBody>
      </p:sp>
      <p:sp>
        <p:nvSpPr>
          <p:cNvPr id="4" name="Slide Number Placeholder 3">
            <a:extLst>
              <a:ext uri="{FF2B5EF4-FFF2-40B4-BE49-F238E27FC236}">
                <a16:creationId xmlns:a16="http://schemas.microsoft.com/office/drawing/2014/main" id="{EA708810-4CF5-41B1-932F-FC32B09A156F}"/>
              </a:ext>
            </a:extLst>
          </p:cNvPr>
          <p:cNvSpPr>
            <a:spLocks noGrp="1"/>
          </p:cNvSpPr>
          <p:nvPr>
            <p:ph type="sldNum" sz="quarter" idx="12"/>
          </p:nvPr>
        </p:nvSpPr>
        <p:spPr/>
        <p:txBody>
          <a:bodyPr/>
          <a:lstStyle/>
          <a:p>
            <a:fld id="{6B97D948-30E8-43F7-AE10-F6E2D9F2BBB1}" type="slidenum">
              <a:rPr lang="en-US" smtClean="0"/>
              <a:t>573</a:t>
            </a:fld>
            <a:endParaRPr lang="en-US"/>
          </a:p>
        </p:txBody>
      </p:sp>
    </p:spTree>
    <p:extLst>
      <p:ext uri="{BB962C8B-B14F-4D97-AF65-F5344CB8AC3E}">
        <p14:creationId xmlns:p14="http://schemas.microsoft.com/office/powerpoint/2010/main" val="1214644102"/>
      </p:ext>
    </p:extLst>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C5DFB4-9CD8-44A1-9FEC-7782E8D7AF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5108" y="1825625"/>
            <a:ext cx="5801784" cy="4351338"/>
          </a:xfrm>
        </p:spPr>
      </p:pic>
      <p:sp>
        <p:nvSpPr>
          <p:cNvPr id="3" name="Slide Number Placeholder 2">
            <a:extLst>
              <a:ext uri="{FF2B5EF4-FFF2-40B4-BE49-F238E27FC236}">
                <a16:creationId xmlns:a16="http://schemas.microsoft.com/office/drawing/2014/main" id="{38617249-60B4-4B37-A7BE-02A7AA3A23AC}"/>
              </a:ext>
            </a:extLst>
          </p:cNvPr>
          <p:cNvSpPr>
            <a:spLocks noGrp="1"/>
          </p:cNvSpPr>
          <p:nvPr>
            <p:ph type="sldNum" sz="quarter" idx="12"/>
          </p:nvPr>
        </p:nvSpPr>
        <p:spPr/>
        <p:txBody>
          <a:bodyPr/>
          <a:lstStyle/>
          <a:p>
            <a:fld id="{6B97D948-30E8-43F7-AE10-F6E2D9F2BBB1}" type="slidenum">
              <a:rPr lang="en-US" smtClean="0"/>
              <a:t>574</a:t>
            </a:fld>
            <a:endParaRPr lang="en-US"/>
          </a:p>
        </p:txBody>
      </p:sp>
    </p:spTree>
    <p:extLst>
      <p:ext uri="{BB962C8B-B14F-4D97-AF65-F5344CB8AC3E}">
        <p14:creationId xmlns:p14="http://schemas.microsoft.com/office/powerpoint/2010/main" val="4288910000"/>
      </p:ext>
    </p:extLst>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9CCDBF-B43A-4CAF-A473-23B8D3D77732}"/>
              </a:ext>
            </a:extLst>
          </p:cNvPr>
          <p:cNvSpPr>
            <a:spLocks noGrp="1"/>
          </p:cNvSpPr>
          <p:nvPr>
            <p:ph idx="1"/>
          </p:nvPr>
        </p:nvSpPr>
        <p:spPr>
          <a:xfrm>
            <a:off x="838200" y="497541"/>
            <a:ext cx="10515600" cy="5679422"/>
          </a:xfrm>
        </p:spPr>
        <p:txBody>
          <a:bodyPr>
            <a:normAutofit lnSpcReduction="10000"/>
          </a:bodyPr>
          <a:lstStyle/>
          <a:p>
            <a:pPr algn="just"/>
            <a:r>
              <a:rPr lang="en-US" dirty="0"/>
              <a:t>After taking the logarithm of our x values, our plot appears much more balanced in its horizontal scale. </a:t>
            </a:r>
          </a:p>
          <a:p>
            <a:pPr algn="just"/>
            <a:endParaRPr lang="en-US" dirty="0"/>
          </a:p>
          <a:p>
            <a:pPr algn="just"/>
            <a:r>
              <a:rPr lang="en-US" dirty="0"/>
              <a:t>We no longer have many datapoints clumped on one end and a few outliers out at extreme values.</a:t>
            </a:r>
          </a:p>
          <a:p>
            <a:pPr algn="just"/>
            <a:endParaRPr lang="en-US" dirty="0"/>
          </a:p>
          <a:p>
            <a:pPr algn="just"/>
            <a:r>
              <a:rPr lang="en-US" dirty="0"/>
              <a:t>Let’s repeat this reasoning for the y values. </a:t>
            </a:r>
          </a:p>
          <a:p>
            <a:pPr algn="just"/>
            <a:endParaRPr lang="en-US" dirty="0"/>
          </a:p>
          <a:p>
            <a:pPr algn="just"/>
            <a:r>
              <a:rPr lang="en-US" dirty="0"/>
              <a:t>Considering only the vertical axis of the plot, notice how there are many datapoints concentrated at large y values. </a:t>
            </a:r>
          </a:p>
          <a:p>
            <a:pPr algn="just"/>
            <a:endParaRPr lang="en-US" dirty="0"/>
          </a:p>
          <a:p>
            <a:pPr algn="just"/>
            <a:r>
              <a:rPr lang="en-US" dirty="0"/>
              <a:t>Only a few datapoints lie at smaller values of y.</a:t>
            </a:r>
          </a:p>
        </p:txBody>
      </p:sp>
      <p:sp>
        <p:nvSpPr>
          <p:cNvPr id="4" name="Slide Number Placeholder 3">
            <a:extLst>
              <a:ext uri="{FF2B5EF4-FFF2-40B4-BE49-F238E27FC236}">
                <a16:creationId xmlns:a16="http://schemas.microsoft.com/office/drawing/2014/main" id="{7CEA47B5-F24B-4E56-9D11-AB3D089B1F8E}"/>
              </a:ext>
            </a:extLst>
          </p:cNvPr>
          <p:cNvSpPr>
            <a:spLocks noGrp="1"/>
          </p:cNvSpPr>
          <p:nvPr>
            <p:ph type="sldNum" sz="quarter" idx="12"/>
          </p:nvPr>
        </p:nvSpPr>
        <p:spPr/>
        <p:txBody>
          <a:bodyPr/>
          <a:lstStyle/>
          <a:p>
            <a:fld id="{6B97D948-30E8-43F7-AE10-F6E2D9F2BBB1}" type="slidenum">
              <a:rPr lang="en-US" smtClean="0"/>
              <a:t>575</a:t>
            </a:fld>
            <a:endParaRPr lang="en-US"/>
          </a:p>
        </p:txBody>
      </p:sp>
    </p:spTree>
    <p:extLst>
      <p:ext uri="{BB962C8B-B14F-4D97-AF65-F5344CB8AC3E}">
        <p14:creationId xmlns:p14="http://schemas.microsoft.com/office/powerpoint/2010/main" val="3985448227"/>
      </p:ext>
    </p:extLst>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F6ECC5-342B-4611-9CDB-86B91EE5B393}"/>
              </a:ext>
            </a:extLst>
          </p:cNvPr>
          <p:cNvPicPr>
            <a:picLocks noGrp="1" noChangeAspect="1"/>
          </p:cNvPicPr>
          <p:nvPr>
            <p:ph idx="1"/>
          </p:nvPr>
        </p:nvPicPr>
        <p:blipFill>
          <a:blip r:embed="rId2"/>
          <a:stretch>
            <a:fillRect/>
          </a:stretch>
        </p:blipFill>
        <p:spPr>
          <a:xfrm>
            <a:off x="1613836" y="1075765"/>
            <a:ext cx="9175422" cy="5101198"/>
          </a:xfrm>
          <a:prstGeom prst="rect">
            <a:avLst/>
          </a:prstGeom>
        </p:spPr>
      </p:pic>
      <p:sp>
        <p:nvSpPr>
          <p:cNvPr id="3" name="Slide Number Placeholder 2">
            <a:extLst>
              <a:ext uri="{FF2B5EF4-FFF2-40B4-BE49-F238E27FC236}">
                <a16:creationId xmlns:a16="http://schemas.microsoft.com/office/drawing/2014/main" id="{FC625504-2D84-4A13-AAEE-97CEF60DC4CF}"/>
              </a:ext>
            </a:extLst>
          </p:cNvPr>
          <p:cNvSpPr>
            <a:spLocks noGrp="1"/>
          </p:cNvSpPr>
          <p:nvPr>
            <p:ph type="sldNum" sz="quarter" idx="12"/>
          </p:nvPr>
        </p:nvSpPr>
        <p:spPr/>
        <p:txBody>
          <a:bodyPr/>
          <a:lstStyle/>
          <a:p>
            <a:fld id="{6B97D948-30E8-43F7-AE10-F6E2D9F2BBB1}" type="slidenum">
              <a:rPr lang="en-US" smtClean="0"/>
              <a:t>576</a:t>
            </a:fld>
            <a:endParaRPr lang="en-US"/>
          </a:p>
        </p:txBody>
      </p:sp>
    </p:spTree>
    <p:extLst>
      <p:ext uri="{BB962C8B-B14F-4D97-AF65-F5344CB8AC3E}">
        <p14:creationId xmlns:p14="http://schemas.microsoft.com/office/powerpoint/2010/main" val="2756096675"/>
      </p:ext>
    </p:extLst>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B48473-2C60-4BED-A3B5-9BE5C6BC807E}"/>
              </a:ext>
            </a:extLst>
          </p:cNvPr>
          <p:cNvSpPr>
            <a:spLocks noGrp="1"/>
          </p:cNvSpPr>
          <p:nvPr>
            <p:ph idx="1"/>
          </p:nvPr>
        </p:nvSpPr>
        <p:spPr>
          <a:xfrm>
            <a:off x="838200" y="470647"/>
            <a:ext cx="10515600" cy="5706316"/>
          </a:xfrm>
        </p:spPr>
        <p:txBody>
          <a:bodyPr/>
          <a:lstStyle/>
          <a:p>
            <a:pPr algn="just"/>
            <a:r>
              <a:rPr lang="en-US" dirty="0"/>
              <a:t>If we were to “spread out” these large values of y more, we would no longer see the dense concentration in one region of the y axis. </a:t>
            </a:r>
          </a:p>
          <a:p>
            <a:pPr algn="just"/>
            <a:endParaRPr lang="en-US" dirty="0"/>
          </a:p>
          <a:p>
            <a:pPr algn="just"/>
            <a:r>
              <a:rPr lang="en-US" dirty="0"/>
              <a:t>We need a transformation that will:</a:t>
            </a:r>
          </a:p>
          <a:p>
            <a:pPr algn="just"/>
            <a:endParaRPr lang="en-US" dirty="0"/>
          </a:p>
          <a:p>
            <a:pPr algn="just"/>
            <a:r>
              <a:rPr lang="en-US" dirty="0">
                <a:solidFill>
                  <a:srgbClr val="FF0000"/>
                </a:solidFill>
              </a:rPr>
              <a:t>Increase the magnitude of large values of y </a:t>
            </a:r>
            <a:r>
              <a:rPr lang="en-US" dirty="0"/>
              <a:t>so these datapoints are distributed more broadly on the vertical scale</a:t>
            </a:r>
          </a:p>
          <a:p>
            <a:pPr algn="just"/>
            <a:endParaRPr lang="en-US" dirty="0"/>
          </a:p>
          <a:p>
            <a:pPr algn="just"/>
            <a:r>
              <a:rPr lang="en-US" dirty="0">
                <a:solidFill>
                  <a:srgbClr val="FF0000"/>
                </a:solidFill>
              </a:rPr>
              <a:t>Not substantially alter the scaling of small values of y </a:t>
            </a:r>
            <a:r>
              <a:rPr lang="en-US" dirty="0"/>
              <a:t>(we do not want to drastically modify the lower end of the y axis, which is already distributed evenly on the vertical scale)</a:t>
            </a:r>
          </a:p>
          <a:p>
            <a:pPr algn="just"/>
            <a:endParaRPr lang="en-US" dirty="0"/>
          </a:p>
        </p:txBody>
      </p:sp>
      <p:sp>
        <p:nvSpPr>
          <p:cNvPr id="4" name="Slide Number Placeholder 3">
            <a:extLst>
              <a:ext uri="{FF2B5EF4-FFF2-40B4-BE49-F238E27FC236}">
                <a16:creationId xmlns:a16="http://schemas.microsoft.com/office/drawing/2014/main" id="{2D63657C-1E23-4BA4-A8D7-D5D8DD252224}"/>
              </a:ext>
            </a:extLst>
          </p:cNvPr>
          <p:cNvSpPr>
            <a:spLocks noGrp="1"/>
          </p:cNvSpPr>
          <p:nvPr>
            <p:ph type="sldNum" sz="quarter" idx="12"/>
          </p:nvPr>
        </p:nvSpPr>
        <p:spPr/>
        <p:txBody>
          <a:bodyPr/>
          <a:lstStyle/>
          <a:p>
            <a:fld id="{6B97D948-30E8-43F7-AE10-F6E2D9F2BBB1}" type="slidenum">
              <a:rPr lang="en-US" smtClean="0"/>
              <a:t>577</a:t>
            </a:fld>
            <a:endParaRPr lang="en-US"/>
          </a:p>
        </p:txBody>
      </p:sp>
    </p:spTree>
    <p:extLst>
      <p:ext uri="{BB962C8B-B14F-4D97-AF65-F5344CB8AC3E}">
        <p14:creationId xmlns:p14="http://schemas.microsoft.com/office/powerpoint/2010/main" val="76594252"/>
      </p:ext>
    </p:extLst>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C1C74B-9FDB-4140-B76C-1CC6E4963003}"/>
                  </a:ext>
                </a:extLst>
              </p:cNvPr>
              <p:cNvSpPr>
                <a:spLocks noGrp="1"/>
              </p:cNvSpPr>
              <p:nvPr>
                <p:ph idx="1"/>
              </p:nvPr>
            </p:nvSpPr>
            <p:spPr>
              <a:xfrm>
                <a:off x="838200" y="497541"/>
                <a:ext cx="10515600" cy="5679422"/>
              </a:xfrm>
            </p:spPr>
            <p:txBody>
              <a:bodyPr/>
              <a:lstStyle/>
              <a:p>
                <a:pPr algn="just"/>
                <a:r>
                  <a:rPr lang="en-US" dirty="0"/>
                  <a:t>Here, we apply a power transformation – that is, raise our y values to a power. </a:t>
                </a:r>
              </a:p>
              <a:p>
                <a:pPr algn="just"/>
                <a:endParaRPr lang="en-US" dirty="0"/>
              </a:p>
              <a:p>
                <a:pPr algn="just"/>
                <a:r>
                  <a:rPr lang="en-US" dirty="0"/>
                  <a:t>Let’s try raising our adult literacy rate values to the power of 4. </a:t>
                </a:r>
              </a:p>
              <a:p>
                <a:pPr algn="just"/>
                <a:endParaRPr lang="en-US" dirty="0"/>
              </a:p>
              <a:p>
                <a:pPr algn="just"/>
                <a:endParaRPr lang="en-US" dirty="0"/>
              </a:p>
              <a:p>
                <a:pPr algn="just"/>
                <a:r>
                  <a:rPr lang="en-US" dirty="0"/>
                  <a:t>Large values raised to the power of 4 will increase in magnitude proportionally much more than small values raised to the power of 4 (consider the difference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4</m:t>
                        </m:r>
                      </m:sup>
                    </m:sSup>
                    <m:r>
                      <a:rPr lang="en-US" b="0" i="1" smtClean="0">
                        <a:latin typeface="Cambria Math" panose="02040503050406030204" pitchFamily="18" charset="0"/>
                      </a:rPr>
                      <m:t>=16</m:t>
                    </m:r>
                  </m:oMath>
                </a14:m>
                <a:r>
                  <a:rPr lang="en-US" dirty="0"/>
                  <a:t> between and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r>
                          <a:rPr lang="en-US" b="0" i="1" smtClean="0">
                            <a:latin typeface="Cambria Math" panose="02040503050406030204" pitchFamily="18" charset="0"/>
                          </a:rPr>
                          <m:t>00</m:t>
                        </m:r>
                      </m:e>
                      <m:sup>
                        <m:r>
                          <a:rPr lang="en-US" i="1">
                            <a:latin typeface="Cambria Math" panose="02040503050406030204" pitchFamily="18" charset="0"/>
                          </a:rPr>
                          <m:t>4</m:t>
                        </m:r>
                      </m:sup>
                    </m:sSup>
                    <m:r>
                      <a:rPr lang="en-US" i="1">
                        <a:latin typeface="Cambria Math" panose="02040503050406030204" pitchFamily="18" charset="0"/>
                      </a:rPr>
                      <m:t>=16</m:t>
                    </m:r>
                    <m:r>
                      <a:rPr lang="en-US" b="0" i="1" smtClean="0">
                        <a:latin typeface="Cambria Math" panose="02040503050406030204" pitchFamily="18" charset="0"/>
                      </a:rPr>
                      <m:t>00000000</m:t>
                    </m:r>
                  </m:oMath>
                </a14:m>
                <a:r>
                  <a:rPr lang="en-US" dirty="0"/>
                  <a:t>).</a:t>
                </a:r>
              </a:p>
            </p:txBody>
          </p:sp>
        </mc:Choice>
        <mc:Fallback xmlns="">
          <p:sp>
            <p:nvSpPr>
              <p:cNvPr id="3" name="Content Placeholder 2">
                <a:extLst>
                  <a:ext uri="{FF2B5EF4-FFF2-40B4-BE49-F238E27FC236}">
                    <a16:creationId xmlns:a16="http://schemas.microsoft.com/office/drawing/2014/main" id="{45C1C74B-9FDB-4140-B76C-1CC6E4963003}"/>
                  </a:ext>
                </a:extLst>
              </p:cNvPr>
              <p:cNvSpPr>
                <a:spLocks noGrp="1" noRot="1" noChangeAspect="1" noMove="1" noResize="1" noEditPoints="1" noAdjustHandles="1" noChangeArrowheads="1" noChangeShapeType="1" noTextEdit="1"/>
              </p:cNvSpPr>
              <p:nvPr>
                <p:ph idx="1"/>
              </p:nvPr>
            </p:nvSpPr>
            <p:spPr>
              <a:xfrm>
                <a:off x="838200" y="497541"/>
                <a:ext cx="10515600" cy="5679422"/>
              </a:xfrm>
              <a:blipFill>
                <a:blip r:embed="rId2"/>
                <a:stretch>
                  <a:fillRect l="-1043" t="-1826"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C99025C-254D-4658-9284-E433AB87D514}"/>
              </a:ext>
            </a:extLst>
          </p:cNvPr>
          <p:cNvSpPr>
            <a:spLocks noGrp="1"/>
          </p:cNvSpPr>
          <p:nvPr>
            <p:ph type="sldNum" sz="quarter" idx="12"/>
          </p:nvPr>
        </p:nvSpPr>
        <p:spPr/>
        <p:txBody>
          <a:bodyPr/>
          <a:lstStyle/>
          <a:p>
            <a:fld id="{6B97D948-30E8-43F7-AE10-F6E2D9F2BBB1}" type="slidenum">
              <a:rPr lang="en-US" smtClean="0"/>
              <a:t>578</a:t>
            </a:fld>
            <a:endParaRPr lang="en-US"/>
          </a:p>
        </p:txBody>
      </p:sp>
    </p:spTree>
    <p:extLst>
      <p:ext uri="{BB962C8B-B14F-4D97-AF65-F5344CB8AC3E}">
        <p14:creationId xmlns:p14="http://schemas.microsoft.com/office/powerpoint/2010/main" val="593907278"/>
      </p:ext>
    </p:extLst>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96455-74E3-4A57-843F-76B6536CA974}"/>
              </a:ext>
            </a:extLst>
          </p:cNvPr>
          <p:cNvSpPr>
            <a:spLocks noGrp="1"/>
          </p:cNvSpPr>
          <p:nvPr>
            <p:ph idx="1"/>
          </p:nvPr>
        </p:nvSpPr>
        <p:spPr>
          <a:xfrm>
            <a:off x="838200" y="457200"/>
            <a:ext cx="10515600" cy="5719763"/>
          </a:xfrm>
        </p:spPr>
        <p:txBody>
          <a:bodyPr/>
          <a:lstStyle/>
          <a:p>
            <a:r>
              <a:rPr lang="en-US" dirty="0" err="1">
                <a:solidFill>
                  <a:srgbClr val="FF0000"/>
                </a:solidFill>
              </a:rPr>
              <a:t>plt.scatter</a:t>
            </a:r>
            <a:r>
              <a:rPr lang="en-US" dirty="0">
                <a:solidFill>
                  <a:srgbClr val="FF0000"/>
                </a:solidFill>
              </a:rPr>
              <a:t>(np.log(df["</a:t>
            </a:r>
            <a:r>
              <a:rPr lang="en-US" dirty="0" err="1">
                <a:solidFill>
                  <a:srgbClr val="FF0000"/>
                </a:solidFill>
              </a:rPr>
              <a:t>inc</a:t>
            </a:r>
            <a:r>
              <a:rPr lang="en-US" dirty="0">
                <a:solidFill>
                  <a:srgbClr val="FF0000"/>
                </a:solidFill>
              </a:rPr>
              <a:t>"]), df["lit"]**4)</a:t>
            </a:r>
          </a:p>
          <a:p>
            <a:endParaRPr lang="en-US" dirty="0">
              <a:solidFill>
                <a:srgbClr val="FF0000"/>
              </a:solidFill>
            </a:endParaRPr>
          </a:p>
          <a:p>
            <a:r>
              <a:rPr lang="en-US" dirty="0" err="1">
                <a:solidFill>
                  <a:srgbClr val="FF0000"/>
                </a:solidFill>
              </a:rPr>
              <a:t>plt.xlabel</a:t>
            </a:r>
            <a:r>
              <a:rPr lang="en-US" dirty="0">
                <a:solidFill>
                  <a:srgbClr val="FF0000"/>
                </a:solidFill>
              </a:rPr>
              <a:t>("Log(gross national income per capita)")</a:t>
            </a:r>
          </a:p>
          <a:p>
            <a:endParaRPr lang="en-US" dirty="0">
              <a:solidFill>
                <a:srgbClr val="FF0000"/>
              </a:solidFill>
            </a:endParaRPr>
          </a:p>
          <a:p>
            <a:r>
              <a:rPr lang="en-US" dirty="0" err="1">
                <a:solidFill>
                  <a:srgbClr val="FF0000"/>
                </a:solidFill>
              </a:rPr>
              <a:t>plt.ylabel</a:t>
            </a:r>
            <a:r>
              <a:rPr lang="en-US" dirty="0">
                <a:solidFill>
                  <a:srgbClr val="FF0000"/>
                </a:solidFill>
              </a:rPr>
              <a:t>("Adult literacy rate (4th power)")</a:t>
            </a:r>
          </a:p>
          <a:p>
            <a:endParaRPr lang="en-US" dirty="0">
              <a:solidFill>
                <a:srgbClr val="FF0000"/>
              </a:solidFill>
            </a:endParaRPr>
          </a:p>
          <a:p>
            <a:r>
              <a:rPr lang="en-US" dirty="0" err="1">
                <a:solidFill>
                  <a:srgbClr val="FF0000"/>
                </a:solidFill>
              </a:rPr>
              <a:t>plt.suptitle</a:t>
            </a:r>
            <a:r>
              <a:rPr lang="en-US" dirty="0">
                <a:solidFill>
                  <a:srgbClr val="FF0000"/>
                </a:solidFill>
              </a:rPr>
              <a:t>("Adult literacy rate (4th power) against Log(GNI per capita)")</a:t>
            </a:r>
          </a:p>
          <a:p>
            <a:endParaRPr lang="en-US" dirty="0">
              <a:solidFill>
                <a:srgbClr val="FF0000"/>
              </a:solidFill>
            </a:endParaRPr>
          </a:p>
          <a:p>
            <a:r>
              <a:rPr lang="en-US" dirty="0" err="1">
                <a:solidFill>
                  <a:srgbClr val="FF0000"/>
                </a:solidFill>
              </a:rPr>
              <a:t>plt.subplots_adjust</a:t>
            </a:r>
            <a:r>
              <a:rPr lang="en-US" dirty="0">
                <a:solidFill>
                  <a:srgbClr val="FF0000"/>
                </a:solidFill>
              </a:rPr>
              <a:t>(top=0.9);</a:t>
            </a:r>
          </a:p>
        </p:txBody>
      </p:sp>
      <p:sp>
        <p:nvSpPr>
          <p:cNvPr id="4" name="Slide Number Placeholder 3">
            <a:extLst>
              <a:ext uri="{FF2B5EF4-FFF2-40B4-BE49-F238E27FC236}">
                <a16:creationId xmlns:a16="http://schemas.microsoft.com/office/drawing/2014/main" id="{8EDF7244-504E-4989-BDF4-B81717C677B1}"/>
              </a:ext>
            </a:extLst>
          </p:cNvPr>
          <p:cNvSpPr>
            <a:spLocks noGrp="1"/>
          </p:cNvSpPr>
          <p:nvPr>
            <p:ph type="sldNum" sz="quarter" idx="12"/>
          </p:nvPr>
        </p:nvSpPr>
        <p:spPr/>
        <p:txBody>
          <a:bodyPr/>
          <a:lstStyle/>
          <a:p>
            <a:fld id="{6B97D948-30E8-43F7-AE10-F6E2D9F2BBB1}" type="slidenum">
              <a:rPr lang="en-US" smtClean="0"/>
              <a:t>579</a:t>
            </a:fld>
            <a:endParaRPr lang="en-US"/>
          </a:p>
        </p:txBody>
      </p:sp>
    </p:spTree>
    <p:extLst>
      <p:ext uri="{BB962C8B-B14F-4D97-AF65-F5344CB8AC3E}">
        <p14:creationId xmlns:p14="http://schemas.microsoft.com/office/powerpoint/2010/main" val="137898428"/>
      </p:ext>
    </p:extLst>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7B6D939-FE82-4231-8414-F869BFEC4C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0797" y="685800"/>
            <a:ext cx="7321551" cy="5491163"/>
          </a:xfrm>
        </p:spPr>
      </p:pic>
      <p:sp>
        <p:nvSpPr>
          <p:cNvPr id="3" name="Slide Number Placeholder 2">
            <a:extLst>
              <a:ext uri="{FF2B5EF4-FFF2-40B4-BE49-F238E27FC236}">
                <a16:creationId xmlns:a16="http://schemas.microsoft.com/office/drawing/2014/main" id="{3DF28C63-0BFD-4EE9-BA80-25DF73D47EDD}"/>
              </a:ext>
            </a:extLst>
          </p:cNvPr>
          <p:cNvSpPr>
            <a:spLocks noGrp="1"/>
          </p:cNvSpPr>
          <p:nvPr>
            <p:ph type="sldNum" sz="quarter" idx="12"/>
          </p:nvPr>
        </p:nvSpPr>
        <p:spPr/>
        <p:txBody>
          <a:bodyPr/>
          <a:lstStyle/>
          <a:p>
            <a:fld id="{6B97D948-30E8-43F7-AE10-F6E2D9F2BBB1}" type="slidenum">
              <a:rPr lang="en-US" smtClean="0"/>
              <a:t>580</a:t>
            </a:fld>
            <a:endParaRPr lang="en-US"/>
          </a:p>
        </p:txBody>
      </p:sp>
    </p:spTree>
    <p:extLst>
      <p:ext uri="{BB962C8B-B14F-4D97-AF65-F5344CB8AC3E}">
        <p14:creationId xmlns:p14="http://schemas.microsoft.com/office/powerpoint/2010/main" val="3278203895"/>
      </p:ext>
    </p:extLst>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CE6E9-F949-42FC-9E05-97EA5877D063}"/>
              </a:ext>
            </a:extLst>
          </p:cNvPr>
          <p:cNvSpPr>
            <a:spLocks noGrp="1"/>
          </p:cNvSpPr>
          <p:nvPr>
            <p:ph type="title"/>
          </p:nvPr>
        </p:nvSpPr>
        <p:spPr>
          <a:xfrm>
            <a:off x="838200" y="365126"/>
            <a:ext cx="10515600" cy="710640"/>
          </a:xfrm>
        </p:spPr>
        <p:txBody>
          <a:bodyPr/>
          <a:lstStyle/>
          <a:p>
            <a:r>
              <a:rPr lang="en-US" dirty="0"/>
              <a:t>Introduction to Modeling</a:t>
            </a:r>
          </a:p>
        </p:txBody>
      </p:sp>
      <p:sp>
        <p:nvSpPr>
          <p:cNvPr id="3" name="Content Placeholder 2">
            <a:extLst>
              <a:ext uri="{FF2B5EF4-FFF2-40B4-BE49-F238E27FC236}">
                <a16:creationId xmlns:a16="http://schemas.microsoft.com/office/drawing/2014/main" id="{5A208E2D-B3F6-48B9-8A5A-5747EC6D17E7}"/>
              </a:ext>
            </a:extLst>
          </p:cNvPr>
          <p:cNvSpPr>
            <a:spLocks noGrp="1"/>
          </p:cNvSpPr>
          <p:nvPr>
            <p:ph idx="1"/>
          </p:nvPr>
        </p:nvSpPr>
        <p:spPr>
          <a:xfrm>
            <a:off x="838200" y="1075766"/>
            <a:ext cx="10515600" cy="5101197"/>
          </a:xfrm>
        </p:spPr>
        <p:txBody>
          <a:bodyPr/>
          <a:lstStyle/>
          <a:p>
            <a:pPr algn="just"/>
            <a:r>
              <a:rPr lang="en-US" dirty="0"/>
              <a:t>Up until this point in our lectures, we’ve focused on understanding our datasets. </a:t>
            </a:r>
          </a:p>
          <a:p>
            <a:pPr algn="just"/>
            <a:endParaRPr lang="en-US" dirty="0"/>
          </a:p>
          <a:p>
            <a:pPr algn="just"/>
            <a:r>
              <a:rPr lang="en-US" dirty="0"/>
              <a:t>We’ve looked into the early stages of the data science lifecycle, focusing on the programming tools and visualization techniques needed for data analysis.</a:t>
            </a:r>
          </a:p>
          <a:p>
            <a:pPr algn="just"/>
            <a:endParaRPr lang="en-US" dirty="0"/>
          </a:p>
          <a:p>
            <a:pPr algn="just"/>
            <a:r>
              <a:rPr lang="en-US" dirty="0"/>
              <a:t>Let’s put this framework into practice by implementing various kinds of models.</a:t>
            </a:r>
          </a:p>
        </p:txBody>
      </p:sp>
      <p:sp>
        <p:nvSpPr>
          <p:cNvPr id="5" name="Slide Number Placeholder 4">
            <a:extLst>
              <a:ext uri="{FF2B5EF4-FFF2-40B4-BE49-F238E27FC236}">
                <a16:creationId xmlns:a16="http://schemas.microsoft.com/office/drawing/2014/main" id="{49014C28-CDFC-451B-A7E0-ABD1A4D08D96}"/>
              </a:ext>
            </a:extLst>
          </p:cNvPr>
          <p:cNvSpPr>
            <a:spLocks noGrp="1"/>
          </p:cNvSpPr>
          <p:nvPr>
            <p:ph type="sldNum" sz="quarter" idx="12"/>
          </p:nvPr>
        </p:nvSpPr>
        <p:spPr/>
        <p:txBody>
          <a:bodyPr/>
          <a:lstStyle/>
          <a:p>
            <a:fld id="{6B97D948-30E8-43F7-AE10-F6E2D9F2BBB1}" type="slidenum">
              <a:rPr lang="en-US" smtClean="0"/>
              <a:t>581</a:t>
            </a:fld>
            <a:endParaRPr lang="en-US"/>
          </a:p>
        </p:txBody>
      </p:sp>
    </p:spTree>
    <p:extLst>
      <p:ext uri="{BB962C8B-B14F-4D97-AF65-F5344CB8AC3E}">
        <p14:creationId xmlns:p14="http://schemas.microsoft.com/office/powerpoint/2010/main" val="2014288966"/>
      </p:ext>
    </p:extLst>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DBB03-EA2F-4A8E-9EF8-AE075ADA3305}"/>
              </a:ext>
            </a:extLst>
          </p:cNvPr>
          <p:cNvSpPr>
            <a:spLocks noGrp="1"/>
          </p:cNvSpPr>
          <p:nvPr>
            <p:ph type="title"/>
          </p:nvPr>
        </p:nvSpPr>
        <p:spPr>
          <a:xfrm>
            <a:off x="838200" y="365126"/>
            <a:ext cx="10515600" cy="683746"/>
          </a:xfrm>
        </p:spPr>
        <p:txBody>
          <a:bodyPr>
            <a:normAutofit fontScale="90000"/>
          </a:bodyPr>
          <a:lstStyle/>
          <a:p>
            <a:r>
              <a:rPr lang="en-US" dirty="0"/>
              <a:t>What is a Model?</a:t>
            </a:r>
          </a:p>
        </p:txBody>
      </p:sp>
      <p:sp>
        <p:nvSpPr>
          <p:cNvPr id="3" name="Content Placeholder 2">
            <a:extLst>
              <a:ext uri="{FF2B5EF4-FFF2-40B4-BE49-F238E27FC236}">
                <a16:creationId xmlns:a16="http://schemas.microsoft.com/office/drawing/2014/main" id="{A5A3705A-EB56-457F-B24B-EA3DFF39FCD5}"/>
              </a:ext>
            </a:extLst>
          </p:cNvPr>
          <p:cNvSpPr>
            <a:spLocks noGrp="1"/>
          </p:cNvSpPr>
          <p:nvPr>
            <p:ph idx="1"/>
          </p:nvPr>
        </p:nvSpPr>
        <p:spPr>
          <a:xfrm>
            <a:off x="838200" y="1048872"/>
            <a:ext cx="10515600" cy="5128091"/>
          </a:xfrm>
        </p:spPr>
        <p:txBody>
          <a:bodyPr>
            <a:normAutofit fontScale="92500" lnSpcReduction="20000"/>
          </a:bodyPr>
          <a:lstStyle/>
          <a:p>
            <a:pPr algn="just"/>
            <a:r>
              <a:rPr lang="en-US" dirty="0"/>
              <a:t>A model is an </a:t>
            </a:r>
            <a:r>
              <a:rPr lang="en-US" i="1" dirty="0"/>
              <a:t>idealized representation of a system</a:t>
            </a:r>
            <a:r>
              <a:rPr lang="en-US" dirty="0"/>
              <a:t>. </a:t>
            </a:r>
          </a:p>
          <a:p>
            <a:pPr algn="just"/>
            <a:endParaRPr lang="en-US" dirty="0"/>
          </a:p>
          <a:p>
            <a:pPr algn="just"/>
            <a:r>
              <a:rPr lang="en-US" dirty="0"/>
              <a:t>A system is a set of principles or procedures according to which something functions. </a:t>
            </a:r>
          </a:p>
          <a:p>
            <a:pPr algn="just"/>
            <a:endParaRPr lang="en-US" dirty="0"/>
          </a:p>
          <a:p>
            <a:pPr algn="just"/>
            <a:r>
              <a:rPr lang="en-US" dirty="0"/>
              <a:t>We live in a world full of systems: the procedure of turning on a light happens according to a specific set of rules dictating the flow of electricity. </a:t>
            </a:r>
          </a:p>
          <a:p>
            <a:pPr algn="just"/>
            <a:r>
              <a:rPr lang="en-US" dirty="0"/>
              <a:t>The truth behind how any event occurs are usually complex, and many times the specifics are unknown. </a:t>
            </a:r>
          </a:p>
          <a:p>
            <a:pPr algn="just"/>
            <a:endParaRPr lang="en-US" dirty="0"/>
          </a:p>
          <a:p>
            <a:pPr algn="just"/>
            <a:r>
              <a:rPr lang="en-US" dirty="0"/>
              <a:t>The workings of the world can be viewed is its own giant procedure. </a:t>
            </a:r>
          </a:p>
          <a:p>
            <a:pPr algn="just"/>
            <a:endParaRPr lang="en-US" dirty="0"/>
          </a:p>
          <a:p>
            <a:pPr algn="just"/>
            <a:r>
              <a:rPr lang="en-US" dirty="0"/>
              <a:t>Models seek to simplify the world and distill them it into workable pieces.</a:t>
            </a:r>
          </a:p>
        </p:txBody>
      </p:sp>
      <p:sp>
        <p:nvSpPr>
          <p:cNvPr id="5" name="Slide Number Placeholder 4">
            <a:extLst>
              <a:ext uri="{FF2B5EF4-FFF2-40B4-BE49-F238E27FC236}">
                <a16:creationId xmlns:a16="http://schemas.microsoft.com/office/drawing/2014/main" id="{0EA1EF51-1060-46A2-BDDC-3687C35568B8}"/>
              </a:ext>
            </a:extLst>
          </p:cNvPr>
          <p:cNvSpPr>
            <a:spLocks noGrp="1"/>
          </p:cNvSpPr>
          <p:nvPr>
            <p:ph type="sldNum" sz="quarter" idx="12"/>
          </p:nvPr>
        </p:nvSpPr>
        <p:spPr/>
        <p:txBody>
          <a:bodyPr/>
          <a:lstStyle/>
          <a:p>
            <a:fld id="{6B97D948-30E8-43F7-AE10-F6E2D9F2BBB1}" type="slidenum">
              <a:rPr lang="en-US" smtClean="0"/>
              <a:t>582</a:t>
            </a:fld>
            <a:endParaRPr lang="en-US"/>
          </a:p>
        </p:txBody>
      </p:sp>
    </p:spTree>
    <p:extLst>
      <p:ext uri="{BB962C8B-B14F-4D97-AF65-F5344CB8AC3E}">
        <p14:creationId xmlns:p14="http://schemas.microsoft.com/office/powerpoint/2010/main" val="298105936"/>
      </p:ext>
    </p:extLst>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2AB66-3DEB-45C1-9445-FA0B3D123EA5}"/>
              </a:ext>
            </a:extLst>
          </p:cNvPr>
          <p:cNvSpPr>
            <a:spLocks noGrp="1"/>
          </p:cNvSpPr>
          <p:nvPr>
            <p:ph type="title"/>
          </p:nvPr>
        </p:nvSpPr>
        <p:spPr>
          <a:xfrm>
            <a:off x="838200" y="365126"/>
            <a:ext cx="10515600" cy="643404"/>
          </a:xfrm>
        </p:spPr>
        <p:txBody>
          <a:bodyPr>
            <a:normAutofit fontScale="90000"/>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33DF25-786D-4402-95F0-999A8925307F}"/>
                  </a:ext>
                </a:extLst>
              </p:cNvPr>
              <p:cNvSpPr>
                <a:spLocks noGrp="1"/>
              </p:cNvSpPr>
              <p:nvPr>
                <p:ph idx="1"/>
              </p:nvPr>
            </p:nvSpPr>
            <p:spPr>
              <a:xfrm>
                <a:off x="838200" y="1008530"/>
                <a:ext cx="10515600" cy="5168433"/>
              </a:xfrm>
            </p:spPr>
            <p:txBody>
              <a:bodyPr>
                <a:normAutofit/>
              </a:bodyPr>
              <a:lstStyle/>
              <a:p>
                <a:pPr algn="just"/>
                <a:r>
                  <a:rPr lang="en-US" dirty="0"/>
                  <a:t>We model the fall of an object on Earth as subject to a constant acceleration of 9.81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oMath>
                </a14:m>
                <a:r>
                  <a:rPr lang="en-US" dirty="0"/>
                  <a:t> due to gravity.</a:t>
                </a:r>
              </a:p>
              <a:p>
                <a:pPr algn="just"/>
                <a:endParaRPr lang="en-US" dirty="0"/>
              </a:p>
              <a:p>
                <a:pPr algn="just"/>
                <a:r>
                  <a:rPr lang="en-US" dirty="0"/>
                  <a:t>While this describes the behavior of our system, it is merely an approximation.</a:t>
                </a:r>
              </a:p>
              <a:p>
                <a:pPr algn="just"/>
                <a:r>
                  <a:rPr lang="en-US" dirty="0"/>
                  <a:t>It doesn’t account for the effects of air resistance, local variations in gravity, etc.</a:t>
                </a:r>
              </a:p>
              <a:p>
                <a:pPr algn="just"/>
                <a:r>
                  <a:rPr lang="en-US" dirty="0"/>
                  <a:t>In practice, it’s accurate enough to be useful!</a:t>
                </a:r>
              </a:p>
              <a:p>
                <a:pPr algn="just"/>
                <a:endParaRPr lang="en-US" dirty="0"/>
              </a:p>
            </p:txBody>
          </p:sp>
        </mc:Choice>
        <mc:Fallback xmlns="">
          <p:sp>
            <p:nvSpPr>
              <p:cNvPr id="3" name="Content Placeholder 2">
                <a:extLst>
                  <a:ext uri="{FF2B5EF4-FFF2-40B4-BE49-F238E27FC236}">
                    <a16:creationId xmlns:a16="http://schemas.microsoft.com/office/drawing/2014/main" id="{A433DF25-786D-4402-95F0-999A8925307F}"/>
                  </a:ext>
                </a:extLst>
              </p:cNvPr>
              <p:cNvSpPr>
                <a:spLocks noGrp="1" noRot="1" noChangeAspect="1" noMove="1" noResize="1" noEditPoints="1" noAdjustHandles="1" noChangeArrowheads="1" noChangeShapeType="1" noTextEdit="1"/>
              </p:cNvSpPr>
              <p:nvPr>
                <p:ph idx="1"/>
              </p:nvPr>
            </p:nvSpPr>
            <p:spPr>
              <a:xfrm>
                <a:off x="838200" y="1008530"/>
                <a:ext cx="10515600" cy="5168433"/>
              </a:xfrm>
              <a:blipFill>
                <a:blip r:embed="rId2"/>
                <a:stretch>
                  <a:fillRect l="-1043" t="-1887"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21C7F501-C242-4226-8694-BC8B6EAEDB80}"/>
              </a:ext>
            </a:extLst>
          </p:cNvPr>
          <p:cNvSpPr>
            <a:spLocks noGrp="1"/>
          </p:cNvSpPr>
          <p:nvPr>
            <p:ph type="sldNum" sz="quarter" idx="12"/>
          </p:nvPr>
        </p:nvSpPr>
        <p:spPr/>
        <p:txBody>
          <a:bodyPr/>
          <a:lstStyle/>
          <a:p>
            <a:fld id="{6B97D948-30E8-43F7-AE10-F6E2D9F2BBB1}" type="slidenum">
              <a:rPr lang="en-US" smtClean="0"/>
              <a:t>583</a:t>
            </a:fld>
            <a:endParaRPr lang="en-US"/>
          </a:p>
        </p:txBody>
      </p:sp>
    </p:spTree>
    <p:extLst>
      <p:ext uri="{BB962C8B-B14F-4D97-AF65-F5344CB8AC3E}">
        <p14:creationId xmlns:p14="http://schemas.microsoft.com/office/powerpoint/2010/main" val="79742190"/>
      </p:ext>
    </p:extLst>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0FF28-D09E-429C-8C5A-AD82630E3525}"/>
              </a:ext>
            </a:extLst>
          </p:cNvPr>
          <p:cNvSpPr>
            <a:spLocks noGrp="1"/>
          </p:cNvSpPr>
          <p:nvPr>
            <p:ph type="title"/>
          </p:nvPr>
        </p:nvSpPr>
        <p:spPr>
          <a:xfrm>
            <a:off x="838200" y="365125"/>
            <a:ext cx="10515600" cy="670299"/>
          </a:xfrm>
        </p:spPr>
        <p:txBody>
          <a:bodyPr>
            <a:normAutofit fontScale="90000"/>
          </a:bodyPr>
          <a:lstStyle/>
          <a:p>
            <a:r>
              <a:rPr lang="en-US" dirty="0"/>
              <a:t>Reasons for building models</a:t>
            </a:r>
          </a:p>
        </p:txBody>
      </p:sp>
      <p:sp>
        <p:nvSpPr>
          <p:cNvPr id="3" name="Content Placeholder 2">
            <a:extLst>
              <a:ext uri="{FF2B5EF4-FFF2-40B4-BE49-F238E27FC236}">
                <a16:creationId xmlns:a16="http://schemas.microsoft.com/office/drawing/2014/main" id="{3B020F9B-A284-45F3-A366-F36C6ADDD2EB}"/>
              </a:ext>
            </a:extLst>
          </p:cNvPr>
          <p:cNvSpPr>
            <a:spLocks noGrp="1"/>
          </p:cNvSpPr>
          <p:nvPr>
            <p:ph idx="1"/>
          </p:nvPr>
        </p:nvSpPr>
        <p:spPr>
          <a:xfrm>
            <a:off x="838200" y="1035424"/>
            <a:ext cx="10515600" cy="5141539"/>
          </a:xfrm>
        </p:spPr>
        <p:txBody>
          <a:bodyPr>
            <a:normAutofit/>
          </a:bodyPr>
          <a:lstStyle/>
          <a:p>
            <a:pPr algn="just"/>
            <a:r>
              <a:rPr lang="en-US" dirty="0"/>
              <a:t>Why do we want to build models? </a:t>
            </a:r>
          </a:p>
          <a:p>
            <a:pPr algn="just"/>
            <a:r>
              <a:rPr lang="en-US" dirty="0"/>
              <a:t>As far as data scientists and statisticians are concerned, there are three reasons, and each implies a different focus on modeling.</a:t>
            </a:r>
          </a:p>
          <a:p>
            <a:pPr algn="just"/>
            <a:r>
              <a:rPr lang="en-US" dirty="0"/>
              <a:t>To explain complex phenomena occurring in the world we live in. </a:t>
            </a:r>
          </a:p>
          <a:p>
            <a:pPr lvl="1" algn="just"/>
            <a:r>
              <a:rPr lang="en-US" dirty="0"/>
              <a:t>How is the patients’ average height related to the children’s average height?</a:t>
            </a:r>
          </a:p>
          <a:p>
            <a:pPr algn="just"/>
            <a:r>
              <a:rPr lang="en-US" dirty="0"/>
              <a:t>To make accurate predictions about unseen data.</a:t>
            </a:r>
          </a:p>
          <a:p>
            <a:pPr lvl="1" algn="just"/>
            <a:r>
              <a:rPr lang="en-US" dirty="0"/>
              <a:t>Can we predict if an email is spam or not?</a:t>
            </a:r>
          </a:p>
          <a:p>
            <a:pPr algn="just"/>
            <a:r>
              <a:rPr lang="en-US" dirty="0"/>
              <a:t>To measure the causal effects of one event on some other event.</a:t>
            </a:r>
          </a:p>
          <a:p>
            <a:pPr lvl="1"/>
            <a:r>
              <a:rPr lang="en-US" dirty="0"/>
              <a:t>Does smoking cause lung cancer?</a:t>
            </a:r>
          </a:p>
          <a:p>
            <a:pPr lvl="1"/>
            <a:r>
              <a:rPr lang="en-US" dirty="0"/>
              <a:t>Does a job training program cause increases in employment and wage?</a:t>
            </a:r>
          </a:p>
          <a:p>
            <a:pPr algn="just"/>
            <a:endParaRPr lang="en-US" dirty="0"/>
          </a:p>
        </p:txBody>
      </p:sp>
      <p:sp>
        <p:nvSpPr>
          <p:cNvPr id="5" name="Slide Number Placeholder 4">
            <a:extLst>
              <a:ext uri="{FF2B5EF4-FFF2-40B4-BE49-F238E27FC236}">
                <a16:creationId xmlns:a16="http://schemas.microsoft.com/office/drawing/2014/main" id="{55DAAD47-1CEF-4F1E-8808-5AEFCB93C230}"/>
              </a:ext>
            </a:extLst>
          </p:cNvPr>
          <p:cNvSpPr>
            <a:spLocks noGrp="1"/>
          </p:cNvSpPr>
          <p:nvPr>
            <p:ph type="sldNum" sz="quarter" idx="12"/>
          </p:nvPr>
        </p:nvSpPr>
        <p:spPr/>
        <p:txBody>
          <a:bodyPr/>
          <a:lstStyle/>
          <a:p>
            <a:fld id="{6B97D948-30E8-43F7-AE10-F6E2D9F2BBB1}" type="slidenum">
              <a:rPr lang="en-US" smtClean="0"/>
              <a:t>584</a:t>
            </a:fld>
            <a:endParaRPr lang="en-US"/>
          </a:p>
        </p:txBody>
      </p:sp>
    </p:spTree>
    <p:extLst>
      <p:ext uri="{BB962C8B-B14F-4D97-AF65-F5344CB8AC3E}">
        <p14:creationId xmlns:p14="http://schemas.microsoft.com/office/powerpoint/2010/main" val="1650671188"/>
      </p:ext>
    </p:extLst>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78CF4-593D-4D86-9EDE-49977715A63B}"/>
              </a:ext>
            </a:extLst>
          </p:cNvPr>
          <p:cNvSpPr>
            <a:spLocks noGrp="1"/>
          </p:cNvSpPr>
          <p:nvPr>
            <p:ph type="title"/>
          </p:nvPr>
        </p:nvSpPr>
        <p:spPr>
          <a:xfrm>
            <a:off x="838200" y="365126"/>
            <a:ext cx="10515600" cy="710640"/>
          </a:xfrm>
        </p:spPr>
        <p:txBody>
          <a:bodyPr/>
          <a:lstStyle/>
          <a:p>
            <a:r>
              <a:rPr lang="en-US" dirty="0"/>
              <a:t>Goal</a:t>
            </a:r>
          </a:p>
        </p:txBody>
      </p:sp>
      <p:sp>
        <p:nvSpPr>
          <p:cNvPr id="3" name="Content Placeholder 2">
            <a:extLst>
              <a:ext uri="{FF2B5EF4-FFF2-40B4-BE49-F238E27FC236}">
                <a16:creationId xmlns:a16="http://schemas.microsoft.com/office/drawing/2014/main" id="{B185C34F-FB4B-4D57-9BE5-0F05ED279959}"/>
              </a:ext>
            </a:extLst>
          </p:cNvPr>
          <p:cNvSpPr>
            <a:spLocks noGrp="1"/>
          </p:cNvSpPr>
          <p:nvPr>
            <p:ph idx="1"/>
          </p:nvPr>
        </p:nvSpPr>
        <p:spPr>
          <a:xfrm>
            <a:off x="838200" y="1075766"/>
            <a:ext cx="10515600" cy="5101197"/>
          </a:xfrm>
        </p:spPr>
        <p:txBody>
          <a:bodyPr/>
          <a:lstStyle/>
          <a:p>
            <a:pPr algn="just"/>
            <a:r>
              <a:rPr lang="en-US" dirty="0"/>
              <a:t>Most of the times, we aim to strike a balance between building </a:t>
            </a:r>
            <a:r>
              <a:rPr lang="en-US" dirty="0">
                <a:solidFill>
                  <a:srgbClr val="FF0000"/>
                </a:solidFill>
              </a:rPr>
              <a:t>interpretable</a:t>
            </a:r>
            <a:r>
              <a:rPr lang="en-US" dirty="0"/>
              <a:t> models and building </a:t>
            </a:r>
            <a:r>
              <a:rPr lang="en-US" dirty="0">
                <a:solidFill>
                  <a:srgbClr val="FF0000"/>
                </a:solidFill>
              </a:rPr>
              <a:t>accurate models</a:t>
            </a:r>
            <a:r>
              <a:rPr lang="en-US" dirty="0"/>
              <a:t>.</a:t>
            </a:r>
          </a:p>
        </p:txBody>
      </p:sp>
      <p:sp>
        <p:nvSpPr>
          <p:cNvPr id="5" name="Slide Number Placeholder 4">
            <a:extLst>
              <a:ext uri="{FF2B5EF4-FFF2-40B4-BE49-F238E27FC236}">
                <a16:creationId xmlns:a16="http://schemas.microsoft.com/office/drawing/2014/main" id="{EE968403-AA3A-495D-AD99-31A20B2052A9}"/>
              </a:ext>
            </a:extLst>
          </p:cNvPr>
          <p:cNvSpPr>
            <a:spLocks noGrp="1"/>
          </p:cNvSpPr>
          <p:nvPr>
            <p:ph type="sldNum" sz="quarter" idx="12"/>
          </p:nvPr>
        </p:nvSpPr>
        <p:spPr/>
        <p:txBody>
          <a:bodyPr/>
          <a:lstStyle/>
          <a:p>
            <a:fld id="{6B97D948-30E8-43F7-AE10-F6E2D9F2BBB1}" type="slidenum">
              <a:rPr lang="en-US" smtClean="0"/>
              <a:t>585</a:t>
            </a:fld>
            <a:endParaRPr lang="en-US"/>
          </a:p>
        </p:txBody>
      </p:sp>
    </p:spTree>
    <p:extLst>
      <p:ext uri="{BB962C8B-B14F-4D97-AF65-F5344CB8AC3E}">
        <p14:creationId xmlns:p14="http://schemas.microsoft.com/office/powerpoint/2010/main" val="1864428076"/>
      </p:ext>
    </p:extLst>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1EDA1-295D-4A60-BB7A-3BA125EE3267}"/>
              </a:ext>
            </a:extLst>
          </p:cNvPr>
          <p:cNvSpPr>
            <a:spLocks noGrp="1"/>
          </p:cNvSpPr>
          <p:nvPr>
            <p:ph type="title"/>
          </p:nvPr>
        </p:nvSpPr>
        <p:spPr>
          <a:xfrm>
            <a:off x="838200" y="365125"/>
            <a:ext cx="10515600" cy="724087"/>
          </a:xfrm>
        </p:spPr>
        <p:txBody>
          <a:bodyPr/>
          <a:lstStyle/>
          <a:p>
            <a:r>
              <a:rPr lang="en-US" dirty="0"/>
              <a:t>Common Types of Models</a:t>
            </a:r>
          </a:p>
        </p:txBody>
      </p:sp>
      <p:sp>
        <p:nvSpPr>
          <p:cNvPr id="3" name="Content Placeholder 2">
            <a:extLst>
              <a:ext uri="{FF2B5EF4-FFF2-40B4-BE49-F238E27FC236}">
                <a16:creationId xmlns:a16="http://schemas.microsoft.com/office/drawing/2014/main" id="{23A3C214-0384-441F-9241-0E2B9BE70B98}"/>
              </a:ext>
            </a:extLst>
          </p:cNvPr>
          <p:cNvSpPr>
            <a:spLocks noGrp="1"/>
          </p:cNvSpPr>
          <p:nvPr>
            <p:ph idx="1"/>
          </p:nvPr>
        </p:nvSpPr>
        <p:spPr>
          <a:xfrm>
            <a:off x="838200" y="1089212"/>
            <a:ext cx="10515600" cy="5087751"/>
          </a:xfrm>
        </p:spPr>
        <p:txBody>
          <a:bodyPr>
            <a:normAutofit fontScale="77500" lnSpcReduction="20000"/>
          </a:bodyPr>
          <a:lstStyle/>
          <a:p>
            <a:r>
              <a:rPr lang="en-US" dirty="0"/>
              <a:t>In general, models can be split into two categories:</a:t>
            </a:r>
          </a:p>
          <a:p>
            <a:endParaRPr lang="en-US" dirty="0"/>
          </a:p>
          <a:p>
            <a:pPr algn="just"/>
            <a:r>
              <a:rPr lang="en-US" dirty="0">
                <a:solidFill>
                  <a:srgbClr val="FF0000"/>
                </a:solidFill>
              </a:rPr>
              <a:t>Deterministic</a:t>
            </a:r>
            <a:r>
              <a:rPr lang="en-US" dirty="0"/>
              <a:t> </a:t>
            </a:r>
            <a:r>
              <a:rPr lang="en-US" dirty="0">
                <a:solidFill>
                  <a:srgbClr val="FF0000"/>
                </a:solidFill>
              </a:rPr>
              <a:t>physical (mechanistic) models</a:t>
            </a:r>
            <a:r>
              <a:rPr lang="en-US" dirty="0"/>
              <a:t>: Laws that govern how the world works.</a:t>
            </a:r>
          </a:p>
          <a:p>
            <a:pPr algn="just"/>
            <a:r>
              <a:rPr lang="en-US" dirty="0"/>
              <a:t>F = ma</a:t>
            </a:r>
          </a:p>
          <a:p>
            <a:pPr algn="just"/>
            <a:endParaRPr lang="en-US" dirty="0"/>
          </a:p>
          <a:p>
            <a:pPr algn="just"/>
            <a:r>
              <a:rPr lang="en-US" dirty="0">
                <a:solidFill>
                  <a:srgbClr val="FF0000"/>
                </a:solidFill>
              </a:rPr>
              <a:t>Probabilistic models</a:t>
            </a:r>
            <a:r>
              <a:rPr lang="en-US" dirty="0"/>
              <a:t>: models that attempt to understand how random processes evolve. </a:t>
            </a:r>
          </a:p>
          <a:p>
            <a:pPr algn="just"/>
            <a:endParaRPr lang="en-US" dirty="0"/>
          </a:p>
          <a:p>
            <a:pPr algn="just"/>
            <a:r>
              <a:rPr lang="en-US" dirty="0"/>
              <a:t>These are more general and can be used describe many phenomena in the real world. These models commonly make simplifying assumption about the nature of the world.</a:t>
            </a:r>
          </a:p>
          <a:p>
            <a:pPr algn="just"/>
            <a:endParaRPr lang="en-US" dirty="0"/>
          </a:p>
          <a:p>
            <a:pPr algn="just"/>
            <a:r>
              <a:rPr lang="en-US" dirty="0"/>
              <a:t> Poisson Process models: Used to model random events that happen with some probability at any point in time and are strictly increasing in count, such as the arrival of customers at a store.</a:t>
            </a:r>
          </a:p>
          <a:p>
            <a:pPr algn="just"/>
            <a:endParaRPr lang="en-US" dirty="0"/>
          </a:p>
        </p:txBody>
      </p:sp>
      <p:sp>
        <p:nvSpPr>
          <p:cNvPr id="5" name="Slide Number Placeholder 4">
            <a:extLst>
              <a:ext uri="{FF2B5EF4-FFF2-40B4-BE49-F238E27FC236}">
                <a16:creationId xmlns:a16="http://schemas.microsoft.com/office/drawing/2014/main" id="{C8743F01-0882-467E-9E3C-4BE8EF89141A}"/>
              </a:ext>
            </a:extLst>
          </p:cNvPr>
          <p:cNvSpPr>
            <a:spLocks noGrp="1"/>
          </p:cNvSpPr>
          <p:nvPr>
            <p:ph type="sldNum" sz="quarter" idx="12"/>
          </p:nvPr>
        </p:nvSpPr>
        <p:spPr/>
        <p:txBody>
          <a:bodyPr/>
          <a:lstStyle/>
          <a:p>
            <a:fld id="{6B97D948-30E8-43F7-AE10-F6E2D9F2BBB1}" type="slidenum">
              <a:rPr lang="en-US" smtClean="0"/>
              <a:t>586</a:t>
            </a:fld>
            <a:endParaRPr lang="en-US"/>
          </a:p>
        </p:txBody>
      </p:sp>
    </p:spTree>
    <p:extLst>
      <p:ext uri="{BB962C8B-B14F-4D97-AF65-F5344CB8AC3E}">
        <p14:creationId xmlns:p14="http://schemas.microsoft.com/office/powerpoint/2010/main" val="1889324097"/>
      </p:ext>
    </p:extLst>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C5448-A47C-4416-81A8-2C39332C2B53}"/>
              </a:ext>
            </a:extLst>
          </p:cNvPr>
          <p:cNvSpPr>
            <a:spLocks noGrp="1"/>
          </p:cNvSpPr>
          <p:nvPr>
            <p:ph type="title"/>
          </p:nvPr>
        </p:nvSpPr>
        <p:spPr>
          <a:xfrm>
            <a:off x="838200" y="365126"/>
            <a:ext cx="10515600" cy="737534"/>
          </a:xfrm>
        </p:spPr>
        <p:txBody>
          <a:bodyPr/>
          <a:lstStyle/>
          <a:p>
            <a:r>
              <a:rPr lang="en-US" dirty="0"/>
              <a:t>Simple Linear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2B0A03-42B5-4B24-B7F8-B5867C8AF121}"/>
                  </a:ext>
                </a:extLst>
              </p:cNvPr>
              <p:cNvSpPr>
                <a:spLocks noGrp="1"/>
              </p:cNvSpPr>
              <p:nvPr>
                <p:ph idx="1"/>
              </p:nvPr>
            </p:nvSpPr>
            <p:spPr>
              <a:xfrm>
                <a:off x="838200" y="1102660"/>
                <a:ext cx="10515600" cy="5074303"/>
              </a:xfrm>
            </p:spPr>
            <p:txBody>
              <a:bodyPr/>
              <a:lstStyle/>
              <a:p>
                <a:pPr algn="just"/>
                <a:r>
                  <a:rPr lang="en-US" dirty="0"/>
                  <a:t>The regression line is the unique straight line that minimizes the mean squared error of estimation among all straight lines. </a:t>
                </a:r>
              </a:p>
              <a:p>
                <a:pPr algn="just"/>
                <a:endParaRPr lang="en-US" dirty="0"/>
              </a:p>
              <a:p>
                <a:pPr algn="just"/>
                <a:r>
                  <a:rPr lang="en-US" dirty="0"/>
                  <a:t>As with any straight line, it can be defined by a slope and a y-intercept:</a:t>
                </a:r>
              </a:p>
              <a:p>
                <a:pPr algn="just"/>
                <a:r>
                  <a:rPr lang="en-US" dirty="0"/>
                  <a:t>slope: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𝑐h𝑎𝑛𝑔𝑒</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𝑦</m:t>
                        </m:r>
                      </m:num>
                      <m:den>
                        <m:r>
                          <a:rPr lang="en-US" b="0" i="1" smtClean="0">
                            <a:latin typeface="Cambria Math" panose="02040503050406030204" pitchFamily="18" charset="0"/>
                          </a:rPr>
                          <m:t>𝑐h𝑎𝑛𝑔𝑒</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𝑥</m:t>
                        </m:r>
                      </m:den>
                    </m:f>
                  </m:oMath>
                </a14:m>
                <a:endParaRPr lang="en-US" dirty="0"/>
              </a:p>
              <a:p>
                <a:pPr algn="just"/>
                <a:r>
                  <a:rPr lang="en-US" dirty="0"/>
                  <a:t>y-intercept: </a:t>
                </a:r>
                <a14:m>
                  <m:oMath xmlns:m="http://schemas.openxmlformats.org/officeDocument/2006/math">
                    <m:r>
                      <a:rPr lang="en-US" b="0" i="1" smtClean="0">
                        <a:latin typeface="Cambria Math" panose="02040503050406030204" pitchFamily="18" charset="0"/>
                      </a:rPr>
                      <m:t>𝑎𝑣𝑒𝑟𝑎𝑔𝑒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 −</m:t>
                    </m:r>
                    <m:r>
                      <a:rPr lang="en-US" b="0" i="1" smtClean="0">
                        <a:latin typeface="Cambria Math" panose="02040503050406030204" pitchFamily="18" charset="0"/>
                      </a:rPr>
                      <m:t>𝑠𝑙𝑜𝑝𝑒</m:t>
                    </m:r>
                    <m:r>
                      <a:rPr lang="en-US" b="0" i="1" smtClean="0">
                        <a:latin typeface="Cambria Math" panose="02040503050406030204" pitchFamily="18" charset="0"/>
                      </a:rPr>
                      <m:t>∗</m:t>
                    </m:r>
                    <m:r>
                      <a:rPr lang="en-US" b="0" i="1" smtClean="0">
                        <a:latin typeface="Cambria Math" panose="02040503050406030204" pitchFamily="18" charset="0"/>
                      </a:rPr>
                      <m:t>𝑎𝑣𝑒𝑟𝑎𝑔𝑒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𝑥</m:t>
                    </m:r>
                  </m:oMath>
                </a14:m>
                <a:endParaRPr lang="en-US" dirty="0"/>
              </a:p>
            </p:txBody>
          </p:sp>
        </mc:Choice>
        <mc:Fallback xmlns="">
          <p:sp>
            <p:nvSpPr>
              <p:cNvPr id="3" name="Content Placeholder 2">
                <a:extLst>
                  <a:ext uri="{FF2B5EF4-FFF2-40B4-BE49-F238E27FC236}">
                    <a16:creationId xmlns:a16="http://schemas.microsoft.com/office/drawing/2014/main" id="{4D2B0A03-42B5-4B24-B7F8-B5867C8AF121}"/>
                  </a:ext>
                </a:extLst>
              </p:cNvPr>
              <p:cNvSpPr>
                <a:spLocks noGrp="1" noRot="1" noChangeAspect="1" noMove="1" noResize="1" noEditPoints="1" noAdjustHandles="1" noChangeArrowheads="1" noChangeShapeType="1" noTextEdit="1"/>
              </p:cNvSpPr>
              <p:nvPr>
                <p:ph idx="1"/>
              </p:nvPr>
            </p:nvSpPr>
            <p:spPr>
              <a:xfrm>
                <a:off x="838200" y="1102660"/>
                <a:ext cx="10515600" cy="5074303"/>
              </a:xfrm>
              <a:blipFill>
                <a:blip r:embed="rId2"/>
                <a:stretch>
                  <a:fillRect l="-1043" t="-2043"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C4C353E-6568-4739-933F-2EEFD27A8277}"/>
              </a:ext>
            </a:extLst>
          </p:cNvPr>
          <p:cNvSpPr>
            <a:spLocks noGrp="1"/>
          </p:cNvSpPr>
          <p:nvPr>
            <p:ph type="sldNum" sz="quarter" idx="12"/>
          </p:nvPr>
        </p:nvSpPr>
        <p:spPr/>
        <p:txBody>
          <a:bodyPr/>
          <a:lstStyle/>
          <a:p>
            <a:fld id="{6B97D948-30E8-43F7-AE10-F6E2D9F2BBB1}" type="slidenum">
              <a:rPr lang="en-US" smtClean="0"/>
              <a:t>587</a:t>
            </a:fld>
            <a:endParaRPr lang="en-US"/>
          </a:p>
        </p:txBody>
      </p:sp>
    </p:spTree>
    <p:extLst>
      <p:ext uri="{BB962C8B-B14F-4D97-AF65-F5344CB8AC3E}">
        <p14:creationId xmlns:p14="http://schemas.microsoft.com/office/powerpoint/2010/main" val="3612192048"/>
      </p:ext>
    </p:extLst>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4C317F-15D0-410D-BEC9-2DE26A7440D9}"/>
              </a:ext>
            </a:extLst>
          </p:cNvPr>
          <p:cNvSpPr>
            <a:spLocks noGrp="1"/>
          </p:cNvSpPr>
          <p:nvPr>
            <p:ph idx="1"/>
          </p:nvPr>
        </p:nvSpPr>
        <p:spPr>
          <a:xfrm>
            <a:off x="838200" y="524435"/>
            <a:ext cx="10515600" cy="5652528"/>
          </a:xfrm>
        </p:spPr>
        <p:txBody>
          <a:bodyPr>
            <a:normAutofit fontScale="85000" lnSpcReduction="20000"/>
          </a:bodyPr>
          <a:lstStyle/>
          <a:p>
            <a:r>
              <a:rPr lang="en-US" dirty="0">
                <a:solidFill>
                  <a:srgbClr val="FF0000"/>
                </a:solidFill>
              </a:rPr>
              <a:t>import pandas as pd</a:t>
            </a:r>
          </a:p>
          <a:p>
            <a:r>
              <a:rPr lang="en-US" dirty="0">
                <a:solidFill>
                  <a:srgbClr val="FF0000"/>
                </a:solidFill>
              </a:rPr>
              <a:t>import </a:t>
            </a:r>
            <a:r>
              <a:rPr lang="en-US" dirty="0" err="1">
                <a:solidFill>
                  <a:srgbClr val="FF0000"/>
                </a:solidFill>
              </a:rPr>
              <a:t>numpy</a:t>
            </a:r>
            <a:r>
              <a:rPr lang="en-US" dirty="0">
                <a:solidFill>
                  <a:srgbClr val="FF0000"/>
                </a:solidFill>
              </a:rPr>
              <a:t> as np</a:t>
            </a:r>
          </a:p>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r>
              <a:rPr lang="en-US" dirty="0">
                <a:solidFill>
                  <a:srgbClr val="FF0000"/>
                </a:solidFill>
              </a:rPr>
              <a:t>import seaborn as </a:t>
            </a:r>
            <a:r>
              <a:rPr lang="en-US" dirty="0" err="1">
                <a:solidFill>
                  <a:srgbClr val="FF0000"/>
                </a:solidFill>
              </a:rPr>
              <a:t>sns</a:t>
            </a:r>
            <a:endParaRPr lang="en-US" dirty="0">
              <a:solidFill>
                <a:srgbClr val="FF0000"/>
              </a:solidFill>
            </a:endParaRPr>
          </a:p>
          <a:p>
            <a:r>
              <a:rPr lang="en-US" dirty="0">
                <a:solidFill>
                  <a:srgbClr val="FF0000"/>
                </a:solidFill>
              </a:rPr>
              <a:t># Set random seed for consistency </a:t>
            </a:r>
          </a:p>
          <a:p>
            <a:r>
              <a:rPr lang="en-US" dirty="0" err="1">
                <a:solidFill>
                  <a:srgbClr val="FF0000"/>
                </a:solidFill>
              </a:rPr>
              <a:t>np.random.seed</a:t>
            </a:r>
            <a:r>
              <a:rPr lang="en-US" dirty="0">
                <a:solidFill>
                  <a:srgbClr val="FF0000"/>
                </a:solidFill>
              </a:rPr>
              <a:t>(43)</a:t>
            </a:r>
          </a:p>
          <a:p>
            <a:r>
              <a:rPr lang="en-US" dirty="0" err="1">
                <a:solidFill>
                  <a:srgbClr val="FF0000"/>
                </a:solidFill>
              </a:rPr>
              <a:t>plt.style.use</a:t>
            </a:r>
            <a:r>
              <a:rPr lang="en-US" dirty="0">
                <a:solidFill>
                  <a:srgbClr val="FF0000"/>
                </a:solidFill>
              </a:rPr>
              <a:t>('default') </a:t>
            </a:r>
          </a:p>
          <a:p>
            <a:endParaRPr lang="en-US" dirty="0">
              <a:solidFill>
                <a:srgbClr val="FF0000"/>
              </a:solidFill>
            </a:endParaRPr>
          </a:p>
          <a:p>
            <a:r>
              <a:rPr lang="en-US" dirty="0">
                <a:solidFill>
                  <a:srgbClr val="FF0000"/>
                </a:solidFill>
              </a:rPr>
              <a:t>#Generate random noise for plotting</a:t>
            </a:r>
          </a:p>
          <a:p>
            <a:r>
              <a:rPr lang="en-US" dirty="0">
                <a:solidFill>
                  <a:srgbClr val="FF0000"/>
                </a:solidFill>
              </a:rPr>
              <a:t>x = </a:t>
            </a:r>
            <a:r>
              <a:rPr lang="en-US" dirty="0" err="1">
                <a:solidFill>
                  <a:srgbClr val="FF0000"/>
                </a:solidFill>
              </a:rPr>
              <a:t>np.linspace</a:t>
            </a:r>
            <a:r>
              <a:rPr lang="en-US" dirty="0">
                <a:solidFill>
                  <a:srgbClr val="FF0000"/>
                </a:solidFill>
              </a:rPr>
              <a:t>(-3, 3, 100)</a:t>
            </a:r>
          </a:p>
          <a:p>
            <a:r>
              <a:rPr lang="en-US" dirty="0">
                <a:solidFill>
                  <a:srgbClr val="FF0000"/>
                </a:solidFill>
              </a:rPr>
              <a:t>y = x * 0.5 - 1 + </a:t>
            </a:r>
            <a:r>
              <a:rPr lang="en-US" dirty="0" err="1">
                <a:solidFill>
                  <a:srgbClr val="FF0000"/>
                </a:solidFill>
              </a:rPr>
              <a:t>np.random.randn</a:t>
            </a:r>
            <a:r>
              <a:rPr lang="en-US" dirty="0">
                <a:solidFill>
                  <a:srgbClr val="FF0000"/>
                </a:solidFill>
              </a:rPr>
              <a:t>(100) * 0.3</a:t>
            </a:r>
          </a:p>
          <a:p>
            <a:endParaRPr lang="en-US" dirty="0">
              <a:solidFill>
                <a:srgbClr val="FF0000"/>
              </a:solidFill>
            </a:endParaRPr>
          </a:p>
          <a:p>
            <a:r>
              <a:rPr lang="en-US" dirty="0">
                <a:solidFill>
                  <a:srgbClr val="FF0000"/>
                </a:solidFill>
              </a:rPr>
              <a:t>#plot regression line</a:t>
            </a:r>
          </a:p>
          <a:p>
            <a:r>
              <a:rPr lang="en-US" dirty="0" err="1">
                <a:solidFill>
                  <a:srgbClr val="FF0000"/>
                </a:solidFill>
              </a:rPr>
              <a:t>sns.regplot</a:t>
            </a:r>
            <a:r>
              <a:rPr lang="en-US" dirty="0">
                <a:solidFill>
                  <a:srgbClr val="FF0000"/>
                </a:solidFill>
              </a:rPr>
              <a:t>(x=</a:t>
            </a:r>
            <a:r>
              <a:rPr lang="en-US" dirty="0" err="1">
                <a:solidFill>
                  <a:srgbClr val="FF0000"/>
                </a:solidFill>
              </a:rPr>
              <a:t>x,y</a:t>
            </a:r>
            <a:r>
              <a:rPr lang="en-US" dirty="0">
                <a:solidFill>
                  <a:srgbClr val="FF0000"/>
                </a:solidFill>
              </a:rPr>
              <a:t>=y);</a:t>
            </a:r>
          </a:p>
        </p:txBody>
      </p:sp>
      <p:sp>
        <p:nvSpPr>
          <p:cNvPr id="4" name="Slide Number Placeholder 3">
            <a:extLst>
              <a:ext uri="{FF2B5EF4-FFF2-40B4-BE49-F238E27FC236}">
                <a16:creationId xmlns:a16="http://schemas.microsoft.com/office/drawing/2014/main" id="{745F88BA-6052-47E7-A494-815113A7EF8A}"/>
              </a:ext>
            </a:extLst>
          </p:cNvPr>
          <p:cNvSpPr>
            <a:spLocks noGrp="1"/>
          </p:cNvSpPr>
          <p:nvPr>
            <p:ph type="sldNum" sz="quarter" idx="12"/>
          </p:nvPr>
        </p:nvSpPr>
        <p:spPr/>
        <p:txBody>
          <a:bodyPr/>
          <a:lstStyle/>
          <a:p>
            <a:fld id="{6B97D948-30E8-43F7-AE10-F6E2D9F2BBB1}" type="slidenum">
              <a:rPr lang="en-US" smtClean="0"/>
              <a:t>588</a:t>
            </a:fld>
            <a:endParaRPr lang="en-US"/>
          </a:p>
        </p:txBody>
      </p:sp>
    </p:spTree>
    <p:extLst>
      <p:ext uri="{BB962C8B-B14F-4D97-AF65-F5344CB8AC3E}">
        <p14:creationId xmlns:p14="http://schemas.microsoft.com/office/powerpoint/2010/main" val="1305243821"/>
      </p:ext>
    </p:extLst>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CA45924-1961-4622-B731-5759C99E3A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0162" y="817701"/>
            <a:ext cx="7558057" cy="5668543"/>
          </a:xfrm>
        </p:spPr>
      </p:pic>
      <p:sp>
        <p:nvSpPr>
          <p:cNvPr id="3" name="Slide Number Placeholder 2">
            <a:extLst>
              <a:ext uri="{FF2B5EF4-FFF2-40B4-BE49-F238E27FC236}">
                <a16:creationId xmlns:a16="http://schemas.microsoft.com/office/drawing/2014/main" id="{3376851F-1A1E-46F3-B29B-4DDB41EAB0E1}"/>
              </a:ext>
            </a:extLst>
          </p:cNvPr>
          <p:cNvSpPr>
            <a:spLocks noGrp="1"/>
          </p:cNvSpPr>
          <p:nvPr>
            <p:ph type="sldNum" sz="quarter" idx="12"/>
          </p:nvPr>
        </p:nvSpPr>
        <p:spPr/>
        <p:txBody>
          <a:bodyPr/>
          <a:lstStyle/>
          <a:p>
            <a:fld id="{6B97D948-30E8-43F7-AE10-F6E2D9F2BBB1}" type="slidenum">
              <a:rPr lang="en-US" smtClean="0"/>
              <a:t>589</a:t>
            </a:fld>
            <a:endParaRPr lang="en-US"/>
          </a:p>
        </p:txBody>
      </p:sp>
    </p:spTree>
    <p:extLst>
      <p:ext uri="{BB962C8B-B14F-4D97-AF65-F5344CB8AC3E}">
        <p14:creationId xmlns:p14="http://schemas.microsoft.com/office/powerpoint/2010/main" val="4086655602"/>
      </p:ext>
    </p:extLst>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590AD-FE69-43D8-9B49-D06C606A2AD6}"/>
              </a:ext>
            </a:extLst>
          </p:cNvPr>
          <p:cNvSpPr>
            <a:spLocks noGrp="1"/>
          </p:cNvSpPr>
          <p:nvPr>
            <p:ph type="title"/>
          </p:nvPr>
        </p:nvSpPr>
        <p:spPr>
          <a:xfrm>
            <a:off x="838200" y="365126"/>
            <a:ext cx="10515600" cy="683746"/>
          </a:xfrm>
        </p:spPr>
        <p:txBody>
          <a:bodyPr>
            <a:normAutofit fontScale="90000"/>
          </a:bodyPr>
          <a:lstStyle/>
          <a:p>
            <a:r>
              <a:rPr lang="en-US" b="1" dirty="0"/>
              <a:t>Notations and Definitions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E004AD-B5E6-4A2D-97C3-9601386779E9}"/>
                  </a:ext>
                </a:extLst>
              </p:cNvPr>
              <p:cNvSpPr>
                <a:spLocks noGrp="1"/>
              </p:cNvSpPr>
              <p:nvPr>
                <p:ph idx="1"/>
              </p:nvPr>
            </p:nvSpPr>
            <p:spPr>
              <a:xfrm>
                <a:off x="838200" y="1048872"/>
                <a:ext cx="10515600" cy="5128091"/>
              </a:xfrm>
            </p:spPr>
            <p:txBody>
              <a:bodyPr/>
              <a:lstStyle/>
              <a:p>
                <a:pPr algn="just"/>
                <a:r>
                  <a:rPr lang="en-US" dirty="0"/>
                  <a:t>For a pair of variables x and y representing our data </a:t>
                </a:r>
                <a14:m>
                  <m:oMath xmlns:m="http://schemas.openxmlformats.org/officeDocument/2006/math">
                    <m:r>
                      <a:rPr lang="en-US" i="1" smtClean="0">
                        <a:latin typeface="Cambria Math" panose="02040503050406030204" pitchFamily="18" charset="0"/>
                        <a:ea typeface="Cambria Math" panose="02040503050406030204" pitchFamily="18" charset="0"/>
                      </a:rPr>
                      <m:t>𝒟</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1</m:t>
                            </m:r>
                          </m:sub>
                        </m:sSub>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2</m:t>
                            </m:r>
                          </m:sub>
                        </m:sSub>
                      </m:e>
                    </m:d>
                    <m:r>
                      <a:rPr lang="en-US" b="0" i="1" smtClean="0">
                        <a:latin typeface="Cambria Math" panose="02040503050406030204" pitchFamily="18" charset="0"/>
                        <a:ea typeface="Cambria Math" panose="02040503050406030204" pitchFamily="18" charset="0"/>
                      </a:rPr>
                      <m:t>, . . . ,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oMath>
                </a14:m>
                <a:r>
                  <a:rPr lang="en-US" dirty="0"/>
                  <a:t>, we denote their means/averages as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oMath>
                </a14:m>
                <a:r>
                  <a:rPr lang="en-US" dirty="0"/>
                  <a:t> and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oMath>
                </a14:m>
                <a:r>
                  <a:rPr lang="en-US" dirty="0"/>
                  <a:t>, standard deviations as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𝑥</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𝑦</m:t>
                        </m:r>
                      </m:sub>
                    </m:sSub>
                  </m:oMath>
                </a14:m>
                <a:r>
                  <a:rPr lang="en-US" dirty="0"/>
                  <a:t>.</a:t>
                </a:r>
              </a:p>
            </p:txBody>
          </p:sp>
        </mc:Choice>
        <mc:Fallback xmlns="">
          <p:sp>
            <p:nvSpPr>
              <p:cNvPr id="3" name="Content Placeholder 2">
                <a:extLst>
                  <a:ext uri="{FF2B5EF4-FFF2-40B4-BE49-F238E27FC236}">
                    <a16:creationId xmlns:a16="http://schemas.microsoft.com/office/drawing/2014/main" id="{E0E004AD-B5E6-4A2D-97C3-9601386779E9}"/>
                  </a:ext>
                </a:extLst>
              </p:cNvPr>
              <p:cNvSpPr>
                <a:spLocks noGrp="1" noRot="1" noChangeAspect="1" noMove="1" noResize="1" noEditPoints="1" noAdjustHandles="1" noChangeArrowheads="1" noChangeShapeType="1" noTextEdit="1"/>
              </p:cNvSpPr>
              <p:nvPr>
                <p:ph idx="1"/>
              </p:nvPr>
            </p:nvSpPr>
            <p:spPr>
              <a:xfrm>
                <a:off x="838200" y="1048872"/>
                <a:ext cx="10515600" cy="5128091"/>
              </a:xfrm>
              <a:blipFill>
                <a:blip r:embed="rId2"/>
                <a:stretch>
                  <a:fillRect t="-190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FC068C4-B41D-421D-9D6D-B7047DC8C40F}"/>
              </a:ext>
            </a:extLst>
          </p:cNvPr>
          <p:cNvSpPr>
            <a:spLocks noGrp="1"/>
          </p:cNvSpPr>
          <p:nvPr>
            <p:ph type="sldNum" sz="quarter" idx="12"/>
          </p:nvPr>
        </p:nvSpPr>
        <p:spPr/>
        <p:txBody>
          <a:bodyPr/>
          <a:lstStyle/>
          <a:p>
            <a:fld id="{6B97D948-30E8-43F7-AE10-F6E2D9F2BBB1}" type="slidenum">
              <a:rPr lang="en-US" smtClean="0"/>
              <a:t>590</a:t>
            </a:fld>
            <a:endParaRPr lang="en-US"/>
          </a:p>
        </p:txBody>
      </p:sp>
    </p:spTree>
    <p:extLst>
      <p:ext uri="{BB962C8B-B14F-4D97-AF65-F5344CB8AC3E}">
        <p14:creationId xmlns:p14="http://schemas.microsoft.com/office/powerpoint/2010/main" val="4112242117"/>
      </p:ext>
    </p:extLst>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4AA4E-9632-4D0D-BB7F-223F1AEFD392}"/>
              </a:ext>
            </a:extLst>
          </p:cNvPr>
          <p:cNvSpPr>
            <a:spLocks noGrp="1"/>
          </p:cNvSpPr>
          <p:nvPr>
            <p:ph type="title"/>
          </p:nvPr>
        </p:nvSpPr>
        <p:spPr>
          <a:xfrm>
            <a:off x="838200" y="365125"/>
            <a:ext cx="10515600" cy="670299"/>
          </a:xfrm>
        </p:spPr>
        <p:txBody>
          <a:bodyPr>
            <a:normAutofit fontScale="90000"/>
          </a:bodyPr>
          <a:lstStyle/>
          <a:p>
            <a:r>
              <a:rPr lang="en-US" b="1" dirty="0"/>
              <a:t>Standard Units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3436BD-3B6C-46CD-BF0A-2AB6C2693097}"/>
                  </a:ext>
                </a:extLst>
              </p:cNvPr>
              <p:cNvSpPr>
                <a:spLocks noGrp="1"/>
              </p:cNvSpPr>
              <p:nvPr>
                <p:ph idx="1"/>
              </p:nvPr>
            </p:nvSpPr>
            <p:spPr>
              <a:xfrm>
                <a:off x="838200" y="1035424"/>
                <a:ext cx="10515600" cy="5141539"/>
              </a:xfrm>
            </p:spPr>
            <p:txBody>
              <a:bodyPr>
                <a:normAutofit/>
              </a:bodyPr>
              <a:lstStyle/>
              <a:p>
                <a:pPr algn="just"/>
                <a:r>
                  <a:rPr lang="en-US" dirty="0"/>
                  <a:t>A variable is represented in standard units if the following are true:</a:t>
                </a:r>
              </a:p>
              <a:p>
                <a:pPr algn="just"/>
                <a:r>
                  <a:rPr lang="en-US" dirty="0"/>
                  <a:t>  0 in standard units is the mean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oMath>
                </a14:m>
                <a:r>
                  <a:rPr lang="en-US" dirty="0"/>
                  <a:t>) in the original variable’s units.</a:t>
                </a:r>
              </a:p>
              <a:p>
                <a:pPr algn="just"/>
                <a:r>
                  <a:rPr lang="en-US" dirty="0"/>
                  <a:t>An increase of 1 standard unit is an increase of 1 standard deviation(</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𝑥</m:t>
                        </m:r>
                      </m:sub>
                    </m:sSub>
                  </m:oMath>
                </a14:m>
                <a:r>
                  <a:rPr lang="en-US" dirty="0"/>
                  <a:t>) in the original variable’s units</a:t>
                </a:r>
              </a:p>
              <a:p>
                <a:pPr algn="just"/>
                <a:endParaRPr lang="en-US" dirty="0"/>
              </a:p>
              <a:p>
                <a:pPr algn="just"/>
                <a:r>
                  <a:rPr lang="en-US" dirty="0"/>
                  <a:t>To convert a variable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into standard units, we subtract from it its mean and divide by its standard deviation.</a:t>
                </a:r>
              </a:p>
              <a:p>
                <a:pPr algn="just"/>
                <a:r>
                  <a:rPr lang="en-US" dirty="0"/>
                  <a:t>For example,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in standard units is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𝑥</m:t>
                            </m:r>
                          </m:e>
                        </m:acc>
                      </m:num>
                      <m:den>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𝑥</m:t>
                            </m:r>
                          </m:sub>
                        </m:sSub>
                        <m:r>
                          <a:rPr lang="en-US" b="0" i="1" smtClean="0">
                            <a:latin typeface="Cambria Math" panose="02040503050406030204" pitchFamily="18" charset="0"/>
                          </a:rPr>
                          <m:t> </m:t>
                        </m:r>
                      </m:den>
                    </m:f>
                  </m:oMath>
                </a14:m>
                <a:endParaRPr lang="en-US" dirty="0"/>
              </a:p>
              <a:p>
                <a:pPr algn="just"/>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1B3436BD-3B6C-46CD-BF0A-2AB6C2693097}"/>
                  </a:ext>
                </a:extLst>
              </p:cNvPr>
              <p:cNvSpPr>
                <a:spLocks noGrp="1" noRot="1" noChangeAspect="1" noMove="1" noResize="1" noEditPoints="1" noAdjustHandles="1" noChangeArrowheads="1" noChangeShapeType="1" noTextEdit="1"/>
              </p:cNvSpPr>
              <p:nvPr>
                <p:ph idx="1"/>
              </p:nvPr>
            </p:nvSpPr>
            <p:spPr>
              <a:xfrm>
                <a:off x="838200" y="1035424"/>
                <a:ext cx="10515600" cy="5141539"/>
              </a:xfrm>
              <a:blipFill>
                <a:blip r:embed="rId2"/>
                <a:stretch>
                  <a:fillRect l="-1043" t="-2017"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04EC1C9-C4F7-4C24-80A6-75917217803F}"/>
              </a:ext>
            </a:extLst>
          </p:cNvPr>
          <p:cNvSpPr>
            <a:spLocks noGrp="1"/>
          </p:cNvSpPr>
          <p:nvPr>
            <p:ph type="sldNum" sz="quarter" idx="12"/>
          </p:nvPr>
        </p:nvSpPr>
        <p:spPr/>
        <p:txBody>
          <a:bodyPr/>
          <a:lstStyle/>
          <a:p>
            <a:fld id="{6B97D948-30E8-43F7-AE10-F6E2D9F2BBB1}" type="slidenum">
              <a:rPr lang="en-US" smtClean="0"/>
              <a:t>591</a:t>
            </a:fld>
            <a:endParaRPr lang="en-US"/>
          </a:p>
        </p:txBody>
      </p:sp>
    </p:spTree>
    <p:extLst>
      <p:ext uri="{BB962C8B-B14F-4D97-AF65-F5344CB8AC3E}">
        <p14:creationId xmlns:p14="http://schemas.microsoft.com/office/powerpoint/2010/main" val="1745727883"/>
      </p:ext>
    </p:extLst>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5C3EB-E645-4C41-92FC-E49BD4D03478}"/>
              </a:ext>
            </a:extLst>
          </p:cNvPr>
          <p:cNvSpPr>
            <a:spLocks noGrp="1"/>
          </p:cNvSpPr>
          <p:nvPr>
            <p:ph type="title"/>
          </p:nvPr>
        </p:nvSpPr>
        <p:spPr>
          <a:xfrm>
            <a:off x="838200" y="365126"/>
            <a:ext cx="10515600" cy="737534"/>
          </a:xfrm>
        </p:spPr>
        <p:txBody>
          <a:bodyPr/>
          <a:lstStyle/>
          <a:p>
            <a:r>
              <a:rPr lang="en-US" dirty="0"/>
              <a:t>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C9BC61-25C1-4D9C-8C67-A86D5214E648}"/>
                  </a:ext>
                </a:extLst>
              </p:cNvPr>
              <p:cNvSpPr>
                <a:spLocks noGrp="1"/>
              </p:cNvSpPr>
              <p:nvPr>
                <p:ph idx="1"/>
              </p:nvPr>
            </p:nvSpPr>
            <p:spPr>
              <a:xfrm>
                <a:off x="838200" y="1102660"/>
                <a:ext cx="10515600" cy="5074303"/>
              </a:xfrm>
            </p:spPr>
            <p:txBody>
              <a:bodyPr/>
              <a:lstStyle/>
              <a:p>
                <a:pPr algn="just"/>
                <a:r>
                  <a:rPr lang="en-US" dirty="0"/>
                  <a:t>The correlation (r) is the average of the product of </a:t>
                </a:r>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𝑦</m:t>
                    </m:r>
                  </m:oMath>
                </a14:m>
                <a:r>
                  <a:rPr lang="en-US" dirty="0"/>
                  <a:t>, both measured in standard units.</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4BC9BC61-25C1-4D9C-8C67-A86D5214E648}"/>
                  </a:ext>
                </a:extLst>
              </p:cNvPr>
              <p:cNvSpPr>
                <a:spLocks noGrp="1" noRot="1" noChangeAspect="1" noMove="1" noResize="1" noEditPoints="1" noAdjustHandles="1" noChangeArrowheads="1" noChangeShapeType="1" noTextEdit="1"/>
              </p:cNvSpPr>
              <p:nvPr>
                <p:ph idx="1"/>
              </p:nvPr>
            </p:nvSpPr>
            <p:spPr>
              <a:xfrm>
                <a:off x="838200" y="1102660"/>
                <a:ext cx="10515600" cy="5074303"/>
              </a:xfrm>
              <a:blipFill>
                <a:blip r:embed="rId2"/>
                <a:stretch>
                  <a:fillRect l="-1043" t="-2043" r="-115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D9A5904-FCD0-4AFE-8F87-AE463D5CFFBA}"/>
              </a:ext>
            </a:extLst>
          </p:cNvPr>
          <p:cNvPicPr>
            <a:picLocks noChangeAspect="1"/>
          </p:cNvPicPr>
          <p:nvPr/>
        </p:nvPicPr>
        <p:blipFill>
          <a:blip r:embed="rId3"/>
          <a:stretch>
            <a:fillRect/>
          </a:stretch>
        </p:blipFill>
        <p:spPr>
          <a:xfrm>
            <a:off x="3022692" y="2084296"/>
            <a:ext cx="5196259" cy="1142440"/>
          </a:xfrm>
          <a:prstGeom prst="rect">
            <a:avLst/>
          </a:prstGeom>
        </p:spPr>
      </p:pic>
      <p:sp>
        <p:nvSpPr>
          <p:cNvPr id="6" name="Slide Number Placeholder 5">
            <a:extLst>
              <a:ext uri="{FF2B5EF4-FFF2-40B4-BE49-F238E27FC236}">
                <a16:creationId xmlns:a16="http://schemas.microsoft.com/office/drawing/2014/main" id="{408165AD-6914-4CC4-9AAF-AB3B9E98D436}"/>
              </a:ext>
            </a:extLst>
          </p:cNvPr>
          <p:cNvSpPr>
            <a:spLocks noGrp="1"/>
          </p:cNvSpPr>
          <p:nvPr>
            <p:ph type="sldNum" sz="quarter" idx="12"/>
          </p:nvPr>
        </p:nvSpPr>
        <p:spPr/>
        <p:txBody>
          <a:bodyPr/>
          <a:lstStyle/>
          <a:p>
            <a:fld id="{6B97D948-30E8-43F7-AE10-F6E2D9F2BBB1}" type="slidenum">
              <a:rPr lang="en-US" smtClean="0"/>
              <a:t>592</a:t>
            </a:fld>
            <a:endParaRPr lang="en-US"/>
          </a:p>
        </p:txBody>
      </p:sp>
    </p:spTree>
    <p:extLst>
      <p:ext uri="{BB962C8B-B14F-4D97-AF65-F5344CB8AC3E}">
        <p14:creationId xmlns:p14="http://schemas.microsoft.com/office/powerpoint/2010/main" val="1737601572"/>
      </p:ext>
    </p:extLst>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D0C04-15C8-4366-84E5-D1CBDD8E7798}"/>
              </a:ext>
            </a:extLst>
          </p:cNvPr>
          <p:cNvSpPr>
            <a:spLocks noGrp="1"/>
          </p:cNvSpPr>
          <p:nvPr>
            <p:ph type="title"/>
          </p:nvPr>
        </p:nvSpPr>
        <p:spPr>
          <a:xfrm>
            <a:off x="838200" y="365126"/>
            <a:ext cx="10515600" cy="710640"/>
          </a:xfrm>
        </p:spPr>
        <p:txBody>
          <a:bodyPr/>
          <a:lstStyle/>
          <a:p>
            <a:r>
              <a:rPr lang="en-US" dirty="0"/>
              <a:t>Properties of 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561397-6800-43E1-9A3A-DBFC778FFBAB}"/>
                  </a:ext>
                </a:extLst>
              </p:cNvPr>
              <p:cNvSpPr>
                <a:spLocks noGrp="1"/>
              </p:cNvSpPr>
              <p:nvPr>
                <p:ph idx="1"/>
              </p:nvPr>
            </p:nvSpPr>
            <p:spPr>
              <a:xfrm>
                <a:off x="838200" y="1075766"/>
                <a:ext cx="10515600" cy="5101197"/>
              </a:xfrm>
            </p:spPr>
            <p:txBody>
              <a:bodyPr>
                <a:normAutofit/>
              </a:bodyPr>
              <a:lstStyle/>
              <a:p>
                <a:pPr algn="just"/>
                <a:r>
                  <a:rPr lang="en-US" dirty="0"/>
                  <a:t>Correlation measures the strength of a </a:t>
                </a:r>
                <a:r>
                  <a:rPr lang="en-US" b="1" dirty="0"/>
                  <a:t>linear association</a:t>
                </a:r>
                <a:r>
                  <a:rPr lang="en-US" dirty="0"/>
                  <a:t> between two variables.</a:t>
                </a:r>
              </a:p>
              <a:p>
                <a:pPr algn="just"/>
                <a:r>
                  <a:rPr lang="en-US" dirty="0"/>
                  <a:t>Correlations range between -1 and 1: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ea typeface="Cambria Math" panose="02040503050406030204" pitchFamily="18" charset="0"/>
                      </a:rPr>
                      <m:t>≤1, </m:t>
                    </m:r>
                  </m:oMath>
                </a14:m>
                <a:r>
                  <a:rPr lang="en-US" dirty="0"/>
                  <a:t>with </a:t>
                </a:r>
                <a14:m>
                  <m:oMath xmlns:m="http://schemas.openxmlformats.org/officeDocument/2006/math">
                    <m:r>
                      <a:rPr lang="en-US" i="1">
                        <a:latin typeface="Cambria Math" panose="02040503050406030204" pitchFamily="18" charset="0"/>
                      </a:rPr>
                      <m:t>𝑟</m:t>
                    </m:r>
                    <m:r>
                      <a:rPr lang="en-US" b="0" i="1" smtClean="0">
                        <a:latin typeface="Cambria Math" panose="02040503050406030204" pitchFamily="18" charset="0"/>
                      </a:rPr>
                      <m:t>=1</m:t>
                    </m:r>
                    <m:r>
                      <a:rPr lang="en-US" i="1">
                        <a:latin typeface="Cambria Math" panose="02040503050406030204" pitchFamily="18" charset="0"/>
                      </a:rPr>
                      <m:t> </m:t>
                    </m:r>
                  </m:oMath>
                </a14:m>
                <a:r>
                  <a:rPr lang="en-US" dirty="0"/>
                  <a:t>indicating perfect linear association, and </a:t>
                </a:r>
                <a14:m>
                  <m:oMath xmlns:m="http://schemas.openxmlformats.org/officeDocument/2006/math">
                    <m:r>
                      <a:rPr lang="en-US" i="1">
                        <a:latin typeface="Cambria Math" panose="02040503050406030204" pitchFamily="18" charset="0"/>
                      </a:rPr>
                      <m:t>𝑟</m:t>
                    </m:r>
                    <m:r>
                      <a:rPr lang="en-US" b="0" i="1" smtClean="0">
                        <a:latin typeface="Cambria Math" panose="02040503050406030204" pitchFamily="18" charset="0"/>
                      </a:rPr>
                      <m:t>=−1</m:t>
                    </m:r>
                    <m:r>
                      <a:rPr lang="en-US" i="1">
                        <a:latin typeface="Cambria Math" panose="02040503050406030204" pitchFamily="18" charset="0"/>
                      </a:rPr>
                      <m:t> </m:t>
                    </m:r>
                  </m:oMath>
                </a14:m>
                <a:r>
                  <a:rPr lang="en-US" dirty="0"/>
                  <a:t>indicating perfect negative association. </a:t>
                </a:r>
              </a:p>
              <a:p>
                <a:pPr algn="just"/>
                <a:r>
                  <a:rPr lang="en-US" dirty="0"/>
                  <a:t>The closer is to </a:t>
                </a:r>
                <a14:m>
                  <m:oMath xmlns:m="http://schemas.openxmlformats.org/officeDocument/2006/math">
                    <m:r>
                      <a:rPr lang="en-US" b="0" i="1" smtClean="0">
                        <a:latin typeface="Cambria Math" panose="02040503050406030204" pitchFamily="18" charset="0"/>
                      </a:rPr>
                      <m:t>𝑟</m:t>
                    </m:r>
                  </m:oMath>
                </a14:m>
                <a:r>
                  <a:rPr lang="en-US" dirty="0"/>
                  <a:t> is to 0, the weaker the linear association is.</a:t>
                </a:r>
              </a:p>
              <a:p>
                <a:pPr algn="just"/>
                <a:r>
                  <a:rPr lang="en-US" dirty="0"/>
                  <a:t>Correlation says nothing about causation and non-linear association. Correlation does imply causation. </a:t>
                </a:r>
              </a:p>
              <a:p>
                <a:pPr algn="just"/>
                <a:r>
                  <a:rPr lang="en-US" dirty="0"/>
                  <a:t>When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=0</m:t>
                    </m:r>
                  </m:oMath>
                </a14:m>
                <a:r>
                  <a:rPr lang="en-US" dirty="0"/>
                  <a:t>, the two variables are uncorrelated. </a:t>
                </a:r>
              </a:p>
              <a:p>
                <a:pPr algn="just"/>
                <a:r>
                  <a:rPr lang="en-US" dirty="0"/>
                  <a:t>However, they could still be related through some non-linear relationship.</a:t>
                </a:r>
              </a:p>
            </p:txBody>
          </p:sp>
        </mc:Choice>
        <mc:Fallback xmlns="">
          <p:sp>
            <p:nvSpPr>
              <p:cNvPr id="3" name="Content Placeholder 2">
                <a:extLst>
                  <a:ext uri="{FF2B5EF4-FFF2-40B4-BE49-F238E27FC236}">
                    <a16:creationId xmlns:a16="http://schemas.microsoft.com/office/drawing/2014/main" id="{CF561397-6800-43E1-9A3A-DBFC778FFBAB}"/>
                  </a:ext>
                </a:extLst>
              </p:cNvPr>
              <p:cNvSpPr>
                <a:spLocks noGrp="1" noRot="1" noChangeAspect="1" noMove="1" noResize="1" noEditPoints="1" noAdjustHandles="1" noChangeArrowheads="1" noChangeShapeType="1" noTextEdit="1"/>
              </p:cNvSpPr>
              <p:nvPr>
                <p:ph idx="1"/>
              </p:nvPr>
            </p:nvSpPr>
            <p:spPr>
              <a:xfrm>
                <a:off x="838200" y="1075766"/>
                <a:ext cx="10515600" cy="5101197"/>
              </a:xfrm>
              <a:blipFill>
                <a:blip r:embed="rId2"/>
                <a:stretch>
                  <a:fillRect l="-1043" t="-1912" r="-1159" b="-47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436DCFC-ED9D-46D1-BAF2-89C4B49180FE}"/>
              </a:ext>
            </a:extLst>
          </p:cNvPr>
          <p:cNvSpPr>
            <a:spLocks noGrp="1"/>
          </p:cNvSpPr>
          <p:nvPr>
            <p:ph type="sldNum" sz="quarter" idx="12"/>
          </p:nvPr>
        </p:nvSpPr>
        <p:spPr/>
        <p:txBody>
          <a:bodyPr/>
          <a:lstStyle/>
          <a:p>
            <a:fld id="{6B97D948-30E8-43F7-AE10-F6E2D9F2BBB1}" type="slidenum">
              <a:rPr lang="en-US" smtClean="0"/>
              <a:t>593</a:t>
            </a:fld>
            <a:endParaRPr lang="en-US"/>
          </a:p>
        </p:txBody>
      </p:sp>
    </p:spTree>
    <p:extLst>
      <p:ext uri="{BB962C8B-B14F-4D97-AF65-F5344CB8AC3E}">
        <p14:creationId xmlns:p14="http://schemas.microsoft.com/office/powerpoint/2010/main" val="1475617104"/>
      </p:ext>
    </p:extLst>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24AC8B-A590-44B8-95C7-D985DE6D2F1F}"/>
              </a:ext>
            </a:extLst>
          </p:cNvPr>
          <p:cNvSpPr>
            <a:spLocks noGrp="1"/>
          </p:cNvSpPr>
          <p:nvPr>
            <p:ph idx="1"/>
          </p:nvPr>
        </p:nvSpPr>
        <p:spPr>
          <a:xfrm>
            <a:off x="838200" y="470647"/>
            <a:ext cx="10515600" cy="5706316"/>
          </a:xfrm>
        </p:spPr>
        <p:txBody>
          <a:bodyPr>
            <a:normAutofit/>
          </a:bodyPr>
          <a:lstStyle/>
          <a:p>
            <a:r>
              <a:rPr lang="en-US" dirty="0">
                <a:solidFill>
                  <a:srgbClr val="FF0000"/>
                </a:solidFill>
              </a:rPr>
              <a:t>def </a:t>
            </a:r>
            <a:r>
              <a:rPr lang="en-US" dirty="0" err="1">
                <a:solidFill>
                  <a:srgbClr val="FF0000"/>
                </a:solidFill>
              </a:rPr>
              <a:t>plot_and_get_corr</a:t>
            </a:r>
            <a:r>
              <a:rPr lang="en-US" dirty="0">
                <a:solidFill>
                  <a:srgbClr val="FF0000"/>
                </a:solidFill>
              </a:rPr>
              <a:t>(ax, x, y, title):</a:t>
            </a:r>
          </a:p>
          <a:p>
            <a:r>
              <a:rPr lang="en-US" dirty="0">
                <a:solidFill>
                  <a:srgbClr val="FF0000"/>
                </a:solidFill>
              </a:rPr>
              <a:t>    </a:t>
            </a:r>
            <a:r>
              <a:rPr lang="en-US" dirty="0" err="1">
                <a:solidFill>
                  <a:srgbClr val="FF0000"/>
                </a:solidFill>
              </a:rPr>
              <a:t>ax.set_xlim</a:t>
            </a:r>
            <a:r>
              <a:rPr lang="en-US" dirty="0">
                <a:solidFill>
                  <a:srgbClr val="FF0000"/>
                </a:solidFill>
              </a:rPr>
              <a:t>(-3, 3)</a:t>
            </a:r>
          </a:p>
          <a:p>
            <a:r>
              <a:rPr lang="en-US" dirty="0">
                <a:solidFill>
                  <a:srgbClr val="FF0000"/>
                </a:solidFill>
              </a:rPr>
              <a:t>    </a:t>
            </a:r>
            <a:r>
              <a:rPr lang="en-US" dirty="0" err="1">
                <a:solidFill>
                  <a:srgbClr val="FF0000"/>
                </a:solidFill>
              </a:rPr>
              <a:t>ax.set_ylim</a:t>
            </a:r>
            <a:r>
              <a:rPr lang="en-US" dirty="0">
                <a:solidFill>
                  <a:srgbClr val="FF0000"/>
                </a:solidFill>
              </a:rPr>
              <a:t>(-3, 3)</a:t>
            </a:r>
          </a:p>
          <a:p>
            <a:r>
              <a:rPr lang="en-US" dirty="0">
                <a:solidFill>
                  <a:srgbClr val="FF0000"/>
                </a:solidFill>
              </a:rPr>
              <a:t>    </a:t>
            </a:r>
            <a:r>
              <a:rPr lang="en-US" dirty="0" err="1">
                <a:solidFill>
                  <a:srgbClr val="FF0000"/>
                </a:solidFill>
              </a:rPr>
              <a:t>ax.set_xticks</a:t>
            </a:r>
            <a:r>
              <a:rPr lang="en-US" dirty="0">
                <a:solidFill>
                  <a:srgbClr val="FF0000"/>
                </a:solidFill>
              </a:rPr>
              <a:t>([])</a:t>
            </a:r>
          </a:p>
          <a:p>
            <a:r>
              <a:rPr lang="en-US" dirty="0">
                <a:solidFill>
                  <a:srgbClr val="FF0000"/>
                </a:solidFill>
              </a:rPr>
              <a:t>    </a:t>
            </a:r>
            <a:r>
              <a:rPr lang="en-US" dirty="0" err="1">
                <a:solidFill>
                  <a:srgbClr val="FF0000"/>
                </a:solidFill>
              </a:rPr>
              <a:t>ax.set_yticks</a:t>
            </a:r>
            <a:r>
              <a:rPr lang="en-US" dirty="0">
                <a:solidFill>
                  <a:srgbClr val="FF0000"/>
                </a:solidFill>
              </a:rPr>
              <a:t>([])</a:t>
            </a:r>
          </a:p>
          <a:p>
            <a:r>
              <a:rPr lang="en-US" dirty="0">
                <a:solidFill>
                  <a:srgbClr val="FF0000"/>
                </a:solidFill>
              </a:rPr>
              <a:t>    </a:t>
            </a:r>
            <a:r>
              <a:rPr lang="en-US" dirty="0" err="1">
                <a:solidFill>
                  <a:srgbClr val="FF0000"/>
                </a:solidFill>
              </a:rPr>
              <a:t>ax.scatter</a:t>
            </a:r>
            <a:r>
              <a:rPr lang="en-US" dirty="0">
                <a:solidFill>
                  <a:srgbClr val="FF0000"/>
                </a:solidFill>
              </a:rPr>
              <a:t>(x, y, alpha = 0.73)</a:t>
            </a:r>
          </a:p>
          <a:p>
            <a:r>
              <a:rPr lang="en-US" dirty="0">
                <a:solidFill>
                  <a:srgbClr val="FF0000"/>
                </a:solidFill>
              </a:rPr>
              <a:t>    r = </a:t>
            </a:r>
            <a:r>
              <a:rPr lang="en-US" dirty="0" err="1">
                <a:solidFill>
                  <a:srgbClr val="FF0000"/>
                </a:solidFill>
              </a:rPr>
              <a:t>np.corrcoef</a:t>
            </a:r>
            <a:r>
              <a:rPr lang="en-US" dirty="0">
                <a:solidFill>
                  <a:srgbClr val="FF0000"/>
                </a:solidFill>
              </a:rPr>
              <a:t>(x, y)[0, 1]</a:t>
            </a:r>
          </a:p>
          <a:p>
            <a:r>
              <a:rPr lang="en-US" dirty="0">
                <a:solidFill>
                  <a:srgbClr val="FF0000"/>
                </a:solidFill>
              </a:rPr>
              <a:t>    </a:t>
            </a:r>
            <a:r>
              <a:rPr lang="en-US" dirty="0" err="1">
                <a:solidFill>
                  <a:srgbClr val="FF0000"/>
                </a:solidFill>
              </a:rPr>
              <a:t>ax.set_title</a:t>
            </a:r>
            <a:r>
              <a:rPr lang="en-US" dirty="0">
                <a:solidFill>
                  <a:srgbClr val="FF0000"/>
                </a:solidFill>
              </a:rPr>
              <a:t>(title + " (</a:t>
            </a:r>
            <a:r>
              <a:rPr lang="en-US" dirty="0" err="1">
                <a:solidFill>
                  <a:srgbClr val="FF0000"/>
                </a:solidFill>
              </a:rPr>
              <a:t>corr</a:t>
            </a:r>
            <a:r>
              <a:rPr lang="en-US" dirty="0">
                <a:solidFill>
                  <a:srgbClr val="FF0000"/>
                </a:solidFill>
              </a:rPr>
              <a:t>: {})".format(</a:t>
            </a:r>
            <a:r>
              <a:rPr lang="en-US" dirty="0" err="1">
                <a:solidFill>
                  <a:srgbClr val="FF0000"/>
                </a:solidFill>
              </a:rPr>
              <a:t>r.round</a:t>
            </a:r>
            <a:r>
              <a:rPr lang="en-US" dirty="0">
                <a:solidFill>
                  <a:srgbClr val="FF0000"/>
                </a:solidFill>
              </a:rPr>
              <a:t>(2)))</a:t>
            </a:r>
          </a:p>
          <a:p>
            <a:r>
              <a:rPr lang="en-US" dirty="0">
                <a:solidFill>
                  <a:srgbClr val="FF0000"/>
                </a:solidFill>
              </a:rPr>
              <a:t>    return r</a:t>
            </a:r>
          </a:p>
        </p:txBody>
      </p:sp>
      <p:sp>
        <p:nvSpPr>
          <p:cNvPr id="4" name="Slide Number Placeholder 3">
            <a:extLst>
              <a:ext uri="{FF2B5EF4-FFF2-40B4-BE49-F238E27FC236}">
                <a16:creationId xmlns:a16="http://schemas.microsoft.com/office/drawing/2014/main" id="{86E0E597-7FEC-4D30-B704-A14498023547}"/>
              </a:ext>
            </a:extLst>
          </p:cNvPr>
          <p:cNvSpPr>
            <a:spLocks noGrp="1"/>
          </p:cNvSpPr>
          <p:nvPr>
            <p:ph type="sldNum" sz="quarter" idx="12"/>
          </p:nvPr>
        </p:nvSpPr>
        <p:spPr/>
        <p:txBody>
          <a:bodyPr/>
          <a:lstStyle/>
          <a:p>
            <a:fld id="{6B97D948-30E8-43F7-AE10-F6E2D9F2BBB1}" type="slidenum">
              <a:rPr lang="en-US" smtClean="0"/>
              <a:t>594</a:t>
            </a:fld>
            <a:endParaRPr lang="en-US"/>
          </a:p>
        </p:txBody>
      </p:sp>
    </p:spTree>
    <p:extLst>
      <p:ext uri="{BB962C8B-B14F-4D97-AF65-F5344CB8AC3E}">
        <p14:creationId xmlns:p14="http://schemas.microsoft.com/office/powerpoint/2010/main" val="389525082"/>
      </p:ext>
    </p:extLst>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8D84DB-50EE-4D8B-8557-17FC4E66040A}"/>
              </a:ext>
            </a:extLst>
          </p:cNvPr>
          <p:cNvSpPr>
            <a:spLocks noGrp="1"/>
          </p:cNvSpPr>
          <p:nvPr>
            <p:ph idx="1"/>
          </p:nvPr>
        </p:nvSpPr>
        <p:spPr>
          <a:xfrm>
            <a:off x="838200" y="605118"/>
            <a:ext cx="10515600" cy="5571845"/>
          </a:xfrm>
        </p:spPr>
        <p:txBody>
          <a:bodyPr>
            <a:normAutofit/>
          </a:bodyPr>
          <a:lstStyle/>
          <a:p>
            <a:r>
              <a:rPr lang="en-US" dirty="0">
                <a:solidFill>
                  <a:srgbClr val="FF0000"/>
                </a:solidFill>
              </a:rPr>
              <a:t>fig, </a:t>
            </a:r>
            <a:r>
              <a:rPr lang="en-US" dirty="0" err="1">
                <a:solidFill>
                  <a:srgbClr val="FF0000"/>
                </a:solidFill>
              </a:rPr>
              <a:t>axs</a:t>
            </a:r>
            <a:r>
              <a:rPr lang="en-US" dirty="0">
                <a:solidFill>
                  <a:srgbClr val="FF0000"/>
                </a:solidFill>
              </a:rPr>
              <a:t> = </a:t>
            </a:r>
            <a:r>
              <a:rPr lang="en-US" dirty="0" err="1">
                <a:solidFill>
                  <a:srgbClr val="FF0000"/>
                </a:solidFill>
              </a:rPr>
              <a:t>plt.subplots</a:t>
            </a:r>
            <a:r>
              <a:rPr lang="en-US" dirty="0">
                <a:solidFill>
                  <a:srgbClr val="FF0000"/>
                </a:solidFill>
              </a:rPr>
              <a:t>(2, 2, </a:t>
            </a:r>
            <a:r>
              <a:rPr lang="en-US" dirty="0" err="1">
                <a:solidFill>
                  <a:srgbClr val="FF0000"/>
                </a:solidFill>
              </a:rPr>
              <a:t>figsize</a:t>
            </a:r>
            <a:r>
              <a:rPr lang="en-US" dirty="0">
                <a:solidFill>
                  <a:srgbClr val="FF0000"/>
                </a:solidFill>
              </a:rPr>
              <a:t> = (10, 10))</a:t>
            </a:r>
          </a:p>
          <a:p>
            <a:endParaRPr lang="en-US" dirty="0"/>
          </a:p>
          <a:p>
            <a:r>
              <a:rPr lang="en-US" dirty="0"/>
              <a:t># Just noise</a:t>
            </a:r>
          </a:p>
          <a:p>
            <a:r>
              <a:rPr lang="en-US" dirty="0">
                <a:solidFill>
                  <a:srgbClr val="FF0000"/>
                </a:solidFill>
              </a:rPr>
              <a:t>x1, y1 = </a:t>
            </a:r>
            <a:r>
              <a:rPr lang="en-US" dirty="0" err="1">
                <a:solidFill>
                  <a:srgbClr val="FF0000"/>
                </a:solidFill>
              </a:rPr>
              <a:t>np.random.randn</a:t>
            </a:r>
            <a:r>
              <a:rPr lang="en-US" dirty="0">
                <a:solidFill>
                  <a:srgbClr val="FF0000"/>
                </a:solidFill>
              </a:rPr>
              <a:t>(2, 100)</a:t>
            </a:r>
          </a:p>
          <a:p>
            <a:r>
              <a:rPr lang="en-US" dirty="0">
                <a:solidFill>
                  <a:srgbClr val="FF0000"/>
                </a:solidFill>
              </a:rPr>
              <a:t>corr1 = </a:t>
            </a:r>
            <a:r>
              <a:rPr lang="en-US" dirty="0" err="1">
                <a:solidFill>
                  <a:srgbClr val="FF0000"/>
                </a:solidFill>
              </a:rPr>
              <a:t>plot_and_get_corr</a:t>
            </a:r>
            <a:r>
              <a:rPr lang="en-US" dirty="0">
                <a:solidFill>
                  <a:srgbClr val="FF0000"/>
                </a:solidFill>
              </a:rPr>
              <a:t>(</a:t>
            </a:r>
            <a:r>
              <a:rPr lang="en-US" dirty="0" err="1">
                <a:solidFill>
                  <a:srgbClr val="FF0000"/>
                </a:solidFill>
              </a:rPr>
              <a:t>axs</a:t>
            </a:r>
            <a:r>
              <a:rPr lang="en-US" dirty="0">
                <a:solidFill>
                  <a:srgbClr val="FF0000"/>
                </a:solidFill>
              </a:rPr>
              <a:t>[0, 0], x1, y1, title = "noise")</a:t>
            </a:r>
          </a:p>
          <a:p>
            <a:endParaRPr lang="en-US" dirty="0"/>
          </a:p>
          <a:p>
            <a:r>
              <a:rPr lang="en-US" dirty="0"/>
              <a:t># Strong linear</a:t>
            </a:r>
          </a:p>
          <a:p>
            <a:r>
              <a:rPr lang="en-US" dirty="0">
                <a:solidFill>
                  <a:srgbClr val="FF0000"/>
                </a:solidFill>
              </a:rPr>
              <a:t>x2 = </a:t>
            </a:r>
            <a:r>
              <a:rPr lang="en-US" dirty="0" err="1">
                <a:solidFill>
                  <a:srgbClr val="FF0000"/>
                </a:solidFill>
              </a:rPr>
              <a:t>np.linspace</a:t>
            </a:r>
            <a:r>
              <a:rPr lang="en-US" dirty="0">
                <a:solidFill>
                  <a:srgbClr val="FF0000"/>
                </a:solidFill>
              </a:rPr>
              <a:t>(-3, 3, 100)</a:t>
            </a:r>
          </a:p>
          <a:p>
            <a:r>
              <a:rPr lang="en-US" dirty="0">
                <a:solidFill>
                  <a:srgbClr val="FF0000"/>
                </a:solidFill>
              </a:rPr>
              <a:t>y2 = x2 * 0.5 - 1 + </a:t>
            </a:r>
            <a:r>
              <a:rPr lang="en-US" dirty="0" err="1">
                <a:solidFill>
                  <a:srgbClr val="FF0000"/>
                </a:solidFill>
              </a:rPr>
              <a:t>np.random.randn</a:t>
            </a:r>
            <a:r>
              <a:rPr lang="en-US" dirty="0">
                <a:solidFill>
                  <a:srgbClr val="FF0000"/>
                </a:solidFill>
              </a:rPr>
              <a:t>(100) * 0.3</a:t>
            </a:r>
          </a:p>
          <a:p>
            <a:r>
              <a:rPr lang="en-US" dirty="0">
                <a:solidFill>
                  <a:srgbClr val="FF0000"/>
                </a:solidFill>
              </a:rPr>
              <a:t>corr2 = </a:t>
            </a:r>
            <a:r>
              <a:rPr lang="en-US" dirty="0" err="1">
                <a:solidFill>
                  <a:srgbClr val="FF0000"/>
                </a:solidFill>
              </a:rPr>
              <a:t>plot_and_get_corr</a:t>
            </a:r>
            <a:r>
              <a:rPr lang="en-US" dirty="0">
                <a:solidFill>
                  <a:srgbClr val="FF0000"/>
                </a:solidFill>
              </a:rPr>
              <a:t>(</a:t>
            </a:r>
            <a:r>
              <a:rPr lang="en-US" dirty="0" err="1">
                <a:solidFill>
                  <a:srgbClr val="FF0000"/>
                </a:solidFill>
              </a:rPr>
              <a:t>axs</a:t>
            </a:r>
            <a:r>
              <a:rPr lang="en-US" dirty="0">
                <a:solidFill>
                  <a:srgbClr val="FF0000"/>
                </a:solidFill>
              </a:rPr>
              <a:t>[0, 1], x2, y2, title = "strong linear")</a:t>
            </a:r>
          </a:p>
        </p:txBody>
      </p:sp>
      <p:sp>
        <p:nvSpPr>
          <p:cNvPr id="4" name="Slide Number Placeholder 3">
            <a:extLst>
              <a:ext uri="{FF2B5EF4-FFF2-40B4-BE49-F238E27FC236}">
                <a16:creationId xmlns:a16="http://schemas.microsoft.com/office/drawing/2014/main" id="{7A9ADD82-CB10-4F08-A1D9-0C27CB168C46}"/>
              </a:ext>
            </a:extLst>
          </p:cNvPr>
          <p:cNvSpPr>
            <a:spLocks noGrp="1"/>
          </p:cNvSpPr>
          <p:nvPr>
            <p:ph type="sldNum" sz="quarter" idx="12"/>
          </p:nvPr>
        </p:nvSpPr>
        <p:spPr/>
        <p:txBody>
          <a:bodyPr/>
          <a:lstStyle/>
          <a:p>
            <a:fld id="{6B97D948-30E8-43F7-AE10-F6E2D9F2BBB1}" type="slidenum">
              <a:rPr lang="en-US" smtClean="0"/>
              <a:t>595</a:t>
            </a:fld>
            <a:endParaRPr lang="en-US"/>
          </a:p>
        </p:txBody>
      </p:sp>
    </p:spTree>
    <p:extLst>
      <p:ext uri="{BB962C8B-B14F-4D97-AF65-F5344CB8AC3E}">
        <p14:creationId xmlns:p14="http://schemas.microsoft.com/office/powerpoint/2010/main" val="3649133277"/>
      </p:ext>
    </p:extLst>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F5D91E-B723-45F9-B232-0CA521EAD0FE}"/>
              </a:ext>
            </a:extLst>
          </p:cNvPr>
          <p:cNvSpPr>
            <a:spLocks noGrp="1"/>
          </p:cNvSpPr>
          <p:nvPr>
            <p:ph idx="1"/>
          </p:nvPr>
        </p:nvSpPr>
        <p:spPr>
          <a:xfrm>
            <a:off x="838200" y="497541"/>
            <a:ext cx="10515600" cy="5679422"/>
          </a:xfrm>
        </p:spPr>
        <p:txBody>
          <a:bodyPr>
            <a:normAutofit lnSpcReduction="10000"/>
          </a:bodyPr>
          <a:lstStyle/>
          <a:p>
            <a:r>
              <a:rPr lang="en-US" dirty="0"/>
              <a:t># Unequal spread</a:t>
            </a:r>
          </a:p>
          <a:p>
            <a:r>
              <a:rPr lang="en-US" dirty="0">
                <a:solidFill>
                  <a:srgbClr val="FF0000"/>
                </a:solidFill>
              </a:rPr>
              <a:t>x3 = </a:t>
            </a:r>
            <a:r>
              <a:rPr lang="en-US" dirty="0" err="1">
                <a:solidFill>
                  <a:srgbClr val="FF0000"/>
                </a:solidFill>
              </a:rPr>
              <a:t>np.linspace</a:t>
            </a:r>
            <a:r>
              <a:rPr lang="en-US" dirty="0">
                <a:solidFill>
                  <a:srgbClr val="FF0000"/>
                </a:solidFill>
              </a:rPr>
              <a:t>(-3, 3, 100)</a:t>
            </a:r>
          </a:p>
          <a:p>
            <a:r>
              <a:rPr lang="en-US" dirty="0">
                <a:solidFill>
                  <a:srgbClr val="FF0000"/>
                </a:solidFill>
              </a:rPr>
              <a:t>y3 = - x3/3 + </a:t>
            </a:r>
            <a:r>
              <a:rPr lang="en-US" dirty="0" err="1">
                <a:solidFill>
                  <a:srgbClr val="FF0000"/>
                </a:solidFill>
              </a:rPr>
              <a:t>np.random.randn</a:t>
            </a:r>
            <a:r>
              <a:rPr lang="en-US" dirty="0">
                <a:solidFill>
                  <a:srgbClr val="FF0000"/>
                </a:solidFill>
              </a:rPr>
              <a:t>(100)*(x3)/2.5</a:t>
            </a:r>
          </a:p>
          <a:p>
            <a:r>
              <a:rPr lang="en-US" dirty="0">
                <a:solidFill>
                  <a:srgbClr val="FF0000"/>
                </a:solidFill>
              </a:rPr>
              <a:t>corr3 = </a:t>
            </a:r>
            <a:r>
              <a:rPr lang="en-US" dirty="0" err="1">
                <a:solidFill>
                  <a:srgbClr val="FF0000"/>
                </a:solidFill>
              </a:rPr>
              <a:t>plot_and_get_corr</a:t>
            </a:r>
            <a:r>
              <a:rPr lang="en-US" dirty="0">
                <a:solidFill>
                  <a:srgbClr val="FF0000"/>
                </a:solidFill>
              </a:rPr>
              <a:t>(</a:t>
            </a:r>
            <a:r>
              <a:rPr lang="en-US" dirty="0" err="1">
                <a:solidFill>
                  <a:srgbClr val="FF0000"/>
                </a:solidFill>
              </a:rPr>
              <a:t>axs</a:t>
            </a:r>
            <a:r>
              <a:rPr lang="en-US" dirty="0">
                <a:solidFill>
                  <a:srgbClr val="FF0000"/>
                </a:solidFill>
              </a:rPr>
              <a:t>[1, 0], x3, y3, title = "strong linear")</a:t>
            </a:r>
          </a:p>
          <a:p>
            <a:r>
              <a:rPr lang="en-US" dirty="0">
                <a:solidFill>
                  <a:srgbClr val="FF0000"/>
                </a:solidFill>
              </a:rPr>
              <a:t>extent = </a:t>
            </a:r>
            <a:r>
              <a:rPr lang="en-US" dirty="0" err="1">
                <a:solidFill>
                  <a:srgbClr val="FF0000"/>
                </a:solidFill>
              </a:rPr>
              <a:t>axs</a:t>
            </a:r>
            <a:r>
              <a:rPr lang="en-US" dirty="0">
                <a:solidFill>
                  <a:srgbClr val="FF0000"/>
                </a:solidFill>
              </a:rPr>
              <a:t>[1,0].</a:t>
            </a:r>
            <a:r>
              <a:rPr lang="en-US" dirty="0" err="1">
                <a:solidFill>
                  <a:srgbClr val="FF0000"/>
                </a:solidFill>
              </a:rPr>
              <a:t>get_window_extent</a:t>
            </a:r>
            <a:r>
              <a:rPr lang="en-US" dirty="0">
                <a:solidFill>
                  <a:srgbClr val="FF0000"/>
                </a:solidFill>
              </a:rPr>
              <a:t>().transformed(</a:t>
            </a:r>
            <a:r>
              <a:rPr lang="en-US" dirty="0" err="1">
                <a:solidFill>
                  <a:srgbClr val="FF0000"/>
                </a:solidFill>
              </a:rPr>
              <a:t>fig.dpi_scale_trans.inverted</a:t>
            </a:r>
            <a:r>
              <a:rPr lang="en-US" dirty="0">
                <a:solidFill>
                  <a:srgbClr val="FF0000"/>
                </a:solidFill>
              </a:rPr>
              <a:t>())</a:t>
            </a:r>
          </a:p>
          <a:p>
            <a:endParaRPr lang="en-US" dirty="0"/>
          </a:p>
          <a:p>
            <a:r>
              <a:rPr lang="en-US" dirty="0"/>
              <a:t># Strong non-linear</a:t>
            </a:r>
          </a:p>
          <a:p>
            <a:r>
              <a:rPr lang="en-US" dirty="0">
                <a:solidFill>
                  <a:srgbClr val="0070C0"/>
                </a:solidFill>
              </a:rPr>
              <a:t>x4 = </a:t>
            </a:r>
            <a:r>
              <a:rPr lang="en-US" dirty="0" err="1">
                <a:solidFill>
                  <a:srgbClr val="0070C0"/>
                </a:solidFill>
              </a:rPr>
              <a:t>np.linspace</a:t>
            </a:r>
            <a:r>
              <a:rPr lang="en-US" dirty="0">
                <a:solidFill>
                  <a:srgbClr val="0070C0"/>
                </a:solidFill>
              </a:rPr>
              <a:t>(-3, 3, 100)</a:t>
            </a:r>
          </a:p>
          <a:p>
            <a:r>
              <a:rPr lang="en-US" dirty="0">
                <a:solidFill>
                  <a:srgbClr val="0070C0"/>
                </a:solidFill>
              </a:rPr>
              <a:t>y4 = 2*</a:t>
            </a:r>
            <a:r>
              <a:rPr lang="en-US" dirty="0" err="1">
                <a:solidFill>
                  <a:srgbClr val="0070C0"/>
                </a:solidFill>
              </a:rPr>
              <a:t>np.sin</a:t>
            </a:r>
            <a:r>
              <a:rPr lang="en-US" dirty="0">
                <a:solidFill>
                  <a:srgbClr val="0070C0"/>
                </a:solidFill>
              </a:rPr>
              <a:t>(x3 - 1.5) + </a:t>
            </a:r>
            <a:r>
              <a:rPr lang="en-US" dirty="0" err="1">
                <a:solidFill>
                  <a:srgbClr val="0070C0"/>
                </a:solidFill>
              </a:rPr>
              <a:t>np.random.randn</a:t>
            </a:r>
            <a:r>
              <a:rPr lang="en-US" dirty="0">
                <a:solidFill>
                  <a:srgbClr val="0070C0"/>
                </a:solidFill>
              </a:rPr>
              <a:t>(100) * 0.3</a:t>
            </a:r>
          </a:p>
          <a:p>
            <a:r>
              <a:rPr lang="en-US" dirty="0">
                <a:solidFill>
                  <a:srgbClr val="0070C0"/>
                </a:solidFill>
              </a:rPr>
              <a:t>corr4 = </a:t>
            </a:r>
            <a:r>
              <a:rPr lang="en-US" dirty="0" err="1">
                <a:solidFill>
                  <a:srgbClr val="0070C0"/>
                </a:solidFill>
              </a:rPr>
              <a:t>plot_and_get_corr</a:t>
            </a:r>
            <a:r>
              <a:rPr lang="en-US" dirty="0">
                <a:solidFill>
                  <a:srgbClr val="0070C0"/>
                </a:solidFill>
              </a:rPr>
              <a:t>(</a:t>
            </a:r>
            <a:r>
              <a:rPr lang="en-US" dirty="0" err="1">
                <a:solidFill>
                  <a:srgbClr val="0070C0"/>
                </a:solidFill>
              </a:rPr>
              <a:t>axs</a:t>
            </a:r>
            <a:r>
              <a:rPr lang="en-US" dirty="0">
                <a:solidFill>
                  <a:srgbClr val="0070C0"/>
                </a:solidFill>
              </a:rPr>
              <a:t>[1, 1], x4, y4, title = "strong non-linear")</a:t>
            </a:r>
          </a:p>
          <a:p>
            <a:endParaRPr lang="en-US" dirty="0"/>
          </a:p>
        </p:txBody>
      </p:sp>
      <p:sp>
        <p:nvSpPr>
          <p:cNvPr id="4" name="Slide Number Placeholder 3">
            <a:extLst>
              <a:ext uri="{FF2B5EF4-FFF2-40B4-BE49-F238E27FC236}">
                <a16:creationId xmlns:a16="http://schemas.microsoft.com/office/drawing/2014/main" id="{9EEB7ADA-23EB-4182-9990-A003A53ED231}"/>
              </a:ext>
            </a:extLst>
          </p:cNvPr>
          <p:cNvSpPr>
            <a:spLocks noGrp="1"/>
          </p:cNvSpPr>
          <p:nvPr>
            <p:ph type="sldNum" sz="quarter" idx="12"/>
          </p:nvPr>
        </p:nvSpPr>
        <p:spPr/>
        <p:txBody>
          <a:bodyPr/>
          <a:lstStyle/>
          <a:p>
            <a:fld id="{6B97D948-30E8-43F7-AE10-F6E2D9F2BBB1}" type="slidenum">
              <a:rPr lang="en-US" smtClean="0"/>
              <a:t>596</a:t>
            </a:fld>
            <a:endParaRPr lang="en-US"/>
          </a:p>
        </p:txBody>
      </p:sp>
    </p:spTree>
    <p:extLst>
      <p:ext uri="{BB962C8B-B14F-4D97-AF65-F5344CB8AC3E}">
        <p14:creationId xmlns:p14="http://schemas.microsoft.com/office/powerpoint/2010/main" val="4220449518"/>
      </p:ext>
    </p:extLst>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B7730D-E2F4-4B03-BEEA-E7F76955E9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3572" y="325001"/>
            <a:ext cx="7423857" cy="6013326"/>
          </a:xfrm>
        </p:spPr>
      </p:pic>
      <p:sp>
        <p:nvSpPr>
          <p:cNvPr id="3" name="Slide Number Placeholder 2">
            <a:extLst>
              <a:ext uri="{FF2B5EF4-FFF2-40B4-BE49-F238E27FC236}">
                <a16:creationId xmlns:a16="http://schemas.microsoft.com/office/drawing/2014/main" id="{38C1AA95-B938-411A-96D4-87CAEDC99581}"/>
              </a:ext>
            </a:extLst>
          </p:cNvPr>
          <p:cNvSpPr>
            <a:spLocks noGrp="1"/>
          </p:cNvSpPr>
          <p:nvPr>
            <p:ph type="sldNum" sz="quarter" idx="12"/>
          </p:nvPr>
        </p:nvSpPr>
        <p:spPr/>
        <p:txBody>
          <a:bodyPr/>
          <a:lstStyle/>
          <a:p>
            <a:fld id="{6B97D948-30E8-43F7-AE10-F6E2D9F2BBB1}" type="slidenum">
              <a:rPr lang="en-US" smtClean="0"/>
              <a:t>597</a:t>
            </a:fld>
            <a:endParaRPr lang="en-US"/>
          </a:p>
        </p:txBody>
      </p:sp>
    </p:spTree>
    <p:extLst>
      <p:ext uri="{BB962C8B-B14F-4D97-AF65-F5344CB8AC3E}">
        <p14:creationId xmlns:p14="http://schemas.microsoft.com/office/powerpoint/2010/main" val="543526006"/>
      </p:ext>
    </p:extLst>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2665-D63D-4D81-9754-C7096288E41F}"/>
              </a:ext>
            </a:extLst>
          </p:cNvPr>
          <p:cNvSpPr>
            <a:spLocks noGrp="1"/>
          </p:cNvSpPr>
          <p:nvPr>
            <p:ph type="title"/>
          </p:nvPr>
        </p:nvSpPr>
        <p:spPr>
          <a:xfrm>
            <a:off x="838200" y="365126"/>
            <a:ext cx="10515600" cy="730250"/>
          </a:xfrm>
        </p:spPr>
        <p:txBody>
          <a:bodyPr/>
          <a:lstStyle/>
          <a:p>
            <a:r>
              <a:rPr lang="en-US" dirty="0"/>
              <a:t>Tukey-</a:t>
            </a:r>
            <a:r>
              <a:rPr lang="en-US" dirty="0" err="1"/>
              <a:t>Mosteller</a:t>
            </a:r>
            <a:r>
              <a:rPr lang="en-US" dirty="0"/>
              <a:t> Bulge Diagram</a:t>
            </a:r>
          </a:p>
        </p:txBody>
      </p:sp>
      <p:sp>
        <p:nvSpPr>
          <p:cNvPr id="3" name="Content Placeholder 2">
            <a:extLst>
              <a:ext uri="{FF2B5EF4-FFF2-40B4-BE49-F238E27FC236}">
                <a16:creationId xmlns:a16="http://schemas.microsoft.com/office/drawing/2014/main" id="{9A7D2AB3-020B-48CD-B5F7-9897C50B41F8}"/>
              </a:ext>
            </a:extLst>
          </p:cNvPr>
          <p:cNvSpPr>
            <a:spLocks noGrp="1"/>
          </p:cNvSpPr>
          <p:nvPr>
            <p:ph idx="1"/>
          </p:nvPr>
        </p:nvSpPr>
        <p:spPr>
          <a:xfrm>
            <a:off x="838200" y="1095376"/>
            <a:ext cx="10515600" cy="5081587"/>
          </a:xfrm>
        </p:spPr>
        <p:txBody>
          <a:bodyPr>
            <a:normAutofit fontScale="92500" lnSpcReduction="10000"/>
          </a:bodyPr>
          <a:lstStyle/>
          <a:p>
            <a:pPr algn="just"/>
            <a:r>
              <a:rPr lang="en-US" dirty="0"/>
              <a:t>The Tukey-</a:t>
            </a:r>
            <a:r>
              <a:rPr lang="en-US" dirty="0" err="1"/>
              <a:t>Mosteller</a:t>
            </a:r>
            <a:r>
              <a:rPr lang="en-US" dirty="0"/>
              <a:t> Bulge Diagram is a good guide when determining possible transformations to achieve linearity. </a:t>
            </a:r>
          </a:p>
          <a:p>
            <a:pPr algn="just"/>
            <a:endParaRPr lang="en-US" dirty="0"/>
          </a:p>
          <a:p>
            <a:pPr algn="just"/>
            <a:r>
              <a:rPr lang="en-US" dirty="0"/>
              <a:t>It is a visual summary of the reasoning we just worked through above.</a:t>
            </a:r>
          </a:p>
          <a:p>
            <a:pPr algn="just"/>
            <a:endParaRPr lang="en-US" dirty="0"/>
          </a:p>
          <a:p>
            <a:pPr algn="just"/>
            <a:r>
              <a:rPr lang="en-US" dirty="0"/>
              <a:t>To use the diagram, find which of the </a:t>
            </a:r>
            <a:r>
              <a:rPr lang="en-US" dirty="0">
                <a:solidFill>
                  <a:srgbClr val="FF0000"/>
                </a:solidFill>
              </a:rPr>
              <a:t>four bulges resembles your dataset the most closely</a:t>
            </a:r>
            <a:r>
              <a:rPr lang="en-US" dirty="0"/>
              <a:t>. </a:t>
            </a:r>
          </a:p>
          <a:p>
            <a:pPr algn="just"/>
            <a:endParaRPr lang="en-US" dirty="0"/>
          </a:p>
          <a:p>
            <a:pPr algn="just"/>
            <a:r>
              <a:rPr lang="en-US" dirty="0"/>
              <a:t>Then, look at the axes of the quadrant for this bulge. </a:t>
            </a:r>
          </a:p>
          <a:p>
            <a:pPr algn="just"/>
            <a:endParaRPr lang="en-US" dirty="0"/>
          </a:p>
          <a:p>
            <a:pPr algn="just"/>
            <a:r>
              <a:rPr lang="en-US" dirty="0"/>
              <a:t>The horizontal axis will list possible transformations that could be applied to your x data for linearization.</a:t>
            </a:r>
          </a:p>
        </p:txBody>
      </p:sp>
      <p:sp>
        <p:nvSpPr>
          <p:cNvPr id="5" name="Slide Number Placeholder 4">
            <a:extLst>
              <a:ext uri="{FF2B5EF4-FFF2-40B4-BE49-F238E27FC236}">
                <a16:creationId xmlns:a16="http://schemas.microsoft.com/office/drawing/2014/main" id="{5A56B539-123D-40A4-9825-8C98277F795D}"/>
              </a:ext>
            </a:extLst>
          </p:cNvPr>
          <p:cNvSpPr>
            <a:spLocks noGrp="1"/>
          </p:cNvSpPr>
          <p:nvPr>
            <p:ph type="sldNum" sz="quarter" idx="12"/>
          </p:nvPr>
        </p:nvSpPr>
        <p:spPr/>
        <p:txBody>
          <a:bodyPr/>
          <a:lstStyle/>
          <a:p>
            <a:fld id="{6B97D948-30E8-43F7-AE10-F6E2D9F2BBB1}" type="slidenum">
              <a:rPr lang="en-US" smtClean="0"/>
              <a:t>598</a:t>
            </a:fld>
            <a:endParaRPr lang="en-US"/>
          </a:p>
        </p:txBody>
      </p:sp>
    </p:spTree>
    <p:extLst>
      <p:ext uri="{BB962C8B-B14F-4D97-AF65-F5344CB8AC3E}">
        <p14:creationId xmlns:p14="http://schemas.microsoft.com/office/powerpoint/2010/main" val="966142943"/>
      </p:ext>
    </p:extLst>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EAA1B-25BC-4730-B4CC-CBC2BEE278BA}"/>
              </a:ext>
            </a:extLst>
          </p:cNvPr>
          <p:cNvSpPr>
            <a:spLocks noGrp="1"/>
          </p:cNvSpPr>
          <p:nvPr>
            <p:ph type="title"/>
          </p:nvPr>
        </p:nvSpPr>
        <p:spPr/>
        <p:txBody>
          <a:bodyPr/>
          <a:lstStyle/>
          <a:p>
            <a:r>
              <a:rPr lang="en-US" dirty="0"/>
              <a:t>Diagram</a:t>
            </a:r>
          </a:p>
        </p:txBody>
      </p:sp>
      <p:pic>
        <p:nvPicPr>
          <p:cNvPr id="4" name="Content Placeholder 3">
            <a:extLst>
              <a:ext uri="{FF2B5EF4-FFF2-40B4-BE49-F238E27FC236}">
                <a16:creationId xmlns:a16="http://schemas.microsoft.com/office/drawing/2014/main" id="{94070B54-B137-4922-B5A1-DDAAFA31D873}"/>
              </a:ext>
            </a:extLst>
          </p:cNvPr>
          <p:cNvPicPr>
            <a:picLocks noGrp="1" noChangeAspect="1"/>
          </p:cNvPicPr>
          <p:nvPr>
            <p:ph idx="1"/>
          </p:nvPr>
        </p:nvPicPr>
        <p:blipFill>
          <a:blip r:embed="rId2"/>
          <a:stretch>
            <a:fillRect/>
          </a:stretch>
        </p:blipFill>
        <p:spPr>
          <a:xfrm>
            <a:off x="3535680" y="1217660"/>
            <a:ext cx="4561448" cy="4959303"/>
          </a:xfrm>
          <a:prstGeom prst="rect">
            <a:avLst/>
          </a:prstGeom>
        </p:spPr>
      </p:pic>
      <p:sp>
        <p:nvSpPr>
          <p:cNvPr id="6" name="Slide Number Placeholder 5">
            <a:extLst>
              <a:ext uri="{FF2B5EF4-FFF2-40B4-BE49-F238E27FC236}">
                <a16:creationId xmlns:a16="http://schemas.microsoft.com/office/drawing/2014/main" id="{2414903D-7A06-41C0-8573-9B75F9824F28}"/>
              </a:ext>
            </a:extLst>
          </p:cNvPr>
          <p:cNvSpPr>
            <a:spLocks noGrp="1"/>
          </p:cNvSpPr>
          <p:nvPr>
            <p:ph type="sldNum" sz="quarter" idx="12"/>
          </p:nvPr>
        </p:nvSpPr>
        <p:spPr/>
        <p:txBody>
          <a:bodyPr/>
          <a:lstStyle/>
          <a:p>
            <a:fld id="{6B97D948-30E8-43F7-AE10-F6E2D9F2BBB1}" type="slidenum">
              <a:rPr lang="en-US" smtClean="0"/>
              <a:t>599</a:t>
            </a:fld>
            <a:endParaRPr lang="en-US"/>
          </a:p>
        </p:txBody>
      </p:sp>
    </p:spTree>
    <p:extLst>
      <p:ext uri="{BB962C8B-B14F-4D97-AF65-F5344CB8AC3E}">
        <p14:creationId xmlns:p14="http://schemas.microsoft.com/office/powerpoint/2010/main" val="3297603611"/>
      </p:ext>
    </p:extLst>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36237F-B828-4E97-B91E-579ADA6F77EE}"/>
              </a:ext>
            </a:extLst>
          </p:cNvPr>
          <p:cNvSpPr>
            <a:spLocks noGrp="1"/>
          </p:cNvSpPr>
          <p:nvPr>
            <p:ph idx="1"/>
          </p:nvPr>
        </p:nvSpPr>
        <p:spPr>
          <a:xfrm>
            <a:off x="838200" y="518160"/>
            <a:ext cx="10515600" cy="5658803"/>
          </a:xfrm>
        </p:spPr>
        <p:txBody>
          <a:bodyPr>
            <a:normAutofit lnSpcReduction="10000"/>
          </a:bodyPr>
          <a:lstStyle/>
          <a:p>
            <a:pPr algn="just"/>
            <a:r>
              <a:rPr lang="en-US" dirty="0"/>
              <a:t>Similarly, the vertical axis will list possible transformations that could be applied to your y data. </a:t>
            </a:r>
          </a:p>
          <a:p>
            <a:pPr algn="just"/>
            <a:endParaRPr lang="en-US" dirty="0"/>
          </a:p>
          <a:p>
            <a:pPr algn="just"/>
            <a:r>
              <a:rPr lang="en-US" dirty="0"/>
              <a:t>Note that each axis lists two possible transformations. </a:t>
            </a:r>
          </a:p>
          <a:p>
            <a:pPr algn="just"/>
            <a:endParaRPr lang="en-US" dirty="0"/>
          </a:p>
          <a:p>
            <a:pPr algn="just"/>
            <a:r>
              <a:rPr lang="en-US" dirty="0"/>
              <a:t>While either of these transformations has the potential to linearize your dataset, note that this is an iterative process. </a:t>
            </a:r>
          </a:p>
          <a:p>
            <a:pPr algn="just"/>
            <a:endParaRPr lang="en-US" dirty="0"/>
          </a:p>
          <a:p>
            <a:pPr algn="just"/>
            <a:r>
              <a:rPr lang="en-US" dirty="0"/>
              <a:t>It’s important to try out these transformations and look at the results to see whether you’ve actually achieved linearity. </a:t>
            </a:r>
          </a:p>
          <a:p>
            <a:pPr algn="just"/>
            <a:endParaRPr lang="en-US" dirty="0"/>
          </a:p>
          <a:p>
            <a:pPr algn="just"/>
            <a:r>
              <a:rPr lang="en-US" dirty="0"/>
              <a:t>If not, you’ll need to continue testing other possible transformations.</a:t>
            </a:r>
          </a:p>
        </p:txBody>
      </p:sp>
      <p:sp>
        <p:nvSpPr>
          <p:cNvPr id="5" name="Slide Number Placeholder 4">
            <a:extLst>
              <a:ext uri="{FF2B5EF4-FFF2-40B4-BE49-F238E27FC236}">
                <a16:creationId xmlns:a16="http://schemas.microsoft.com/office/drawing/2014/main" id="{64240C2C-F214-424A-9FC0-5C1ECDD08CE4}"/>
              </a:ext>
            </a:extLst>
          </p:cNvPr>
          <p:cNvSpPr>
            <a:spLocks noGrp="1"/>
          </p:cNvSpPr>
          <p:nvPr>
            <p:ph type="sldNum" sz="quarter" idx="12"/>
          </p:nvPr>
        </p:nvSpPr>
        <p:spPr/>
        <p:txBody>
          <a:bodyPr/>
          <a:lstStyle/>
          <a:p>
            <a:fld id="{6B97D948-30E8-43F7-AE10-F6E2D9F2BBB1}" type="slidenum">
              <a:rPr lang="en-US" smtClean="0"/>
              <a:t>600</a:t>
            </a:fld>
            <a:endParaRPr lang="en-US"/>
          </a:p>
        </p:txBody>
      </p:sp>
    </p:spTree>
    <p:extLst>
      <p:ext uri="{BB962C8B-B14F-4D97-AF65-F5344CB8AC3E}">
        <p14:creationId xmlns:p14="http://schemas.microsoft.com/office/powerpoint/2010/main" val="1143628047"/>
      </p:ext>
    </p:extLst>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00DDA-449F-4D0E-9186-A7B1110C58DC}"/>
              </a:ext>
            </a:extLst>
          </p:cNvPr>
          <p:cNvSpPr>
            <a:spLocks noGrp="1"/>
          </p:cNvSpPr>
          <p:nvPr>
            <p:ph type="title"/>
          </p:nvPr>
        </p:nvSpPr>
        <p:spPr>
          <a:xfrm>
            <a:off x="838200" y="365125"/>
            <a:ext cx="10515600" cy="747395"/>
          </a:xfrm>
        </p:spPr>
        <p:txBody>
          <a:bodyPr/>
          <a:lstStyle/>
          <a:p>
            <a:r>
              <a:rPr lang="en-US" dirty="0"/>
              <a:t>Summary of Tukey-</a:t>
            </a:r>
            <a:r>
              <a:rPr lang="en-US" dirty="0" err="1"/>
              <a:t>Mosteller</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350C13-148F-4130-95A6-D5D200F5EE25}"/>
                  </a:ext>
                </a:extLst>
              </p:cNvPr>
              <p:cNvSpPr>
                <a:spLocks noGrp="1"/>
              </p:cNvSpPr>
              <p:nvPr>
                <p:ph idx="1"/>
              </p:nvPr>
            </p:nvSpPr>
            <p:spPr>
              <a:xfrm>
                <a:off x="838200" y="1112521"/>
                <a:ext cx="10515600" cy="2590800"/>
              </a:xfrm>
            </p:spPr>
            <p:txBody>
              <a:bodyPr/>
              <a:lstStyle/>
              <a:p>
                <a:r>
                  <a:rPr lang="en-US" dirty="0"/>
                  <a:t>Generally:</a:t>
                </a:r>
              </a:p>
              <a:p>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and </a:t>
                </a:r>
                <a14:m>
                  <m:oMath xmlns:m="http://schemas.openxmlformats.org/officeDocument/2006/math">
                    <m:r>
                      <a:rPr lang="en-US" b="0" i="1" smtClean="0">
                        <a:latin typeface="Cambria Math" panose="02040503050406030204" pitchFamily="18" charset="0"/>
                      </a:rPr>
                      <m:t>𝑙𝑜𝑔</m:t>
                    </m:r>
                  </m:oMath>
                </a14:m>
                <a:r>
                  <a:rPr lang="en-US" dirty="0"/>
                  <a:t> will reduce the magnitude of large values.</a:t>
                </a:r>
              </a:p>
              <a:p>
                <a:endParaRPr lang="en-US" dirty="0"/>
              </a:p>
              <a:p>
                <a:r>
                  <a:rPr lang="en-US" dirty="0"/>
                  <a:t>Powers (</a:t>
                </a:r>
                <a14:m>
                  <m:oMath xmlns:m="http://schemas.openxmlformats.org/officeDocument/2006/math">
                    <m:sSup>
                      <m:sSupPr>
                        <m:ctrlPr>
                          <a:rPr lang="en-US" i="1" smtClean="0">
                            <a:latin typeface="Cambria Math" panose="02040503050406030204" pitchFamily="18" charset="0"/>
                          </a:rPr>
                        </m:ctrlPr>
                      </m:sSupPr>
                      <m:e/>
                      <m:sup>
                        <m:r>
                          <a:rPr lang="en-US" b="0" i="1" smtClean="0">
                            <a:latin typeface="Cambria Math" panose="02040503050406030204" pitchFamily="18" charset="0"/>
                          </a:rPr>
                          <m:t>2</m:t>
                        </m:r>
                      </m:sup>
                    </m:sSup>
                  </m:oMath>
                </a14:m>
                <a:r>
                  <a:rPr lang="en-US" dirty="0"/>
                  <a:t> and </a:t>
                </a:r>
                <a14:m>
                  <m:oMath xmlns:m="http://schemas.openxmlformats.org/officeDocument/2006/math">
                    <m:sSup>
                      <m:sSupPr>
                        <m:ctrlPr>
                          <a:rPr lang="en-US" i="1" smtClean="0">
                            <a:latin typeface="Cambria Math" panose="02040503050406030204" pitchFamily="18" charset="0"/>
                          </a:rPr>
                        </m:ctrlPr>
                      </m:sSupPr>
                      <m:e/>
                      <m:sup>
                        <m:r>
                          <a:rPr lang="en-US" b="0" i="1" smtClean="0">
                            <a:latin typeface="Cambria Math" panose="02040503050406030204" pitchFamily="18" charset="0"/>
                          </a:rPr>
                          <m:t>3</m:t>
                        </m:r>
                      </m:sup>
                    </m:sSup>
                  </m:oMath>
                </a14:m>
                <a:r>
                  <a:rPr lang="en-US" dirty="0"/>
                  <a:t>) will increase the spread in magnitude of large values.</a:t>
                </a:r>
              </a:p>
            </p:txBody>
          </p:sp>
        </mc:Choice>
        <mc:Fallback xmlns="">
          <p:sp>
            <p:nvSpPr>
              <p:cNvPr id="3" name="Content Placeholder 2">
                <a:extLst>
                  <a:ext uri="{FF2B5EF4-FFF2-40B4-BE49-F238E27FC236}">
                    <a16:creationId xmlns:a16="http://schemas.microsoft.com/office/drawing/2014/main" id="{DB350C13-148F-4130-95A6-D5D200F5EE25}"/>
                  </a:ext>
                </a:extLst>
              </p:cNvPr>
              <p:cNvSpPr>
                <a:spLocks noGrp="1" noRot="1" noChangeAspect="1" noMove="1" noResize="1" noEditPoints="1" noAdjustHandles="1" noChangeArrowheads="1" noChangeShapeType="1" noTextEdit="1"/>
              </p:cNvSpPr>
              <p:nvPr>
                <p:ph idx="1"/>
              </p:nvPr>
            </p:nvSpPr>
            <p:spPr>
              <a:xfrm>
                <a:off x="838200" y="1112521"/>
                <a:ext cx="10515600" cy="2590800"/>
              </a:xfrm>
              <a:blipFill>
                <a:blip r:embed="rId2"/>
                <a:stretch>
                  <a:fillRect l="-1043" t="-4000" b="-2118"/>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B9E52642-2C37-4D60-AD89-2D9CD9D8A716}"/>
              </a:ext>
            </a:extLst>
          </p:cNvPr>
          <p:cNvSpPr>
            <a:spLocks noGrp="1"/>
          </p:cNvSpPr>
          <p:nvPr>
            <p:ph type="sldNum" sz="quarter" idx="12"/>
          </p:nvPr>
        </p:nvSpPr>
        <p:spPr/>
        <p:txBody>
          <a:bodyPr/>
          <a:lstStyle/>
          <a:p>
            <a:fld id="{6B97D948-30E8-43F7-AE10-F6E2D9F2BBB1}" type="slidenum">
              <a:rPr lang="en-US" smtClean="0"/>
              <a:t>601</a:t>
            </a:fld>
            <a:endParaRPr lang="en-US"/>
          </a:p>
        </p:txBody>
      </p:sp>
    </p:spTree>
    <p:extLst>
      <p:ext uri="{BB962C8B-B14F-4D97-AF65-F5344CB8AC3E}">
        <p14:creationId xmlns:p14="http://schemas.microsoft.com/office/powerpoint/2010/main" val="4152187221"/>
      </p:ext>
    </p:extLst>
  </p:cSld>
  <p:clrMapOvr>
    <a:masterClrMapping/>
  </p:clrMapOvr>
</p:sld>
</file>

<file path=ppt/slides/slide6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996E412-E5B5-40B8-92CD-3EF081B840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167754"/>
            <a:ext cx="10515600" cy="3667080"/>
          </a:xfrm>
        </p:spPr>
      </p:pic>
      <p:sp>
        <p:nvSpPr>
          <p:cNvPr id="7" name="Slide Number Placeholder 6">
            <a:extLst>
              <a:ext uri="{FF2B5EF4-FFF2-40B4-BE49-F238E27FC236}">
                <a16:creationId xmlns:a16="http://schemas.microsoft.com/office/drawing/2014/main" id="{C3EF2F61-531B-4B62-81B7-E8C6E550812F}"/>
              </a:ext>
            </a:extLst>
          </p:cNvPr>
          <p:cNvSpPr>
            <a:spLocks noGrp="1"/>
          </p:cNvSpPr>
          <p:nvPr>
            <p:ph type="sldNum" sz="quarter" idx="12"/>
          </p:nvPr>
        </p:nvSpPr>
        <p:spPr/>
        <p:txBody>
          <a:bodyPr/>
          <a:lstStyle/>
          <a:p>
            <a:fld id="{6B97D948-30E8-43F7-AE10-F6E2D9F2BBB1}" type="slidenum">
              <a:rPr lang="en-US" smtClean="0"/>
              <a:t>602</a:t>
            </a:fld>
            <a:endParaRPr lang="en-US"/>
          </a:p>
        </p:txBody>
      </p:sp>
    </p:spTree>
    <p:extLst>
      <p:ext uri="{BB962C8B-B14F-4D97-AF65-F5344CB8AC3E}">
        <p14:creationId xmlns:p14="http://schemas.microsoft.com/office/powerpoint/2010/main" val="1741689677"/>
      </p:ext>
    </p:extLst>
  </p:cSld>
  <p:clrMapOvr>
    <a:masterClrMapping/>
  </p:clrMapOvr>
</p:sld>
</file>

<file path=ppt/slides/slide6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7D1D9-87A7-4602-A840-2E7BD85008A0}"/>
              </a:ext>
            </a:extLst>
          </p:cNvPr>
          <p:cNvSpPr>
            <a:spLocks noGrp="1"/>
          </p:cNvSpPr>
          <p:nvPr>
            <p:ph type="title"/>
          </p:nvPr>
        </p:nvSpPr>
        <p:spPr>
          <a:xfrm>
            <a:off x="838200" y="365125"/>
            <a:ext cx="10515600" cy="750981"/>
          </a:xfrm>
        </p:spPr>
        <p:txBody>
          <a:bodyPr/>
          <a:lstStyle/>
          <a:p>
            <a:r>
              <a:rPr lang="en-US" dirty="0"/>
              <a:t>The Modeling Process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3AD08F-630A-4FC3-B104-D2DA4BA25344}"/>
                  </a:ext>
                </a:extLst>
              </p:cNvPr>
              <p:cNvSpPr>
                <a:spLocks noGrp="1"/>
              </p:cNvSpPr>
              <p:nvPr>
                <p:ph idx="1"/>
              </p:nvPr>
            </p:nvSpPr>
            <p:spPr>
              <a:xfrm>
                <a:off x="838200" y="1116106"/>
                <a:ext cx="10515600" cy="5060857"/>
              </a:xfrm>
            </p:spPr>
            <p:txBody>
              <a:bodyPr/>
              <a:lstStyle/>
              <a:p>
                <a:pPr algn="just"/>
                <a:r>
                  <a:rPr lang="en-US" dirty="0"/>
                  <a:t>At a high level, a model is some way of representing a system.</a:t>
                </a:r>
              </a:p>
              <a:p>
                <a:pPr algn="just"/>
                <a:endParaRPr lang="en-US" dirty="0"/>
              </a:p>
              <a:p>
                <a:pPr algn="just"/>
                <a:r>
                  <a:rPr lang="en-US" dirty="0"/>
                  <a:t>What variables are we modeling? </a:t>
                </a:r>
              </a:p>
              <a:p>
                <a:pPr algn="just"/>
                <a:endParaRPr lang="en-US" dirty="0"/>
              </a:p>
              <a:p>
                <a:pPr algn="just"/>
                <a:r>
                  <a:rPr lang="en-US" dirty="0"/>
                  <a:t>Typically, we use a subset of the variables in our sample of collected data to model another variable in this data. </a:t>
                </a:r>
              </a:p>
              <a:p>
                <a:pPr algn="just"/>
                <a:endParaRPr lang="en-US" dirty="0"/>
              </a:p>
              <a:p>
                <a:pPr algn="just"/>
                <a:r>
                  <a:rPr lang="en-US" dirty="0"/>
                  <a:t>To put this more formally, say we have the following dataset </a:t>
                </a:r>
                <a14:m>
                  <m:oMath xmlns:m="http://schemas.openxmlformats.org/officeDocument/2006/math">
                    <m:r>
                      <a:rPr lang="en-US" i="1" smtClean="0">
                        <a:latin typeface="Cambria Math" panose="02040503050406030204" pitchFamily="18" charset="0"/>
                        <a:ea typeface="Cambria Math" panose="02040503050406030204" pitchFamily="18" charset="0"/>
                      </a:rPr>
                      <m:t>𝒟</m:t>
                    </m:r>
                  </m:oMath>
                </a14:m>
                <a:r>
                  <a:rPr lang="en-US" dirty="0"/>
                  <a:t>: </a:t>
                </a:r>
              </a:p>
              <a:p>
                <a:pPr algn="just"/>
                <a:endParaRPr lang="en-US" dirty="0"/>
              </a:p>
              <a:p>
                <a:pPr algn="just"/>
                <a14:m>
                  <m:oMath xmlns:m="http://schemas.openxmlformats.org/officeDocument/2006/math">
                    <m:r>
                      <a:rPr lang="en-US" i="1" smtClean="0">
                        <a:latin typeface="Cambria Math" panose="02040503050406030204" pitchFamily="18" charset="0"/>
                        <a:ea typeface="Cambria Math" panose="02040503050406030204" pitchFamily="18" charset="0"/>
                      </a:rPr>
                      <m:t>𝒟</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1</m:t>
                            </m:r>
                          </m:sub>
                        </m:sSub>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2</m:t>
                            </m:r>
                          </m:sub>
                        </m:sSub>
                      </m:e>
                    </m:d>
                    <m:r>
                      <a:rPr lang="en-US" b="0" i="1" smtClean="0">
                        <a:latin typeface="Cambria Math" panose="02040503050406030204" pitchFamily="18" charset="0"/>
                        <a:ea typeface="Cambria Math" panose="02040503050406030204" pitchFamily="18" charset="0"/>
                      </a:rPr>
                      <m:t>, . . . ,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7E3AD08F-630A-4FC3-B104-D2DA4BA25344}"/>
                  </a:ext>
                </a:extLst>
              </p:cNvPr>
              <p:cNvSpPr>
                <a:spLocks noGrp="1" noRot="1" noChangeAspect="1" noMove="1" noResize="1" noEditPoints="1" noAdjustHandles="1" noChangeArrowheads="1" noChangeShapeType="1" noTextEdit="1"/>
              </p:cNvSpPr>
              <p:nvPr>
                <p:ph idx="1"/>
              </p:nvPr>
            </p:nvSpPr>
            <p:spPr>
              <a:xfrm>
                <a:off x="838200" y="1116106"/>
                <a:ext cx="10515600" cy="5060857"/>
              </a:xfrm>
              <a:blipFill>
                <a:blip r:embed="rId2"/>
                <a:stretch>
                  <a:fillRect l="-1043" t="-1928"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62FFA407-1EB4-4982-AA79-EB1B824E8318}"/>
              </a:ext>
            </a:extLst>
          </p:cNvPr>
          <p:cNvSpPr>
            <a:spLocks noGrp="1"/>
          </p:cNvSpPr>
          <p:nvPr>
            <p:ph type="sldNum" sz="quarter" idx="12"/>
          </p:nvPr>
        </p:nvSpPr>
        <p:spPr/>
        <p:txBody>
          <a:bodyPr/>
          <a:lstStyle/>
          <a:p>
            <a:fld id="{6B97D948-30E8-43F7-AE10-F6E2D9F2BBB1}" type="slidenum">
              <a:rPr lang="en-US" smtClean="0"/>
              <a:t>603</a:t>
            </a:fld>
            <a:endParaRPr lang="en-US"/>
          </a:p>
        </p:txBody>
      </p:sp>
    </p:spTree>
    <p:extLst>
      <p:ext uri="{BB962C8B-B14F-4D97-AF65-F5344CB8AC3E}">
        <p14:creationId xmlns:p14="http://schemas.microsoft.com/office/powerpoint/2010/main" val="1442853234"/>
      </p:ext>
    </p:extLst>
  </p:cSld>
  <p:clrMapOvr>
    <a:masterClrMapping/>
  </p:clrMapOvr>
</p:sld>
</file>

<file path=ppt/slides/slide6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39A152-53F7-4037-B1D5-46039F080F71}"/>
                  </a:ext>
                </a:extLst>
              </p:cNvPr>
              <p:cNvSpPr>
                <a:spLocks noGrp="1"/>
              </p:cNvSpPr>
              <p:nvPr>
                <p:ph idx="1"/>
              </p:nvPr>
            </p:nvSpPr>
            <p:spPr>
              <a:xfrm>
                <a:off x="838200" y="497541"/>
                <a:ext cx="10515600" cy="5679422"/>
              </a:xfrm>
            </p:spPr>
            <p:txBody>
              <a:bodyPr>
                <a:normAutofit lnSpcReduction="10000"/>
              </a:bodyPr>
              <a:lstStyle/>
              <a:p>
                <a:pPr algn="just"/>
                <a:r>
                  <a:rPr lang="en-US" dirty="0"/>
                  <a:t>Each pair of values </a:t>
                </a:r>
                <a14:m>
                  <m:oMath xmlns:m="http://schemas.openxmlformats.org/officeDocument/2006/math">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𝑖</m:t>
                            </m:r>
                          </m:sub>
                        </m:sSub>
                      </m:e>
                    </m:d>
                    <m:r>
                      <a:rPr lang="en-US" b="0" i="1" smtClean="0">
                        <a:latin typeface="Cambria Math" panose="02040503050406030204" pitchFamily="18" charset="0"/>
                        <a:ea typeface="Cambria Math" panose="02040503050406030204" pitchFamily="18" charset="0"/>
                      </a:rPr>
                      <m:t> </m:t>
                    </m:r>
                  </m:oMath>
                </a14:m>
                <a:r>
                  <a:rPr lang="en-US" dirty="0"/>
                  <a:t>represents a datapoint. </a:t>
                </a:r>
              </a:p>
              <a:p>
                <a:pPr algn="just"/>
                <a:endParaRPr lang="en-US" dirty="0"/>
              </a:p>
              <a:p>
                <a:pPr algn="just"/>
                <a:r>
                  <a:rPr lang="en-US" dirty="0"/>
                  <a:t>In a modeling setting, we call these </a:t>
                </a:r>
                <a:r>
                  <a:rPr lang="en-US" b="1" dirty="0"/>
                  <a:t>observations</a:t>
                </a:r>
                <a:r>
                  <a:rPr lang="en-US" dirty="0"/>
                  <a:t>. </a:t>
                </a:r>
              </a:p>
              <a:p>
                <a:pPr algn="just"/>
                <a:endParaRPr lang="en-US" b="0" i="1" dirty="0">
                  <a:latin typeface="Cambria Math" panose="02040503050406030204" pitchFamily="18" charset="0"/>
                  <a:ea typeface="Cambria Math" panose="02040503050406030204" pitchFamily="18" charset="0"/>
                </a:endParaRPr>
              </a:p>
              <a:p>
                <a:pPr algn="just"/>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oMath>
                </a14:m>
                <a:r>
                  <a:rPr lang="en-US" dirty="0"/>
                  <a:t>is the dependent variable we are trying to model, also called an </a:t>
                </a:r>
                <a:r>
                  <a:rPr lang="en-US" b="1" dirty="0"/>
                  <a:t>output</a:t>
                </a:r>
                <a:r>
                  <a:rPr lang="en-US" dirty="0"/>
                  <a:t> or </a:t>
                </a:r>
                <a:r>
                  <a:rPr lang="en-US" b="1" dirty="0"/>
                  <a:t>response</a:t>
                </a:r>
                <a:r>
                  <a:rPr lang="en-US" dirty="0"/>
                  <a:t>. </a:t>
                </a:r>
              </a:p>
              <a:p>
                <a:pPr algn="just"/>
                <a:endParaRPr lang="en-US" i="1" dirty="0">
                  <a:latin typeface="Cambria Math" panose="02040503050406030204" pitchFamily="18" charset="0"/>
                  <a:ea typeface="Cambria Math" panose="02040503050406030204" pitchFamily="18" charset="0"/>
                </a:endParaRPr>
              </a:p>
              <a:p>
                <a:pPr algn="just"/>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 </m:t>
                    </m:r>
                  </m:oMath>
                </a14:m>
                <a:r>
                  <a:rPr lang="en-US" dirty="0"/>
                  <a:t>is the independent variable inputted into the model to make predictions, also known as a </a:t>
                </a:r>
                <a:r>
                  <a:rPr lang="en-US" b="1" dirty="0"/>
                  <a:t>feature</a:t>
                </a:r>
                <a:r>
                  <a:rPr lang="en-US" dirty="0"/>
                  <a:t>.</a:t>
                </a:r>
              </a:p>
              <a:p>
                <a:pPr algn="just"/>
                <a:endParaRPr lang="en-US" dirty="0"/>
              </a:p>
              <a:p>
                <a:pPr algn="just"/>
                <a:r>
                  <a:rPr lang="en-US" i="1" dirty="0"/>
                  <a:t>Our goal in modeling is to use the observed data</a:t>
                </a:r>
                <a:r>
                  <a:rPr lang="en-US" i="1"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𝒟</m:t>
                    </m:r>
                  </m:oMath>
                </a14:m>
                <a:r>
                  <a:rPr lang="en-US" i="1" dirty="0"/>
                  <a:t> to predict the output variable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𝑖</m:t>
                        </m:r>
                      </m:sub>
                    </m:sSub>
                  </m:oMath>
                </a14:m>
                <a:r>
                  <a:rPr lang="en-US" dirty="0"/>
                  <a:t>. </a:t>
                </a:r>
              </a:p>
              <a:p>
                <a:pPr algn="just"/>
                <a:endParaRPr lang="en-US" dirty="0"/>
              </a:p>
            </p:txBody>
          </p:sp>
        </mc:Choice>
        <mc:Fallback xmlns="">
          <p:sp>
            <p:nvSpPr>
              <p:cNvPr id="3" name="Content Placeholder 2">
                <a:extLst>
                  <a:ext uri="{FF2B5EF4-FFF2-40B4-BE49-F238E27FC236}">
                    <a16:creationId xmlns:a16="http://schemas.microsoft.com/office/drawing/2014/main" id="{1D39A152-53F7-4037-B1D5-46039F080F71}"/>
                  </a:ext>
                </a:extLst>
              </p:cNvPr>
              <p:cNvSpPr>
                <a:spLocks noGrp="1" noRot="1" noChangeAspect="1" noMove="1" noResize="1" noEditPoints="1" noAdjustHandles="1" noChangeArrowheads="1" noChangeShapeType="1" noTextEdit="1"/>
              </p:cNvSpPr>
              <p:nvPr>
                <p:ph idx="1"/>
              </p:nvPr>
            </p:nvSpPr>
            <p:spPr>
              <a:xfrm>
                <a:off x="838200" y="497541"/>
                <a:ext cx="10515600" cy="5679422"/>
              </a:xfrm>
              <a:blipFill>
                <a:blip r:embed="rId2"/>
                <a:stretch>
                  <a:fillRect l="-1043" t="-2470"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0B39C08-4B36-4C37-8735-6F49ECCC2D61}"/>
              </a:ext>
            </a:extLst>
          </p:cNvPr>
          <p:cNvSpPr>
            <a:spLocks noGrp="1"/>
          </p:cNvSpPr>
          <p:nvPr>
            <p:ph type="sldNum" sz="quarter" idx="12"/>
          </p:nvPr>
        </p:nvSpPr>
        <p:spPr/>
        <p:txBody>
          <a:bodyPr/>
          <a:lstStyle/>
          <a:p>
            <a:fld id="{6B97D948-30E8-43F7-AE10-F6E2D9F2BBB1}" type="slidenum">
              <a:rPr lang="en-US" smtClean="0"/>
              <a:t>604</a:t>
            </a:fld>
            <a:endParaRPr lang="en-US"/>
          </a:p>
        </p:txBody>
      </p:sp>
    </p:spTree>
    <p:extLst>
      <p:ext uri="{BB962C8B-B14F-4D97-AF65-F5344CB8AC3E}">
        <p14:creationId xmlns:p14="http://schemas.microsoft.com/office/powerpoint/2010/main" val="3419652452"/>
      </p:ext>
    </p:extLst>
  </p:cSld>
  <p:clrMapOvr>
    <a:masterClrMapping/>
  </p:clrMapOvr>
</p:sld>
</file>

<file path=ppt/slides/slide6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AA28F7-03FC-484A-92AB-55296207628B}"/>
                  </a:ext>
                </a:extLst>
              </p:cNvPr>
              <p:cNvSpPr>
                <a:spLocks noGrp="1"/>
              </p:cNvSpPr>
              <p:nvPr>
                <p:ph idx="1"/>
              </p:nvPr>
            </p:nvSpPr>
            <p:spPr>
              <a:xfrm>
                <a:off x="838200" y="510988"/>
                <a:ext cx="10515600" cy="5665975"/>
              </a:xfrm>
            </p:spPr>
            <p:txBody>
              <a:bodyPr/>
              <a:lstStyle/>
              <a:p>
                <a:pPr algn="just"/>
                <a:r>
                  <a:rPr lang="en-US" dirty="0"/>
                  <a:t>We denote each prediction as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oMath>
                </a14:m>
                <a:r>
                  <a:rPr lang="en-US" dirty="0"/>
                  <a:t> (read: “y hat sub </a:t>
                </a:r>
                <a:r>
                  <a:rPr lang="en-US" dirty="0" err="1"/>
                  <a:t>i</a:t>
                </a:r>
                <a:r>
                  <a:rPr lang="en-US" dirty="0"/>
                  <a:t>”).</a:t>
                </a:r>
              </a:p>
              <a:p>
                <a:pPr algn="just"/>
                <a:r>
                  <a:rPr lang="en-US" dirty="0"/>
                  <a:t>How do we generate these predictions?</a:t>
                </a:r>
              </a:p>
              <a:p>
                <a:pPr algn="just"/>
                <a:endParaRPr lang="en-US" dirty="0"/>
              </a:p>
            </p:txBody>
          </p:sp>
        </mc:Choice>
        <mc:Fallback xmlns="">
          <p:sp>
            <p:nvSpPr>
              <p:cNvPr id="3" name="Content Placeholder 2">
                <a:extLst>
                  <a:ext uri="{FF2B5EF4-FFF2-40B4-BE49-F238E27FC236}">
                    <a16:creationId xmlns:a16="http://schemas.microsoft.com/office/drawing/2014/main" id="{A8AA28F7-03FC-484A-92AB-55296207628B}"/>
                  </a:ext>
                </a:extLst>
              </p:cNvPr>
              <p:cNvSpPr>
                <a:spLocks noGrp="1" noRot="1" noChangeAspect="1" noMove="1" noResize="1" noEditPoints="1" noAdjustHandles="1" noChangeArrowheads="1" noChangeShapeType="1" noTextEdit="1"/>
              </p:cNvSpPr>
              <p:nvPr>
                <p:ph idx="1"/>
              </p:nvPr>
            </p:nvSpPr>
            <p:spPr>
              <a:xfrm>
                <a:off x="838200" y="510988"/>
                <a:ext cx="10515600" cy="5665975"/>
              </a:xfrm>
              <a:blipFill>
                <a:blip r:embed="rId2"/>
                <a:stretch>
                  <a:fillRect l="-1043" t="-183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F81FA5A-395C-4BAD-AD9D-12E89028E031}"/>
              </a:ext>
            </a:extLst>
          </p:cNvPr>
          <p:cNvSpPr>
            <a:spLocks noGrp="1"/>
          </p:cNvSpPr>
          <p:nvPr>
            <p:ph type="sldNum" sz="quarter" idx="12"/>
          </p:nvPr>
        </p:nvSpPr>
        <p:spPr/>
        <p:txBody>
          <a:bodyPr/>
          <a:lstStyle/>
          <a:p>
            <a:fld id="{6B97D948-30E8-43F7-AE10-F6E2D9F2BBB1}" type="slidenum">
              <a:rPr lang="en-US" smtClean="0"/>
              <a:t>605</a:t>
            </a:fld>
            <a:endParaRPr lang="en-US"/>
          </a:p>
        </p:txBody>
      </p:sp>
    </p:spTree>
    <p:extLst>
      <p:ext uri="{BB962C8B-B14F-4D97-AF65-F5344CB8AC3E}">
        <p14:creationId xmlns:p14="http://schemas.microsoft.com/office/powerpoint/2010/main" val="17539666"/>
      </p:ext>
    </p:extLst>
  </p:cSld>
  <p:clrMapOvr>
    <a:masterClrMapping/>
  </p:clrMapOvr>
</p:sld>
</file>

<file path=ppt/slides/slide6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66471-83FF-44D9-BFA0-B0E3E64998E7}"/>
              </a:ext>
            </a:extLst>
          </p:cNvPr>
          <p:cNvSpPr>
            <a:spLocks noGrp="1"/>
          </p:cNvSpPr>
          <p:nvPr>
            <p:ph type="title"/>
          </p:nvPr>
        </p:nvSpPr>
        <p:spPr>
          <a:xfrm>
            <a:off x="838200" y="365126"/>
            <a:ext cx="10515600" cy="791322"/>
          </a:xfrm>
        </p:spPr>
        <p:txBody>
          <a:bodyPr/>
          <a:lstStyle/>
          <a:p>
            <a:r>
              <a:rPr lang="en-US" dirty="0"/>
              <a:t>Examples of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AD75D1-C7EC-48BE-81C4-5F6398FEA1FC}"/>
                  </a:ext>
                </a:extLst>
              </p:cNvPr>
              <p:cNvSpPr>
                <a:spLocks noGrp="1"/>
              </p:cNvSpPr>
              <p:nvPr>
                <p:ph idx="1"/>
              </p:nvPr>
            </p:nvSpPr>
            <p:spPr>
              <a:xfrm>
                <a:off x="838200" y="1156448"/>
                <a:ext cx="10515600" cy="5020515"/>
              </a:xfrm>
            </p:spPr>
            <p:txBody>
              <a:bodyPr/>
              <a:lstStyle/>
              <a:p>
                <a:r>
                  <a:rPr lang="en-US" dirty="0"/>
                  <a:t>Some examples of models we’ll encounter in the next few lectures are given below:</a:t>
                </a:r>
              </a:p>
              <a:p>
                <a:endParaRPr lang="en-US" dirty="0"/>
              </a:p>
              <a:p>
                <a:pPr algn="just"/>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𝜃</m:t>
                    </m:r>
                  </m:oMath>
                </a14:m>
                <a:endParaRPr lang="en-US" dirty="0"/>
              </a:p>
              <a:p>
                <a:pPr algn="just"/>
                <a:r>
                  <a:rPr lang="en-US" dirty="0"/>
                  <a:t>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a:t>
                </a:r>
                <a:r>
                  <a:rPr lang="en-US" dirty="0">
                    <a:solidFill>
                      <a:srgbClr val="FF0000"/>
                    </a:solidFill>
                  </a:rPr>
                  <a:t>y = mx + c</a:t>
                </a:r>
                <a:r>
                  <a:rPr lang="en-US" dirty="0"/>
                  <a:t>, slope = m, intercept = c)</a:t>
                </a:r>
              </a:p>
              <a:p>
                <a:pPr algn="just"/>
                <a:r>
                  <a:rPr lang="en-US" dirty="0"/>
                  <a:t>The examples are known as parametric models. </a:t>
                </a:r>
              </a:p>
              <a:p>
                <a:pPr algn="just"/>
                <a:r>
                  <a:rPr lang="en-US" dirty="0"/>
                  <a:t>They relate the collected data</a:t>
                </a: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to the prediction we make,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oMath>
                </a14:m>
                <a:r>
                  <a:rPr lang="en-US" dirty="0"/>
                  <a:t>. </a:t>
                </a:r>
              </a:p>
              <a:p>
                <a:pPr algn="just"/>
                <a:r>
                  <a:rPr lang="en-US" dirty="0"/>
                  <a:t>A few parameters (</a:t>
                </a:r>
                <a14:m>
                  <m:oMath xmlns:m="http://schemas.openxmlformats.org/officeDocument/2006/math">
                    <m:r>
                      <a:rPr lang="en-US" b="0" i="1" smtClean="0">
                        <a:latin typeface="Cambria Math" panose="02040503050406030204" pitchFamily="18" charset="0"/>
                        <a:ea typeface="Cambria Math" panose="02040503050406030204" pitchFamily="18" charset="0"/>
                      </a:rPr>
                      <m:t>𝜃</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0</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1</m:t>
                        </m:r>
                      </m:sub>
                    </m:sSub>
                  </m:oMath>
                </a14:m>
                <a:r>
                  <a:rPr lang="en-US" dirty="0"/>
                  <a:t>) are used to describe the relationship between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 </m:t>
                    </m:r>
                  </m:oMath>
                </a14:m>
                <a:r>
                  <a:rPr lang="en-US" dirty="0"/>
                  <a:t>and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oMath>
                </a14:m>
                <a:r>
                  <a:rPr lang="en-US" dirty="0"/>
                  <a:t>.</a:t>
                </a:r>
              </a:p>
              <a:p>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16AD75D1-C7EC-48BE-81C4-5F6398FEA1FC}"/>
                  </a:ext>
                </a:extLst>
              </p:cNvPr>
              <p:cNvSpPr>
                <a:spLocks noGrp="1" noRot="1" noChangeAspect="1" noMove="1" noResize="1" noEditPoints="1" noAdjustHandles="1" noChangeArrowheads="1" noChangeShapeType="1" noTextEdit="1"/>
              </p:cNvSpPr>
              <p:nvPr>
                <p:ph idx="1"/>
              </p:nvPr>
            </p:nvSpPr>
            <p:spPr>
              <a:xfrm>
                <a:off x="838200" y="1156448"/>
                <a:ext cx="10515600" cy="5020515"/>
              </a:xfrm>
              <a:blipFill>
                <a:blip r:embed="rId2"/>
                <a:stretch>
                  <a:fillRect l="-1043" t="-2066" r="-191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30E5BD59-AF4A-46A2-9AA6-DF3E6D2FB88C}"/>
              </a:ext>
            </a:extLst>
          </p:cNvPr>
          <p:cNvSpPr>
            <a:spLocks noGrp="1"/>
          </p:cNvSpPr>
          <p:nvPr>
            <p:ph type="sldNum" sz="quarter" idx="12"/>
          </p:nvPr>
        </p:nvSpPr>
        <p:spPr/>
        <p:txBody>
          <a:bodyPr/>
          <a:lstStyle/>
          <a:p>
            <a:fld id="{6B97D948-30E8-43F7-AE10-F6E2D9F2BBB1}" type="slidenum">
              <a:rPr lang="en-US" smtClean="0"/>
              <a:t>606</a:t>
            </a:fld>
            <a:endParaRPr lang="en-US"/>
          </a:p>
        </p:txBody>
      </p:sp>
    </p:spTree>
    <p:extLst>
      <p:ext uri="{BB962C8B-B14F-4D97-AF65-F5344CB8AC3E}">
        <p14:creationId xmlns:p14="http://schemas.microsoft.com/office/powerpoint/2010/main" val="24756915"/>
      </p:ext>
    </p:extLst>
  </p:cSld>
  <p:clrMapOvr>
    <a:masterClrMapping/>
  </p:clrMapOvr>
</p:sld>
</file>

<file path=ppt/slides/slide6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08E9D-D015-45BA-9E62-22550158A9DB}"/>
              </a:ext>
            </a:extLst>
          </p:cNvPr>
          <p:cNvSpPr>
            <a:spLocks noGrp="1"/>
          </p:cNvSpPr>
          <p:nvPr>
            <p:ph type="title"/>
          </p:nvPr>
        </p:nvSpPr>
        <p:spPr>
          <a:xfrm>
            <a:off x="838200" y="365126"/>
            <a:ext cx="10515600" cy="589616"/>
          </a:xfrm>
        </p:spPr>
        <p:txBody>
          <a:bodyPr>
            <a:normAutofit fontScale="90000"/>
          </a:bodyPr>
          <a:lstStyle/>
          <a:p>
            <a:r>
              <a:rPr lang="en-US" dirty="0"/>
              <a:t>Note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C1F76C-4D2B-452A-85D1-475584A1A80B}"/>
                  </a:ext>
                </a:extLst>
              </p:cNvPr>
              <p:cNvSpPr>
                <a:spLocks noGrp="1"/>
              </p:cNvSpPr>
              <p:nvPr>
                <p:ph idx="1"/>
              </p:nvPr>
            </p:nvSpPr>
            <p:spPr>
              <a:xfrm>
                <a:off x="838200" y="954742"/>
                <a:ext cx="10515600" cy="5222221"/>
              </a:xfrm>
            </p:spPr>
            <p:txBody>
              <a:bodyPr/>
              <a:lstStyle/>
              <a:p>
                <a:pPr algn="just"/>
                <a:r>
                  <a:rPr lang="en-US" dirty="0"/>
                  <a:t>Notice that we don’t immediately know the values of these parameters. </a:t>
                </a:r>
              </a:p>
              <a:p>
                <a:pPr algn="just"/>
                <a:endParaRPr lang="en-US" dirty="0"/>
              </a:p>
              <a:p>
                <a:pPr algn="just"/>
                <a:r>
                  <a:rPr lang="en-US" dirty="0"/>
                  <a:t>While the features,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are taken from our observed data, we need to decide what values to give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0</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1</m:t>
                        </m:r>
                      </m:sub>
                    </m:sSub>
                  </m:oMath>
                </a14:m>
                <a:r>
                  <a:rPr lang="en-US" dirty="0"/>
                  <a:t>ourselves. </a:t>
                </a:r>
              </a:p>
              <a:p>
                <a:pPr algn="just"/>
                <a:endParaRPr lang="en-US" dirty="0"/>
              </a:p>
              <a:p>
                <a:pPr algn="just"/>
                <a:r>
                  <a:rPr lang="en-US" dirty="0"/>
                  <a:t>This is the heart of parametric modeling: </a:t>
                </a:r>
                <a:r>
                  <a:rPr lang="en-US" dirty="0">
                    <a:solidFill>
                      <a:srgbClr val="FF0000"/>
                    </a:solidFill>
                  </a:rPr>
                  <a:t>what parameter values should we choose so our model makes the </a:t>
                </a:r>
                <a:r>
                  <a:rPr lang="en-US" dirty="0">
                    <a:solidFill>
                      <a:srgbClr val="0070C0"/>
                    </a:solidFill>
                  </a:rPr>
                  <a:t>best possible predictions</a:t>
                </a:r>
                <a:r>
                  <a:rPr lang="en-US" dirty="0">
                    <a:solidFill>
                      <a:srgbClr val="FF0000"/>
                    </a:solidFill>
                  </a:rPr>
                  <a:t>?</a:t>
                </a:r>
              </a:p>
            </p:txBody>
          </p:sp>
        </mc:Choice>
        <mc:Fallback xmlns="">
          <p:sp>
            <p:nvSpPr>
              <p:cNvPr id="3" name="Content Placeholder 2">
                <a:extLst>
                  <a:ext uri="{FF2B5EF4-FFF2-40B4-BE49-F238E27FC236}">
                    <a16:creationId xmlns:a16="http://schemas.microsoft.com/office/drawing/2014/main" id="{6EC1F76C-4D2B-452A-85D1-475584A1A80B}"/>
                  </a:ext>
                </a:extLst>
              </p:cNvPr>
              <p:cNvSpPr>
                <a:spLocks noGrp="1" noRot="1" noChangeAspect="1" noMove="1" noResize="1" noEditPoints="1" noAdjustHandles="1" noChangeArrowheads="1" noChangeShapeType="1" noTextEdit="1"/>
              </p:cNvSpPr>
              <p:nvPr>
                <p:ph idx="1"/>
              </p:nvPr>
            </p:nvSpPr>
            <p:spPr>
              <a:xfrm>
                <a:off x="838200" y="954742"/>
                <a:ext cx="10515600" cy="5222221"/>
              </a:xfrm>
              <a:blipFill>
                <a:blip r:embed="rId2"/>
                <a:stretch>
                  <a:fillRect l="-1043" t="-1986"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5A99A320-3223-40BF-8958-6AA9A0001C23}"/>
              </a:ext>
            </a:extLst>
          </p:cNvPr>
          <p:cNvSpPr>
            <a:spLocks noGrp="1"/>
          </p:cNvSpPr>
          <p:nvPr>
            <p:ph type="sldNum" sz="quarter" idx="12"/>
          </p:nvPr>
        </p:nvSpPr>
        <p:spPr/>
        <p:txBody>
          <a:bodyPr/>
          <a:lstStyle/>
          <a:p>
            <a:fld id="{6B97D948-30E8-43F7-AE10-F6E2D9F2BBB1}" type="slidenum">
              <a:rPr lang="en-US" smtClean="0"/>
              <a:t>607</a:t>
            </a:fld>
            <a:endParaRPr lang="en-US"/>
          </a:p>
        </p:txBody>
      </p:sp>
    </p:spTree>
    <p:extLst>
      <p:ext uri="{BB962C8B-B14F-4D97-AF65-F5344CB8AC3E}">
        <p14:creationId xmlns:p14="http://schemas.microsoft.com/office/powerpoint/2010/main" val="3092490382"/>
      </p:ext>
    </p:extLst>
  </p:cSld>
  <p:clrMapOvr>
    <a:masterClrMapping/>
  </p:clrMapOvr>
</p:sld>
</file>

<file path=ppt/slides/slide6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F5194-3CA4-46C9-A047-F46D58850138}"/>
              </a:ext>
            </a:extLst>
          </p:cNvPr>
          <p:cNvSpPr>
            <a:spLocks noGrp="1"/>
          </p:cNvSpPr>
          <p:nvPr>
            <p:ph type="title"/>
          </p:nvPr>
        </p:nvSpPr>
        <p:spPr>
          <a:xfrm>
            <a:off x="838200" y="365126"/>
            <a:ext cx="10515600" cy="737534"/>
          </a:xfrm>
        </p:spPr>
        <p:txBody>
          <a:bodyPr/>
          <a:lstStyle/>
          <a:p>
            <a:r>
              <a:rPr lang="en-US" dirty="0"/>
              <a:t>Modeling Process</a:t>
            </a:r>
          </a:p>
        </p:txBody>
      </p:sp>
      <p:sp>
        <p:nvSpPr>
          <p:cNvPr id="3" name="Content Placeholder 2">
            <a:extLst>
              <a:ext uri="{FF2B5EF4-FFF2-40B4-BE49-F238E27FC236}">
                <a16:creationId xmlns:a16="http://schemas.microsoft.com/office/drawing/2014/main" id="{80A08E67-57BB-4FE5-9D92-A4FF4A8737A1}"/>
              </a:ext>
            </a:extLst>
          </p:cNvPr>
          <p:cNvSpPr>
            <a:spLocks noGrp="1"/>
          </p:cNvSpPr>
          <p:nvPr>
            <p:ph idx="1"/>
          </p:nvPr>
        </p:nvSpPr>
        <p:spPr>
          <a:xfrm>
            <a:off x="838200" y="1102660"/>
            <a:ext cx="10515600" cy="5074303"/>
          </a:xfrm>
        </p:spPr>
        <p:txBody>
          <a:bodyPr/>
          <a:lstStyle/>
          <a:p>
            <a:pPr algn="just"/>
            <a:r>
              <a:rPr lang="en-US" dirty="0"/>
              <a:t>To choose our model parameters, we’ll work through the modeling process.</a:t>
            </a:r>
          </a:p>
          <a:p>
            <a:pPr algn="just"/>
            <a:r>
              <a:rPr lang="en-US" dirty="0">
                <a:solidFill>
                  <a:srgbClr val="0070C0"/>
                </a:solidFill>
              </a:rPr>
              <a:t>Choose a model: how should we represent the world?</a:t>
            </a:r>
          </a:p>
          <a:p>
            <a:pPr algn="just"/>
            <a:r>
              <a:rPr lang="en-US" dirty="0">
                <a:solidFill>
                  <a:srgbClr val="0070C0"/>
                </a:solidFill>
              </a:rPr>
              <a:t>Choose a </a:t>
            </a:r>
            <a:r>
              <a:rPr lang="en-US" dirty="0">
                <a:solidFill>
                  <a:srgbClr val="FF0000"/>
                </a:solidFill>
              </a:rPr>
              <a:t>loss function</a:t>
            </a:r>
            <a:r>
              <a:rPr lang="en-US" dirty="0">
                <a:solidFill>
                  <a:srgbClr val="0070C0"/>
                </a:solidFill>
              </a:rPr>
              <a:t>: how do we quantify prediction error?</a:t>
            </a:r>
          </a:p>
          <a:p>
            <a:pPr algn="just"/>
            <a:r>
              <a:rPr lang="en-US" dirty="0">
                <a:solidFill>
                  <a:srgbClr val="0070C0"/>
                </a:solidFill>
              </a:rPr>
              <a:t>Fit the model: how do we choose the best parameters of our model given our data?</a:t>
            </a:r>
          </a:p>
          <a:p>
            <a:pPr algn="just"/>
            <a:r>
              <a:rPr lang="en-US" dirty="0">
                <a:solidFill>
                  <a:srgbClr val="0070C0"/>
                </a:solidFill>
              </a:rPr>
              <a:t>Evaluate model performance: how do we evaluate whether this process gave rise to a good model?</a:t>
            </a:r>
          </a:p>
          <a:p>
            <a:pPr algn="just"/>
            <a:endParaRPr lang="en-US" dirty="0"/>
          </a:p>
        </p:txBody>
      </p:sp>
      <p:sp>
        <p:nvSpPr>
          <p:cNvPr id="5" name="Slide Number Placeholder 4">
            <a:extLst>
              <a:ext uri="{FF2B5EF4-FFF2-40B4-BE49-F238E27FC236}">
                <a16:creationId xmlns:a16="http://schemas.microsoft.com/office/drawing/2014/main" id="{432C39AE-0330-4B5D-A9C6-FD2451C88CDE}"/>
              </a:ext>
            </a:extLst>
          </p:cNvPr>
          <p:cNvSpPr>
            <a:spLocks noGrp="1"/>
          </p:cNvSpPr>
          <p:nvPr>
            <p:ph type="sldNum" sz="quarter" idx="12"/>
          </p:nvPr>
        </p:nvSpPr>
        <p:spPr/>
        <p:txBody>
          <a:bodyPr/>
          <a:lstStyle/>
          <a:p>
            <a:fld id="{6B97D948-30E8-43F7-AE10-F6E2D9F2BBB1}" type="slidenum">
              <a:rPr lang="en-US" smtClean="0"/>
              <a:t>608</a:t>
            </a:fld>
            <a:endParaRPr lang="en-US"/>
          </a:p>
        </p:txBody>
      </p:sp>
    </p:spTree>
    <p:extLst>
      <p:ext uri="{BB962C8B-B14F-4D97-AF65-F5344CB8AC3E}">
        <p14:creationId xmlns:p14="http://schemas.microsoft.com/office/powerpoint/2010/main" val="822235784"/>
      </p:ext>
    </p:extLst>
  </p:cSld>
  <p:clrMapOvr>
    <a:masterClrMapping/>
  </p:clrMapOvr>
</p:sld>
</file>

<file path=ppt/slides/slide6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AC34-3A0F-45EC-891E-6A1D29F9E9DC}"/>
              </a:ext>
            </a:extLst>
          </p:cNvPr>
          <p:cNvSpPr>
            <a:spLocks noGrp="1"/>
          </p:cNvSpPr>
          <p:nvPr>
            <p:ph type="title"/>
          </p:nvPr>
        </p:nvSpPr>
        <p:spPr>
          <a:xfrm>
            <a:off x="838200" y="365125"/>
            <a:ext cx="10515600" cy="831663"/>
          </a:xfrm>
        </p:spPr>
        <p:txBody>
          <a:bodyPr/>
          <a:lstStyle/>
          <a:p>
            <a:r>
              <a:rPr lang="en-US" dirty="0"/>
              <a:t>Choosing a Loss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A67CC5-2BBF-4526-86D4-86BBE1C6E7DC}"/>
                  </a:ext>
                </a:extLst>
              </p:cNvPr>
              <p:cNvSpPr>
                <a:spLocks noGrp="1"/>
              </p:cNvSpPr>
              <p:nvPr>
                <p:ph idx="1"/>
              </p:nvPr>
            </p:nvSpPr>
            <p:spPr>
              <a:xfrm>
                <a:off x="815788" y="1196787"/>
                <a:ext cx="10515600" cy="5296087"/>
              </a:xfrm>
            </p:spPr>
            <p:txBody>
              <a:bodyPr>
                <a:normAutofit/>
              </a:bodyPr>
              <a:lstStyle/>
              <a:p>
                <a:pPr algn="just"/>
                <a:r>
                  <a:rPr lang="en-US" dirty="0"/>
                  <a:t>We’ve talked about the idea of creating the “best” possible predictions. </a:t>
                </a:r>
              </a:p>
              <a:p>
                <a:pPr algn="just"/>
                <a:endParaRPr lang="en-US" dirty="0"/>
              </a:p>
              <a:p>
                <a:pPr algn="just"/>
                <a:r>
                  <a:rPr lang="en-US" dirty="0"/>
                  <a:t>This begs the question: how do we decide how “good” or “bad” our model’s predictions are?</a:t>
                </a:r>
              </a:p>
              <a:p>
                <a:pPr algn="just"/>
                <a:endParaRPr lang="en-US" dirty="0"/>
              </a:p>
              <a:p>
                <a:pPr algn="just"/>
                <a:r>
                  <a:rPr lang="en-US" dirty="0"/>
                  <a:t>A loss function characterizes the cost, error, or fit resulting from a particular choice of model or model parameters. </a:t>
                </a:r>
              </a:p>
              <a:p>
                <a:pPr algn="just"/>
                <a:endParaRPr lang="en-US" dirty="0"/>
              </a:p>
              <a:p>
                <a:pPr algn="just"/>
                <a:r>
                  <a:rPr lang="en-US" dirty="0"/>
                  <a:t>This function, </a:t>
                </a:r>
                <a14:m>
                  <m:oMath xmlns:m="http://schemas.openxmlformats.org/officeDocument/2006/math">
                    <m:r>
                      <a:rPr lang="en-US" b="0" i="1" smtClean="0">
                        <a:solidFill>
                          <a:srgbClr val="FF0000"/>
                        </a:solidFill>
                        <a:latin typeface="Cambria Math" panose="02040503050406030204" pitchFamily="18" charset="0"/>
                      </a:rPr>
                      <m:t>𝐿</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 </m:t>
                    </m:r>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𝑦</m:t>
                        </m:r>
                      </m:e>
                    </m:acc>
                    <m:r>
                      <a:rPr lang="en-US" b="0" i="1" smtClean="0">
                        <a:solidFill>
                          <a:srgbClr val="FF0000"/>
                        </a:solidFill>
                        <a:latin typeface="Cambria Math" panose="02040503050406030204" pitchFamily="18" charset="0"/>
                      </a:rPr>
                      <m:t>)</m:t>
                    </m:r>
                  </m:oMath>
                </a14:m>
                <a:r>
                  <a:rPr lang="en-US" dirty="0"/>
                  <a:t>, quantifies how “far off” a single prediction by our model is from a true, observed value in our collected data.</a:t>
                </a:r>
              </a:p>
              <a:p>
                <a:pPr algn="just"/>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28A67CC5-2BBF-4526-86D4-86BBE1C6E7DC}"/>
                  </a:ext>
                </a:extLst>
              </p:cNvPr>
              <p:cNvSpPr>
                <a:spLocks noGrp="1" noRot="1" noChangeAspect="1" noMove="1" noResize="1" noEditPoints="1" noAdjustHandles="1" noChangeArrowheads="1" noChangeShapeType="1" noTextEdit="1"/>
              </p:cNvSpPr>
              <p:nvPr>
                <p:ph idx="1"/>
              </p:nvPr>
            </p:nvSpPr>
            <p:spPr>
              <a:xfrm>
                <a:off x="815788" y="1196787"/>
                <a:ext cx="10515600" cy="5296087"/>
              </a:xfrm>
              <a:blipFill>
                <a:blip r:embed="rId2"/>
                <a:stretch>
                  <a:fillRect l="-1043" t="-1841"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60732D4C-F91F-48FD-B73D-EE136AED2126}"/>
              </a:ext>
            </a:extLst>
          </p:cNvPr>
          <p:cNvSpPr>
            <a:spLocks noGrp="1"/>
          </p:cNvSpPr>
          <p:nvPr>
            <p:ph type="sldNum" sz="quarter" idx="12"/>
          </p:nvPr>
        </p:nvSpPr>
        <p:spPr/>
        <p:txBody>
          <a:bodyPr/>
          <a:lstStyle/>
          <a:p>
            <a:fld id="{6B97D948-30E8-43F7-AE10-F6E2D9F2BBB1}" type="slidenum">
              <a:rPr lang="en-US" smtClean="0"/>
              <a:t>609</a:t>
            </a:fld>
            <a:endParaRPr lang="en-US"/>
          </a:p>
        </p:txBody>
      </p:sp>
    </p:spTree>
    <p:extLst>
      <p:ext uri="{BB962C8B-B14F-4D97-AF65-F5344CB8AC3E}">
        <p14:creationId xmlns:p14="http://schemas.microsoft.com/office/powerpoint/2010/main" val="140345495"/>
      </p:ext>
    </p:extLst>
  </p:cSld>
  <p:clrMapOvr>
    <a:masterClrMapping/>
  </p:clrMapOvr>
</p:sld>
</file>

<file path=ppt/slides/slide6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301D4A-8172-40B8-AB43-8AB85E8E7A43}"/>
                  </a:ext>
                </a:extLst>
              </p:cNvPr>
              <p:cNvSpPr>
                <a:spLocks noGrp="1"/>
              </p:cNvSpPr>
              <p:nvPr>
                <p:ph idx="1"/>
              </p:nvPr>
            </p:nvSpPr>
            <p:spPr>
              <a:xfrm>
                <a:off x="838200" y="779929"/>
                <a:ext cx="10515600" cy="5397034"/>
              </a:xfrm>
            </p:spPr>
            <p:txBody>
              <a:bodyPr>
                <a:normAutofit lnSpcReduction="10000"/>
              </a:bodyPr>
              <a:lstStyle/>
              <a:p>
                <a:pPr algn="just"/>
                <a:r>
                  <a:rPr lang="en-US" dirty="0"/>
                  <a:t>The choice of loss function for a particular model depends on the modeling task at hand.</a:t>
                </a:r>
              </a:p>
              <a:p>
                <a:pPr algn="just"/>
                <a:r>
                  <a:rPr lang="en-US" dirty="0"/>
                  <a:t>2023 – 50 (Observation) Model (GDP 54, 2024 </a:t>
                </a:r>
                <a:r>
                  <a:rPr lang="en-US" dirty="0" err="1"/>
                  <a:t>ie</a:t>
                </a:r>
                <a:r>
                  <a:rPr lang="en-US" dirty="0"/>
                  <a:t> prediction) </a:t>
                </a:r>
              </a:p>
              <a:p>
                <a:pPr algn="just"/>
                <a:r>
                  <a:rPr lang="en-US" dirty="0"/>
                  <a:t>54 – 50 = 4</a:t>
                </a:r>
              </a:p>
              <a:p>
                <a:pPr algn="just"/>
                <a:r>
                  <a:rPr lang="en-US" dirty="0"/>
                  <a:t>Observed = 53</a:t>
                </a:r>
              </a:p>
              <a:p>
                <a:pPr algn="just"/>
                <a:endParaRPr lang="en-US" dirty="0"/>
              </a:p>
              <a:p>
                <a:pPr algn="just"/>
                <a:r>
                  <a:rPr lang="en-US" dirty="0"/>
                  <a:t>Regardless of the specific function used, a loss function should follow two basic principles:</a:t>
                </a:r>
              </a:p>
              <a:p>
                <a:endParaRPr lang="en-US" dirty="0"/>
              </a:p>
              <a:p>
                <a:r>
                  <a:rPr lang="en-US" dirty="0"/>
                  <a:t>If the prediction </a:t>
                </a:r>
                <a14:m>
                  <m:oMath xmlns:m="http://schemas.openxmlformats.org/officeDocument/2006/math">
                    <m:sSub>
                      <m:sSubPr>
                        <m:ctrlPr>
                          <a:rPr lang="en-US" i="1" smtClean="0">
                            <a:solidFill>
                              <a:srgbClr val="FF0000"/>
                            </a:solidFill>
                            <a:latin typeface="Cambria Math" panose="02040503050406030204" pitchFamily="18" charset="0"/>
                          </a:rPr>
                        </m:ctrlPr>
                      </m:sSubPr>
                      <m:e>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𝑦</m:t>
                            </m:r>
                          </m:e>
                        </m:acc>
                      </m:e>
                      <m:sub>
                        <m:r>
                          <a:rPr lang="en-US" b="0" i="1" smtClean="0">
                            <a:solidFill>
                              <a:srgbClr val="FF0000"/>
                            </a:solidFill>
                            <a:latin typeface="Cambria Math" panose="02040503050406030204" pitchFamily="18" charset="0"/>
                          </a:rPr>
                          <m:t>𝑖</m:t>
                        </m:r>
                      </m:sub>
                    </m:sSub>
                  </m:oMath>
                </a14:m>
                <a:r>
                  <a:rPr lang="en-US" dirty="0">
                    <a:solidFill>
                      <a:srgbClr val="FF0000"/>
                    </a:solidFill>
                  </a:rPr>
                  <a:t> </a:t>
                </a:r>
                <a:r>
                  <a:rPr lang="en-US" dirty="0"/>
                  <a:t>is close to the actual value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𝑦</m:t>
                        </m:r>
                      </m:e>
                      <m:sub>
                        <m:r>
                          <a:rPr lang="en-US" b="0" i="1" smtClean="0">
                            <a:solidFill>
                              <a:srgbClr val="FF0000"/>
                            </a:solidFill>
                            <a:latin typeface="Cambria Math" panose="02040503050406030204" pitchFamily="18" charset="0"/>
                          </a:rPr>
                          <m:t>𝑖</m:t>
                        </m:r>
                      </m:sub>
                    </m:sSub>
                  </m:oMath>
                </a14:m>
                <a:r>
                  <a:rPr lang="en-US" dirty="0"/>
                  <a:t>, loss should be low.</a:t>
                </a:r>
              </a:p>
              <a:p>
                <a:endParaRPr lang="en-US" dirty="0"/>
              </a:p>
              <a:p>
                <a:r>
                  <a:rPr lang="en-US" dirty="0"/>
                  <a:t>If the prediction </a:t>
                </a:r>
                <a14:m>
                  <m:oMath xmlns:m="http://schemas.openxmlformats.org/officeDocument/2006/math">
                    <m:sSub>
                      <m:sSubPr>
                        <m:ctrlPr>
                          <a:rPr lang="en-US" i="1" smtClean="0">
                            <a:solidFill>
                              <a:srgbClr val="FF0000"/>
                            </a:solidFill>
                            <a:latin typeface="Cambria Math" panose="02040503050406030204" pitchFamily="18" charset="0"/>
                          </a:rPr>
                        </m:ctrlPr>
                      </m:sSubPr>
                      <m:e>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𝑦</m:t>
                            </m:r>
                          </m:e>
                        </m:acc>
                      </m:e>
                      <m:sub>
                        <m:r>
                          <a:rPr lang="en-US" b="0" i="1" smtClean="0">
                            <a:solidFill>
                              <a:srgbClr val="FF0000"/>
                            </a:solidFill>
                            <a:latin typeface="Cambria Math" panose="02040503050406030204" pitchFamily="18" charset="0"/>
                          </a:rPr>
                          <m:t>𝑖</m:t>
                        </m:r>
                      </m:sub>
                    </m:sSub>
                    <m:r>
                      <a:rPr lang="en-US" b="0" i="1" smtClean="0">
                        <a:solidFill>
                          <a:srgbClr val="FF0000"/>
                        </a:solidFill>
                        <a:latin typeface="Cambria Math" panose="02040503050406030204" pitchFamily="18" charset="0"/>
                      </a:rPr>
                      <m:t> </m:t>
                    </m:r>
                  </m:oMath>
                </a14:m>
                <a:r>
                  <a:rPr lang="en-US" dirty="0"/>
                  <a:t>is far from the actual value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𝑦</m:t>
                        </m:r>
                      </m:e>
                      <m:sub>
                        <m:r>
                          <a:rPr lang="en-US" i="1">
                            <a:solidFill>
                              <a:srgbClr val="FF0000"/>
                            </a:solidFill>
                            <a:latin typeface="Cambria Math" panose="02040503050406030204" pitchFamily="18" charset="0"/>
                          </a:rPr>
                          <m:t>𝑖</m:t>
                        </m:r>
                      </m:sub>
                    </m:sSub>
                  </m:oMath>
                </a14:m>
                <a:r>
                  <a:rPr lang="en-US" dirty="0"/>
                  <a:t>, loss should be high</a:t>
                </a:r>
              </a:p>
              <a:p>
                <a:endParaRPr lang="en-US" dirty="0"/>
              </a:p>
            </p:txBody>
          </p:sp>
        </mc:Choice>
        <mc:Fallback xmlns="">
          <p:sp>
            <p:nvSpPr>
              <p:cNvPr id="3" name="Content Placeholder 2">
                <a:extLst>
                  <a:ext uri="{FF2B5EF4-FFF2-40B4-BE49-F238E27FC236}">
                    <a16:creationId xmlns:a16="http://schemas.microsoft.com/office/drawing/2014/main" id="{FD301D4A-8172-40B8-AB43-8AB85E8E7A43}"/>
                  </a:ext>
                </a:extLst>
              </p:cNvPr>
              <p:cNvSpPr>
                <a:spLocks noGrp="1" noRot="1" noChangeAspect="1" noMove="1" noResize="1" noEditPoints="1" noAdjustHandles="1" noChangeArrowheads="1" noChangeShapeType="1" noTextEdit="1"/>
              </p:cNvSpPr>
              <p:nvPr>
                <p:ph idx="1"/>
              </p:nvPr>
            </p:nvSpPr>
            <p:spPr>
              <a:xfrm>
                <a:off x="838200" y="779929"/>
                <a:ext cx="10515600" cy="5397034"/>
              </a:xfrm>
              <a:blipFill>
                <a:blip r:embed="rId2"/>
                <a:stretch>
                  <a:fillRect l="-1043" t="-2599" r="-1159" b="-226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BEA67FA-5CF9-4538-8BEF-324934817E16}"/>
              </a:ext>
            </a:extLst>
          </p:cNvPr>
          <p:cNvSpPr>
            <a:spLocks noGrp="1"/>
          </p:cNvSpPr>
          <p:nvPr>
            <p:ph type="sldNum" sz="quarter" idx="12"/>
          </p:nvPr>
        </p:nvSpPr>
        <p:spPr/>
        <p:txBody>
          <a:bodyPr/>
          <a:lstStyle/>
          <a:p>
            <a:fld id="{6B97D948-30E8-43F7-AE10-F6E2D9F2BBB1}" type="slidenum">
              <a:rPr lang="en-US" smtClean="0"/>
              <a:t>610</a:t>
            </a:fld>
            <a:endParaRPr lang="en-US"/>
          </a:p>
        </p:txBody>
      </p:sp>
    </p:spTree>
    <p:extLst>
      <p:ext uri="{BB962C8B-B14F-4D97-AF65-F5344CB8AC3E}">
        <p14:creationId xmlns:p14="http://schemas.microsoft.com/office/powerpoint/2010/main" val="2200786804"/>
      </p:ext>
    </p:extLst>
  </p:cSld>
  <p:clrMapOvr>
    <a:masterClrMapping/>
  </p:clrMapOvr>
</p:sld>
</file>

<file path=ppt/slides/slide6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286537-0395-47C6-A31A-958CEBD2DFB4}"/>
                  </a:ext>
                </a:extLst>
              </p:cNvPr>
              <p:cNvSpPr>
                <a:spLocks noGrp="1"/>
              </p:cNvSpPr>
              <p:nvPr>
                <p:ph idx="1"/>
              </p:nvPr>
            </p:nvSpPr>
            <p:spPr>
              <a:xfrm>
                <a:off x="838200" y="578224"/>
                <a:ext cx="10515600" cy="5598739"/>
              </a:xfrm>
            </p:spPr>
            <p:txBody>
              <a:bodyPr/>
              <a:lstStyle/>
              <a:p>
                <a:r>
                  <a:rPr lang="en-US" dirty="0"/>
                  <a:t>Two common choices of loss function are squared loss and absolute loss.</a:t>
                </a:r>
              </a:p>
              <a:p>
                <a:pPr algn="just"/>
                <a:r>
                  <a:rPr lang="en-US" b="1" dirty="0"/>
                  <a:t>Squared loss</a:t>
                </a:r>
                <a:r>
                  <a:rPr lang="en-US" dirty="0"/>
                  <a:t>, also known as L2 loss, computes loss as the square of the difference between the observed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 </m:t>
                    </m:r>
                  </m:oMath>
                </a14:m>
                <a:r>
                  <a:rPr lang="en-US" dirty="0"/>
                  <a:t>and predicted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oMath>
                </a14:m>
                <a:r>
                  <a:rPr lang="en-US" dirty="0"/>
                  <a:t>:</a:t>
                </a:r>
              </a:p>
              <a:p>
                <a:r>
                  <a:rPr lang="en-US" dirty="0"/>
                  <a:t>   </a:t>
                </a:r>
                <a14:m>
                  <m:oMath xmlns:m="http://schemas.openxmlformats.org/officeDocument/2006/math">
                    <m:r>
                      <a:rPr lang="en-US" b="0" i="1" smtClean="0">
                        <a:solidFill>
                          <a:srgbClr val="FF0000"/>
                        </a:solidFill>
                        <a:latin typeface="Cambria Math" panose="02040503050406030204" pitchFamily="18" charset="0"/>
                      </a:rPr>
                      <m:t>𝐿</m:t>
                    </m:r>
                    <m:d>
                      <m:dPr>
                        <m:ctrlPr>
                          <a:rPr lang="en-US" b="0" i="1" smtClean="0">
                            <a:solidFill>
                              <a:srgbClr val="FF0000"/>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b="0" i="1" smtClean="0">
                            <a:solidFill>
                              <a:srgbClr val="FF0000"/>
                            </a:solidFill>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r>
                      <a:rPr lang="en-US" b="0" i="1" smtClean="0">
                        <a:solidFill>
                          <a:srgbClr val="FF0000"/>
                        </a:solidFill>
                        <a:latin typeface="Cambria Math" panose="02040503050406030204" pitchFamily="18" charset="0"/>
                      </a:rPr>
                      <m:t>=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𝑦</m:t>
                            </m:r>
                          </m:e>
                          <m:sub>
                            <m:r>
                              <a:rPr lang="en-US" b="0" i="1" smtClean="0">
                                <a:solidFill>
                                  <a:srgbClr val="FF0000"/>
                                </a:solidFill>
                                <a:latin typeface="Cambria Math" panose="02040503050406030204" pitchFamily="18" charset="0"/>
                              </a:rPr>
                              <m:t>𝑖</m:t>
                            </m:r>
                          </m:sub>
                        </m:sSub>
                        <m:r>
                          <a:rPr lang="en-US" b="0" i="1" smtClean="0">
                            <a:solidFill>
                              <a:srgbClr val="FF0000"/>
                            </a:solidFill>
                            <a:latin typeface="Cambria Math" panose="02040503050406030204" pitchFamily="18" charset="0"/>
                          </a:rPr>
                          <m:t> − </m:t>
                        </m:r>
                        <m:sSub>
                          <m:sSubPr>
                            <m:ctrlPr>
                              <a:rPr lang="en-US" b="0" i="1" smtClean="0">
                                <a:solidFill>
                                  <a:srgbClr val="FF0000"/>
                                </a:solidFill>
                                <a:latin typeface="Cambria Math" panose="02040503050406030204" pitchFamily="18" charset="0"/>
                              </a:rPr>
                            </m:ctrlPr>
                          </m:sSubPr>
                          <m:e>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𝑦</m:t>
                                </m:r>
                              </m:e>
                            </m:acc>
                          </m:e>
                          <m:sub>
                            <m:r>
                              <a:rPr lang="en-US" b="0" i="1" smtClean="0">
                                <a:solidFill>
                                  <a:srgbClr val="FF0000"/>
                                </a:solidFill>
                                <a:latin typeface="Cambria Math" panose="02040503050406030204" pitchFamily="18" charset="0"/>
                              </a:rPr>
                              <m:t>𝑖</m:t>
                            </m:r>
                          </m:sub>
                        </m:sSub>
                        <m:r>
                          <a:rPr lang="en-US" b="0" i="1" smtClean="0">
                            <a:solidFill>
                              <a:srgbClr val="FF0000"/>
                            </a:solidFill>
                            <a:latin typeface="Cambria Math" panose="02040503050406030204" pitchFamily="18" charset="0"/>
                          </a:rPr>
                          <m:t>)</m:t>
                        </m:r>
                      </m:e>
                      <m:sup>
                        <m:r>
                          <a:rPr lang="en-US" b="0" i="1" smtClean="0">
                            <a:solidFill>
                              <a:srgbClr val="FF0000"/>
                            </a:solidFill>
                            <a:latin typeface="Cambria Math" panose="02040503050406030204" pitchFamily="18" charset="0"/>
                          </a:rPr>
                          <m:t>2</m:t>
                        </m:r>
                      </m:sup>
                    </m:sSup>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𝑜𝑏𝑠𝑒𝑟𝑣𝑒𝑑</m:t>
                        </m:r>
                        <m:r>
                          <a:rPr lang="en-US" b="0" i="1" smtClean="0">
                            <a:latin typeface="Cambria Math" panose="02040503050406030204" pitchFamily="18" charset="0"/>
                          </a:rPr>
                          <m:t> −</m:t>
                        </m:r>
                        <m:r>
                          <a:rPr lang="en-US" b="0" i="1" smtClean="0">
                            <a:latin typeface="Cambria Math" panose="02040503050406030204" pitchFamily="18" charset="0"/>
                          </a:rPr>
                          <m:t>𝑝𝑟𝑒𝑑𝑖𝑐𝑡𝑒𝑑</m:t>
                        </m:r>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endParaRPr lang="en-US" dirty="0"/>
              </a:p>
              <a:p>
                <a:r>
                  <a:rPr lang="en-US" b="1" dirty="0"/>
                  <a:t>Absolute loss</a:t>
                </a:r>
                <a:r>
                  <a:rPr lang="en-US" dirty="0"/>
                  <a:t>, also known as L1 loss, computes loss as the absolute difference between the observed and predicted:</a:t>
                </a:r>
              </a:p>
              <a:p>
                <a14:m>
                  <m:oMath xmlns:m="http://schemas.openxmlformats.org/officeDocument/2006/math">
                    <m:r>
                      <a:rPr lang="en-US" b="0" i="1" smtClean="0">
                        <a:solidFill>
                          <a:srgbClr val="FF0000"/>
                        </a:solidFill>
                        <a:latin typeface="Cambria Math" panose="02040503050406030204" pitchFamily="18" charset="0"/>
                      </a:rPr>
                      <m:t>𝐿</m:t>
                    </m:r>
                    <m:d>
                      <m:dPr>
                        <m:ctrlPr>
                          <a:rPr lang="en-US" b="0" i="1" smtClean="0">
                            <a:solidFill>
                              <a:srgbClr val="FF0000"/>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b="0" i="1" smtClean="0">
                            <a:solidFill>
                              <a:srgbClr val="FF0000"/>
                            </a:solidFill>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r>
                      <a:rPr lang="en-US" b="0" i="1" smtClean="0">
                        <a:solidFill>
                          <a:srgbClr val="FF0000"/>
                        </a:solidFill>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b="0" i="1" smtClean="0">
                        <a:latin typeface="Cambria Math" panose="02040503050406030204" pitchFamily="18" charset="0"/>
                      </a:rPr>
                      <m:t> −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r>
                      <a:rPr lang="en-US" b="0" i="1" smtClean="0">
                        <a:solidFill>
                          <a:srgbClr val="FF0000"/>
                        </a:solidFill>
                        <a:latin typeface="Cambria Math" panose="02040503050406030204" pitchFamily="18" charset="0"/>
                      </a:rPr>
                      <m:t>|</m:t>
                    </m:r>
                  </m:oMath>
                </a14:m>
                <a:r>
                  <a:rPr lang="en-US" dirty="0"/>
                  <a:t> = |</a:t>
                </a:r>
                <a14:m>
                  <m:oMath xmlns:m="http://schemas.openxmlformats.org/officeDocument/2006/math">
                    <m:r>
                      <a:rPr lang="en-US" i="1">
                        <a:latin typeface="Cambria Math" panose="02040503050406030204" pitchFamily="18" charset="0"/>
                      </a:rPr>
                      <m:t>𝑜𝑏𝑠𝑒𝑟𝑣𝑒𝑑</m:t>
                    </m:r>
                    <m:r>
                      <a:rPr lang="en-US" i="1">
                        <a:latin typeface="Cambria Math" panose="02040503050406030204" pitchFamily="18" charset="0"/>
                      </a:rPr>
                      <m:t> −</m:t>
                    </m:r>
                    <m:r>
                      <a:rPr lang="en-US" i="1">
                        <a:latin typeface="Cambria Math" panose="02040503050406030204" pitchFamily="18" charset="0"/>
                      </a:rPr>
                      <m:t>𝑝𝑟𝑒𝑑𝑖𝑐𝑡𝑒𝑑</m:t>
                    </m:r>
                  </m:oMath>
                </a14:m>
                <a:r>
                  <a:rPr lang="en-US" dirty="0"/>
                  <a:t>|</a:t>
                </a:r>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6B286537-0395-47C6-A31A-958CEBD2DFB4}"/>
                  </a:ext>
                </a:extLst>
              </p:cNvPr>
              <p:cNvSpPr>
                <a:spLocks noGrp="1" noRot="1" noChangeAspect="1" noMove="1" noResize="1" noEditPoints="1" noAdjustHandles="1" noChangeArrowheads="1" noChangeShapeType="1" noTextEdit="1"/>
              </p:cNvSpPr>
              <p:nvPr>
                <p:ph idx="1"/>
              </p:nvPr>
            </p:nvSpPr>
            <p:spPr>
              <a:xfrm>
                <a:off x="838200" y="578224"/>
                <a:ext cx="10515600" cy="5598739"/>
              </a:xfrm>
              <a:blipFill>
                <a:blip r:embed="rId2"/>
                <a:stretch>
                  <a:fillRect l="-1043" t="-1852"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EDC735C-5E89-44D0-A23A-AE7DF2268BEE}"/>
              </a:ext>
            </a:extLst>
          </p:cNvPr>
          <p:cNvSpPr>
            <a:spLocks noGrp="1"/>
          </p:cNvSpPr>
          <p:nvPr>
            <p:ph type="sldNum" sz="quarter" idx="12"/>
          </p:nvPr>
        </p:nvSpPr>
        <p:spPr/>
        <p:txBody>
          <a:bodyPr/>
          <a:lstStyle/>
          <a:p>
            <a:fld id="{6B97D948-30E8-43F7-AE10-F6E2D9F2BBB1}" type="slidenum">
              <a:rPr lang="en-US" smtClean="0"/>
              <a:t>611</a:t>
            </a:fld>
            <a:endParaRPr lang="en-US"/>
          </a:p>
        </p:txBody>
      </p:sp>
    </p:spTree>
    <p:extLst>
      <p:ext uri="{BB962C8B-B14F-4D97-AF65-F5344CB8AC3E}">
        <p14:creationId xmlns:p14="http://schemas.microsoft.com/office/powerpoint/2010/main" val="729096668"/>
      </p:ext>
    </p:extLst>
  </p:cSld>
  <p:clrMapOvr>
    <a:masterClrMapping/>
  </p:clrMapOvr>
</p:sld>
</file>

<file path=ppt/slides/slide6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8E9442-C758-4B94-8D8F-F390597C3ED5}"/>
                  </a:ext>
                </a:extLst>
              </p:cNvPr>
              <p:cNvSpPr>
                <a:spLocks noGrp="1"/>
              </p:cNvSpPr>
              <p:nvPr>
                <p:ph idx="1"/>
              </p:nvPr>
            </p:nvSpPr>
            <p:spPr>
              <a:xfrm>
                <a:off x="838200" y="524435"/>
                <a:ext cx="10515600" cy="5652528"/>
              </a:xfrm>
            </p:spPr>
            <p:txBody>
              <a:bodyPr/>
              <a:lstStyle/>
              <a:p>
                <a:pPr algn="just"/>
                <a:r>
                  <a:rPr lang="en-US" dirty="0"/>
                  <a:t>L1 and L2 loss give us a tool for quantifying our model’s performance on a </a:t>
                </a:r>
                <a:r>
                  <a:rPr lang="en-US" dirty="0">
                    <a:solidFill>
                      <a:srgbClr val="FF0000"/>
                    </a:solidFill>
                  </a:rPr>
                  <a:t>single datapoint</a:t>
                </a:r>
                <a:r>
                  <a:rPr lang="en-US" dirty="0"/>
                  <a:t>. </a:t>
                </a:r>
              </a:p>
              <a:p>
                <a:pPr algn="just"/>
                <a:endParaRPr lang="en-US" dirty="0"/>
              </a:p>
              <a:p>
                <a:pPr algn="just"/>
                <a:r>
                  <a:rPr lang="en-US" dirty="0"/>
                  <a:t>This is a good start, but ideally we want to understand how our model performs across our entire dataset. </a:t>
                </a:r>
              </a:p>
              <a:p>
                <a:pPr algn="just"/>
                <a:endParaRPr lang="en-US" dirty="0"/>
              </a:p>
              <a:p>
                <a:pPr algn="just"/>
                <a:r>
                  <a:rPr lang="en-US" dirty="0"/>
                  <a:t>A natural way to do this is to compute the average loss across all datapoints in the dataset. </a:t>
                </a:r>
              </a:p>
              <a:p>
                <a:pPr algn="just"/>
                <a:endParaRPr lang="en-US" dirty="0"/>
              </a:p>
              <a:p>
                <a:pPr algn="just"/>
                <a:r>
                  <a:rPr lang="en-US" dirty="0"/>
                  <a:t>This is known as the </a:t>
                </a:r>
                <a:r>
                  <a:rPr lang="en-US" dirty="0">
                    <a:solidFill>
                      <a:srgbClr val="FF0000"/>
                    </a:solidFill>
                  </a:rPr>
                  <a:t>cost function, </a:t>
                </a:r>
                <a14:m>
                  <m:oMath xmlns:m="http://schemas.openxmlformats.org/officeDocument/2006/math">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𝑅</m:t>
                        </m:r>
                      </m:e>
                    </m:acc>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𝜃</m:t>
                    </m:r>
                    <m:r>
                      <a:rPr lang="en-US" b="0" i="1" smtClean="0">
                        <a:solidFill>
                          <a:srgbClr val="FF0000"/>
                        </a:solidFill>
                        <a:latin typeface="Cambria Math" panose="02040503050406030204" pitchFamily="18" charset="0"/>
                      </a:rPr>
                      <m:t>)</m:t>
                    </m:r>
                  </m:oMath>
                </a14:m>
                <a:r>
                  <a:rPr lang="en-US" dirty="0">
                    <a:solidFill>
                      <a:srgbClr val="FF0000"/>
                    </a:solidFill>
                  </a:rPr>
                  <a:t>:</a:t>
                </a:r>
                <a:endParaRPr lang="en-US" dirty="0"/>
              </a:p>
              <a:p>
                <a:pPr algn="just"/>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𝑅</m:t>
                        </m:r>
                      </m:e>
                    </m:acc>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r>
                          <a:rPr lang="en-US" b="0" i="1" smtClean="0">
                            <a:solidFill>
                              <a:srgbClr val="FF0000"/>
                            </a:solidFill>
                            <a:latin typeface="Cambria Math" panose="02040503050406030204" pitchFamily="18" charset="0"/>
                            <a:ea typeface="Cambria Math" panose="02040503050406030204" pitchFamily="18" charset="0"/>
                          </a:rPr>
                          <m:t>𝐿</m:t>
                        </m:r>
                        <m:r>
                          <a:rPr lang="en-US" b="0" i="1" smtClean="0">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𝑦</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𝑖</m:t>
                            </m:r>
                          </m:sub>
                        </m:sSub>
                        <m:r>
                          <a:rPr lang="en-US" b="0" i="1" smtClean="0">
                            <a:solidFill>
                              <a:srgbClr val="FF0000"/>
                            </a:solidFill>
                            <a:latin typeface="Cambria Math" panose="02040503050406030204" pitchFamily="18" charset="0"/>
                            <a:ea typeface="Cambria Math" panose="02040503050406030204" pitchFamily="18" charset="0"/>
                          </a:rPr>
                          <m:t>)</m:t>
                        </m:r>
                      </m:e>
                    </m:nary>
                  </m:oMath>
                </a14:m>
                <a:r>
                  <a:rPr lang="en-US" dirty="0"/>
                  <a:t> </a:t>
                </a:r>
              </a:p>
            </p:txBody>
          </p:sp>
        </mc:Choice>
        <mc:Fallback xmlns="">
          <p:sp>
            <p:nvSpPr>
              <p:cNvPr id="3" name="Content Placeholder 2">
                <a:extLst>
                  <a:ext uri="{FF2B5EF4-FFF2-40B4-BE49-F238E27FC236}">
                    <a16:creationId xmlns:a16="http://schemas.microsoft.com/office/drawing/2014/main" id="{048E9442-C758-4B94-8D8F-F390597C3ED5}"/>
                  </a:ext>
                </a:extLst>
              </p:cNvPr>
              <p:cNvSpPr>
                <a:spLocks noGrp="1" noRot="1" noChangeAspect="1" noMove="1" noResize="1" noEditPoints="1" noAdjustHandles="1" noChangeArrowheads="1" noChangeShapeType="1" noTextEdit="1"/>
              </p:cNvSpPr>
              <p:nvPr>
                <p:ph idx="1"/>
              </p:nvPr>
            </p:nvSpPr>
            <p:spPr>
              <a:xfrm>
                <a:off x="838200" y="524435"/>
                <a:ext cx="10515600" cy="5652528"/>
              </a:xfrm>
              <a:blipFill>
                <a:blip r:embed="rId2"/>
                <a:stretch>
                  <a:fillRect l="-1043" t="-1726" r="-11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9D70878-1CD0-4CAB-868E-8157FA669930}"/>
              </a:ext>
            </a:extLst>
          </p:cNvPr>
          <p:cNvSpPr>
            <a:spLocks noGrp="1"/>
          </p:cNvSpPr>
          <p:nvPr>
            <p:ph type="sldNum" sz="quarter" idx="12"/>
          </p:nvPr>
        </p:nvSpPr>
        <p:spPr/>
        <p:txBody>
          <a:bodyPr/>
          <a:lstStyle/>
          <a:p>
            <a:fld id="{6B97D948-30E8-43F7-AE10-F6E2D9F2BBB1}" type="slidenum">
              <a:rPr lang="en-US" smtClean="0"/>
              <a:t>612</a:t>
            </a:fld>
            <a:endParaRPr lang="en-US"/>
          </a:p>
        </p:txBody>
      </p:sp>
    </p:spTree>
    <p:extLst>
      <p:ext uri="{BB962C8B-B14F-4D97-AF65-F5344CB8AC3E}">
        <p14:creationId xmlns:p14="http://schemas.microsoft.com/office/powerpoint/2010/main" val="1203134913"/>
      </p:ext>
    </p:extLst>
  </p:cSld>
  <p:clrMapOvr>
    <a:masterClrMapping/>
  </p:clrMapOvr>
</p:sld>
</file>

<file path=ppt/slides/slide6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9DFCBD-504E-4E6A-8F4A-C7F5B79819D3}"/>
              </a:ext>
            </a:extLst>
          </p:cNvPr>
          <p:cNvSpPr>
            <a:spLocks noGrp="1"/>
          </p:cNvSpPr>
          <p:nvPr>
            <p:ph idx="1"/>
          </p:nvPr>
        </p:nvSpPr>
        <p:spPr>
          <a:xfrm>
            <a:off x="838200" y="645459"/>
            <a:ext cx="10515600" cy="5531504"/>
          </a:xfrm>
        </p:spPr>
        <p:txBody>
          <a:bodyPr>
            <a:normAutofit/>
          </a:bodyPr>
          <a:lstStyle/>
          <a:p>
            <a:pPr algn="just"/>
            <a:r>
              <a:rPr lang="en-US" dirty="0"/>
              <a:t>The cost function has many names in statistics literature. </a:t>
            </a:r>
          </a:p>
          <a:p>
            <a:pPr algn="just"/>
            <a:endParaRPr lang="en-US" dirty="0"/>
          </a:p>
          <a:p>
            <a:pPr algn="just"/>
            <a:r>
              <a:rPr lang="en-US" dirty="0"/>
              <a:t>You may also encounter the terms:</a:t>
            </a:r>
          </a:p>
          <a:p>
            <a:r>
              <a:rPr lang="en-US" dirty="0"/>
              <a:t>Empirical risk (this is why we give the cost function the name )</a:t>
            </a:r>
          </a:p>
          <a:p>
            <a:r>
              <a:rPr lang="en-US" dirty="0"/>
              <a:t>Error function</a:t>
            </a:r>
          </a:p>
          <a:p>
            <a:r>
              <a:rPr lang="en-US" dirty="0"/>
              <a:t>Average loss</a:t>
            </a:r>
          </a:p>
        </p:txBody>
      </p:sp>
      <p:sp>
        <p:nvSpPr>
          <p:cNvPr id="4" name="Slide Number Placeholder 3">
            <a:extLst>
              <a:ext uri="{FF2B5EF4-FFF2-40B4-BE49-F238E27FC236}">
                <a16:creationId xmlns:a16="http://schemas.microsoft.com/office/drawing/2014/main" id="{DB028D4A-4D67-4018-A2A5-7C8A47C8ED10}"/>
              </a:ext>
            </a:extLst>
          </p:cNvPr>
          <p:cNvSpPr>
            <a:spLocks noGrp="1"/>
          </p:cNvSpPr>
          <p:nvPr>
            <p:ph type="sldNum" sz="quarter" idx="12"/>
          </p:nvPr>
        </p:nvSpPr>
        <p:spPr/>
        <p:txBody>
          <a:bodyPr/>
          <a:lstStyle/>
          <a:p>
            <a:fld id="{6B97D948-30E8-43F7-AE10-F6E2D9F2BBB1}" type="slidenum">
              <a:rPr lang="en-US" smtClean="0"/>
              <a:t>613</a:t>
            </a:fld>
            <a:endParaRPr lang="en-US"/>
          </a:p>
        </p:txBody>
      </p:sp>
    </p:spTree>
    <p:extLst>
      <p:ext uri="{BB962C8B-B14F-4D97-AF65-F5344CB8AC3E}">
        <p14:creationId xmlns:p14="http://schemas.microsoft.com/office/powerpoint/2010/main" val="166337543"/>
      </p:ext>
    </p:extLst>
  </p:cSld>
  <p:clrMapOvr>
    <a:masterClrMapping/>
  </p:clrMapOvr>
</p:sld>
</file>

<file path=ppt/slides/slide6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0E01FA-6B36-46D5-AE94-32B45A396279}"/>
                  </a:ext>
                </a:extLst>
              </p:cNvPr>
              <p:cNvSpPr>
                <a:spLocks noGrp="1"/>
              </p:cNvSpPr>
              <p:nvPr>
                <p:ph idx="1"/>
              </p:nvPr>
            </p:nvSpPr>
            <p:spPr>
              <a:xfrm>
                <a:off x="838200" y="510988"/>
                <a:ext cx="10515600" cy="5665975"/>
              </a:xfrm>
            </p:spPr>
            <p:txBody>
              <a:bodyPr>
                <a:normAutofit fontScale="92500" lnSpcReduction="10000"/>
              </a:bodyPr>
              <a:lstStyle/>
              <a:p>
                <a:pPr algn="just"/>
                <a:r>
                  <a:rPr lang="en-US" dirty="0"/>
                  <a:t>Let’s substitute our L1 and L2 loss into the cost function definition. </a:t>
                </a:r>
              </a:p>
              <a:p>
                <a:pPr algn="just"/>
                <a:endParaRPr lang="en-US" dirty="0"/>
              </a:p>
              <a:p>
                <a:pPr algn="just"/>
                <a:r>
                  <a:rPr lang="en-US" dirty="0"/>
                  <a:t>The </a:t>
                </a:r>
                <a:r>
                  <a:rPr lang="en-US" b="1" dirty="0"/>
                  <a:t>Mean Squared Error (MSE)</a:t>
                </a:r>
                <a:r>
                  <a:rPr lang="en-US" dirty="0"/>
                  <a:t> is the average squared loss across a dataset:</a:t>
                </a:r>
              </a:p>
              <a:p>
                <a:pPr algn="just"/>
                <a14:m>
                  <m:oMath xmlns:m="http://schemas.openxmlformats.org/officeDocument/2006/math">
                    <m:r>
                      <a:rPr lang="en-US" b="0" i="1" smtClean="0">
                        <a:latin typeface="Cambria Math" panose="02040503050406030204" pitchFamily="18" charset="0"/>
                        <a:ea typeface="Cambria Math" panose="02040503050406030204" pitchFamily="18" charset="0"/>
                      </a:rPr>
                      <m:t>𝑀𝑆𝐸</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𝑦</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 − </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e>
                          <m:sup>
                            <m:r>
                              <a:rPr lang="en-US" i="1">
                                <a:solidFill>
                                  <a:srgbClr val="FF0000"/>
                                </a:solidFill>
                                <a:latin typeface="Cambria Math" panose="02040503050406030204" pitchFamily="18" charset="0"/>
                              </a:rPr>
                              <m:t>2</m:t>
                            </m:r>
                          </m:sup>
                        </m:sSup>
                      </m:e>
                    </m:nary>
                  </m:oMath>
                </a14:m>
                <a:r>
                  <a:rPr lang="en-US" dirty="0"/>
                  <a:t> </a:t>
                </a:r>
              </a:p>
              <a:p>
                <a:pPr algn="just"/>
                <a:r>
                  <a:rPr lang="en-US" dirty="0"/>
                  <a:t>The </a:t>
                </a:r>
                <a:r>
                  <a:rPr lang="en-US" b="1" dirty="0"/>
                  <a:t>Mean Absolute Error (MAE)</a:t>
                </a:r>
                <a:r>
                  <a:rPr lang="en-US" dirty="0"/>
                  <a:t> is the average absolute loss across a dataset:</a:t>
                </a:r>
              </a:p>
              <a:p>
                <a:pPr algn="just"/>
                <a14:m>
                  <m:oMath xmlns:m="http://schemas.openxmlformats.org/officeDocument/2006/math">
                    <m:r>
                      <a:rPr lang="en-US" b="0" i="1" smtClean="0">
                        <a:latin typeface="Cambria Math" panose="02040503050406030204" pitchFamily="18" charset="0"/>
                        <a:ea typeface="Cambria Math" panose="02040503050406030204" pitchFamily="18" charset="0"/>
                      </a:rPr>
                      <m:t>𝑀𝐴𝐸</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r>
                          <a:rPr lang="en-US" i="1">
                            <a:solidFill>
                              <a:srgbClr val="FF0000"/>
                            </a:solidFill>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r>
                          <a:rPr lang="en-US" i="1">
                            <a:solidFill>
                              <a:srgbClr val="FF0000"/>
                            </a:solidFill>
                            <a:latin typeface="Cambria Math" panose="02040503050406030204" pitchFamily="18" charset="0"/>
                          </a:rPr>
                          <m:t>|</m:t>
                        </m:r>
                      </m:e>
                    </m:nary>
                  </m:oMath>
                </a14:m>
                <a:endParaRPr lang="en-US" dirty="0"/>
              </a:p>
              <a:p>
                <a:pPr algn="just"/>
                <a:r>
                  <a:rPr lang="en-US" dirty="0"/>
                  <a:t>RMAE = </a:t>
                </a:r>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𝑀𝐴𝐸</m:t>
                        </m:r>
                      </m:e>
                    </m:rad>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𝑛</m:t>
                            </m:r>
                          </m:den>
                        </m:f>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𝑛</m:t>
                            </m:r>
                          </m:sup>
                          <m:e>
                            <m:r>
                              <a:rPr lang="en-US" i="1">
                                <a:solidFill>
                                  <a:srgbClr val="FF0000"/>
                                </a:solidFill>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r>
                              <a:rPr lang="en-US" i="1">
                                <a:solidFill>
                                  <a:srgbClr val="FF0000"/>
                                </a:solidFill>
                                <a:latin typeface="Cambria Math" panose="02040503050406030204" pitchFamily="18" charset="0"/>
                              </a:rPr>
                              <m:t>|</m:t>
                            </m:r>
                          </m:e>
                        </m:nary>
                      </m:e>
                    </m:rad>
                  </m:oMath>
                </a14:m>
                <a:endParaRPr lang="en-US" dirty="0"/>
              </a:p>
              <a:p>
                <a:pPr algn="just"/>
                <a:endParaRPr lang="en-US" dirty="0"/>
              </a:p>
              <a:p>
                <a:pPr algn="just"/>
                <a:r>
                  <a:rPr lang="en-US" dirty="0"/>
                  <a:t>RMSE = </a:t>
                </a:r>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𝑀𝑆𝐸</m:t>
                        </m:r>
                      </m:e>
                    </m:rad>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𝑛</m:t>
                            </m:r>
                          </m:den>
                        </m:f>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𝑛</m:t>
                            </m:r>
                          </m:sup>
                          <m:e>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𝑦</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 − </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e>
                              <m:sup>
                                <m:r>
                                  <a:rPr lang="en-US" i="1">
                                    <a:solidFill>
                                      <a:srgbClr val="FF0000"/>
                                    </a:solidFill>
                                    <a:latin typeface="Cambria Math" panose="02040503050406030204" pitchFamily="18" charset="0"/>
                                  </a:rPr>
                                  <m:t>2</m:t>
                                </m:r>
                              </m:sup>
                            </m:sSup>
                          </m:e>
                        </m:nary>
                      </m:e>
                    </m:rad>
                  </m:oMath>
                </a14:m>
                <a:endParaRPr lang="en-US" dirty="0"/>
              </a:p>
              <a:p>
                <a:pPr algn="just"/>
                <a:endParaRPr lang="en-US" dirty="0"/>
              </a:p>
              <a:p>
                <a:pPr algn="just"/>
                <a:endParaRPr lang="en-US" dirty="0"/>
              </a:p>
              <a:p>
                <a:pPr algn="just"/>
                <a:endParaRPr lang="en-US" dirty="0"/>
              </a:p>
              <a:p>
                <a:endParaRPr lang="en-US" dirty="0"/>
              </a:p>
            </p:txBody>
          </p:sp>
        </mc:Choice>
        <mc:Fallback xmlns="">
          <p:sp>
            <p:nvSpPr>
              <p:cNvPr id="3" name="Content Placeholder 2">
                <a:extLst>
                  <a:ext uri="{FF2B5EF4-FFF2-40B4-BE49-F238E27FC236}">
                    <a16:creationId xmlns:a16="http://schemas.microsoft.com/office/drawing/2014/main" id="{3E0E01FA-6B36-46D5-AE94-32B45A396279}"/>
                  </a:ext>
                </a:extLst>
              </p:cNvPr>
              <p:cNvSpPr>
                <a:spLocks noGrp="1" noRot="1" noChangeAspect="1" noMove="1" noResize="1" noEditPoints="1" noAdjustHandles="1" noChangeArrowheads="1" noChangeShapeType="1" noTextEdit="1"/>
              </p:cNvSpPr>
              <p:nvPr>
                <p:ph idx="1"/>
              </p:nvPr>
            </p:nvSpPr>
            <p:spPr>
              <a:xfrm>
                <a:off x="838200" y="510988"/>
                <a:ext cx="10515600" cy="5665975"/>
              </a:xfrm>
              <a:blipFill>
                <a:blip r:embed="rId2"/>
                <a:stretch>
                  <a:fillRect l="-928" t="-2153" r="-9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3A4EDEB-00FE-40DE-86B7-189CDF5E0378}"/>
              </a:ext>
            </a:extLst>
          </p:cNvPr>
          <p:cNvSpPr>
            <a:spLocks noGrp="1"/>
          </p:cNvSpPr>
          <p:nvPr>
            <p:ph type="sldNum" sz="quarter" idx="12"/>
          </p:nvPr>
        </p:nvSpPr>
        <p:spPr/>
        <p:txBody>
          <a:bodyPr/>
          <a:lstStyle/>
          <a:p>
            <a:fld id="{6B97D948-30E8-43F7-AE10-F6E2D9F2BBB1}" type="slidenum">
              <a:rPr lang="en-US" smtClean="0"/>
              <a:t>614</a:t>
            </a:fld>
            <a:endParaRPr lang="en-US"/>
          </a:p>
        </p:txBody>
      </p:sp>
    </p:spTree>
    <p:extLst>
      <p:ext uri="{BB962C8B-B14F-4D97-AF65-F5344CB8AC3E}">
        <p14:creationId xmlns:p14="http://schemas.microsoft.com/office/powerpoint/2010/main" val="3246366423"/>
      </p:ext>
    </p:extLst>
  </p:cSld>
  <p:clrMapOvr>
    <a:masterClrMapping/>
  </p:clrMapOvr>
</p:sld>
</file>

<file path=ppt/slides/slide6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532AB-ACFA-46BF-9BFF-5DF2283F0B84}"/>
              </a:ext>
            </a:extLst>
          </p:cNvPr>
          <p:cNvSpPr>
            <a:spLocks noGrp="1"/>
          </p:cNvSpPr>
          <p:nvPr>
            <p:ph type="title"/>
          </p:nvPr>
        </p:nvSpPr>
        <p:spPr>
          <a:xfrm>
            <a:off x="838200" y="365125"/>
            <a:ext cx="10515600" cy="697193"/>
          </a:xfrm>
        </p:spPr>
        <p:txBody>
          <a:bodyPr/>
          <a:lstStyle/>
          <a:p>
            <a:r>
              <a:rPr lang="en-US" dirty="0"/>
              <a:t>Evaluating Performance</a:t>
            </a:r>
          </a:p>
        </p:txBody>
      </p:sp>
      <p:sp>
        <p:nvSpPr>
          <p:cNvPr id="3" name="Content Placeholder 2">
            <a:extLst>
              <a:ext uri="{FF2B5EF4-FFF2-40B4-BE49-F238E27FC236}">
                <a16:creationId xmlns:a16="http://schemas.microsoft.com/office/drawing/2014/main" id="{5ECDB02F-A6D6-4538-8562-641EC458F217}"/>
              </a:ext>
            </a:extLst>
          </p:cNvPr>
          <p:cNvSpPr>
            <a:spLocks noGrp="1"/>
          </p:cNvSpPr>
          <p:nvPr>
            <p:ph idx="1"/>
          </p:nvPr>
        </p:nvSpPr>
        <p:spPr>
          <a:xfrm>
            <a:off x="838200" y="1062318"/>
            <a:ext cx="10515600" cy="5114645"/>
          </a:xfrm>
        </p:spPr>
        <p:txBody>
          <a:bodyPr>
            <a:normAutofit/>
          </a:bodyPr>
          <a:lstStyle/>
          <a:p>
            <a:r>
              <a:rPr lang="en-US" dirty="0"/>
              <a:t>At this stage, we’ve:</a:t>
            </a:r>
          </a:p>
          <a:p>
            <a:endParaRPr lang="en-US" dirty="0"/>
          </a:p>
          <a:p>
            <a:r>
              <a:rPr lang="en-US" dirty="0"/>
              <a:t>    Defined our model(s)</a:t>
            </a:r>
          </a:p>
          <a:p>
            <a:r>
              <a:rPr lang="en-US" dirty="0"/>
              <a:t>    Defined our loss function(s)</a:t>
            </a:r>
          </a:p>
          <a:p>
            <a:r>
              <a:rPr lang="en-US" dirty="0"/>
              <a:t>    Fit the model to identify the best model parameters</a:t>
            </a:r>
          </a:p>
          <a:p>
            <a:endParaRPr lang="en-US" dirty="0"/>
          </a:p>
          <a:p>
            <a:r>
              <a:rPr lang="en-US" dirty="0"/>
              <a:t>Now, what are some ways to determine if our model was a good fit to our data? </a:t>
            </a:r>
          </a:p>
        </p:txBody>
      </p:sp>
      <p:sp>
        <p:nvSpPr>
          <p:cNvPr id="5" name="Slide Number Placeholder 4">
            <a:extLst>
              <a:ext uri="{FF2B5EF4-FFF2-40B4-BE49-F238E27FC236}">
                <a16:creationId xmlns:a16="http://schemas.microsoft.com/office/drawing/2014/main" id="{C4F042E6-C05E-4AD3-BB16-CB82A193C759}"/>
              </a:ext>
            </a:extLst>
          </p:cNvPr>
          <p:cNvSpPr>
            <a:spLocks noGrp="1"/>
          </p:cNvSpPr>
          <p:nvPr>
            <p:ph type="sldNum" sz="quarter" idx="12"/>
          </p:nvPr>
        </p:nvSpPr>
        <p:spPr/>
        <p:txBody>
          <a:bodyPr/>
          <a:lstStyle/>
          <a:p>
            <a:fld id="{6B97D948-30E8-43F7-AE10-F6E2D9F2BBB1}" type="slidenum">
              <a:rPr lang="en-US" smtClean="0"/>
              <a:t>615</a:t>
            </a:fld>
            <a:endParaRPr lang="en-US"/>
          </a:p>
        </p:txBody>
      </p:sp>
    </p:spTree>
    <p:extLst>
      <p:ext uri="{BB962C8B-B14F-4D97-AF65-F5344CB8AC3E}">
        <p14:creationId xmlns:p14="http://schemas.microsoft.com/office/powerpoint/2010/main" val="3128846790"/>
      </p:ext>
    </p:extLst>
  </p:cSld>
  <p:clrMapOvr>
    <a:masterClrMapping/>
  </p:clrMapOvr>
</p:sld>
</file>

<file path=ppt/slides/slide6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B28977-AB2A-437B-A1D0-D61CD2AED22B}"/>
              </a:ext>
            </a:extLst>
          </p:cNvPr>
          <p:cNvSpPr>
            <a:spLocks noGrp="1"/>
          </p:cNvSpPr>
          <p:nvPr>
            <p:ph idx="1"/>
          </p:nvPr>
        </p:nvSpPr>
        <p:spPr>
          <a:xfrm>
            <a:off x="838200" y="723900"/>
            <a:ext cx="10515600" cy="5453063"/>
          </a:xfrm>
        </p:spPr>
        <p:txBody>
          <a:bodyPr/>
          <a:lstStyle/>
          <a:p>
            <a:r>
              <a:rPr lang="en-US" dirty="0"/>
              <a:t>There are three main ways for evaluating a model.</a:t>
            </a:r>
          </a:p>
          <a:p>
            <a:r>
              <a:rPr lang="en-US" dirty="0"/>
              <a:t>1. Statistics:</a:t>
            </a:r>
          </a:p>
          <a:p>
            <a:r>
              <a:rPr lang="en-US" dirty="0"/>
              <a:t>    Plot original data</a:t>
            </a:r>
          </a:p>
          <a:p>
            <a:r>
              <a:rPr lang="en-US" dirty="0"/>
              <a:t>    Compute column means</a:t>
            </a:r>
          </a:p>
          <a:p>
            <a:r>
              <a:rPr lang="en-US" dirty="0"/>
              <a:t>    Compute standard deviations</a:t>
            </a:r>
          </a:p>
          <a:p>
            <a:r>
              <a:rPr lang="en-US" dirty="0"/>
              <a:t>    If we want to fit a linear model, compute correlation (r)</a:t>
            </a:r>
          </a:p>
          <a:p>
            <a:endParaRPr lang="en-US" dirty="0"/>
          </a:p>
          <a:p>
            <a:endParaRPr lang="en-US" dirty="0"/>
          </a:p>
        </p:txBody>
      </p:sp>
      <p:sp>
        <p:nvSpPr>
          <p:cNvPr id="5" name="Slide Number Placeholder 4">
            <a:extLst>
              <a:ext uri="{FF2B5EF4-FFF2-40B4-BE49-F238E27FC236}">
                <a16:creationId xmlns:a16="http://schemas.microsoft.com/office/drawing/2014/main" id="{0146AF7F-0890-4C37-9926-250F69B3FBBC}"/>
              </a:ext>
            </a:extLst>
          </p:cNvPr>
          <p:cNvSpPr>
            <a:spLocks noGrp="1"/>
          </p:cNvSpPr>
          <p:nvPr>
            <p:ph type="sldNum" sz="quarter" idx="12"/>
          </p:nvPr>
        </p:nvSpPr>
        <p:spPr/>
        <p:txBody>
          <a:bodyPr/>
          <a:lstStyle/>
          <a:p>
            <a:fld id="{6B97D948-30E8-43F7-AE10-F6E2D9F2BBB1}" type="slidenum">
              <a:rPr lang="en-US" smtClean="0"/>
              <a:t>616</a:t>
            </a:fld>
            <a:endParaRPr lang="en-US"/>
          </a:p>
        </p:txBody>
      </p:sp>
    </p:spTree>
    <p:extLst>
      <p:ext uri="{BB962C8B-B14F-4D97-AF65-F5344CB8AC3E}">
        <p14:creationId xmlns:p14="http://schemas.microsoft.com/office/powerpoint/2010/main" val="2250943007"/>
      </p:ext>
    </p:extLst>
  </p:cSld>
  <p:clrMapOvr>
    <a:masterClrMapping/>
  </p:clrMapOvr>
</p:sld>
</file>

<file path=ppt/slides/slide6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AEAA90-91D3-4EED-829F-1112C068DB4A}"/>
              </a:ext>
            </a:extLst>
          </p:cNvPr>
          <p:cNvSpPr>
            <a:spLocks noGrp="1"/>
          </p:cNvSpPr>
          <p:nvPr>
            <p:ph idx="1"/>
          </p:nvPr>
        </p:nvSpPr>
        <p:spPr>
          <a:xfrm>
            <a:off x="838200" y="552450"/>
            <a:ext cx="10515600" cy="5624513"/>
          </a:xfrm>
        </p:spPr>
        <p:txBody>
          <a:bodyPr>
            <a:normAutofit/>
          </a:bodyPr>
          <a:lstStyle/>
          <a:p>
            <a:r>
              <a:rPr lang="en-US" dirty="0"/>
              <a:t>Performance metrics:</a:t>
            </a:r>
          </a:p>
          <a:p>
            <a:r>
              <a:rPr lang="en-US" dirty="0"/>
              <a:t>Root Mean Square Error (RMSE). It is the square root of MSE, which is the average loss that we’ve been minimizing to determine optimal model parameters.</a:t>
            </a:r>
          </a:p>
          <a:p>
            <a:r>
              <a:rPr lang="en-US" dirty="0"/>
              <a:t>RMSE is in the same units as </a:t>
            </a:r>
          </a:p>
          <a:p>
            <a:endParaRPr lang="en-US" dirty="0"/>
          </a:p>
          <a:p>
            <a:r>
              <a:rPr lang="en-US" dirty="0"/>
              <a:t>.</a:t>
            </a:r>
          </a:p>
          <a:p>
            <a:r>
              <a:rPr lang="en-US" dirty="0"/>
              <a:t>A lower RMSE indicates more “accurate” predictions (lower “average loss” across data)</a:t>
            </a:r>
          </a:p>
        </p:txBody>
      </p:sp>
      <p:sp>
        <p:nvSpPr>
          <p:cNvPr id="4" name="Slide Number Placeholder 3">
            <a:extLst>
              <a:ext uri="{FF2B5EF4-FFF2-40B4-BE49-F238E27FC236}">
                <a16:creationId xmlns:a16="http://schemas.microsoft.com/office/drawing/2014/main" id="{7C80988D-8B3C-4A89-9214-87F8F3ED9117}"/>
              </a:ext>
            </a:extLst>
          </p:cNvPr>
          <p:cNvSpPr>
            <a:spLocks noGrp="1"/>
          </p:cNvSpPr>
          <p:nvPr>
            <p:ph type="sldNum" sz="quarter" idx="12"/>
          </p:nvPr>
        </p:nvSpPr>
        <p:spPr/>
        <p:txBody>
          <a:bodyPr/>
          <a:lstStyle/>
          <a:p>
            <a:fld id="{6B97D948-30E8-43F7-AE10-F6E2D9F2BBB1}" type="slidenum">
              <a:rPr lang="en-US" smtClean="0"/>
              <a:t>617</a:t>
            </a:fld>
            <a:endParaRPr lang="en-US"/>
          </a:p>
        </p:txBody>
      </p:sp>
    </p:spTree>
    <p:extLst>
      <p:ext uri="{BB962C8B-B14F-4D97-AF65-F5344CB8AC3E}">
        <p14:creationId xmlns:p14="http://schemas.microsoft.com/office/powerpoint/2010/main" val="4119677567"/>
      </p:ext>
    </p:extLst>
  </p:cSld>
  <p:clrMapOvr>
    <a:masterClrMapping/>
  </p:clrMapOvr>
</p:sld>
</file>

<file path=ppt/slides/slide6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316DB6-9AD8-40FC-AA5A-4D48B9AE8E8C}"/>
                  </a:ext>
                </a:extLst>
              </p:cNvPr>
              <p:cNvSpPr>
                <a:spLocks noGrp="1"/>
              </p:cNvSpPr>
              <p:nvPr>
                <p:ph idx="1"/>
              </p:nvPr>
            </p:nvSpPr>
            <p:spPr>
              <a:xfrm>
                <a:off x="838200" y="733425"/>
                <a:ext cx="10515600" cy="5443538"/>
              </a:xfrm>
            </p:spPr>
            <p:txBody>
              <a:bodyPr/>
              <a:lstStyle/>
              <a:p>
                <a:r>
                  <a:rPr lang="en-US" dirty="0"/>
                  <a:t>Visualization:</a:t>
                </a:r>
              </a:p>
              <a:p>
                <a:endParaRPr lang="en-US" dirty="0"/>
              </a:p>
              <a:p>
                <a:r>
                  <a:rPr lang="en-US" dirty="0"/>
                  <a:t>Look at a </a:t>
                </a:r>
                <a:r>
                  <a:rPr lang="en-US" dirty="0">
                    <a:solidFill>
                      <a:srgbClr val="FF0000"/>
                    </a:solidFill>
                  </a:rPr>
                  <a:t>residual</a:t>
                </a:r>
                <a:r>
                  <a:rPr lang="en-US" dirty="0"/>
                  <a:t> plot of to visualize the difference between actual and predicted values.</a:t>
                </a:r>
              </a:p>
              <a:p>
                <a:endParaRPr lang="en-US" dirty="0"/>
              </a:p>
              <a:p>
                <a14:m>
                  <m:oMath xmlns:m="http://schemas.openxmlformats.org/officeDocument/2006/math">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𝑋</m:t>
                    </m:r>
                    <m:r>
                      <a:rPr lang="en-US" b="0" i="1" smtClean="0">
                        <a:solidFill>
                          <a:srgbClr val="FF0000"/>
                        </a:solidFill>
                        <a:latin typeface="Cambria Math" panose="02040503050406030204" pitchFamily="18" charset="0"/>
                        <a:ea typeface="Cambria Math" panose="02040503050406030204" pitchFamily="18" charset="0"/>
                      </a:rPr>
                      <m:t>𝛽</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𝜀</m:t>
                    </m:r>
                  </m:oMath>
                </a14:m>
                <a:endParaRPr lang="en-US" dirty="0">
                  <a:solidFill>
                    <a:srgbClr val="FF0000"/>
                  </a:solidFill>
                </a:endParaRPr>
              </a:p>
              <a:p>
                <a14:m>
                  <m:oMath xmlns:m="http://schemas.openxmlformats.org/officeDocument/2006/math">
                    <m:r>
                      <a:rPr lang="en-US" b="0" i="1" smtClean="0">
                        <a:solidFill>
                          <a:srgbClr val="FF0000"/>
                        </a:solidFill>
                        <a:latin typeface="Cambria Math" panose="02040503050406030204" pitchFamily="18" charset="0"/>
                      </a:rPr>
                      <m:t>𝐶𝑜𝑛𝑠𝑢𝑚𝑝𝑡𝑖𝑜𝑛</m:t>
                    </m:r>
                    <m:r>
                      <a:rPr lang="en-US" b="0" i="1" smtClean="0">
                        <a:solidFill>
                          <a:srgbClr val="FF0000"/>
                        </a:solidFill>
                        <a:latin typeface="Cambria Math" panose="02040503050406030204" pitchFamily="18" charset="0"/>
                      </a:rPr>
                      <m:t>= </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𝛽</m:t>
                        </m:r>
                      </m:e>
                      <m:sub>
                        <m:r>
                          <a:rPr lang="en-US" b="0" i="1" smtClean="0">
                            <a:solidFill>
                              <a:srgbClr val="FF0000"/>
                            </a:solidFill>
                            <a:latin typeface="Cambria Math" panose="02040503050406030204" pitchFamily="18" charset="0"/>
                          </a:rPr>
                          <m:t>0</m:t>
                        </m:r>
                      </m:sub>
                    </m:sSub>
                    <m:r>
                      <a:rPr lang="en-US" b="0" i="1" smtClean="0">
                        <a:solidFill>
                          <a:srgbClr val="FF0000"/>
                        </a:solidFill>
                        <a:latin typeface="Cambria Math" panose="02040503050406030204" pitchFamily="18" charset="0"/>
                      </a:rPr>
                      <m:t>+ </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𝛽</m:t>
                        </m:r>
                      </m:e>
                      <m:sub>
                        <m:r>
                          <a:rPr lang="en-US" b="0" i="1"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𝐼𝑛𝑐𝑜𝑚𝑒</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𝜀</m:t>
                    </m:r>
                  </m:oMath>
                </a14:m>
                <a:r>
                  <a:rPr lang="en-US" dirty="0">
                    <a:solidFill>
                      <a:srgbClr val="FF0000"/>
                    </a:solidFill>
                  </a:rPr>
                  <a:t>, </a:t>
                </a:r>
                <a14:m>
                  <m:oMath xmlns:m="http://schemas.openxmlformats.org/officeDocument/2006/math">
                    <m:r>
                      <a:rPr lang="en-US" i="1">
                        <a:solidFill>
                          <a:srgbClr val="FF0000"/>
                        </a:solidFill>
                        <a:latin typeface="Cambria Math" panose="02040503050406030204" pitchFamily="18" charset="0"/>
                        <a:ea typeface="Cambria Math" panose="02040503050406030204" pitchFamily="18" charset="0"/>
                      </a:rPr>
                      <m:t>𝜀</m:t>
                    </m:r>
                    <m:r>
                      <a:rPr lang="en-US" b="0" i="0" smtClean="0">
                        <a:solidFill>
                          <a:srgbClr val="FF0000"/>
                        </a:solidFill>
                        <a:latin typeface="Cambria Math" panose="02040503050406030204" pitchFamily="18" charset="0"/>
                        <a:ea typeface="Cambria Math" panose="02040503050406030204" pitchFamily="18" charset="0"/>
                      </a:rPr>
                      <m:t>~</m:t>
                    </m:r>
                    <m:r>
                      <m:rPr>
                        <m:sty m:val="p"/>
                      </m:rPr>
                      <a:rPr lang="en-US" b="0" i="0" smtClean="0">
                        <a:solidFill>
                          <a:srgbClr val="FF0000"/>
                        </a:solidFill>
                        <a:latin typeface="Cambria Math" panose="02040503050406030204" pitchFamily="18" charset="0"/>
                        <a:ea typeface="Cambria Math" panose="02040503050406030204" pitchFamily="18" charset="0"/>
                      </a:rPr>
                      <m:t>N</m:t>
                    </m:r>
                    <m:r>
                      <a:rPr lang="en-US" b="0" i="0" smtClean="0">
                        <a:solidFill>
                          <a:srgbClr val="FF0000"/>
                        </a:solidFill>
                        <a:latin typeface="Cambria Math" panose="02040503050406030204" pitchFamily="18" charset="0"/>
                        <a:ea typeface="Cambria Math" panose="02040503050406030204" pitchFamily="18" charset="0"/>
                      </a:rPr>
                      <m:t>(</m:t>
                    </m:r>
                    <m:r>
                      <m:rPr>
                        <m:sty m:val="p"/>
                      </m:rPr>
                      <a:rPr lang="el-GR" b="0" i="1" smtClean="0">
                        <a:solidFill>
                          <a:srgbClr val="FF0000"/>
                        </a:solidFill>
                        <a:latin typeface="Cambria Math" panose="02040503050406030204" pitchFamily="18" charset="0"/>
                        <a:ea typeface="Cambria Math" panose="02040503050406030204" pitchFamily="18" charset="0"/>
                      </a:rPr>
                      <m:t>μ</m:t>
                    </m:r>
                    <m:r>
                      <a:rPr lang="en-US" b="0" i="0" smtClean="0">
                        <a:solidFill>
                          <a:srgbClr val="FF0000"/>
                        </a:solidFill>
                        <a:latin typeface="Cambria Math" panose="02040503050406030204" pitchFamily="18" charset="0"/>
                        <a:ea typeface="Cambria Math" panose="02040503050406030204" pitchFamily="18" charset="0"/>
                      </a:rPr>
                      <m:t>, </m:t>
                    </m:r>
                    <m:r>
                      <m:rPr>
                        <m:sty m:val="p"/>
                      </m:rPr>
                      <a:rPr lang="el-GR" b="0" i="1" smtClean="0">
                        <a:solidFill>
                          <a:srgbClr val="FF0000"/>
                        </a:solidFill>
                        <a:latin typeface="Cambria Math" panose="02040503050406030204" pitchFamily="18" charset="0"/>
                        <a:ea typeface="Cambria Math" panose="02040503050406030204" pitchFamily="18" charset="0"/>
                      </a:rPr>
                      <m:t>σ</m:t>
                    </m:r>
                    <m:r>
                      <a:rPr lang="en-US" b="0" i="0" smtClean="0">
                        <a:solidFill>
                          <a:srgbClr val="FF0000"/>
                        </a:solidFill>
                        <a:latin typeface="Cambria Math" panose="02040503050406030204" pitchFamily="18" charset="0"/>
                        <a:ea typeface="Cambria Math" panose="02040503050406030204" pitchFamily="18" charset="0"/>
                      </a:rPr>
                      <m:t>)</m:t>
                    </m:r>
                  </m:oMath>
                </a14:m>
                <a:r>
                  <a:rPr lang="en-US" dirty="0">
                    <a:solidFill>
                      <a:srgbClr val="FF0000"/>
                    </a:solidFill>
                  </a:rPr>
                  <a:t> Simple linear equation.</a:t>
                </a:r>
              </a:p>
              <a:p>
                <a:endParaRPr lang="en-US" dirty="0">
                  <a:solidFill>
                    <a:srgbClr val="FF0000"/>
                  </a:solidFill>
                </a:endParaRPr>
              </a:p>
              <a:p>
                <a14:m>
                  <m:oMath xmlns:m="http://schemas.openxmlformats.org/officeDocument/2006/math">
                    <m:r>
                      <a:rPr lang="en-US" b="0" i="1" smtClean="0">
                        <a:solidFill>
                          <a:srgbClr val="FF0000"/>
                        </a:solidFill>
                        <a:latin typeface="Cambria Math" panose="02040503050406030204" pitchFamily="18" charset="0"/>
                      </a:rPr>
                      <m:t>𝐶𝑜𝑛𝑠𝑢𝑚𝑝𝑡𝑖𝑜𝑛</m:t>
                    </m:r>
                    <m:r>
                      <a:rPr lang="en-US" b="0" i="1" smtClean="0">
                        <a:solidFill>
                          <a:srgbClr val="FF0000"/>
                        </a:solidFill>
                        <a:latin typeface="Cambria Math" panose="02040503050406030204" pitchFamily="18" charset="0"/>
                      </a:rPr>
                      <m:t>= </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𝛽</m:t>
                        </m:r>
                      </m:e>
                      <m:sub>
                        <m:r>
                          <a:rPr lang="en-US" b="0" i="1" smtClean="0">
                            <a:solidFill>
                              <a:srgbClr val="FF0000"/>
                            </a:solidFill>
                            <a:latin typeface="Cambria Math" panose="02040503050406030204" pitchFamily="18" charset="0"/>
                          </a:rPr>
                          <m:t>0</m:t>
                        </m:r>
                      </m:sub>
                    </m:sSub>
                    <m:r>
                      <a:rPr lang="en-US" b="0" i="1" smtClean="0">
                        <a:solidFill>
                          <a:srgbClr val="FF0000"/>
                        </a:solidFill>
                        <a:latin typeface="Cambria Math" panose="02040503050406030204" pitchFamily="18" charset="0"/>
                      </a:rPr>
                      <m:t>+ </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𝛽</m:t>
                        </m:r>
                      </m:e>
                      <m:sub>
                        <m:r>
                          <a:rPr lang="en-US" b="0" i="1"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𝐼𝑛𝑐𝑜𝑚𝑒</m:t>
                    </m:r>
                    <m:r>
                      <a:rPr lang="en-US" b="0" i="1" smtClean="0">
                        <a:solidFill>
                          <a:srgbClr val="FF0000"/>
                        </a:solidFill>
                        <a:latin typeface="Cambria Math" panose="02040503050406030204" pitchFamily="18" charset="0"/>
                      </a:rPr>
                      <m:t>+ </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𝛽</m:t>
                        </m:r>
                      </m:e>
                      <m:sub>
                        <m:r>
                          <a:rPr lang="en-US" b="0" i="1" smtClean="0">
                            <a:solidFill>
                              <a:srgbClr val="FF0000"/>
                            </a:solidFill>
                            <a:latin typeface="Cambria Math" panose="02040503050406030204" pitchFamily="18" charset="0"/>
                          </a:rPr>
                          <m:t>2</m:t>
                        </m:r>
                      </m:sub>
                    </m:sSub>
                    <m:r>
                      <a:rPr lang="en-US" b="0" i="1" smtClean="0">
                        <a:solidFill>
                          <a:srgbClr val="FF0000"/>
                        </a:solidFill>
                        <a:latin typeface="Cambria Math" panose="02040503050406030204" pitchFamily="18" charset="0"/>
                      </a:rPr>
                      <m:t>𝑇𝑎𝑠𝑡𝑒</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𝜀</m:t>
                    </m:r>
                  </m:oMath>
                </a14:m>
                <a:r>
                  <a:rPr lang="en-US" dirty="0">
                    <a:solidFill>
                      <a:srgbClr val="FF0000"/>
                    </a:solidFill>
                  </a:rPr>
                  <a:t> Multiple linear regression</a:t>
                </a:r>
              </a:p>
            </p:txBody>
          </p:sp>
        </mc:Choice>
        <mc:Fallback xmlns="">
          <p:sp>
            <p:nvSpPr>
              <p:cNvPr id="3" name="Content Placeholder 2">
                <a:extLst>
                  <a:ext uri="{FF2B5EF4-FFF2-40B4-BE49-F238E27FC236}">
                    <a16:creationId xmlns:a16="http://schemas.microsoft.com/office/drawing/2014/main" id="{D6316DB6-9AD8-40FC-AA5A-4D48B9AE8E8C}"/>
                  </a:ext>
                </a:extLst>
              </p:cNvPr>
              <p:cNvSpPr>
                <a:spLocks noGrp="1" noRot="1" noChangeAspect="1" noMove="1" noResize="1" noEditPoints="1" noAdjustHandles="1" noChangeArrowheads="1" noChangeShapeType="1" noTextEdit="1"/>
              </p:cNvSpPr>
              <p:nvPr>
                <p:ph idx="1"/>
              </p:nvPr>
            </p:nvSpPr>
            <p:spPr>
              <a:xfrm>
                <a:off x="838200" y="733425"/>
                <a:ext cx="10515600" cy="5443538"/>
              </a:xfrm>
              <a:blipFill>
                <a:blip r:embed="rId2"/>
                <a:stretch>
                  <a:fillRect l="-1043" t="-179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8D3287E-D229-4841-AD62-4CC29A9BE6E0}"/>
              </a:ext>
            </a:extLst>
          </p:cNvPr>
          <p:cNvSpPr>
            <a:spLocks noGrp="1"/>
          </p:cNvSpPr>
          <p:nvPr>
            <p:ph type="sldNum" sz="quarter" idx="12"/>
          </p:nvPr>
        </p:nvSpPr>
        <p:spPr/>
        <p:txBody>
          <a:bodyPr/>
          <a:lstStyle/>
          <a:p>
            <a:fld id="{6B97D948-30E8-43F7-AE10-F6E2D9F2BBB1}" type="slidenum">
              <a:rPr lang="en-US" smtClean="0"/>
              <a:t>618</a:t>
            </a:fld>
            <a:endParaRPr lang="en-US"/>
          </a:p>
        </p:txBody>
      </p:sp>
    </p:spTree>
    <p:extLst>
      <p:ext uri="{BB962C8B-B14F-4D97-AF65-F5344CB8AC3E}">
        <p14:creationId xmlns:p14="http://schemas.microsoft.com/office/powerpoint/2010/main" val="3948105768"/>
      </p:ext>
    </p:extLst>
  </p:cSld>
  <p:clrMapOvr>
    <a:masterClrMapping/>
  </p:clrMapOvr>
</p:sld>
</file>

<file path=ppt/slides/slide6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EE5B2-1E6E-4407-8705-A9A4739A5DC6}"/>
              </a:ext>
            </a:extLst>
          </p:cNvPr>
          <p:cNvSpPr>
            <a:spLocks noGrp="1"/>
          </p:cNvSpPr>
          <p:nvPr>
            <p:ph type="title"/>
          </p:nvPr>
        </p:nvSpPr>
        <p:spPr>
          <a:xfrm>
            <a:off x="838200" y="365125"/>
            <a:ext cx="10515600" cy="630555"/>
          </a:xfrm>
        </p:spPr>
        <p:txBody>
          <a:bodyPr>
            <a:normAutofit fontScale="90000"/>
          </a:bodyPr>
          <a:lstStyle/>
          <a:p>
            <a:r>
              <a:rPr lang="en-US" b="1" dirty="0"/>
              <a:t>Ordinary Least Squares</a:t>
            </a:r>
            <a:endParaRPr lang="en-US" dirty="0"/>
          </a:p>
        </p:txBody>
      </p:sp>
      <p:sp>
        <p:nvSpPr>
          <p:cNvPr id="3" name="Content Placeholder 2">
            <a:extLst>
              <a:ext uri="{FF2B5EF4-FFF2-40B4-BE49-F238E27FC236}">
                <a16:creationId xmlns:a16="http://schemas.microsoft.com/office/drawing/2014/main" id="{4A32B82C-2305-423E-A5FD-6742732ED506}"/>
              </a:ext>
            </a:extLst>
          </p:cNvPr>
          <p:cNvSpPr>
            <a:spLocks noGrp="1"/>
          </p:cNvSpPr>
          <p:nvPr>
            <p:ph idx="1"/>
          </p:nvPr>
        </p:nvSpPr>
        <p:spPr>
          <a:xfrm>
            <a:off x="838200" y="995680"/>
            <a:ext cx="10515600" cy="5181283"/>
          </a:xfrm>
        </p:spPr>
        <p:txBody>
          <a:bodyPr/>
          <a:lstStyle/>
          <a:p>
            <a:pPr algn="just"/>
            <a:r>
              <a:rPr lang="en-US" dirty="0"/>
              <a:t>As data scientists, we usually have access to datasets containing many features. </a:t>
            </a:r>
          </a:p>
          <a:p>
            <a:pPr algn="just"/>
            <a:r>
              <a:rPr lang="en-US" dirty="0"/>
              <a:t>To make the best models we can, it will be beneficial to consider all of the variables available to us as inputs to a model, rather than just one. </a:t>
            </a:r>
          </a:p>
          <a:p>
            <a:pPr algn="just"/>
            <a:r>
              <a:rPr lang="en-US" dirty="0"/>
              <a:t>This lecture, back by the principle introduced in modeling will look at  multiple Linear regression.</a:t>
            </a:r>
          </a:p>
          <a:p>
            <a:pPr algn="just"/>
            <a:r>
              <a:rPr lang="en-US" dirty="0"/>
              <a:t>We will also learn how to accelerate the modeling process – specifically, we’ll see how linear algebra offers us a powerful set of tools for understanding model performance.</a:t>
            </a:r>
          </a:p>
        </p:txBody>
      </p:sp>
      <p:sp>
        <p:nvSpPr>
          <p:cNvPr id="5" name="Slide Number Placeholder 4">
            <a:extLst>
              <a:ext uri="{FF2B5EF4-FFF2-40B4-BE49-F238E27FC236}">
                <a16:creationId xmlns:a16="http://schemas.microsoft.com/office/drawing/2014/main" id="{FF93D65C-4713-4178-8E85-168D45AD2859}"/>
              </a:ext>
            </a:extLst>
          </p:cNvPr>
          <p:cNvSpPr>
            <a:spLocks noGrp="1"/>
          </p:cNvSpPr>
          <p:nvPr>
            <p:ph type="sldNum" sz="quarter" idx="12"/>
          </p:nvPr>
        </p:nvSpPr>
        <p:spPr/>
        <p:txBody>
          <a:bodyPr/>
          <a:lstStyle/>
          <a:p>
            <a:fld id="{6B97D948-30E8-43F7-AE10-F6E2D9F2BBB1}" type="slidenum">
              <a:rPr lang="en-US" smtClean="0"/>
              <a:t>619</a:t>
            </a:fld>
            <a:endParaRPr lang="en-US"/>
          </a:p>
        </p:txBody>
      </p:sp>
    </p:spTree>
    <p:extLst>
      <p:ext uri="{BB962C8B-B14F-4D97-AF65-F5344CB8AC3E}">
        <p14:creationId xmlns:p14="http://schemas.microsoft.com/office/powerpoint/2010/main" val="1836303052"/>
      </p:ext>
    </p:extLst>
  </p:cSld>
  <p:clrMapOvr>
    <a:masterClrMapping/>
  </p:clrMapOvr>
</p:sld>
</file>

<file path=ppt/slides/slide6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73771A5-AC93-48AA-A229-22A6A7E4BF43}"/>
              </a:ext>
            </a:extLst>
          </p:cNvPr>
          <p:cNvPicPr>
            <a:picLocks noGrp="1" noChangeAspect="1"/>
          </p:cNvPicPr>
          <p:nvPr>
            <p:ph idx="1"/>
          </p:nvPr>
        </p:nvPicPr>
        <p:blipFill>
          <a:blip r:embed="rId2"/>
          <a:stretch>
            <a:fillRect/>
          </a:stretch>
        </p:blipFill>
        <p:spPr>
          <a:xfrm>
            <a:off x="1924050" y="537184"/>
            <a:ext cx="8343900" cy="5603202"/>
          </a:xfrm>
          <a:prstGeom prst="rect">
            <a:avLst/>
          </a:prstGeom>
        </p:spPr>
      </p:pic>
      <p:sp>
        <p:nvSpPr>
          <p:cNvPr id="6" name="Slide Number Placeholder 5">
            <a:extLst>
              <a:ext uri="{FF2B5EF4-FFF2-40B4-BE49-F238E27FC236}">
                <a16:creationId xmlns:a16="http://schemas.microsoft.com/office/drawing/2014/main" id="{C6675503-9E50-45DF-9B5E-25DF75EBF3C0}"/>
              </a:ext>
            </a:extLst>
          </p:cNvPr>
          <p:cNvSpPr>
            <a:spLocks noGrp="1"/>
          </p:cNvSpPr>
          <p:nvPr>
            <p:ph type="sldNum" sz="quarter" idx="12"/>
          </p:nvPr>
        </p:nvSpPr>
        <p:spPr/>
        <p:txBody>
          <a:bodyPr/>
          <a:lstStyle/>
          <a:p>
            <a:fld id="{6B97D948-30E8-43F7-AE10-F6E2D9F2BBB1}" type="slidenum">
              <a:rPr lang="en-US" smtClean="0"/>
              <a:t>620</a:t>
            </a:fld>
            <a:endParaRPr lang="en-US"/>
          </a:p>
        </p:txBody>
      </p:sp>
    </p:spTree>
    <p:extLst>
      <p:ext uri="{BB962C8B-B14F-4D97-AF65-F5344CB8AC3E}">
        <p14:creationId xmlns:p14="http://schemas.microsoft.com/office/powerpoint/2010/main" val="1514304618"/>
      </p:ext>
    </p:extLst>
  </p:cSld>
  <p:clrMapOvr>
    <a:masterClrMapping/>
  </p:clrMapOvr>
</p:sld>
</file>

<file path=ppt/slides/slide6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EAF1F11-6810-410A-A76A-17654E526E40}"/>
              </a:ext>
            </a:extLst>
          </p:cNvPr>
          <p:cNvPicPr>
            <a:picLocks noGrp="1" noChangeAspect="1"/>
          </p:cNvPicPr>
          <p:nvPr>
            <p:ph idx="1"/>
          </p:nvPr>
        </p:nvPicPr>
        <p:blipFill>
          <a:blip r:embed="rId2"/>
          <a:stretch>
            <a:fillRect/>
          </a:stretch>
        </p:blipFill>
        <p:spPr>
          <a:xfrm>
            <a:off x="3028950" y="1209108"/>
            <a:ext cx="6029325" cy="4306661"/>
          </a:xfrm>
          <a:prstGeom prst="rect">
            <a:avLst/>
          </a:prstGeom>
        </p:spPr>
      </p:pic>
      <p:sp>
        <p:nvSpPr>
          <p:cNvPr id="6" name="Slide Number Placeholder 5">
            <a:extLst>
              <a:ext uri="{FF2B5EF4-FFF2-40B4-BE49-F238E27FC236}">
                <a16:creationId xmlns:a16="http://schemas.microsoft.com/office/drawing/2014/main" id="{8C31F3E9-7F16-491C-A5D9-61297549C40C}"/>
              </a:ext>
            </a:extLst>
          </p:cNvPr>
          <p:cNvSpPr>
            <a:spLocks noGrp="1"/>
          </p:cNvSpPr>
          <p:nvPr>
            <p:ph type="sldNum" sz="quarter" idx="12"/>
          </p:nvPr>
        </p:nvSpPr>
        <p:spPr/>
        <p:txBody>
          <a:bodyPr/>
          <a:lstStyle/>
          <a:p>
            <a:fld id="{6B97D948-30E8-43F7-AE10-F6E2D9F2BBB1}" type="slidenum">
              <a:rPr lang="en-US" smtClean="0"/>
              <a:t>621</a:t>
            </a:fld>
            <a:endParaRPr lang="en-US"/>
          </a:p>
        </p:txBody>
      </p:sp>
    </p:spTree>
    <p:extLst>
      <p:ext uri="{BB962C8B-B14F-4D97-AF65-F5344CB8AC3E}">
        <p14:creationId xmlns:p14="http://schemas.microsoft.com/office/powerpoint/2010/main" val="586122239"/>
      </p:ext>
    </p:extLst>
  </p:cSld>
  <p:clrMapOvr>
    <a:masterClrMapping/>
  </p:clrMapOvr>
</p:sld>
</file>

<file path=ppt/slides/slide6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E3573FA-AE61-47FB-BCE8-FAC860DE37B5}"/>
              </a:ext>
            </a:extLst>
          </p:cNvPr>
          <p:cNvPicPr>
            <a:picLocks noGrp="1" noChangeAspect="1"/>
          </p:cNvPicPr>
          <p:nvPr>
            <p:ph idx="1"/>
          </p:nvPr>
        </p:nvPicPr>
        <p:blipFill>
          <a:blip r:embed="rId2"/>
          <a:stretch>
            <a:fillRect/>
          </a:stretch>
        </p:blipFill>
        <p:spPr>
          <a:xfrm>
            <a:off x="3121819" y="454819"/>
            <a:ext cx="5948362" cy="5948362"/>
          </a:xfrm>
          <a:prstGeom prst="rect">
            <a:avLst/>
          </a:prstGeom>
        </p:spPr>
      </p:pic>
      <p:sp>
        <p:nvSpPr>
          <p:cNvPr id="6" name="Slide Number Placeholder 5">
            <a:extLst>
              <a:ext uri="{FF2B5EF4-FFF2-40B4-BE49-F238E27FC236}">
                <a16:creationId xmlns:a16="http://schemas.microsoft.com/office/drawing/2014/main" id="{1E20095A-6775-459A-81BB-5BF6449CC195}"/>
              </a:ext>
            </a:extLst>
          </p:cNvPr>
          <p:cNvSpPr>
            <a:spLocks noGrp="1"/>
          </p:cNvSpPr>
          <p:nvPr>
            <p:ph type="sldNum" sz="quarter" idx="12"/>
          </p:nvPr>
        </p:nvSpPr>
        <p:spPr/>
        <p:txBody>
          <a:bodyPr/>
          <a:lstStyle/>
          <a:p>
            <a:fld id="{6B97D948-30E8-43F7-AE10-F6E2D9F2BBB1}" type="slidenum">
              <a:rPr lang="en-US" smtClean="0"/>
              <a:t>622</a:t>
            </a:fld>
            <a:endParaRPr lang="en-US"/>
          </a:p>
        </p:txBody>
      </p:sp>
    </p:spTree>
    <p:extLst>
      <p:ext uri="{BB962C8B-B14F-4D97-AF65-F5344CB8AC3E}">
        <p14:creationId xmlns:p14="http://schemas.microsoft.com/office/powerpoint/2010/main" val="2002657104"/>
      </p:ext>
    </p:extLst>
  </p:cSld>
  <p:clrMapOvr>
    <a:masterClrMapping/>
  </p:clrMapOvr>
</p:sld>
</file>

<file path=ppt/slides/slide6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3752-EC72-469A-B7AD-45A7FD3E186C}"/>
              </a:ext>
            </a:extLst>
          </p:cNvPr>
          <p:cNvSpPr>
            <a:spLocks noGrp="1"/>
          </p:cNvSpPr>
          <p:nvPr>
            <p:ph type="title"/>
          </p:nvPr>
        </p:nvSpPr>
        <p:spPr>
          <a:xfrm>
            <a:off x="838200" y="365125"/>
            <a:ext cx="10515600" cy="498475"/>
          </a:xfrm>
        </p:spPr>
        <p:txBody>
          <a:bodyPr>
            <a:normAutofit fontScale="90000"/>
          </a:bodyPr>
          <a:lstStyle/>
          <a:p>
            <a:r>
              <a:rPr lang="en-US" dirty="0"/>
              <a:t>Linearity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01747F-CFCB-4ED2-BB3D-88595D53A28C}"/>
                  </a:ext>
                </a:extLst>
              </p:cNvPr>
              <p:cNvSpPr>
                <a:spLocks noGrp="1"/>
              </p:cNvSpPr>
              <p:nvPr>
                <p:ph idx="1"/>
              </p:nvPr>
            </p:nvSpPr>
            <p:spPr>
              <a:xfrm>
                <a:off x="838200" y="934720"/>
                <a:ext cx="10515600" cy="5242243"/>
              </a:xfrm>
            </p:spPr>
            <p:txBody>
              <a:bodyPr/>
              <a:lstStyle/>
              <a:p>
                <a:pPr algn="just"/>
                <a:r>
                  <a:rPr lang="en-US" dirty="0"/>
                  <a:t>An expression is linear in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(a set of parameters) if it is a linear combination of the elements of the set. </a:t>
                </a:r>
              </a:p>
              <a:p>
                <a:pPr algn="just"/>
                <a:r>
                  <a:rPr lang="en-US" dirty="0"/>
                  <a:t>Checking if an expression can separate into a matrix product of two terms: a vector of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dirty="0"/>
                  <a:t>s, and a matrix/vector not involving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dirty="0"/>
                  <a:t>.</a:t>
                </a:r>
              </a:p>
              <a:p>
                <a:pPr algn="just"/>
                <a:r>
                  <a:rPr lang="en-US" dirty="0"/>
                  <a:t>Example: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2</m:t>
                        </m:r>
                      </m:sub>
                    </m:sSub>
                    <m:r>
                      <a:rPr lang="en-US" b="0" i="1" smtClean="0">
                        <a:latin typeface="Cambria Math" panose="02040503050406030204" pitchFamily="18" charset="0"/>
                      </a:rPr>
                      <m:t>, . . . ,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𝑛</m:t>
                        </m:r>
                      </m:sub>
                    </m:sSub>
                  </m:oMath>
                </a14:m>
                <a:r>
                  <a:rPr lang="en-US" dirty="0"/>
                  <a:t>]</a:t>
                </a:r>
              </a:p>
              <a:p>
                <a:pPr algn="just"/>
                <a:r>
                  <a:rPr lang="en-US" dirty="0"/>
                  <a:t>1. Linear in theta: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0</m:t>
                        </m:r>
                      </m:sub>
                    </m:sSub>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r>
                      <a:rPr lang="en-US" b="0" i="1" smtClean="0">
                        <a:latin typeface="Cambria Math" panose="02040503050406030204" pitchFamily="18" charset="0"/>
                      </a:rPr>
                      <m:t>+3</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2</m:t>
                        </m:r>
                      </m:sub>
                    </m:sSub>
                  </m:oMath>
                </a14:m>
                <a:endParaRPr lang="en-US" dirty="0"/>
              </a:p>
              <a:p>
                <a:pPr algn="just"/>
                <a:r>
                  <a:rPr lang="en-US" dirty="0"/>
                  <a:t>We transform into matrix for as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1 2 3]</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0</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2</m:t>
                                  </m:r>
                                </m:sub>
                              </m:sSub>
                            </m:e>
                          </m:mr>
                        </m:m>
                      </m:e>
                    </m:d>
                  </m:oMath>
                </a14:m>
                <a:endParaRPr lang="en-US" dirty="0"/>
              </a:p>
              <a:p>
                <a:pPr algn="just"/>
                <a:r>
                  <a:rPr lang="en-US" dirty="0"/>
                  <a:t>Non-linear in theta: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+3</m:t>
                    </m:r>
                    <m:r>
                      <m:rPr>
                        <m:sty m:val="p"/>
                      </m:rPr>
                      <a:rPr lang="en-US" b="0" i="0" smtClean="0">
                        <a:latin typeface="Cambria Math" panose="02040503050406030204" pitchFamily="18" charset="0"/>
                      </a:rPr>
                      <m:t>log</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D401747F-CFCB-4ED2-BB3D-88595D53A28C}"/>
                  </a:ext>
                </a:extLst>
              </p:cNvPr>
              <p:cNvSpPr>
                <a:spLocks noGrp="1" noRot="1" noChangeAspect="1" noMove="1" noResize="1" noEditPoints="1" noAdjustHandles="1" noChangeArrowheads="1" noChangeShapeType="1" noTextEdit="1"/>
              </p:cNvSpPr>
              <p:nvPr>
                <p:ph idx="1"/>
              </p:nvPr>
            </p:nvSpPr>
            <p:spPr>
              <a:xfrm>
                <a:off x="838200" y="934720"/>
                <a:ext cx="10515600" cy="5242243"/>
              </a:xfrm>
              <a:blipFill>
                <a:blip r:embed="rId2"/>
                <a:stretch>
                  <a:fillRect l="-1043" t="-1860"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7F8B198E-D72E-42C5-9A7D-A08A7615E25A}"/>
              </a:ext>
            </a:extLst>
          </p:cNvPr>
          <p:cNvSpPr>
            <a:spLocks noGrp="1"/>
          </p:cNvSpPr>
          <p:nvPr>
            <p:ph type="sldNum" sz="quarter" idx="12"/>
          </p:nvPr>
        </p:nvSpPr>
        <p:spPr/>
        <p:txBody>
          <a:bodyPr/>
          <a:lstStyle/>
          <a:p>
            <a:fld id="{6B97D948-30E8-43F7-AE10-F6E2D9F2BBB1}" type="slidenum">
              <a:rPr lang="en-US" smtClean="0"/>
              <a:t>623</a:t>
            </a:fld>
            <a:endParaRPr lang="en-US"/>
          </a:p>
        </p:txBody>
      </p:sp>
    </p:spTree>
    <p:extLst>
      <p:ext uri="{BB962C8B-B14F-4D97-AF65-F5344CB8AC3E}">
        <p14:creationId xmlns:p14="http://schemas.microsoft.com/office/powerpoint/2010/main" val="3712231951"/>
      </p:ext>
    </p:extLst>
  </p:cSld>
  <p:clrMapOvr>
    <a:masterClrMapping/>
  </p:clrMapOvr>
</p:sld>
</file>

<file path=ppt/slides/slide6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0E7CE-E087-4923-ADF3-518A1DC9545E}"/>
              </a:ext>
            </a:extLst>
          </p:cNvPr>
          <p:cNvSpPr>
            <a:spLocks noGrp="1"/>
          </p:cNvSpPr>
          <p:nvPr>
            <p:ph type="title"/>
          </p:nvPr>
        </p:nvSpPr>
        <p:spPr>
          <a:xfrm>
            <a:off x="838200" y="365125"/>
            <a:ext cx="10515600" cy="732155"/>
          </a:xfrm>
        </p:spPr>
        <p:txBody>
          <a:bodyPr/>
          <a:lstStyle/>
          <a:p>
            <a:r>
              <a:rPr lang="en-US" dirty="0"/>
              <a:t>Multiple Linear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F2973A-5731-47EA-A596-BA5DB8657064}"/>
                  </a:ext>
                </a:extLst>
              </p:cNvPr>
              <p:cNvSpPr>
                <a:spLocks noGrp="1"/>
              </p:cNvSpPr>
              <p:nvPr>
                <p:ph idx="1"/>
              </p:nvPr>
            </p:nvSpPr>
            <p:spPr>
              <a:xfrm>
                <a:off x="838200" y="1097280"/>
                <a:ext cx="10515600" cy="5079683"/>
              </a:xfrm>
            </p:spPr>
            <p:txBody>
              <a:bodyPr>
                <a:normAutofit fontScale="92500" lnSpcReduction="20000"/>
              </a:bodyPr>
              <a:lstStyle/>
              <a:p>
                <a:pPr algn="just"/>
                <a:r>
                  <a:rPr lang="en-US" dirty="0"/>
                  <a:t>Multiple Linear regression is an extension of simple linear regression that adds additional features into the model. </a:t>
                </a:r>
              </a:p>
              <a:p>
                <a:pPr algn="just"/>
                <a:endParaRPr lang="en-US" dirty="0"/>
              </a:p>
              <a:p>
                <a:pPr algn="just"/>
                <a:r>
                  <a:rPr lang="en-US" dirty="0"/>
                  <a:t>For example, we may record the age, height, and weekly hours of sleep for a student in Data Science course. </a:t>
                </a:r>
              </a:p>
              <a:p>
                <a:pPr algn="just"/>
                <a:endParaRPr lang="en-US" dirty="0"/>
              </a:p>
              <a:p>
                <a:pPr algn="just"/>
                <a:r>
                  <a:rPr lang="en-US" dirty="0"/>
                  <a:t>This single observation now contains data for multiple features. </a:t>
                </a:r>
              </a:p>
              <a:p>
                <a:pPr algn="just"/>
                <a:endParaRPr lang="en-US" dirty="0"/>
              </a:p>
              <a:p>
                <a:pPr algn="just"/>
                <a:r>
                  <a:rPr lang="en-US" dirty="0"/>
                  <a:t>To accommodate for the fact that we now consider several feature variables, we’ll adjust our notation slightly. </a:t>
                </a:r>
              </a:p>
              <a:p>
                <a:pPr algn="just"/>
                <a:endParaRPr lang="en-US" dirty="0"/>
              </a:p>
              <a:p>
                <a:pPr algn="just"/>
                <a:r>
                  <a:rPr lang="en-US" dirty="0"/>
                  <a:t>Each observation can now be thought of as a row vector with an entry for each of </a:t>
                </a:r>
                <a14:m>
                  <m:oMath xmlns:m="http://schemas.openxmlformats.org/officeDocument/2006/math">
                    <m:r>
                      <a:rPr lang="en-US" b="0" i="1" smtClean="0">
                        <a:latin typeface="Cambria Math" panose="02040503050406030204" pitchFamily="18" charset="0"/>
                      </a:rPr>
                      <m:t>𝑝</m:t>
                    </m:r>
                  </m:oMath>
                </a14:m>
                <a:r>
                  <a:rPr lang="en-US" dirty="0"/>
                  <a:t> features.</a:t>
                </a:r>
              </a:p>
            </p:txBody>
          </p:sp>
        </mc:Choice>
        <mc:Fallback xmlns="">
          <p:sp>
            <p:nvSpPr>
              <p:cNvPr id="3" name="Content Placeholder 2">
                <a:extLst>
                  <a:ext uri="{FF2B5EF4-FFF2-40B4-BE49-F238E27FC236}">
                    <a16:creationId xmlns:a16="http://schemas.microsoft.com/office/drawing/2014/main" id="{0BF2973A-5731-47EA-A596-BA5DB8657064}"/>
                  </a:ext>
                </a:extLst>
              </p:cNvPr>
              <p:cNvSpPr>
                <a:spLocks noGrp="1" noRot="1" noChangeAspect="1" noMove="1" noResize="1" noEditPoints="1" noAdjustHandles="1" noChangeArrowheads="1" noChangeShapeType="1" noTextEdit="1"/>
              </p:cNvSpPr>
              <p:nvPr>
                <p:ph idx="1"/>
              </p:nvPr>
            </p:nvSpPr>
            <p:spPr>
              <a:xfrm>
                <a:off x="838200" y="1097280"/>
                <a:ext cx="10515600" cy="5079683"/>
              </a:xfrm>
              <a:blipFill>
                <a:blip r:embed="rId2"/>
                <a:stretch>
                  <a:fillRect l="-928" t="-3001" r="-98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B062FD5C-F351-4438-AD25-28958895F765}"/>
              </a:ext>
            </a:extLst>
          </p:cNvPr>
          <p:cNvSpPr>
            <a:spLocks noGrp="1"/>
          </p:cNvSpPr>
          <p:nvPr>
            <p:ph type="sldNum" sz="quarter" idx="12"/>
          </p:nvPr>
        </p:nvSpPr>
        <p:spPr/>
        <p:txBody>
          <a:bodyPr/>
          <a:lstStyle/>
          <a:p>
            <a:fld id="{6B97D948-30E8-43F7-AE10-F6E2D9F2BBB1}" type="slidenum">
              <a:rPr lang="en-US" smtClean="0"/>
              <a:t>624</a:t>
            </a:fld>
            <a:endParaRPr lang="en-US"/>
          </a:p>
        </p:txBody>
      </p:sp>
    </p:spTree>
    <p:extLst>
      <p:ext uri="{BB962C8B-B14F-4D97-AF65-F5344CB8AC3E}">
        <p14:creationId xmlns:p14="http://schemas.microsoft.com/office/powerpoint/2010/main" val="3114966803"/>
      </p:ext>
    </p:extLst>
  </p:cSld>
  <p:clrMapOvr>
    <a:masterClrMapping/>
  </p:clrMapOvr>
</p:sld>
</file>

<file path=ppt/slides/slide6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E094B5-3DAA-4BDD-B84E-27932F39CD61}"/>
                  </a:ext>
                </a:extLst>
              </p:cNvPr>
              <p:cNvSpPr>
                <a:spLocks noGrp="1"/>
              </p:cNvSpPr>
              <p:nvPr>
                <p:ph idx="1"/>
              </p:nvPr>
            </p:nvSpPr>
            <p:spPr>
              <a:xfrm>
                <a:off x="838200" y="2545079"/>
                <a:ext cx="10515600" cy="3631883"/>
              </a:xfrm>
            </p:spPr>
            <p:txBody>
              <a:bodyPr/>
              <a:lstStyle/>
              <a:p>
                <a:r>
                  <a:rPr lang="en-US" dirty="0"/>
                  <a:t>The multiple Linear regression model takes the form:</a:t>
                </a:r>
              </a:p>
              <a:p>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2</m:t>
                        </m:r>
                      </m:sub>
                    </m:sSub>
                    <m:r>
                      <a:rPr lang="en-US" b="0" i="1" smtClean="0">
                        <a:latin typeface="Cambria Math" panose="02040503050406030204" pitchFamily="18" charset="0"/>
                      </a:rPr>
                      <m:t>+. . .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𝑝</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𝑖𝑝</m:t>
                        </m:r>
                      </m:sub>
                    </m:sSub>
                  </m:oMath>
                </a14:m>
                <a:endParaRPr lang="en-US" dirty="0"/>
              </a:p>
              <a:p>
                <a:r>
                  <a:rPr lang="en-US" dirty="0"/>
                  <a:t>Our </a:t>
                </a:r>
                <a:r>
                  <a:rPr lang="en-US" dirty="0" err="1"/>
                  <a:t>th</a:t>
                </a:r>
                <a:r>
                  <a:rPr lang="en-US" dirty="0"/>
                  <a:t> prediction,</a:t>
                </a:r>
              </a:p>
              <a:p>
                <a:pPr algn="just"/>
                <a:r>
                  <a:rPr lang="en-US" dirty="0"/>
                  <a:t>The </a:t>
                </a:r>
                <a14:m>
                  <m:oMath xmlns:m="http://schemas.openxmlformats.org/officeDocument/2006/math">
                    <m:r>
                      <a:rPr lang="en-US" b="0" i="1" smtClean="0">
                        <a:latin typeface="Cambria Math" panose="02040503050406030204" pitchFamily="18" charset="0"/>
                      </a:rPr>
                      <m:t>𝑖</m:t>
                    </m:r>
                  </m:oMath>
                </a14:m>
                <a:r>
                  <a:rPr lang="en-US" dirty="0" err="1"/>
                  <a:t>th</a:t>
                </a:r>
                <a:r>
                  <a:rPr lang="en-US" dirty="0"/>
                  <a:t> prediction,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oMath>
                </a14:m>
                <a:r>
                  <a:rPr lang="en-US" dirty="0"/>
                  <a:t>, is a linear combination of the parameters,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𝑖</m:t>
                        </m:r>
                      </m:sub>
                    </m:sSub>
                  </m:oMath>
                </a14:m>
                <a:r>
                  <a:rPr lang="en-US" dirty="0"/>
                  <a:t>. </a:t>
                </a:r>
              </a:p>
            </p:txBody>
          </p:sp>
        </mc:Choice>
        <mc:Fallback xmlns="">
          <p:sp>
            <p:nvSpPr>
              <p:cNvPr id="3" name="Content Placeholder 2">
                <a:extLst>
                  <a:ext uri="{FF2B5EF4-FFF2-40B4-BE49-F238E27FC236}">
                    <a16:creationId xmlns:a16="http://schemas.microsoft.com/office/drawing/2014/main" id="{E2E094B5-3DAA-4BDD-B84E-27932F39CD61}"/>
                  </a:ext>
                </a:extLst>
              </p:cNvPr>
              <p:cNvSpPr>
                <a:spLocks noGrp="1" noRot="1" noChangeAspect="1" noMove="1" noResize="1" noEditPoints="1" noAdjustHandles="1" noChangeArrowheads="1" noChangeShapeType="1" noTextEdit="1"/>
              </p:cNvSpPr>
              <p:nvPr>
                <p:ph idx="1"/>
              </p:nvPr>
            </p:nvSpPr>
            <p:spPr>
              <a:xfrm>
                <a:off x="838200" y="2545079"/>
                <a:ext cx="10515600" cy="3631883"/>
              </a:xfrm>
              <a:blipFill>
                <a:blip r:embed="rId2"/>
                <a:stretch>
                  <a:fillRect l="-1043" t="-268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2BCDA1A-FA05-4E90-8485-A6A52F8F7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618" y="472439"/>
            <a:ext cx="11294529" cy="1562141"/>
          </a:xfrm>
          <a:prstGeom prst="rect">
            <a:avLst/>
          </a:prstGeom>
        </p:spPr>
      </p:pic>
      <p:sp>
        <p:nvSpPr>
          <p:cNvPr id="7" name="Slide Number Placeholder 6">
            <a:extLst>
              <a:ext uri="{FF2B5EF4-FFF2-40B4-BE49-F238E27FC236}">
                <a16:creationId xmlns:a16="http://schemas.microsoft.com/office/drawing/2014/main" id="{0F0D4A88-0286-4042-A35B-3603A208BE6A}"/>
              </a:ext>
            </a:extLst>
          </p:cNvPr>
          <p:cNvSpPr>
            <a:spLocks noGrp="1"/>
          </p:cNvSpPr>
          <p:nvPr>
            <p:ph type="sldNum" sz="quarter" idx="12"/>
          </p:nvPr>
        </p:nvSpPr>
        <p:spPr/>
        <p:txBody>
          <a:bodyPr/>
          <a:lstStyle/>
          <a:p>
            <a:fld id="{6B97D948-30E8-43F7-AE10-F6E2D9F2BBB1}" type="slidenum">
              <a:rPr lang="en-US" smtClean="0"/>
              <a:t>625</a:t>
            </a:fld>
            <a:endParaRPr lang="en-US"/>
          </a:p>
        </p:txBody>
      </p:sp>
    </p:spTree>
    <p:extLst>
      <p:ext uri="{BB962C8B-B14F-4D97-AF65-F5344CB8AC3E}">
        <p14:creationId xmlns:p14="http://schemas.microsoft.com/office/powerpoint/2010/main" val="101420275"/>
      </p:ext>
    </p:extLst>
  </p:cSld>
  <p:clrMapOvr>
    <a:masterClrMapping/>
  </p:clrMapOvr>
</p:sld>
</file>

<file path=ppt/slides/slide6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3D3056-DAEA-4DAD-A56F-7CC993C0CA6C}"/>
                  </a:ext>
                </a:extLst>
              </p:cNvPr>
              <p:cNvSpPr>
                <a:spLocks noGrp="1"/>
              </p:cNvSpPr>
              <p:nvPr>
                <p:ph idx="1"/>
              </p:nvPr>
            </p:nvSpPr>
            <p:spPr>
              <a:xfrm>
                <a:off x="838200" y="716280"/>
                <a:ext cx="10515600" cy="5460683"/>
              </a:xfrm>
            </p:spPr>
            <p:txBody>
              <a:bodyPr/>
              <a:lstStyle/>
              <a:p>
                <a:pPr algn="just"/>
                <a:r>
                  <a:rPr lang="en-US" dirty="0"/>
                  <a:t>Because we are now dealing with many parameter values, we’ll collect them all into a </a:t>
                </a:r>
                <a:r>
                  <a:rPr lang="en-US" dirty="0">
                    <a:solidFill>
                      <a:srgbClr val="FF0000"/>
                    </a:solidFill>
                  </a:rPr>
                  <a:t>parameter vector</a:t>
                </a:r>
                <a:r>
                  <a:rPr lang="en-US" dirty="0"/>
                  <a:t> with dimensions (p + 1) x 1 to keep things tidy.</a:t>
                </a:r>
              </a:p>
              <a:p>
                <a:pPr algn="just"/>
                <a:endParaRPr lang="en-US" dirty="0"/>
              </a:p>
              <a:p>
                <a:pPr algn="just"/>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0</m:t>
                                  </m:r>
                                </m:sub>
                              </m:sSub>
                            </m:e>
                          </m:mr>
                          <m:m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1</m:t>
                                  </m:r>
                                </m:sub>
                              </m:sSub>
                            </m:e>
                          </m:mr>
                          <m:m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𝑝</m:t>
                                      </m:r>
                                    </m:sub>
                                  </m:sSub>
                                </m:e>
                              </m:eqArr>
                            </m:e>
                          </m:mr>
                        </m:m>
                      </m:e>
                    </m:d>
                  </m:oMath>
                </a14:m>
                <a:endParaRPr lang="en-US" dirty="0"/>
              </a:p>
              <a:p>
                <a:pPr algn="just"/>
                <a:endParaRPr lang="en-US" dirty="0"/>
              </a:p>
              <a:p>
                <a:endParaRPr lang="en-US" dirty="0"/>
              </a:p>
            </p:txBody>
          </p:sp>
        </mc:Choice>
        <mc:Fallback xmlns="">
          <p:sp>
            <p:nvSpPr>
              <p:cNvPr id="3" name="Content Placeholder 2">
                <a:extLst>
                  <a:ext uri="{FF2B5EF4-FFF2-40B4-BE49-F238E27FC236}">
                    <a16:creationId xmlns:a16="http://schemas.microsoft.com/office/drawing/2014/main" id="{BB3D3056-DAEA-4DAD-A56F-7CC993C0CA6C}"/>
                  </a:ext>
                </a:extLst>
              </p:cNvPr>
              <p:cNvSpPr>
                <a:spLocks noGrp="1" noRot="1" noChangeAspect="1" noMove="1" noResize="1" noEditPoints="1" noAdjustHandles="1" noChangeArrowheads="1" noChangeShapeType="1" noTextEdit="1"/>
              </p:cNvSpPr>
              <p:nvPr>
                <p:ph idx="1"/>
              </p:nvPr>
            </p:nvSpPr>
            <p:spPr>
              <a:xfrm>
                <a:off x="838200" y="716280"/>
                <a:ext cx="10515600" cy="5460683"/>
              </a:xfrm>
              <a:blipFill>
                <a:blip r:embed="rId2"/>
                <a:stretch>
                  <a:fillRect l="-1043" t="-1899"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300365FA-9DD0-4FE1-8C34-D0E551D6D5D1}"/>
              </a:ext>
            </a:extLst>
          </p:cNvPr>
          <p:cNvSpPr>
            <a:spLocks noGrp="1"/>
          </p:cNvSpPr>
          <p:nvPr>
            <p:ph type="sldNum" sz="quarter" idx="12"/>
          </p:nvPr>
        </p:nvSpPr>
        <p:spPr/>
        <p:txBody>
          <a:bodyPr/>
          <a:lstStyle/>
          <a:p>
            <a:fld id="{6B97D948-30E8-43F7-AE10-F6E2D9F2BBB1}" type="slidenum">
              <a:rPr lang="en-US" smtClean="0"/>
              <a:t>626</a:t>
            </a:fld>
            <a:endParaRPr lang="en-US"/>
          </a:p>
        </p:txBody>
      </p:sp>
    </p:spTree>
    <p:extLst>
      <p:ext uri="{BB962C8B-B14F-4D97-AF65-F5344CB8AC3E}">
        <p14:creationId xmlns:p14="http://schemas.microsoft.com/office/powerpoint/2010/main" val="1502521148"/>
      </p:ext>
    </p:extLst>
  </p:cSld>
  <p:clrMapOvr>
    <a:masterClrMapping/>
  </p:clrMapOvr>
</p:sld>
</file>

<file path=ppt/slides/slide6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20E60E-ABC0-4857-955D-8F2A2835C1AA}"/>
                  </a:ext>
                </a:extLst>
              </p:cNvPr>
              <p:cNvSpPr>
                <a:spLocks noGrp="1"/>
              </p:cNvSpPr>
              <p:nvPr>
                <p:ph idx="1"/>
              </p:nvPr>
            </p:nvSpPr>
            <p:spPr>
              <a:xfrm>
                <a:off x="838200" y="426720"/>
                <a:ext cx="10515600" cy="5750243"/>
              </a:xfrm>
            </p:spPr>
            <p:txBody>
              <a:bodyPr>
                <a:normAutofit lnSpcReduction="10000"/>
              </a:bodyPr>
              <a:lstStyle/>
              <a:p>
                <a:pPr algn="just"/>
                <a:r>
                  <a:rPr lang="en-US" dirty="0"/>
                  <a:t>The parametric equation now involves two vectors: a row vector representing the observed data, and a column vector containing the model parameters. </a:t>
                </a:r>
              </a:p>
              <a:p>
                <a:pPr algn="just"/>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3</m:t>
                            </m:r>
                          </m:sub>
                        </m:sSub>
                        <m:r>
                          <a:rPr lang="en-US" b="0" i="1" smtClean="0">
                            <a:latin typeface="Cambria Math" panose="02040503050406030204" pitchFamily="18" charset="0"/>
                          </a:rPr>
                          <m:t>, . .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𝑖𝑝</m:t>
                            </m:r>
                          </m:sub>
                        </m:sSub>
                      </m:e>
                    </m:d>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3</m:t>
                            </m:r>
                          </m:sub>
                        </m:sSub>
                        <m:r>
                          <a:rPr lang="en-US" i="1">
                            <a:latin typeface="Cambria Math" panose="02040503050406030204" pitchFamily="18" charset="0"/>
                          </a:rPr>
                          <m:t>, . . .,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𝑖𝑝</m:t>
                            </m:r>
                          </m:sub>
                        </m:sSub>
                      </m:e>
                    </m:d>
                    <m:d>
                      <m:dPr>
                        <m:begChr m:val="["/>
                        <m:endChr m:val="]"/>
                        <m:ctrlPr>
                          <a:rPr lang="en-US" i="1">
                            <a:latin typeface="Cambria Math" panose="02040503050406030204" pitchFamily="18" charset="0"/>
                            <a:ea typeface="Cambria Math" panose="02040503050406030204" pitchFamily="18" charset="0"/>
                          </a:rPr>
                        </m:ctrlPr>
                      </m:dPr>
                      <m:e>
                        <m:m>
                          <m:mPr>
                            <m:mcs>
                              <m:mc>
                                <m:mcPr>
                                  <m:count m:val="1"/>
                                  <m:mcJc m:val="center"/>
                                </m:mcPr>
                              </m:mc>
                            </m:mcs>
                            <m:ctrlPr>
                              <a:rPr lang="en-US" i="1">
                                <a:latin typeface="Cambria Math" panose="02040503050406030204" pitchFamily="18" charset="0"/>
                                <a:ea typeface="Cambria Math" panose="02040503050406030204" pitchFamily="18" charset="0"/>
                              </a:rPr>
                            </m:ctrlPr>
                          </m:mPr>
                          <m:m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0</m:t>
                                  </m:r>
                                </m:sub>
                              </m:sSub>
                            </m:e>
                          </m:mr>
                          <m:m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1</m:t>
                                  </m:r>
                                </m:sub>
                              </m:sSub>
                            </m:e>
                          </m:mr>
                          <m:mr>
                            <m:e>
                              <m:eqArr>
                                <m:eqArrPr>
                                  <m:ctrlPr>
                                    <a:rPr lang="en-US" i="1">
                                      <a:latin typeface="Cambria Math" panose="02040503050406030204" pitchFamily="18" charset="0"/>
                                      <a:ea typeface="Cambria Math" panose="02040503050406030204" pitchFamily="18" charset="0"/>
                                    </a:rPr>
                                  </m:ctrlPr>
                                </m:eqArrPr>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𝑝</m:t>
                                      </m:r>
                                    </m:sub>
                                  </m:sSub>
                                </m:e>
                              </m:eqArr>
                            </m:e>
                          </m:mr>
                        </m:m>
                      </m:e>
                    </m:d>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0</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2</m:t>
                        </m:r>
                      </m:sub>
                    </m:sSub>
                    <m:r>
                      <a:rPr lang="en-US" i="1">
                        <a:latin typeface="Cambria Math" panose="02040503050406030204" pitchFamily="18" charset="0"/>
                      </a:rPr>
                      <m:t>+. . .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𝑝</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𝑖𝑝</m:t>
                        </m:r>
                      </m:sub>
                    </m:sSub>
                  </m:oMath>
                </a14:m>
                <a:endParaRPr lang="en-US" dirty="0"/>
              </a:p>
              <a:p>
                <a:pPr algn="just"/>
                <a:endParaRPr lang="en-US" dirty="0"/>
              </a:p>
              <a:p>
                <a:pPr algn="just"/>
                <a:r>
                  <a:rPr lang="en-US" dirty="0"/>
                  <a:t>Note that we have inserted 1 as the first value in the observation vector. </a:t>
                </a:r>
              </a:p>
              <a:p>
                <a:pPr algn="just"/>
                <a:r>
                  <a:rPr lang="en-US" dirty="0"/>
                  <a:t>We call this 1 entry the </a:t>
                </a:r>
                <a:r>
                  <a:rPr lang="en-US" dirty="0">
                    <a:solidFill>
                      <a:srgbClr val="FF0000"/>
                    </a:solidFill>
                  </a:rPr>
                  <a:t>intercept</a:t>
                </a:r>
                <a:r>
                  <a:rPr lang="en-US" dirty="0"/>
                  <a:t> or </a:t>
                </a:r>
                <a:r>
                  <a:rPr lang="en-US" dirty="0">
                    <a:solidFill>
                      <a:srgbClr val="FF0000"/>
                    </a:solidFill>
                  </a:rPr>
                  <a:t>bias</a:t>
                </a:r>
                <a:r>
                  <a:rPr lang="en-US" dirty="0"/>
                  <a:t> term.</a:t>
                </a:r>
              </a:p>
              <a:p>
                <a:pPr algn="just"/>
                <a:endParaRPr lang="en-US" dirty="0"/>
              </a:p>
            </p:txBody>
          </p:sp>
        </mc:Choice>
        <mc:Fallback xmlns="">
          <p:sp>
            <p:nvSpPr>
              <p:cNvPr id="3" name="Content Placeholder 2">
                <a:extLst>
                  <a:ext uri="{FF2B5EF4-FFF2-40B4-BE49-F238E27FC236}">
                    <a16:creationId xmlns:a16="http://schemas.microsoft.com/office/drawing/2014/main" id="{7E20E60E-ABC0-4857-955D-8F2A2835C1AA}"/>
                  </a:ext>
                </a:extLst>
              </p:cNvPr>
              <p:cNvSpPr>
                <a:spLocks noGrp="1" noRot="1" noChangeAspect="1" noMove="1" noResize="1" noEditPoints="1" noAdjustHandles="1" noChangeArrowheads="1" noChangeShapeType="1" noTextEdit="1"/>
              </p:cNvSpPr>
              <p:nvPr>
                <p:ph idx="1"/>
              </p:nvPr>
            </p:nvSpPr>
            <p:spPr>
              <a:xfrm>
                <a:off x="838200" y="426720"/>
                <a:ext cx="10515600" cy="5750243"/>
              </a:xfrm>
              <a:blipFill>
                <a:blip r:embed="rId2"/>
                <a:stretch>
                  <a:fillRect l="-1043" t="-2333"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1329F4D-1978-4064-B36F-A1BA64F1CC47}"/>
              </a:ext>
            </a:extLst>
          </p:cNvPr>
          <p:cNvSpPr>
            <a:spLocks noGrp="1"/>
          </p:cNvSpPr>
          <p:nvPr>
            <p:ph type="sldNum" sz="quarter" idx="12"/>
          </p:nvPr>
        </p:nvSpPr>
        <p:spPr/>
        <p:txBody>
          <a:bodyPr/>
          <a:lstStyle/>
          <a:p>
            <a:fld id="{6B97D948-30E8-43F7-AE10-F6E2D9F2BBB1}" type="slidenum">
              <a:rPr lang="en-US" smtClean="0"/>
              <a:t>627</a:t>
            </a:fld>
            <a:endParaRPr lang="en-US"/>
          </a:p>
        </p:txBody>
      </p:sp>
    </p:spTree>
    <p:extLst>
      <p:ext uri="{BB962C8B-B14F-4D97-AF65-F5344CB8AC3E}">
        <p14:creationId xmlns:p14="http://schemas.microsoft.com/office/powerpoint/2010/main" val="658972541"/>
      </p:ext>
    </p:extLst>
  </p:cSld>
  <p:clrMapOvr>
    <a:masterClrMapping/>
  </p:clrMapOvr>
</p:sld>
</file>

<file path=ppt/slides/slide6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D7A6-7BFC-48D5-8C03-73F96D1ABDA6}"/>
              </a:ext>
            </a:extLst>
          </p:cNvPr>
          <p:cNvSpPr>
            <a:spLocks noGrp="1"/>
          </p:cNvSpPr>
          <p:nvPr>
            <p:ph type="title"/>
          </p:nvPr>
        </p:nvSpPr>
        <p:spPr>
          <a:xfrm>
            <a:off x="838200" y="365125"/>
            <a:ext cx="10515600" cy="762635"/>
          </a:xfrm>
        </p:spPr>
        <p:txBody>
          <a:bodyPr/>
          <a:lstStyle/>
          <a:p>
            <a:r>
              <a:rPr lang="en-US" dirty="0"/>
              <a:t>Linear Algebra Approach</a:t>
            </a:r>
          </a:p>
        </p:txBody>
      </p:sp>
      <p:sp>
        <p:nvSpPr>
          <p:cNvPr id="3" name="Content Placeholder 2">
            <a:extLst>
              <a:ext uri="{FF2B5EF4-FFF2-40B4-BE49-F238E27FC236}">
                <a16:creationId xmlns:a16="http://schemas.microsoft.com/office/drawing/2014/main" id="{2C0DF0E2-21D7-46C0-920F-2A9E06C7594A}"/>
              </a:ext>
            </a:extLst>
          </p:cNvPr>
          <p:cNvSpPr>
            <a:spLocks noGrp="1"/>
          </p:cNvSpPr>
          <p:nvPr>
            <p:ph idx="1"/>
          </p:nvPr>
        </p:nvSpPr>
        <p:spPr>
          <a:xfrm>
            <a:off x="838200" y="1127760"/>
            <a:ext cx="10515600" cy="5049203"/>
          </a:xfrm>
        </p:spPr>
        <p:txBody>
          <a:bodyPr/>
          <a:lstStyle/>
          <a:p>
            <a:pPr algn="just"/>
            <a:r>
              <a:rPr lang="en-US" dirty="0"/>
              <a:t>We now know how to generate a single prediction from multiple observed features. </a:t>
            </a:r>
          </a:p>
          <a:p>
            <a:pPr algn="just"/>
            <a:r>
              <a:rPr lang="en-US" dirty="0"/>
              <a:t>Data scientists usually work at scale – that is, they want to build models that can produce many predictions, all at once. </a:t>
            </a:r>
          </a:p>
          <a:p>
            <a:pPr algn="just"/>
            <a:endParaRPr lang="en-US" dirty="0"/>
          </a:p>
          <a:p>
            <a:pPr algn="just"/>
            <a:r>
              <a:rPr lang="en-US" dirty="0"/>
              <a:t>The vector notation we introduced above gives us a hint on how we can expedite Multiple Linear regression. </a:t>
            </a:r>
          </a:p>
          <a:p>
            <a:pPr algn="just"/>
            <a:endParaRPr lang="en-US" dirty="0"/>
          </a:p>
          <a:p>
            <a:pPr algn="just"/>
            <a:r>
              <a:rPr lang="en-US" dirty="0"/>
              <a:t>We want to use the tools of linear algebra.</a:t>
            </a:r>
          </a:p>
        </p:txBody>
      </p:sp>
      <p:sp>
        <p:nvSpPr>
          <p:cNvPr id="5" name="Slide Number Placeholder 4">
            <a:extLst>
              <a:ext uri="{FF2B5EF4-FFF2-40B4-BE49-F238E27FC236}">
                <a16:creationId xmlns:a16="http://schemas.microsoft.com/office/drawing/2014/main" id="{22DA6EFD-0309-4EB0-8515-354D3648985A}"/>
              </a:ext>
            </a:extLst>
          </p:cNvPr>
          <p:cNvSpPr>
            <a:spLocks noGrp="1"/>
          </p:cNvSpPr>
          <p:nvPr>
            <p:ph type="sldNum" sz="quarter" idx="12"/>
          </p:nvPr>
        </p:nvSpPr>
        <p:spPr/>
        <p:txBody>
          <a:bodyPr/>
          <a:lstStyle/>
          <a:p>
            <a:fld id="{6B97D948-30E8-43F7-AE10-F6E2D9F2BBB1}" type="slidenum">
              <a:rPr lang="en-US" smtClean="0"/>
              <a:t>628</a:t>
            </a:fld>
            <a:endParaRPr lang="en-US"/>
          </a:p>
        </p:txBody>
      </p:sp>
    </p:spTree>
    <p:extLst>
      <p:ext uri="{BB962C8B-B14F-4D97-AF65-F5344CB8AC3E}">
        <p14:creationId xmlns:p14="http://schemas.microsoft.com/office/powerpoint/2010/main" val="3663275988"/>
      </p:ext>
    </p:extLst>
  </p:cSld>
  <p:clrMapOvr>
    <a:masterClrMapping/>
  </p:clrMapOvr>
</p:sld>
</file>

<file path=ppt/slides/slide6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39EE98-3365-42FD-A7B7-9FF227C0B26D}"/>
              </a:ext>
            </a:extLst>
          </p:cNvPr>
          <p:cNvSpPr>
            <a:spLocks noGrp="1"/>
          </p:cNvSpPr>
          <p:nvPr>
            <p:ph idx="1"/>
          </p:nvPr>
        </p:nvSpPr>
        <p:spPr>
          <a:xfrm>
            <a:off x="838200" y="563880"/>
            <a:ext cx="10515600" cy="5613083"/>
          </a:xfrm>
        </p:spPr>
        <p:txBody>
          <a:bodyPr>
            <a:normAutofit/>
          </a:bodyPr>
          <a:lstStyle/>
          <a:p>
            <a:pPr algn="just"/>
            <a:r>
              <a:rPr lang="en-US" dirty="0"/>
              <a:t>Think carefully about what we did to generate the single prediction above. </a:t>
            </a:r>
          </a:p>
          <a:p>
            <a:pPr algn="just"/>
            <a:endParaRPr lang="en-US" dirty="0"/>
          </a:p>
          <a:p>
            <a:pPr algn="just"/>
            <a:r>
              <a:rPr lang="en-US" dirty="0"/>
              <a:t>To make a prediction from the first observation in the data, we took the dot product of the parameter vector and first observation vector. </a:t>
            </a:r>
          </a:p>
          <a:p>
            <a:pPr algn="just"/>
            <a:endParaRPr lang="en-US" dirty="0"/>
          </a:p>
          <a:p>
            <a:pPr algn="just"/>
            <a:r>
              <a:rPr lang="en-US" dirty="0"/>
              <a:t>To make a prediction from the second observation, we would repeat this process to find the dot product of the parameter vector and the second observation vector. </a:t>
            </a:r>
          </a:p>
          <a:p>
            <a:pPr algn="just"/>
            <a:endParaRPr lang="en-US" dirty="0"/>
          </a:p>
        </p:txBody>
      </p:sp>
      <p:sp>
        <p:nvSpPr>
          <p:cNvPr id="5" name="Slide Number Placeholder 4">
            <a:extLst>
              <a:ext uri="{FF2B5EF4-FFF2-40B4-BE49-F238E27FC236}">
                <a16:creationId xmlns:a16="http://schemas.microsoft.com/office/drawing/2014/main" id="{0B226179-B6CF-4992-8F12-1348DB401A2E}"/>
              </a:ext>
            </a:extLst>
          </p:cNvPr>
          <p:cNvSpPr>
            <a:spLocks noGrp="1"/>
          </p:cNvSpPr>
          <p:nvPr>
            <p:ph type="sldNum" sz="quarter" idx="12"/>
          </p:nvPr>
        </p:nvSpPr>
        <p:spPr/>
        <p:txBody>
          <a:bodyPr/>
          <a:lstStyle/>
          <a:p>
            <a:fld id="{6B97D948-30E8-43F7-AE10-F6E2D9F2BBB1}" type="slidenum">
              <a:rPr lang="en-US" smtClean="0"/>
              <a:t>629</a:t>
            </a:fld>
            <a:endParaRPr lang="en-US"/>
          </a:p>
        </p:txBody>
      </p:sp>
    </p:spTree>
    <p:extLst>
      <p:ext uri="{BB962C8B-B14F-4D97-AF65-F5344CB8AC3E}">
        <p14:creationId xmlns:p14="http://schemas.microsoft.com/office/powerpoint/2010/main" val="3251522221"/>
      </p:ext>
    </p:extLst>
  </p:cSld>
  <p:clrMapOvr>
    <a:masterClrMapping/>
  </p:clrMapOvr>
</p:sld>
</file>

<file path=ppt/slides/slide6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CF9F80-3E11-45AE-AFB3-6FA94F97EAD5}"/>
                  </a:ext>
                </a:extLst>
              </p:cNvPr>
              <p:cNvSpPr>
                <a:spLocks noGrp="1"/>
              </p:cNvSpPr>
              <p:nvPr>
                <p:ph idx="1"/>
              </p:nvPr>
            </p:nvSpPr>
            <p:spPr>
              <a:xfrm>
                <a:off x="838200" y="469265"/>
                <a:ext cx="10515600" cy="2091055"/>
              </a:xfrm>
            </p:spPr>
            <p:txBody>
              <a:bodyPr>
                <a:normAutofit lnSpcReduction="10000"/>
              </a:bodyPr>
              <a:lstStyle/>
              <a:p>
                <a:pPr algn="just"/>
                <a:r>
                  <a:rPr lang="en-US" dirty="0"/>
                  <a:t>If we wanted to find the model predictions for each observation in the dataset, we’d repeat this process for all </a:t>
                </a:r>
                <a14:m>
                  <m:oMath xmlns:m="http://schemas.openxmlformats.org/officeDocument/2006/math">
                    <m:r>
                      <a:rPr lang="en-US" b="0" i="1" smtClean="0">
                        <a:latin typeface="Cambria Math" panose="02040503050406030204" pitchFamily="18" charset="0"/>
                      </a:rPr>
                      <m:t>𝑛</m:t>
                    </m:r>
                  </m:oMath>
                </a14:m>
                <a:r>
                  <a:rPr lang="en-US" dirty="0"/>
                  <a:t> observations in the data.</a:t>
                </a:r>
              </a:p>
              <a:p>
                <a:pPr algn="just"/>
                <a:r>
                  <a:rPr lang="en-US" dirty="0"/>
                  <a:t>Our observed data is represented by </a:t>
                </a:r>
                <a14:m>
                  <m:oMath xmlns:m="http://schemas.openxmlformats.org/officeDocument/2006/math">
                    <m:r>
                      <a:rPr lang="en-US" b="0" i="1" smtClean="0">
                        <a:latin typeface="Cambria Math" panose="02040503050406030204" pitchFamily="18" charset="0"/>
                      </a:rPr>
                      <m:t>𝑛</m:t>
                    </m:r>
                  </m:oMath>
                </a14:m>
                <a:r>
                  <a:rPr lang="en-US" dirty="0"/>
                  <a:t> row vectors, each with dimension (p + 1).</a:t>
                </a:r>
              </a:p>
            </p:txBody>
          </p:sp>
        </mc:Choice>
        <mc:Fallback xmlns="">
          <p:sp>
            <p:nvSpPr>
              <p:cNvPr id="3" name="Content Placeholder 2">
                <a:extLst>
                  <a:ext uri="{FF2B5EF4-FFF2-40B4-BE49-F238E27FC236}">
                    <a16:creationId xmlns:a16="http://schemas.microsoft.com/office/drawing/2014/main" id="{2ACF9F80-3E11-45AE-AFB3-6FA94F97EAD5}"/>
                  </a:ext>
                </a:extLst>
              </p:cNvPr>
              <p:cNvSpPr>
                <a:spLocks noGrp="1" noRot="1" noChangeAspect="1" noMove="1" noResize="1" noEditPoints="1" noAdjustHandles="1" noChangeArrowheads="1" noChangeShapeType="1" noTextEdit="1"/>
              </p:cNvSpPr>
              <p:nvPr>
                <p:ph idx="1"/>
              </p:nvPr>
            </p:nvSpPr>
            <p:spPr>
              <a:xfrm>
                <a:off x="838200" y="469265"/>
                <a:ext cx="10515600" cy="2091055"/>
              </a:xfrm>
              <a:blipFill>
                <a:blip r:embed="rId2"/>
                <a:stretch>
                  <a:fillRect l="-1043" t="-6706" r="-1159" b="-87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A8D05D0-70BF-4191-82A2-B1C6EC5FAF82}"/>
              </a:ext>
            </a:extLst>
          </p:cNvPr>
          <p:cNvPicPr>
            <a:picLocks noChangeAspect="1"/>
          </p:cNvPicPr>
          <p:nvPr/>
        </p:nvPicPr>
        <p:blipFill>
          <a:blip r:embed="rId3"/>
          <a:stretch>
            <a:fillRect/>
          </a:stretch>
        </p:blipFill>
        <p:spPr>
          <a:xfrm>
            <a:off x="3154680" y="2858711"/>
            <a:ext cx="6459855" cy="3345874"/>
          </a:xfrm>
          <a:prstGeom prst="rect">
            <a:avLst/>
          </a:prstGeom>
        </p:spPr>
      </p:pic>
      <p:sp>
        <p:nvSpPr>
          <p:cNvPr id="7" name="Slide Number Placeholder 6">
            <a:extLst>
              <a:ext uri="{FF2B5EF4-FFF2-40B4-BE49-F238E27FC236}">
                <a16:creationId xmlns:a16="http://schemas.microsoft.com/office/drawing/2014/main" id="{02669E2E-75CB-46E0-9B57-CA8948FDB666}"/>
              </a:ext>
            </a:extLst>
          </p:cNvPr>
          <p:cNvSpPr>
            <a:spLocks noGrp="1"/>
          </p:cNvSpPr>
          <p:nvPr>
            <p:ph type="sldNum" sz="quarter" idx="12"/>
          </p:nvPr>
        </p:nvSpPr>
        <p:spPr/>
        <p:txBody>
          <a:bodyPr/>
          <a:lstStyle/>
          <a:p>
            <a:fld id="{6B97D948-30E8-43F7-AE10-F6E2D9F2BBB1}" type="slidenum">
              <a:rPr lang="en-US" smtClean="0"/>
              <a:t>630</a:t>
            </a:fld>
            <a:endParaRPr lang="en-US"/>
          </a:p>
        </p:txBody>
      </p:sp>
    </p:spTree>
    <p:extLst>
      <p:ext uri="{BB962C8B-B14F-4D97-AF65-F5344CB8AC3E}">
        <p14:creationId xmlns:p14="http://schemas.microsoft.com/office/powerpoint/2010/main" val="2072024946"/>
      </p:ext>
    </p:extLst>
  </p:cSld>
  <p:clrMapOvr>
    <a:masterClrMapping/>
  </p:clrMapOvr>
</p:sld>
</file>

<file path=ppt/slides/slide6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CBF7B6-712D-43BD-B457-9D7B2883C92A}"/>
                  </a:ext>
                </a:extLst>
              </p:cNvPr>
              <p:cNvSpPr>
                <a:spLocks noGrp="1"/>
              </p:cNvSpPr>
              <p:nvPr>
                <p:ph idx="1"/>
              </p:nvPr>
            </p:nvSpPr>
            <p:spPr>
              <a:xfrm>
                <a:off x="838200" y="469265"/>
                <a:ext cx="10515600" cy="597535"/>
              </a:xfrm>
            </p:spPr>
            <p:txBody>
              <a:bodyPr/>
              <a:lstStyle/>
              <a:p>
                <a:r>
                  <a:rPr lang="en-US" dirty="0"/>
                  <a:t>We can collect them all into a single matrix, which we call </a:t>
                </a:r>
                <a14:m>
                  <m:oMath xmlns:m="http://schemas.openxmlformats.org/officeDocument/2006/math">
                    <m:r>
                      <a:rPr lang="en-US" i="1" smtClean="0">
                        <a:latin typeface="Cambria Math" panose="02040503050406030204" pitchFamily="18" charset="0"/>
                        <a:ea typeface="Cambria Math" panose="02040503050406030204" pitchFamily="18" charset="0"/>
                      </a:rPr>
                      <m:t>𝕏</m:t>
                    </m:r>
                  </m:oMath>
                </a14:m>
                <a:r>
                  <a:rPr lang="en-US" dirty="0"/>
                  <a:t>.</a:t>
                </a:r>
              </a:p>
            </p:txBody>
          </p:sp>
        </mc:Choice>
        <mc:Fallback xmlns="">
          <p:sp>
            <p:nvSpPr>
              <p:cNvPr id="3" name="Content Placeholder 2">
                <a:extLst>
                  <a:ext uri="{FF2B5EF4-FFF2-40B4-BE49-F238E27FC236}">
                    <a16:creationId xmlns:a16="http://schemas.microsoft.com/office/drawing/2014/main" id="{08CBF7B6-712D-43BD-B457-9D7B2883C92A}"/>
                  </a:ext>
                </a:extLst>
              </p:cNvPr>
              <p:cNvSpPr>
                <a:spLocks noGrp="1" noRot="1" noChangeAspect="1" noMove="1" noResize="1" noEditPoints="1" noAdjustHandles="1" noChangeArrowheads="1" noChangeShapeType="1" noTextEdit="1"/>
              </p:cNvSpPr>
              <p:nvPr>
                <p:ph idx="1"/>
              </p:nvPr>
            </p:nvSpPr>
            <p:spPr>
              <a:xfrm>
                <a:off x="838200" y="469265"/>
                <a:ext cx="10515600" cy="597535"/>
              </a:xfrm>
              <a:blipFill>
                <a:blip r:embed="rId2"/>
                <a:stretch>
                  <a:fillRect l="-1043" t="-17347" b="-918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8A8181C-4BF8-4934-95F2-441769FF19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676" y="1433706"/>
            <a:ext cx="8712648" cy="4813547"/>
          </a:xfrm>
          <a:prstGeom prst="rect">
            <a:avLst/>
          </a:prstGeom>
        </p:spPr>
      </p:pic>
      <p:sp>
        <p:nvSpPr>
          <p:cNvPr id="7" name="Slide Number Placeholder 6">
            <a:extLst>
              <a:ext uri="{FF2B5EF4-FFF2-40B4-BE49-F238E27FC236}">
                <a16:creationId xmlns:a16="http://schemas.microsoft.com/office/drawing/2014/main" id="{BF42532D-087F-4FE2-AE7A-828D3603B124}"/>
              </a:ext>
            </a:extLst>
          </p:cNvPr>
          <p:cNvSpPr>
            <a:spLocks noGrp="1"/>
          </p:cNvSpPr>
          <p:nvPr>
            <p:ph type="sldNum" sz="quarter" idx="12"/>
          </p:nvPr>
        </p:nvSpPr>
        <p:spPr/>
        <p:txBody>
          <a:bodyPr/>
          <a:lstStyle/>
          <a:p>
            <a:fld id="{6B97D948-30E8-43F7-AE10-F6E2D9F2BBB1}" type="slidenum">
              <a:rPr lang="en-US" smtClean="0"/>
              <a:t>631</a:t>
            </a:fld>
            <a:endParaRPr lang="en-US"/>
          </a:p>
        </p:txBody>
      </p:sp>
    </p:spTree>
    <p:extLst>
      <p:ext uri="{BB962C8B-B14F-4D97-AF65-F5344CB8AC3E}">
        <p14:creationId xmlns:p14="http://schemas.microsoft.com/office/powerpoint/2010/main" val="1945016451"/>
      </p:ext>
    </p:extLst>
  </p:cSld>
  <p:clrMapOvr>
    <a:masterClrMapping/>
  </p:clrMapOvr>
</p:sld>
</file>

<file path=ppt/slides/slide6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C2F1C5-2DB6-4C75-B65A-E47D135059EE}"/>
                  </a:ext>
                </a:extLst>
              </p:cNvPr>
              <p:cNvSpPr>
                <a:spLocks noGrp="1"/>
              </p:cNvSpPr>
              <p:nvPr>
                <p:ph idx="1"/>
              </p:nvPr>
            </p:nvSpPr>
            <p:spPr>
              <a:xfrm>
                <a:off x="838200" y="533400"/>
                <a:ext cx="10515600" cy="5643563"/>
              </a:xfrm>
            </p:spPr>
            <p:txBody>
              <a:bodyPr/>
              <a:lstStyle/>
              <a:p>
                <a:pPr algn="just"/>
                <a:r>
                  <a:rPr lang="en-US" dirty="0"/>
                  <a:t>The matrix </a:t>
                </a:r>
                <a14:m>
                  <m:oMath xmlns:m="http://schemas.openxmlformats.org/officeDocument/2006/math">
                    <m:r>
                      <a:rPr lang="en-US" i="1" smtClean="0">
                        <a:latin typeface="Cambria Math" panose="02040503050406030204" pitchFamily="18" charset="0"/>
                        <a:ea typeface="Cambria Math" panose="02040503050406030204" pitchFamily="18" charset="0"/>
                      </a:rPr>
                      <m:t>𝕏</m:t>
                    </m:r>
                    <m:r>
                      <a:rPr lang="en-US" i="1" smtClean="0">
                        <a:latin typeface="Cambria Math" panose="02040503050406030204" pitchFamily="18" charset="0"/>
                        <a:ea typeface="Cambria Math" panose="02040503050406030204" pitchFamily="18" charset="0"/>
                      </a:rPr>
                      <m:t> </m:t>
                    </m:r>
                  </m:oMath>
                </a14:m>
                <a:r>
                  <a:rPr lang="en-US" dirty="0"/>
                  <a:t>is known as the design matrix. </a:t>
                </a:r>
              </a:p>
              <a:p>
                <a:pPr algn="just"/>
                <a:endParaRPr lang="en-US" dirty="0"/>
              </a:p>
              <a:p>
                <a:pPr algn="just"/>
                <a:r>
                  <a:rPr lang="en-US" dirty="0"/>
                  <a:t>It contains all observed data for each of our features. </a:t>
                </a:r>
              </a:p>
              <a:p>
                <a:pPr algn="just"/>
                <a:endParaRPr lang="en-US" dirty="0"/>
              </a:p>
              <a:p>
                <a:pPr algn="just"/>
                <a:r>
                  <a:rPr lang="en-US" dirty="0"/>
                  <a:t>It often (but not always) contains an additional column of all ones to represent the intercept or bias column. </a:t>
                </a:r>
              </a:p>
              <a:p>
                <a:pPr algn="just"/>
                <a:endParaRPr lang="en-US" dirty="0"/>
              </a:p>
              <a:p>
                <a:pPr algn="just"/>
                <a:endParaRPr lang="en-US" dirty="0"/>
              </a:p>
              <a:p>
                <a:pPr algn="just"/>
                <a:r>
                  <a:rPr lang="en-US" dirty="0"/>
                  <a:t>Let’s transfer this linear algebra perspective to real data.</a:t>
                </a:r>
              </a:p>
              <a:p>
                <a:pPr algn="just"/>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3FC2F1C5-2DB6-4C75-B65A-E47D135059EE}"/>
                  </a:ext>
                </a:extLst>
              </p:cNvPr>
              <p:cNvSpPr>
                <a:spLocks noGrp="1" noRot="1" noChangeAspect="1" noMove="1" noResize="1" noEditPoints="1" noAdjustHandles="1" noChangeArrowheads="1" noChangeShapeType="1" noTextEdit="1"/>
              </p:cNvSpPr>
              <p:nvPr>
                <p:ph idx="1"/>
              </p:nvPr>
            </p:nvSpPr>
            <p:spPr>
              <a:xfrm>
                <a:off x="838200" y="533400"/>
                <a:ext cx="10515600" cy="5643563"/>
              </a:xfrm>
              <a:blipFill>
                <a:blip r:embed="rId2"/>
                <a:stretch>
                  <a:fillRect l="-1043" t="-1838"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0F6AB530-B83B-435A-91F6-9036A7D08517}"/>
              </a:ext>
            </a:extLst>
          </p:cNvPr>
          <p:cNvSpPr>
            <a:spLocks noGrp="1"/>
          </p:cNvSpPr>
          <p:nvPr>
            <p:ph type="sldNum" sz="quarter" idx="12"/>
          </p:nvPr>
        </p:nvSpPr>
        <p:spPr/>
        <p:txBody>
          <a:bodyPr/>
          <a:lstStyle/>
          <a:p>
            <a:fld id="{6B97D948-30E8-43F7-AE10-F6E2D9F2BBB1}" type="slidenum">
              <a:rPr lang="en-US" smtClean="0"/>
              <a:t>632</a:t>
            </a:fld>
            <a:endParaRPr lang="en-US"/>
          </a:p>
        </p:txBody>
      </p:sp>
    </p:spTree>
    <p:extLst>
      <p:ext uri="{BB962C8B-B14F-4D97-AF65-F5344CB8AC3E}">
        <p14:creationId xmlns:p14="http://schemas.microsoft.com/office/powerpoint/2010/main" val="1024892171"/>
      </p:ext>
    </p:extLst>
  </p:cSld>
  <p:clrMapOvr>
    <a:masterClrMapping/>
  </p:clrMapOvr>
</p:sld>
</file>

<file path=ppt/slides/slide6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2A24BF2-44DF-43DE-8799-F57AEDDADC39}"/>
              </a:ext>
            </a:extLst>
          </p:cNvPr>
          <p:cNvPicPr>
            <a:picLocks noGrp="1" noChangeAspect="1"/>
          </p:cNvPicPr>
          <p:nvPr>
            <p:ph idx="1"/>
          </p:nvPr>
        </p:nvPicPr>
        <p:blipFill>
          <a:blip r:embed="rId2"/>
          <a:stretch>
            <a:fillRect/>
          </a:stretch>
        </p:blipFill>
        <p:spPr>
          <a:xfrm>
            <a:off x="1025691" y="1052195"/>
            <a:ext cx="10140618" cy="4351338"/>
          </a:xfrm>
          <a:prstGeom prst="rect">
            <a:avLst/>
          </a:prstGeom>
        </p:spPr>
      </p:pic>
      <p:sp>
        <p:nvSpPr>
          <p:cNvPr id="6" name="Slide Number Placeholder 5">
            <a:extLst>
              <a:ext uri="{FF2B5EF4-FFF2-40B4-BE49-F238E27FC236}">
                <a16:creationId xmlns:a16="http://schemas.microsoft.com/office/drawing/2014/main" id="{489168BD-D719-4CBB-80DB-15FE381F6C0C}"/>
              </a:ext>
            </a:extLst>
          </p:cNvPr>
          <p:cNvSpPr>
            <a:spLocks noGrp="1"/>
          </p:cNvSpPr>
          <p:nvPr>
            <p:ph type="sldNum" sz="quarter" idx="12"/>
          </p:nvPr>
        </p:nvSpPr>
        <p:spPr/>
        <p:txBody>
          <a:bodyPr/>
          <a:lstStyle/>
          <a:p>
            <a:fld id="{6B97D948-30E8-43F7-AE10-F6E2D9F2BBB1}" type="slidenum">
              <a:rPr lang="en-US" smtClean="0"/>
              <a:t>633</a:t>
            </a:fld>
            <a:endParaRPr lang="en-US"/>
          </a:p>
        </p:txBody>
      </p:sp>
    </p:spTree>
    <p:extLst>
      <p:ext uri="{BB962C8B-B14F-4D97-AF65-F5344CB8AC3E}">
        <p14:creationId xmlns:p14="http://schemas.microsoft.com/office/powerpoint/2010/main" val="3467352815"/>
      </p:ext>
    </p:extLst>
  </p:cSld>
  <p:clrMapOvr>
    <a:masterClrMapping/>
  </p:clrMapOvr>
</p:sld>
</file>

<file path=ppt/slides/slide6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43073-DAB1-42D7-86C8-1853F58B26BF}"/>
              </a:ext>
            </a:extLst>
          </p:cNvPr>
          <p:cNvSpPr>
            <a:spLocks noGrp="1"/>
          </p:cNvSpPr>
          <p:nvPr>
            <p:ph type="title"/>
          </p:nvPr>
        </p:nvSpPr>
        <p:spPr>
          <a:xfrm>
            <a:off x="838200" y="365125"/>
            <a:ext cx="10515600" cy="701675"/>
          </a:xfrm>
        </p:spPr>
        <p:txBody>
          <a:bodyPr/>
          <a:lstStyle/>
          <a:p>
            <a:r>
              <a:rPr lang="en-US" dirty="0"/>
              <a:t>Formally. . . </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1F6D5EE-35C8-4B17-8CCA-F2DBD82E341C}"/>
                  </a:ext>
                </a:extLst>
              </p:cNvPr>
              <p:cNvSpPr>
                <a:spLocks noGrp="1"/>
              </p:cNvSpPr>
              <p:nvPr>
                <p:ph idx="1"/>
              </p:nvPr>
            </p:nvSpPr>
            <p:spPr>
              <a:xfrm>
                <a:off x="838200" y="1066800"/>
                <a:ext cx="10515600" cy="5110163"/>
              </a:xfrm>
            </p:spPr>
            <p:txBody>
              <a:bodyPr>
                <a:normAutofit/>
              </a:bodyPr>
              <a:lstStyle/>
              <a:p>
                <a:pPr algn="just"/>
                <a:r>
                  <a:rPr lang="en-US" dirty="0"/>
                  <a:t>The multiple linear regression model can then be restated in terms of matrices: </a:t>
                </a:r>
              </a:p>
              <a:p>
                <a:pPr algn="just"/>
                <a:endParaRPr lang="en-US" dirty="0"/>
              </a:p>
              <a:p>
                <a:pPr algn="just"/>
                <a:endParaRPr lang="en-US" dirty="0"/>
              </a:p>
              <a:p>
                <a:pPr algn="just"/>
                <a:endParaRPr lang="en-US" dirty="0"/>
              </a:p>
              <a:p>
                <a:pPr algn="just"/>
                <a:endParaRPr lang="en-US" dirty="0"/>
              </a:p>
              <a:p>
                <a:pPr algn="just"/>
                <a:r>
                  <a:rPr lang="en-US" dirty="0"/>
                  <a:t>Here, </a:t>
                </a:r>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𝕐</m:t>
                        </m:r>
                      </m:e>
                    </m:acc>
                  </m:oMath>
                </a14:m>
                <a:r>
                  <a:rPr lang="en-US" dirty="0"/>
                  <a:t> is the prediction vector with dimensions (n x 1). </a:t>
                </a:r>
              </a:p>
              <a:p>
                <a:pPr algn="just"/>
                <a:endParaRPr lang="en-US" dirty="0"/>
              </a:p>
              <a:p>
                <a:pPr algn="just"/>
                <a:r>
                  <a:rPr lang="en-US" dirty="0"/>
                  <a:t>It contains the prediction made by the model for each of </a:t>
                </a:r>
                <a14:m>
                  <m:oMath xmlns:m="http://schemas.openxmlformats.org/officeDocument/2006/math">
                    <m:r>
                      <a:rPr lang="en-US" b="0" i="1" smtClean="0">
                        <a:latin typeface="Cambria Math" panose="02040503050406030204" pitchFamily="18" charset="0"/>
                      </a:rPr>
                      <m:t>𝑛</m:t>
                    </m:r>
                  </m:oMath>
                </a14:m>
                <a:r>
                  <a:rPr lang="en-US" dirty="0"/>
                  <a:t> input observations.</a:t>
                </a:r>
              </a:p>
              <a:p>
                <a:pPr algn="just"/>
                <a:endParaRPr lang="en-US" dirty="0"/>
              </a:p>
            </p:txBody>
          </p:sp>
        </mc:Choice>
        <mc:Fallback xmlns="">
          <p:sp>
            <p:nvSpPr>
              <p:cNvPr id="6" name="Content Placeholder 5">
                <a:extLst>
                  <a:ext uri="{FF2B5EF4-FFF2-40B4-BE49-F238E27FC236}">
                    <a16:creationId xmlns:a16="http://schemas.microsoft.com/office/drawing/2014/main" id="{41F6D5EE-35C8-4B17-8CCA-F2DBD82E341C}"/>
                  </a:ext>
                </a:extLst>
              </p:cNvPr>
              <p:cNvSpPr>
                <a:spLocks noGrp="1" noRot="1" noChangeAspect="1" noMove="1" noResize="1" noEditPoints="1" noAdjustHandles="1" noChangeArrowheads="1" noChangeShapeType="1" noTextEdit="1"/>
              </p:cNvSpPr>
              <p:nvPr>
                <p:ph idx="1"/>
              </p:nvPr>
            </p:nvSpPr>
            <p:spPr>
              <a:xfrm>
                <a:off x="838200" y="1066800"/>
                <a:ext cx="10515600" cy="5110163"/>
              </a:xfrm>
              <a:blipFill>
                <a:blip r:embed="rId2"/>
                <a:stretch>
                  <a:fillRect l="-1043" t="-1909" r="-1159"/>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4E00B720-8D9C-479D-8642-FB4699902859}"/>
              </a:ext>
            </a:extLst>
          </p:cNvPr>
          <p:cNvPicPr>
            <a:picLocks noChangeAspect="1"/>
          </p:cNvPicPr>
          <p:nvPr/>
        </p:nvPicPr>
        <p:blipFill>
          <a:blip r:embed="rId3"/>
          <a:stretch>
            <a:fillRect/>
          </a:stretch>
        </p:blipFill>
        <p:spPr>
          <a:xfrm>
            <a:off x="4060257" y="2087880"/>
            <a:ext cx="2550093" cy="897255"/>
          </a:xfrm>
          <a:prstGeom prst="rect">
            <a:avLst/>
          </a:prstGeom>
        </p:spPr>
      </p:pic>
      <p:sp>
        <p:nvSpPr>
          <p:cNvPr id="10" name="Slide Number Placeholder 9">
            <a:extLst>
              <a:ext uri="{FF2B5EF4-FFF2-40B4-BE49-F238E27FC236}">
                <a16:creationId xmlns:a16="http://schemas.microsoft.com/office/drawing/2014/main" id="{04ACA75F-7FF6-4679-81AA-DD8277D519B8}"/>
              </a:ext>
            </a:extLst>
          </p:cNvPr>
          <p:cNvSpPr>
            <a:spLocks noGrp="1"/>
          </p:cNvSpPr>
          <p:nvPr>
            <p:ph type="sldNum" sz="quarter" idx="12"/>
          </p:nvPr>
        </p:nvSpPr>
        <p:spPr/>
        <p:txBody>
          <a:bodyPr/>
          <a:lstStyle/>
          <a:p>
            <a:fld id="{6B97D948-30E8-43F7-AE10-F6E2D9F2BBB1}" type="slidenum">
              <a:rPr lang="en-US" smtClean="0"/>
              <a:t>634</a:t>
            </a:fld>
            <a:endParaRPr lang="en-US"/>
          </a:p>
        </p:txBody>
      </p:sp>
    </p:spTree>
    <p:extLst>
      <p:ext uri="{BB962C8B-B14F-4D97-AF65-F5344CB8AC3E}">
        <p14:creationId xmlns:p14="http://schemas.microsoft.com/office/powerpoint/2010/main" val="1515950630"/>
      </p:ext>
    </p:extLst>
  </p:cSld>
  <p:clrMapOvr>
    <a:masterClrMapping/>
  </p:clrMapOvr>
</p:sld>
</file>

<file path=ppt/slides/slide6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A8178-7E18-457C-BB03-7A2F80C6EABB}"/>
              </a:ext>
            </a:extLst>
          </p:cNvPr>
          <p:cNvSpPr>
            <a:spLocks noGrp="1"/>
          </p:cNvSpPr>
          <p:nvPr>
            <p:ph type="title"/>
          </p:nvPr>
        </p:nvSpPr>
        <p:spPr>
          <a:xfrm>
            <a:off x="838200" y="365125"/>
            <a:ext cx="10515600" cy="671195"/>
          </a:xfrm>
        </p:spPr>
        <p:txBody>
          <a:bodyPr>
            <a:normAutofit fontScale="90000"/>
          </a:bodyPr>
          <a:lstStyle/>
          <a:p>
            <a:r>
              <a:rPr lang="en-US" dirty="0"/>
              <a:t>Loss Function of MLE</a:t>
            </a:r>
          </a:p>
        </p:txBody>
      </p:sp>
      <p:sp>
        <p:nvSpPr>
          <p:cNvPr id="3" name="Content Placeholder 2">
            <a:extLst>
              <a:ext uri="{FF2B5EF4-FFF2-40B4-BE49-F238E27FC236}">
                <a16:creationId xmlns:a16="http://schemas.microsoft.com/office/drawing/2014/main" id="{EB6E7FAC-4A3D-4B76-B907-6E37E42DE6DB}"/>
              </a:ext>
            </a:extLst>
          </p:cNvPr>
          <p:cNvSpPr>
            <a:spLocks noGrp="1"/>
          </p:cNvSpPr>
          <p:nvPr>
            <p:ph idx="1"/>
          </p:nvPr>
        </p:nvSpPr>
        <p:spPr>
          <a:xfrm>
            <a:off x="838200" y="1036320"/>
            <a:ext cx="10515600" cy="5140643"/>
          </a:xfrm>
        </p:spPr>
        <p:txBody>
          <a:bodyPr/>
          <a:lstStyle/>
          <a:p>
            <a:pPr algn="just"/>
            <a:r>
              <a:rPr lang="en-US" dirty="0"/>
              <a:t>We now have a new approach to understanding models in terms of vectors and matrices. </a:t>
            </a:r>
          </a:p>
          <a:p>
            <a:pPr algn="just"/>
            <a:endParaRPr lang="en-US" dirty="0"/>
          </a:p>
          <a:p>
            <a:pPr algn="just"/>
            <a:r>
              <a:rPr lang="en-US" dirty="0"/>
              <a:t>To accompany this new convention, we should update our understanding of risk functions and model fitting.</a:t>
            </a:r>
          </a:p>
          <a:p>
            <a:pPr algn="just"/>
            <a:endParaRPr lang="en-US" dirty="0"/>
          </a:p>
          <a:p>
            <a:pPr algn="just"/>
            <a:r>
              <a:rPr lang="en-US" dirty="0"/>
              <a:t>Recall our definition of MSE: </a:t>
            </a:r>
          </a:p>
          <a:p>
            <a:pPr marL="0" indent="0" algn="just">
              <a:buNone/>
            </a:pPr>
            <a:r>
              <a:rPr lang="en-US" dirty="0"/>
              <a:t>			</a:t>
            </a:r>
          </a:p>
          <a:p>
            <a:endParaRPr lang="en-US" dirty="0"/>
          </a:p>
        </p:txBody>
      </p:sp>
      <p:pic>
        <p:nvPicPr>
          <p:cNvPr id="5" name="Picture 4">
            <a:extLst>
              <a:ext uri="{FF2B5EF4-FFF2-40B4-BE49-F238E27FC236}">
                <a16:creationId xmlns:a16="http://schemas.microsoft.com/office/drawing/2014/main" id="{5D6F88A7-7B26-4382-96A1-1AD390CFEF47}"/>
              </a:ext>
            </a:extLst>
          </p:cNvPr>
          <p:cNvPicPr>
            <a:picLocks noChangeAspect="1"/>
          </p:cNvPicPr>
          <p:nvPr/>
        </p:nvPicPr>
        <p:blipFill>
          <a:blip r:embed="rId2"/>
          <a:stretch>
            <a:fillRect/>
          </a:stretch>
        </p:blipFill>
        <p:spPr>
          <a:xfrm>
            <a:off x="3322320" y="4656372"/>
            <a:ext cx="4670107" cy="1251986"/>
          </a:xfrm>
          <a:prstGeom prst="rect">
            <a:avLst/>
          </a:prstGeom>
        </p:spPr>
      </p:pic>
      <p:sp>
        <p:nvSpPr>
          <p:cNvPr id="7" name="Slide Number Placeholder 6">
            <a:extLst>
              <a:ext uri="{FF2B5EF4-FFF2-40B4-BE49-F238E27FC236}">
                <a16:creationId xmlns:a16="http://schemas.microsoft.com/office/drawing/2014/main" id="{B5431133-88D7-4A25-B370-9C13C2F4EDB4}"/>
              </a:ext>
            </a:extLst>
          </p:cNvPr>
          <p:cNvSpPr>
            <a:spLocks noGrp="1"/>
          </p:cNvSpPr>
          <p:nvPr>
            <p:ph type="sldNum" sz="quarter" idx="12"/>
          </p:nvPr>
        </p:nvSpPr>
        <p:spPr/>
        <p:txBody>
          <a:bodyPr/>
          <a:lstStyle/>
          <a:p>
            <a:fld id="{6B97D948-30E8-43F7-AE10-F6E2D9F2BBB1}" type="slidenum">
              <a:rPr lang="en-US" smtClean="0"/>
              <a:t>635</a:t>
            </a:fld>
            <a:endParaRPr lang="en-US"/>
          </a:p>
        </p:txBody>
      </p:sp>
    </p:spTree>
    <p:extLst>
      <p:ext uri="{BB962C8B-B14F-4D97-AF65-F5344CB8AC3E}">
        <p14:creationId xmlns:p14="http://schemas.microsoft.com/office/powerpoint/2010/main" val="1532286199"/>
      </p:ext>
    </p:extLst>
  </p:cSld>
  <p:clrMapOvr>
    <a:masterClrMapping/>
  </p:clrMapOvr>
</p:sld>
</file>

<file path=ppt/slides/slide6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189113-13FF-4277-9B97-34D4A8ED2BC9}"/>
                  </a:ext>
                </a:extLst>
              </p:cNvPr>
              <p:cNvSpPr>
                <a:spLocks noGrp="1"/>
              </p:cNvSpPr>
              <p:nvPr>
                <p:ph idx="1"/>
              </p:nvPr>
            </p:nvSpPr>
            <p:spPr>
              <a:xfrm>
                <a:off x="838200" y="396240"/>
                <a:ext cx="10515600" cy="5780723"/>
              </a:xfrm>
            </p:spPr>
            <p:txBody>
              <a:bodyPr>
                <a:normAutofit/>
              </a:bodyPr>
              <a:lstStyle/>
              <a:p>
                <a:pPr algn="just"/>
                <a:r>
                  <a:rPr lang="en-US" dirty="0"/>
                  <a:t>Fundamentally, the MSE is a measure of distance – it gives an indication of how “far away” the predictions are from the true values, on average.</a:t>
                </a:r>
              </a:p>
              <a:p>
                <a:endParaRPr lang="en-US" dirty="0"/>
              </a:p>
              <a:p>
                <a:pPr algn="just"/>
                <a:r>
                  <a:rPr lang="en-US" dirty="0"/>
                  <a:t>When working with vectors, this idea of “distance” is represented by the norm. </a:t>
                </a:r>
              </a:p>
              <a:p>
                <a:pPr algn="just"/>
                <a:endParaRPr lang="en-US" dirty="0"/>
              </a:p>
              <a:p>
                <a:pPr algn="just"/>
                <a:r>
                  <a:rPr lang="en-US" dirty="0"/>
                  <a:t>More precisely, the distance between two vectors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𝑎</m:t>
                        </m:r>
                      </m:e>
                    </m:acc>
                  </m:oMath>
                </a14:m>
                <a:r>
                  <a:rPr lang="en-US" dirty="0"/>
                  <a:t> and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𝑏</m:t>
                        </m:r>
                      </m:e>
                    </m:acc>
                    <m:r>
                      <a:rPr lang="en-US" i="1">
                        <a:latin typeface="Cambria Math" panose="02040503050406030204" pitchFamily="18" charset="0"/>
                      </a:rPr>
                      <m:t> </m:t>
                    </m:r>
                  </m:oMath>
                </a14:m>
                <a:r>
                  <a:rPr lang="en-US" dirty="0"/>
                  <a:t> can be expressed as: </a:t>
                </a:r>
              </a:p>
            </p:txBody>
          </p:sp>
        </mc:Choice>
        <mc:Fallback xmlns="">
          <p:sp>
            <p:nvSpPr>
              <p:cNvPr id="3" name="Content Placeholder 2">
                <a:extLst>
                  <a:ext uri="{FF2B5EF4-FFF2-40B4-BE49-F238E27FC236}">
                    <a16:creationId xmlns:a16="http://schemas.microsoft.com/office/drawing/2014/main" id="{54189113-13FF-4277-9B97-34D4A8ED2BC9}"/>
                  </a:ext>
                </a:extLst>
              </p:cNvPr>
              <p:cNvSpPr>
                <a:spLocks noGrp="1" noRot="1" noChangeAspect="1" noMove="1" noResize="1" noEditPoints="1" noAdjustHandles="1" noChangeArrowheads="1" noChangeShapeType="1" noTextEdit="1"/>
              </p:cNvSpPr>
              <p:nvPr>
                <p:ph idx="1"/>
              </p:nvPr>
            </p:nvSpPr>
            <p:spPr>
              <a:xfrm>
                <a:off x="838200" y="396240"/>
                <a:ext cx="10515600" cy="5780723"/>
              </a:xfrm>
              <a:blipFill>
                <a:blip r:embed="rId2"/>
                <a:stretch>
                  <a:fillRect l="-1043" t="-1688" r="-115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375A5D67-0819-4541-8510-E0BA00386EC5}"/>
              </a:ext>
            </a:extLst>
          </p:cNvPr>
          <p:cNvPicPr>
            <a:picLocks noChangeAspect="1"/>
          </p:cNvPicPr>
          <p:nvPr/>
        </p:nvPicPr>
        <p:blipFill>
          <a:blip r:embed="rId3"/>
          <a:stretch>
            <a:fillRect/>
          </a:stretch>
        </p:blipFill>
        <p:spPr>
          <a:xfrm>
            <a:off x="1598427" y="4831080"/>
            <a:ext cx="9306745" cy="1080135"/>
          </a:xfrm>
          <a:prstGeom prst="rect">
            <a:avLst/>
          </a:prstGeom>
        </p:spPr>
      </p:pic>
      <p:sp>
        <p:nvSpPr>
          <p:cNvPr id="7" name="Slide Number Placeholder 6">
            <a:extLst>
              <a:ext uri="{FF2B5EF4-FFF2-40B4-BE49-F238E27FC236}">
                <a16:creationId xmlns:a16="http://schemas.microsoft.com/office/drawing/2014/main" id="{5821E671-D971-4398-B2C4-3C30FE0C59EB}"/>
              </a:ext>
            </a:extLst>
          </p:cNvPr>
          <p:cNvSpPr>
            <a:spLocks noGrp="1"/>
          </p:cNvSpPr>
          <p:nvPr>
            <p:ph type="sldNum" sz="quarter" idx="12"/>
          </p:nvPr>
        </p:nvSpPr>
        <p:spPr/>
        <p:txBody>
          <a:bodyPr/>
          <a:lstStyle/>
          <a:p>
            <a:fld id="{6B97D948-30E8-43F7-AE10-F6E2D9F2BBB1}" type="slidenum">
              <a:rPr lang="en-US" smtClean="0"/>
              <a:t>636</a:t>
            </a:fld>
            <a:endParaRPr lang="en-US"/>
          </a:p>
        </p:txBody>
      </p:sp>
    </p:spTree>
    <p:extLst>
      <p:ext uri="{BB962C8B-B14F-4D97-AF65-F5344CB8AC3E}">
        <p14:creationId xmlns:p14="http://schemas.microsoft.com/office/powerpoint/2010/main" val="1487342191"/>
      </p:ext>
    </p:extLst>
  </p:cSld>
  <p:clrMapOvr>
    <a:masterClrMapping/>
  </p:clrMapOvr>
</p:sld>
</file>

<file path=ppt/slides/slide6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7E8612-998A-44B7-9676-27571931063A}"/>
                  </a:ext>
                </a:extLst>
              </p:cNvPr>
              <p:cNvSpPr>
                <a:spLocks noGrp="1"/>
              </p:cNvSpPr>
              <p:nvPr>
                <p:ph idx="1"/>
              </p:nvPr>
            </p:nvSpPr>
            <p:spPr>
              <a:xfrm>
                <a:off x="838200" y="594360"/>
                <a:ext cx="10515600" cy="5582603"/>
              </a:xfrm>
            </p:spPr>
            <p:txBody>
              <a:bodyPr/>
              <a:lstStyle/>
              <a:p>
                <a:pPr algn="just"/>
                <a:r>
                  <a:rPr lang="en-US" dirty="0"/>
                  <a:t>The double bars are mathematical notation for the norm. </a:t>
                </a:r>
              </a:p>
              <a:p>
                <a:pPr algn="just"/>
                <a:endParaRPr lang="en-US" dirty="0"/>
              </a:p>
              <a:p>
                <a:pPr algn="just"/>
                <a:r>
                  <a:rPr lang="en-US" dirty="0"/>
                  <a:t>The subscript 2 indicates that we are computing the L2, or squared norm.</a:t>
                </a:r>
              </a:p>
              <a:p>
                <a:pPr algn="just"/>
                <a:endParaRPr lang="en-US" dirty="0"/>
              </a:p>
              <a:p>
                <a:pPr algn="just"/>
                <a:r>
                  <a:rPr lang="en-US" dirty="0"/>
                  <a:t>Looks pretty familiar! </a:t>
                </a:r>
              </a:p>
              <a:p>
                <a:pPr algn="just"/>
                <a:endParaRPr lang="en-US" dirty="0"/>
              </a:p>
              <a:p>
                <a:pPr algn="just"/>
                <a:r>
                  <a:rPr lang="en-US" dirty="0"/>
                  <a:t>We can rewrite the MSE to express it as a squared L2 norm in terms of the prediction vector,</a:t>
                </a:r>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𝕐</m:t>
                        </m:r>
                      </m:e>
                    </m:acc>
                  </m:oMath>
                </a14:m>
                <a:r>
                  <a:rPr lang="en-US" dirty="0"/>
                  <a:t>, and true target vector, </a:t>
                </a:r>
                <a14:m>
                  <m:oMath xmlns:m="http://schemas.openxmlformats.org/officeDocument/2006/math">
                    <m:r>
                      <a:rPr lang="en-US" i="1" smtClean="0">
                        <a:latin typeface="Cambria Math" panose="02040503050406030204" pitchFamily="18" charset="0"/>
                        <a:ea typeface="Cambria Math" panose="02040503050406030204" pitchFamily="18" charset="0"/>
                      </a:rPr>
                      <m:t>𝕐</m:t>
                    </m:r>
                  </m:oMath>
                </a14:m>
                <a:r>
                  <a:rPr lang="en-US" dirty="0"/>
                  <a:t>:</a:t>
                </a:r>
              </a:p>
              <a:p>
                <a:pPr algn="just"/>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0D7E8612-998A-44B7-9676-27571931063A}"/>
                  </a:ext>
                </a:extLst>
              </p:cNvPr>
              <p:cNvSpPr>
                <a:spLocks noGrp="1" noRot="1" noChangeAspect="1" noMove="1" noResize="1" noEditPoints="1" noAdjustHandles="1" noChangeArrowheads="1" noChangeShapeType="1" noTextEdit="1"/>
              </p:cNvSpPr>
              <p:nvPr>
                <p:ph idx="1"/>
              </p:nvPr>
            </p:nvSpPr>
            <p:spPr>
              <a:xfrm>
                <a:off x="838200" y="594360"/>
                <a:ext cx="10515600" cy="5582603"/>
              </a:xfrm>
              <a:blipFill>
                <a:blip r:embed="rId2"/>
                <a:stretch>
                  <a:fillRect l="-1043" t="-1858" r="-115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6E4F231-264D-4A27-B132-C6CA88CD980E}"/>
              </a:ext>
            </a:extLst>
          </p:cNvPr>
          <p:cNvPicPr>
            <a:picLocks noChangeAspect="1"/>
          </p:cNvPicPr>
          <p:nvPr/>
        </p:nvPicPr>
        <p:blipFill>
          <a:blip r:embed="rId3"/>
          <a:stretch>
            <a:fillRect/>
          </a:stretch>
        </p:blipFill>
        <p:spPr>
          <a:xfrm>
            <a:off x="3190116" y="5135880"/>
            <a:ext cx="5942454" cy="964883"/>
          </a:xfrm>
          <a:prstGeom prst="rect">
            <a:avLst/>
          </a:prstGeom>
        </p:spPr>
      </p:pic>
      <p:sp>
        <p:nvSpPr>
          <p:cNvPr id="7" name="Slide Number Placeholder 6">
            <a:extLst>
              <a:ext uri="{FF2B5EF4-FFF2-40B4-BE49-F238E27FC236}">
                <a16:creationId xmlns:a16="http://schemas.microsoft.com/office/drawing/2014/main" id="{A02C8B74-A95B-4C27-8B67-713139F397F3}"/>
              </a:ext>
            </a:extLst>
          </p:cNvPr>
          <p:cNvSpPr>
            <a:spLocks noGrp="1"/>
          </p:cNvSpPr>
          <p:nvPr>
            <p:ph type="sldNum" sz="quarter" idx="12"/>
          </p:nvPr>
        </p:nvSpPr>
        <p:spPr/>
        <p:txBody>
          <a:bodyPr/>
          <a:lstStyle/>
          <a:p>
            <a:fld id="{6B97D948-30E8-43F7-AE10-F6E2D9F2BBB1}" type="slidenum">
              <a:rPr lang="en-US" smtClean="0"/>
              <a:t>637</a:t>
            </a:fld>
            <a:endParaRPr lang="en-US"/>
          </a:p>
        </p:txBody>
      </p:sp>
    </p:spTree>
    <p:extLst>
      <p:ext uri="{BB962C8B-B14F-4D97-AF65-F5344CB8AC3E}">
        <p14:creationId xmlns:p14="http://schemas.microsoft.com/office/powerpoint/2010/main" val="2133438142"/>
      </p:ext>
    </p:extLst>
  </p:cSld>
  <p:clrMapOvr>
    <a:masterClrMapping/>
  </p:clrMapOvr>
</p:sld>
</file>

<file path=ppt/slides/slide6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B65122-07AA-4CC5-BD9C-D59727D487A7}"/>
                  </a:ext>
                </a:extLst>
              </p:cNvPr>
              <p:cNvSpPr>
                <a:spLocks noGrp="1"/>
              </p:cNvSpPr>
              <p:nvPr>
                <p:ph idx="1"/>
              </p:nvPr>
            </p:nvSpPr>
            <p:spPr>
              <a:xfrm>
                <a:off x="838200" y="640080"/>
                <a:ext cx="10515600" cy="5536883"/>
              </a:xfrm>
            </p:spPr>
            <p:txBody>
              <a:bodyPr/>
              <a:lstStyle/>
              <a:p>
                <a:r>
                  <a:rPr lang="en-US" dirty="0"/>
                  <a:t> The superscript 2 outside of the norm double bars means that we are squaring the norm. </a:t>
                </a:r>
              </a:p>
              <a:p>
                <a:endParaRPr lang="en-US" dirty="0"/>
              </a:p>
              <a:p>
                <a:pPr algn="just"/>
                <a:r>
                  <a:rPr lang="en-US" dirty="0"/>
                  <a:t>If we plug in our linear model </a:t>
                </a:r>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𝕐</m:t>
                        </m:r>
                      </m:e>
                    </m:acc>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𝕏</m:t>
                    </m:r>
                    <m:r>
                      <a:rPr lang="en-US" b="0" i="1" smtClean="0">
                        <a:latin typeface="Cambria Math" panose="02040503050406030204" pitchFamily="18" charset="0"/>
                        <a:ea typeface="Cambria Math" panose="02040503050406030204" pitchFamily="18" charset="0"/>
                      </a:rPr>
                      <m:t>𝜃</m:t>
                    </m:r>
                  </m:oMath>
                </a14:m>
                <a:r>
                  <a:rPr lang="en-US" dirty="0"/>
                  <a:t>, we find the MSE cost function in vector notation:</a:t>
                </a:r>
              </a:p>
            </p:txBody>
          </p:sp>
        </mc:Choice>
        <mc:Fallback xmlns="">
          <p:sp>
            <p:nvSpPr>
              <p:cNvPr id="3" name="Content Placeholder 2">
                <a:extLst>
                  <a:ext uri="{FF2B5EF4-FFF2-40B4-BE49-F238E27FC236}">
                    <a16:creationId xmlns:a16="http://schemas.microsoft.com/office/drawing/2014/main" id="{2EB65122-07AA-4CC5-BD9C-D59727D487A7}"/>
                  </a:ext>
                </a:extLst>
              </p:cNvPr>
              <p:cNvSpPr>
                <a:spLocks noGrp="1" noRot="1" noChangeAspect="1" noMove="1" noResize="1" noEditPoints="1" noAdjustHandles="1" noChangeArrowheads="1" noChangeShapeType="1" noTextEdit="1"/>
              </p:cNvSpPr>
              <p:nvPr>
                <p:ph idx="1"/>
              </p:nvPr>
            </p:nvSpPr>
            <p:spPr>
              <a:xfrm>
                <a:off x="838200" y="640080"/>
                <a:ext cx="10515600" cy="5536883"/>
              </a:xfrm>
              <a:blipFill>
                <a:blip r:embed="rId2"/>
                <a:stretch>
                  <a:fillRect l="-1043" t="-1762" r="-1739"/>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A99E7DE-A743-4928-B338-806A7E9DD7AE}"/>
              </a:ext>
            </a:extLst>
          </p:cNvPr>
          <p:cNvPicPr>
            <a:picLocks noChangeAspect="1"/>
          </p:cNvPicPr>
          <p:nvPr/>
        </p:nvPicPr>
        <p:blipFill>
          <a:blip r:embed="rId3"/>
          <a:stretch>
            <a:fillRect/>
          </a:stretch>
        </p:blipFill>
        <p:spPr>
          <a:xfrm>
            <a:off x="4297680" y="3092204"/>
            <a:ext cx="3885247" cy="865434"/>
          </a:xfrm>
          <a:prstGeom prst="rect">
            <a:avLst/>
          </a:prstGeom>
        </p:spPr>
      </p:pic>
      <p:sp>
        <p:nvSpPr>
          <p:cNvPr id="8" name="Slide Number Placeholder 7">
            <a:extLst>
              <a:ext uri="{FF2B5EF4-FFF2-40B4-BE49-F238E27FC236}">
                <a16:creationId xmlns:a16="http://schemas.microsoft.com/office/drawing/2014/main" id="{C10B508F-20BA-44A8-8F85-A258EE2AECE0}"/>
              </a:ext>
            </a:extLst>
          </p:cNvPr>
          <p:cNvSpPr>
            <a:spLocks noGrp="1"/>
          </p:cNvSpPr>
          <p:nvPr>
            <p:ph type="sldNum" sz="quarter" idx="12"/>
          </p:nvPr>
        </p:nvSpPr>
        <p:spPr/>
        <p:txBody>
          <a:bodyPr/>
          <a:lstStyle/>
          <a:p>
            <a:fld id="{6B97D948-30E8-43F7-AE10-F6E2D9F2BBB1}" type="slidenum">
              <a:rPr lang="en-US" smtClean="0"/>
              <a:t>638</a:t>
            </a:fld>
            <a:endParaRPr lang="en-US"/>
          </a:p>
        </p:txBody>
      </p:sp>
    </p:spTree>
    <p:extLst>
      <p:ext uri="{BB962C8B-B14F-4D97-AF65-F5344CB8AC3E}">
        <p14:creationId xmlns:p14="http://schemas.microsoft.com/office/powerpoint/2010/main" val="301855177"/>
      </p:ext>
    </p:extLst>
  </p:cSld>
  <p:clrMapOvr>
    <a:masterClrMapping/>
  </p:clrMapOvr>
</p:sld>
</file>

<file path=ppt/slides/slide6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DBB28-D873-4CDA-92FF-D3B171B6CB06}"/>
              </a:ext>
            </a:extLst>
          </p:cNvPr>
          <p:cNvSpPr>
            <a:spLocks noGrp="1"/>
          </p:cNvSpPr>
          <p:nvPr>
            <p:ph type="title"/>
          </p:nvPr>
        </p:nvSpPr>
        <p:spPr>
          <a:xfrm>
            <a:off x="838200" y="365125"/>
            <a:ext cx="10515600" cy="716915"/>
          </a:xfrm>
        </p:spPr>
        <p:txBody>
          <a:bodyPr/>
          <a:lstStyle/>
          <a:p>
            <a:r>
              <a:rPr lang="en-US" dirty="0"/>
              <a:t>Evaluating Model Performance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1E53B9-424E-490B-AADE-7209F98A82C4}"/>
                  </a:ext>
                </a:extLst>
              </p:cNvPr>
              <p:cNvSpPr>
                <a:spLocks noGrp="1"/>
              </p:cNvSpPr>
              <p:nvPr>
                <p:ph idx="1"/>
              </p:nvPr>
            </p:nvSpPr>
            <p:spPr>
              <a:xfrm>
                <a:off x="838200" y="1082040"/>
                <a:ext cx="10515600" cy="5094923"/>
              </a:xfrm>
            </p:spPr>
            <p:txBody>
              <a:bodyPr/>
              <a:lstStyle/>
              <a:p>
                <a:pPr algn="just"/>
                <a:r>
                  <a:rPr lang="en-US" dirty="0"/>
                  <a:t>Now, we want to understand how well our fitted model performs. </a:t>
                </a:r>
              </a:p>
              <a:p>
                <a:pPr algn="just"/>
                <a:endParaRPr lang="en-US" dirty="0"/>
              </a:p>
              <a:p>
                <a:pPr algn="just"/>
                <a:r>
                  <a:rPr lang="en-US" dirty="0"/>
                  <a:t>One measure of model performance is the Root Mean Squared Error, or RMSE. </a:t>
                </a:r>
              </a:p>
              <a:p>
                <a:pPr algn="just"/>
                <a:r>
                  <a:rPr lang="en-US" dirty="0"/>
                  <a:t>The RMSE is simply the square root of MSE. </a:t>
                </a:r>
              </a:p>
              <a:p>
                <a:pPr algn="just"/>
                <a:endParaRPr lang="en-US" dirty="0"/>
              </a:p>
              <a:p>
                <a:pPr algn="just"/>
                <a:r>
                  <a:rPr lang="en-US" dirty="0"/>
                  <a:t>Taking the square root converts the value back into the original, non-squared units of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r>
                  <a:rPr lang="en-US" dirty="0"/>
                  <a:t>, which is useful for understanding the model’s performance. </a:t>
                </a:r>
              </a:p>
            </p:txBody>
          </p:sp>
        </mc:Choice>
        <mc:Fallback xmlns="">
          <p:sp>
            <p:nvSpPr>
              <p:cNvPr id="3" name="Content Placeholder 2">
                <a:extLst>
                  <a:ext uri="{FF2B5EF4-FFF2-40B4-BE49-F238E27FC236}">
                    <a16:creationId xmlns:a16="http://schemas.microsoft.com/office/drawing/2014/main" id="{231E53B9-424E-490B-AADE-7209F98A82C4}"/>
                  </a:ext>
                </a:extLst>
              </p:cNvPr>
              <p:cNvSpPr>
                <a:spLocks noGrp="1" noRot="1" noChangeAspect="1" noMove="1" noResize="1" noEditPoints="1" noAdjustHandles="1" noChangeArrowheads="1" noChangeShapeType="1" noTextEdit="1"/>
              </p:cNvSpPr>
              <p:nvPr>
                <p:ph idx="1"/>
              </p:nvPr>
            </p:nvSpPr>
            <p:spPr>
              <a:xfrm>
                <a:off x="838200" y="1082040"/>
                <a:ext cx="10515600" cy="5094923"/>
              </a:xfrm>
              <a:blipFill>
                <a:blip r:embed="rId2"/>
                <a:stretch>
                  <a:fillRect l="-1043" t="-2036"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033EE592-C2C2-4F78-A819-92985181E7EC}"/>
              </a:ext>
            </a:extLst>
          </p:cNvPr>
          <p:cNvSpPr>
            <a:spLocks noGrp="1"/>
          </p:cNvSpPr>
          <p:nvPr>
            <p:ph type="sldNum" sz="quarter" idx="12"/>
          </p:nvPr>
        </p:nvSpPr>
        <p:spPr/>
        <p:txBody>
          <a:bodyPr/>
          <a:lstStyle/>
          <a:p>
            <a:fld id="{6B97D948-30E8-43F7-AE10-F6E2D9F2BBB1}" type="slidenum">
              <a:rPr lang="en-US" smtClean="0"/>
              <a:t>639</a:t>
            </a:fld>
            <a:endParaRPr lang="en-US"/>
          </a:p>
        </p:txBody>
      </p:sp>
    </p:spTree>
    <p:extLst>
      <p:ext uri="{BB962C8B-B14F-4D97-AF65-F5344CB8AC3E}">
        <p14:creationId xmlns:p14="http://schemas.microsoft.com/office/powerpoint/2010/main" val="3434633312"/>
      </p:ext>
    </p:extLst>
  </p:cSld>
  <p:clrMapOvr>
    <a:masterClrMapping/>
  </p:clrMapOvr>
</p:sld>
</file>

<file path=ppt/slides/slide6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7AA9C3-E171-4323-A0B6-8ECC351F1A7B}"/>
              </a:ext>
            </a:extLst>
          </p:cNvPr>
          <p:cNvSpPr>
            <a:spLocks noGrp="1"/>
          </p:cNvSpPr>
          <p:nvPr>
            <p:ph idx="1"/>
          </p:nvPr>
        </p:nvSpPr>
        <p:spPr>
          <a:xfrm>
            <a:off x="838200" y="594360"/>
            <a:ext cx="10515600" cy="5582603"/>
          </a:xfrm>
        </p:spPr>
        <p:txBody>
          <a:bodyPr/>
          <a:lstStyle/>
          <a:p>
            <a:pPr algn="just"/>
            <a:r>
              <a:rPr lang="en-US" dirty="0"/>
              <a:t>A low RMSE indicates more “accurate” predictions – that there is lower average loss across the dataset.</a:t>
            </a:r>
          </a:p>
          <a:p>
            <a:pPr algn="just"/>
            <a:endParaRPr lang="en-US" dirty="0"/>
          </a:p>
          <a:p>
            <a:pPr algn="just"/>
            <a:endParaRPr lang="en-US" dirty="0"/>
          </a:p>
          <a:p>
            <a:pPr algn="just"/>
            <a:endParaRPr lang="en-US" dirty="0"/>
          </a:p>
        </p:txBody>
      </p:sp>
      <p:pic>
        <p:nvPicPr>
          <p:cNvPr id="5" name="Picture 4">
            <a:extLst>
              <a:ext uri="{FF2B5EF4-FFF2-40B4-BE49-F238E27FC236}">
                <a16:creationId xmlns:a16="http://schemas.microsoft.com/office/drawing/2014/main" id="{FE201FD4-21CB-4469-92CC-2F2216752F2C}"/>
              </a:ext>
            </a:extLst>
          </p:cNvPr>
          <p:cNvPicPr>
            <a:picLocks noChangeAspect="1"/>
          </p:cNvPicPr>
          <p:nvPr/>
        </p:nvPicPr>
        <p:blipFill>
          <a:blip r:embed="rId2"/>
          <a:stretch>
            <a:fillRect/>
          </a:stretch>
        </p:blipFill>
        <p:spPr>
          <a:xfrm>
            <a:off x="3977641" y="1805316"/>
            <a:ext cx="3456622" cy="1057899"/>
          </a:xfrm>
          <a:prstGeom prst="rect">
            <a:avLst/>
          </a:prstGeom>
        </p:spPr>
      </p:pic>
      <p:sp>
        <p:nvSpPr>
          <p:cNvPr id="7" name="Slide Number Placeholder 6">
            <a:extLst>
              <a:ext uri="{FF2B5EF4-FFF2-40B4-BE49-F238E27FC236}">
                <a16:creationId xmlns:a16="http://schemas.microsoft.com/office/drawing/2014/main" id="{3E602DB0-3452-490F-AA94-722D0E1B71B7}"/>
              </a:ext>
            </a:extLst>
          </p:cNvPr>
          <p:cNvSpPr>
            <a:spLocks noGrp="1"/>
          </p:cNvSpPr>
          <p:nvPr>
            <p:ph type="sldNum" sz="quarter" idx="12"/>
          </p:nvPr>
        </p:nvSpPr>
        <p:spPr/>
        <p:txBody>
          <a:bodyPr/>
          <a:lstStyle/>
          <a:p>
            <a:fld id="{6B97D948-30E8-43F7-AE10-F6E2D9F2BBB1}" type="slidenum">
              <a:rPr lang="en-US" smtClean="0"/>
              <a:t>640</a:t>
            </a:fld>
            <a:endParaRPr lang="en-US"/>
          </a:p>
        </p:txBody>
      </p:sp>
    </p:spTree>
    <p:extLst>
      <p:ext uri="{BB962C8B-B14F-4D97-AF65-F5344CB8AC3E}">
        <p14:creationId xmlns:p14="http://schemas.microsoft.com/office/powerpoint/2010/main" val="569848183"/>
      </p:ext>
    </p:extLst>
  </p:cSld>
  <p:clrMapOvr>
    <a:masterClrMapping/>
  </p:clrMapOvr>
</p:sld>
</file>

<file path=ppt/slides/slide6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F4B3DF8-1BA7-49E2-AB8F-3FA2E2485604}"/>
                  </a:ext>
                </a:extLst>
              </p:cNvPr>
              <p:cNvSpPr>
                <a:spLocks noGrp="1"/>
              </p:cNvSpPr>
              <p:nvPr>
                <p:ph type="title"/>
              </p:nvPr>
            </p:nvSpPr>
            <p:spPr>
              <a:xfrm>
                <a:off x="838200" y="365125"/>
                <a:ext cx="10515600" cy="671195"/>
              </a:xfrm>
            </p:spPr>
            <p:txBody>
              <a:bodyPr>
                <a:normAutofit fontScale="90000"/>
              </a:bodyPr>
              <a:lstStyle/>
              <a:p>
                <a:r>
                  <a:rPr lang="en-US" dirty="0"/>
                  <a:t>Multiple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endParaRPr lang="en-US" dirty="0"/>
              </a:p>
            </p:txBody>
          </p:sp>
        </mc:Choice>
        <mc:Fallback xmlns="">
          <p:sp>
            <p:nvSpPr>
              <p:cNvPr id="2" name="Title 1">
                <a:extLst>
                  <a:ext uri="{FF2B5EF4-FFF2-40B4-BE49-F238E27FC236}">
                    <a16:creationId xmlns:a16="http://schemas.microsoft.com/office/drawing/2014/main" id="{1F4B3DF8-1BA7-49E2-AB8F-3FA2E2485604}"/>
                  </a:ext>
                </a:extLst>
              </p:cNvPr>
              <p:cNvSpPr>
                <a:spLocks noGrp="1" noRot="1" noChangeAspect="1" noMove="1" noResize="1" noEditPoints="1" noAdjustHandles="1" noChangeArrowheads="1" noChangeShapeType="1" noTextEdit="1"/>
              </p:cNvSpPr>
              <p:nvPr>
                <p:ph type="title"/>
              </p:nvPr>
            </p:nvSpPr>
            <p:spPr>
              <a:xfrm>
                <a:off x="838200" y="365125"/>
                <a:ext cx="10515600" cy="671195"/>
              </a:xfrm>
              <a:blipFill>
                <a:blip r:embed="rId2"/>
                <a:stretch>
                  <a:fillRect l="-2087" t="-22727" b="-3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43062C-DB22-4BA4-9BD9-AD5B47F37F33}"/>
                  </a:ext>
                </a:extLst>
              </p:cNvPr>
              <p:cNvSpPr>
                <a:spLocks noGrp="1"/>
              </p:cNvSpPr>
              <p:nvPr>
                <p:ph idx="1"/>
              </p:nvPr>
            </p:nvSpPr>
            <p:spPr>
              <a:xfrm>
                <a:off x="838200" y="1036320"/>
                <a:ext cx="10515600" cy="5140643"/>
              </a:xfrm>
            </p:spPr>
            <p:txBody>
              <a:bodyPr>
                <a:normAutofit lnSpcReduction="10000"/>
              </a:bodyPr>
              <a:lstStyle/>
              <a:p>
                <a:pPr algn="just"/>
                <a:r>
                  <a:rPr lang="en-US" dirty="0"/>
                  <a:t> In a multiple linear model setting, we will need a performance metric that can account for multiple features at once. </a:t>
                </a:r>
              </a:p>
              <a:p>
                <a:pPr algn="just"/>
                <a:endParaRPr lang="en-US" dirty="0"/>
              </a:p>
              <a:p>
                <a:pPr algn="just"/>
                <a:r>
                  <a:rPr lang="en-US" dirty="0"/>
                  <a:t>Multiple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 also called the coefficient of determination, is the ratio of the variance of the predicted values </a:t>
                </a:r>
                <a14:m>
                  <m:oMath xmlns:m="http://schemas.openxmlformats.org/officeDocument/2006/math">
                    <m:sSub>
                      <m:sSubPr>
                        <m:ctrlPr>
                          <a:rPr lang="en-US" i="1">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b>
                        <m:r>
                          <a:rPr lang="en-US" i="1">
                            <a:latin typeface="Cambria Math" panose="02040503050406030204" pitchFamily="18" charset="0"/>
                          </a:rPr>
                          <m:t>𝑖</m:t>
                        </m:r>
                      </m:sub>
                    </m:sSub>
                  </m:oMath>
                </a14:m>
                <a:r>
                  <a:rPr lang="en-US" dirty="0"/>
                  <a:t> to the variance of the true values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oMath>
                </a14:m>
                <a:r>
                  <a:rPr lang="en-US" dirty="0"/>
                  <a:t>. </a:t>
                </a:r>
              </a:p>
              <a:p>
                <a:pPr algn="just"/>
                <a:r>
                  <a:rPr lang="en-US" dirty="0"/>
                  <a:t>It can be interpreted as the proportion of variance in the observations that is explained by the model.</a:t>
                </a:r>
              </a:p>
              <a:p>
                <a:pPr algn="just"/>
                <a:endParaRPr lang="en-US" dirty="0"/>
              </a:p>
              <a:p>
                <a:pPr algn="just"/>
                <a:endParaRPr lang="en-US" dirty="0"/>
              </a:p>
              <a:p>
                <a:pPr algn="just"/>
                <a:r>
                  <a:rPr lang="en-US" dirty="0"/>
                  <a:t>As we add more features, our fitted values tend to become closer and closer to our actual values. Thus,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r>
                      <a:rPr lang="en-US" b="0" i="1" smtClean="0">
                        <a:latin typeface="Cambria Math" panose="02040503050406030204" pitchFamily="18" charset="0"/>
                      </a:rPr>
                      <m:t> </m:t>
                    </m:r>
                  </m:oMath>
                </a14:m>
                <a:r>
                  <a:rPr lang="en-US" dirty="0"/>
                  <a:t>increases.</a:t>
                </a:r>
              </a:p>
            </p:txBody>
          </p:sp>
        </mc:Choice>
        <mc:Fallback xmlns="">
          <p:sp>
            <p:nvSpPr>
              <p:cNvPr id="3" name="Content Placeholder 2">
                <a:extLst>
                  <a:ext uri="{FF2B5EF4-FFF2-40B4-BE49-F238E27FC236}">
                    <a16:creationId xmlns:a16="http://schemas.microsoft.com/office/drawing/2014/main" id="{AF43062C-DB22-4BA4-9BD9-AD5B47F37F33}"/>
                  </a:ext>
                </a:extLst>
              </p:cNvPr>
              <p:cNvSpPr>
                <a:spLocks noGrp="1" noRot="1" noChangeAspect="1" noMove="1" noResize="1" noEditPoints="1" noAdjustHandles="1" noChangeArrowheads="1" noChangeShapeType="1" noTextEdit="1"/>
              </p:cNvSpPr>
              <p:nvPr>
                <p:ph idx="1"/>
              </p:nvPr>
            </p:nvSpPr>
            <p:spPr>
              <a:xfrm>
                <a:off x="838200" y="1036320"/>
                <a:ext cx="10515600" cy="5140643"/>
              </a:xfrm>
              <a:blipFill>
                <a:blip r:embed="rId3"/>
                <a:stretch>
                  <a:fillRect l="-1043" t="-2610" r="-115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54D32E6-3C20-4433-80A6-B5CA09178C49}"/>
              </a:ext>
            </a:extLst>
          </p:cNvPr>
          <p:cNvPicPr>
            <a:picLocks noChangeAspect="1"/>
          </p:cNvPicPr>
          <p:nvPr/>
        </p:nvPicPr>
        <p:blipFill>
          <a:blip r:embed="rId4"/>
          <a:stretch>
            <a:fillRect/>
          </a:stretch>
        </p:blipFill>
        <p:spPr>
          <a:xfrm>
            <a:off x="4610324" y="4251960"/>
            <a:ext cx="3416393" cy="857250"/>
          </a:xfrm>
          <a:prstGeom prst="rect">
            <a:avLst/>
          </a:prstGeom>
        </p:spPr>
      </p:pic>
      <p:sp>
        <p:nvSpPr>
          <p:cNvPr id="7" name="Slide Number Placeholder 6">
            <a:extLst>
              <a:ext uri="{FF2B5EF4-FFF2-40B4-BE49-F238E27FC236}">
                <a16:creationId xmlns:a16="http://schemas.microsoft.com/office/drawing/2014/main" id="{1ACA4747-D50E-40D1-B0C0-A73E934AA302}"/>
              </a:ext>
            </a:extLst>
          </p:cNvPr>
          <p:cNvSpPr>
            <a:spLocks noGrp="1"/>
          </p:cNvSpPr>
          <p:nvPr>
            <p:ph type="sldNum" sz="quarter" idx="12"/>
          </p:nvPr>
        </p:nvSpPr>
        <p:spPr/>
        <p:txBody>
          <a:bodyPr/>
          <a:lstStyle/>
          <a:p>
            <a:fld id="{6B97D948-30E8-43F7-AE10-F6E2D9F2BBB1}" type="slidenum">
              <a:rPr lang="en-US" smtClean="0"/>
              <a:t>641</a:t>
            </a:fld>
            <a:endParaRPr lang="en-US"/>
          </a:p>
        </p:txBody>
      </p:sp>
    </p:spTree>
    <p:extLst>
      <p:ext uri="{BB962C8B-B14F-4D97-AF65-F5344CB8AC3E}">
        <p14:creationId xmlns:p14="http://schemas.microsoft.com/office/powerpoint/2010/main" val="1820479316"/>
      </p:ext>
    </p:extLst>
  </p:cSld>
  <p:clrMapOvr>
    <a:masterClrMapping/>
  </p:clrMapOvr>
</p:sld>
</file>

<file path=ppt/slides/slide6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3A0E5-5747-474D-A5C8-5C8BB9AC44F1}"/>
              </a:ext>
            </a:extLst>
          </p:cNvPr>
          <p:cNvSpPr>
            <a:spLocks noGrp="1"/>
          </p:cNvSpPr>
          <p:nvPr>
            <p:ph type="title"/>
          </p:nvPr>
        </p:nvSpPr>
        <p:spPr>
          <a:xfrm>
            <a:off x="838200" y="365125"/>
            <a:ext cx="10515600" cy="686435"/>
          </a:xfrm>
        </p:spPr>
        <p:txBody>
          <a:bodyPr>
            <a:normAutofit fontScale="90000"/>
          </a:bodyPr>
          <a:lstStyle/>
          <a:p>
            <a:r>
              <a:rPr lang="en-US" dirty="0"/>
              <a:t>Extended Example</a:t>
            </a:r>
          </a:p>
        </p:txBody>
      </p:sp>
      <p:sp>
        <p:nvSpPr>
          <p:cNvPr id="3" name="Content Placeholder 2">
            <a:extLst>
              <a:ext uri="{FF2B5EF4-FFF2-40B4-BE49-F238E27FC236}">
                <a16:creationId xmlns:a16="http://schemas.microsoft.com/office/drawing/2014/main" id="{44209D19-07FB-43D4-8B95-0E5C61D51267}"/>
              </a:ext>
            </a:extLst>
          </p:cNvPr>
          <p:cNvSpPr>
            <a:spLocks noGrp="1"/>
          </p:cNvSpPr>
          <p:nvPr>
            <p:ph idx="1"/>
          </p:nvPr>
        </p:nvSpPr>
        <p:spPr>
          <a:xfrm>
            <a:off x="838200" y="1188720"/>
            <a:ext cx="10515600" cy="4988243"/>
          </a:xfrm>
        </p:spPr>
        <p:txBody>
          <a:bodyPr>
            <a:normAutofit lnSpcReduction="10000"/>
          </a:bodyPr>
          <a:lstStyle/>
          <a:p>
            <a:r>
              <a:rPr lang="en-US" dirty="0">
                <a:solidFill>
                  <a:srgbClr val="FF0000"/>
                </a:solidFill>
              </a:rPr>
              <a:t>import pandas as pd</a:t>
            </a:r>
          </a:p>
          <a:p>
            <a:endParaRPr lang="en-US" dirty="0">
              <a:solidFill>
                <a:srgbClr val="FF0000"/>
              </a:solidFill>
            </a:endParaRPr>
          </a:p>
          <a:p>
            <a:r>
              <a:rPr lang="en-US" dirty="0">
                <a:solidFill>
                  <a:srgbClr val="FF0000"/>
                </a:solidFill>
              </a:rPr>
              <a:t>import </a:t>
            </a:r>
            <a:r>
              <a:rPr lang="en-US" dirty="0" err="1">
                <a:solidFill>
                  <a:srgbClr val="FF0000"/>
                </a:solidFill>
              </a:rPr>
              <a:t>numpy</a:t>
            </a:r>
            <a:r>
              <a:rPr lang="en-US" dirty="0">
                <a:solidFill>
                  <a:srgbClr val="FF0000"/>
                </a:solidFill>
              </a:rPr>
              <a:t> as np</a:t>
            </a:r>
          </a:p>
          <a:p>
            <a:endParaRPr lang="en-US" dirty="0">
              <a:solidFill>
                <a:srgbClr val="FF0000"/>
              </a:solidFill>
            </a:endParaRPr>
          </a:p>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endParaRPr lang="en-US" dirty="0"/>
          </a:p>
          <a:p>
            <a:r>
              <a:rPr lang="en-US" dirty="0">
                <a:solidFill>
                  <a:srgbClr val="FF0000"/>
                </a:solidFill>
              </a:rPr>
              <a:t>%matplotlib</a:t>
            </a:r>
          </a:p>
          <a:p>
            <a:r>
              <a:rPr lang="en-US" dirty="0"/>
              <a:t>Using matplotlib backend: </a:t>
            </a:r>
            <a:r>
              <a:rPr lang="en-US" dirty="0" err="1"/>
              <a:t>QtAgg</a:t>
            </a:r>
            <a:endParaRPr lang="en-US" dirty="0"/>
          </a:p>
          <a:p>
            <a:endParaRPr lang="en-US" dirty="0"/>
          </a:p>
          <a:p>
            <a:r>
              <a:rPr lang="en-US" dirty="0">
                <a:solidFill>
                  <a:srgbClr val="FF0000"/>
                </a:solidFill>
              </a:rPr>
              <a:t>import </a:t>
            </a:r>
            <a:r>
              <a:rPr lang="en-US" dirty="0" err="1">
                <a:solidFill>
                  <a:srgbClr val="FF0000"/>
                </a:solidFill>
              </a:rPr>
              <a:t>statsmodels.formula.api</a:t>
            </a:r>
            <a:r>
              <a:rPr lang="en-US" dirty="0">
                <a:solidFill>
                  <a:srgbClr val="FF0000"/>
                </a:solidFill>
              </a:rPr>
              <a:t> as </a:t>
            </a:r>
            <a:r>
              <a:rPr lang="en-US" dirty="0" err="1">
                <a:solidFill>
                  <a:srgbClr val="FF0000"/>
                </a:solidFill>
              </a:rPr>
              <a:t>sm</a:t>
            </a:r>
            <a:endParaRPr lang="en-US" dirty="0">
              <a:solidFill>
                <a:srgbClr val="FF0000"/>
              </a:solidFill>
            </a:endParaRPr>
          </a:p>
        </p:txBody>
      </p:sp>
      <p:sp>
        <p:nvSpPr>
          <p:cNvPr id="5" name="Slide Number Placeholder 4">
            <a:extLst>
              <a:ext uri="{FF2B5EF4-FFF2-40B4-BE49-F238E27FC236}">
                <a16:creationId xmlns:a16="http://schemas.microsoft.com/office/drawing/2014/main" id="{C51C5D34-093E-40DE-A023-A649143453A4}"/>
              </a:ext>
            </a:extLst>
          </p:cNvPr>
          <p:cNvSpPr>
            <a:spLocks noGrp="1"/>
          </p:cNvSpPr>
          <p:nvPr>
            <p:ph type="sldNum" sz="quarter" idx="12"/>
          </p:nvPr>
        </p:nvSpPr>
        <p:spPr/>
        <p:txBody>
          <a:bodyPr/>
          <a:lstStyle/>
          <a:p>
            <a:fld id="{6B97D948-30E8-43F7-AE10-F6E2D9F2BBB1}" type="slidenum">
              <a:rPr lang="en-US" smtClean="0"/>
              <a:t>642</a:t>
            </a:fld>
            <a:endParaRPr lang="en-US"/>
          </a:p>
        </p:txBody>
      </p:sp>
    </p:spTree>
    <p:extLst>
      <p:ext uri="{BB962C8B-B14F-4D97-AF65-F5344CB8AC3E}">
        <p14:creationId xmlns:p14="http://schemas.microsoft.com/office/powerpoint/2010/main" val="450152755"/>
      </p:ext>
    </p:extLst>
  </p:cSld>
  <p:clrMapOvr>
    <a:masterClrMapping/>
  </p:clrMapOvr>
</p:sld>
</file>

<file path=ppt/slides/slide6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480C3C-DA31-4AB0-B345-60A652D50B25}"/>
              </a:ext>
            </a:extLst>
          </p:cNvPr>
          <p:cNvSpPr>
            <a:spLocks noGrp="1"/>
          </p:cNvSpPr>
          <p:nvPr>
            <p:ph idx="1"/>
          </p:nvPr>
        </p:nvSpPr>
        <p:spPr>
          <a:xfrm>
            <a:off x="838200" y="594360"/>
            <a:ext cx="10515600" cy="5582603"/>
          </a:xfrm>
        </p:spPr>
        <p:txBody>
          <a:bodyPr/>
          <a:lstStyle/>
          <a:p>
            <a:r>
              <a:rPr lang="en-US" dirty="0">
                <a:solidFill>
                  <a:srgbClr val="FF0000"/>
                </a:solidFill>
              </a:rPr>
              <a:t>from statsmodels.iolib.summary2 import </a:t>
            </a:r>
            <a:r>
              <a:rPr lang="en-US" dirty="0" err="1">
                <a:solidFill>
                  <a:srgbClr val="FF0000"/>
                </a:solidFill>
              </a:rPr>
              <a:t>summary_col</a:t>
            </a:r>
            <a:endParaRPr lang="en-US" dirty="0">
              <a:solidFill>
                <a:srgbClr val="FF0000"/>
              </a:solidFill>
            </a:endParaRPr>
          </a:p>
          <a:p>
            <a:endParaRPr lang="en-US" dirty="0">
              <a:solidFill>
                <a:srgbClr val="FF0000"/>
              </a:solidFill>
            </a:endParaRPr>
          </a:p>
          <a:p>
            <a:r>
              <a:rPr lang="en-US" dirty="0">
                <a:solidFill>
                  <a:srgbClr val="FF0000"/>
                </a:solidFill>
              </a:rPr>
              <a:t>from </a:t>
            </a:r>
            <a:r>
              <a:rPr lang="en-US" dirty="0" err="1">
                <a:solidFill>
                  <a:srgbClr val="FF0000"/>
                </a:solidFill>
              </a:rPr>
              <a:t>linearmodels.iv</a:t>
            </a:r>
            <a:r>
              <a:rPr lang="en-US" dirty="0">
                <a:solidFill>
                  <a:srgbClr val="FF0000"/>
                </a:solidFill>
              </a:rPr>
              <a:t> import IV2SLS</a:t>
            </a:r>
          </a:p>
          <a:p>
            <a:endParaRPr lang="en-US" dirty="0">
              <a:solidFill>
                <a:srgbClr val="FF0000"/>
              </a:solidFill>
            </a:endParaRPr>
          </a:p>
          <a:p>
            <a:r>
              <a:rPr lang="en-US" dirty="0">
                <a:solidFill>
                  <a:srgbClr val="FF0000"/>
                </a:solidFill>
              </a:rPr>
              <a:t>import seaborn as </a:t>
            </a:r>
            <a:r>
              <a:rPr lang="en-US" dirty="0" err="1">
                <a:solidFill>
                  <a:srgbClr val="FF0000"/>
                </a:solidFill>
              </a:rPr>
              <a:t>sns</a:t>
            </a:r>
            <a:endParaRPr lang="en-US" dirty="0">
              <a:solidFill>
                <a:srgbClr val="FF0000"/>
              </a:solidFill>
            </a:endParaRPr>
          </a:p>
          <a:p>
            <a:endParaRPr lang="en-US" dirty="0">
              <a:solidFill>
                <a:srgbClr val="FF0000"/>
              </a:solidFill>
            </a:endParaRPr>
          </a:p>
          <a:p>
            <a:r>
              <a:rPr lang="en-US" dirty="0" err="1">
                <a:solidFill>
                  <a:srgbClr val="FF0000"/>
                </a:solidFill>
              </a:rPr>
              <a:t>sns.set_theme</a:t>
            </a:r>
            <a:r>
              <a:rPr lang="en-US" dirty="0">
                <a:solidFill>
                  <a:srgbClr val="FF0000"/>
                </a:solidFill>
              </a:rPr>
              <a:t>()</a:t>
            </a:r>
          </a:p>
        </p:txBody>
      </p:sp>
      <p:sp>
        <p:nvSpPr>
          <p:cNvPr id="5" name="Slide Number Placeholder 4">
            <a:extLst>
              <a:ext uri="{FF2B5EF4-FFF2-40B4-BE49-F238E27FC236}">
                <a16:creationId xmlns:a16="http://schemas.microsoft.com/office/drawing/2014/main" id="{C91950A8-5405-469F-96F4-A7DA06112444}"/>
              </a:ext>
            </a:extLst>
          </p:cNvPr>
          <p:cNvSpPr>
            <a:spLocks noGrp="1"/>
          </p:cNvSpPr>
          <p:nvPr>
            <p:ph type="sldNum" sz="quarter" idx="12"/>
          </p:nvPr>
        </p:nvSpPr>
        <p:spPr/>
        <p:txBody>
          <a:bodyPr/>
          <a:lstStyle/>
          <a:p>
            <a:fld id="{6B97D948-30E8-43F7-AE10-F6E2D9F2BBB1}" type="slidenum">
              <a:rPr lang="en-US" smtClean="0"/>
              <a:t>643</a:t>
            </a:fld>
            <a:endParaRPr lang="en-US"/>
          </a:p>
        </p:txBody>
      </p:sp>
    </p:spTree>
    <p:extLst>
      <p:ext uri="{BB962C8B-B14F-4D97-AF65-F5344CB8AC3E}">
        <p14:creationId xmlns:p14="http://schemas.microsoft.com/office/powerpoint/2010/main" val="2059051960"/>
      </p:ext>
    </p:extLst>
  </p:cSld>
  <p:clrMapOvr>
    <a:masterClrMapping/>
  </p:clrMapOvr>
</p:sld>
</file>

<file path=ppt/slides/slide6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D18D98-DC62-4A38-AE2C-A023658E2DEA}"/>
              </a:ext>
            </a:extLst>
          </p:cNvPr>
          <p:cNvSpPr>
            <a:spLocks noGrp="1"/>
          </p:cNvSpPr>
          <p:nvPr>
            <p:ph idx="1"/>
          </p:nvPr>
        </p:nvSpPr>
        <p:spPr>
          <a:xfrm>
            <a:off x="838200" y="548640"/>
            <a:ext cx="10515600" cy="5628323"/>
          </a:xfrm>
        </p:spPr>
        <p:txBody>
          <a:bodyPr>
            <a:normAutofit/>
          </a:bodyPr>
          <a:lstStyle/>
          <a:p>
            <a:r>
              <a:rPr lang="en-US" dirty="0">
                <a:solidFill>
                  <a:srgbClr val="FF0000"/>
                </a:solidFill>
              </a:rPr>
              <a:t>df = </a:t>
            </a:r>
            <a:r>
              <a:rPr lang="en-US" dirty="0" err="1">
                <a:solidFill>
                  <a:srgbClr val="FF0000"/>
                </a:solidFill>
              </a:rPr>
              <a:t>pd.read_csv</a:t>
            </a:r>
            <a:r>
              <a:rPr lang="en-US" dirty="0">
                <a:solidFill>
                  <a:srgbClr val="FF0000"/>
                </a:solidFill>
              </a:rPr>
              <a:t>('Advertising.csv')</a:t>
            </a:r>
          </a:p>
          <a:p>
            <a:endParaRPr lang="en-US" dirty="0">
              <a:solidFill>
                <a:srgbClr val="FF0000"/>
              </a:solidFill>
            </a:endParaRPr>
          </a:p>
          <a:p>
            <a:r>
              <a:rPr lang="en-US" dirty="0" err="1">
                <a:solidFill>
                  <a:srgbClr val="FF0000"/>
                </a:solidFill>
              </a:rPr>
              <a:t>df.head</a:t>
            </a:r>
            <a:r>
              <a:rPr lang="en-US" dirty="0">
                <a:solidFill>
                  <a:srgbClr val="FF0000"/>
                </a:solidFill>
              </a:rPr>
              <a:t>()</a:t>
            </a:r>
          </a:p>
          <a:p>
            <a:r>
              <a:rPr lang="en-US" dirty="0"/>
              <a:t>Out[20]:</a:t>
            </a:r>
          </a:p>
          <a:p>
            <a:r>
              <a:rPr lang="en-US" dirty="0"/>
              <a:t>      TV  Radio  Newspaper  Sales</a:t>
            </a:r>
          </a:p>
          <a:p>
            <a:r>
              <a:rPr lang="en-US" dirty="0"/>
              <a:t>0  230.1   37.8       69.2   22.1</a:t>
            </a:r>
          </a:p>
          <a:p>
            <a:r>
              <a:rPr lang="en-US" dirty="0"/>
              <a:t>1   44.5   39.3       45.1   10.4</a:t>
            </a:r>
          </a:p>
          <a:p>
            <a:r>
              <a:rPr lang="en-US" dirty="0"/>
              <a:t>2   17.2   45.9       69.3   12.0</a:t>
            </a:r>
          </a:p>
          <a:p>
            <a:r>
              <a:rPr lang="en-US" dirty="0"/>
              <a:t>3  151.5   41.3       58.5   16.5</a:t>
            </a:r>
          </a:p>
          <a:p>
            <a:r>
              <a:rPr lang="en-US" dirty="0"/>
              <a:t>4  180.8   10.8       58.4   17.9</a:t>
            </a:r>
          </a:p>
        </p:txBody>
      </p:sp>
      <p:sp>
        <p:nvSpPr>
          <p:cNvPr id="5" name="Slide Number Placeholder 4">
            <a:extLst>
              <a:ext uri="{FF2B5EF4-FFF2-40B4-BE49-F238E27FC236}">
                <a16:creationId xmlns:a16="http://schemas.microsoft.com/office/drawing/2014/main" id="{2211DAE6-1491-4C8D-9F5B-B3332FCE4CA1}"/>
              </a:ext>
            </a:extLst>
          </p:cNvPr>
          <p:cNvSpPr>
            <a:spLocks noGrp="1"/>
          </p:cNvSpPr>
          <p:nvPr>
            <p:ph type="sldNum" sz="quarter" idx="12"/>
          </p:nvPr>
        </p:nvSpPr>
        <p:spPr/>
        <p:txBody>
          <a:bodyPr/>
          <a:lstStyle/>
          <a:p>
            <a:fld id="{6B97D948-30E8-43F7-AE10-F6E2D9F2BBB1}" type="slidenum">
              <a:rPr lang="en-US" smtClean="0"/>
              <a:t>644</a:t>
            </a:fld>
            <a:endParaRPr lang="en-US"/>
          </a:p>
        </p:txBody>
      </p:sp>
    </p:spTree>
    <p:extLst>
      <p:ext uri="{BB962C8B-B14F-4D97-AF65-F5344CB8AC3E}">
        <p14:creationId xmlns:p14="http://schemas.microsoft.com/office/powerpoint/2010/main" val="4043160948"/>
      </p:ext>
    </p:extLst>
  </p:cSld>
  <p:clrMapOvr>
    <a:masterClrMapping/>
  </p:clrMapOvr>
</p:sld>
</file>

<file path=ppt/slides/slide6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D2785D-0C97-44B3-BF1C-F82AB09ED788}"/>
              </a:ext>
            </a:extLst>
          </p:cNvPr>
          <p:cNvSpPr>
            <a:spLocks noGrp="1"/>
          </p:cNvSpPr>
          <p:nvPr>
            <p:ph idx="1"/>
          </p:nvPr>
        </p:nvSpPr>
        <p:spPr>
          <a:xfrm>
            <a:off x="838200" y="655320"/>
            <a:ext cx="10515600" cy="5521643"/>
          </a:xfrm>
        </p:spPr>
        <p:txBody>
          <a:bodyPr/>
          <a:lstStyle/>
          <a:p>
            <a:r>
              <a:rPr lang="en-US" dirty="0" err="1">
                <a:solidFill>
                  <a:srgbClr val="FF0000"/>
                </a:solidFill>
              </a:rPr>
              <a:t>df.corr</a:t>
            </a:r>
            <a:r>
              <a:rPr lang="en-US" dirty="0">
                <a:solidFill>
                  <a:srgbClr val="FF0000"/>
                </a:solidFill>
              </a:rPr>
              <a:t>()</a:t>
            </a:r>
          </a:p>
          <a:p>
            <a:r>
              <a:rPr lang="en-US" dirty="0"/>
              <a:t>Out[21]:</a:t>
            </a:r>
          </a:p>
          <a:p>
            <a:r>
              <a:rPr lang="en-US" dirty="0"/>
              <a:t>                 TV     Radio  Newspaper     Sales</a:t>
            </a:r>
          </a:p>
          <a:p>
            <a:r>
              <a:rPr lang="en-US" dirty="0"/>
              <a:t>TV         1.000000  0.054809   0.056648  0.901208</a:t>
            </a:r>
          </a:p>
          <a:p>
            <a:r>
              <a:rPr lang="en-US" dirty="0"/>
              <a:t>Radio      0.054809  1.000000   0.354104  0.349631</a:t>
            </a:r>
          </a:p>
          <a:p>
            <a:r>
              <a:rPr lang="en-US" dirty="0"/>
              <a:t>Newspaper  0.056648  0.354104   1.000000  0.157960</a:t>
            </a:r>
          </a:p>
          <a:p>
            <a:r>
              <a:rPr lang="en-US" dirty="0"/>
              <a:t>Sales      0.901208  0.349631   0.157960  1.000000</a:t>
            </a:r>
          </a:p>
        </p:txBody>
      </p:sp>
      <p:sp>
        <p:nvSpPr>
          <p:cNvPr id="5" name="Slide Number Placeholder 4">
            <a:extLst>
              <a:ext uri="{FF2B5EF4-FFF2-40B4-BE49-F238E27FC236}">
                <a16:creationId xmlns:a16="http://schemas.microsoft.com/office/drawing/2014/main" id="{5A484E67-A23B-4B3F-911D-31CC19E670C9}"/>
              </a:ext>
            </a:extLst>
          </p:cNvPr>
          <p:cNvSpPr>
            <a:spLocks noGrp="1"/>
          </p:cNvSpPr>
          <p:nvPr>
            <p:ph type="sldNum" sz="quarter" idx="12"/>
          </p:nvPr>
        </p:nvSpPr>
        <p:spPr/>
        <p:txBody>
          <a:bodyPr/>
          <a:lstStyle/>
          <a:p>
            <a:fld id="{6B97D948-30E8-43F7-AE10-F6E2D9F2BBB1}" type="slidenum">
              <a:rPr lang="en-US" smtClean="0"/>
              <a:t>645</a:t>
            </a:fld>
            <a:endParaRPr lang="en-US"/>
          </a:p>
        </p:txBody>
      </p:sp>
    </p:spTree>
    <p:extLst>
      <p:ext uri="{BB962C8B-B14F-4D97-AF65-F5344CB8AC3E}">
        <p14:creationId xmlns:p14="http://schemas.microsoft.com/office/powerpoint/2010/main" val="750582207"/>
      </p:ext>
    </p:extLst>
  </p:cSld>
  <p:clrMapOvr>
    <a:masterClrMapping/>
  </p:clrMapOvr>
</p:sld>
</file>

<file path=ppt/slides/slide6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3F9874-998A-4AFB-AB8D-DB95407262B7}"/>
              </a:ext>
            </a:extLst>
          </p:cNvPr>
          <p:cNvSpPr>
            <a:spLocks noGrp="1"/>
          </p:cNvSpPr>
          <p:nvPr>
            <p:ph idx="1"/>
          </p:nvPr>
        </p:nvSpPr>
        <p:spPr>
          <a:xfrm>
            <a:off x="838200" y="548640"/>
            <a:ext cx="10515600" cy="5628323"/>
          </a:xfrm>
        </p:spPr>
        <p:txBody>
          <a:bodyPr>
            <a:normAutofit/>
          </a:bodyPr>
          <a:lstStyle/>
          <a:p>
            <a:r>
              <a:rPr lang="en-US" dirty="0">
                <a:solidFill>
                  <a:srgbClr val="FF0000"/>
                </a:solidFill>
              </a:rPr>
              <a:t> fig, ax = </a:t>
            </a:r>
            <a:r>
              <a:rPr lang="en-US" dirty="0" err="1">
                <a:solidFill>
                  <a:srgbClr val="FF0000"/>
                </a:solidFill>
              </a:rPr>
              <a:t>plt.subplots</a:t>
            </a:r>
            <a:r>
              <a:rPr lang="en-US" dirty="0">
                <a:solidFill>
                  <a:srgbClr val="FF0000"/>
                </a:solidFill>
              </a:rPr>
              <a:t>(2, 2, </a:t>
            </a:r>
            <a:r>
              <a:rPr lang="en-US" dirty="0" err="1">
                <a:solidFill>
                  <a:srgbClr val="FF0000"/>
                </a:solidFill>
              </a:rPr>
              <a:t>figsize</a:t>
            </a:r>
            <a:r>
              <a:rPr lang="en-US" dirty="0">
                <a:solidFill>
                  <a:srgbClr val="FF0000"/>
                </a:solidFill>
              </a:rPr>
              <a:t> = (10, 8))</a:t>
            </a:r>
          </a:p>
          <a:p>
            <a:endParaRPr lang="en-US" dirty="0">
              <a:solidFill>
                <a:srgbClr val="FF0000"/>
              </a:solidFill>
            </a:endParaRPr>
          </a:p>
          <a:p>
            <a:r>
              <a:rPr lang="en-US" dirty="0">
                <a:solidFill>
                  <a:srgbClr val="FF0000"/>
                </a:solidFill>
              </a:rPr>
              <a:t>ax[0, 0].scatter(</a:t>
            </a:r>
            <a:r>
              <a:rPr lang="en-US" dirty="0" err="1">
                <a:solidFill>
                  <a:srgbClr val="FF0000"/>
                </a:solidFill>
              </a:rPr>
              <a:t>df.Radio</a:t>
            </a:r>
            <a:r>
              <a:rPr lang="en-US" dirty="0">
                <a:solidFill>
                  <a:srgbClr val="FF0000"/>
                </a:solidFill>
              </a:rPr>
              <a:t>, </a:t>
            </a:r>
            <a:r>
              <a:rPr lang="en-US" dirty="0" err="1">
                <a:solidFill>
                  <a:srgbClr val="FF0000"/>
                </a:solidFill>
              </a:rPr>
              <a:t>df.Sales</a:t>
            </a:r>
            <a:r>
              <a:rPr lang="en-US" dirty="0">
                <a:solidFill>
                  <a:srgbClr val="FF0000"/>
                </a:solidFill>
              </a:rPr>
              <a:t>)</a:t>
            </a:r>
          </a:p>
          <a:p>
            <a:endParaRPr lang="en-US" dirty="0">
              <a:solidFill>
                <a:srgbClr val="FF0000"/>
              </a:solidFill>
            </a:endParaRPr>
          </a:p>
          <a:p>
            <a:r>
              <a:rPr lang="en-US" dirty="0">
                <a:solidFill>
                  <a:srgbClr val="FF0000"/>
                </a:solidFill>
              </a:rPr>
              <a:t>ax[0, 0].</a:t>
            </a:r>
            <a:r>
              <a:rPr lang="en-US" dirty="0" err="1">
                <a:solidFill>
                  <a:srgbClr val="FF0000"/>
                </a:solidFill>
              </a:rPr>
              <a:t>set_xlabel</a:t>
            </a:r>
            <a:r>
              <a:rPr lang="en-US" dirty="0">
                <a:solidFill>
                  <a:srgbClr val="FF0000"/>
                </a:solidFill>
              </a:rPr>
              <a:t>('Radio')</a:t>
            </a:r>
          </a:p>
          <a:p>
            <a:endParaRPr lang="en-US" dirty="0">
              <a:solidFill>
                <a:srgbClr val="FF0000"/>
              </a:solidFill>
            </a:endParaRPr>
          </a:p>
          <a:p>
            <a:r>
              <a:rPr lang="en-US" dirty="0">
                <a:solidFill>
                  <a:srgbClr val="FF0000"/>
                </a:solidFill>
              </a:rPr>
              <a:t>ax[0, 0].</a:t>
            </a:r>
            <a:r>
              <a:rPr lang="en-US" dirty="0" err="1">
                <a:solidFill>
                  <a:srgbClr val="FF0000"/>
                </a:solidFill>
              </a:rPr>
              <a:t>set_ylabel</a:t>
            </a:r>
            <a:r>
              <a:rPr lang="en-US" dirty="0">
                <a:solidFill>
                  <a:srgbClr val="FF0000"/>
                </a:solidFill>
              </a:rPr>
              <a:t>(‘Sales’)</a:t>
            </a:r>
          </a:p>
          <a:p>
            <a:endParaRPr lang="en-US" dirty="0">
              <a:solidFill>
                <a:srgbClr val="FF0000"/>
              </a:solidFill>
            </a:endParaRPr>
          </a:p>
          <a:p>
            <a:r>
              <a:rPr lang="en-US" dirty="0">
                <a:solidFill>
                  <a:srgbClr val="FF0000"/>
                </a:solidFill>
              </a:rPr>
              <a:t>ax[0, 1].scatter(df.TV, </a:t>
            </a:r>
            <a:r>
              <a:rPr lang="en-US" dirty="0" err="1">
                <a:solidFill>
                  <a:srgbClr val="FF0000"/>
                </a:solidFill>
              </a:rPr>
              <a:t>df.Sales</a:t>
            </a:r>
            <a:r>
              <a:rPr lang="en-US" dirty="0">
                <a:solidFill>
                  <a:srgbClr val="FF0000"/>
                </a:solidFill>
              </a:rPr>
              <a:t>)</a:t>
            </a:r>
          </a:p>
          <a:p>
            <a:endParaRPr lang="en-US" dirty="0">
              <a:solidFill>
                <a:srgbClr val="FF0000"/>
              </a:solidFill>
            </a:endParaRPr>
          </a:p>
          <a:p>
            <a:r>
              <a:rPr lang="en-US" dirty="0">
                <a:solidFill>
                  <a:srgbClr val="FF0000"/>
                </a:solidFill>
              </a:rPr>
              <a:t>ax[0, 1].</a:t>
            </a:r>
            <a:r>
              <a:rPr lang="en-US" dirty="0" err="1">
                <a:solidFill>
                  <a:srgbClr val="FF0000"/>
                </a:solidFill>
              </a:rPr>
              <a:t>set_xlabel</a:t>
            </a:r>
            <a:r>
              <a:rPr lang="en-US" dirty="0">
                <a:solidFill>
                  <a:srgbClr val="FF0000"/>
                </a:solidFill>
              </a:rPr>
              <a:t>('TV')</a:t>
            </a:r>
          </a:p>
          <a:p>
            <a:endParaRPr lang="en-US" dirty="0"/>
          </a:p>
          <a:p>
            <a:endParaRPr lang="en-US" dirty="0"/>
          </a:p>
        </p:txBody>
      </p:sp>
      <p:sp>
        <p:nvSpPr>
          <p:cNvPr id="5" name="Slide Number Placeholder 4">
            <a:extLst>
              <a:ext uri="{FF2B5EF4-FFF2-40B4-BE49-F238E27FC236}">
                <a16:creationId xmlns:a16="http://schemas.microsoft.com/office/drawing/2014/main" id="{8B29492F-31FA-4FD9-8588-22F0C0FD8952}"/>
              </a:ext>
            </a:extLst>
          </p:cNvPr>
          <p:cNvSpPr>
            <a:spLocks noGrp="1"/>
          </p:cNvSpPr>
          <p:nvPr>
            <p:ph type="sldNum" sz="quarter" idx="12"/>
          </p:nvPr>
        </p:nvSpPr>
        <p:spPr/>
        <p:txBody>
          <a:bodyPr/>
          <a:lstStyle/>
          <a:p>
            <a:fld id="{6B97D948-30E8-43F7-AE10-F6E2D9F2BBB1}" type="slidenum">
              <a:rPr lang="en-US" smtClean="0"/>
              <a:t>646</a:t>
            </a:fld>
            <a:endParaRPr lang="en-US"/>
          </a:p>
        </p:txBody>
      </p:sp>
    </p:spTree>
    <p:extLst>
      <p:ext uri="{BB962C8B-B14F-4D97-AF65-F5344CB8AC3E}">
        <p14:creationId xmlns:p14="http://schemas.microsoft.com/office/powerpoint/2010/main" val="2783152476"/>
      </p:ext>
    </p:extLst>
  </p:cSld>
  <p:clrMapOvr>
    <a:masterClrMapping/>
  </p:clrMapOvr>
</p:sld>
</file>

<file path=ppt/slides/slide6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B57FD3-6382-4A31-A5D7-6E74349F2B4E}"/>
              </a:ext>
            </a:extLst>
          </p:cNvPr>
          <p:cNvSpPr>
            <a:spLocks noGrp="1"/>
          </p:cNvSpPr>
          <p:nvPr>
            <p:ph idx="1"/>
          </p:nvPr>
        </p:nvSpPr>
        <p:spPr>
          <a:xfrm>
            <a:off x="838200" y="472440"/>
            <a:ext cx="10515600" cy="5704523"/>
          </a:xfrm>
        </p:spPr>
        <p:txBody>
          <a:bodyPr>
            <a:normAutofit/>
          </a:bodyPr>
          <a:lstStyle/>
          <a:p>
            <a:r>
              <a:rPr lang="en-US" dirty="0">
                <a:solidFill>
                  <a:srgbClr val="FF0000"/>
                </a:solidFill>
              </a:rPr>
              <a:t>ax[1, 0].scatter(</a:t>
            </a:r>
            <a:r>
              <a:rPr lang="en-US" dirty="0" err="1">
                <a:solidFill>
                  <a:srgbClr val="FF0000"/>
                </a:solidFill>
              </a:rPr>
              <a:t>df.Newspaper</a:t>
            </a:r>
            <a:r>
              <a:rPr lang="en-US" dirty="0">
                <a:solidFill>
                  <a:srgbClr val="FF0000"/>
                </a:solidFill>
              </a:rPr>
              <a:t>, </a:t>
            </a:r>
            <a:r>
              <a:rPr lang="en-US" dirty="0" err="1">
                <a:solidFill>
                  <a:srgbClr val="FF0000"/>
                </a:solidFill>
              </a:rPr>
              <a:t>df.Sales</a:t>
            </a:r>
            <a:r>
              <a:rPr lang="en-US" dirty="0">
                <a:solidFill>
                  <a:srgbClr val="FF0000"/>
                </a:solidFill>
              </a:rPr>
              <a:t>)</a:t>
            </a:r>
          </a:p>
          <a:p>
            <a:endParaRPr lang="en-US" dirty="0">
              <a:solidFill>
                <a:srgbClr val="FF0000"/>
              </a:solidFill>
            </a:endParaRPr>
          </a:p>
          <a:p>
            <a:endParaRPr lang="en-US" dirty="0">
              <a:solidFill>
                <a:srgbClr val="FF0000"/>
              </a:solidFill>
            </a:endParaRPr>
          </a:p>
          <a:p>
            <a:r>
              <a:rPr lang="en-US" dirty="0">
                <a:solidFill>
                  <a:srgbClr val="FF0000"/>
                </a:solidFill>
              </a:rPr>
              <a:t>ax[1, 0].</a:t>
            </a:r>
            <a:r>
              <a:rPr lang="en-US" dirty="0" err="1">
                <a:solidFill>
                  <a:srgbClr val="FF0000"/>
                </a:solidFill>
              </a:rPr>
              <a:t>set_xlabel</a:t>
            </a:r>
            <a:r>
              <a:rPr lang="en-US" dirty="0">
                <a:solidFill>
                  <a:srgbClr val="FF0000"/>
                </a:solidFill>
              </a:rPr>
              <a:t>('Newspaper’)</a:t>
            </a:r>
          </a:p>
          <a:p>
            <a:endParaRPr lang="en-US" dirty="0">
              <a:solidFill>
                <a:srgbClr val="FF0000"/>
              </a:solidFill>
            </a:endParaRPr>
          </a:p>
          <a:p>
            <a:r>
              <a:rPr lang="en-US" dirty="0">
                <a:solidFill>
                  <a:srgbClr val="FF0000"/>
                </a:solidFill>
              </a:rPr>
              <a:t>ax[1, 0].</a:t>
            </a:r>
            <a:r>
              <a:rPr lang="en-US" dirty="0" err="1">
                <a:solidFill>
                  <a:srgbClr val="FF0000"/>
                </a:solidFill>
              </a:rPr>
              <a:t>set_ylabel</a:t>
            </a:r>
            <a:r>
              <a:rPr lang="en-US" dirty="0">
                <a:solidFill>
                  <a:srgbClr val="FF0000"/>
                </a:solidFill>
              </a:rPr>
              <a:t>('Sales')</a:t>
            </a:r>
          </a:p>
          <a:p>
            <a:endParaRPr lang="en-US" dirty="0">
              <a:solidFill>
                <a:srgbClr val="FF0000"/>
              </a:solidFill>
            </a:endParaRPr>
          </a:p>
          <a:p>
            <a:r>
              <a:rPr lang="en-US" dirty="0">
                <a:solidFill>
                  <a:srgbClr val="FF0000"/>
                </a:solidFill>
              </a:rPr>
              <a:t>ax[1, 1].scatter(</a:t>
            </a:r>
            <a:r>
              <a:rPr lang="en-US" dirty="0" err="1">
                <a:solidFill>
                  <a:srgbClr val="FF0000"/>
                </a:solidFill>
              </a:rPr>
              <a:t>df.Sales</a:t>
            </a:r>
            <a:r>
              <a:rPr lang="en-US" dirty="0">
                <a:solidFill>
                  <a:srgbClr val="FF0000"/>
                </a:solidFill>
              </a:rPr>
              <a:t>, </a:t>
            </a:r>
            <a:r>
              <a:rPr lang="en-US" dirty="0" err="1">
                <a:solidFill>
                  <a:srgbClr val="FF0000"/>
                </a:solidFill>
              </a:rPr>
              <a:t>df.Sales</a:t>
            </a:r>
            <a:r>
              <a:rPr lang="en-US" dirty="0">
                <a:solidFill>
                  <a:srgbClr val="FF0000"/>
                </a:solidFill>
              </a:rPr>
              <a:t>)</a:t>
            </a:r>
          </a:p>
          <a:p>
            <a:endParaRPr lang="en-US" dirty="0">
              <a:solidFill>
                <a:srgbClr val="FF0000"/>
              </a:solidFill>
            </a:endParaRPr>
          </a:p>
          <a:p>
            <a:r>
              <a:rPr lang="en-US" dirty="0">
                <a:solidFill>
                  <a:srgbClr val="FF0000"/>
                </a:solidFill>
              </a:rPr>
              <a:t>ax[1, 1].</a:t>
            </a:r>
            <a:r>
              <a:rPr lang="en-US" dirty="0" err="1">
                <a:solidFill>
                  <a:srgbClr val="FF0000"/>
                </a:solidFill>
              </a:rPr>
              <a:t>set_xlabel</a:t>
            </a:r>
            <a:r>
              <a:rPr lang="en-US" dirty="0">
                <a:solidFill>
                  <a:srgbClr val="FF0000"/>
                </a:solidFill>
              </a:rPr>
              <a:t>('Sales')</a:t>
            </a:r>
          </a:p>
        </p:txBody>
      </p:sp>
      <p:sp>
        <p:nvSpPr>
          <p:cNvPr id="5" name="Slide Number Placeholder 4">
            <a:extLst>
              <a:ext uri="{FF2B5EF4-FFF2-40B4-BE49-F238E27FC236}">
                <a16:creationId xmlns:a16="http://schemas.microsoft.com/office/drawing/2014/main" id="{99865FA8-88E7-4F0F-8C95-21A5953F30C8}"/>
              </a:ext>
            </a:extLst>
          </p:cNvPr>
          <p:cNvSpPr>
            <a:spLocks noGrp="1"/>
          </p:cNvSpPr>
          <p:nvPr>
            <p:ph type="sldNum" sz="quarter" idx="12"/>
          </p:nvPr>
        </p:nvSpPr>
        <p:spPr/>
        <p:txBody>
          <a:bodyPr/>
          <a:lstStyle/>
          <a:p>
            <a:fld id="{6B97D948-30E8-43F7-AE10-F6E2D9F2BBB1}" type="slidenum">
              <a:rPr lang="en-US" smtClean="0"/>
              <a:t>647</a:t>
            </a:fld>
            <a:endParaRPr lang="en-US"/>
          </a:p>
        </p:txBody>
      </p:sp>
    </p:spTree>
    <p:extLst>
      <p:ext uri="{BB962C8B-B14F-4D97-AF65-F5344CB8AC3E}">
        <p14:creationId xmlns:p14="http://schemas.microsoft.com/office/powerpoint/2010/main" val="1218013022"/>
      </p:ext>
    </p:extLst>
  </p:cSld>
  <p:clrMapOvr>
    <a:masterClrMapping/>
  </p:clrMapOvr>
</p:sld>
</file>

<file path=ppt/slides/slide6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AE2F76B-23C6-4A36-8197-29381DE832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4062" y="548640"/>
            <a:ext cx="7264004" cy="5811203"/>
          </a:xfrm>
        </p:spPr>
      </p:pic>
      <p:sp>
        <p:nvSpPr>
          <p:cNvPr id="7" name="Slide Number Placeholder 6">
            <a:extLst>
              <a:ext uri="{FF2B5EF4-FFF2-40B4-BE49-F238E27FC236}">
                <a16:creationId xmlns:a16="http://schemas.microsoft.com/office/drawing/2014/main" id="{40E4049A-6441-447C-8089-56230824C40D}"/>
              </a:ext>
            </a:extLst>
          </p:cNvPr>
          <p:cNvSpPr>
            <a:spLocks noGrp="1"/>
          </p:cNvSpPr>
          <p:nvPr>
            <p:ph type="sldNum" sz="quarter" idx="12"/>
          </p:nvPr>
        </p:nvSpPr>
        <p:spPr/>
        <p:txBody>
          <a:bodyPr/>
          <a:lstStyle/>
          <a:p>
            <a:fld id="{6B97D948-30E8-43F7-AE10-F6E2D9F2BBB1}" type="slidenum">
              <a:rPr lang="en-US" smtClean="0"/>
              <a:t>648</a:t>
            </a:fld>
            <a:endParaRPr lang="en-US"/>
          </a:p>
        </p:txBody>
      </p:sp>
    </p:spTree>
    <p:extLst>
      <p:ext uri="{BB962C8B-B14F-4D97-AF65-F5344CB8AC3E}">
        <p14:creationId xmlns:p14="http://schemas.microsoft.com/office/powerpoint/2010/main" val="3420530864"/>
      </p:ext>
    </p:extLst>
  </p:cSld>
  <p:clrMapOvr>
    <a:masterClrMapping/>
  </p:clrMapOvr>
</p:sld>
</file>

<file path=ppt/slides/slide6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F348-282A-442A-A637-1C6634112BBE}"/>
              </a:ext>
            </a:extLst>
          </p:cNvPr>
          <p:cNvSpPr>
            <a:spLocks noGrp="1"/>
          </p:cNvSpPr>
          <p:nvPr>
            <p:ph type="title"/>
          </p:nvPr>
        </p:nvSpPr>
        <p:spPr>
          <a:xfrm>
            <a:off x="838200" y="365125"/>
            <a:ext cx="10515600" cy="561975"/>
          </a:xfrm>
        </p:spPr>
        <p:txBody>
          <a:bodyPr>
            <a:normAutofit fontScale="90000"/>
          </a:bodyPr>
          <a:lstStyle/>
          <a:p>
            <a:r>
              <a:rPr lang="en-US" dirty="0"/>
              <a:t>Fit Model</a:t>
            </a:r>
          </a:p>
        </p:txBody>
      </p:sp>
      <p:sp>
        <p:nvSpPr>
          <p:cNvPr id="3" name="Content Placeholder 2">
            <a:extLst>
              <a:ext uri="{FF2B5EF4-FFF2-40B4-BE49-F238E27FC236}">
                <a16:creationId xmlns:a16="http://schemas.microsoft.com/office/drawing/2014/main" id="{120CD188-1F07-4F21-90E8-DC57D273879E}"/>
              </a:ext>
            </a:extLst>
          </p:cNvPr>
          <p:cNvSpPr>
            <a:spLocks noGrp="1"/>
          </p:cNvSpPr>
          <p:nvPr>
            <p:ph idx="1"/>
          </p:nvPr>
        </p:nvSpPr>
        <p:spPr>
          <a:xfrm>
            <a:off x="838200" y="927100"/>
            <a:ext cx="10515600" cy="5249863"/>
          </a:xfrm>
        </p:spPr>
        <p:txBody>
          <a:bodyPr/>
          <a:lstStyle/>
          <a:p>
            <a:r>
              <a:rPr lang="en-US" dirty="0" err="1">
                <a:solidFill>
                  <a:srgbClr val="FF0000"/>
                </a:solidFill>
              </a:rPr>
              <a:t>fitmodel</a:t>
            </a:r>
            <a:r>
              <a:rPr lang="en-US" dirty="0">
                <a:solidFill>
                  <a:srgbClr val="FF0000"/>
                </a:solidFill>
              </a:rPr>
              <a:t> = </a:t>
            </a:r>
            <a:r>
              <a:rPr lang="en-US" dirty="0" err="1">
                <a:solidFill>
                  <a:srgbClr val="FF0000"/>
                </a:solidFill>
              </a:rPr>
              <a:t>sm.ols</a:t>
            </a:r>
            <a:r>
              <a:rPr lang="en-US" dirty="0">
                <a:solidFill>
                  <a:srgbClr val="FF0000"/>
                </a:solidFill>
              </a:rPr>
              <a:t>('Sales ~ TV + Radio + Newspaper', data = df).fit()</a:t>
            </a:r>
          </a:p>
          <a:p>
            <a:endParaRPr lang="en-US" dirty="0">
              <a:solidFill>
                <a:srgbClr val="FF0000"/>
              </a:solidFill>
            </a:endParaRPr>
          </a:p>
          <a:p>
            <a:r>
              <a:rPr lang="en-US" dirty="0" err="1">
                <a:solidFill>
                  <a:srgbClr val="FF0000"/>
                </a:solidFill>
              </a:rPr>
              <a:t>fitmodel.summary</a:t>
            </a:r>
            <a:r>
              <a:rPr lang="en-US" dirty="0">
                <a:solidFill>
                  <a:srgbClr val="FF0000"/>
                </a:solidFill>
              </a:rPr>
              <a:t>()</a:t>
            </a:r>
          </a:p>
          <a:p>
            <a:endParaRPr lang="en-US" dirty="0"/>
          </a:p>
          <a:p>
            <a:endParaRPr lang="en-US" dirty="0"/>
          </a:p>
        </p:txBody>
      </p:sp>
      <p:sp>
        <p:nvSpPr>
          <p:cNvPr id="5" name="Slide Number Placeholder 4">
            <a:extLst>
              <a:ext uri="{FF2B5EF4-FFF2-40B4-BE49-F238E27FC236}">
                <a16:creationId xmlns:a16="http://schemas.microsoft.com/office/drawing/2014/main" id="{E13F2A2A-3BDA-4F80-88B6-88DAD38BA09F}"/>
              </a:ext>
            </a:extLst>
          </p:cNvPr>
          <p:cNvSpPr>
            <a:spLocks noGrp="1"/>
          </p:cNvSpPr>
          <p:nvPr>
            <p:ph type="sldNum" sz="quarter" idx="12"/>
          </p:nvPr>
        </p:nvSpPr>
        <p:spPr/>
        <p:txBody>
          <a:bodyPr/>
          <a:lstStyle/>
          <a:p>
            <a:fld id="{6B97D948-30E8-43F7-AE10-F6E2D9F2BBB1}" type="slidenum">
              <a:rPr lang="en-US" smtClean="0"/>
              <a:t>649</a:t>
            </a:fld>
            <a:endParaRPr lang="en-US"/>
          </a:p>
        </p:txBody>
      </p:sp>
    </p:spTree>
    <p:extLst>
      <p:ext uri="{BB962C8B-B14F-4D97-AF65-F5344CB8AC3E}">
        <p14:creationId xmlns:p14="http://schemas.microsoft.com/office/powerpoint/2010/main" val="590223536"/>
      </p:ext>
    </p:extLst>
  </p:cSld>
  <p:clrMapOvr>
    <a:masterClrMapping/>
  </p:clrMapOvr>
</p:sld>
</file>

<file path=ppt/slides/slide6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CAFAD-4E34-45C2-9C81-72D3C3B92340}"/>
              </a:ext>
            </a:extLst>
          </p:cNvPr>
          <p:cNvSpPr>
            <a:spLocks noGrp="1"/>
          </p:cNvSpPr>
          <p:nvPr>
            <p:ph type="title"/>
          </p:nvPr>
        </p:nvSpPr>
        <p:spPr>
          <a:xfrm>
            <a:off x="838200" y="365125"/>
            <a:ext cx="10515600" cy="663575"/>
          </a:xfrm>
        </p:spPr>
        <p:txBody>
          <a:bodyPr>
            <a:normAutofit fontScale="90000"/>
          </a:bodyPr>
          <a:lstStyle/>
          <a:p>
            <a:r>
              <a:rPr lang="en-US" dirty="0"/>
              <a:t>Results</a:t>
            </a:r>
          </a:p>
        </p:txBody>
      </p:sp>
      <p:sp>
        <p:nvSpPr>
          <p:cNvPr id="3" name="Content Placeholder 2">
            <a:extLst>
              <a:ext uri="{FF2B5EF4-FFF2-40B4-BE49-F238E27FC236}">
                <a16:creationId xmlns:a16="http://schemas.microsoft.com/office/drawing/2014/main" id="{885EA9B3-5D4E-48E9-99E0-2DB9CC8886CF}"/>
              </a:ext>
            </a:extLst>
          </p:cNvPr>
          <p:cNvSpPr>
            <a:spLocks noGrp="1"/>
          </p:cNvSpPr>
          <p:nvPr>
            <p:ph idx="1"/>
          </p:nvPr>
        </p:nvSpPr>
        <p:spPr>
          <a:xfrm>
            <a:off x="838200" y="927100"/>
            <a:ext cx="10515600" cy="5249863"/>
          </a:xfrm>
        </p:spPr>
        <p:txBody>
          <a:bodyPr>
            <a:normAutofit fontScale="92500" lnSpcReduction="10000"/>
          </a:bodyPr>
          <a:lstStyle/>
          <a:p>
            <a:r>
              <a:rPr lang="en-US" dirty="0"/>
              <a:t> OLS Regression Results</a:t>
            </a:r>
          </a:p>
          <a:p>
            <a:r>
              <a:rPr lang="en-US" dirty="0"/>
              <a:t>=============================================================</a:t>
            </a:r>
          </a:p>
          <a:p>
            <a:r>
              <a:rPr lang="en-US" dirty="0"/>
              <a:t>Dep. Variable:                  Sales   		R-squared:                          0.903</a:t>
            </a:r>
          </a:p>
          <a:p>
            <a:r>
              <a:rPr lang="en-US" dirty="0"/>
              <a:t>Model:                            OLS   		Adj. R-squared:                  0.901</a:t>
            </a:r>
          </a:p>
          <a:p>
            <a:r>
              <a:rPr lang="en-US" dirty="0"/>
              <a:t>Method:                 Least Squares   	F-statistic:                           605.4</a:t>
            </a:r>
          </a:p>
          <a:p>
            <a:r>
              <a:rPr lang="en-US" dirty="0"/>
              <a:t>Date:                Wed, 16 Oct 2024   	Prob (F-statistic):           8.13e-99</a:t>
            </a:r>
          </a:p>
          <a:p>
            <a:r>
              <a:rPr lang="en-US" dirty="0"/>
              <a:t>Time:                        18:08:21   		Log-Likelihood:                -383.34</a:t>
            </a:r>
          </a:p>
          <a:p>
            <a:r>
              <a:rPr lang="en-US" dirty="0"/>
              <a:t>No. Observations:                 200   	</a:t>
            </a:r>
            <a:r>
              <a:rPr lang="en-US" dirty="0">
                <a:solidFill>
                  <a:srgbClr val="FF0000"/>
                </a:solidFill>
              </a:rPr>
              <a:t>AIC:                                      774.7</a:t>
            </a:r>
          </a:p>
          <a:p>
            <a:r>
              <a:rPr lang="en-US" dirty="0"/>
              <a:t>Df Residuals:                     196   		</a:t>
            </a:r>
            <a:r>
              <a:rPr lang="en-US" dirty="0">
                <a:solidFill>
                  <a:srgbClr val="FF0000"/>
                </a:solidFill>
              </a:rPr>
              <a:t>BIC:                                      787.9</a:t>
            </a:r>
          </a:p>
          <a:p>
            <a:r>
              <a:rPr lang="en-US" dirty="0"/>
              <a:t>Df Model:                           3</a:t>
            </a:r>
          </a:p>
          <a:p>
            <a:r>
              <a:rPr lang="en-US" dirty="0"/>
              <a:t>Covariance Type:            </a:t>
            </a:r>
            <a:r>
              <a:rPr lang="en-US" dirty="0" err="1"/>
              <a:t>nonrobust</a:t>
            </a:r>
            <a:endParaRPr lang="en-US" dirty="0"/>
          </a:p>
        </p:txBody>
      </p:sp>
      <p:sp>
        <p:nvSpPr>
          <p:cNvPr id="5" name="Slide Number Placeholder 4">
            <a:extLst>
              <a:ext uri="{FF2B5EF4-FFF2-40B4-BE49-F238E27FC236}">
                <a16:creationId xmlns:a16="http://schemas.microsoft.com/office/drawing/2014/main" id="{086F5574-AFEA-40F8-8A5D-5DE85BB10E0B}"/>
              </a:ext>
            </a:extLst>
          </p:cNvPr>
          <p:cNvSpPr>
            <a:spLocks noGrp="1"/>
          </p:cNvSpPr>
          <p:nvPr>
            <p:ph type="sldNum" sz="quarter" idx="12"/>
          </p:nvPr>
        </p:nvSpPr>
        <p:spPr/>
        <p:txBody>
          <a:bodyPr/>
          <a:lstStyle/>
          <a:p>
            <a:fld id="{6B97D948-30E8-43F7-AE10-F6E2D9F2BBB1}" type="slidenum">
              <a:rPr lang="en-US" smtClean="0"/>
              <a:t>650</a:t>
            </a:fld>
            <a:endParaRPr lang="en-US"/>
          </a:p>
        </p:txBody>
      </p:sp>
    </p:spTree>
    <p:extLst>
      <p:ext uri="{BB962C8B-B14F-4D97-AF65-F5344CB8AC3E}">
        <p14:creationId xmlns:p14="http://schemas.microsoft.com/office/powerpoint/2010/main" val="556892616"/>
      </p:ext>
    </p:extLst>
  </p:cSld>
  <p:clrMapOvr>
    <a:masterClrMapping/>
  </p:clrMapOvr>
</p:sld>
</file>

<file path=ppt/slides/slide6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1ED2F3-8565-4392-822F-820FC2249648}"/>
              </a:ext>
            </a:extLst>
          </p:cNvPr>
          <p:cNvSpPr>
            <a:spLocks noGrp="1"/>
          </p:cNvSpPr>
          <p:nvPr>
            <p:ph idx="1"/>
          </p:nvPr>
        </p:nvSpPr>
        <p:spPr>
          <a:xfrm>
            <a:off x="838200" y="584200"/>
            <a:ext cx="10515600" cy="5592763"/>
          </a:xfrm>
        </p:spPr>
        <p:txBody>
          <a:bodyPr>
            <a:normAutofit fontScale="92500" lnSpcReduction="10000"/>
          </a:bodyPr>
          <a:lstStyle/>
          <a:p>
            <a:pPr marL="0" indent="0">
              <a:buNone/>
            </a:pPr>
            <a:r>
              <a:rPr lang="en-US" dirty="0"/>
              <a:t>			</a:t>
            </a:r>
            <a:r>
              <a:rPr lang="en-US" dirty="0" err="1"/>
              <a:t>coef</a:t>
            </a:r>
            <a:r>
              <a:rPr lang="en-US" dirty="0"/>
              <a:t>    	        std err      t            P&gt;|t|      [0.025      0.975]</a:t>
            </a:r>
          </a:p>
          <a:p>
            <a:r>
              <a:rPr lang="en-US" dirty="0"/>
              <a:t>-----------------------------------------------------------------------------------------------</a:t>
            </a:r>
          </a:p>
          <a:p>
            <a:r>
              <a:rPr lang="en-US" dirty="0"/>
              <a:t>Intercept      	4.6251      0.308     15.041      0.000       4.019       5.232</a:t>
            </a:r>
          </a:p>
          <a:p>
            <a:r>
              <a:rPr lang="en-US" dirty="0"/>
              <a:t>TV             		0.0544      0.001     39.592      0.000       0.052       0.057</a:t>
            </a:r>
          </a:p>
          <a:p>
            <a:r>
              <a:rPr lang="en-US" dirty="0"/>
              <a:t>Radio          		0.1070      0.008     12.604      0.000       0.090       0.124</a:t>
            </a:r>
          </a:p>
          <a:p>
            <a:r>
              <a:rPr lang="en-US" dirty="0"/>
              <a:t>Newspaper      	0.0003      0.006      0.058      0.954      -0.011       0.012</a:t>
            </a:r>
          </a:p>
          <a:p>
            <a:r>
              <a:rPr lang="en-US" dirty="0"/>
              <a:t>=============================================================</a:t>
            </a:r>
          </a:p>
          <a:p>
            <a:r>
              <a:rPr lang="en-US" dirty="0"/>
              <a:t>Omnibus:                       16.081   		Durbin-Watson:                   2.251</a:t>
            </a:r>
          </a:p>
          <a:p>
            <a:r>
              <a:rPr lang="en-US" dirty="0"/>
              <a:t>Prob(Omnibus):                  0.000   	</a:t>
            </a:r>
            <a:r>
              <a:rPr lang="en-US" dirty="0" err="1"/>
              <a:t>Jarque-Bera</a:t>
            </a:r>
            <a:r>
              <a:rPr lang="en-US" dirty="0"/>
              <a:t> (JB):               27.655</a:t>
            </a:r>
          </a:p>
          <a:p>
            <a:r>
              <a:rPr lang="en-US" dirty="0"/>
              <a:t>Skew:                          -0.431   		Prob(JB):                     9.88e-07</a:t>
            </a:r>
          </a:p>
          <a:p>
            <a:r>
              <a:rPr lang="en-US" dirty="0"/>
              <a:t>Kurtosis:                       4.605   		Cond. No.                         454.</a:t>
            </a:r>
          </a:p>
          <a:p>
            <a:r>
              <a:rPr lang="en-US" dirty="0"/>
              <a:t>=============================================================</a:t>
            </a:r>
          </a:p>
        </p:txBody>
      </p:sp>
      <p:sp>
        <p:nvSpPr>
          <p:cNvPr id="5" name="Slide Number Placeholder 4">
            <a:extLst>
              <a:ext uri="{FF2B5EF4-FFF2-40B4-BE49-F238E27FC236}">
                <a16:creationId xmlns:a16="http://schemas.microsoft.com/office/drawing/2014/main" id="{8BEB2076-C37E-4204-9673-29408B96F1D0}"/>
              </a:ext>
            </a:extLst>
          </p:cNvPr>
          <p:cNvSpPr>
            <a:spLocks noGrp="1"/>
          </p:cNvSpPr>
          <p:nvPr>
            <p:ph type="sldNum" sz="quarter" idx="12"/>
          </p:nvPr>
        </p:nvSpPr>
        <p:spPr/>
        <p:txBody>
          <a:bodyPr/>
          <a:lstStyle/>
          <a:p>
            <a:fld id="{6B97D948-30E8-43F7-AE10-F6E2D9F2BBB1}" type="slidenum">
              <a:rPr lang="en-US" smtClean="0"/>
              <a:t>651</a:t>
            </a:fld>
            <a:endParaRPr lang="en-US"/>
          </a:p>
        </p:txBody>
      </p:sp>
    </p:spTree>
    <p:extLst>
      <p:ext uri="{BB962C8B-B14F-4D97-AF65-F5344CB8AC3E}">
        <p14:creationId xmlns:p14="http://schemas.microsoft.com/office/powerpoint/2010/main" val="381672578"/>
      </p:ext>
    </p:extLst>
  </p:cSld>
  <p:clrMapOvr>
    <a:masterClrMapping/>
  </p:clrMapOvr>
</p:sld>
</file>

<file path=ppt/slides/slide6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9F0C9-D568-4201-ABFF-3D283A0789B7}"/>
              </a:ext>
            </a:extLst>
          </p:cNvPr>
          <p:cNvSpPr>
            <a:spLocks noGrp="1"/>
          </p:cNvSpPr>
          <p:nvPr>
            <p:ph type="title"/>
          </p:nvPr>
        </p:nvSpPr>
        <p:spPr>
          <a:xfrm>
            <a:off x="838200" y="365125"/>
            <a:ext cx="10515600" cy="739775"/>
          </a:xfrm>
        </p:spPr>
        <p:txBody>
          <a:bodyPr>
            <a:normAutofit/>
          </a:bodyPr>
          <a:lstStyle/>
          <a:p>
            <a:r>
              <a:rPr lang="en-US" dirty="0"/>
              <a:t>Use of </a:t>
            </a:r>
            <a:r>
              <a:rPr lang="en-US" dirty="0" err="1"/>
              <a:t>sklearn</a:t>
            </a:r>
            <a:endParaRPr lang="en-US" dirty="0"/>
          </a:p>
        </p:txBody>
      </p:sp>
      <p:sp>
        <p:nvSpPr>
          <p:cNvPr id="3" name="Content Placeholder 2">
            <a:extLst>
              <a:ext uri="{FF2B5EF4-FFF2-40B4-BE49-F238E27FC236}">
                <a16:creationId xmlns:a16="http://schemas.microsoft.com/office/drawing/2014/main" id="{0387B5F4-108F-448C-AC5A-5531B7132FC9}"/>
              </a:ext>
            </a:extLst>
          </p:cNvPr>
          <p:cNvSpPr>
            <a:spLocks noGrp="1"/>
          </p:cNvSpPr>
          <p:nvPr>
            <p:ph idx="1"/>
          </p:nvPr>
        </p:nvSpPr>
        <p:spPr>
          <a:xfrm>
            <a:off x="838200" y="1104900"/>
            <a:ext cx="10515600" cy="5072063"/>
          </a:xfrm>
        </p:spPr>
        <p:txBody>
          <a:bodyPr>
            <a:normAutofit lnSpcReduction="10000"/>
          </a:bodyPr>
          <a:lstStyle/>
          <a:p>
            <a:pPr algn="just"/>
            <a:r>
              <a:rPr lang="en-US" dirty="0"/>
              <a:t>Another way of modeling our data is through the use of the </a:t>
            </a:r>
            <a:r>
              <a:rPr lang="en-US" dirty="0" err="1">
                <a:solidFill>
                  <a:srgbClr val="FF0000"/>
                </a:solidFill>
              </a:rPr>
              <a:t>sklearn</a:t>
            </a:r>
            <a:r>
              <a:rPr lang="en-US" dirty="0"/>
              <a:t> Python library. </a:t>
            </a:r>
          </a:p>
          <a:p>
            <a:pPr algn="just"/>
            <a:endParaRPr lang="en-US" dirty="0"/>
          </a:p>
          <a:p>
            <a:pPr algn="just"/>
            <a:r>
              <a:rPr lang="en-US" dirty="0" err="1">
                <a:solidFill>
                  <a:srgbClr val="FF0000"/>
                </a:solidFill>
              </a:rPr>
              <a:t>sklearn</a:t>
            </a:r>
            <a:r>
              <a:rPr lang="en-US" dirty="0"/>
              <a:t> is a robust library of machine learning tools used extensively in research and industry. </a:t>
            </a:r>
          </a:p>
          <a:p>
            <a:pPr algn="just"/>
            <a:endParaRPr lang="en-US" dirty="0"/>
          </a:p>
          <a:p>
            <a:pPr algn="just"/>
            <a:r>
              <a:rPr lang="en-US" dirty="0"/>
              <a:t>It gives us a wide variety of in-built modeling frameworks and methods.</a:t>
            </a:r>
          </a:p>
          <a:p>
            <a:endParaRPr lang="en-US" dirty="0"/>
          </a:p>
          <a:p>
            <a:r>
              <a:rPr lang="en-US" dirty="0"/>
              <a:t>Regardless of the specific type of model being implemented, </a:t>
            </a:r>
            <a:r>
              <a:rPr lang="en-US" dirty="0" err="1"/>
              <a:t>sklearn</a:t>
            </a:r>
            <a:r>
              <a:rPr lang="en-US" dirty="0"/>
              <a:t> follows a standard set of steps for creating a model.</a:t>
            </a:r>
          </a:p>
        </p:txBody>
      </p:sp>
      <p:sp>
        <p:nvSpPr>
          <p:cNvPr id="5" name="Slide Number Placeholder 4">
            <a:extLst>
              <a:ext uri="{FF2B5EF4-FFF2-40B4-BE49-F238E27FC236}">
                <a16:creationId xmlns:a16="http://schemas.microsoft.com/office/drawing/2014/main" id="{8C94A0E6-8071-4E50-9AE1-CE40C71079F7}"/>
              </a:ext>
            </a:extLst>
          </p:cNvPr>
          <p:cNvSpPr>
            <a:spLocks noGrp="1"/>
          </p:cNvSpPr>
          <p:nvPr>
            <p:ph type="sldNum" sz="quarter" idx="12"/>
          </p:nvPr>
        </p:nvSpPr>
        <p:spPr/>
        <p:txBody>
          <a:bodyPr/>
          <a:lstStyle/>
          <a:p>
            <a:fld id="{6B97D948-30E8-43F7-AE10-F6E2D9F2BBB1}" type="slidenum">
              <a:rPr lang="en-US" smtClean="0"/>
              <a:t>652</a:t>
            </a:fld>
            <a:endParaRPr lang="en-US"/>
          </a:p>
        </p:txBody>
      </p:sp>
    </p:spTree>
    <p:extLst>
      <p:ext uri="{BB962C8B-B14F-4D97-AF65-F5344CB8AC3E}">
        <p14:creationId xmlns:p14="http://schemas.microsoft.com/office/powerpoint/2010/main" val="3293743427"/>
      </p:ext>
    </p:extLst>
  </p:cSld>
  <p:clrMapOvr>
    <a:masterClrMapping/>
  </p:clrMapOvr>
</p:sld>
</file>

<file path=ppt/slides/slide6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A824CA-3E2E-4FA1-97DD-3B359EED99E5}"/>
              </a:ext>
            </a:extLst>
          </p:cNvPr>
          <p:cNvSpPr>
            <a:spLocks noGrp="1"/>
          </p:cNvSpPr>
          <p:nvPr>
            <p:ph idx="1"/>
          </p:nvPr>
        </p:nvSpPr>
        <p:spPr>
          <a:xfrm>
            <a:off x="838200" y="342900"/>
            <a:ext cx="10515600" cy="5834063"/>
          </a:xfrm>
        </p:spPr>
        <p:txBody>
          <a:bodyPr>
            <a:normAutofit fontScale="92500" lnSpcReduction="20000"/>
          </a:bodyPr>
          <a:lstStyle/>
          <a:p>
            <a:pPr marL="0" indent="0" algn="just">
              <a:buNone/>
            </a:pPr>
            <a:r>
              <a:rPr lang="en-US" dirty="0"/>
              <a:t>1. Create a model object. This generates a new instance of the model class. You can think of it as making a new copy of a standard “template” for a model. In pseudocode, this looks like:</a:t>
            </a:r>
          </a:p>
          <a:p>
            <a:r>
              <a:rPr lang="en-US" dirty="0">
                <a:solidFill>
                  <a:srgbClr val="FF0000"/>
                </a:solidFill>
              </a:rPr>
              <a:t> </a:t>
            </a:r>
            <a:r>
              <a:rPr lang="en-US" dirty="0" err="1">
                <a:solidFill>
                  <a:srgbClr val="FF0000"/>
                </a:solidFill>
              </a:rPr>
              <a:t>my_model</a:t>
            </a:r>
            <a:r>
              <a:rPr lang="en-US" dirty="0">
                <a:solidFill>
                  <a:srgbClr val="FF0000"/>
                </a:solidFill>
              </a:rPr>
              <a:t> = </a:t>
            </a:r>
            <a:r>
              <a:rPr lang="en-US" dirty="0" err="1">
                <a:solidFill>
                  <a:srgbClr val="FF0000"/>
                </a:solidFill>
              </a:rPr>
              <a:t>ModelClass</a:t>
            </a:r>
            <a:r>
              <a:rPr lang="en-US" dirty="0">
                <a:solidFill>
                  <a:srgbClr val="FF0000"/>
                </a:solidFill>
              </a:rPr>
              <a:t>()</a:t>
            </a:r>
          </a:p>
          <a:p>
            <a:pPr marL="0" indent="0" algn="just">
              <a:buNone/>
            </a:pPr>
            <a:r>
              <a:rPr lang="en-US" dirty="0"/>
              <a:t>2. Fit the model to the X design matrix and Y target vector. This calculates the optimal model parameters “behind the scenes” without us explicitly working through the calculations ourselves. The fitted parameters are then stored within the model for use in future predictions:</a:t>
            </a:r>
          </a:p>
          <a:p>
            <a:r>
              <a:rPr lang="en-US" dirty="0" err="1">
                <a:solidFill>
                  <a:srgbClr val="FF0000"/>
                </a:solidFill>
              </a:rPr>
              <a:t>my_model.fit</a:t>
            </a:r>
            <a:r>
              <a:rPr lang="en-US" dirty="0">
                <a:solidFill>
                  <a:srgbClr val="FF0000"/>
                </a:solidFill>
              </a:rPr>
              <a:t>(X, Y)</a:t>
            </a:r>
          </a:p>
          <a:p>
            <a:r>
              <a:rPr lang="en-US" dirty="0" err="1">
                <a:solidFill>
                  <a:srgbClr val="FF0000"/>
                </a:solidFill>
              </a:rPr>
              <a:t>my_model.coef</a:t>
            </a:r>
            <a:r>
              <a:rPr lang="en-US" dirty="0">
                <a:solidFill>
                  <a:srgbClr val="FF0000"/>
                </a:solidFill>
              </a:rPr>
              <a:t>_</a:t>
            </a:r>
          </a:p>
          <a:p>
            <a:r>
              <a:rPr lang="en-US" dirty="0" err="1">
                <a:solidFill>
                  <a:srgbClr val="FF0000"/>
                </a:solidFill>
              </a:rPr>
              <a:t>my_model.intercept</a:t>
            </a:r>
            <a:r>
              <a:rPr lang="en-US" dirty="0">
                <a:solidFill>
                  <a:srgbClr val="FF0000"/>
                </a:solidFill>
              </a:rPr>
              <a:t>_</a:t>
            </a:r>
          </a:p>
          <a:p>
            <a:pPr marL="0" indent="0" algn="just">
              <a:buNone/>
            </a:pPr>
            <a:r>
              <a:rPr lang="en-US" dirty="0"/>
              <a:t>3. Use the fitted model to make predictions on the X input data using .predict.</a:t>
            </a:r>
          </a:p>
          <a:p>
            <a:r>
              <a:rPr lang="en-US" dirty="0" err="1">
                <a:solidFill>
                  <a:srgbClr val="FF0000"/>
                </a:solidFill>
              </a:rPr>
              <a:t>my_model.predict</a:t>
            </a:r>
            <a:r>
              <a:rPr lang="en-US" dirty="0">
                <a:solidFill>
                  <a:srgbClr val="FF0000"/>
                </a:solidFill>
              </a:rPr>
              <a:t>(X)</a:t>
            </a:r>
          </a:p>
          <a:p>
            <a:r>
              <a:rPr lang="en-US" dirty="0"/>
              <a:t>Let’s put this into action with our multiple regression task.</a:t>
            </a:r>
          </a:p>
        </p:txBody>
      </p:sp>
      <p:sp>
        <p:nvSpPr>
          <p:cNvPr id="5" name="Slide Number Placeholder 4">
            <a:extLst>
              <a:ext uri="{FF2B5EF4-FFF2-40B4-BE49-F238E27FC236}">
                <a16:creationId xmlns:a16="http://schemas.microsoft.com/office/drawing/2014/main" id="{825E4887-9EDB-4DC7-86E4-99FA3E12BF84}"/>
              </a:ext>
            </a:extLst>
          </p:cNvPr>
          <p:cNvSpPr>
            <a:spLocks noGrp="1"/>
          </p:cNvSpPr>
          <p:nvPr>
            <p:ph type="sldNum" sz="quarter" idx="12"/>
          </p:nvPr>
        </p:nvSpPr>
        <p:spPr/>
        <p:txBody>
          <a:bodyPr/>
          <a:lstStyle/>
          <a:p>
            <a:fld id="{6B97D948-30E8-43F7-AE10-F6E2D9F2BBB1}" type="slidenum">
              <a:rPr lang="en-US" smtClean="0"/>
              <a:t>653</a:t>
            </a:fld>
            <a:endParaRPr lang="en-US"/>
          </a:p>
        </p:txBody>
      </p:sp>
    </p:spTree>
    <p:extLst>
      <p:ext uri="{BB962C8B-B14F-4D97-AF65-F5344CB8AC3E}">
        <p14:creationId xmlns:p14="http://schemas.microsoft.com/office/powerpoint/2010/main" val="4145343199"/>
      </p:ext>
    </p:extLst>
  </p:cSld>
  <p:clrMapOvr>
    <a:masterClrMapping/>
  </p:clrMapOvr>
</p:sld>
</file>

<file path=ppt/slides/slide6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D56FB-2913-497E-9ED7-A1E6358326AF}"/>
              </a:ext>
            </a:extLst>
          </p:cNvPr>
          <p:cNvSpPr>
            <a:spLocks noGrp="1"/>
          </p:cNvSpPr>
          <p:nvPr>
            <p:ph type="title"/>
          </p:nvPr>
        </p:nvSpPr>
        <p:spPr>
          <a:xfrm>
            <a:off x="838200" y="365125"/>
            <a:ext cx="10515600" cy="714375"/>
          </a:xfrm>
        </p:spPr>
        <p:txBody>
          <a:bodyPr/>
          <a:lstStyle/>
          <a:p>
            <a:r>
              <a:rPr lang="en-US" dirty="0"/>
              <a:t>Code</a:t>
            </a:r>
          </a:p>
        </p:txBody>
      </p:sp>
      <p:sp>
        <p:nvSpPr>
          <p:cNvPr id="3" name="Content Placeholder 2">
            <a:extLst>
              <a:ext uri="{FF2B5EF4-FFF2-40B4-BE49-F238E27FC236}">
                <a16:creationId xmlns:a16="http://schemas.microsoft.com/office/drawing/2014/main" id="{F2607D40-D403-4A9A-AF61-33011D8ECDCC}"/>
              </a:ext>
            </a:extLst>
          </p:cNvPr>
          <p:cNvSpPr>
            <a:spLocks noGrp="1"/>
          </p:cNvSpPr>
          <p:nvPr>
            <p:ph idx="1"/>
          </p:nvPr>
        </p:nvSpPr>
        <p:spPr>
          <a:xfrm>
            <a:off x="838200" y="1079500"/>
            <a:ext cx="10515600" cy="5097463"/>
          </a:xfrm>
        </p:spPr>
        <p:txBody>
          <a:bodyPr/>
          <a:lstStyle/>
          <a:p>
            <a:r>
              <a:rPr lang="en-US" dirty="0">
                <a:solidFill>
                  <a:srgbClr val="FF0000"/>
                </a:solidFill>
              </a:rPr>
              <a:t>import pandas as pd</a:t>
            </a:r>
          </a:p>
          <a:p>
            <a:r>
              <a:rPr lang="en-US" dirty="0">
                <a:solidFill>
                  <a:srgbClr val="FF0000"/>
                </a:solidFill>
              </a:rPr>
              <a:t>import seaborn as </a:t>
            </a:r>
            <a:r>
              <a:rPr lang="en-US" dirty="0" err="1">
                <a:solidFill>
                  <a:srgbClr val="FF0000"/>
                </a:solidFill>
              </a:rPr>
              <a:t>sns</a:t>
            </a:r>
            <a:endParaRPr lang="en-US" dirty="0">
              <a:solidFill>
                <a:srgbClr val="FF0000"/>
              </a:solidFill>
            </a:endParaRPr>
          </a:p>
          <a:p>
            <a:r>
              <a:rPr lang="en-US" dirty="0">
                <a:solidFill>
                  <a:srgbClr val="FF0000"/>
                </a:solidFill>
              </a:rPr>
              <a:t>import </a:t>
            </a:r>
            <a:r>
              <a:rPr lang="en-US" dirty="0" err="1">
                <a:solidFill>
                  <a:srgbClr val="FF0000"/>
                </a:solidFill>
              </a:rPr>
              <a:t>numpy</a:t>
            </a:r>
            <a:r>
              <a:rPr lang="en-US" dirty="0">
                <a:solidFill>
                  <a:srgbClr val="FF0000"/>
                </a:solidFill>
              </a:rPr>
              <a:t> as np</a:t>
            </a:r>
          </a:p>
          <a:p>
            <a:endParaRPr lang="en-US" dirty="0">
              <a:solidFill>
                <a:srgbClr val="FF0000"/>
              </a:solidFill>
            </a:endParaRPr>
          </a:p>
          <a:p>
            <a:r>
              <a:rPr lang="en-US" dirty="0">
                <a:solidFill>
                  <a:srgbClr val="FF0000"/>
                </a:solidFill>
              </a:rPr>
              <a:t>penguins = </a:t>
            </a:r>
            <a:r>
              <a:rPr lang="en-US" dirty="0" err="1">
                <a:solidFill>
                  <a:srgbClr val="FF0000"/>
                </a:solidFill>
              </a:rPr>
              <a:t>sns.load_dataset</a:t>
            </a:r>
            <a:r>
              <a:rPr lang="en-US" dirty="0">
                <a:solidFill>
                  <a:srgbClr val="FF0000"/>
                </a:solidFill>
              </a:rPr>
              <a:t>("penguins")</a:t>
            </a:r>
          </a:p>
          <a:p>
            <a:r>
              <a:rPr lang="en-US" dirty="0">
                <a:solidFill>
                  <a:srgbClr val="FF0000"/>
                </a:solidFill>
              </a:rPr>
              <a:t>penguins = penguins[penguins["species"] == "Adelie"].</a:t>
            </a:r>
            <a:r>
              <a:rPr lang="en-US" dirty="0" err="1">
                <a:solidFill>
                  <a:srgbClr val="FF0000"/>
                </a:solidFill>
              </a:rPr>
              <a:t>dropna</a:t>
            </a:r>
            <a:r>
              <a:rPr lang="en-US" dirty="0">
                <a:solidFill>
                  <a:srgbClr val="FF0000"/>
                </a:solidFill>
              </a:rPr>
              <a:t>()</a:t>
            </a:r>
          </a:p>
          <a:p>
            <a:r>
              <a:rPr lang="en-US" dirty="0" err="1">
                <a:solidFill>
                  <a:srgbClr val="FF0000"/>
                </a:solidFill>
              </a:rPr>
              <a:t>penguins.head</a:t>
            </a:r>
            <a:r>
              <a:rPr lang="en-US" dirty="0">
                <a:solidFill>
                  <a:srgbClr val="FF0000"/>
                </a:solidFill>
              </a:rPr>
              <a:t>()</a:t>
            </a:r>
          </a:p>
        </p:txBody>
      </p:sp>
      <p:sp>
        <p:nvSpPr>
          <p:cNvPr id="5" name="Slide Number Placeholder 4">
            <a:extLst>
              <a:ext uri="{FF2B5EF4-FFF2-40B4-BE49-F238E27FC236}">
                <a16:creationId xmlns:a16="http://schemas.microsoft.com/office/drawing/2014/main" id="{DA9E1113-5295-4FF0-A0BB-9006DB29350D}"/>
              </a:ext>
            </a:extLst>
          </p:cNvPr>
          <p:cNvSpPr>
            <a:spLocks noGrp="1"/>
          </p:cNvSpPr>
          <p:nvPr>
            <p:ph type="sldNum" sz="quarter" idx="12"/>
          </p:nvPr>
        </p:nvSpPr>
        <p:spPr/>
        <p:txBody>
          <a:bodyPr/>
          <a:lstStyle/>
          <a:p>
            <a:fld id="{6B97D948-30E8-43F7-AE10-F6E2D9F2BBB1}" type="slidenum">
              <a:rPr lang="en-US" smtClean="0"/>
              <a:t>654</a:t>
            </a:fld>
            <a:endParaRPr lang="en-US"/>
          </a:p>
        </p:txBody>
      </p:sp>
    </p:spTree>
    <p:extLst>
      <p:ext uri="{BB962C8B-B14F-4D97-AF65-F5344CB8AC3E}">
        <p14:creationId xmlns:p14="http://schemas.microsoft.com/office/powerpoint/2010/main" val="2027048889"/>
      </p:ext>
    </p:extLst>
  </p:cSld>
  <p:clrMapOvr>
    <a:masterClrMapping/>
  </p:clrMapOvr>
</p:sld>
</file>

<file path=ppt/slides/slide6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0C913-D347-4D95-91D4-C0ACCCEEA064}"/>
              </a:ext>
            </a:extLst>
          </p:cNvPr>
          <p:cNvSpPr>
            <a:spLocks noGrp="1"/>
          </p:cNvSpPr>
          <p:nvPr>
            <p:ph idx="1"/>
          </p:nvPr>
        </p:nvSpPr>
        <p:spPr>
          <a:xfrm>
            <a:off x="838200" y="596900"/>
            <a:ext cx="10515600" cy="5580063"/>
          </a:xfrm>
        </p:spPr>
        <p:txBody>
          <a:bodyPr>
            <a:normAutofit/>
          </a:bodyPr>
          <a:lstStyle/>
          <a:p>
            <a:r>
              <a:rPr lang="en-US" sz="2200" dirty="0"/>
              <a:t> species     island  </a:t>
            </a:r>
            <a:r>
              <a:rPr lang="en-US" sz="2200" dirty="0" err="1"/>
              <a:t>bill_length_mm</a:t>
            </a:r>
            <a:r>
              <a:rPr lang="en-US" sz="2200" dirty="0"/>
              <a:t>  </a:t>
            </a:r>
            <a:r>
              <a:rPr lang="en-US" sz="2200" dirty="0" err="1"/>
              <a:t>bill_depth_mm</a:t>
            </a:r>
            <a:r>
              <a:rPr lang="en-US" sz="2200" dirty="0"/>
              <a:t>  </a:t>
            </a:r>
            <a:r>
              <a:rPr lang="en-US" sz="2200" dirty="0" err="1"/>
              <a:t>flipper_length_mm</a:t>
            </a:r>
            <a:r>
              <a:rPr lang="en-US" sz="2200" dirty="0"/>
              <a:t>  </a:t>
            </a:r>
            <a:r>
              <a:rPr lang="en-US" sz="2200" dirty="0" err="1"/>
              <a:t>body_mass_g</a:t>
            </a:r>
            <a:r>
              <a:rPr lang="en-US" sz="2200" dirty="0"/>
              <a:t>     sex</a:t>
            </a:r>
          </a:p>
          <a:p>
            <a:r>
              <a:rPr lang="en-US" dirty="0"/>
              <a:t>0  Adelie  Torgersen            39.1           18.7              181.0       3750.0    Male</a:t>
            </a:r>
          </a:p>
          <a:p>
            <a:r>
              <a:rPr lang="en-US" dirty="0"/>
              <a:t>1  Adelie  Torgersen            39.5           17.4              186.0       3800.0  Female</a:t>
            </a:r>
          </a:p>
          <a:p>
            <a:r>
              <a:rPr lang="en-US" dirty="0"/>
              <a:t>2  Adelie  Torgersen            40.3           18.0              195.0       3250.0  Female</a:t>
            </a:r>
          </a:p>
          <a:p>
            <a:r>
              <a:rPr lang="en-US" dirty="0"/>
              <a:t>4  Adelie  Torgersen            36.7           19.3              193.0       3450.0  Female</a:t>
            </a:r>
          </a:p>
          <a:p>
            <a:r>
              <a:rPr lang="en-US" dirty="0"/>
              <a:t>5  Adelie  Torgersen            39.3           20.6              190.0       3650.0    Male</a:t>
            </a:r>
          </a:p>
        </p:txBody>
      </p:sp>
      <p:sp>
        <p:nvSpPr>
          <p:cNvPr id="5" name="Slide Number Placeholder 4">
            <a:extLst>
              <a:ext uri="{FF2B5EF4-FFF2-40B4-BE49-F238E27FC236}">
                <a16:creationId xmlns:a16="http://schemas.microsoft.com/office/drawing/2014/main" id="{43D63F65-54A3-4AEC-9DDF-B9B06423311A}"/>
              </a:ext>
            </a:extLst>
          </p:cNvPr>
          <p:cNvSpPr>
            <a:spLocks noGrp="1"/>
          </p:cNvSpPr>
          <p:nvPr>
            <p:ph type="sldNum" sz="quarter" idx="12"/>
          </p:nvPr>
        </p:nvSpPr>
        <p:spPr/>
        <p:txBody>
          <a:bodyPr/>
          <a:lstStyle/>
          <a:p>
            <a:fld id="{6B97D948-30E8-43F7-AE10-F6E2D9F2BBB1}" type="slidenum">
              <a:rPr lang="en-US" smtClean="0"/>
              <a:t>655</a:t>
            </a:fld>
            <a:endParaRPr lang="en-US"/>
          </a:p>
        </p:txBody>
      </p:sp>
    </p:spTree>
    <p:extLst>
      <p:ext uri="{BB962C8B-B14F-4D97-AF65-F5344CB8AC3E}">
        <p14:creationId xmlns:p14="http://schemas.microsoft.com/office/powerpoint/2010/main" val="1482271648"/>
      </p:ext>
    </p:extLst>
  </p:cSld>
  <p:clrMapOvr>
    <a:masterClrMapping/>
  </p:clrMapOvr>
</p:sld>
</file>

<file path=ppt/slides/slide6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2AE60-330A-4E40-85FF-8ECAC193CCB7}"/>
              </a:ext>
            </a:extLst>
          </p:cNvPr>
          <p:cNvSpPr>
            <a:spLocks noGrp="1"/>
          </p:cNvSpPr>
          <p:nvPr>
            <p:ph type="title"/>
          </p:nvPr>
        </p:nvSpPr>
        <p:spPr>
          <a:xfrm>
            <a:off x="838200" y="365125"/>
            <a:ext cx="10515600" cy="536575"/>
          </a:xfrm>
        </p:spPr>
        <p:txBody>
          <a:bodyPr>
            <a:normAutofit fontScale="90000"/>
          </a:bodyPr>
          <a:lstStyle/>
          <a:p>
            <a:r>
              <a:rPr lang="en-US" dirty="0"/>
              <a:t>Import </a:t>
            </a:r>
            <a:r>
              <a:rPr lang="en-US" dirty="0" err="1"/>
              <a:t>sklearn</a:t>
            </a:r>
            <a:endParaRPr lang="en-US" dirty="0"/>
          </a:p>
        </p:txBody>
      </p:sp>
      <p:sp>
        <p:nvSpPr>
          <p:cNvPr id="3" name="Content Placeholder 2">
            <a:extLst>
              <a:ext uri="{FF2B5EF4-FFF2-40B4-BE49-F238E27FC236}">
                <a16:creationId xmlns:a16="http://schemas.microsoft.com/office/drawing/2014/main" id="{9BDA0D77-3045-4169-A5ED-6CABC4D070B3}"/>
              </a:ext>
            </a:extLst>
          </p:cNvPr>
          <p:cNvSpPr>
            <a:spLocks noGrp="1"/>
          </p:cNvSpPr>
          <p:nvPr>
            <p:ph idx="1"/>
          </p:nvPr>
        </p:nvSpPr>
        <p:spPr>
          <a:xfrm>
            <a:off x="838200" y="901700"/>
            <a:ext cx="10515600" cy="5275263"/>
          </a:xfrm>
        </p:spPr>
        <p:txBody>
          <a:bodyPr/>
          <a:lstStyle/>
          <a:p>
            <a:r>
              <a:rPr lang="en-US" dirty="0">
                <a:solidFill>
                  <a:srgbClr val="FF0000"/>
                </a:solidFill>
              </a:rPr>
              <a:t>import </a:t>
            </a:r>
            <a:r>
              <a:rPr lang="en-US" dirty="0" err="1">
                <a:solidFill>
                  <a:srgbClr val="FF0000"/>
                </a:solidFill>
              </a:rPr>
              <a:t>sklearn.linear_model</a:t>
            </a:r>
            <a:r>
              <a:rPr lang="en-US" dirty="0">
                <a:solidFill>
                  <a:srgbClr val="FF0000"/>
                </a:solidFill>
              </a:rPr>
              <a:t> as </a:t>
            </a:r>
            <a:r>
              <a:rPr lang="en-US" dirty="0" err="1">
                <a:solidFill>
                  <a:srgbClr val="FF0000"/>
                </a:solidFill>
              </a:rPr>
              <a:t>lm</a:t>
            </a:r>
            <a:endParaRPr lang="en-US" dirty="0">
              <a:solidFill>
                <a:srgbClr val="FF0000"/>
              </a:solidFill>
            </a:endParaRPr>
          </a:p>
          <a:p>
            <a:endParaRPr lang="en-US" dirty="0">
              <a:solidFill>
                <a:srgbClr val="FF0000"/>
              </a:solidFill>
            </a:endParaRPr>
          </a:p>
          <a:p>
            <a:r>
              <a:rPr lang="en-US" dirty="0" err="1">
                <a:solidFill>
                  <a:srgbClr val="FF0000"/>
                </a:solidFill>
              </a:rPr>
              <a:t>my_model</a:t>
            </a:r>
            <a:r>
              <a:rPr lang="en-US" dirty="0">
                <a:solidFill>
                  <a:srgbClr val="FF0000"/>
                </a:solidFill>
              </a:rPr>
              <a:t> = </a:t>
            </a:r>
            <a:r>
              <a:rPr lang="en-US" dirty="0" err="1">
                <a:solidFill>
                  <a:srgbClr val="FF0000"/>
                </a:solidFill>
              </a:rPr>
              <a:t>lm.LinearRegression</a:t>
            </a:r>
            <a:r>
              <a:rPr lang="en-US" dirty="0">
                <a:solidFill>
                  <a:srgbClr val="FF0000"/>
                </a:solidFill>
              </a:rPr>
              <a:t>()</a:t>
            </a:r>
          </a:p>
          <a:p>
            <a:endParaRPr lang="en-US" dirty="0">
              <a:solidFill>
                <a:srgbClr val="FF0000"/>
              </a:solidFill>
            </a:endParaRPr>
          </a:p>
          <a:p>
            <a:r>
              <a:rPr lang="en-US" dirty="0"/>
              <a:t># .fit expects a 2D data design matrix, so we use double brackets to extract a </a:t>
            </a:r>
            <a:r>
              <a:rPr lang="en-US" dirty="0" err="1"/>
              <a:t>DataFrame</a:t>
            </a:r>
            <a:endParaRPr lang="en-US" dirty="0"/>
          </a:p>
          <a:p>
            <a:r>
              <a:rPr lang="en-US" dirty="0">
                <a:solidFill>
                  <a:srgbClr val="FF0000"/>
                </a:solidFill>
              </a:rPr>
              <a:t>X = penguins[["</a:t>
            </a:r>
            <a:r>
              <a:rPr lang="en-US" dirty="0" err="1">
                <a:solidFill>
                  <a:srgbClr val="FF0000"/>
                </a:solidFill>
              </a:rPr>
              <a:t>flipper_length_mm</a:t>
            </a:r>
            <a:r>
              <a:rPr lang="en-US" dirty="0">
                <a:solidFill>
                  <a:srgbClr val="FF0000"/>
                </a:solidFill>
              </a:rPr>
              <a:t>"]]</a:t>
            </a:r>
          </a:p>
          <a:p>
            <a:r>
              <a:rPr lang="en-US" dirty="0">
                <a:solidFill>
                  <a:srgbClr val="FF0000"/>
                </a:solidFill>
              </a:rPr>
              <a:t>y = penguins["</a:t>
            </a:r>
            <a:r>
              <a:rPr lang="en-US" dirty="0" err="1">
                <a:solidFill>
                  <a:srgbClr val="FF0000"/>
                </a:solidFill>
              </a:rPr>
              <a:t>bill_depth_mm</a:t>
            </a:r>
            <a:r>
              <a:rPr lang="en-US" dirty="0">
                <a:solidFill>
                  <a:srgbClr val="FF0000"/>
                </a:solidFill>
              </a:rPr>
              <a:t>"]</a:t>
            </a:r>
          </a:p>
          <a:p>
            <a:endParaRPr lang="en-US" dirty="0">
              <a:solidFill>
                <a:srgbClr val="FF0000"/>
              </a:solidFill>
            </a:endParaRPr>
          </a:p>
          <a:p>
            <a:r>
              <a:rPr lang="en-US" dirty="0" err="1">
                <a:solidFill>
                  <a:srgbClr val="FF0000"/>
                </a:solidFill>
              </a:rPr>
              <a:t>my_model.fit</a:t>
            </a:r>
            <a:r>
              <a:rPr lang="en-US" dirty="0">
                <a:solidFill>
                  <a:srgbClr val="FF0000"/>
                </a:solidFill>
              </a:rPr>
              <a:t>(X, y)</a:t>
            </a:r>
          </a:p>
        </p:txBody>
      </p:sp>
      <p:sp>
        <p:nvSpPr>
          <p:cNvPr id="5" name="Slide Number Placeholder 4">
            <a:extLst>
              <a:ext uri="{FF2B5EF4-FFF2-40B4-BE49-F238E27FC236}">
                <a16:creationId xmlns:a16="http://schemas.microsoft.com/office/drawing/2014/main" id="{B4B1E103-EB58-4DCF-9BA4-404529505E64}"/>
              </a:ext>
            </a:extLst>
          </p:cNvPr>
          <p:cNvSpPr>
            <a:spLocks noGrp="1"/>
          </p:cNvSpPr>
          <p:nvPr>
            <p:ph type="sldNum" sz="quarter" idx="12"/>
          </p:nvPr>
        </p:nvSpPr>
        <p:spPr/>
        <p:txBody>
          <a:bodyPr/>
          <a:lstStyle/>
          <a:p>
            <a:fld id="{6B97D948-30E8-43F7-AE10-F6E2D9F2BBB1}" type="slidenum">
              <a:rPr lang="en-US" smtClean="0"/>
              <a:t>656</a:t>
            </a:fld>
            <a:endParaRPr lang="en-US"/>
          </a:p>
        </p:txBody>
      </p:sp>
    </p:spTree>
    <p:extLst>
      <p:ext uri="{BB962C8B-B14F-4D97-AF65-F5344CB8AC3E}">
        <p14:creationId xmlns:p14="http://schemas.microsoft.com/office/powerpoint/2010/main" val="689057338"/>
      </p:ext>
    </p:extLst>
  </p:cSld>
  <p:clrMapOvr>
    <a:masterClrMapping/>
  </p:clrMapOvr>
</p:sld>
</file>

<file path=ppt/slides/slide6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5F79-5C32-4A96-B5B8-0C0A2429892B}"/>
              </a:ext>
            </a:extLst>
          </p:cNvPr>
          <p:cNvSpPr>
            <a:spLocks noGrp="1"/>
          </p:cNvSpPr>
          <p:nvPr>
            <p:ph type="title"/>
          </p:nvPr>
        </p:nvSpPr>
        <p:spPr>
          <a:xfrm>
            <a:off x="838200" y="365125"/>
            <a:ext cx="10515600" cy="549275"/>
          </a:xfrm>
        </p:spPr>
        <p:txBody>
          <a:bodyPr>
            <a:normAutofit fontScale="90000"/>
          </a:bodyPr>
          <a:lstStyle/>
          <a:p>
            <a:r>
              <a:rPr lang="en-US" dirty="0"/>
              <a:t>Note</a:t>
            </a:r>
          </a:p>
        </p:txBody>
      </p:sp>
      <p:sp>
        <p:nvSpPr>
          <p:cNvPr id="3" name="Content Placeholder 2">
            <a:extLst>
              <a:ext uri="{FF2B5EF4-FFF2-40B4-BE49-F238E27FC236}">
                <a16:creationId xmlns:a16="http://schemas.microsoft.com/office/drawing/2014/main" id="{937D87BC-EE7D-4191-8239-BD80FF6AC804}"/>
              </a:ext>
            </a:extLst>
          </p:cNvPr>
          <p:cNvSpPr>
            <a:spLocks noGrp="1"/>
          </p:cNvSpPr>
          <p:nvPr>
            <p:ph idx="1"/>
          </p:nvPr>
        </p:nvSpPr>
        <p:spPr>
          <a:xfrm>
            <a:off x="838200" y="914400"/>
            <a:ext cx="10515600" cy="5262563"/>
          </a:xfrm>
        </p:spPr>
        <p:txBody>
          <a:bodyPr/>
          <a:lstStyle/>
          <a:p>
            <a:pPr algn="just"/>
            <a:r>
              <a:rPr lang="en-US" dirty="0"/>
              <a:t>Notice that we use double brackets to extract this column. Why double brackets instead of just single brackets? </a:t>
            </a:r>
          </a:p>
          <a:p>
            <a:pPr algn="just"/>
            <a:endParaRPr lang="en-US" dirty="0"/>
          </a:p>
          <a:p>
            <a:pPr algn="just"/>
            <a:r>
              <a:rPr lang="en-US" dirty="0"/>
              <a:t>The .fit method, by default, expects to receive 2-dimensional data – some kind of data that includes both rows and columns. </a:t>
            </a:r>
          </a:p>
          <a:p>
            <a:pPr algn="just"/>
            <a:endParaRPr lang="en-US" dirty="0"/>
          </a:p>
          <a:p>
            <a:pPr algn="just"/>
            <a:r>
              <a:rPr lang="en-US" dirty="0"/>
              <a:t>Writing penguins["</a:t>
            </a:r>
            <a:r>
              <a:rPr lang="en-US" dirty="0" err="1"/>
              <a:t>flipper_length_mm</a:t>
            </a:r>
            <a:r>
              <a:rPr lang="en-US" dirty="0"/>
              <a:t>"] would return a 1D Series, causing </a:t>
            </a:r>
            <a:r>
              <a:rPr lang="en-US" dirty="0" err="1"/>
              <a:t>sklearn</a:t>
            </a:r>
            <a:r>
              <a:rPr lang="en-US" dirty="0"/>
              <a:t> to error. </a:t>
            </a:r>
          </a:p>
          <a:p>
            <a:pPr algn="just"/>
            <a:endParaRPr lang="en-US" dirty="0"/>
          </a:p>
          <a:p>
            <a:pPr algn="just"/>
            <a:r>
              <a:rPr lang="en-US" dirty="0"/>
              <a:t>We avoid this by writing penguins[["</a:t>
            </a:r>
            <a:r>
              <a:rPr lang="en-US" dirty="0" err="1"/>
              <a:t>flipper_length_mm</a:t>
            </a:r>
            <a:r>
              <a:rPr lang="en-US" dirty="0"/>
              <a:t>"]] to produce a 2D </a:t>
            </a:r>
            <a:r>
              <a:rPr lang="en-US" dirty="0" err="1"/>
              <a:t>DataFrame</a:t>
            </a:r>
            <a:r>
              <a:rPr lang="en-US" dirty="0"/>
              <a:t>.</a:t>
            </a:r>
          </a:p>
        </p:txBody>
      </p:sp>
      <p:sp>
        <p:nvSpPr>
          <p:cNvPr id="5" name="Slide Number Placeholder 4">
            <a:extLst>
              <a:ext uri="{FF2B5EF4-FFF2-40B4-BE49-F238E27FC236}">
                <a16:creationId xmlns:a16="http://schemas.microsoft.com/office/drawing/2014/main" id="{40A8FF2A-4E22-4A81-9523-9D72E316D111}"/>
              </a:ext>
            </a:extLst>
          </p:cNvPr>
          <p:cNvSpPr>
            <a:spLocks noGrp="1"/>
          </p:cNvSpPr>
          <p:nvPr>
            <p:ph type="sldNum" sz="quarter" idx="12"/>
          </p:nvPr>
        </p:nvSpPr>
        <p:spPr/>
        <p:txBody>
          <a:bodyPr/>
          <a:lstStyle/>
          <a:p>
            <a:fld id="{6B97D948-30E8-43F7-AE10-F6E2D9F2BBB1}" type="slidenum">
              <a:rPr lang="en-US" smtClean="0"/>
              <a:t>657</a:t>
            </a:fld>
            <a:endParaRPr lang="en-US"/>
          </a:p>
        </p:txBody>
      </p:sp>
    </p:spTree>
    <p:extLst>
      <p:ext uri="{BB962C8B-B14F-4D97-AF65-F5344CB8AC3E}">
        <p14:creationId xmlns:p14="http://schemas.microsoft.com/office/powerpoint/2010/main" val="390274912"/>
      </p:ext>
    </p:extLst>
  </p:cSld>
  <p:clrMapOvr>
    <a:masterClrMapping/>
  </p:clrMapOvr>
</p:sld>
</file>

<file path=ppt/slides/slide6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251079-F843-4592-AAF2-549B03F2A2C9}"/>
              </a:ext>
            </a:extLst>
          </p:cNvPr>
          <p:cNvSpPr>
            <a:spLocks noGrp="1"/>
          </p:cNvSpPr>
          <p:nvPr>
            <p:ph idx="1"/>
          </p:nvPr>
        </p:nvSpPr>
        <p:spPr>
          <a:xfrm>
            <a:off x="838200" y="508000"/>
            <a:ext cx="10515600" cy="5668963"/>
          </a:xfrm>
        </p:spPr>
        <p:txBody>
          <a:bodyPr>
            <a:normAutofit fontScale="85000" lnSpcReduction="20000"/>
          </a:bodyPr>
          <a:lstStyle/>
          <a:p>
            <a:pPr algn="just"/>
            <a:r>
              <a:rPr lang="en-US" dirty="0"/>
              <a:t>And in just three lines of code, our model has run gradient descent to determine the optimal model parameters! </a:t>
            </a:r>
          </a:p>
          <a:p>
            <a:pPr algn="just"/>
            <a:endParaRPr lang="en-US" dirty="0"/>
          </a:p>
          <a:p>
            <a:pPr algn="just"/>
            <a:r>
              <a:rPr lang="en-US" dirty="0"/>
              <a:t>Our single-feature model takes the form:</a:t>
            </a:r>
          </a:p>
          <a:p>
            <a:pPr algn="just"/>
            <a:endParaRPr lang="en-US" dirty="0"/>
          </a:p>
          <a:p>
            <a:pPr algn="just"/>
            <a:endParaRPr lang="en-US" dirty="0"/>
          </a:p>
          <a:p>
            <a:pPr algn="just"/>
            <a:endParaRPr lang="en-US" dirty="0"/>
          </a:p>
          <a:p>
            <a:pPr algn="just"/>
            <a:r>
              <a:rPr lang="en-US" dirty="0"/>
              <a:t>Note that </a:t>
            </a:r>
            <a:r>
              <a:rPr lang="en-US" dirty="0" err="1"/>
              <a:t>LinearRegression</a:t>
            </a:r>
            <a:r>
              <a:rPr lang="en-US" dirty="0"/>
              <a:t> will automatically include an intercept term.</a:t>
            </a:r>
          </a:p>
          <a:p>
            <a:pPr algn="just"/>
            <a:endParaRPr lang="en-US" dirty="0"/>
          </a:p>
          <a:p>
            <a:pPr algn="just"/>
            <a:r>
              <a:rPr lang="en-US" dirty="0"/>
              <a:t>The fitted model parameters are stored as attributes of the model instance. </a:t>
            </a:r>
            <a:r>
              <a:rPr lang="en-US" dirty="0" err="1">
                <a:solidFill>
                  <a:srgbClr val="FF0000"/>
                </a:solidFill>
              </a:rPr>
              <a:t>my_model.intercept</a:t>
            </a:r>
            <a:r>
              <a:rPr lang="en-US" dirty="0">
                <a:solidFill>
                  <a:srgbClr val="FF0000"/>
                </a:solidFill>
              </a:rPr>
              <a:t>_ </a:t>
            </a:r>
            <a:r>
              <a:rPr lang="en-US" dirty="0"/>
              <a:t>will return the value of as a scalar. </a:t>
            </a:r>
          </a:p>
          <a:p>
            <a:pPr algn="just"/>
            <a:r>
              <a:rPr lang="en-US" dirty="0" err="1">
                <a:solidFill>
                  <a:srgbClr val="FF0000"/>
                </a:solidFill>
              </a:rPr>
              <a:t>my_model.coef</a:t>
            </a:r>
            <a:r>
              <a:rPr lang="en-US" dirty="0">
                <a:solidFill>
                  <a:srgbClr val="FF0000"/>
                </a:solidFill>
              </a:rPr>
              <a:t>_ </a:t>
            </a:r>
            <a:r>
              <a:rPr lang="en-US" dirty="0"/>
              <a:t>will return all values in an array. </a:t>
            </a:r>
          </a:p>
          <a:p>
            <a:pPr algn="just"/>
            <a:endParaRPr lang="en-US" dirty="0"/>
          </a:p>
          <a:p>
            <a:pPr algn="just"/>
            <a:r>
              <a:rPr lang="en-US" dirty="0"/>
              <a:t>Because our model only contains one feature, we see just the value of in the cell below.</a:t>
            </a:r>
          </a:p>
        </p:txBody>
      </p:sp>
      <p:pic>
        <p:nvPicPr>
          <p:cNvPr id="5" name="Picture 4">
            <a:extLst>
              <a:ext uri="{FF2B5EF4-FFF2-40B4-BE49-F238E27FC236}">
                <a16:creationId xmlns:a16="http://schemas.microsoft.com/office/drawing/2014/main" id="{918D0C1E-AF08-49A8-9BFD-B170508C3860}"/>
              </a:ext>
            </a:extLst>
          </p:cNvPr>
          <p:cNvPicPr>
            <a:picLocks noChangeAspect="1"/>
          </p:cNvPicPr>
          <p:nvPr/>
        </p:nvPicPr>
        <p:blipFill>
          <a:blip r:embed="rId2"/>
          <a:stretch>
            <a:fillRect/>
          </a:stretch>
        </p:blipFill>
        <p:spPr>
          <a:xfrm>
            <a:off x="2336800" y="2174501"/>
            <a:ext cx="5335588" cy="338512"/>
          </a:xfrm>
          <a:prstGeom prst="rect">
            <a:avLst/>
          </a:prstGeom>
        </p:spPr>
      </p:pic>
      <p:sp>
        <p:nvSpPr>
          <p:cNvPr id="7" name="Slide Number Placeholder 6">
            <a:extLst>
              <a:ext uri="{FF2B5EF4-FFF2-40B4-BE49-F238E27FC236}">
                <a16:creationId xmlns:a16="http://schemas.microsoft.com/office/drawing/2014/main" id="{BE5EDD77-9EA0-4CBA-B65E-D19059F1265E}"/>
              </a:ext>
            </a:extLst>
          </p:cNvPr>
          <p:cNvSpPr>
            <a:spLocks noGrp="1"/>
          </p:cNvSpPr>
          <p:nvPr>
            <p:ph type="sldNum" sz="quarter" idx="12"/>
          </p:nvPr>
        </p:nvSpPr>
        <p:spPr/>
        <p:txBody>
          <a:bodyPr/>
          <a:lstStyle/>
          <a:p>
            <a:fld id="{6B97D948-30E8-43F7-AE10-F6E2D9F2BBB1}" type="slidenum">
              <a:rPr lang="en-US" smtClean="0"/>
              <a:t>658</a:t>
            </a:fld>
            <a:endParaRPr lang="en-US"/>
          </a:p>
        </p:txBody>
      </p:sp>
    </p:spTree>
    <p:extLst>
      <p:ext uri="{BB962C8B-B14F-4D97-AF65-F5344CB8AC3E}">
        <p14:creationId xmlns:p14="http://schemas.microsoft.com/office/powerpoint/2010/main" val="3296561648"/>
      </p:ext>
    </p:extLst>
  </p:cSld>
  <p:clrMapOvr>
    <a:masterClrMapping/>
  </p:clrMapOvr>
</p:sld>
</file>

<file path=ppt/slides/slide6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E9FDFF-D53E-41C7-ABD3-AFFCD844D66D}"/>
              </a:ext>
            </a:extLst>
          </p:cNvPr>
          <p:cNvSpPr>
            <a:spLocks noGrp="1"/>
          </p:cNvSpPr>
          <p:nvPr>
            <p:ph idx="1"/>
          </p:nvPr>
        </p:nvSpPr>
        <p:spPr>
          <a:xfrm>
            <a:off x="838200" y="508000"/>
            <a:ext cx="10515600" cy="5668963"/>
          </a:xfrm>
        </p:spPr>
        <p:txBody>
          <a:bodyPr/>
          <a:lstStyle/>
          <a:p>
            <a:r>
              <a:rPr lang="en-US" dirty="0"/>
              <a:t># The intercept term, theta_0</a:t>
            </a:r>
          </a:p>
          <a:p>
            <a:r>
              <a:rPr lang="en-US" dirty="0" err="1"/>
              <a:t>my_model.intercept</a:t>
            </a:r>
            <a:r>
              <a:rPr lang="en-US" dirty="0"/>
              <a:t>_</a:t>
            </a:r>
          </a:p>
          <a:p>
            <a:endParaRPr lang="en-US" dirty="0"/>
          </a:p>
          <a:p>
            <a:r>
              <a:rPr lang="en-US" dirty="0"/>
              <a:t># All parameters theta_1, ..., </a:t>
            </a:r>
            <a:r>
              <a:rPr lang="en-US" dirty="0" err="1"/>
              <a:t>theta_p</a:t>
            </a:r>
            <a:endParaRPr lang="en-US" dirty="0"/>
          </a:p>
          <a:p>
            <a:r>
              <a:rPr lang="en-US" dirty="0" err="1"/>
              <a:t>my_model.coef</a:t>
            </a:r>
            <a:r>
              <a:rPr lang="en-US" dirty="0"/>
              <a:t>_</a:t>
            </a:r>
          </a:p>
          <a:p>
            <a:endParaRPr lang="en-US" dirty="0"/>
          </a:p>
          <a:p>
            <a:endParaRPr lang="en-US" dirty="0"/>
          </a:p>
        </p:txBody>
      </p:sp>
      <p:sp>
        <p:nvSpPr>
          <p:cNvPr id="5" name="Slide Number Placeholder 4">
            <a:extLst>
              <a:ext uri="{FF2B5EF4-FFF2-40B4-BE49-F238E27FC236}">
                <a16:creationId xmlns:a16="http://schemas.microsoft.com/office/drawing/2014/main" id="{901ABA13-FE6F-4A31-8F16-990892595849}"/>
              </a:ext>
            </a:extLst>
          </p:cNvPr>
          <p:cNvSpPr>
            <a:spLocks noGrp="1"/>
          </p:cNvSpPr>
          <p:nvPr>
            <p:ph type="sldNum" sz="quarter" idx="12"/>
          </p:nvPr>
        </p:nvSpPr>
        <p:spPr/>
        <p:txBody>
          <a:bodyPr/>
          <a:lstStyle/>
          <a:p>
            <a:fld id="{6B97D948-30E8-43F7-AE10-F6E2D9F2BBB1}" type="slidenum">
              <a:rPr lang="en-US" smtClean="0"/>
              <a:t>659</a:t>
            </a:fld>
            <a:endParaRPr lang="en-US"/>
          </a:p>
        </p:txBody>
      </p:sp>
    </p:spTree>
    <p:extLst>
      <p:ext uri="{BB962C8B-B14F-4D97-AF65-F5344CB8AC3E}">
        <p14:creationId xmlns:p14="http://schemas.microsoft.com/office/powerpoint/2010/main" val="4097639643"/>
      </p:ext>
    </p:extLst>
  </p:cSld>
  <p:clrMapOvr>
    <a:masterClrMapping/>
  </p:clrMapOvr>
</p:sld>
</file>

<file path=ppt/slides/slide6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9207C-020F-4B38-816F-EF24E9B2CF40}"/>
              </a:ext>
            </a:extLst>
          </p:cNvPr>
          <p:cNvSpPr>
            <a:spLocks noGrp="1"/>
          </p:cNvSpPr>
          <p:nvPr>
            <p:ph type="title"/>
          </p:nvPr>
        </p:nvSpPr>
        <p:spPr>
          <a:xfrm>
            <a:off x="838200" y="365125"/>
            <a:ext cx="10515600" cy="701675"/>
          </a:xfrm>
        </p:spPr>
        <p:txBody>
          <a:bodyPr/>
          <a:lstStyle/>
          <a:p>
            <a:r>
              <a:rPr lang="en-US" dirty="0"/>
              <a:t>Use the fitted model to make predictions</a:t>
            </a:r>
          </a:p>
        </p:txBody>
      </p:sp>
      <p:sp>
        <p:nvSpPr>
          <p:cNvPr id="3" name="Content Placeholder 2">
            <a:extLst>
              <a:ext uri="{FF2B5EF4-FFF2-40B4-BE49-F238E27FC236}">
                <a16:creationId xmlns:a16="http://schemas.microsoft.com/office/drawing/2014/main" id="{27EF80B1-116C-491F-AF49-8FA0440A35F5}"/>
              </a:ext>
            </a:extLst>
          </p:cNvPr>
          <p:cNvSpPr>
            <a:spLocks noGrp="1"/>
          </p:cNvSpPr>
          <p:nvPr>
            <p:ph idx="1"/>
          </p:nvPr>
        </p:nvSpPr>
        <p:spPr>
          <a:xfrm>
            <a:off x="838200" y="1066800"/>
            <a:ext cx="10515600" cy="5110163"/>
          </a:xfrm>
        </p:spPr>
        <p:txBody>
          <a:bodyPr/>
          <a:lstStyle/>
          <a:p>
            <a:pPr algn="just"/>
            <a:r>
              <a:rPr lang="en-US" dirty="0"/>
              <a:t>Now that the model has been trained, we can use it to make predictions! </a:t>
            </a:r>
          </a:p>
          <a:p>
            <a:pPr algn="just"/>
            <a:r>
              <a:rPr lang="en-US" dirty="0"/>
              <a:t>To do so, we use the </a:t>
            </a:r>
            <a:r>
              <a:rPr lang="en-US" dirty="0">
                <a:solidFill>
                  <a:srgbClr val="FF0000"/>
                </a:solidFill>
              </a:rPr>
              <a:t>.predict method</a:t>
            </a:r>
            <a:r>
              <a:rPr lang="en-US" dirty="0"/>
              <a:t>. </a:t>
            </a:r>
          </a:p>
          <a:p>
            <a:pPr algn="just"/>
            <a:r>
              <a:rPr lang="en-US" dirty="0">
                <a:solidFill>
                  <a:srgbClr val="FF0000"/>
                </a:solidFill>
              </a:rPr>
              <a:t>.predict </a:t>
            </a:r>
            <a:r>
              <a:rPr lang="en-US" dirty="0"/>
              <a:t>takes in one argument, the design matrix that should be used to generate predictions. </a:t>
            </a:r>
          </a:p>
          <a:p>
            <a:pPr algn="just"/>
            <a:endParaRPr lang="en-US" dirty="0"/>
          </a:p>
          <a:p>
            <a:pPr algn="just"/>
            <a:r>
              <a:rPr lang="en-US" dirty="0"/>
              <a:t>To understand how the model performs on the training set, we would pass in the training data. </a:t>
            </a:r>
          </a:p>
          <a:p>
            <a:pPr algn="just"/>
            <a:endParaRPr lang="en-US" dirty="0"/>
          </a:p>
          <a:p>
            <a:pPr algn="just"/>
            <a:r>
              <a:rPr lang="en-US" dirty="0"/>
              <a:t>Alternatively, to make predictions on unseen data, we would pass in a new dataset that wasn’t used to train the model.</a:t>
            </a:r>
          </a:p>
        </p:txBody>
      </p:sp>
      <p:sp>
        <p:nvSpPr>
          <p:cNvPr id="5" name="Slide Number Placeholder 4">
            <a:extLst>
              <a:ext uri="{FF2B5EF4-FFF2-40B4-BE49-F238E27FC236}">
                <a16:creationId xmlns:a16="http://schemas.microsoft.com/office/drawing/2014/main" id="{538B9549-B20A-4105-A968-7E877DB4733B}"/>
              </a:ext>
            </a:extLst>
          </p:cNvPr>
          <p:cNvSpPr>
            <a:spLocks noGrp="1"/>
          </p:cNvSpPr>
          <p:nvPr>
            <p:ph type="sldNum" sz="quarter" idx="12"/>
          </p:nvPr>
        </p:nvSpPr>
        <p:spPr/>
        <p:txBody>
          <a:bodyPr/>
          <a:lstStyle/>
          <a:p>
            <a:fld id="{6B97D948-30E8-43F7-AE10-F6E2D9F2BBB1}" type="slidenum">
              <a:rPr lang="en-US" smtClean="0"/>
              <a:t>660</a:t>
            </a:fld>
            <a:endParaRPr lang="en-US"/>
          </a:p>
        </p:txBody>
      </p:sp>
    </p:spTree>
    <p:extLst>
      <p:ext uri="{BB962C8B-B14F-4D97-AF65-F5344CB8AC3E}">
        <p14:creationId xmlns:p14="http://schemas.microsoft.com/office/powerpoint/2010/main" val="3467107064"/>
      </p:ext>
    </p:extLst>
  </p:cSld>
  <p:clrMapOvr>
    <a:masterClrMapping/>
  </p:clrMapOvr>
</p:sld>
</file>

<file path=ppt/slides/slide6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699448-913B-4D15-8837-A2C34A2BA4AE}"/>
              </a:ext>
            </a:extLst>
          </p:cNvPr>
          <p:cNvSpPr>
            <a:spLocks noGrp="1"/>
          </p:cNvSpPr>
          <p:nvPr>
            <p:ph idx="1"/>
          </p:nvPr>
        </p:nvSpPr>
        <p:spPr>
          <a:xfrm>
            <a:off x="838200" y="584200"/>
            <a:ext cx="10515600" cy="5592763"/>
          </a:xfrm>
        </p:spPr>
        <p:txBody>
          <a:bodyPr>
            <a:normAutofit/>
          </a:bodyPr>
          <a:lstStyle/>
          <a:p>
            <a:pPr algn="just"/>
            <a:r>
              <a:rPr lang="en-US" dirty="0">
                <a:solidFill>
                  <a:srgbClr val="FF0000"/>
                </a:solidFill>
              </a:rPr>
              <a:t>.predict</a:t>
            </a:r>
            <a:r>
              <a:rPr lang="en-US" dirty="0"/>
              <a:t> to generate model predictions on the original training data. </a:t>
            </a:r>
          </a:p>
          <a:p>
            <a:pPr algn="just"/>
            <a:endParaRPr lang="en-US" dirty="0"/>
          </a:p>
          <a:p>
            <a:pPr algn="just"/>
            <a:r>
              <a:rPr lang="en-US" dirty="0"/>
              <a:t>As before, we use double brackets to ensure that we extract 2-dimensional data.</a:t>
            </a:r>
          </a:p>
          <a:p>
            <a:pPr algn="just"/>
            <a:endParaRPr lang="en-US" dirty="0"/>
          </a:p>
          <a:p>
            <a:pPr algn="just"/>
            <a:r>
              <a:rPr lang="en-US" dirty="0" err="1">
                <a:solidFill>
                  <a:srgbClr val="FF0000"/>
                </a:solidFill>
              </a:rPr>
              <a:t>y_hat</a:t>
            </a:r>
            <a:r>
              <a:rPr lang="en-US" dirty="0">
                <a:solidFill>
                  <a:srgbClr val="FF0000"/>
                </a:solidFill>
              </a:rPr>
              <a:t> = </a:t>
            </a:r>
            <a:r>
              <a:rPr lang="en-US" dirty="0" err="1">
                <a:solidFill>
                  <a:srgbClr val="FF0000"/>
                </a:solidFill>
              </a:rPr>
              <a:t>my_model.predict</a:t>
            </a:r>
            <a:r>
              <a:rPr lang="en-US" dirty="0">
                <a:solidFill>
                  <a:srgbClr val="FF0000"/>
                </a:solidFill>
              </a:rPr>
              <a:t>(penguins[["</a:t>
            </a:r>
            <a:r>
              <a:rPr lang="en-US" dirty="0" err="1">
                <a:solidFill>
                  <a:srgbClr val="FF0000"/>
                </a:solidFill>
              </a:rPr>
              <a:t>flipper_length_mm</a:t>
            </a:r>
            <a:r>
              <a:rPr lang="en-US" dirty="0">
                <a:solidFill>
                  <a:srgbClr val="FF0000"/>
                </a:solidFill>
              </a:rPr>
              <a:t>"]])</a:t>
            </a:r>
          </a:p>
          <a:p>
            <a:pPr algn="just"/>
            <a:endParaRPr lang="en-US" dirty="0">
              <a:solidFill>
                <a:srgbClr val="FF0000"/>
              </a:solidFill>
            </a:endParaRPr>
          </a:p>
          <a:p>
            <a:pPr algn="just"/>
            <a:r>
              <a:rPr lang="en-US" dirty="0">
                <a:solidFill>
                  <a:srgbClr val="FF0000"/>
                </a:solidFill>
              </a:rPr>
              <a:t>print(</a:t>
            </a:r>
            <a:r>
              <a:rPr lang="en-US" dirty="0" err="1">
                <a:solidFill>
                  <a:srgbClr val="FF0000"/>
                </a:solidFill>
              </a:rPr>
              <a:t>f"The</a:t>
            </a:r>
            <a:r>
              <a:rPr lang="en-US" dirty="0">
                <a:solidFill>
                  <a:srgbClr val="FF0000"/>
                </a:solidFill>
              </a:rPr>
              <a:t> RMSE of the model is {</a:t>
            </a:r>
            <a:r>
              <a:rPr lang="en-US" dirty="0" err="1">
                <a:solidFill>
                  <a:srgbClr val="FF0000"/>
                </a:solidFill>
              </a:rPr>
              <a:t>np.sqrt</a:t>
            </a:r>
            <a:r>
              <a:rPr lang="en-US" dirty="0">
                <a:solidFill>
                  <a:srgbClr val="FF0000"/>
                </a:solidFill>
              </a:rPr>
              <a:t>(</a:t>
            </a:r>
            <a:r>
              <a:rPr lang="en-US" dirty="0" err="1">
                <a:solidFill>
                  <a:srgbClr val="FF0000"/>
                </a:solidFill>
              </a:rPr>
              <a:t>np.mean</a:t>
            </a:r>
            <a:r>
              <a:rPr lang="en-US" dirty="0">
                <a:solidFill>
                  <a:srgbClr val="FF0000"/>
                </a:solidFill>
              </a:rPr>
              <a:t>((y-</a:t>
            </a:r>
            <a:r>
              <a:rPr lang="en-US" dirty="0" err="1">
                <a:solidFill>
                  <a:srgbClr val="FF0000"/>
                </a:solidFill>
              </a:rPr>
              <a:t>y_hat</a:t>
            </a:r>
            <a:r>
              <a:rPr lang="en-US" dirty="0">
                <a:solidFill>
                  <a:srgbClr val="FF0000"/>
                </a:solidFill>
              </a:rPr>
              <a:t>)**2))}")</a:t>
            </a:r>
          </a:p>
          <a:p>
            <a:pPr algn="just"/>
            <a:endParaRPr lang="en-US" dirty="0"/>
          </a:p>
          <a:p>
            <a:pPr algn="just"/>
            <a:r>
              <a:rPr lang="en-US" dirty="0"/>
              <a:t>The RMSE of the model is 1.1549363099239012</a:t>
            </a:r>
          </a:p>
        </p:txBody>
      </p:sp>
      <p:sp>
        <p:nvSpPr>
          <p:cNvPr id="5" name="Slide Number Placeholder 4">
            <a:extLst>
              <a:ext uri="{FF2B5EF4-FFF2-40B4-BE49-F238E27FC236}">
                <a16:creationId xmlns:a16="http://schemas.microsoft.com/office/drawing/2014/main" id="{DAEFDC3D-8DCA-43A4-894E-2DED13A6F4E9}"/>
              </a:ext>
            </a:extLst>
          </p:cNvPr>
          <p:cNvSpPr>
            <a:spLocks noGrp="1"/>
          </p:cNvSpPr>
          <p:nvPr>
            <p:ph type="sldNum" sz="quarter" idx="12"/>
          </p:nvPr>
        </p:nvSpPr>
        <p:spPr/>
        <p:txBody>
          <a:bodyPr/>
          <a:lstStyle/>
          <a:p>
            <a:fld id="{6B97D948-30E8-43F7-AE10-F6E2D9F2BBB1}" type="slidenum">
              <a:rPr lang="en-US" smtClean="0"/>
              <a:t>661</a:t>
            </a:fld>
            <a:endParaRPr lang="en-US"/>
          </a:p>
        </p:txBody>
      </p:sp>
    </p:spTree>
    <p:extLst>
      <p:ext uri="{BB962C8B-B14F-4D97-AF65-F5344CB8AC3E}">
        <p14:creationId xmlns:p14="http://schemas.microsoft.com/office/powerpoint/2010/main" val="3214638460"/>
      </p:ext>
    </p:extLst>
  </p:cSld>
  <p:clrMapOvr>
    <a:masterClrMapping/>
  </p:clrMapOvr>
</p:sld>
</file>

<file path=ppt/slides/slide6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C3922F-B8C7-4FD5-989A-CD08FA3B1CB3}"/>
              </a:ext>
            </a:extLst>
          </p:cNvPr>
          <p:cNvSpPr>
            <a:spLocks noGrp="1"/>
          </p:cNvSpPr>
          <p:nvPr>
            <p:ph idx="1"/>
          </p:nvPr>
        </p:nvSpPr>
        <p:spPr>
          <a:xfrm>
            <a:off x="838200" y="571500"/>
            <a:ext cx="10515600" cy="5605463"/>
          </a:xfrm>
        </p:spPr>
        <p:txBody>
          <a:bodyPr>
            <a:normAutofit/>
          </a:bodyPr>
          <a:lstStyle/>
          <a:p>
            <a:r>
              <a:rPr lang="en-US" dirty="0"/>
              <a:t>What if we wanted a model with two features? Say. . .</a:t>
            </a:r>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39F27DC0-D141-43C6-90FE-70A9A265F53D}"/>
              </a:ext>
            </a:extLst>
          </p:cNvPr>
          <p:cNvPicPr>
            <a:picLocks noChangeAspect="1"/>
          </p:cNvPicPr>
          <p:nvPr/>
        </p:nvPicPr>
        <p:blipFill>
          <a:blip r:embed="rId2"/>
          <a:stretch>
            <a:fillRect/>
          </a:stretch>
        </p:blipFill>
        <p:spPr>
          <a:xfrm>
            <a:off x="2315041" y="1739901"/>
            <a:ext cx="7589372" cy="328612"/>
          </a:xfrm>
          <a:prstGeom prst="rect">
            <a:avLst/>
          </a:prstGeom>
        </p:spPr>
      </p:pic>
      <p:sp>
        <p:nvSpPr>
          <p:cNvPr id="7" name="Slide Number Placeholder 6">
            <a:extLst>
              <a:ext uri="{FF2B5EF4-FFF2-40B4-BE49-F238E27FC236}">
                <a16:creationId xmlns:a16="http://schemas.microsoft.com/office/drawing/2014/main" id="{87999B92-B8B0-419B-A2EB-00903CF85957}"/>
              </a:ext>
            </a:extLst>
          </p:cNvPr>
          <p:cNvSpPr>
            <a:spLocks noGrp="1"/>
          </p:cNvSpPr>
          <p:nvPr>
            <p:ph type="sldNum" sz="quarter" idx="12"/>
          </p:nvPr>
        </p:nvSpPr>
        <p:spPr/>
        <p:txBody>
          <a:bodyPr/>
          <a:lstStyle/>
          <a:p>
            <a:fld id="{6B97D948-30E8-43F7-AE10-F6E2D9F2BBB1}" type="slidenum">
              <a:rPr lang="en-US" smtClean="0"/>
              <a:t>662</a:t>
            </a:fld>
            <a:endParaRPr lang="en-US"/>
          </a:p>
        </p:txBody>
      </p:sp>
    </p:spTree>
    <p:extLst>
      <p:ext uri="{BB962C8B-B14F-4D97-AF65-F5344CB8AC3E}">
        <p14:creationId xmlns:p14="http://schemas.microsoft.com/office/powerpoint/2010/main" val="2997340666"/>
      </p:ext>
    </p:extLst>
  </p:cSld>
  <p:clrMapOvr>
    <a:masterClrMapping/>
  </p:clrMapOvr>
</p:sld>
</file>

<file path=ppt/slides/slide6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E3A5A-97AE-4D70-A07D-BAC0935D5E7E}"/>
              </a:ext>
            </a:extLst>
          </p:cNvPr>
          <p:cNvSpPr>
            <a:spLocks noGrp="1"/>
          </p:cNvSpPr>
          <p:nvPr>
            <p:ph idx="1"/>
          </p:nvPr>
        </p:nvSpPr>
        <p:spPr>
          <a:xfrm>
            <a:off x="838200" y="635000"/>
            <a:ext cx="10515600" cy="5541963"/>
          </a:xfrm>
        </p:spPr>
        <p:txBody>
          <a:bodyPr>
            <a:normAutofit fontScale="85000" lnSpcReduction="20000"/>
          </a:bodyPr>
          <a:lstStyle/>
          <a:p>
            <a:r>
              <a:rPr lang="en-US" dirty="0" err="1">
                <a:solidFill>
                  <a:srgbClr val="FF0000"/>
                </a:solidFill>
              </a:rPr>
              <a:t>two_feature_model</a:t>
            </a:r>
            <a:r>
              <a:rPr lang="en-US" dirty="0">
                <a:solidFill>
                  <a:srgbClr val="FF0000"/>
                </a:solidFill>
              </a:rPr>
              <a:t> = </a:t>
            </a:r>
            <a:r>
              <a:rPr lang="en-US" dirty="0" err="1">
                <a:solidFill>
                  <a:srgbClr val="FF0000"/>
                </a:solidFill>
              </a:rPr>
              <a:t>lm.LinearRegression</a:t>
            </a:r>
            <a:r>
              <a:rPr lang="en-US" dirty="0">
                <a:solidFill>
                  <a:srgbClr val="FF0000"/>
                </a:solidFill>
              </a:rPr>
              <a:t>()</a:t>
            </a:r>
          </a:p>
          <a:p>
            <a:endParaRPr lang="en-US" dirty="0">
              <a:solidFill>
                <a:srgbClr val="FF0000"/>
              </a:solidFill>
            </a:endParaRPr>
          </a:p>
          <a:p>
            <a:r>
              <a:rPr lang="en-US" dirty="0">
                <a:solidFill>
                  <a:srgbClr val="FF0000"/>
                </a:solidFill>
              </a:rPr>
              <a:t># Step 2: fit the model</a:t>
            </a:r>
          </a:p>
          <a:p>
            <a:r>
              <a:rPr lang="en-US" dirty="0" err="1">
                <a:solidFill>
                  <a:srgbClr val="FF0000"/>
                </a:solidFill>
              </a:rPr>
              <a:t>X_two_features</a:t>
            </a:r>
            <a:r>
              <a:rPr lang="en-US" dirty="0">
                <a:solidFill>
                  <a:srgbClr val="FF0000"/>
                </a:solidFill>
              </a:rPr>
              <a:t> = penguins[["</a:t>
            </a:r>
            <a:r>
              <a:rPr lang="en-US" dirty="0" err="1">
                <a:solidFill>
                  <a:srgbClr val="FF0000"/>
                </a:solidFill>
              </a:rPr>
              <a:t>flipper_length_mm</a:t>
            </a:r>
            <a:r>
              <a:rPr lang="en-US" dirty="0">
                <a:solidFill>
                  <a:srgbClr val="FF0000"/>
                </a:solidFill>
              </a:rPr>
              <a:t>", "</a:t>
            </a:r>
            <a:r>
              <a:rPr lang="en-US" dirty="0" err="1">
                <a:solidFill>
                  <a:srgbClr val="FF0000"/>
                </a:solidFill>
              </a:rPr>
              <a:t>body_mass_g</a:t>
            </a:r>
            <a:r>
              <a:rPr lang="en-US" dirty="0">
                <a:solidFill>
                  <a:srgbClr val="FF0000"/>
                </a:solidFill>
              </a:rPr>
              <a:t>"]]</a:t>
            </a:r>
          </a:p>
          <a:p>
            <a:r>
              <a:rPr lang="en-US" dirty="0">
                <a:solidFill>
                  <a:srgbClr val="FF0000"/>
                </a:solidFill>
              </a:rPr>
              <a:t>y = penguins["</a:t>
            </a:r>
            <a:r>
              <a:rPr lang="en-US" dirty="0" err="1">
                <a:solidFill>
                  <a:srgbClr val="FF0000"/>
                </a:solidFill>
              </a:rPr>
              <a:t>bill_depth_mm</a:t>
            </a:r>
            <a:r>
              <a:rPr lang="en-US" dirty="0">
                <a:solidFill>
                  <a:srgbClr val="FF0000"/>
                </a:solidFill>
              </a:rPr>
              <a:t>"]</a:t>
            </a:r>
          </a:p>
          <a:p>
            <a:endParaRPr lang="en-US" dirty="0">
              <a:solidFill>
                <a:srgbClr val="FF0000"/>
              </a:solidFill>
            </a:endParaRPr>
          </a:p>
          <a:p>
            <a:r>
              <a:rPr lang="en-US" dirty="0" err="1">
                <a:solidFill>
                  <a:srgbClr val="FF0000"/>
                </a:solidFill>
              </a:rPr>
              <a:t>two_feature_model.fit</a:t>
            </a:r>
            <a:r>
              <a:rPr lang="en-US" dirty="0">
                <a:solidFill>
                  <a:srgbClr val="FF0000"/>
                </a:solidFill>
              </a:rPr>
              <a:t>(</a:t>
            </a:r>
            <a:r>
              <a:rPr lang="en-US" dirty="0" err="1">
                <a:solidFill>
                  <a:srgbClr val="FF0000"/>
                </a:solidFill>
              </a:rPr>
              <a:t>X_two_features</a:t>
            </a:r>
            <a:r>
              <a:rPr lang="en-US" dirty="0">
                <a:solidFill>
                  <a:srgbClr val="FF0000"/>
                </a:solidFill>
              </a:rPr>
              <a:t>, y)</a:t>
            </a:r>
          </a:p>
          <a:p>
            <a:r>
              <a:rPr lang="en-US" dirty="0">
                <a:solidFill>
                  <a:srgbClr val="FF0000"/>
                </a:solidFill>
              </a:rPr>
              <a:t># Step 3: make predictions</a:t>
            </a:r>
          </a:p>
          <a:p>
            <a:r>
              <a:rPr lang="en-US" dirty="0" err="1">
                <a:solidFill>
                  <a:srgbClr val="FF0000"/>
                </a:solidFill>
              </a:rPr>
              <a:t>y_hat_two_features</a:t>
            </a:r>
            <a:r>
              <a:rPr lang="en-US" dirty="0">
                <a:solidFill>
                  <a:srgbClr val="FF0000"/>
                </a:solidFill>
              </a:rPr>
              <a:t> = </a:t>
            </a:r>
            <a:r>
              <a:rPr lang="en-US" dirty="0" err="1">
                <a:solidFill>
                  <a:srgbClr val="FF0000"/>
                </a:solidFill>
              </a:rPr>
              <a:t>two_feature_model.predict</a:t>
            </a:r>
            <a:r>
              <a:rPr lang="en-US" dirty="0">
                <a:solidFill>
                  <a:srgbClr val="FF0000"/>
                </a:solidFill>
              </a:rPr>
              <a:t>(</a:t>
            </a:r>
            <a:r>
              <a:rPr lang="en-US" dirty="0" err="1">
                <a:solidFill>
                  <a:srgbClr val="FF0000"/>
                </a:solidFill>
              </a:rPr>
              <a:t>X_two_features</a:t>
            </a:r>
            <a:r>
              <a:rPr lang="en-US" dirty="0">
                <a:solidFill>
                  <a:srgbClr val="FF0000"/>
                </a:solidFill>
              </a:rPr>
              <a:t>)</a:t>
            </a:r>
          </a:p>
          <a:p>
            <a:endParaRPr lang="en-US" dirty="0">
              <a:solidFill>
                <a:srgbClr val="FF0000"/>
              </a:solidFill>
            </a:endParaRPr>
          </a:p>
          <a:p>
            <a:r>
              <a:rPr lang="en-US" dirty="0">
                <a:solidFill>
                  <a:srgbClr val="FF0000"/>
                </a:solidFill>
              </a:rPr>
              <a:t>print(</a:t>
            </a:r>
            <a:r>
              <a:rPr lang="en-US" dirty="0" err="1">
                <a:solidFill>
                  <a:srgbClr val="FF0000"/>
                </a:solidFill>
              </a:rPr>
              <a:t>f"The</a:t>
            </a:r>
            <a:r>
              <a:rPr lang="en-US" dirty="0">
                <a:solidFill>
                  <a:srgbClr val="FF0000"/>
                </a:solidFill>
              </a:rPr>
              <a:t> RMSE of the model is {</a:t>
            </a:r>
            <a:r>
              <a:rPr lang="en-US" dirty="0" err="1">
                <a:solidFill>
                  <a:srgbClr val="FF0000"/>
                </a:solidFill>
              </a:rPr>
              <a:t>np.sqrt</a:t>
            </a:r>
            <a:r>
              <a:rPr lang="en-US" dirty="0">
                <a:solidFill>
                  <a:srgbClr val="FF0000"/>
                </a:solidFill>
              </a:rPr>
              <a:t>(</a:t>
            </a:r>
            <a:r>
              <a:rPr lang="en-US" dirty="0" err="1">
                <a:solidFill>
                  <a:srgbClr val="FF0000"/>
                </a:solidFill>
              </a:rPr>
              <a:t>np.mean</a:t>
            </a:r>
            <a:r>
              <a:rPr lang="en-US" dirty="0">
                <a:solidFill>
                  <a:srgbClr val="FF0000"/>
                </a:solidFill>
              </a:rPr>
              <a:t>((y-</a:t>
            </a:r>
            <a:r>
              <a:rPr lang="en-US" dirty="0" err="1">
                <a:solidFill>
                  <a:srgbClr val="FF0000"/>
                </a:solidFill>
              </a:rPr>
              <a:t>y_hat_two_features</a:t>
            </a:r>
            <a:r>
              <a:rPr lang="en-US" dirty="0">
                <a:solidFill>
                  <a:srgbClr val="FF0000"/>
                </a:solidFill>
              </a:rPr>
              <a:t>)**2))}")</a:t>
            </a:r>
          </a:p>
          <a:p>
            <a:r>
              <a:rPr lang="en-US" dirty="0"/>
              <a:t> </a:t>
            </a:r>
          </a:p>
          <a:p>
            <a:r>
              <a:rPr lang="en-US" dirty="0"/>
              <a:t>The RMSE of the model is 0.9881331104079044</a:t>
            </a:r>
          </a:p>
        </p:txBody>
      </p:sp>
      <p:sp>
        <p:nvSpPr>
          <p:cNvPr id="5" name="Slide Number Placeholder 4">
            <a:extLst>
              <a:ext uri="{FF2B5EF4-FFF2-40B4-BE49-F238E27FC236}">
                <a16:creationId xmlns:a16="http://schemas.microsoft.com/office/drawing/2014/main" id="{01F49BF1-DE62-4EC0-B9AA-A85327D7CB4C}"/>
              </a:ext>
            </a:extLst>
          </p:cNvPr>
          <p:cNvSpPr>
            <a:spLocks noGrp="1"/>
          </p:cNvSpPr>
          <p:nvPr>
            <p:ph type="sldNum" sz="quarter" idx="12"/>
          </p:nvPr>
        </p:nvSpPr>
        <p:spPr/>
        <p:txBody>
          <a:bodyPr/>
          <a:lstStyle/>
          <a:p>
            <a:fld id="{6B97D948-30E8-43F7-AE10-F6E2D9F2BBB1}" type="slidenum">
              <a:rPr lang="en-US" smtClean="0"/>
              <a:t>663</a:t>
            </a:fld>
            <a:endParaRPr lang="en-US"/>
          </a:p>
        </p:txBody>
      </p:sp>
    </p:spTree>
    <p:extLst>
      <p:ext uri="{BB962C8B-B14F-4D97-AF65-F5344CB8AC3E}">
        <p14:creationId xmlns:p14="http://schemas.microsoft.com/office/powerpoint/2010/main" val="2324634236"/>
      </p:ext>
    </p:extLst>
  </p:cSld>
  <p:clrMapOvr>
    <a:masterClrMapping/>
  </p:clrMapOvr>
</p:sld>
</file>

<file path=ppt/slides/slide6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3298E-19CA-4E9D-B846-29868DAE28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384457-30DA-4E66-812F-D185DB3043EC}"/>
              </a:ext>
            </a:extLst>
          </p:cNvPr>
          <p:cNvSpPr>
            <a:spLocks noGrp="1"/>
          </p:cNvSpPr>
          <p:nvPr>
            <p:ph idx="1"/>
          </p:nvPr>
        </p:nvSpPr>
        <p:spPr/>
        <p:txBody>
          <a:bodyPr/>
          <a:lstStyle/>
          <a:p>
            <a:endParaRPr lang="en-US"/>
          </a:p>
        </p:txBody>
      </p:sp>
      <p:sp>
        <p:nvSpPr>
          <p:cNvPr id="5" name="Slide Number Placeholder 4">
            <a:extLst>
              <a:ext uri="{FF2B5EF4-FFF2-40B4-BE49-F238E27FC236}">
                <a16:creationId xmlns:a16="http://schemas.microsoft.com/office/drawing/2014/main" id="{F101AAD7-7189-423F-AF77-A46ED6F12180}"/>
              </a:ext>
            </a:extLst>
          </p:cNvPr>
          <p:cNvSpPr>
            <a:spLocks noGrp="1"/>
          </p:cNvSpPr>
          <p:nvPr>
            <p:ph type="sldNum" sz="quarter" idx="12"/>
          </p:nvPr>
        </p:nvSpPr>
        <p:spPr/>
        <p:txBody>
          <a:bodyPr/>
          <a:lstStyle/>
          <a:p>
            <a:fld id="{6B97D948-30E8-43F7-AE10-F6E2D9F2BBB1}" type="slidenum">
              <a:rPr lang="en-US" smtClean="0"/>
              <a:t>664</a:t>
            </a:fld>
            <a:endParaRPr lang="en-US"/>
          </a:p>
        </p:txBody>
      </p:sp>
    </p:spTree>
    <p:extLst>
      <p:ext uri="{BB962C8B-B14F-4D97-AF65-F5344CB8AC3E}">
        <p14:creationId xmlns:p14="http://schemas.microsoft.com/office/powerpoint/2010/main" val="3558470141"/>
      </p:ext>
    </p:extLst>
  </p:cSld>
  <p:clrMapOvr>
    <a:masterClrMapping/>
  </p:clrMapOvr>
</p:sld>
</file>

<file path=ppt/slides/slide6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0AD95-6460-4DFE-BB3C-4CE69E5CD666}"/>
              </a:ext>
            </a:extLst>
          </p:cNvPr>
          <p:cNvSpPr>
            <a:spLocks noGrp="1"/>
          </p:cNvSpPr>
          <p:nvPr>
            <p:ph type="title"/>
          </p:nvPr>
        </p:nvSpPr>
        <p:spPr>
          <a:xfrm>
            <a:off x="838200" y="365125"/>
            <a:ext cx="10515600" cy="638175"/>
          </a:xfrm>
        </p:spPr>
        <p:txBody>
          <a:bodyPr>
            <a:normAutofit fontScale="90000"/>
          </a:bodyPr>
          <a:lstStyle/>
          <a:p>
            <a:r>
              <a:rPr lang="en-US" b="1" dirty="0"/>
              <a:t>Feature Engineering</a:t>
            </a:r>
            <a:endParaRPr lang="en-US" dirty="0"/>
          </a:p>
        </p:txBody>
      </p:sp>
      <p:sp>
        <p:nvSpPr>
          <p:cNvPr id="3" name="Content Placeholder 2">
            <a:extLst>
              <a:ext uri="{FF2B5EF4-FFF2-40B4-BE49-F238E27FC236}">
                <a16:creationId xmlns:a16="http://schemas.microsoft.com/office/drawing/2014/main" id="{E2EA6976-5E47-479C-94D0-2493D0D85166}"/>
              </a:ext>
            </a:extLst>
          </p:cNvPr>
          <p:cNvSpPr>
            <a:spLocks noGrp="1"/>
          </p:cNvSpPr>
          <p:nvPr>
            <p:ph idx="1"/>
          </p:nvPr>
        </p:nvSpPr>
        <p:spPr>
          <a:xfrm>
            <a:off x="838200" y="1003300"/>
            <a:ext cx="10515600" cy="5173663"/>
          </a:xfrm>
        </p:spPr>
        <p:txBody>
          <a:bodyPr>
            <a:normAutofit/>
          </a:bodyPr>
          <a:lstStyle/>
          <a:p>
            <a:pPr algn="just"/>
            <a:r>
              <a:rPr lang="en-US" dirty="0"/>
              <a:t>At this point in the course, we’ve equipped ourselves with some powerful techniques to build and optimize models. </a:t>
            </a:r>
          </a:p>
          <a:p>
            <a:pPr algn="just"/>
            <a:endParaRPr lang="en-US" dirty="0"/>
          </a:p>
          <a:p>
            <a:pPr algn="just"/>
            <a:r>
              <a:rPr lang="en-US" dirty="0"/>
              <a:t>We’ve explored how to develop models of multiple variables, as well as how to fit these models to maximize their performance.</a:t>
            </a:r>
          </a:p>
          <a:p>
            <a:endParaRPr lang="en-US" dirty="0"/>
          </a:p>
          <a:p>
            <a:pPr algn="just"/>
            <a:r>
              <a:rPr lang="en-US" dirty="0"/>
              <a:t>All of this was done with one major caveat: the regression models we’ve worked with so far are all linear in the input variables. </a:t>
            </a:r>
          </a:p>
          <a:p>
            <a:pPr algn="just"/>
            <a:endParaRPr lang="en-US" dirty="0"/>
          </a:p>
          <a:p>
            <a:pPr algn="just"/>
            <a:r>
              <a:rPr lang="en-US" dirty="0"/>
              <a:t>We’ve assumed that our predictions should be some combination of linear variables. </a:t>
            </a:r>
          </a:p>
        </p:txBody>
      </p:sp>
      <p:sp>
        <p:nvSpPr>
          <p:cNvPr id="5" name="Slide Number Placeholder 4">
            <a:extLst>
              <a:ext uri="{FF2B5EF4-FFF2-40B4-BE49-F238E27FC236}">
                <a16:creationId xmlns:a16="http://schemas.microsoft.com/office/drawing/2014/main" id="{45E9D381-10FA-4076-9112-9B3A4BBC7DCD}"/>
              </a:ext>
            </a:extLst>
          </p:cNvPr>
          <p:cNvSpPr>
            <a:spLocks noGrp="1"/>
          </p:cNvSpPr>
          <p:nvPr>
            <p:ph type="sldNum" sz="quarter" idx="12"/>
          </p:nvPr>
        </p:nvSpPr>
        <p:spPr/>
        <p:txBody>
          <a:bodyPr/>
          <a:lstStyle/>
          <a:p>
            <a:fld id="{6B97D948-30E8-43F7-AE10-F6E2D9F2BBB1}" type="slidenum">
              <a:rPr lang="en-US" smtClean="0"/>
              <a:t>665</a:t>
            </a:fld>
            <a:endParaRPr lang="en-US"/>
          </a:p>
        </p:txBody>
      </p:sp>
    </p:spTree>
    <p:extLst>
      <p:ext uri="{BB962C8B-B14F-4D97-AF65-F5344CB8AC3E}">
        <p14:creationId xmlns:p14="http://schemas.microsoft.com/office/powerpoint/2010/main" val="4032625109"/>
      </p:ext>
    </p:extLst>
  </p:cSld>
  <p:clrMapOvr>
    <a:masterClrMapping/>
  </p:clrMapOvr>
</p:sld>
</file>

<file path=ppt/slides/slide6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99D4F1-88D6-43EC-825D-005493F75A0B}"/>
                  </a:ext>
                </a:extLst>
              </p:cNvPr>
              <p:cNvSpPr>
                <a:spLocks noGrp="1"/>
              </p:cNvSpPr>
              <p:nvPr>
                <p:ph idx="1"/>
              </p:nvPr>
            </p:nvSpPr>
            <p:spPr>
              <a:xfrm>
                <a:off x="838200" y="546100"/>
                <a:ext cx="10515600" cy="5630863"/>
              </a:xfrm>
            </p:spPr>
            <p:txBody>
              <a:bodyPr>
                <a:normAutofit/>
              </a:bodyPr>
              <a:lstStyle/>
              <a:p>
                <a:pPr algn="just"/>
                <a:r>
                  <a:rPr lang="en-US" dirty="0"/>
                  <a:t>While this works well in some cases, the real world isn’t always so straightforward. </a:t>
                </a:r>
              </a:p>
              <a:p>
                <a:pPr algn="just"/>
                <a:endParaRPr lang="en-US" dirty="0"/>
              </a:p>
              <a:p>
                <a:pPr algn="just"/>
                <a:r>
                  <a:rPr lang="en-US" dirty="0"/>
                  <a:t>Let’s address this issue – and consider some new problems that can arise when we do so.</a:t>
                </a:r>
              </a:p>
              <a:p>
                <a:endParaRPr lang="en-US" dirty="0"/>
              </a:p>
              <a:p>
                <a:pPr algn="just"/>
                <a:r>
                  <a:rPr lang="en-US" i="1" dirty="0">
                    <a:solidFill>
                      <a:srgbClr val="FF0000"/>
                    </a:solidFill>
                  </a:rPr>
                  <a:t>Feature engineering is the process of transforming the raw variables into more informative features that can be used in modeling or EDA tasks</a:t>
                </a:r>
                <a:r>
                  <a:rPr lang="en-US" dirty="0"/>
                  <a:t>.</a:t>
                </a:r>
              </a:p>
              <a:p>
                <a:pPr algn="just"/>
                <a:r>
                  <a:rPr lang="en-US" dirty="0"/>
                  <a:t>Wage = f(educ, exp, gender) + other things</a:t>
                </a:r>
              </a:p>
              <a:p>
                <a:pPr algn="just"/>
                <a14:m>
                  <m:oMath xmlns:m="http://schemas.openxmlformats.org/officeDocument/2006/math">
                    <m:r>
                      <a:rPr lang="en-US" b="0" i="1" smtClean="0">
                        <a:latin typeface="Cambria Math" panose="02040503050406030204" pitchFamily="18" charset="0"/>
                      </a:rPr>
                      <m:t>𝑊𝑎𝑔𝑒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𝑒𝑑𝑢𝑐</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2</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exp</m:t>
                        </m:r>
                      </m:fName>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3</m:t>
                        </m:r>
                      </m:e>
                    </m:func>
                    <m:r>
                      <a:rPr lang="en-US" b="0" i="1" smtClean="0">
                        <a:latin typeface="Cambria Math" panose="02040503050406030204" pitchFamily="18" charset="0"/>
                        <a:ea typeface="Cambria Math" panose="02040503050406030204" pitchFamily="18" charset="0"/>
                      </a:rPr>
                      <m:t>𝑔𝑒𝑛𝑑𝑒𝑟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𝜀</m:t>
                    </m:r>
                  </m:oMath>
                </a14:m>
                <a:r>
                  <a:rPr lang="en-US" dirty="0"/>
                  <a:t>      (1)</a:t>
                </a:r>
              </a:p>
              <a:p>
                <a:pPr algn="just"/>
                <a14:m>
                  <m:oMath xmlns:m="http://schemas.openxmlformats.org/officeDocument/2006/math">
                    <m:r>
                      <a:rPr lang="en-US" b="0" i="1" smtClean="0">
                        <a:latin typeface="Cambria Math" panose="02040503050406030204" pitchFamily="18" charset="0"/>
                      </a:rPr>
                      <m:t>𝑊𝑎𝑔𝑒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𝑒𝑑𝑢𝑐</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2</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𝑒𝑑𝑢𝑐</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3</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exp</m:t>
                        </m:r>
                      </m:fName>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4</m:t>
                        </m:r>
                      </m:e>
                    </m:func>
                    <m:r>
                      <a:rPr lang="en-US" b="0" i="1" smtClean="0">
                        <a:latin typeface="Cambria Math" panose="02040503050406030204" pitchFamily="18" charset="0"/>
                        <a:ea typeface="Cambria Math" panose="02040503050406030204" pitchFamily="18" charset="0"/>
                      </a:rPr>
                      <m:t>𝑔𝑒𝑛𝑑𝑒𝑟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𝜀</m:t>
                    </m:r>
                  </m:oMath>
                </a14:m>
                <a:r>
                  <a:rPr lang="en-US" dirty="0"/>
                  <a:t> (2)</a:t>
                </a:r>
              </a:p>
              <a:p>
                <a:pPr algn="just"/>
                <a:endParaRPr lang="en-US" dirty="0"/>
              </a:p>
              <a:p>
                <a:endParaRPr lang="en-US" dirty="0"/>
              </a:p>
            </p:txBody>
          </p:sp>
        </mc:Choice>
        <mc:Fallback xmlns="">
          <p:sp>
            <p:nvSpPr>
              <p:cNvPr id="3" name="Content Placeholder 2">
                <a:extLst>
                  <a:ext uri="{FF2B5EF4-FFF2-40B4-BE49-F238E27FC236}">
                    <a16:creationId xmlns:a16="http://schemas.microsoft.com/office/drawing/2014/main" id="{9099D4F1-88D6-43EC-825D-005493F75A0B}"/>
                  </a:ext>
                </a:extLst>
              </p:cNvPr>
              <p:cNvSpPr>
                <a:spLocks noGrp="1" noRot="1" noChangeAspect="1" noMove="1" noResize="1" noEditPoints="1" noAdjustHandles="1" noChangeArrowheads="1" noChangeShapeType="1" noTextEdit="1"/>
              </p:cNvSpPr>
              <p:nvPr>
                <p:ph idx="1"/>
              </p:nvPr>
            </p:nvSpPr>
            <p:spPr>
              <a:xfrm>
                <a:off x="838200" y="546100"/>
                <a:ext cx="10515600" cy="5630863"/>
              </a:xfrm>
              <a:blipFill>
                <a:blip r:embed="rId2"/>
                <a:stretch>
                  <a:fillRect l="-1043" t="-1842" r="-1159" b="-249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5422BE15-1F8C-4D5A-8C70-09ED070CA406}"/>
              </a:ext>
            </a:extLst>
          </p:cNvPr>
          <p:cNvSpPr>
            <a:spLocks noGrp="1"/>
          </p:cNvSpPr>
          <p:nvPr>
            <p:ph type="sldNum" sz="quarter" idx="12"/>
          </p:nvPr>
        </p:nvSpPr>
        <p:spPr/>
        <p:txBody>
          <a:bodyPr/>
          <a:lstStyle/>
          <a:p>
            <a:fld id="{6B97D948-30E8-43F7-AE10-F6E2D9F2BBB1}" type="slidenum">
              <a:rPr lang="en-US" smtClean="0"/>
              <a:t>666</a:t>
            </a:fld>
            <a:endParaRPr lang="en-US"/>
          </a:p>
        </p:txBody>
      </p:sp>
    </p:spTree>
    <p:extLst>
      <p:ext uri="{BB962C8B-B14F-4D97-AF65-F5344CB8AC3E}">
        <p14:creationId xmlns:p14="http://schemas.microsoft.com/office/powerpoint/2010/main" val="3566269890"/>
      </p:ext>
    </p:extLst>
  </p:cSld>
  <p:clrMapOvr>
    <a:masterClrMapping/>
  </p:clrMapOvr>
</p:sld>
</file>

<file path=ppt/slides/slide6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4761A-83EE-43F5-8599-9CCCFA9EE6F0}"/>
              </a:ext>
            </a:extLst>
          </p:cNvPr>
          <p:cNvSpPr>
            <a:spLocks noGrp="1"/>
          </p:cNvSpPr>
          <p:nvPr>
            <p:ph type="title"/>
          </p:nvPr>
        </p:nvSpPr>
        <p:spPr>
          <a:xfrm>
            <a:off x="838200" y="365125"/>
            <a:ext cx="10515600" cy="663575"/>
          </a:xfrm>
        </p:spPr>
        <p:txBody>
          <a:bodyPr>
            <a:normAutofit fontScale="90000"/>
          </a:bodyPr>
          <a:lstStyle/>
          <a:p>
            <a:r>
              <a:rPr lang="en-US" dirty="0"/>
              <a:t>What exactly?</a:t>
            </a:r>
          </a:p>
        </p:txBody>
      </p:sp>
      <p:sp>
        <p:nvSpPr>
          <p:cNvPr id="3" name="Content Placeholder 2">
            <a:extLst>
              <a:ext uri="{FF2B5EF4-FFF2-40B4-BE49-F238E27FC236}">
                <a16:creationId xmlns:a16="http://schemas.microsoft.com/office/drawing/2014/main" id="{F9A5AD93-0387-47FC-A1B9-936C4EA779A8}"/>
              </a:ext>
            </a:extLst>
          </p:cNvPr>
          <p:cNvSpPr>
            <a:spLocks noGrp="1"/>
          </p:cNvSpPr>
          <p:nvPr>
            <p:ph idx="1"/>
          </p:nvPr>
        </p:nvSpPr>
        <p:spPr>
          <a:xfrm>
            <a:off x="838200" y="1028700"/>
            <a:ext cx="10515600" cy="5148263"/>
          </a:xfrm>
        </p:spPr>
        <p:txBody>
          <a:bodyPr/>
          <a:lstStyle/>
          <a:p>
            <a:r>
              <a:rPr lang="en-US" dirty="0"/>
              <a:t>Feature engineering allows you to:</a:t>
            </a:r>
          </a:p>
          <a:p>
            <a:r>
              <a:rPr lang="en-US" dirty="0"/>
              <a:t>    Capture domain knowledge</a:t>
            </a:r>
          </a:p>
          <a:p>
            <a:r>
              <a:rPr lang="en-US" dirty="0"/>
              <a:t>    Express non-linear relationships using linear models.</a:t>
            </a:r>
          </a:p>
          <a:p>
            <a:r>
              <a:rPr lang="en-US" dirty="0"/>
              <a:t>    Use non-numeric features in models</a:t>
            </a:r>
          </a:p>
          <a:p>
            <a:endParaRPr lang="en-US" dirty="0"/>
          </a:p>
          <a:p>
            <a:r>
              <a:rPr lang="en-US" dirty="0"/>
              <a:t>Consumption = f(Income) + other</a:t>
            </a:r>
          </a:p>
        </p:txBody>
      </p:sp>
      <p:sp>
        <p:nvSpPr>
          <p:cNvPr id="5" name="Slide Number Placeholder 4">
            <a:extLst>
              <a:ext uri="{FF2B5EF4-FFF2-40B4-BE49-F238E27FC236}">
                <a16:creationId xmlns:a16="http://schemas.microsoft.com/office/drawing/2014/main" id="{364AA2C0-22DA-4B24-8544-8E33CBE74240}"/>
              </a:ext>
            </a:extLst>
          </p:cNvPr>
          <p:cNvSpPr>
            <a:spLocks noGrp="1"/>
          </p:cNvSpPr>
          <p:nvPr>
            <p:ph type="sldNum" sz="quarter" idx="12"/>
          </p:nvPr>
        </p:nvSpPr>
        <p:spPr/>
        <p:txBody>
          <a:bodyPr/>
          <a:lstStyle/>
          <a:p>
            <a:fld id="{6B97D948-30E8-43F7-AE10-F6E2D9F2BBB1}" type="slidenum">
              <a:rPr lang="en-US" smtClean="0"/>
              <a:t>667</a:t>
            </a:fld>
            <a:endParaRPr lang="en-US"/>
          </a:p>
        </p:txBody>
      </p:sp>
    </p:spTree>
    <p:extLst>
      <p:ext uri="{BB962C8B-B14F-4D97-AF65-F5344CB8AC3E}">
        <p14:creationId xmlns:p14="http://schemas.microsoft.com/office/powerpoint/2010/main" val="3374693217"/>
      </p:ext>
    </p:extLst>
  </p:cSld>
  <p:clrMapOvr>
    <a:masterClrMapping/>
  </p:clrMapOvr>
</p:sld>
</file>

<file path=ppt/slides/slide6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016C41B-FFB6-4D8B-9915-841A8A2DDEAD}"/>
              </a:ext>
            </a:extLst>
          </p:cNvPr>
          <p:cNvCxnSpPr>
            <a:cxnSpLocks/>
          </p:cNvCxnSpPr>
          <p:nvPr/>
        </p:nvCxnSpPr>
        <p:spPr>
          <a:xfrm>
            <a:off x="2311400" y="1358900"/>
            <a:ext cx="0" cy="391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797E27-1039-4BE3-96F1-C2A66B7AEC73}"/>
              </a:ext>
            </a:extLst>
          </p:cNvPr>
          <p:cNvCxnSpPr/>
          <p:nvPr/>
        </p:nvCxnSpPr>
        <p:spPr>
          <a:xfrm>
            <a:off x="2324100" y="5257800"/>
            <a:ext cx="544830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Heptagon 7">
            <a:extLst>
              <a:ext uri="{FF2B5EF4-FFF2-40B4-BE49-F238E27FC236}">
                <a16:creationId xmlns:a16="http://schemas.microsoft.com/office/drawing/2014/main" id="{003519C7-44E2-4506-9D14-7BEE494726B5}"/>
              </a:ext>
            </a:extLst>
          </p:cNvPr>
          <p:cNvSpPr/>
          <p:nvPr/>
        </p:nvSpPr>
        <p:spPr>
          <a:xfrm>
            <a:off x="2717800" y="2736850"/>
            <a:ext cx="152400" cy="165100"/>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ctagon 9">
            <a:extLst>
              <a:ext uri="{FF2B5EF4-FFF2-40B4-BE49-F238E27FC236}">
                <a16:creationId xmlns:a16="http://schemas.microsoft.com/office/drawing/2014/main" id="{F2C61561-3495-49AB-AFA2-7D6B651E3B44}"/>
              </a:ext>
            </a:extLst>
          </p:cNvPr>
          <p:cNvSpPr/>
          <p:nvPr/>
        </p:nvSpPr>
        <p:spPr>
          <a:xfrm>
            <a:off x="4711700" y="4565650"/>
            <a:ext cx="152400" cy="241299"/>
          </a:xfrm>
          <a:prstGeom prst="oc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ptagon 10">
            <a:extLst>
              <a:ext uri="{FF2B5EF4-FFF2-40B4-BE49-F238E27FC236}">
                <a16:creationId xmlns:a16="http://schemas.microsoft.com/office/drawing/2014/main" id="{33F16656-2E6D-4FA4-BE70-C7A2A6F592D7}"/>
              </a:ext>
            </a:extLst>
          </p:cNvPr>
          <p:cNvSpPr/>
          <p:nvPr/>
        </p:nvSpPr>
        <p:spPr>
          <a:xfrm>
            <a:off x="3397257" y="3945732"/>
            <a:ext cx="253993" cy="201612"/>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eptagon 11">
            <a:extLst>
              <a:ext uri="{FF2B5EF4-FFF2-40B4-BE49-F238E27FC236}">
                <a16:creationId xmlns:a16="http://schemas.microsoft.com/office/drawing/2014/main" id="{068C2AEA-6B9D-4760-B58B-B4E21B3F486B}"/>
              </a:ext>
            </a:extLst>
          </p:cNvPr>
          <p:cNvSpPr/>
          <p:nvPr/>
        </p:nvSpPr>
        <p:spPr>
          <a:xfrm>
            <a:off x="6718300" y="4711701"/>
            <a:ext cx="139700" cy="200024"/>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a:extLst>
              <a:ext uri="{FF2B5EF4-FFF2-40B4-BE49-F238E27FC236}">
                <a16:creationId xmlns:a16="http://schemas.microsoft.com/office/drawing/2014/main" id="{B6168549-396A-4D6B-BE8E-729288C6E357}"/>
              </a:ext>
            </a:extLst>
          </p:cNvPr>
          <p:cNvSpPr>
            <a:spLocks noGrp="1"/>
          </p:cNvSpPr>
          <p:nvPr>
            <p:ph type="sldNum" sz="quarter" idx="12"/>
          </p:nvPr>
        </p:nvSpPr>
        <p:spPr/>
        <p:txBody>
          <a:bodyPr/>
          <a:lstStyle/>
          <a:p>
            <a:fld id="{6B97D948-30E8-43F7-AE10-F6E2D9F2BBB1}" type="slidenum">
              <a:rPr lang="en-US" smtClean="0"/>
              <a:t>668</a:t>
            </a:fld>
            <a:endParaRPr lang="en-US"/>
          </a:p>
        </p:txBody>
      </p:sp>
    </p:spTree>
    <p:extLst>
      <p:ext uri="{BB962C8B-B14F-4D97-AF65-F5344CB8AC3E}">
        <p14:creationId xmlns:p14="http://schemas.microsoft.com/office/powerpoint/2010/main" val="3816153301"/>
      </p:ext>
    </p:extLst>
  </p:cSld>
  <p:clrMapOvr>
    <a:masterClrMapping/>
  </p:clrMapOvr>
</p:sld>
</file>

<file path=ppt/slides/slide6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5694-8E5D-42AF-9693-06F9D288F8C7}"/>
              </a:ext>
            </a:extLst>
          </p:cNvPr>
          <p:cNvSpPr>
            <a:spLocks noGrp="1"/>
          </p:cNvSpPr>
          <p:nvPr>
            <p:ph type="title"/>
          </p:nvPr>
        </p:nvSpPr>
        <p:spPr>
          <a:xfrm>
            <a:off x="838200" y="365125"/>
            <a:ext cx="10515600" cy="612775"/>
          </a:xfrm>
        </p:spPr>
        <p:txBody>
          <a:bodyPr>
            <a:normAutofit fontScale="90000"/>
          </a:bodyPr>
          <a:lstStyle/>
          <a:p>
            <a:r>
              <a:rPr lang="en-US" dirty="0"/>
              <a:t>Feature Functions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9BB50C-76ED-4BCC-B6EA-E7CA63B8BDD9}"/>
                  </a:ext>
                </a:extLst>
              </p:cNvPr>
              <p:cNvSpPr>
                <a:spLocks noGrp="1"/>
              </p:cNvSpPr>
              <p:nvPr>
                <p:ph idx="1"/>
              </p:nvPr>
            </p:nvSpPr>
            <p:spPr>
              <a:xfrm>
                <a:off x="838200" y="977900"/>
                <a:ext cx="10515600" cy="5199063"/>
              </a:xfrm>
            </p:spPr>
            <p:txBody>
              <a:bodyPr/>
              <a:lstStyle/>
              <a:p>
                <a:pPr algn="just"/>
                <a:r>
                  <a:rPr lang="en-US" dirty="0"/>
                  <a:t>A </a:t>
                </a:r>
                <a:r>
                  <a:rPr lang="en-US" i="1" dirty="0"/>
                  <a:t>feature function describes the transformations we apply to raw features in a dataset to create a design matrix of transformed features</a:t>
                </a:r>
                <a:r>
                  <a:rPr lang="en-US" dirty="0"/>
                  <a:t>. </a:t>
                </a:r>
              </a:p>
              <a:p>
                <a:pPr algn="just"/>
                <a:endParaRPr lang="en-US" dirty="0"/>
              </a:p>
              <a:p>
                <a:pPr algn="just"/>
                <a:r>
                  <a:rPr lang="en-US" dirty="0"/>
                  <a:t>We typically denote the feature function as </a:t>
                </a:r>
                <a14:m>
                  <m:oMath xmlns:m="http://schemas.openxmlformats.org/officeDocument/2006/math">
                    <m:r>
                      <a:rPr lang="el-GR" b="1" i="0" smtClean="0">
                        <a:solidFill>
                          <a:srgbClr val="FF0000"/>
                        </a:solidFill>
                        <a:latin typeface="Cambria Math" panose="02040503050406030204" pitchFamily="18" charset="0"/>
                        <a:ea typeface="Cambria Math" panose="02040503050406030204" pitchFamily="18" charset="0"/>
                      </a:rPr>
                      <m:t>𝚽</m:t>
                    </m:r>
                  </m:oMath>
                </a14:m>
                <a:r>
                  <a:rPr lang="en-US" dirty="0"/>
                  <a:t> (think to yourself: “phi”-</a:t>
                </a:r>
                <a:r>
                  <a:rPr lang="en-US" dirty="0" err="1"/>
                  <a:t>ture</a:t>
                </a:r>
                <a:r>
                  <a:rPr lang="en-US" dirty="0"/>
                  <a:t> function). </a:t>
                </a:r>
              </a:p>
              <a:p>
                <a:pPr algn="just"/>
                <a:endParaRPr lang="en-US" dirty="0"/>
              </a:p>
              <a:p>
                <a:pPr algn="just"/>
                <a:r>
                  <a:rPr lang="en-US" dirty="0"/>
                  <a:t>When we apply the feature function to our original dataset </a:t>
                </a:r>
                <a14:m>
                  <m:oMath xmlns:m="http://schemas.openxmlformats.org/officeDocument/2006/math">
                    <m:r>
                      <a:rPr lang="en-US" i="1" smtClean="0">
                        <a:latin typeface="Cambria Math" panose="02040503050406030204" pitchFamily="18" charset="0"/>
                        <a:ea typeface="Cambria Math" panose="02040503050406030204" pitchFamily="18" charset="0"/>
                      </a:rPr>
                      <m:t>𝕏</m:t>
                    </m:r>
                  </m:oMath>
                </a14:m>
                <a:r>
                  <a:rPr lang="en-US" dirty="0"/>
                  <a:t>, the result, </a:t>
                </a:r>
                <a14:m>
                  <m:oMath xmlns:m="http://schemas.openxmlformats.org/officeDocument/2006/math">
                    <m:r>
                      <a:rPr lang="el-GR" b="1">
                        <a:latin typeface="Cambria Math" panose="02040503050406030204" pitchFamily="18" charset="0"/>
                        <a:ea typeface="Cambria Math" panose="02040503050406030204" pitchFamily="18" charset="0"/>
                      </a:rPr>
                      <m:t>𝚽</m:t>
                    </m:r>
                    <m:r>
                      <a:rPr lang="en-US" b="1"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𝕏</m:t>
                    </m:r>
                    <m:r>
                      <a:rPr lang="en-US" b="0" i="1" smtClean="0">
                        <a:latin typeface="Cambria Math" panose="02040503050406030204" pitchFamily="18" charset="0"/>
                        <a:ea typeface="Cambria Math" panose="02040503050406030204" pitchFamily="18" charset="0"/>
                      </a:rPr>
                      <m:t>)</m:t>
                    </m:r>
                  </m:oMath>
                </a14:m>
                <a:r>
                  <a:rPr lang="en-US" dirty="0"/>
                  <a:t>, is a transformed design matrix ready to be used in modeling.</a:t>
                </a:r>
              </a:p>
            </p:txBody>
          </p:sp>
        </mc:Choice>
        <mc:Fallback xmlns="">
          <p:sp>
            <p:nvSpPr>
              <p:cNvPr id="3" name="Content Placeholder 2">
                <a:extLst>
                  <a:ext uri="{FF2B5EF4-FFF2-40B4-BE49-F238E27FC236}">
                    <a16:creationId xmlns:a16="http://schemas.microsoft.com/office/drawing/2014/main" id="{7D9BB50C-76ED-4BCC-B6EA-E7CA63B8BDD9}"/>
                  </a:ext>
                </a:extLst>
              </p:cNvPr>
              <p:cNvSpPr>
                <a:spLocks noGrp="1" noRot="1" noChangeAspect="1" noMove="1" noResize="1" noEditPoints="1" noAdjustHandles="1" noChangeArrowheads="1" noChangeShapeType="1" noTextEdit="1"/>
              </p:cNvSpPr>
              <p:nvPr>
                <p:ph idx="1"/>
              </p:nvPr>
            </p:nvSpPr>
            <p:spPr>
              <a:xfrm>
                <a:off x="838200" y="977900"/>
                <a:ext cx="10515600" cy="5199063"/>
              </a:xfrm>
              <a:blipFill>
                <a:blip r:embed="rId2"/>
                <a:stretch>
                  <a:fillRect l="-1043" t="-1876"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C48F7E40-F35B-4884-B9A8-C177F157BB03}"/>
              </a:ext>
            </a:extLst>
          </p:cNvPr>
          <p:cNvSpPr>
            <a:spLocks noGrp="1"/>
          </p:cNvSpPr>
          <p:nvPr>
            <p:ph type="sldNum" sz="quarter" idx="12"/>
          </p:nvPr>
        </p:nvSpPr>
        <p:spPr/>
        <p:txBody>
          <a:bodyPr/>
          <a:lstStyle/>
          <a:p>
            <a:fld id="{6B97D948-30E8-43F7-AE10-F6E2D9F2BBB1}" type="slidenum">
              <a:rPr lang="en-US" smtClean="0"/>
              <a:t>669</a:t>
            </a:fld>
            <a:endParaRPr lang="en-US"/>
          </a:p>
        </p:txBody>
      </p:sp>
    </p:spTree>
    <p:extLst>
      <p:ext uri="{BB962C8B-B14F-4D97-AF65-F5344CB8AC3E}">
        <p14:creationId xmlns:p14="http://schemas.microsoft.com/office/powerpoint/2010/main" val="2337954572"/>
      </p:ext>
    </p:extLst>
  </p:cSld>
  <p:clrMapOvr>
    <a:masterClrMapping/>
  </p:clrMapOvr>
</p:sld>
</file>

<file path=ppt/slides/slide6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3971D4-19FE-438C-A0FE-B711905ED071}"/>
                  </a:ext>
                </a:extLst>
              </p:cNvPr>
              <p:cNvSpPr>
                <a:spLocks noGrp="1"/>
              </p:cNvSpPr>
              <p:nvPr>
                <p:ph idx="1"/>
              </p:nvPr>
            </p:nvSpPr>
            <p:spPr>
              <a:xfrm>
                <a:off x="838200" y="431800"/>
                <a:ext cx="10515600" cy="5745163"/>
              </a:xfrm>
            </p:spPr>
            <p:txBody>
              <a:bodyPr/>
              <a:lstStyle/>
              <a:p>
                <a:pPr algn="just"/>
                <a:r>
                  <a:rPr lang="en-US" dirty="0"/>
                  <a:t>For example, we might design a feature function that computes the square of an existing feature and adds it to the design matrix. </a:t>
                </a:r>
              </a:p>
              <a:p>
                <a:pPr algn="just"/>
                <a:endParaRPr lang="en-US" dirty="0"/>
              </a:p>
              <a:p>
                <a:pPr algn="just"/>
                <a:r>
                  <a:rPr lang="en-US" dirty="0"/>
                  <a:t>In this case, our existing matrix is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transformed to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𝑥</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e>
                    </m:d>
                  </m:oMath>
                </a14:m>
                <a:r>
                  <a:rPr lang="en-US" dirty="0"/>
                  <a:t>. </a:t>
                </a:r>
              </a:p>
              <a:p>
                <a:pPr algn="just"/>
                <a:endParaRPr lang="en-US" dirty="0"/>
              </a:p>
              <a:p>
                <a:pPr algn="just"/>
                <a:r>
                  <a:rPr lang="en-US" dirty="0"/>
                  <a:t>Its dimension increases from 1 to 2.</a:t>
                </a:r>
              </a:p>
            </p:txBody>
          </p:sp>
        </mc:Choice>
        <mc:Fallback xmlns="">
          <p:sp>
            <p:nvSpPr>
              <p:cNvPr id="3" name="Content Placeholder 2">
                <a:extLst>
                  <a:ext uri="{FF2B5EF4-FFF2-40B4-BE49-F238E27FC236}">
                    <a16:creationId xmlns:a16="http://schemas.microsoft.com/office/drawing/2014/main" id="{F23971D4-19FE-438C-A0FE-B711905ED071}"/>
                  </a:ext>
                </a:extLst>
              </p:cNvPr>
              <p:cNvSpPr>
                <a:spLocks noGrp="1" noRot="1" noChangeAspect="1" noMove="1" noResize="1" noEditPoints="1" noAdjustHandles="1" noChangeArrowheads="1" noChangeShapeType="1" noTextEdit="1"/>
              </p:cNvSpPr>
              <p:nvPr>
                <p:ph idx="1"/>
              </p:nvPr>
            </p:nvSpPr>
            <p:spPr>
              <a:xfrm>
                <a:off x="838200" y="431800"/>
                <a:ext cx="10515600" cy="5745163"/>
              </a:xfrm>
              <a:blipFill>
                <a:blip r:embed="rId2"/>
                <a:stretch>
                  <a:fillRect l="-1043" t="-1805"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E610D5CA-97F8-41D1-A394-C80297880125}"/>
              </a:ext>
            </a:extLst>
          </p:cNvPr>
          <p:cNvSpPr>
            <a:spLocks noGrp="1"/>
          </p:cNvSpPr>
          <p:nvPr>
            <p:ph type="sldNum" sz="quarter" idx="12"/>
          </p:nvPr>
        </p:nvSpPr>
        <p:spPr/>
        <p:txBody>
          <a:bodyPr/>
          <a:lstStyle/>
          <a:p>
            <a:fld id="{6B97D948-30E8-43F7-AE10-F6E2D9F2BBB1}" type="slidenum">
              <a:rPr lang="en-US" smtClean="0"/>
              <a:t>670</a:t>
            </a:fld>
            <a:endParaRPr lang="en-US"/>
          </a:p>
        </p:txBody>
      </p:sp>
    </p:spTree>
    <p:extLst>
      <p:ext uri="{BB962C8B-B14F-4D97-AF65-F5344CB8AC3E}">
        <p14:creationId xmlns:p14="http://schemas.microsoft.com/office/powerpoint/2010/main" val="1384353214"/>
      </p:ext>
    </p:extLst>
  </p:cSld>
  <p:clrMapOvr>
    <a:masterClrMapping/>
  </p:clrMapOvr>
</p:sld>
</file>

<file path=ppt/slides/slide6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0C7010-D169-4C6A-A499-AB4CD0F0C6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1421" y="952501"/>
            <a:ext cx="7605824" cy="4864986"/>
          </a:xfrm>
        </p:spPr>
      </p:pic>
      <p:sp>
        <p:nvSpPr>
          <p:cNvPr id="7" name="Slide Number Placeholder 6">
            <a:extLst>
              <a:ext uri="{FF2B5EF4-FFF2-40B4-BE49-F238E27FC236}">
                <a16:creationId xmlns:a16="http://schemas.microsoft.com/office/drawing/2014/main" id="{168E5B2A-624B-4B6D-85C7-FED38876456C}"/>
              </a:ext>
            </a:extLst>
          </p:cNvPr>
          <p:cNvSpPr>
            <a:spLocks noGrp="1"/>
          </p:cNvSpPr>
          <p:nvPr>
            <p:ph type="sldNum" sz="quarter" idx="12"/>
          </p:nvPr>
        </p:nvSpPr>
        <p:spPr/>
        <p:txBody>
          <a:bodyPr/>
          <a:lstStyle/>
          <a:p>
            <a:fld id="{6B97D948-30E8-43F7-AE10-F6E2D9F2BBB1}" type="slidenum">
              <a:rPr lang="en-US" smtClean="0"/>
              <a:t>671</a:t>
            </a:fld>
            <a:endParaRPr lang="en-US"/>
          </a:p>
        </p:txBody>
      </p:sp>
    </p:spTree>
    <p:extLst>
      <p:ext uri="{BB962C8B-B14F-4D97-AF65-F5344CB8AC3E}">
        <p14:creationId xmlns:p14="http://schemas.microsoft.com/office/powerpoint/2010/main" val="2006628700"/>
      </p:ext>
    </p:extLst>
  </p:cSld>
  <p:clrMapOvr>
    <a:masterClrMapping/>
  </p:clrMapOvr>
</p:sld>
</file>

<file path=ppt/slides/slide6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A385D76-9DE9-46E2-A195-0D636CFA604D}"/>
                  </a:ext>
                </a:extLst>
              </p:cNvPr>
              <p:cNvSpPr>
                <a:spLocks noGrp="1"/>
              </p:cNvSpPr>
              <p:nvPr>
                <p:ph idx="1"/>
              </p:nvPr>
            </p:nvSpPr>
            <p:spPr>
              <a:xfrm>
                <a:off x="838200" y="546100"/>
                <a:ext cx="10515600" cy="5630863"/>
              </a:xfrm>
            </p:spPr>
            <p:txBody>
              <a:bodyPr/>
              <a:lstStyle/>
              <a:p>
                <a:pPr algn="just"/>
                <a:r>
                  <a:rPr lang="en-US" dirty="0"/>
                  <a:t>The new features introduced by the feature function can then be used in modeling. </a:t>
                </a:r>
              </a:p>
              <a:p>
                <a:pPr algn="just"/>
                <a:r>
                  <a:rPr lang="en-US" dirty="0"/>
                  <a:t>Often, we use the symbol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𝑖</m:t>
                        </m:r>
                      </m:sub>
                    </m:sSub>
                  </m:oMath>
                </a14:m>
                <a:r>
                  <a:rPr lang="en-US" dirty="0"/>
                  <a:t> to represent transformed features after feature engineering.</a:t>
                </a:r>
              </a:p>
              <a:p>
                <a:pPr marL="0" indent="0" algn="ctr">
                  <a:buNone/>
                </a:pPr>
                <a14:m>
                  <m:oMath xmlns:m="http://schemas.openxmlformats.org/officeDocument/2006/math">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𝑦</m:t>
                        </m:r>
                      </m:e>
                    </m:acc>
                    <m:r>
                      <a:rPr lang="en-US" b="0" i="1" smtClean="0">
                        <a:solidFill>
                          <a:srgbClr val="FF0000"/>
                        </a:solidFill>
                        <a:latin typeface="Cambria Math" panose="02040503050406030204" pitchFamily="18" charset="0"/>
                      </a:rPr>
                      <m:t>= </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𝜃</m:t>
                        </m:r>
                      </m:e>
                      <m:sub>
                        <m:r>
                          <a:rPr lang="en-US" b="0" i="1"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𝜃</m:t>
                        </m:r>
                      </m:e>
                      <m:sub>
                        <m:r>
                          <a:rPr lang="en-US" b="0" i="1" smtClean="0">
                            <a:solidFill>
                              <a:srgbClr val="FF0000"/>
                            </a:solidFill>
                            <a:latin typeface="Cambria Math" panose="02040503050406030204" pitchFamily="18" charset="0"/>
                          </a:rPr>
                          <m:t>2</m:t>
                        </m:r>
                      </m:sub>
                    </m:sSub>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b="0" i="1" smtClean="0">
                            <a:solidFill>
                              <a:srgbClr val="FF0000"/>
                            </a:solidFill>
                            <a:latin typeface="Cambria Math" panose="02040503050406030204" pitchFamily="18" charset="0"/>
                          </a:rPr>
                          <m:t>2</m:t>
                        </m:r>
                      </m:sup>
                    </m:sSup>
                  </m:oMath>
                </a14:m>
                <a:r>
                  <a:rPr lang="en-US" dirty="0">
                    <a:solidFill>
                      <a:srgbClr val="FF0000"/>
                    </a:solidFill>
                  </a:rPr>
                  <a:t> Non-linear</a:t>
                </a:r>
              </a:p>
              <a:p>
                <a:pPr marL="0" indent="0" algn="ctr">
                  <a:buNone/>
                </a:pPr>
                <a:endParaRPr lang="en-US" dirty="0"/>
              </a:p>
              <a:p>
                <a:pPr marL="0" indent="0" algn="ctr">
                  <a:buNone/>
                </a:pPr>
                <a14:m>
                  <m:oMath xmlns:m="http://schemas.openxmlformats.org/officeDocument/2006/math">
                    <m:acc>
                      <m:accPr>
                        <m:chr m:val="̂"/>
                        <m:ctrlPr>
                          <a:rPr lang="en-US" i="1" smtClean="0">
                            <a:solidFill>
                              <a:srgbClr val="7030A0"/>
                            </a:solidFill>
                            <a:latin typeface="Cambria Math" panose="02040503050406030204" pitchFamily="18" charset="0"/>
                          </a:rPr>
                        </m:ctrlPr>
                      </m:accPr>
                      <m:e>
                        <m:r>
                          <a:rPr lang="en-US" b="0" i="1" smtClean="0">
                            <a:solidFill>
                              <a:srgbClr val="7030A0"/>
                            </a:solidFill>
                            <a:latin typeface="Cambria Math" panose="02040503050406030204" pitchFamily="18" charset="0"/>
                          </a:rPr>
                          <m:t>𝑦</m:t>
                        </m:r>
                      </m:e>
                    </m:acc>
                    <m:r>
                      <a:rPr lang="en-US" b="0" i="1" smtClean="0">
                        <a:solidFill>
                          <a:srgbClr val="7030A0"/>
                        </a:solidFill>
                        <a:latin typeface="Cambria Math" panose="02040503050406030204" pitchFamily="18" charset="0"/>
                      </a:rPr>
                      <m:t>= </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ea typeface="Cambria Math" panose="02040503050406030204" pitchFamily="18" charset="0"/>
                          </a:rPr>
                          <m:t>𝜃</m:t>
                        </m:r>
                      </m:e>
                      <m:sub>
                        <m:r>
                          <a:rPr lang="en-US" b="0" i="1" smtClean="0">
                            <a:solidFill>
                              <a:srgbClr val="7030A0"/>
                            </a:solidFill>
                            <a:latin typeface="Cambria Math" panose="02040503050406030204" pitchFamily="18" charset="0"/>
                          </a:rPr>
                          <m:t>1</m:t>
                        </m:r>
                      </m:sub>
                    </m:sSub>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ea typeface="Cambria Math" panose="02040503050406030204" pitchFamily="18" charset="0"/>
                          </a:rPr>
                          <m:t>𝜙</m:t>
                        </m:r>
                      </m:e>
                      <m:sub>
                        <m:r>
                          <a:rPr lang="en-US" b="0" i="1" smtClean="0">
                            <a:solidFill>
                              <a:srgbClr val="7030A0"/>
                            </a:solidFill>
                            <a:latin typeface="Cambria Math" panose="02040503050406030204" pitchFamily="18" charset="0"/>
                          </a:rPr>
                          <m:t>1</m:t>
                        </m:r>
                      </m:sub>
                    </m:sSub>
                    <m:r>
                      <a:rPr lang="en-US" b="0" i="1" smtClean="0">
                        <a:solidFill>
                          <a:srgbClr val="7030A0"/>
                        </a:solidFill>
                        <a:latin typeface="Cambria Math" panose="02040503050406030204" pitchFamily="18" charset="0"/>
                      </a:rPr>
                      <m:t>+</m:t>
                    </m:r>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ea typeface="Cambria Math" panose="02040503050406030204" pitchFamily="18" charset="0"/>
                          </a:rPr>
                          <m:t>𝜃</m:t>
                        </m:r>
                      </m:e>
                      <m:sub>
                        <m:r>
                          <a:rPr lang="en-US" b="0" i="1" smtClean="0">
                            <a:solidFill>
                              <a:srgbClr val="7030A0"/>
                            </a:solidFill>
                            <a:latin typeface="Cambria Math" panose="02040503050406030204" pitchFamily="18" charset="0"/>
                          </a:rPr>
                          <m:t>2</m:t>
                        </m:r>
                      </m:sub>
                    </m:sSub>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ea typeface="Cambria Math" panose="02040503050406030204" pitchFamily="18" charset="0"/>
                          </a:rPr>
                          <m:t>𝜙</m:t>
                        </m:r>
                      </m:e>
                      <m:sub>
                        <m:r>
                          <a:rPr lang="en-US" b="0" i="1" smtClean="0">
                            <a:solidFill>
                              <a:srgbClr val="7030A0"/>
                            </a:solidFill>
                            <a:latin typeface="Cambria Math" panose="02040503050406030204" pitchFamily="18" charset="0"/>
                          </a:rPr>
                          <m:t>2</m:t>
                        </m:r>
                      </m:sub>
                    </m:sSub>
                  </m:oMath>
                </a14:m>
                <a:r>
                  <a:rPr lang="en-US" dirty="0"/>
                  <a:t>  Linear</a:t>
                </a:r>
              </a:p>
              <a:p>
                <a:pPr algn="just"/>
                <a:r>
                  <a:rPr lang="en-US" dirty="0"/>
                  <a:t>In matrix notation, the symbol </a:t>
                </a:r>
                <a14:m>
                  <m:oMath xmlns:m="http://schemas.openxmlformats.org/officeDocument/2006/math">
                    <m:r>
                      <a:rPr lang="el-GR" b="1" i="0" smtClean="0">
                        <a:latin typeface="Cambria Math" panose="02040503050406030204" pitchFamily="18" charset="0"/>
                        <a:ea typeface="Cambria Math" panose="02040503050406030204" pitchFamily="18" charset="0"/>
                      </a:rPr>
                      <m:t>𝚽</m:t>
                    </m:r>
                    <m:r>
                      <a:rPr lang="el-GR" b="1" i="1" smtClean="0">
                        <a:latin typeface="Cambria Math" panose="02040503050406030204" pitchFamily="18" charset="0"/>
                        <a:ea typeface="Cambria Math" panose="02040503050406030204" pitchFamily="18" charset="0"/>
                      </a:rPr>
                      <m:t> </m:t>
                    </m:r>
                  </m:oMath>
                </a14:m>
                <a:r>
                  <a:rPr lang="en-US" dirty="0"/>
                  <a:t>is sometimes used to denote the design matrix after feature engineering has been performed. </a:t>
                </a:r>
              </a:p>
              <a:p>
                <a:pPr algn="just"/>
                <a:r>
                  <a:rPr lang="en-US" dirty="0"/>
                  <a:t>Note that in the usage below, </a:t>
                </a:r>
                <a14:m>
                  <m:oMath xmlns:m="http://schemas.openxmlformats.org/officeDocument/2006/math">
                    <m:r>
                      <a:rPr lang="el-GR" b="1" i="0" smtClean="0">
                        <a:latin typeface="Cambria Math" panose="02040503050406030204" pitchFamily="18" charset="0"/>
                        <a:ea typeface="Cambria Math" panose="02040503050406030204" pitchFamily="18" charset="0"/>
                      </a:rPr>
                      <m:t>𝚽</m:t>
                    </m:r>
                    <m:r>
                      <a:rPr lang="el-GR" b="1" i="1" smtClean="0">
                        <a:latin typeface="Cambria Math" panose="02040503050406030204" pitchFamily="18" charset="0"/>
                        <a:ea typeface="Cambria Math" panose="02040503050406030204" pitchFamily="18" charset="0"/>
                      </a:rPr>
                      <m:t> </m:t>
                    </m:r>
                  </m:oMath>
                </a14:m>
                <a:r>
                  <a:rPr lang="en-US" dirty="0"/>
                  <a:t>is now a feature-engineered matrix, rather than a function.</a:t>
                </a:r>
              </a:p>
              <a:p>
                <a:pPr marL="0" indent="0" algn="ctr">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l-GR" i="1">
                              <a:latin typeface="Cambria Math" panose="02040503050406030204" pitchFamily="18" charset="0"/>
                              <a:ea typeface="Cambria Math" panose="02040503050406030204" pitchFamily="18" charset="0"/>
                            </a:rPr>
                            <m:t>𝕐</m:t>
                          </m:r>
                        </m:e>
                      </m:acc>
                      <m:r>
                        <a:rPr lang="en-US" b="0" i="1" smtClean="0">
                          <a:latin typeface="Cambria Math" panose="02040503050406030204" pitchFamily="18" charset="0"/>
                        </a:rPr>
                        <m:t>=</m:t>
                      </m:r>
                      <m:r>
                        <a:rPr lang="el-GR" b="1">
                          <a:latin typeface="Cambria Math" panose="02040503050406030204" pitchFamily="18" charset="0"/>
                          <a:ea typeface="Cambria Math" panose="02040503050406030204" pitchFamily="18" charset="0"/>
                        </a:rPr>
                        <m:t>𝚽</m:t>
                      </m:r>
                      <m:r>
                        <a:rPr lang="en-US" i="1">
                          <a:latin typeface="Cambria Math" panose="02040503050406030204" pitchFamily="18" charset="0"/>
                          <a:ea typeface="Cambria Math" panose="02040503050406030204" pitchFamily="18" charset="0"/>
                        </a:rPr>
                        <m:t>𝜃</m:t>
                      </m:r>
                    </m:oMath>
                  </m:oMathPara>
                </a14:m>
                <a:endParaRPr lang="en-US" dirty="0"/>
              </a:p>
            </p:txBody>
          </p:sp>
        </mc:Choice>
        <mc:Fallback xmlns="">
          <p:sp>
            <p:nvSpPr>
              <p:cNvPr id="6" name="Content Placeholder 5">
                <a:extLst>
                  <a:ext uri="{FF2B5EF4-FFF2-40B4-BE49-F238E27FC236}">
                    <a16:creationId xmlns:a16="http://schemas.microsoft.com/office/drawing/2014/main" id="{DA385D76-9DE9-46E2-A195-0D636CFA604D}"/>
                  </a:ext>
                </a:extLst>
              </p:cNvPr>
              <p:cNvSpPr>
                <a:spLocks noGrp="1" noRot="1" noChangeAspect="1" noMove="1" noResize="1" noEditPoints="1" noAdjustHandles="1" noChangeArrowheads="1" noChangeShapeType="1" noTextEdit="1"/>
              </p:cNvSpPr>
              <p:nvPr>
                <p:ph idx="1"/>
              </p:nvPr>
            </p:nvSpPr>
            <p:spPr>
              <a:xfrm>
                <a:off x="838200" y="546100"/>
                <a:ext cx="10515600" cy="5630863"/>
              </a:xfrm>
              <a:blipFill>
                <a:blip r:embed="rId2"/>
                <a:stretch>
                  <a:fillRect l="-1043" t="-1842" r="-1159"/>
                </a:stretch>
              </a:blipFill>
            </p:spPr>
            <p:txBody>
              <a:bodyPr/>
              <a:lstStyle/>
              <a:p>
                <a:r>
                  <a:rPr lang="en-US">
                    <a:noFill/>
                  </a:rPr>
                  <a:t> </a:t>
                </a:r>
              </a:p>
            </p:txBody>
          </p:sp>
        </mc:Fallback>
      </mc:AlternateContent>
      <p:sp>
        <p:nvSpPr>
          <p:cNvPr id="8" name="Slide Number Placeholder 7">
            <a:extLst>
              <a:ext uri="{FF2B5EF4-FFF2-40B4-BE49-F238E27FC236}">
                <a16:creationId xmlns:a16="http://schemas.microsoft.com/office/drawing/2014/main" id="{29BAA64E-DE55-4BE7-B739-782DFF62A874}"/>
              </a:ext>
            </a:extLst>
          </p:cNvPr>
          <p:cNvSpPr>
            <a:spLocks noGrp="1"/>
          </p:cNvSpPr>
          <p:nvPr>
            <p:ph type="sldNum" sz="quarter" idx="12"/>
          </p:nvPr>
        </p:nvSpPr>
        <p:spPr/>
        <p:txBody>
          <a:bodyPr/>
          <a:lstStyle/>
          <a:p>
            <a:fld id="{6B97D948-30E8-43F7-AE10-F6E2D9F2BBB1}" type="slidenum">
              <a:rPr lang="en-US" smtClean="0"/>
              <a:t>672</a:t>
            </a:fld>
            <a:endParaRPr lang="en-US"/>
          </a:p>
        </p:txBody>
      </p:sp>
    </p:spTree>
    <p:extLst>
      <p:ext uri="{BB962C8B-B14F-4D97-AF65-F5344CB8AC3E}">
        <p14:creationId xmlns:p14="http://schemas.microsoft.com/office/powerpoint/2010/main" val="707622966"/>
      </p:ext>
    </p:extLst>
  </p:cSld>
  <p:clrMapOvr>
    <a:masterClrMapping/>
  </p:clrMapOvr>
</p:sld>
</file>

<file path=ppt/slides/slide6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058AF-9CE1-4051-A888-FAFC459AF228}"/>
              </a:ext>
            </a:extLst>
          </p:cNvPr>
          <p:cNvSpPr>
            <a:spLocks noGrp="1"/>
          </p:cNvSpPr>
          <p:nvPr>
            <p:ph type="title"/>
          </p:nvPr>
        </p:nvSpPr>
        <p:spPr>
          <a:xfrm>
            <a:off x="838200" y="365125"/>
            <a:ext cx="10515600" cy="650875"/>
          </a:xfrm>
        </p:spPr>
        <p:txBody>
          <a:bodyPr>
            <a:normAutofit fontScale="90000"/>
          </a:bodyPr>
          <a:lstStyle/>
          <a:p>
            <a:r>
              <a:rPr lang="en-US" dirty="0"/>
              <a:t>Formally. . .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26634E-AC65-4B9A-AC24-C7A547FDB83A}"/>
                  </a:ext>
                </a:extLst>
              </p:cNvPr>
              <p:cNvSpPr>
                <a:spLocks noGrp="1"/>
              </p:cNvSpPr>
              <p:nvPr>
                <p:ph idx="1"/>
              </p:nvPr>
            </p:nvSpPr>
            <p:spPr>
              <a:xfrm>
                <a:off x="838200" y="1016000"/>
                <a:ext cx="10515600" cy="5160963"/>
              </a:xfrm>
            </p:spPr>
            <p:txBody>
              <a:bodyPr/>
              <a:lstStyle/>
              <a:p>
                <a:pPr algn="just"/>
                <a:r>
                  <a:rPr lang="en-US" dirty="0"/>
                  <a:t>More formally, we describe a feature function as transforming the original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rPr>
                          <m:t>𝑛𝑥𝑝</m:t>
                        </m:r>
                      </m:sup>
                    </m:sSup>
                  </m:oMath>
                </a14:m>
                <a:r>
                  <a:rPr lang="en-US" dirty="0"/>
                  <a:t> dataset </a:t>
                </a:r>
                <a14:m>
                  <m:oMath xmlns:m="http://schemas.openxmlformats.org/officeDocument/2006/math">
                    <m:r>
                      <a:rPr lang="en-US" i="1" smtClean="0">
                        <a:latin typeface="Cambria Math" panose="02040503050406030204" pitchFamily="18" charset="0"/>
                        <a:ea typeface="Cambria Math" panose="02040503050406030204" pitchFamily="18" charset="0"/>
                      </a:rPr>
                      <m:t>𝕩</m:t>
                    </m:r>
                  </m:oMath>
                </a14:m>
                <a:r>
                  <a:rPr lang="en-US" dirty="0"/>
                  <a:t> to a </a:t>
                </a:r>
                <a:r>
                  <a:rPr lang="en-US" dirty="0" err="1"/>
                  <a:t>featurized</a:t>
                </a:r>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𝑛𝑥𝑝</m:t>
                        </m:r>
                        <m:r>
                          <a:rPr lang="en-US" i="1">
                            <a:latin typeface="Cambria Math" panose="02040503050406030204" pitchFamily="18" charset="0"/>
                          </a:rPr>
                          <m:t>′</m:t>
                        </m:r>
                      </m:sup>
                    </m:sSup>
                    <m:r>
                      <a:rPr lang="en-US" i="1">
                        <a:latin typeface="Cambria Math" panose="02040503050406030204" pitchFamily="18" charset="0"/>
                      </a:rPr>
                      <m:t> </m:t>
                    </m:r>
                  </m:oMath>
                </a14:m>
                <a:r>
                  <a:rPr lang="en-US" dirty="0"/>
                  <a:t>dataset, </a:t>
                </a:r>
                <a14:m>
                  <m:oMath xmlns:m="http://schemas.openxmlformats.org/officeDocument/2006/math">
                    <m:r>
                      <a:rPr lang="el-GR" b="1">
                        <a:latin typeface="Cambria Math" panose="02040503050406030204" pitchFamily="18" charset="0"/>
                        <a:ea typeface="Cambria Math" panose="02040503050406030204" pitchFamily="18" charset="0"/>
                      </a:rPr>
                      <m:t>𝚽</m:t>
                    </m:r>
                    <m:r>
                      <a:rPr lang="el-GR" b="1" i="1">
                        <a:latin typeface="Cambria Math" panose="02040503050406030204" pitchFamily="18" charset="0"/>
                        <a:ea typeface="Cambria Math" panose="02040503050406030204" pitchFamily="18" charset="0"/>
                      </a:rPr>
                      <m:t> </m:t>
                    </m:r>
                  </m:oMath>
                </a14:m>
                <a:r>
                  <a:rPr lang="en-US" dirty="0"/>
                  <a:t>where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oMath>
                </a14:m>
                <a:r>
                  <a:rPr lang="en-US" dirty="0"/>
                  <a:t> is typically greater than </a:t>
                </a:r>
                <a14:m>
                  <m:oMath xmlns:m="http://schemas.openxmlformats.org/officeDocument/2006/math">
                    <m:r>
                      <a:rPr lang="en-US" i="1">
                        <a:latin typeface="Cambria Math" panose="02040503050406030204" pitchFamily="18" charset="0"/>
                      </a:rPr>
                      <m:t>𝑝</m:t>
                    </m:r>
                  </m:oMath>
                </a14:m>
                <a:r>
                  <a:rPr lang="en-US" dirty="0"/>
                  <a:t>.</a:t>
                </a:r>
              </a:p>
              <a:p>
                <a:pPr algn="just"/>
                <a:endParaRPr lang="en-US" dirty="0"/>
              </a:p>
              <a:p>
                <a:pPr marL="0" indent="0" algn="ctr">
                  <a:buNone/>
                </a:pPr>
                <a14:m>
                  <m:oMath xmlns:m="http://schemas.openxmlformats.org/officeDocument/2006/math">
                    <m:r>
                      <a:rPr lang="en-US" i="1" smtClean="0">
                        <a:latin typeface="Cambria Math" panose="02040503050406030204" pitchFamily="18" charset="0"/>
                        <a:ea typeface="Cambria Math" panose="02040503050406030204" pitchFamily="18" charset="0"/>
                      </a:rPr>
                      <m:t>𝕏</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𝑛𝑥𝑝</m:t>
                        </m:r>
                      </m:sup>
                    </m:sSup>
                  </m:oMath>
                </a14:m>
                <a:r>
                  <a:rPr lang="en-US" dirty="0"/>
                  <a:t> </a:t>
                </a:r>
                <a14:m>
                  <m:oMath xmlns:m="http://schemas.openxmlformats.org/officeDocument/2006/math">
                    <m:r>
                      <a:rPr lang="el-GR" b="0" i="1" smtClean="0">
                        <a:latin typeface="Cambria Math" panose="02040503050406030204" pitchFamily="18" charset="0"/>
                        <a:ea typeface="Cambria Math" panose="02040503050406030204" pitchFamily="18" charset="0"/>
                      </a:rPr>
                      <m:t>→</m:t>
                    </m:r>
                    <m:r>
                      <m:rPr>
                        <m:sty m:val="p"/>
                      </m:rPr>
                      <a:rPr lang="el-GR" b="0" i="1">
                        <a:latin typeface="Cambria Math" panose="02040503050406030204" pitchFamily="18" charset="0"/>
                        <a:ea typeface="Cambria Math" panose="02040503050406030204" pitchFamily="18" charset="0"/>
                      </a:rPr>
                      <m:t>Φ</m:t>
                    </m:r>
                  </m:oMath>
                </a14:m>
                <a:r>
                  <a:rPr lang="en-US" dirty="0"/>
                  <a:t>(</a:t>
                </a:r>
                <a14:m>
                  <m:oMath xmlns:m="http://schemas.openxmlformats.org/officeDocument/2006/math">
                    <m:r>
                      <a:rPr lang="en-US" i="1">
                        <a:latin typeface="Cambria Math" panose="02040503050406030204" pitchFamily="18" charset="0"/>
                        <a:ea typeface="Cambria Math" panose="02040503050406030204" pitchFamily="18" charset="0"/>
                      </a:rPr>
                      <m:t>𝕏</m:t>
                    </m:r>
                  </m:oMath>
                </a14:m>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𝑛𝑥𝑝</m:t>
                        </m:r>
                        <m:r>
                          <a:rPr lang="en-US" i="1">
                            <a:latin typeface="Cambria Math" panose="02040503050406030204" pitchFamily="18" charset="0"/>
                          </a:rPr>
                          <m:t>′</m:t>
                        </m:r>
                      </m:sup>
                    </m:sSup>
                    <m:r>
                      <a:rPr lang="en-US" i="1">
                        <a:latin typeface="Cambria Math" panose="02040503050406030204" pitchFamily="18" charset="0"/>
                      </a:rPr>
                      <m:t> </m:t>
                    </m:r>
                  </m:oMath>
                </a14:m>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EC26634E-AC65-4B9A-AC24-C7A547FDB83A}"/>
                  </a:ext>
                </a:extLst>
              </p:cNvPr>
              <p:cNvSpPr>
                <a:spLocks noGrp="1" noRot="1" noChangeAspect="1" noMove="1" noResize="1" noEditPoints="1" noAdjustHandles="1" noChangeArrowheads="1" noChangeShapeType="1" noTextEdit="1"/>
              </p:cNvSpPr>
              <p:nvPr>
                <p:ph idx="1"/>
              </p:nvPr>
            </p:nvSpPr>
            <p:spPr>
              <a:xfrm>
                <a:off x="838200" y="1016000"/>
                <a:ext cx="10515600" cy="5160963"/>
              </a:xfrm>
              <a:blipFill>
                <a:blip r:embed="rId2"/>
                <a:stretch>
                  <a:fillRect l="-1043" t="-2009" r="-1159"/>
                </a:stretch>
              </a:blipFill>
            </p:spPr>
            <p:txBody>
              <a:bodyPr/>
              <a:lstStyle/>
              <a:p>
                <a:r>
                  <a:rPr lang="en-US">
                    <a:noFill/>
                  </a:rPr>
                  <a:t> </a:t>
                </a:r>
              </a:p>
            </p:txBody>
          </p:sp>
        </mc:Fallback>
      </mc:AlternateContent>
      <p:pic>
        <p:nvPicPr>
          <p:cNvPr id="4" name="Content Placeholder 4">
            <a:extLst>
              <a:ext uri="{FF2B5EF4-FFF2-40B4-BE49-F238E27FC236}">
                <a16:creationId xmlns:a16="http://schemas.microsoft.com/office/drawing/2014/main" id="{EA23A219-4433-41C2-90FF-0B75FD5E5F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699" y="3461744"/>
            <a:ext cx="3721245" cy="2380256"/>
          </a:xfrm>
          <a:prstGeom prst="rect">
            <a:avLst/>
          </a:prstGeom>
        </p:spPr>
      </p:pic>
      <p:sp>
        <p:nvSpPr>
          <p:cNvPr id="6" name="Slide Number Placeholder 5">
            <a:extLst>
              <a:ext uri="{FF2B5EF4-FFF2-40B4-BE49-F238E27FC236}">
                <a16:creationId xmlns:a16="http://schemas.microsoft.com/office/drawing/2014/main" id="{6FCBECAA-B524-4EE6-80E0-495F9AB395DB}"/>
              </a:ext>
            </a:extLst>
          </p:cNvPr>
          <p:cNvSpPr>
            <a:spLocks noGrp="1"/>
          </p:cNvSpPr>
          <p:nvPr>
            <p:ph type="sldNum" sz="quarter" idx="12"/>
          </p:nvPr>
        </p:nvSpPr>
        <p:spPr/>
        <p:txBody>
          <a:bodyPr/>
          <a:lstStyle/>
          <a:p>
            <a:fld id="{6B97D948-30E8-43F7-AE10-F6E2D9F2BBB1}" type="slidenum">
              <a:rPr lang="en-US" smtClean="0"/>
              <a:t>673</a:t>
            </a:fld>
            <a:endParaRPr lang="en-US"/>
          </a:p>
        </p:txBody>
      </p:sp>
    </p:spTree>
    <p:extLst>
      <p:ext uri="{BB962C8B-B14F-4D97-AF65-F5344CB8AC3E}">
        <p14:creationId xmlns:p14="http://schemas.microsoft.com/office/powerpoint/2010/main" val="3548278761"/>
      </p:ext>
    </p:extLst>
  </p:cSld>
  <p:clrMapOvr>
    <a:masterClrMapping/>
  </p:clrMapOvr>
</p:sld>
</file>

<file path=ppt/slides/slide6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0A245-C04A-446B-B3FA-702C1BFFB51C}"/>
              </a:ext>
            </a:extLst>
          </p:cNvPr>
          <p:cNvSpPr>
            <a:spLocks noGrp="1"/>
          </p:cNvSpPr>
          <p:nvPr>
            <p:ph type="title"/>
          </p:nvPr>
        </p:nvSpPr>
        <p:spPr>
          <a:xfrm>
            <a:off x="838200" y="365125"/>
            <a:ext cx="10515600" cy="701675"/>
          </a:xfrm>
        </p:spPr>
        <p:txBody>
          <a:bodyPr/>
          <a:lstStyle/>
          <a:p>
            <a:r>
              <a:rPr lang="en-US" dirty="0"/>
              <a:t>One Hot Encoding</a:t>
            </a:r>
          </a:p>
        </p:txBody>
      </p:sp>
      <p:sp>
        <p:nvSpPr>
          <p:cNvPr id="3" name="Content Placeholder 2">
            <a:extLst>
              <a:ext uri="{FF2B5EF4-FFF2-40B4-BE49-F238E27FC236}">
                <a16:creationId xmlns:a16="http://schemas.microsoft.com/office/drawing/2014/main" id="{111B3237-D74F-407C-A96D-7B13037B2EC3}"/>
              </a:ext>
            </a:extLst>
          </p:cNvPr>
          <p:cNvSpPr>
            <a:spLocks noGrp="1"/>
          </p:cNvSpPr>
          <p:nvPr>
            <p:ph idx="1"/>
          </p:nvPr>
        </p:nvSpPr>
        <p:spPr>
          <a:xfrm>
            <a:off x="838200" y="1066800"/>
            <a:ext cx="10515600" cy="5110163"/>
          </a:xfrm>
        </p:spPr>
        <p:txBody>
          <a:bodyPr>
            <a:normAutofit lnSpcReduction="10000"/>
          </a:bodyPr>
          <a:lstStyle/>
          <a:p>
            <a:pPr algn="just"/>
            <a:r>
              <a:rPr lang="en-US" dirty="0"/>
              <a:t>Feature engineering opens up a whole new set of possibilities for designing better performing models. </a:t>
            </a:r>
          </a:p>
          <a:p>
            <a:pPr algn="just"/>
            <a:endParaRPr lang="en-US" dirty="0"/>
          </a:p>
          <a:p>
            <a:pPr algn="just"/>
            <a:r>
              <a:rPr lang="en-US" dirty="0"/>
              <a:t>So, feature engineering is one of the most important parts of the entire modeling process.</a:t>
            </a:r>
          </a:p>
          <a:p>
            <a:endParaRPr lang="en-US" dirty="0"/>
          </a:p>
          <a:p>
            <a:pPr algn="just"/>
            <a:r>
              <a:rPr lang="en-US" i="1" dirty="0"/>
              <a:t>A particularly powerful use of feature engineering is to allow us to perform regression on non-numeric features. </a:t>
            </a:r>
          </a:p>
          <a:p>
            <a:pPr algn="just"/>
            <a:endParaRPr lang="en-US" dirty="0"/>
          </a:p>
          <a:p>
            <a:pPr algn="just"/>
            <a:r>
              <a:rPr lang="en-US" dirty="0">
                <a:solidFill>
                  <a:srgbClr val="FF0000"/>
                </a:solidFill>
              </a:rPr>
              <a:t>One hot encoding </a:t>
            </a:r>
            <a:r>
              <a:rPr lang="en-US" dirty="0"/>
              <a:t>is a feature engineering technique that generates numeric features from categorical data, allowing us to use our usual methods to fit a regression model on the data.</a:t>
            </a:r>
          </a:p>
        </p:txBody>
      </p:sp>
      <p:sp>
        <p:nvSpPr>
          <p:cNvPr id="5" name="Slide Number Placeholder 4">
            <a:extLst>
              <a:ext uri="{FF2B5EF4-FFF2-40B4-BE49-F238E27FC236}">
                <a16:creationId xmlns:a16="http://schemas.microsoft.com/office/drawing/2014/main" id="{82404F8F-1CCA-4381-B54F-DDBC2F1EBA77}"/>
              </a:ext>
            </a:extLst>
          </p:cNvPr>
          <p:cNvSpPr>
            <a:spLocks noGrp="1"/>
          </p:cNvSpPr>
          <p:nvPr>
            <p:ph type="sldNum" sz="quarter" idx="12"/>
          </p:nvPr>
        </p:nvSpPr>
        <p:spPr/>
        <p:txBody>
          <a:bodyPr/>
          <a:lstStyle/>
          <a:p>
            <a:fld id="{6B97D948-30E8-43F7-AE10-F6E2D9F2BBB1}" type="slidenum">
              <a:rPr lang="en-US" smtClean="0"/>
              <a:t>674</a:t>
            </a:fld>
            <a:endParaRPr lang="en-US"/>
          </a:p>
        </p:txBody>
      </p:sp>
    </p:spTree>
    <p:extLst>
      <p:ext uri="{BB962C8B-B14F-4D97-AF65-F5344CB8AC3E}">
        <p14:creationId xmlns:p14="http://schemas.microsoft.com/office/powerpoint/2010/main" val="3475367908"/>
      </p:ext>
    </p:extLst>
  </p:cSld>
  <p:clrMapOvr>
    <a:masterClrMapping/>
  </p:clrMapOvr>
</p:sld>
</file>

<file path=ppt/slides/slide6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293D13-8AAA-49F0-816D-FB9A89705CEA}"/>
              </a:ext>
            </a:extLst>
          </p:cNvPr>
          <p:cNvSpPr>
            <a:spLocks noGrp="1"/>
          </p:cNvSpPr>
          <p:nvPr>
            <p:ph idx="1"/>
          </p:nvPr>
        </p:nvSpPr>
        <p:spPr>
          <a:xfrm>
            <a:off x="838200" y="635000"/>
            <a:ext cx="10515600" cy="5541963"/>
          </a:xfrm>
        </p:spPr>
        <p:txBody>
          <a:bodyPr/>
          <a:lstStyle/>
          <a:p>
            <a:pPr algn="just"/>
            <a:r>
              <a:rPr lang="en-US" dirty="0"/>
              <a:t>To illustrate how this works, consider the "day" column of the dataset:</a:t>
            </a:r>
          </a:p>
          <a:p>
            <a:pPr algn="just"/>
            <a:r>
              <a:rPr lang="en-US" dirty="0">
                <a:solidFill>
                  <a:srgbClr val="FF0000"/>
                </a:solidFill>
              </a:rPr>
              <a:t>import </a:t>
            </a:r>
            <a:r>
              <a:rPr lang="en-US" dirty="0" err="1">
                <a:solidFill>
                  <a:srgbClr val="FF0000"/>
                </a:solidFill>
              </a:rPr>
              <a:t>numpy</a:t>
            </a:r>
            <a:r>
              <a:rPr lang="en-US" dirty="0">
                <a:solidFill>
                  <a:srgbClr val="FF0000"/>
                </a:solidFill>
              </a:rPr>
              <a:t> as np</a:t>
            </a:r>
          </a:p>
          <a:p>
            <a:pPr algn="just"/>
            <a:endParaRPr lang="en-US" dirty="0">
              <a:solidFill>
                <a:srgbClr val="FF0000"/>
              </a:solidFill>
            </a:endParaRPr>
          </a:p>
          <a:p>
            <a:pPr algn="just"/>
            <a:r>
              <a:rPr lang="en-US" dirty="0" err="1">
                <a:solidFill>
                  <a:srgbClr val="FF0000"/>
                </a:solidFill>
              </a:rPr>
              <a:t>np.random.seed</a:t>
            </a:r>
            <a:r>
              <a:rPr lang="en-US" dirty="0">
                <a:solidFill>
                  <a:srgbClr val="FF0000"/>
                </a:solidFill>
              </a:rPr>
              <a:t>(1234)</a:t>
            </a:r>
          </a:p>
          <a:p>
            <a:pPr algn="just"/>
            <a:endParaRPr lang="en-US" dirty="0">
              <a:solidFill>
                <a:srgbClr val="FF0000"/>
              </a:solidFill>
            </a:endParaRPr>
          </a:p>
          <a:p>
            <a:pPr algn="just"/>
            <a:r>
              <a:rPr lang="en-US" dirty="0">
                <a:solidFill>
                  <a:srgbClr val="FF0000"/>
                </a:solidFill>
              </a:rPr>
              <a:t>tips = </a:t>
            </a:r>
            <a:r>
              <a:rPr lang="en-US" dirty="0" err="1">
                <a:solidFill>
                  <a:srgbClr val="FF0000"/>
                </a:solidFill>
              </a:rPr>
              <a:t>sns.load_dataset</a:t>
            </a:r>
            <a:r>
              <a:rPr lang="en-US" dirty="0">
                <a:solidFill>
                  <a:srgbClr val="FF0000"/>
                </a:solidFill>
              </a:rPr>
              <a:t>("tips").sample(100)</a:t>
            </a:r>
          </a:p>
          <a:p>
            <a:pPr algn="just"/>
            <a:endParaRPr lang="en-US" dirty="0">
              <a:solidFill>
                <a:srgbClr val="FF0000"/>
              </a:solidFill>
            </a:endParaRPr>
          </a:p>
          <a:p>
            <a:pPr algn="just"/>
            <a:r>
              <a:rPr lang="en-US" dirty="0" err="1">
                <a:solidFill>
                  <a:srgbClr val="FF0000"/>
                </a:solidFill>
              </a:rPr>
              <a:t>tips.head</a:t>
            </a:r>
            <a:r>
              <a:rPr lang="en-US" dirty="0">
                <a:solidFill>
                  <a:srgbClr val="FF0000"/>
                </a:solidFill>
              </a:rPr>
              <a:t>(5)</a:t>
            </a:r>
          </a:p>
        </p:txBody>
      </p:sp>
      <p:sp>
        <p:nvSpPr>
          <p:cNvPr id="5" name="Slide Number Placeholder 4">
            <a:extLst>
              <a:ext uri="{FF2B5EF4-FFF2-40B4-BE49-F238E27FC236}">
                <a16:creationId xmlns:a16="http://schemas.microsoft.com/office/drawing/2014/main" id="{E4DE4D44-8B3B-4FC6-ABD0-FCC22FC3C3BF}"/>
              </a:ext>
            </a:extLst>
          </p:cNvPr>
          <p:cNvSpPr>
            <a:spLocks noGrp="1"/>
          </p:cNvSpPr>
          <p:nvPr>
            <p:ph type="sldNum" sz="quarter" idx="12"/>
          </p:nvPr>
        </p:nvSpPr>
        <p:spPr/>
        <p:txBody>
          <a:bodyPr/>
          <a:lstStyle/>
          <a:p>
            <a:fld id="{6B97D948-30E8-43F7-AE10-F6E2D9F2BBB1}" type="slidenum">
              <a:rPr lang="en-US" smtClean="0"/>
              <a:t>675</a:t>
            </a:fld>
            <a:endParaRPr lang="en-US"/>
          </a:p>
        </p:txBody>
      </p:sp>
    </p:spTree>
    <p:extLst>
      <p:ext uri="{BB962C8B-B14F-4D97-AF65-F5344CB8AC3E}">
        <p14:creationId xmlns:p14="http://schemas.microsoft.com/office/powerpoint/2010/main" val="2584936151"/>
      </p:ext>
    </p:extLst>
  </p:cSld>
  <p:clrMapOvr>
    <a:masterClrMapping/>
  </p:clrMapOvr>
</p:sld>
</file>

<file path=ppt/slides/slide6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EC0558-E27D-4826-B736-F754FE55152B}"/>
              </a:ext>
            </a:extLst>
          </p:cNvPr>
          <p:cNvSpPr>
            <a:spLocks noGrp="1"/>
          </p:cNvSpPr>
          <p:nvPr>
            <p:ph idx="1"/>
          </p:nvPr>
        </p:nvSpPr>
        <p:spPr>
          <a:xfrm>
            <a:off x="838200" y="660400"/>
            <a:ext cx="10515600" cy="5516563"/>
          </a:xfrm>
        </p:spPr>
        <p:txBody>
          <a:bodyPr/>
          <a:lstStyle/>
          <a:p>
            <a:r>
              <a:rPr lang="en-US" dirty="0"/>
              <a:t> </a:t>
            </a:r>
            <a:r>
              <a:rPr lang="en-US" dirty="0" err="1">
                <a:solidFill>
                  <a:srgbClr val="FF0000"/>
                </a:solidFill>
              </a:rPr>
              <a:t>tips.head</a:t>
            </a:r>
            <a:r>
              <a:rPr lang="en-US" dirty="0">
                <a:solidFill>
                  <a:srgbClr val="FF0000"/>
                </a:solidFill>
              </a:rPr>
              <a:t>(5)</a:t>
            </a:r>
          </a:p>
          <a:p>
            <a:r>
              <a:rPr lang="en-US" dirty="0"/>
              <a:t>Out[42]:</a:t>
            </a:r>
          </a:p>
          <a:p>
            <a:r>
              <a:rPr lang="en-US" dirty="0"/>
              <a:t>     </a:t>
            </a:r>
            <a:r>
              <a:rPr lang="en-US" dirty="0" err="1"/>
              <a:t>total_bill</a:t>
            </a:r>
            <a:r>
              <a:rPr lang="en-US" dirty="0"/>
              <a:t>   tip   sex smoker   day    time  size</a:t>
            </a:r>
          </a:p>
          <a:p>
            <a:r>
              <a:rPr lang="en-US" dirty="0"/>
              <a:t>54        25.56  4.34  Male     No   Sun  Dinner     4</a:t>
            </a:r>
          </a:p>
          <a:p>
            <a:r>
              <a:rPr lang="en-US" dirty="0"/>
              <a:t>46        22.23  5.00  Male     No   Sun  Dinner     2</a:t>
            </a:r>
          </a:p>
          <a:p>
            <a:r>
              <a:rPr lang="en-US" dirty="0"/>
              <a:t>86        13.03  2.00  Male     No  </a:t>
            </a:r>
            <a:r>
              <a:rPr lang="en-US" dirty="0" err="1"/>
              <a:t>Thur</a:t>
            </a:r>
            <a:r>
              <a:rPr lang="en-US" dirty="0"/>
              <a:t>   Lunch     2</a:t>
            </a:r>
          </a:p>
          <a:p>
            <a:r>
              <a:rPr lang="en-US" dirty="0"/>
              <a:t>199       13.51  2.00  Male    Yes  </a:t>
            </a:r>
            <a:r>
              <a:rPr lang="en-US" dirty="0" err="1"/>
              <a:t>Thur</a:t>
            </a:r>
            <a:r>
              <a:rPr lang="en-US" dirty="0"/>
              <a:t>   Lunch     2</a:t>
            </a:r>
          </a:p>
          <a:p>
            <a:r>
              <a:rPr lang="en-US" dirty="0"/>
              <a:t>106       20.49  4.06  Male    Yes   Sat  Dinner     2</a:t>
            </a:r>
          </a:p>
        </p:txBody>
      </p:sp>
      <p:sp>
        <p:nvSpPr>
          <p:cNvPr id="5" name="Slide Number Placeholder 4">
            <a:extLst>
              <a:ext uri="{FF2B5EF4-FFF2-40B4-BE49-F238E27FC236}">
                <a16:creationId xmlns:a16="http://schemas.microsoft.com/office/drawing/2014/main" id="{7512A765-6D81-4375-AE01-8F8221A696C4}"/>
              </a:ext>
            </a:extLst>
          </p:cNvPr>
          <p:cNvSpPr>
            <a:spLocks noGrp="1"/>
          </p:cNvSpPr>
          <p:nvPr>
            <p:ph type="sldNum" sz="quarter" idx="12"/>
          </p:nvPr>
        </p:nvSpPr>
        <p:spPr/>
        <p:txBody>
          <a:bodyPr/>
          <a:lstStyle/>
          <a:p>
            <a:fld id="{6B97D948-30E8-43F7-AE10-F6E2D9F2BBB1}" type="slidenum">
              <a:rPr lang="en-US" smtClean="0"/>
              <a:t>676</a:t>
            </a:fld>
            <a:endParaRPr lang="en-US"/>
          </a:p>
        </p:txBody>
      </p:sp>
    </p:spTree>
    <p:extLst>
      <p:ext uri="{BB962C8B-B14F-4D97-AF65-F5344CB8AC3E}">
        <p14:creationId xmlns:p14="http://schemas.microsoft.com/office/powerpoint/2010/main" val="3263718324"/>
      </p:ext>
    </p:extLst>
  </p:cSld>
  <p:clrMapOvr>
    <a:masterClrMapping/>
  </p:clrMapOvr>
</p:sld>
</file>

<file path=ppt/slides/slide6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F66E37-C988-4629-BD38-5F653C5E9C34}"/>
              </a:ext>
            </a:extLst>
          </p:cNvPr>
          <p:cNvSpPr>
            <a:spLocks noGrp="1"/>
          </p:cNvSpPr>
          <p:nvPr>
            <p:ph idx="1"/>
          </p:nvPr>
        </p:nvSpPr>
        <p:spPr>
          <a:xfrm>
            <a:off x="838200" y="482600"/>
            <a:ext cx="10515600" cy="5694363"/>
          </a:xfrm>
        </p:spPr>
        <p:txBody>
          <a:bodyPr>
            <a:normAutofit lnSpcReduction="10000"/>
          </a:bodyPr>
          <a:lstStyle/>
          <a:p>
            <a:pPr algn="just"/>
            <a:r>
              <a:rPr lang="en-US" dirty="0"/>
              <a:t>At first glance, it doesn’t seem possible to fit a regression model to this data – we can’t directly perform any mathematical operations on the entry </a:t>
            </a:r>
            <a:r>
              <a:rPr lang="en-US" dirty="0">
                <a:solidFill>
                  <a:srgbClr val="FF0000"/>
                </a:solidFill>
              </a:rPr>
              <a:t>“Sun”.</a:t>
            </a:r>
          </a:p>
          <a:p>
            <a:pPr algn="just"/>
            <a:endParaRPr lang="en-US" dirty="0"/>
          </a:p>
          <a:p>
            <a:pPr algn="just"/>
            <a:r>
              <a:rPr lang="en-US" dirty="0"/>
              <a:t>To resolve this, we instead create a new table with a feature for each unique value in the original "day" column. </a:t>
            </a:r>
          </a:p>
          <a:p>
            <a:pPr algn="just"/>
            <a:endParaRPr lang="en-US" dirty="0"/>
          </a:p>
          <a:p>
            <a:pPr algn="just"/>
            <a:r>
              <a:rPr lang="en-US" dirty="0"/>
              <a:t>We then iterate through the "day" column. </a:t>
            </a:r>
          </a:p>
          <a:p>
            <a:pPr algn="just"/>
            <a:endParaRPr lang="en-US" dirty="0"/>
          </a:p>
          <a:p>
            <a:pPr algn="just"/>
            <a:r>
              <a:rPr lang="en-US" dirty="0"/>
              <a:t>For each entry in "day" we fill the corresponding feature in the new table with 1. </a:t>
            </a:r>
          </a:p>
          <a:p>
            <a:pPr algn="just"/>
            <a:endParaRPr lang="en-US" dirty="0"/>
          </a:p>
          <a:p>
            <a:pPr algn="just"/>
            <a:r>
              <a:rPr lang="en-US" dirty="0"/>
              <a:t>All other features are set to 0.</a:t>
            </a:r>
          </a:p>
        </p:txBody>
      </p:sp>
      <p:sp>
        <p:nvSpPr>
          <p:cNvPr id="5" name="Slide Number Placeholder 4">
            <a:extLst>
              <a:ext uri="{FF2B5EF4-FFF2-40B4-BE49-F238E27FC236}">
                <a16:creationId xmlns:a16="http://schemas.microsoft.com/office/drawing/2014/main" id="{D33ADCF0-697C-4135-BBF0-315E2A7395B0}"/>
              </a:ext>
            </a:extLst>
          </p:cNvPr>
          <p:cNvSpPr>
            <a:spLocks noGrp="1"/>
          </p:cNvSpPr>
          <p:nvPr>
            <p:ph type="sldNum" sz="quarter" idx="12"/>
          </p:nvPr>
        </p:nvSpPr>
        <p:spPr/>
        <p:txBody>
          <a:bodyPr/>
          <a:lstStyle/>
          <a:p>
            <a:fld id="{6B97D948-30E8-43F7-AE10-F6E2D9F2BBB1}" type="slidenum">
              <a:rPr lang="en-US" smtClean="0"/>
              <a:t>677</a:t>
            </a:fld>
            <a:endParaRPr lang="en-US"/>
          </a:p>
        </p:txBody>
      </p:sp>
    </p:spTree>
    <p:extLst>
      <p:ext uri="{BB962C8B-B14F-4D97-AF65-F5344CB8AC3E}">
        <p14:creationId xmlns:p14="http://schemas.microsoft.com/office/powerpoint/2010/main" val="571375364"/>
      </p:ext>
    </p:extLst>
  </p:cSld>
  <p:clrMapOvr>
    <a:masterClrMapping/>
  </p:clrMapOvr>
</p:sld>
</file>

<file path=ppt/slides/slide6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D8AD106-3CEB-471B-993B-0E7BE793A7A9}"/>
              </a:ext>
            </a:extLst>
          </p:cNvPr>
          <p:cNvPicPr>
            <a:picLocks noGrp="1" noChangeAspect="1"/>
          </p:cNvPicPr>
          <p:nvPr>
            <p:ph idx="1"/>
          </p:nvPr>
        </p:nvPicPr>
        <p:blipFill>
          <a:blip r:embed="rId2"/>
          <a:stretch>
            <a:fillRect/>
          </a:stretch>
        </p:blipFill>
        <p:spPr>
          <a:xfrm>
            <a:off x="2683800" y="1825625"/>
            <a:ext cx="6824400" cy="4351338"/>
          </a:xfrm>
          <a:prstGeom prst="rect">
            <a:avLst/>
          </a:prstGeom>
        </p:spPr>
      </p:pic>
      <p:sp>
        <p:nvSpPr>
          <p:cNvPr id="6" name="Slide Number Placeholder 5">
            <a:extLst>
              <a:ext uri="{FF2B5EF4-FFF2-40B4-BE49-F238E27FC236}">
                <a16:creationId xmlns:a16="http://schemas.microsoft.com/office/drawing/2014/main" id="{72C7C290-0757-488B-A1CC-671F1B02D079}"/>
              </a:ext>
            </a:extLst>
          </p:cNvPr>
          <p:cNvSpPr>
            <a:spLocks noGrp="1"/>
          </p:cNvSpPr>
          <p:nvPr>
            <p:ph type="sldNum" sz="quarter" idx="12"/>
          </p:nvPr>
        </p:nvSpPr>
        <p:spPr/>
        <p:txBody>
          <a:bodyPr/>
          <a:lstStyle/>
          <a:p>
            <a:fld id="{6B97D948-30E8-43F7-AE10-F6E2D9F2BBB1}" type="slidenum">
              <a:rPr lang="en-US" smtClean="0"/>
              <a:t>678</a:t>
            </a:fld>
            <a:endParaRPr lang="en-US"/>
          </a:p>
        </p:txBody>
      </p:sp>
    </p:spTree>
    <p:extLst>
      <p:ext uri="{BB962C8B-B14F-4D97-AF65-F5344CB8AC3E}">
        <p14:creationId xmlns:p14="http://schemas.microsoft.com/office/powerpoint/2010/main" val="1793936592"/>
      </p:ext>
    </p:extLst>
  </p:cSld>
  <p:clrMapOvr>
    <a:masterClrMapping/>
  </p:clrMapOvr>
</p:sld>
</file>

<file path=ppt/slides/slide6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A75D76-87EC-490B-9D38-6DEB8E8F8B0F}"/>
              </a:ext>
            </a:extLst>
          </p:cNvPr>
          <p:cNvSpPr>
            <a:spLocks noGrp="1"/>
          </p:cNvSpPr>
          <p:nvPr>
            <p:ph idx="1"/>
          </p:nvPr>
        </p:nvSpPr>
        <p:spPr>
          <a:xfrm>
            <a:off x="838200" y="495300"/>
            <a:ext cx="10515600" cy="5681663"/>
          </a:xfrm>
        </p:spPr>
        <p:txBody>
          <a:bodyPr/>
          <a:lstStyle/>
          <a:p>
            <a:pPr algn="just"/>
            <a:r>
              <a:rPr lang="en-US" dirty="0"/>
              <a:t>The </a:t>
            </a:r>
            <a:r>
              <a:rPr lang="en-US" dirty="0" err="1"/>
              <a:t>OneHotEncoder</a:t>
            </a:r>
            <a:r>
              <a:rPr lang="en-US" dirty="0"/>
              <a:t> class of </a:t>
            </a:r>
            <a:r>
              <a:rPr lang="en-US" dirty="0" err="1"/>
              <a:t>sklearn</a:t>
            </a:r>
            <a:r>
              <a:rPr lang="en-US" dirty="0"/>
              <a:t> offers a quick way to perform one-hot encoding. </a:t>
            </a:r>
          </a:p>
          <a:p>
            <a:pPr algn="just"/>
            <a:r>
              <a:rPr lang="en-US" dirty="0"/>
              <a:t>Let’s recognize that we follow a very similar workflow to when we were working with the </a:t>
            </a:r>
            <a:r>
              <a:rPr lang="en-US" dirty="0" err="1">
                <a:solidFill>
                  <a:srgbClr val="FF0000"/>
                </a:solidFill>
              </a:rPr>
              <a:t>LinearRegression</a:t>
            </a:r>
            <a:r>
              <a:rPr lang="en-US" dirty="0">
                <a:solidFill>
                  <a:srgbClr val="FF0000"/>
                </a:solidFill>
              </a:rPr>
              <a:t> class</a:t>
            </a:r>
            <a:r>
              <a:rPr lang="en-US" dirty="0"/>
              <a:t>: </a:t>
            </a:r>
          </a:p>
          <a:p>
            <a:pPr algn="just"/>
            <a:endParaRPr lang="en-US" dirty="0"/>
          </a:p>
          <a:p>
            <a:pPr lvl="1" algn="just"/>
            <a:r>
              <a:rPr lang="en-US" dirty="0"/>
              <a:t>we initialize a </a:t>
            </a:r>
            <a:r>
              <a:rPr lang="en-US" dirty="0" err="1"/>
              <a:t>OneHotEncoder</a:t>
            </a:r>
            <a:r>
              <a:rPr lang="en-US" dirty="0"/>
              <a:t> object</a:t>
            </a:r>
          </a:p>
          <a:p>
            <a:pPr lvl="1" algn="just"/>
            <a:endParaRPr lang="en-US" dirty="0"/>
          </a:p>
          <a:p>
            <a:pPr lvl="1" algn="just"/>
            <a:r>
              <a:rPr lang="en-US" dirty="0"/>
              <a:t>fit it to our data</a:t>
            </a:r>
          </a:p>
          <a:p>
            <a:pPr lvl="1" algn="just"/>
            <a:endParaRPr lang="en-US" dirty="0"/>
          </a:p>
          <a:p>
            <a:pPr lvl="1" algn="just"/>
            <a:r>
              <a:rPr lang="en-US" dirty="0"/>
              <a:t>then use .transform to apply the fitted encoder.</a:t>
            </a:r>
          </a:p>
        </p:txBody>
      </p:sp>
      <p:sp>
        <p:nvSpPr>
          <p:cNvPr id="5" name="Slide Number Placeholder 4">
            <a:extLst>
              <a:ext uri="{FF2B5EF4-FFF2-40B4-BE49-F238E27FC236}">
                <a16:creationId xmlns:a16="http://schemas.microsoft.com/office/drawing/2014/main" id="{01AFE041-7C3B-4C65-8372-762A7F20413A}"/>
              </a:ext>
            </a:extLst>
          </p:cNvPr>
          <p:cNvSpPr>
            <a:spLocks noGrp="1"/>
          </p:cNvSpPr>
          <p:nvPr>
            <p:ph type="sldNum" sz="quarter" idx="12"/>
          </p:nvPr>
        </p:nvSpPr>
        <p:spPr/>
        <p:txBody>
          <a:bodyPr/>
          <a:lstStyle/>
          <a:p>
            <a:fld id="{6B97D948-30E8-43F7-AE10-F6E2D9F2BBB1}" type="slidenum">
              <a:rPr lang="en-US" smtClean="0"/>
              <a:t>679</a:t>
            </a:fld>
            <a:endParaRPr lang="en-US"/>
          </a:p>
        </p:txBody>
      </p:sp>
    </p:spTree>
    <p:extLst>
      <p:ext uri="{BB962C8B-B14F-4D97-AF65-F5344CB8AC3E}">
        <p14:creationId xmlns:p14="http://schemas.microsoft.com/office/powerpoint/2010/main" val="1350945197"/>
      </p:ext>
    </p:extLst>
  </p:cSld>
  <p:clrMapOvr>
    <a:masterClrMapping/>
  </p:clrMapOvr>
</p:sld>
</file>

<file path=ppt/slides/slide6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66422-796E-4D86-87F2-BEC57DAFC7D0}"/>
              </a:ext>
            </a:extLst>
          </p:cNvPr>
          <p:cNvSpPr>
            <a:spLocks noGrp="1"/>
          </p:cNvSpPr>
          <p:nvPr>
            <p:ph type="title"/>
          </p:nvPr>
        </p:nvSpPr>
        <p:spPr>
          <a:xfrm>
            <a:off x="838200" y="365125"/>
            <a:ext cx="10515600" cy="549275"/>
          </a:xfrm>
        </p:spPr>
        <p:txBody>
          <a:bodyPr>
            <a:normAutofit fontScale="90000"/>
          </a:bodyPr>
          <a:lstStyle/>
          <a:p>
            <a:r>
              <a:rPr lang="en-US" dirty="0"/>
              <a:t>Code</a:t>
            </a:r>
          </a:p>
        </p:txBody>
      </p:sp>
      <p:sp>
        <p:nvSpPr>
          <p:cNvPr id="3" name="Content Placeholder 2">
            <a:extLst>
              <a:ext uri="{FF2B5EF4-FFF2-40B4-BE49-F238E27FC236}">
                <a16:creationId xmlns:a16="http://schemas.microsoft.com/office/drawing/2014/main" id="{D2D60A8C-8F41-4D4A-B8B2-4E19F76BE4D6}"/>
              </a:ext>
            </a:extLst>
          </p:cNvPr>
          <p:cNvSpPr>
            <a:spLocks noGrp="1"/>
          </p:cNvSpPr>
          <p:nvPr>
            <p:ph idx="1"/>
          </p:nvPr>
        </p:nvSpPr>
        <p:spPr>
          <a:xfrm>
            <a:off x="838200" y="914400"/>
            <a:ext cx="10515600" cy="5262563"/>
          </a:xfrm>
        </p:spPr>
        <p:txBody>
          <a:bodyPr>
            <a:normAutofit fontScale="92500" lnSpcReduction="10000"/>
          </a:bodyPr>
          <a:lstStyle/>
          <a:p>
            <a:r>
              <a:rPr lang="en-US" dirty="0">
                <a:solidFill>
                  <a:srgbClr val="FF0000"/>
                </a:solidFill>
              </a:rPr>
              <a:t>from </a:t>
            </a:r>
            <a:r>
              <a:rPr lang="en-US" dirty="0" err="1">
                <a:solidFill>
                  <a:srgbClr val="FF0000"/>
                </a:solidFill>
              </a:rPr>
              <a:t>sklearn.preprocessing</a:t>
            </a:r>
            <a:r>
              <a:rPr lang="en-US" dirty="0">
                <a:solidFill>
                  <a:srgbClr val="FF0000"/>
                </a:solidFill>
              </a:rPr>
              <a:t> import </a:t>
            </a:r>
            <a:r>
              <a:rPr lang="en-US" dirty="0" err="1">
                <a:solidFill>
                  <a:srgbClr val="FF0000"/>
                </a:solidFill>
              </a:rPr>
              <a:t>OneHotEncoder</a:t>
            </a:r>
            <a:endParaRPr lang="en-US" dirty="0">
              <a:solidFill>
                <a:srgbClr val="FF0000"/>
              </a:solidFill>
            </a:endParaRPr>
          </a:p>
          <a:p>
            <a:endParaRPr lang="en-US" dirty="0"/>
          </a:p>
          <a:p>
            <a:r>
              <a:rPr lang="en-US" dirty="0"/>
              <a:t># Initialize a </a:t>
            </a:r>
            <a:r>
              <a:rPr lang="en-US" dirty="0" err="1"/>
              <a:t>OneHotEncoder</a:t>
            </a:r>
            <a:r>
              <a:rPr lang="en-US" dirty="0"/>
              <a:t> object</a:t>
            </a:r>
          </a:p>
          <a:p>
            <a:r>
              <a:rPr lang="en-US" dirty="0" err="1">
                <a:solidFill>
                  <a:srgbClr val="FF0000"/>
                </a:solidFill>
              </a:rPr>
              <a:t>ohe</a:t>
            </a:r>
            <a:r>
              <a:rPr lang="en-US" dirty="0">
                <a:solidFill>
                  <a:srgbClr val="FF0000"/>
                </a:solidFill>
              </a:rPr>
              <a:t> = </a:t>
            </a:r>
            <a:r>
              <a:rPr lang="en-US" dirty="0" err="1">
                <a:solidFill>
                  <a:srgbClr val="FF0000"/>
                </a:solidFill>
              </a:rPr>
              <a:t>OneHotEncoder</a:t>
            </a:r>
            <a:r>
              <a:rPr lang="en-US" dirty="0">
                <a:solidFill>
                  <a:srgbClr val="FF0000"/>
                </a:solidFill>
              </a:rPr>
              <a:t>()</a:t>
            </a:r>
          </a:p>
          <a:p>
            <a:endParaRPr lang="en-US" dirty="0"/>
          </a:p>
          <a:p>
            <a:r>
              <a:rPr lang="en-US" dirty="0"/>
              <a:t># Fit the encoder</a:t>
            </a:r>
          </a:p>
          <a:p>
            <a:r>
              <a:rPr lang="en-US" dirty="0" err="1">
                <a:solidFill>
                  <a:srgbClr val="FF0000"/>
                </a:solidFill>
              </a:rPr>
              <a:t>ohe.fit</a:t>
            </a:r>
            <a:r>
              <a:rPr lang="en-US" dirty="0">
                <a:solidFill>
                  <a:srgbClr val="FF0000"/>
                </a:solidFill>
              </a:rPr>
              <a:t>(tips[["day"]])</a:t>
            </a:r>
          </a:p>
          <a:p>
            <a:endParaRPr lang="en-US" dirty="0"/>
          </a:p>
          <a:p>
            <a:r>
              <a:rPr lang="en-US" dirty="0"/>
              <a:t># Use the encoder to transform the raw "day" feature</a:t>
            </a:r>
          </a:p>
          <a:p>
            <a:r>
              <a:rPr lang="en-US" dirty="0" err="1">
                <a:solidFill>
                  <a:srgbClr val="FF0000"/>
                </a:solidFill>
              </a:rPr>
              <a:t>encoded_day</a:t>
            </a:r>
            <a:r>
              <a:rPr lang="en-US" dirty="0">
                <a:solidFill>
                  <a:srgbClr val="FF0000"/>
                </a:solidFill>
              </a:rPr>
              <a:t> = </a:t>
            </a:r>
            <a:r>
              <a:rPr lang="en-US" dirty="0" err="1">
                <a:solidFill>
                  <a:srgbClr val="FF0000"/>
                </a:solidFill>
              </a:rPr>
              <a:t>ohe.transform</a:t>
            </a:r>
            <a:r>
              <a:rPr lang="en-US" dirty="0">
                <a:solidFill>
                  <a:srgbClr val="FF0000"/>
                </a:solidFill>
              </a:rPr>
              <a:t>(tips[["day"]]).</a:t>
            </a:r>
            <a:r>
              <a:rPr lang="en-US" dirty="0" err="1">
                <a:solidFill>
                  <a:srgbClr val="FF0000"/>
                </a:solidFill>
              </a:rPr>
              <a:t>toarray</a:t>
            </a:r>
            <a:r>
              <a:rPr lang="en-US" dirty="0">
                <a:solidFill>
                  <a:srgbClr val="FF0000"/>
                </a:solidFill>
              </a:rPr>
              <a:t>()</a:t>
            </a:r>
          </a:p>
          <a:p>
            <a:r>
              <a:rPr lang="en-US" dirty="0" err="1">
                <a:solidFill>
                  <a:srgbClr val="FF0000"/>
                </a:solidFill>
              </a:rPr>
              <a:t>encoded_day_df</a:t>
            </a:r>
            <a:r>
              <a:rPr lang="en-US" dirty="0">
                <a:solidFill>
                  <a:srgbClr val="FF0000"/>
                </a:solidFill>
              </a:rPr>
              <a:t> = </a:t>
            </a:r>
            <a:r>
              <a:rPr lang="en-US" dirty="0" err="1">
                <a:solidFill>
                  <a:srgbClr val="FF0000"/>
                </a:solidFill>
              </a:rPr>
              <a:t>pd.DataFrame</a:t>
            </a:r>
            <a:r>
              <a:rPr lang="en-US" dirty="0">
                <a:solidFill>
                  <a:srgbClr val="FF0000"/>
                </a:solidFill>
              </a:rPr>
              <a:t>(</a:t>
            </a:r>
            <a:r>
              <a:rPr lang="en-US" dirty="0" err="1">
                <a:solidFill>
                  <a:srgbClr val="FF0000"/>
                </a:solidFill>
              </a:rPr>
              <a:t>encoded_day</a:t>
            </a:r>
            <a:r>
              <a:rPr lang="en-US" dirty="0">
                <a:solidFill>
                  <a:srgbClr val="FF0000"/>
                </a:solidFill>
              </a:rPr>
              <a:t>, columns=</a:t>
            </a:r>
            <a:r>
              <a:rPr lang="en-US" dirty="0" err="1">
                <a:solidFill>
                  <a:srgbClr val="FF0000"/>
                </a:solidFill>
              </a:rPr>
              <a:t>ohe.get_feature_names_out</a:t>
            </a:r>
            <a:r>
              <a:rPr lang="en-US" dirty="0">
                <a:solidFill>
                  <a:srgbClr val="FF0000"/>
                </a:solidFill>
              </a:rPr>
              <a:t>())</a:t>
            </a:r>
          </a:p>
          <a:p>
            <a:endParaRPr lang="en-US" dirty="0">
              <a:solidFill>
                <a:srgbClr val="FF0000"/>
              </a:solidFill>
            </a:endParaRPr>
          </a:p>
        </p:txBody>
      </p:sp>
      <p:sp>
        <p:nvSpPr>
          <p:cNvPr id="5" name="Slide Number Placeholder 4">
            <a:extLst>
              <a:ext uri="{FF2B5EF4-FFF2-40B4-BE49-F238E27FC236}">
                <a16:creationId xmlns:a16="http://schemas.microsoft.com/office/drawing/2014/main" id="{F7590ACD-A012-48D6-8311-32E7E9C8C0CB}"/>
              </a:ext>
            </a:extLst>
          </p:cNvPr>
          <p:cNvSpPr>
            <a:spLocks noGrp="1"/>
          </p:cNvSpPr>
          <p:nvPr>
            <p:ph type="sldNum" sz="quarter" idx="12"/>
          </p:nvPr>
        </p:nvSpPr>
        <p:spPr/>
        <p:txBody>
          <a:bodyPr/>
          <a:lstStyle/>
          <a:p>
            <a:fld id="{6B97D948-30E8-43F7-AE10-F6E2D9F2BBB1}" type="slidenum">
              <a:rPr lang="en-US" smtClean="0"/>
              <a:t>680</a:t>
            </a:fld>
            <a:endParaRPr lang="en-US"/>
          </a:p>
        </p:txBody>
      </p:sp>
    </p:spTree>
    <p:extLst>
      <p:ext uri="{BB962C8B-B14F-4D97-AF65-F5344CB8AC3E}">
        <p14:creationId xmlns:p14="http://schemas.microsoft.com/office/powerpoint/2010/main" val="362305881"/>
      </p:ext>
    </p:extLst>
  </p:cSld>
  <p:clrMapOvr>
    <a:masterClrMapping/>
  </p:clrMapOvr>
</p:sld>
</file>

<file path=ppt/slides/slide6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429478-9F76-4B1B-9FB9-753DFDA952C4}"/>
              </a:ext>
            </a:extLst>
          </p:cNvPr>
          <p:cNvSpPr>
            <a:spLocks noGrp="1"/>
          </p:cNvSpPr>
          <p:nvPr>
            <p:ph idx="1"/>
          </p:nvPr>
        </p:nvSpPr>
        <p:spPr>
          <a:xfrm>
            <a:off x="838200" y="749300"/>
            <a:ext cx="10515600" cy="5427663"/>
          </a:xfrm>
        </p:spPr>
        <p:txBody>
          <a:bodyPr>
            <a:normAutofit lnSpcReduction="10000"/>
          </a:bodyPr>
          <a:lstStyle/>
          <a:p>
            <a:r>
              <a:rPr lang="en-US" dirty="0" err="1">
                <a:solidFill>
                  <a:srgbClr val="FF0000"/>
                </a:solidFill>
              </a:rPr>
              <a:t>encoded_day_df.head</a:t>
            </a:r>
            <a:r>
              <a:rPr lang="en-US" dirty="0">
                <a:solidFill>
                  <a:srgbClr val="FF0000"/>
                </a:solidFill>
              </a:rPr>
              <a:t>()</a:t>
            </a:r>
          </a:p>
          <a:p>
            <a:r>
              <a:rPr lang="en-US" dirty="0"/>
              <a:t>Out[51]:</a:t>
            </a:r>
          </a:p>
          <a:p>
            <a:r>
              <a:rPr lang="en-US" dirty="0"/>
              <a:t>   </a:t>
            </a:r>
            <a:r>
              <a:rPr lang="en-US" dirty="0" err="1"/>
              <a:t>day_Fri</a:t>
            </a:r>
            <a:r>
              <a:rPr lang="en-US" dirty="0"/>
              <a:t>  </a:t>
            </a:r>
            <a:r>
              <a:rPr lang="en-US" dirty="0" err="1"/>
              <a:t>day_Sat</a:t>
            </a:r>
            <a:r>
              <a:rPr lang="en-US" dirty="0"/>
              <a:t>  </a:t>
            </a:r>
            <a:r>
              <a:rPr lang="en-US" dirty="0" err="1"/>
              <a:t>day_Sun</a:t>
            </a:r>
            <a:r>
              <a:rPr lang="en-US" dirty="0"/>
              <a:t>  </a:t>
            </a:r>
            <a:r>
              <a:rPr lang="en-US" dirty="0" err="1"/>
              <a:t>day_Thur</a:t>
            </a:r>
            <a:endParaRPr lang="en-US" dirty="0"/>
          </a:p>
          <a:p>
            <a:r>
              <a:rPr lang="en-US" dirty="0"/>
              <a:t>0      0.0      0.0      1.0       0.0</a:t>
            </a:r>
          </a:p>
          <a:p>
            <a:r>
              <a:rPr lang="en-US" dirty="0"/>
              <a:t>1      0.0      0.0      1.0       0.0</a:t>
            </a:r>
          </a:p>
          <a:p>
            <a:r>
              <a:rPr lang="en-US" dirty="0"/>
              <a:t>2      0.0      0.0      0.0       1.0</a:t>
            </a:r>
          </a:p>
          <a:p>
            <a:r>
              <a:rPr lang="en-US" dirty="0"/>
              <a:t>3      0.0      0.0      0.0       1.0</a:t>
            </a:r>
          </a:p>
          <a:p>
            <a:r>
              <a:rPr lang="en-US" dirty="0"/>
              <a:t>4      0.0      1.0      0.0       0.0</a:t>
            </a:r>
          </a:p>
          <a:p>
            <a:endParaRPr lang="en-US" dirty="0"/>
          </a:p>
          <a:p>
            <a:pPr algn="just"/>
            <a:r>
              <a:rPr lang="en-US" dirty="0"/>
              <a:t>Now, the “day” feature (or rather, the four new </a:t>
            </a:r>
            <a:r>
              <a:rPr lang="en-US" dirty="0" err="1"/>
              <a:t>boolean</a:t>
            </a:r>
            <a:r>
              <a:rPr lang="en-US" dirty="0"/>
              <a:t> features that represent day) can be used to fit a model.</a:t>
            </a:r>
          </a:p>
        </p:txBody>
      </p:sp>
      <p:sp>
        <p:nvSpPr>
          <p:cNvPr id="5" name="Slide Number Placeholder 4">
            <a:extLst>
              <a:ext uri="{FF2B5EF4-FFF2-40B4-BE49-F238E27FC236}">
                <a16:creationId xmlns:a16="http://schemas.microsoft.com/office/drawing/2014/main" id="{2BD56304-E0FB-4BAF-A4D6-487F93AA23D8}"/>
              </a:ext>
            </a:extLst>
          </p:cNvPr>
          <p:cNvSpPr>
            <a:spLocks noGrp="1"/>
          </p:cNvSpPr>
          <p:nvPr>
            <p:ph type="sldNum" sz="quarter" idx="12"/>
          </p:nvPr>
        </p:nvSpPr>
        <p:spPr/>
        <p:txBody>
          <a:bodyPr/>
          <a:lstStyle/>
          <a:p>
            <a:fld id="{6B97D948-30E8-43F7-AE10-F6E2D9F2BBB1}" type="slidenum">
              <a:rPr lang="en-US" smtClean="0"/>
              <a:t>681</a:t>
            </a:fld>
            <a:endParaRPr lang="en-US"/>
          </a:p>
        </p:txBody>
      </p:sp>
    </p:spTree>
    <p:extLst>
      <p:ext uri="{BB962C8B-B14F-4D97-AF65-F5344CB8AC3E}">
        <p14:creationId xmlns:p14="http://schemas.microsoft.com/office/powerpoint/2010/main" val="3165487330"/>
      </p:ext>
    </p:extLst>
  </p:cSld>
  <p:clrMapOvr>
    <a:masterClrMapping/>
  </p:clrMapOvr>
</p:sld>
</file>

<file path=ppt/slides/slide6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0E038-CBAD-4FA6-A5A6-A1E2B9F25B5C}"/>
              </a:ext>
            </a:extLst>
          </p:cNvPr>
          <p:cNvSpPr>
            <a:spLocks noGrp="1"/>
          </p:cNvSpPr>
          <p:nvPr>
            <p:ph type="title"/>
          </p:nvPr>
        </p:nvSpPr>
        <p:spPr>
          <a:xfrm>
            <a:off x="838200" y="365125"/>
            <a:ext cx="10515600" cy="638175"/>
          </a:xfrm>
        </p:spPr>
        <p:txBody>
          <a:bodyPr>
            <a:normAutofit fontScale="90000"/>
          </a:bodyPr>
          <a:lstStyle/>
          <a:p>
            <a:r>
              <a:rPr lang="en-US" dirty="0"/>
              <a:t>Polynomial Features</a:t>
            </a:r>
          </a:p>
        </p:txBody>
      </p:sp>
      <p:sp>
        <p:nvSpPr>
          <p:cNvPr id="3" name="Content Placeholder 2">
            <a:extLst>
              <a:ext uri="{FF2B5EF4-FFF2-40B4-BE49-F238E27FC236}">
                <a16:creationId xmlns:a16="http://schemas.microsoft.com/office/drawing/2014/main" id="{8E72AB26-CA09-4785-A63F-4F162C6F4B88}"/>
              </a:ext>
            </a:extLst>
          </p:cNvPr>
          <p:cNvSpPr>
            <a:spLocks noGrp="1"/>
          </p:cNvSpPr>
          <p:nvPr>
            <p:ph idx="1"/>
          </p:nvPr>
        </p:nvSpPr>
        <p:spPr>
          <a:xfrm>
            <a:off x="838200" y="1003300"/>
            <a:ext cx="10515600" cy="5173663"/>
          </a:xfrm>
        </p:spPr>
        <p:txBody>
          <a:bodyPr>
            <a:normAutofit fontScale="92500" lnSpcReduction="10000"/>
          </a:bodyPr>
          <a:lstStyle/>
          <a:p>
            <a:pPr algn="just"/>
            <a:r>
              <a:rPr lang="en-US" dirty="0"/>
              <a:t>You will encounter a few cases now where models with linear features have performed poorly on datasets that show clear non-linear curvature.</a:t>
            </a:r>
          </a:p>
          <a:p>
            <a:pPr algn="just"/>
            <a:endParaRPr lang="en-US" dirty="0"/>
          </a:p>
          <a:p>
            <a:pPr algn="just"/>
            <a:r>
              <a:rPr lang="en-US" dirty="0"/>
              <a:t>As an example, consider the vehicles dataset, which contains information about cars. </a:t>
            </a:r>
          </a:p>
          <a:p>
            <a:pPr algn="just"/>
            <a:endParaRPr lang="en-US" dirty="0"/>
          </a:p>
          <a:p>
            <a:pPr algn="just"/>
            <a:r>
              <a:rPr lang="en-US" dirty="0"/>
              <a:t>Suppose we want to use the "</a:t>
            </a:r>
            <a:r>
              <a:rPr lang="en-US" dirty="0">
                <a:solidFill>
                  <a:srgbClr val="FF0000"/>
                </a:solidFill>
              </a:rPr>
              <a:t>hp</a:t>
            </a:r>
            <a:r>
              <a:rPr lang="en-US" dirty="0"/>
              <a:t>" (horsepower) of a car to predict its "</a:t>
            </a:r>
            <a:r>
              <a:rPr lang="en-US" dirty="0">
                <a:solidFill>
                  <a:srgbClr val="FF0000"/>
                </a:solidFill>
              </a:rPr>
              <a:t>mpg</a:t>
            </a:r>
            <a:r>
              <a:rPr lang="en-US" dirty="0"/>
              <a:t>" (gas mileage in miles per gallon). </a:t>
            </a:r>
          </a:p>
          <a:p>
            <a:pPr algn="just"/>
            <a:r>
              <a:rPr lang="en-US" dirty="0"/>
              <a:t>If we visualize the relationship between these two variables, we see a non-linear curvature. </a:t>
            </a:r>
          </a:p>
          <a:p>
            <a:pPr algn="just"/>
            <a:endParaRPr lang="en-US" dirty="0"/>
          </a:p>
          <a:p>
            <a:pPr algn="just"/>
            <a:r>
              <a:rPr lang="en-US" dirty="0"/>
              <a:t>Fitting a linear model to these variables results in a high (poor) value of RMSE.</a:t>
            </a:r>
          </a:p>
        </p:txBody>
      </p:sp>
      <p:sp>
        <p:nvSpPr>
          <p:cNvPr id="5" name="Slide Number Placeholder 4">
            <a:extLst>
              <a:ext uri="{FF2B5EF4-FFF2-40B4-BE49-F238E27FC236}">
                <a16:creationId xmlns:a16="http://schemas.microsoft.com/office/drawing/2014/main" id="{B2C4FE7E-95D8-4415-8322-D52CE22957CA}"/>
              </a:ext>
            </a:extLst>
          </p:cNvPr>
          <p:cNvSpPr>
            <a:spLocks noGrp="1"/>
          </p:cNvSpPr>
          <p:nvPr>
            <p:ph type="sldNum" sz="quarter" idx="12"/>
          </p:nvPr>
        </p:nvSpPr>
        <p:spPr/>
        <p:txBody>
          <a:bodyPr/>
          <a:lstStyle/>
          <a:p>
            <a:fld id="{6B97D948-30E8-43F7-AE10-F6E2D9F2BBB1}" type="slidenum">
              <a:rPr lang="en-US" smtClean="0"/>
              <a:t>682</a:t>
            </a:fld>
            <a:endParaRPr lang="en-US"/>
          </a:p>
        </p:txBody>
      </p:sp>
    </p:spTree>
    <p:extLst>
      <p:ext uri="{BB962C8B-B14F-4D97-AF65-F5344CB8AC3E}">
        <p14:creationId xmlns:p14="http://schemas.microsoft.com/office/powerpoint/2010/main" val="2963451979"/>
      </p:ext>
    </p:extLst>
  </p:cSld>
  <p:clrMapOvr>
    <a:masterClrMapping/>
  </p:clrMapOvr>
</p:sld>
</file>

<file path=ppt/slides/slide6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87FDE2-CF4D-4664-825D-55B4D5B84D23}"/>
              </a:ext>
            </a:extLst>
          </p:cNvPr>
          <p:cNvSpPr>
            <a:spLocks noGrp="1"/>
          </p:cNvSpPr>
          <p:nvPr>
            <p:ph idx="1"/>
          </p:nvPr>
        </p:nvSpPr>
        <p:spPr>
          <a:xfrm>
            <a:off x="838200" y="495300"/>
            <a:ext cx="10515600" cy="5681663"/>
          </a:xfrm>
        </p:spPr>
        <p:txBody>
          <a:bodyPr>
            <a:normAutofit/>
          </a:bodyPr>
          <a:lstStyle/>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r>
              <a:rPr lang="en-US" dirty="0">
                <a:solidFill>
                  <a:srgbClr val="FF0000"/>
                </a:solidFill>
              </a:rPr>
              <a:t>import </a:t>
            </a:r>
            <a:r>
              <a:rPr lang="en-US" dirty="0" err="1">
                <a:solidFill>
                  <a:srgbClr val="FF0000"/>
                </a:solidFill>
              </a:rPr>
              <a:t>sklearn.linear_model</a:t>
            </a:r>
            <a:r>
              <a:rPr lang="en-US" dirty="0">
                <a:solidFill>
                  <a:srgbClr val="FF0000"/>
                </a:solidFill>
              </a:rPr>
              <a:t> as </a:t>
            </a:r>
            <a:r>
              <a:rPr lang="en-US" dirty="0" err="1">
                <a:solidFill>
                  <a:srgbClr val="FF0000"/>
                </a:solidFill>
              </a:rPr>
              <a:t>lm</a:t>
            </a:r>
            <a:endParaRPr lang="en-US" dirty="0">
              <a:solidFill>
                <a:srgbClr val="FF0000"/>
              </a:solidFill>
            </a:endParaRPr>
          </a:p>
        </p:txBody>
      </p:sp>
      <p:sp>
        <p:nvSpPr>
          <p:cNvPr id="5" name="Slide Number Placeholder 4">
            <a:extLst>
              <a:ext uri="{FF2B5EF4-FFF2-40B4-BE49-F238E27FC236}">
                <a16:creationId xmlns:a16="http://schemas.microsoft.com/office/drawing/2014/main" id="{9B719C4A-5CA0-445F-BCDE-61F4B2C280A9}"/>
              </a:ext>
            </a:extLst>
          </p:cNvPr>
          <p:cNvSpPr>
            <a:spLocks noGrp="1"/>
          </p:cNvSpPr>
          <p:nvPr>
            <p:ph type="sldNum" sz="quarter" idx="12"/>
          </p:nvPr>
        </p:nvSpPr>
        <p:spPr/>
        <p:txBody>
          <a:bodyPr/>
          <a:lstStyle/>
          <a:p>
            <a:fld id="{6B97D948-30E8-43F7-AE10-F6E2D9F2BBB1}" type="slidenum">
              <a:rPr lang="en-US" smtClean="0"/>
              <a:t>683</a:t>
            </a:fld>
            <a:endParaRPr lang="en-US"/>
          </a:p>
        </p:txBody>
      </p:sp>
    </p:spTree>
    <p:extLst>
      <p:ext uri="{BB962C8B-B14F-4D97-AF65-F5344CB8AC3E}">
        <p14:creationId xmlns:p14="http://schemas.microsoft.com/office/powerpoint/2010/main" val="3859944665"/>
      </p:ext>
    </p:extLst>
  </p:cSld>
  <p:clrMapOvr>
    <a:masterClrMapping/>
  </p:clrMapOvr>
</p:sld>
</file>

<file path=ppt/slides/slide6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91E186-01DE-4C6D-99A1-6990B869556B}"/>
              </a:ext>
            </a:extLst>
          </p:cNvPr>
          <p:cNvSpPr>
            <a:spLocks noGrp="1"/>
          </p:cNvSpPr>
          <p:nvPr>
            <p:ph idx="1"/>
          </p:nvPr>
        </p:nvSpPr>
        <p:spPr>
          <a:xfrm>
            <a:off x="838200" y="596900"/>
            <a:ext cx="10515600" cy="5580063"/>
          </a:xfrm>
        </p:spPr>
        <p:txBody>
          <a:bodyPr>
            <a:normAutofit fontScale="85000" lnSpcReduction="20000"/>
          </a:bodyPr>
          <a:lstStyle/>
          <a:p>
            <a:r>
              <a:rPr lang="en-US" dirty="0">
                <a:solidFill>
                  <a:srgbClr val="FF0000"/>
                </a:solidFill>
              </a:rPr>
              <a:t>#pd.options.mode.chained_assignment = None </a:t>
            </a:r>
          </a:p>
          <a:p>
            <a:r>
              <a:rPr lang="en-US" dirty="0">
                <a:solidFill>
                  <a:srgbClr val="FF0000"/>
                </a:solidFill>
              </a:rPr>
              <a:t>vehicles = </a:t>
            </a:r>
            <a:r>
              <a:rPr lang="en-US" dirty="0" err="1">
                <a:solidFill>
                  <a:srgbClr val="FF0000"/>
                </a:solidFill>
              </a:rPr>
              <a:t>sns.load_dataset</a:t>
            </a:r>
            <a:r>
              <a:rPr lang="en-US" dirty="0">
                <a:solidFill>
                  <a:srgbClr val="FF0000"/>
                </a:solidFill>
              </a:rPr>
              <a:t>("mpg").</a:t>
            </a:r>
            <a:r>
              <a:rPr lang="en-US" dirty="0" err="1">
                <a:solidFill>
                  <a:srgbClr val="FF0000"/>
                </a:solidFill>
              </a:rPr>
              <a:t>dropna</a:t>
            </a:r>
            <a:r>
              <a:rPr lang="en-US" dirty="0">
                <a:solidFill>
                  <a:srgbClr val="FF0000"/>
                </a:solidFill>
              </a:rPr>
              <a:t>().rename(columns = {"horsepower": "hp"}).</a:t>
            </a:r>
            <a:r>
              <a:rPr lang="en-US" dirty="0" err="1">
                <a:solidFill>
                  <a:srgbClr val="FF0000"/>
                </a:solidFill>
              </a:rPr>
              <a:t>sort_values</a:t>
            </a:r>
            <a:r>
              <a:rPr lang="en-US" dirty="0">
                <a:solidFill>
                  <a:srgbClr val="FF0000"/>
                </a:solidFill>
              </a:rPr>
              <a:t>("hp")</a:t>
            </a:r>
          </a:p>
          <a:p>
            <a:r>
              <a:rPr lang="en-US" dirty="0">
                <a:solidFill>
                  <a:srgbClr val="FF0000"/>
                </a:solidFill>
              </a:rPr>
              <a:t>X = vehicles[["hp"]]</a:t>
            </a:r>
          </a:p>
          <a:p>
            <a:r>
              <a:rPr lang="en-US" dirty="0">
                <a:solidFill>
                  <a:srgbClr val="FF0000"/>
                </a:solidFill>
              </a:rPr>
              <a:t>y = vehicles["mpg"]</a:t>
            </a:r>
          </a:p>
          <a:p>
            <a:r>
              <a:rPr lang="en-US" dirty="0" err="1">
                <a:solidFill>
                  <a:srgbClr val="FF0000"/>
                </a:solidFill>
              </a:rPr>
              <a:t>hp_model</a:t>
            </a:r>
            <a:r>
              <a:rPr lang="en-US" dirty="0">
                <a:solidFill>
                  <a:srgbClr val="FF0000"/>
                </a:solidFill>
              </a:rPr>
              <a:t> = </a:t>
            </a:r>
            <a:r>
              <a:rPr lang="en-US" dirty="0" err="1">
                <a:solidFill>
                  <a:srgbClr val="FF0000"/>
                </a:solidFill>
              </a:rPr>
              <a:t>lm.LinearRegression</a:t>
            </a:r>
            <a:r>
              <a:rPr lang="en-US" dirty="0">
                <a:solidFill>
                  <a:srgbClr val="FF0000"/>
                </a:solidFill>
              </a:rPr>
              <a:t>()</a:t>
            </a:r>
          </a:p>
          <a:p>
            <a:r>
              <a:rPr lang="en-US" dirty="0" err="1">
                <a:solidFill>
                  <a:srgbClr val="FF0000"/>
                </a:solidFill>
              </a:rPr>
              <a:t>hp_model.fit</a:t>
            </a:r>
            <a:r>
              <a:rPr lang="en-US" dirty="0">
                <a:solidFill>
                  <a:srgbClr val="FF0000"/>
                </a:solidFill>
              </a:rPr>
              <a:t>(X, y)</a:t>
            </a:r>
          </a:p>
          <a:p>
            <a:r>
              <a:rPr lang="en-US" dirty="0" err="1">
                <a:solidFill>
                  <a:srgbClr val="FF0000"/>
                </a:solidFill>
              </a:rPr>
              <a:t>hp_model_predictions</a:t>
            </a:r>
            <a:r>
              <a:rPr lang="en-US" dirty="0">
                <a:solidFill>
                  <a:srgbClr val="FF0000"/>
                </a:solidFill>
              </a:rPr>
              <a:t> = </a:t>
            </a:r>
            <a:r>
              <a:rPr lang="en-US" dirty="0" err="1">
                <a:solidFill>
                  <a:srgbClr val="FF0000"/>
                </a:solidFill>
              </a:rPr>
              <a:t>hp_model.predict</a:t>
            </a:r>
            <a:r>
              <a:rPr lang="en-US" dirty="0">
                <a:solidFill>
                  <a:srgbClr val="FF0000"/>
                </a:solidFill>
              </a:rPr>
              <a:t>(X)</a:t>
            </a:r>
          </a:p>
          <a:p>
            <a:endParaRPr lang="en-US" dirty="0">
              <a:solidFill>
                <a:srgbClr val="FF0000"/>
              </a:solidFill>
            </a:endParaRPr>
          </a:p>
          <a:p>
            <a:r>
              <a:rPr lang="en-US" dirty="0" err="1">
                <a:solidFill>
                  <a:srgbClr val="FF0000"/>
                </a:solidFill>
              </a:rPr>
              <a:t>sns.scatterplot</a:t>
            </a:r>
            <a:r>
              <a:rPr lang="en-US" dirty="0">
                <a:solidFill>
                  <a:srgbClr val="FF0000"/>
                </a:solidFill>
              </a:rPr>
              <a:t>(data=vehicles, x="hp", y="mpg")</a:t>
            </a:r>
          </a:p>
          <a:p>
            <a:r>
              <a:rPr lang="en-US" dirty="0" err="1">
                <a:solidFill>
                  <a:srgbClr val="FF0000"/>
                </a:solidFill>
              </a:rPr>
              <a:t>plt.plot</a:t>
            </a:r>
            <a:r>
              <a:rPr lang="en-US" dirty="0">
                <a:solidFill>
                  <a:srgbClr val="FF0000"/>
                </a:solidFill>
              </a:rPr>
              <a:t>(vehicles["hp"], </a:t>
            </a:r>
            <a:r>
              <a:rPr lang="en-US" dirty="0" err="1">
                <a:solidFill>
                  <a:srgbClr val="FF0000"/>
                </a:solidFill>
              </a:rPr>
              <a:t>hp_model_predictions</a:t>
            </a:r>
            <a:r>
              <a:rPr lang="en-US" dirty="0">
                <a:solidFill>
                  <a:srgbClr val="FF0000"/>
                </a:solidFill>
              </a:rPr>
              <a:t>, c="</a:t>
            </a:r>
            <a:r>
              <a:rPr lang="en-US" dirty="0" err="1">
                <a:solidFill>
                  <a:srgbClr val="FF0000"/>
                </a:solidFill>
              </a:rPr>
              <a:t>tab:red</a:t>
            </a:r>
            <a:r>
              <a:rPr lang="en-US" dirty="0">
                <a:solidFill>
                  <a:srgbClr val="FF0000"/>
                </a:solidFill>
              </a:rPr>
              <a:t>");</a:t>
            </a:r>
          </a:p>
          <a:p>
            <a:endParaRPr lang="en-US" dirty="0">
              <a:solidFill>
                <a:srgbClr val="FF0000"/>
              </a:solidFill>
            </a:endParaRPr>
          </a:p>
          <a:p>
            <a:pPr algn="just"/>
            <a:r>
              <a:rPr lang="en-US" dirty="0">
                <a:solidFill>
                  <a:srgbClr val="FF0000"/>
                </a:solidFill>
              </a:rPr>
              <a:t>print(</a:t>
            </a:r>
            <a:r>
              <a:rPr lang="en-US" dirty="0" err="1">
                <a:solidFill>
                  <a:srgbClr val="FF0000"/>
                </a:solidFill>
              </a:rPr>
              <a:t>f"MSE</a:t>
            </a:r>
            <a:r>
              <a:rPr lang="en-US" dirty="0">
                <a:solidFill>
                  <a:srgbClr val="FF0000"/>
                </a:solidFill>
              </a:rPr>
              <a:t> of model with (hp) feature: {</a:t>
            </a:r>
            <a:r>
              <a:rPr lang="en-US" dirty="0" err="1">
                <a:solidFill>
                  <a:srgbClr val="FF0000"/>
                </a:solidFill>
              </a:rPr>
              <a:t>np.mean</a:t>
            </a:r>
            <a:r>
              <a:rPr lang="en-US" dirty="0">
                <a:solidFill>
                  <a:srgbClr val="FF0000"/>
                </a:solidFill>
              </a:rPr>
              <a:t>((y-</a:t>
            </a:r>
            <a:r>
              <a:rPr lang="en-US" dirty="0" err="1">
                <a:solidFill>
                  <a:srgbClr val="FF0000"/>
                </a:solidFill>
              </a:rPr>
              <a:t>hp_model_predictions</a:t>
            </a:r>
            <a:r>
              <a:rPr lang="en-US" dirty="0">
                <a:solidFill>
                  <a:srgbClr val="FF0000"/>
                </a:solidFill>
              </a:rPr>
              <a:t>)**2)}")</a:t>
            </a:r>
          </a:p>
          <a:p>
            <a:pPr algn="just"/>
            <a:r>
              <a:rPr lang="en-US" dirty="0"/>
              <a:t>MSE of model with (hp) feature: 23.943662938603108</a:t>
            </a:r>
          </a:p>
          <a:p>
            <a:endParaRPr lang="en-US" dirty="0">
              <a:solidFill>
                <a:srgbClr val="FF0000"/>
              </a:solidFill>
            </a:endParaRPr>
          </a:p>
          <a:p>
            <a:endParaRPr lang="en-US" dirty="0"/>
          </a:p>
        </p:txBody>
      </p:sp>
      <p:sp>
        <p:nvSpPr>
          <p:cNvPr id="5" name="Slide Number Placeholder 4">
            <a:extLst>
              <a:ext uri="{FF2B5EF4-FFF2-40B4-BE49-F238E27FC236}">
                <a16:creationId xmlns:a16="http://schemas.microsoft.com/office/drawing/2014/main" id="{AD4C2484-E3CA-4EC4-8556-0FD347B95EDA}"/>
              </a:ext>
            </a:extLst>
          </p:cNvPr>
          <p:cNvSpPr>
            <a:spLocks noGrp="1"/>
          </p:cNvSpPr>
          <p:nvPr>
            <p:ph type="sldNum" sz="quarter" idx="12"/>
          </p:nvPr>
        </p:nvSpPr>
        <p:spPr/>
        <p:txBody>
          <a:bodyPr/>
          <a:lstStyle/>
          <a:p>
            <a:fld id="{6B97D948-30E8-43F7-AE10-F6E2D9F2BBB1}" type="slidenum">
              <a:rPr lang="en-US" smtClean="0"/>
              <a:t>684</a:t>
            </a:fld>
            <a:endParaRPr lang="en-US"/>
          </a:p>
        </p:txBody>
      </p:sp>
    </p:spTree>
    <p:extLst>
      <p:ext uri="{BB962C8B-B14F-4D97-AF65-F5344CB8AC3E}">
        <p14:creationId xmlns:p14="http://schemas.microsoft.com/office/powerpoint/2010/main" val="847129011"/>
      </p:ext>
    </p:extLst>
  </p:cSld>
  <p:clrMapOvr>
    <a:masterClrMapping/>
  </p:clrMapOvr>
</p:sld>
</file>

<file path=ppt/slides/slide6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1BA122-AB78-4966-A9EB-8FE88B29BC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9608" y="596899"/>
            <a:ext cx="7440084" cy="5580063"/>
          </a:xfrm>
        </p:spPr>
      </p:pic>
      <p:sp>
        <p:nvSpPr>
          <p:cNvPr id="7" name="Slide Number Placeholder 6">
            <a:extLst>
              <a:ext uri="{FF2B5EF4-FFF2-40B4-BE49-F238E27FC236}">
                <a16:creationId xmlns:a16="http://schemas.microsoft.com/office/drawing/2014/main" id="{AD1ACE67-48A6-47A8-9A39-E41950AB5367}"/>
              </a:ext>
            </a:extLst>
          </p:cNvPr>
          <p:cNvSpPr>
            <a:spLocks noGrp="1"/>
          </p:cNvSpPr>
          <p:nvPr>
            <p:ph type="sldNum" sz="quarter" idx="12"/>
          </p:nvPr>
        </p:nvSpPr>
        <p:spPr/>
        <p:txBody>
          <a:bodyPr/>
          <a:lstStyle/>
          <a:p>
            <a:fld id="{6B97D948-30E8-43F7-AE10-F6E2D9F2BBB1}" type="slidenum">
              <a:rPr lang="en-US" smtClean="0"/>
              <a:t>685</a:t>
            </a:fld>
            <a:endParaRPr lang="en-US"/>
          </a:p>
        </p:txBody>
      </p:sp>
    </p:spTree>
    <p:extLst>
      <p:ext uri="{BB962C8B-B14F-4D97-AF65-F5344CB8AC3E}">
        <p14:creationId xmlns:p14="http://schemas.microsoft.com/office/powerpoint/2010/main" val="380456413"/>
      </p:ext>
    </p:extLst>
  </p:cSld>
  <p:clrMapOvr>
    <a:masterClrMapping/>
  </p:clrMapOvr>
</p:sld>
</file>

<file path=ppt/slides/slide6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40402F-CA23-4506-B434-8FDB8AC4A145}"/>
                  </a:ext>
                </a:extLst>
              </p:cNvPr>
              <p:cNvSpPr>
                <a:spLocks noGrp="1"/>
              </p:cNvSpPr>
              <p:nvPr>
                <p:ph idx="1"/>
              </p:nvPr>
            </p:nvSpPr>
            <p:spPr>
              <a:xfrm>
                <a:off x="838200" y="546100"/>
                <a:ext cx="10515600" cy="5630863"/>
              </a:xfrm>
            </p:spPr>
            <p:txBody>
              <a:bodyPr/>
              <a:lstStyle/>
              <a:p>
                <a:pPr algn="just"/>
                <a:r>
                  <a:rPr lang="en-US" dirty="0"/>
                  <a:t>To capture non-linearity in a dataset, it makes sense to incorporate non-linear features. </a:t>
                </a:r>
              </a:p>
              <a:p>
                <a:pPr algn="just"/>
                <a:endParaRPr lang="en-US" dirty="0"/>
              </a:p>
              <a:p>
                <a:pPr algn="just"/>
                <a:r>
                  <a:rPr lang="en-US" dirty="0"/>
                  <a:t>Let’s introduce a polynomial term,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h𝑝</m:t>
                        </m:r>
                      </m:e>
                      <m:sup>
                        <m:r>
                          <a:rPr lang="en-US" b="0" i="1" smtClean="0">
                            <a:latin typeface="Cambria Math" panose="02040503050406030204" pitchFamily="18" charset="0"/>
                          </a:rPr>
                          <m:t>2</m:t>
                        </m:r>
                      </m:sup>
                    </m:sSup>
                  </m:oMath>
                </a14:m>
                <a:r>
                  <a:rPr lang="en-US" dirty="0"/>
                  <a:t>, into our regression model. </a:t>
                </a:r>
              </a:p>
              <a:p>
                <a:pPr algn="just"/>
                <a:endParaRPr lang="en-US" dirty="0"/>
              </a:p>
              <a:p>
                <a:pPr algn="just"/>
                <a:r>
                  <a:rPr lang="en-US" dirty="0"/>
                  <a:t>The model now takes the form:</a:t>
                </a:r>
              </a:p>
              <a:p>
                <a:pPr marL="0" indent="0" algn="ctr">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h𝑝</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h𝑝</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marL="0" indent="0" algn="ctr">
                  <a:buNone/>
                </a:pPr>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2</m:t>
                          </m:r>
                        </m:sub>
                      </m:sSub>
                    </m:oMath>
                  </m:oMathPara>
                </a14:m>
                <a:endParaRPr lang="en-US" dirty="0"/>
              </a:p>
              <a:p>
                <a:pPr marL="0" indent="0" algn="ctr">
                  <a:buNone/>
                </a:pPr>
                <a:endParaRPr lang="en-US" dirty="0"/>
              </a:p>
              <a:p>
                <a:pPr marL="0" indent="0" algn="ctr">
                  <a:buNone/>
                </a:pPr>
                <a:endParaRPr lang="en-US" dirty="0"/>
              </a:p>
            </p:txBody>
          </p:sp>
        </mc:Choice>
        <mc:Fallback xmlns="">
          <p:sp>
            <p:nvSpPr>
              <p:cNvPr id="3" name="Content Placeholder 2">
                <a:extLst>
                  <a:ext uri="{FF2B5EF4-FFF2-40B4-BE49-F238E27FC236}">
                    <a16:creationId xmlns:a16="http://schemas.microsoft.com/office/drawing/2014/main" id="{B940402F-CA23-4506-B434-8FDB8AC4A145}"/>
                  </a:ext>
                </a:extLst>
              </p:cNvPr>
              <p:cNvSpPr>
                <a:spLocks noGrp="1" noRot="1" noChangeAspect="1" noMove="1" noResize="1" noEditPoints="1" noAdjustHandles="1" noChangeArrowheads="1" noChangeShapeType="1" noTextEdit="1"/>
              </p:cNvSpPr>
              <p:nvPr>
                <p:ph idx="1"/>
              </p:nvPr>
            </p:nvSpPr>
            <p:spPr>
              <a:xfrm>
                <a:off x="838200" y="546100"/>
                <a:ext cx="10515600" cy="5630863"/>
              </a:xfrm>
              <a:blipFill>
                <a:blip r:embed="rId2"/>
                <a:stretch>
                  <a:fillRect l="-1043" t="-1842"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D56C6CA-6EB6-4A9A-8D13-0D3864CE15C8}"/>
              </a:ext>
            </a:extLst>
          </p:cNvPr>
          <p:cNvSpPr>
            <a:spLocks noGrp="1"/>
          </p:cNvSpPr>
          <p:nvPr>
            <p:ph type="sldNum" sz="quarter" idx="12"/>
          </p:nvPr>
        </p:nvSpPr>
        <p:spPr/>
        <p:txBody>
          <a:bodyPr/>
          <a:lstStyle/>
          <a:p>
            <a:fld id="{6B97D948-30E8-43F7-AE10-F6E2D9F2BBB1}" type="slidenum">
              <a:rPr lang="en-US" smtClean="0"/>
              <a:t>686</a:t>
            </a:fld>
            <a:endParaRPr lang="en-US"/>
          </a:p>
        </p:txBody>
      </p:sp>
    </p:spTree>
    <p:extLst>
      <p:ext uri="{BB962C8B-B14F-4D97-AF65-F5344CB8AC3E}">
        <p14:creationId xmlns:p14="http://schemas.microsoft.com/office/powerpoint/2010/main" val="3633850493"/>
      </p:ext>
    </p:extLst>
  </p:cSld>
  <p:clrMapOvr>
    <a:masterClrMapping/>
  </p:clrMapOvr>
</p:sld>
</file>

<file path=ppt/slides/slide6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9C617-16C2-4F5F-A60B-A35D86BEED48}"/>
              </a:ext>
            </a:extLst>
          </p:cNvPr>
          <p:cNvSpPr>
            <a:spLocks noGrp="1"/>
          </p:cNvSpPr>
          <p:nvPr>
            <p:ph idx="1"/>
          </p:nvPr>
        </p:nvSpPr>
        <p:spPr>
          <a:xfrm>
            <a:off x="838200" y="546100"/>
            <a:ext cx="10515600" cy="5630863"/>
          </a:xfrm>
        </p:spPr>
        <p:txBody>
          <a:bodyPr>
            <a:normAutofit/>
          </a:bodyPr>
          <a:lstStyle/>
          <a:p>
            <a:pPr algn="just"/>
            <a:r>
              <a:rPr lang="en-US" dirty="0"/>
              <a:t>How can we fit a model with non-linear features? </a:t>
            </a:r>
          </a:p>
          <a:p>
            <a:pPr algn="just"/>
            <a:endParaRPr lang="en-US" dirty="0"/>
          </a:p>
          <a:p>
            <a:pPr algn="just"/>
            <a:r>
              <a:rPr lang="en-US" dirty="0"/>
              <a:t>We can use the exact same techniques as before: ordinary least squares or </a:t>
            </a:r>
            <a:r>
              <a:rPr lang="en-US" dirty="0" err="1"/>
              <a:t>sklearn</a:t>
            </a:r>
            <a:r>
              <a:rPr lang="en-US" dirty="0"/>
              <a:t>. </a:t>
            </a:r>
          </a:p>
          <a:p>
            <a:pPr algn="just"/>
            <a:r>
              <a:rPr lang="en-US" dirty="0"/>
              <a:t>This is because our new model is still a linear model. </a:t>
            </a:r>
          </a:p>
          <a:p>
            <a:pPr algn="just"/>
            <a:r>
              <a:rPr lang="en-US" dirty="0"/>
              <a:t>Although it contains non-linear features, it is linear with respect to the model parameters. </a:t>
            </a:r>
          </a:p>
          <a:p>
            <a:pPr algn="just"/>
            <a:r>
              <a:rPr lang="en-US" dirty="0"/>
              <a:t>All of our previous work on fitting models was done under the assumption that we were working with linear models. </a:t>
            </a:r>
          </a:p>
          <a:p>
            <a:pPr algn="just"/>
            <a:endParaRPr lang="en-US" dirty="0"/>
          </a:p>
          <a:p>
            <a:pPr algn="just"/>
            <a:r>
              <a:rPr lang="en-US" dirty="0"/>
              <a:t>Because our new model is still linear, we can apply our existing methods to determine the optimal parameters.</a:t>
            </a:r>
          </a:p>
        </p:txBody>
      </p:sp>
      <p:sp>
        <p:nvSpPr>
          <p:cNvPr id="5" name="Slide Number Placeholder 4">
            <a:extLst>
              <a:ext uri="{FF2B5EF4-FFF2-40B4-BE49-F238E27FC236}">
                <a16:creationId xmlns:a16="http://schemas.microsoft.com/office/drawing/2014/main" id="{AE097F0E-CF71-4F6F-B012-0273B3551026}"/>
              </a:ext>
            </a:extLst>
          </p:cNvPr>
          <p:cNvSpPr>
            <a:spLocks noGrp="1"/>
          </p:cNvSpPr>
          <p:nvPr>
            <p:ph type="sldNum" sz="quarter" idx="12"/>
          </p:nvPr>
        </p:nvSpPr>
        <p:spPr/>
        <p:txBody>
          <a:bodyPr/>
          <a:lstStyle/>
          <a:p>
            <a:fld id="{6B97D948-30E8-43F7-AE10-F6E2D9F2BBB1}" type="slidenum">
              <a:rPr lang="en-US" smtClean="0"/>
              <a:t>687</a:t>
            </a:fld>
            <a:endParaRPr lang="en-US"/>
          </a:p>
        </p:txBody>
      </p:sp>
    </p:spTree>
    <p:extLst>
      <p:ext uri="{BB962C8B-B14F-4D97-AF65-F5344CB8AC3E}">
        <p14:creationId xmlns:p14="http://schemas.microsoft.com/office/powerpoint/2010/main" val="1779462190"/>
      </p:ext>
    </p:extLst>
  </p:cSld>
  <p:clrMapOvr>
    <a:masterClrMapping/>
  </p:clrMapOvr>
</p:sld>
</file>

<file path=ppt/slides/slide6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EF49-1D29-4480-A1CE-D8B00BA0ED8F}"/>
              </a:ext>
            </a:extLst>
          </p:cNvPr>
          <p:cNvSpPr>
            <a:spLocks noGrp="1"/>
          </p:cNvSpPr>
          <p:nvPr>
            <p:ph type="title"/>
          </p:nvPr>
        </p:nvSpPr>
        <p:spPr>
          <a:xfrm>
            <a:off x="838200" y="365125"/>
            <a:ext cx="10515600" cy="600075"/>
          </a:xfrm>
        </p:spPr>
        <p:txBody>
          <a:bodyPr>
            <a:normAutofit fontScale="90000"/>
          </a:bodyPr>
          <a:lstStyle/>
          <a:p>
            <a:r>
              <a:rPr lang="en-US" dirty="0"/>
              <a:t>Code</a:t>
            </a:r>
          </a:p>
        </p:txBody>
      </p:sp>
      <p:sp>
        <p:nvSpPr>
          <p:cNvPr id="3" name="Content Placeholder 2">
            <a:extLst>
              <a:ext uri="{FF2B5EF4-FFF2-40B4-BE49-F238E27FC236}">
                <a16:creationId xmlns:a16="http://schemas.microsoft.com/office/drawing/2014/main" id="{9B327331-0BE6-4B63-BAE5-D3DA8FC1E647}"/>
              </a:ext>
            </a:extLst>
          </p:cNvPr>
          <p:cNvSpPr>
            <a:spLocks noGrp="1"/>
          </p:cNvSpPr>
          <p:nvPr>
            <p:ph idx="1"/>
          </p:nvPr>
        </p:nvSpPr>
        <p:spPr>
          <a:xfrm>
            <a:off x="838200" y="965200"/>
            <a:ext cx="10515600" cy="5211763"/>
          </a:xfrm>
        </p:spPr>
        <p:txBody>
          <a:bodyPr>
            <a:normAutofit fontScale="77500" lnSpcReduction="20000"/>
          </a:bodyPr>
          <a:lstStyle/>
          <a:p>
            <a:r>
              <a:rPr lang="en-US" dirty="0"/>
              <a:t># Add a hp^2 feature to the design matrix</a:t>
            </a:r>
          </a:p>
          <a:p>
            <a:r>
              <a:rPr lang="en-US" dirty="0">
                <a:solidFill>
                  <a:srgbClr val="FF0000"/>
                </a:solidFill>
              </a:rPr>
              <a:t>X = vehicles[["hp"]]</a:t>
            </a:r>
          </a:p>
          <a:p>
            <a:r>
              <a:rPr lang="en-US" dirty="0">
                <a:solidFill>
                  <a:srgbClr val="FF0000"/>
                </a:solidFill>
              </a:rPr>
              <a:t>X["hp^2"] = vehicles["hp"]**2</a:t>
            </a:r>
          </a:p>
          <a:p>
            <a:endParaRPr lang="en-US" dirty="0"/>
          </a:p>
          <a:p>
            <a:r>
              <a:rPr lang="en-US" dirty="0"/>
              <a:t># Use </a:t>
            </a:r>
            <a:r>
              <a:rPr lang="en-US" dirty="0" err="1"/>
              <a:t>sklearn</a:t>
            </a:r>
            <a:r>
              <a:rPr lang="en-US" dirty="0"/>
              <a:t> to fit the model</a:t>
            </a:r>
          </a:p>
          <a:p>
            <a:r>
              <a:rPr lang="en-US" dirty="0">
                <a:solidFill>
                  <a:srgbClr val="FF0000"/>
                </a:solidFill>
              </a:rPr>
              <a:t>hp2_model = </a:t>
            </a:r>
            <a:r>
              <a:rPr lang="en-US" dirty="0" err="1">
                <a:solidFill>
                  <a:srgbClr val="FF0000"/>
                </a:solidFill>
              </a:rPr>
              <a:t>lm.LinearRegression</a:t>
            </a:r>
            <a:r>
              <a:rPr lang="en-US" dirty="0">
                <a:solidFill>
                  <a:srgbClr val="FF0000"/>
                </a:solidFill>
              </a:rPr>
              <a:t>()</a:t>
            </a:r>
          </a:p>
          <a:p>
            <a:r>
              <a:rPr lang="en-US" dirty="0">
                <a:solidFill>
                  <a:srgbClr val="FF0000"/>
                </a:solidFill>
              </a:rPr>
              <a:t>hp2_model.fit(X, y)</a:t>
            </a:r>
          </a:p>
          <a:p>
            <a:r>
              <a:rPr lang="en-US" dirty="0">
                <a:solidFill>
                  <a:srgbClr val="FF0000"/>
                </a:solidFill>
              </a:rPr>
              <a:t>hp2_model_predictions = hp2_model.predict(X)</a:t>
            </a:r>
          </a:p>
          <a:p>
            <a:endParaRPr lang="en-US" dirty="0"/>
          </a:p>
          <a:p>
            <a:r>
              <a:rPr lang="en-US" dirty="0" err="1">
                <a:solidFill>
                  <a:srgbClr val="FF0000"/>
                </a:solidFill>
              </a:rPr>
              <a:t>sns.scatterplot</a:t>
            </a:r>
            <a:r>
              <a:rPr lang="en-US" dirty="0">
                <a:solidFill>
                  <a:srgbClr val="FF0000"/>
                </a:solidFill>
              </a:rPr>
              <a:t>(data=vehicles, x="hp", y="mpg")</a:t>
            </a:r>
          </a:p>
          <a:p>
            <a:r>
              <a:rPr lang="en-US" dirty="0" err="1">
                <a:solidFill>
                  <a:srgbClr val="FF0000"/>
                </a:solidFill>
              </a:rPr>
              <a:t>plt.plot</a:t>
            </a:r>
            <a:r>
              <a:rPr lang="en-US" dirty="0">
                <a:solidFill>
                  <a:srgbClr val="FF0000"/>
                </a:solidFill>
              </a:rPr>
              <a:t>(vehicles["hp"], hp2_model_predictions, c="</a:t>
            </a:r>
            <a:r>
              <a:rPr lang="en-US" dirty="0" err="1">
                <a:solidFill>
                  <a:srgbClr val="FF0000"/>
                </a:solidFill>
              </a:rPr>
              <a:t>tab:red</a:t>
            </a:r>
            <a:r>
              <a:rPr lang="en-US" dirty="0">
                <a:solidFill>
                  <a:srgbClr val="FF0000"/>
                </a:solidFill>
              </a:rPr>
              <a:t>");</a:t>
            </a:r>
          </a:p>
          <a:p>
            <a:endParaRPr lang="en-US" dirty="0">
              <a:solidFill>
                <a:srgbClr val="FF0000"/>
              </a:solidFill>
            </a:endParaRPr>
          </a:p>
          <a:p>
            <a:r>
              <a:rPr lang="en-US" dirty="0">
                <a:solidFill>
                  <a:srgbClr val="FF0000"/>
                </a:solidFill>
              </a:rPr>
              <a:t>print(</a:t>
            </a:r>
            <a:r>
              <a:rPr lang="en-US" dirty="0" err="1">
                <a:solidFill>
                  <a:srgbClr val="FF0000"/>
                </a:solidFill>
              </a:rPr>
              <a:t>f"MSE</a:t>
            </a:r>
            <a:r>
              <a:rPr lang="en-US" dirty="0">
                <a:solidFill>
                  <a:srgbClr val="FF0000"/>
                </a:solidFill>
              </a:rPr>
              <a:t> of model with (hp^2) feature: {</a:t>
            </a:r>
            <a:r>
              <a:rPr lang="en-US" dirty="0" err="1">
                <a:solidFill>
                  <a:srgbClr val="FF0000"/>
                </a:solidFill>
              </a:rPr>
              <a:t>np.mean</a:t>
            </a:r>
            <a:r>
              <a:rPr lang="en-US" dirty="0">
                <a:solidFill>
                  <a:srgbClr val="FF0000"/>
                </a:solidFill>
              </a:rPr>
              <a:t>((y-hp2_model_predictions)**2)}")</a:t>
            </a:r>
          </a:p>
        </p:txBody>
      </p:sp>
      <p:sp>
        <p:nvSpPr>
          <p:cNvPr id="5" name="Slide Number Placeholder 4">
            <a:extLst>
              <a:ext uri="{FF2B5EF4-FFF2-40B4-BE49-F238E27FC236}">
                <a16:creationId xmlns:a16="http://schemas.microsoft.com/office/drawing/2014/main" id="{77F3A24D-D353-4BBB-ACF8-012B636C32C9}"/>
              </a:ext>
            </a:extLst>
          </p:cNvPr>
          <p:cNvSpPr>
            <a:spLocks noGrp="1"/>
          </p:cNvSpPr>
          <p:nvPr>
            <p:ph type="sldNum" sz="quarter" idx="12"/>
          </p:nvPr>
        </p:nvSpPr>
        <p:spPr/>
        <p:txBody>
          <a:bodyPr/>
          <a:lstStyle/>
          <a:p>
            <a:fld id="{6B97D948-30E8-43F7-AE10-F6E2D9F2BBB1}" type="slidenum">
              <a:rPr lang="en-US" smtClean="0"/>
              <a:t>688</a:t>
            </a:fld>
            <a:endParaRPr lang="en-US"/>
          </a:p>
        </p:txBody>
      </p:sp>
    </p:spTree>
    <p:extLst>
      <p:ext uri="{BB962C8B-B14F-4D97-AF65-F5344CB8AC3E}">
        <p14:creationId xmlns:p14="http://schemas.microsoft.com/office/powerpoint/2010/main" val="2107768445"/>
      </p:ext>
    </p:extLst>
  </p:cSld>
  <p:clrMapOvr>
    <a:masterClrMapping/>
  </p:clrMapOvr>
</p:sld>
</file>

<file path=ppt/slides/slide6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2152C6-57A3-4AB0-97E8-9443184FABD6}"/>
              </a:ext>
            </a:extLst>
          </p:cNvPr>
          <p:cNvSpPr>
            <a:spLocks noGrp="1"/>
          </p:cNvSpPr>
          <p:nvPr>
            <p:ph type="title"/>
          </p:nvPr>
        </p:nvSpPr>
        <p:spPr>
          <a:xfrm>
            <a:off x="838200" y="365125"/>
            <a:ext cx="10515600" cy="561975"/>
          </a:xfrm>
        </p:spPr>
        <p:txBody>
          <a:bodyPr>
            <a:normAutofit/>
          </a:bodyPr>
          <a:lstStyle/>
          <a:p>
            <a:r>
              <a:rPr lang="en-US" sz="3100" dirty="0"/>
              <a:t>MSE of model with (hp^2) feature: 18.984768907617216</a:t>
            </a:r>
            <a:endParaRPr lang="en-US" dirty="0"/>
          </a:p>
        </p:txBody>
      </p:sp>
      <p:pic>
        <p:nvPicPr>
          <p:cNvPr id="6" name="Content Placeholder 5">
            <a:extLst>
              <a:ext uri="{FF2B5EF4-FFF2-40B4-BE49-F238E27FC236}">
                <a16:creationId xmlns:a16="http://schemas.microsoft.com/office/drawing/2014/main" id="{38F43A8E-986D-4287-865B-D5889EBC7E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5700" y="1248569"/>
            <a:ext cx="6571192" cy="4928394"/>
          </a:xfrm>
        </p:spPr>
      </p:pic>
      <p:sp>
        <p:nvSpPr>
          <p:cNvPr id="8" name="Slide Number Placeholder 7">
            <a:extLst>
              <a:ext uri="{FF2B5EF4-FFF2-40B4-BE49-F238E27FC236}">
                <a16:creationId xmlns:a16="http://schemas.microsoft.com/office/drawing/2014/main" id="{69790C4A-58FD-4522-8863-E85FAFF25879}"/>
              </a:ext>
            </a:extLst>
          </p:cNvPr>
          <p:cNvSpPr>
            <a:spLocks noGrp="1"/>
          </p:cNvSpPr>
          <p:nvPr>
            <p:ph type="sldNum" sz="quarter" idx="12"/>
          </p:nvPr>
        </p:nvSpPr>
        <p:spPr/>
        <p:txBody>
          <a:bodyPr/>
          <a:lstStyle/>
          <a:p>
            <a:fld id="{6B97D948-30E8-43F7-AE10-F6E2D9F2BBB1}" type="slidenum">
              <a:rPr lang="en-US" smtClean="0"/>
              <a:t>689</a:t>
            </a:fld>
            <a:endParaRPr lang="en-US"/>
          </a:p>
        </p:txBody>
      </p:sp>
    </p:spTree>
    <p:extLst>
      <p:ext uri="{BB962C8B-B14F-4D97-AF65-F5344CB8AC3E}">
        <p14:creationId xmlns:p14="http://schemas.microsoft.com/office/powerpoint/2010/main" val="473078526"/>
      </p:ext>
    </p:extLst>
  </p:cSld>
  <p:clrMapOvr>
    <a:masterClrMapping/>
  </p:clrMapOvr>
</p:sld>
</file>

<file path=ppt/slides/slide6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D681-3FD3-492A-97C1-5345A8039C0F}"/>
              </a:ext>
            </a:extLst>
          </p:cNvPr>
          <p:cNvSpPr>
            <a:spLocks noGrp="1"/>
          </p:cNvSpPr>
          <p:nvPr>
            <p:ph type="title"/>
          </p:nvPr>
        </p:nvSpPr>
        <p:spPr>
          <a:xfrm>
            <a:off x="838200" y="365125"/>
            <a:ext cx="10515600" cy="650875"/>
          </a:xfrm>
        </p:spPr>
        <p:txBody>
          <a:bodyPr>
            <a:normAutofit fontScale="90000"/>
          </a:bodyPr>
          <a:lstStyle/>
          <a:p>
            <a:r>
              <a:rPr lang="en-US" dirty="0"/>
              <a:t>Complexity and Overfitting</a:t>
            </a:r>
          </a:p>
        </p:txBody>
      </p:sp>
      <p:sp>
        <p:nvSpPr>
          <p:cNvPr id="3" name="Content Placeholder 2">
            <a:extLst>
              <a:ext uri="{FF2B5EF4-FFF2-40B4-BE49-F238E27FC236}">
                <a16:creationId xmlns:a16="http://schemas.microsoft.com/office/drawing/2014/main" id="{045BD4B9-2292-4951-8723-616F49B17A87}"/>
              </a:ext>
            </a:extLst>
          </p:cNvPr>
          <p:cNvSpPr>
            <a:spLocks noGrp="1"/>
          </p:cNvSpPr>
          <p:nvPr>
            <p:ph idx="1"/>
          </p:nvPr>
        </p:nvSpPr>
        <p:spPr>
          <a:xfrm>
            <a:off x="838200" y="1016000"/>
            <a:ext cx="10515600" cy="5160963"/>
          </a:xfrm>
        </p:spPr>
        <p:txBody>
          <a:bodyPr/>
          <a:lstStyle/>
          <a:p>
            <a:pPr algn="just"/>
            <a:r>
              <a:rPr lang="en-US" dirty="0"/>
              <a:t>We’ve seen now that feature engineering allows us to build all sorts of features to improve the performance of the model. </a:t>
            </a:r>
          </a:p>
          <a:p>
            <a:pPr algn="just"/>
            <a:r>
              <a:rPr lang="en-US" dirty="0"/>
              <a:t>In particular, we saw that designing a more complex feature (squaring "hp" in the vehicles data previously) substantially improved the model’s ability to capture non-linear relationships. </a:t>
            </a:r>
          </a:p>
          <a:p>
            <a:pPr algn="just"/>
            <a:endParaRPr lang="en-US" dirty="0"/>
          </a:p>
          <a:p>
            <a:pPr algn="just"/>
            <a:r>
              <a:rPr lang="en-US" dirty="0"/>
              <a:t>To take full advantage of this, we might be inclined to design increasingly complex features. </a:t>
            </a:r>
          </a:p>
          <a:p>
            <a:pPr algn="just"/>
            <a:endParaRPr lang="en-US" dirty="0"/>
          </a:p>
          <a:p>
            <a:pPr algn="just"/>
            <a:r>
              <a:rPr lang="en-US" dirty="0"/>
              <a:t>Consider the following three models, each of different order (the maximum exponent power of each model).</a:t>
            </a:r>
          </a:p>
        </p:txBody>
      </p:sp>
      <p:sp>
        <p:nvSpPr>
          <p:cNvPr id="5" name="Slide Number Placeholder 4">
            <a:extLst>
              <a:ext uri="{FF2B5EF4-FFF2-40B4-BE49-F238E27FC236}">
                <a16:creationId xmlns:a16="http://schemas.microsoft.com/office/drawing/2014/main" id="{031CDD9B-669A-49AC-A687-E389B05857D7}"/>
              </a:ext>
            </a:extLst>
          </p:cNvPr>
          <p:cNvSpPr>
            <a:spLocks noGrp="1"/>
          </p:cNvSpPr>
          <p:nvPr>
            <p:ph type="sldNum" sz="quarter" idx="12"/>
          </p:nvPr>
        </p:nvSpPr>
        <p:spPr/>
        <p:txBody>
          <a:bodyPr/>
          <a:lstStyle/>
          <a:p>
            <a:fld id="{6B97D948-30E8-43F7-AE10-F6E2D9F2BBB1}" type="slidenum">
              <a:rPr lang="en-US" smtClean="0"/>
              <a:t>690</a:t>
            </a:fld>
            <a:endParaRPr lang="en-US"/>
          </a:p>
        </p:txBody>
      </p:sp>
    </p:spTree>
    <p:extLst>
      <p:ext uri="{BB962C8B-B14F-4D97-AF65-F5344CB8AC3E}">
        <p14:creationId xmlns:p14="http://schemas.microsoft.com/office/powerpoint/2010/main" val="3841497261"/>
      </p:ext>
    </p:extLst>
  </p:cSld>
  <p:clrMapOvr>
    <a:masterClrMapping/>
  </p:clrMapOvr>
</p:sld>
</file>

<file path=ppt/slides/slide6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381524B-66AE-4D30-B803-C1252693A990}"/>
              </a:ext>
            </a:extLst>
          </p:cNvPr>
          <p:cNvPicPr>
            <a:picLocks noGrp="1" noChangeAspect="1"/>
          </p:cNvPicPr>
          <p:nvPr>
            <p:ph idx="1"/>
          </p:nvPr>
        </p:nvPicPr>
        <p:blipFill>
          <a:blip r:embed="rId2"/>
          <a:stretch>
            <a:fillRect/>
          </a:stretch>
        </p:blipFill>
        <p:spPr>
          <a:xfrm>
            <a:off x="423496" y="2628900"/>
            <a:ext cx="11319241" cy="1958181"/>
          </a:xfrm>
        </p:spPr>
      </p:pic>
      <p:sp>
        <p:nvSpPr>
          <p:cNvPr id="7" name="Slide Number Placeholder 6">
            <a:extLst>
              <a:ext uri="{FF2B5EF4-FFF2-40B4-BE49-F238E27FC236}">
                <a16:creationId xmlns:a16="http://schemas.microsoft.com/office/drawing/2014/main" id="{E4C813E0-157C-4953-92D6-E768D8848238}"/>
              </a:ext>
            </a:extLst>
          </p:cNvPr>
          <p:cNvSpPr>
            <a:spLocks noGrp="1"/>
          </p:cNvSpPr>
          <p:nvPr>
            <p:ph type="sldNum" sz="quarter" idx="12"/>
          </p:nvPr>
        </p:nvSpPr>
        <p:spPr/>
        <p:txBody>
          <a:bodyPr/>
          <a:lstStyle/>
          <a:p>
            <a:fld id="{6B97D948-30E8-43F7-AE10-F6E2D9F2BBB1}" type="slidenum">
              <a:rPr lang="en-US" smtClean="0"/>
              <a:t>691</a:t>
            </a:fld>
            <a:endParaRPr lang="en-US"/>
          </a:p>
        </p:txBody>
      </p:sp>
    </p:spTree>
    <p:extLst>
      <p:ext uri="{BB962C8B-B14F-4D97-AF65-F5344CB8AC3E}">
        <p14:creationId xmlns:p14="http://schemas.microsoft.com/office/powerpoint/2010/main" val="854900316"/>
      </p:ext>
    </p:extLst>
  </p:cSld>
  <p:clrMapOvr>
    <a:masterClrMapping/>
  </p:clrMapOvr>
</p:sld>
</file>

<file path=ppt/slides/slide6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40876-539A-4270-8B56-4A089CEB049F}"/>
              </a:ext>
            </a:extLst>
          </p:cNvPr>
          <p:cNvSpPr>
            <a:spLocks noGrp="1"/>
          </p:cNvSpPr>
          <p:nvPr>
            <p:ph type="title"/>
          </p:nvPr>
        </p:nvSpPr>
        <p:spPr>
          <a:xfrm>
            <a:off x="838200" y="365125"/>
            <a:ext cx="10515600" cy="752475"/>
          </a:xfrm>
        </p:spPr>
        <p:txBody>
          <a:bodyPr/>
          <a:lstStyle/>
          <a:p>
            <a:r>
              <a:rPr lang="en-US" dirty="0"/>
              <a:t>Models</a:t>
            </a:r>
          </a:p>
        </p:txBody>
      </p:sp>
      <p:pic>
        <p:nvPicPr>
          <p:cNvPr id="8" name="Content Placeholder 7">
            <a:extLst>
              <a:ext uri="{FF2B5EF4-FFF2-40B4-BE49-F238E27FC236}">
                <a16:creationId xmlns:a16="http://schemas.microsoft.com/office/drawing/2014/main" id="{B56AC53B-000C-4DB8-B7DB-77729A2F98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4825" y="2489200"/>
            <a:ext cx="9783380" cy="3052415"/>
          </a:xfrm>
        </p:spPr>
      </p:pic>
      <p:sp>
        <p:nvSpPr>
          <p:cNvPr id="10" name="Slide Number Placeholder 9">
            <a:extLst>
              <a:ext uri="{FF2B5EF4-FFF2-40B4-BE49-F238E27FC236}">
                <a16:creationId xmlns:a16="http://schemas.microsoft.com/office/drawing/2014/main" id="{6EC67F76-23FD-49EE-BCBB-10A1A2C3012D}"/>
              </a:ext>
            </a:extLst>
          </p:cNvPr>
          <p:cNvSpPr>
            <a:spLocks noGrp="1"/>
          </p:cNvSpPr>
          <p:nvPr>
            <p:ph type="sldNum" sz="quarter" idx="12"/>
          </p:nvPr>
        </p:nvSpPr>
        <p:spPr/>
        <p:txBody>
          <a:bodyPr/>
          <a:lstStyle/>
          <a:p>
            <a:fld id="{6B97D948-30E8-43F7-AE10-F6E2D9F2BBB1}" type="slidenum">
              <a:rPr lang="en-US" smtClean="0"/>
              <a:t>692</a:t>
            </a:fld>
            <a:endParaRPr lang="en-US"/>
          </a:p>
        </p:txBody>
      </p:sp>
    </p:spTree>
    <p:extLst>
      <p:ext uri="{BB962C8B-B14F-4D97-AF65-F5344CB8AC3E}">
        <p14:creationId xmlns:p14="http://schemas.microsoft.com/office/powerpoint/2010/main" val="2598198206"/>
      </p:ext>
    </p:extLst>
  </p:cSld>
  <p:clrMapOvr>
    <a:masterClrMapping/>
  </p:clrMapOvr>
</p:sld>
</file>

<file path=ppt/slides/slide6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29341A-0017-4D18-B3D6-EE3CDB0293E7}"/>
              </a:ext>
            </a:extLst>
          </p:cNvPr>
          <p:cNvSpPr>
            <a:spLocks noGrp="1"/>
          </p:cNvSpPr>
          <p:nvPr>
            <p:ph idx="1"/>
          </p:nvPr>
        </p:nvSpPr>
        <p:spPr>
          <a:xfrm>
            <a:off x="838200" y="419100"/>
            <a:ext cx="10515600" cy="5757863"/>
          </a:xfrm>
        </p:spPr>
        <p:txBody>
          <a:bodyPr/>
          <a:lstStyle/>
          <a:p>
            <a:pPr algn="just"/>
            <a:r>
              <a:rPr lang="en-US" dirty="0"/>
              <a:t>When we use our model to make predictions on the same data that was used to fit the model, we find that the MSE decreases with increasingly complex models. </a:t>
            </a:r>
          </a:p>
          <a:p>
            <a:pPr algn="just"/>
            <a:r>
              <a:rPr lang="en-US" i="1" dirty="0"/>
              <a:t>The training error is the model’s error when generating predictions from the same data that was used for training purposes</a:t>
            </a:r>
            <a:r>
              <a:rPr lang="en-US" dirty="0"/>
              <a:t>. </a:t>
            </a:r>
          </a:p>
          <a:p>
            <a:pPr algn="just"/>
            <a:endParaRPr lang="en-US" dirty="0"/>
          </a:p>
          <a:p>
            <a:pPr algn="just"/>
            <a:r>
              <a:rPr lang="en-US" dirty="0"/>
              <a:t>We can conclude that the training error goes down as the complexity of the model increases.</a:t>
            </a:r>
          </a:p>
        </p:txBody>
      </p:sp>
      <p:sp>
        <p:nvSpPr>
          <p:cNvPr id="5" name="Slide Number Placeholder 4">
            <a:extLst>
              <a:ext uri="{FF2B5EF4-FFF2-40B4-BE49-F238E27FC236}">
                <a16:creationId xmlns:a16="http://schemas.microsoft.com/office/drawing/2014/main" id="{57C9AE49-B059-483D-9E6A-6F39EDA03B3F}"/>
              </a:ext>
            </a:extLst>
          </p:cNvPr>
          <p:cNvSpPr>
            <a:spLocks noGrp="1"/>
          </p:cNvSpPr>
          <p:nvPr>
            <p:ph type="sldNum" sz="quarter" idx="12"/>
          </p:nvPr>
        </p:nvSpPr>
        <p:spPr/>
        <p:txBody>
          <a:bodyPr/>
          <a:lstStyle/>
          <a:p>
            <a:fld id="{6B97D948-30E8-43F7-AE10-F6E2D9F2BBB1}" type="slidenum">
              <a:rPr lang="en-US" smtClean="0"/>
              <a:t>693</a:t>
            </a:fld>
            <a:endParaRPr lang="en-US"/>
          </a:p>
        </p:txBody>
      </p:sp>
    </p:spTree>
    <p:extLst>
      <p:ext uri="{BB962C8B-B14F-4D97-AF65-F5344CB8AC3E}">
        <p14:creationId xmlns:p14="http://schemas.microsoft.com/office/powerpoint/2010/main" val="199926016"/>
      </p:ext>
    </p:extLst>
  </p:cSld>
  <p:clrMapOvr>
    <a:masterClrMapping/>
  </p:clrMapOvr>
</p:sld>
</file>

<file path=ppt/slides/slide6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A7FC827-D032-4D90-A3C7-F407B5B2AB5E}"/>
              </a:ext>
            </a:extLst>
          </p:cNvPr>
          <p:cNvPicPr>
            <a:picLocks noGrp="1" noChangeAspect="1"/>
          </p:cNvPicPr>
          <p:nvPr>
            <p:ph idx="1"/>
          </p:nvPr>
        </p:nvPicPr>
        <p:blipFill>
          <a:blip r:embed="rId2"/>
          <a:stretch>
            <a:fillRect/>
          </a:stretch>
        </p:blipFill>
        <p:spPr>
          <a:xfrm>
            <a:off x="2870201" y="1036774"/>
            <a:ext cx="5593222" cy="5140189"/>
          </a:xfrm>
          <a:prstGeom prst="rect">
            <a:avLst/>
          </a:prstGeom>
        </p:spPr>
      </p:pic>
      <p:sp>
        <p:nvSpPr>
          <p:cNvPr id="6" name="Slide Number Placeholder 5">
            <a:extLst>
              <a:ext uri="{FF2B5EF4-FFF2-40B4-BE49-F238E27FC236}">
                <a16:creationId xmlns:a16="http://schemas.microsoft.com/office/drawing/2014/main" id="{FD7337DC-8B82-48CF-90FD-C127930FA638}"/>
              </a:ext>
            </a:extLst>
          </p:cNvPr>
          <p:cNvSpPr>
            <a:spLocks noGrp="1"/>
          </p:cNvSpPr>
          <p:nvPr>
            <p:ph type="sldNum" sz="quarter" idx="12"/>
          </p:nvPr>
        </p:nvSpPr>
        <p:spPr/>
        <p:txBody>
          <a:bodyPr/>
          <a:lstStyle/>
          <a:p>
            <a:fld id="{6B97D948-30E8-43F7-AE10-F6E2D9F2BBB1}" type="slidenum">
              <a:rPr lang="en-US" smtClean="0"/>
              <a:t>694</a:t>
            </a:fld>
            <a:endParaRPr lang="en-US"/>
          </a:p>
        </p:txBody>
      </p:sp>
    </p:spTree>
    <p:extLst>
      <p:ext uri="{BB962C8B-B14F-4D97-AF65-F5344CB8AC3E}">
        <p14:creationId xmlns:p14="http://schemas.microsoft.com/office/powerpoint/2010/main" val="541492288"/>
      </p:ext>
    </p:extLst>
  </p:cSld>
  <p:clrMapOvr>
    <a:masterClrMapping/>
  </p:clrMapOvr>
</p:sld>
</file>

<file path=ppt/slides/slide6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68E1A-9877-47DA-8EA7-1EDE720B1360}"/>
              </a:ext>
            </a:extLst>
          </p:cNvPr>
          <p:cNvSpPr>
            <a:spLocks noGrp="1"/>
          </p:cNvSpPr>
          <p:nvPr>
            <p:ph idx="1"/>
          </p:nvPr>
        </p:nvSpPr>
        <p:spPr>
          <a:xfrm>
            <a:off x="838200" y="495300"/>
            <a:ext cx="10515600" cy="5681663"/>
          </a:xfrm>
        </p:spPr>
        <p:txBody>
          <a:bodyPr>
            <a:normAutofit fontScale="92500" lnSpcReduction="10000"/>
          </a:bodyPr>
          <a:lstStyle/>
          <a:p>
            <a:pPr algn="just"/>
            <a:r>
              <a:rPr lang="en-US" dirty="0"/>
              <a:t>Seems like a good deal </a:t>
            </a:r>
            <a:r>
              <a:rPr lang="en-US" dirty="0" err="1"/>
              <a:t>ie</a:t>
            </a:r>
            <a:r>
              <a:rPr lang="en-US" dirty="0"/>
              <a:t>. when working on the training data, we can improve model performance by designing increasingly complex models.</a:t>
            </a:r>
          </a:p>
          <a:p>
            <a:pPr algn="just"/>
            <a:endParaRPr lang="en-US" dirty="0"/>
          </a:p>
          <a:p>
            <a:pPr algn="just"/>
            <a:r>
              <a:rPr lang="en-US" dirty="0"/>
              <a:t>However, high model complexity comes with its own set of issues. </a:t>
            </a:r>
          </a:p>
          <a:p>
            <a:pPr algn="just"/>
            <a:endParaRPr lang="en-US" dirty="0"/>
          </a:p>
          <a:p>
            <a:pPr algn="just"/>
            <a:r>
              <a:rPr lang="en-US" dirty="0"/>
              <a:t>When a model has many complicated features, it becomes increasingly sensitive to the data used to fit it. </a:t>
            </a:r>
          </a:p>
          <a:p>
            <a:pPr algn="just"/>
            <a:endParaRPr lang="en-US" dirty="0"/>
          </a:p>
          <a:p>
            <a:pPr algn="just"/>
            <a:r>
              <a:rPr lang="en-US" dirty="0"/>
              <a:t>Even a small variation in the data points used to train the model may result in wildly different results for the fitted model. </a:t>
            </a:r>
          </a:p>
          <a:p>
            <a:pPr algn="just"/>
            <a:endParaRPr lang="en-US" dirty="0"/>
          </a:p>
          <a:p>
            <a:pPr algn="just"/>
            <a:r>
              <a:rPr lang="en-US" dirty="0"/>
              <a:t>The plots below illustrate this idea. In each case, we’ve fit a model to two very similar sets of data (in fact, they only differ by two data points!). </a:t>
            </a:r>
          </a:p>
        </p:txBody>
      </p:sp>
      <p:sp>
        <p:nvSpPr>
          <p:cNvPr id="5" name="Slide Number Placeholder 4">
            <a:extLst>
              <a:ext uri="{FF2B5EF4-FFF2-40B4-BE49-F238E27FC236}">
                <a16:creationId xmlns:a16="http://schemas.microsoft.com/office/drawing/2014/main" id="{EC88EFC6-90D3-438D-8C12-AA56CF87DE61}"/>
              </a:ext>
            </a:extLst>
          </p:cNvPr>
          <p:cNvSpPr>
            <a:spLocks noGrp="1"/>
          </p:cNvSpPr>
          <p:nvPr>
            <p:ph type="sldNum" sz="quarter" idx="12"/>
          </p:nvPr>
        </p:nvSpPr>
        <p:spPr/>
        <p:txBody>
          <a:bodyPr/>
          <a:lstStyle/>
          <a:p>
            <a:fld id="{6B97D948-30E8-43F7-AE10-F6E2D9F2BBB1}" type="slidenum">
              <a:rPr lang="en-US" smtClean="0"/>
              <a:t>695</a:t>
            </a:fld>
            <a:endParaRPr lang="en-US"/>
          </a:p>
        </p:txBody>
      </p:sp>
    </p:spTree>
    <p:extLst>
      <p:ext uri="{BB962C8B-B14F-4D97-AF65-F5344CB8AC3E}">
        <p14:creationId xmlns:p14="http://schemas.microsoft.com/office/powerpoint/2010/main" val="3919662690"/>
      </p:ext>
    </p:extLst>
  </p:cSld>
  <p:clrMapOvr>
    <a:masterClrMapping/>
  </p:clrMapOvr>
</p:sld>
</file>

<file path=ppt/slides/slide6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D48585-4A46-4A54-B98E-D0D32F5C78F2}"/>
              </a:ext>
            </a:extLst>
          </p:cNvPr>
          <p:cNvSpPr>
            <a:spLocks noGrp="1"/>
          </p:cNvSpPr>
          <p:nvPr>
            <p:ph idx="1"/>
          </p:nvPr>
        </p:nvSpPr>
        <p:spPr>
          <a:xfrm>
            <a:off x="838200" y="431800"/>
            <a:ext cx="10515600" cy="5745163"/>
          </a:xfrm>
        </p:spPr>
        <p:txBody>
          <a:bodyPr/>
          <a:lstStyle/>
          <a:p>
            <a:pPr algn="just"/>
            <a:r>
              <a:rPr lang="en-US" dirty="0"/>
              <a:t>Notice that the model with order 2 appears roughly the same across the two sets of data; in contrast, the model with order 4 changes erratically across the two datasets.</a:t>
            </a:r>
          </a:p>
        </p:txBody>
      </p:sp>
      <p:sp>
        <p:nvSpPr>
          <p:cNvPr id="5" name="Slide Number Placeholder 4">
            <a:extLst>
              <a:ext uri="{FF2B5EF4-FFF2-40B4-BE49-F238E27FC236}">
                <a16:creationId xmlns:a16="http://schemas.microsoft.com/office/drawing/2014/main" id="{160C9523-94BA-419B-83E9-5C2CA5938B95}"/>
              </a:ext>
            </a:extLst>
          </p:cNvPr>
          <p:cNvSpPr>
            <a:spLocks noGrp="1"/>
          </p:cNvSpPr>
          <p:nvPr>
            <p:ph type="sldNum" sz="quarter" idx="12"/>
          </p:nvPr>
        </p:nvSpPr>
        <p:spPr/>
        <p:txBody>
          <a:bodyPr/>
          <a:lstStyle/>
          <a:p>
            <a:fld id="{6B97D948-30E8-43F7-AE10-F6E2D9F2BBB1}" type="slidenum">
              <a:rPr lang="en-US" smtClean="0"/>
              <a:t>696</a:t>
            </a:fld>
            <a:endParaRPr lang="en-US"/>
          </a:p>
        </p:txBody>
      </p:sp>
    </p:spTree>
    <p:extLst>
      <p:ext uri="{BB962C8B-B14F-4D97-AF65-F5344CB8AC3E}">
        <p14:creationId xmlns:p14="http://schemas.microsoft.com/office/powerpoint/2010/main" val="4226507142"/>
      </p:ext>
    </p:extLst>
  </p:cSld>
  <p:clrMapOvr>
    <a:masterClrMapping/>
  </p:clrMapOvr>
</p:sld>
</file>

<file path=ppt/slides/slide6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ACC361-DAD8-447D-AC39-73B528DB63FB}"/>
              </a:ext>
            </a:extLst>
          </p:cNvPr>
          <p:cNvPicPr>
            <a:picLocks noGrp="1" noChangeAspect="1"/>
          </p:cNvPicPr>
          <p:nvPr>
            <p:ph idx="1"/>
          </p:nvPr>
        </p:nvPicPr>
        <p:blipFill>
          <a:blip r:embed="rId2"/>
          <a:stretch>
            <a:fillRect/>
          </a:stretch>
        </p:blipFill>
        <p:spPr>
          <a:xfrm>
            <a:off x="2374900" y="679312"/>
            <a:ext cx="6938302" cy="5624651"/>
          </a:xfrm>
        </p:spPr>
      </p:pic>
      <p:sp>
        <p:nvSpPr>
          <p:cNvPr id="7" name="Slide Number Placeholder 6">
            <a:extLst>
              <a:ext uri="{FF2B5EF4-FFF2-40B4-BE49-F238E27FC236}">
                <a16:creationId xmlns:a16="http://schemas.microsoft.com/office/drawing/2014/main" id="{CAE04552-2B81-4EDD-B2AA-F047B53244AE}"/>
              </a:ext>
            </a:extLst>
          </p:cNvPr>
          <p:cNvSpPr>
            <a:spLocks noGrp="1"/>
          </p:cNvSpPr>
          <p:nvPr>
            <p:ph type="sldNum" sz="quarter" idx="12"/>
          </p:nvPr>
        </p:nvSpPr>
        <p:spPr/>
        <p:txBody>
          <a:bodyPr/>
          <a:lstStyle/>
          <a:p>
            <a:fld id="{6B97D948-30E8-43F7-AE10-F6E2D9F2BBB1}" type="slidenum">
              <a:rPr lang="en-US" smtClean="0"/>
              <a:t>697</a:t>
            </a:fld>
            <a:endParaRPr lang="en-US"/>
          </a:p>
        </p:txBody>
      </p:sp>
    </p:spTree>
    <p:extLst>
      <p:ext uri="{BB962C8B-B14F-4D97-AF65-F5344CB8AC3E}">
        <p14:creationId xmlns:p14="http://schemas.microsoft.com/office/powerpoint/2010/main" val="760066579"/>
      </p:ext>
    </p:extLst>
  </p:cSld>
  <p:clrMapOvr>
    <a:masterClrMapping/>
  </p:clrMapOvr>
</p:sld>
</file>

<file path=ppt/slides/slide6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99B4D0-D47E-44D1-A065-455E79DEEE7A}"/>
              </a:ext>
            </a:extLst>
          </p:cNvPr>
          <p:cNvSpPr>
            <a:spLocks noGrp="1"/>
          </p:cNvSpPr>
          <p:nvPr>
            <p:ph idx="1"/>
          </p:nvPr>
        </p:nvSpPr>
        <p:spPr>
          <a:xfrm>
            <a:off x="838200" y="622300"/>
            <a:ext cx="10515600" cy="5554663"/>
          </a:xfrm>
        </p:spPr>
        <p:txBody>
          <a:bodyPr/>
          <a:lstStyle/>
          <a:p>
            <a:pPr algn="just"/>
            <a:r>
              <a:rPr lang="en-US" dirty="0"/>
              <a:t>The </a:t>
            </a:r>
            <a:r>
              <a:rPr lang="en-US" dirty="0">
                <a:solidFill>
                  <a:srgbClr val="FF0000"/>
                </a:solidFill>
              </a:rPr>
              <a:t>sensitivity</a:t>
            </a:r>
            <a:r>
              <a:rPr lang="en-US" dirty="0"/>
              <a:t> of the model to the data used to train it is called the </a:t>
            </a:r>
            <a:r>
              <a:rPr lang="en-US" dirty="0">
                <a:solidFill>
                  <a:srgbClr val="FF0000"/>
                </a:solidFill>
              </a:rPr>
              <a:t>model variance</a:t>
            </a:r>
            <a:r>
              <a:rPr lang="en-US" dirty="0"/>
              <a:t>. </a:t>
            </a:r>
          </a:p>
          <a:p>
            <a:pPr algn="just"/>
            <a:endParaRPr lang="en-US" dirty="0"/>
          </a:p>
          <a:p>
            <a:pPr algn="just"/>
            <a:r>
              <a:rPr lang="en-US" dirty="0"/>
              <a:t>A model with </a:t>
            </a:r>
            <a:r>
              <a:rPr lang="en-US" dirty="0">
                <a:solidFill>
                  <a:srgbClr val="FF0000"/>
                </a:solidFill>
              </a:rPr>
              <a:t>high variance tends to vary more dramatically when trained on different datasets</a:t>
            </a:r>
            <a:r>
              <a:rPr lang="en-US" dirty="0"/>
              <a:t>. </a:t>
            </a:r>
          </a:p>
          <a:p>
            <a:pPr algn="just"/>
            <a:endParaRPr lang="en-US" dirty="0"/>
          </a:p>
          <a:p>
            <a:pPr algn="just"/>
            <a:r>
              <a:rPr lang="en-US" dirty="0"/>
              <a:t>As we saw above, model variance tends to increase with model complexity.</a:t>
            </a:r>
          </a:p>
        </p:txBody>
      </p:sp>
      <p:sp>
        <p:nvSpPr>
          <p:cNvPr id="5" name="Slide Number Placeholder 4">
            <a:extLst>
              <a:ext uri="{FF2B5EF4-FFF2-40B4-BE49-F238E27FC236}">
                <a16:creationId xmlns:a16="http://schemas.microsoft.com/office/drawing/2014/main" id="{31A95804-8C29-4292-A4FE-0F415CA1AB06}"/>
              </a:ext>
            </a:extLst>
          </p:cNvPr>
          <p:cNvSpPr>
            <a:spLocks noGrp="1"/>
          </p:cNvSpPr>
          <p:nvPr>
            <p:ph type="sldNum" sz="quarter" idx="12"/>
          </p:nvPr>
        </p:nvSpPr>
        <p:spPr/>
        <p:txBody>
          <a:bodyPr/>
          <a:lstStyle/>
          <a:p>
            <a:fld id="{6B97D948-30E8-43F7-AE10-F6E2D9F2BBB1}" type="slidenum">
              <a:rPr lang="en-US" smtClean="0"/>
              <a:t>698</a:t>
            </a:fld>
            <a:endParaRPr lang="en-US"/>
          </a:p>
        </p:txBody>
      </p:sp>
    </p:spTree>
    <p:extLst>
      <p:ext uri="{BB962C8B-B14F-4D97-AF65-F5344CB8AC3E}">
        <p14:creationId xmlns:p14="http://schemas.microsoft.com/office/powerpoint/2010/main" val="1714545943"/>
      </p:ext>
    </p:extLst>
  </p:cSld>
  <p:clrMapOvr>
    <a:masterClrMapping/>
  </p:clrMapOvr>
</p:sld>
</file>

<file path=ppt/slides/slide6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EBCAE69-4685-431B-8448-B6D10B6C5C3C}"/>
              </a:ext>
            </a:extLst>
          </p:cNvPr>
          <p:cNvPicPr>
            <a:picLocks noGrp="1" noChangeAspect="1"/>
          </p:cNvPicPr>
          <p:nvPr>
            <p:ph idx="1"/>
          </p:nvPr>
        </p:nvPicPr>
        <p:blipFill>
          <a:blip r:embed="rId2"/>
          <a:stretch>
            <a:fillRect/>
          </a:stretch>
        </p:blipFill>
        <p:spPr>
          <a:xfrm>
            <a:off x="2400300" y="664000"/>
            <a:ext cx="6190467" cy="5398663"/>
          </a:xfrm>
          <a:prstGeom prst="rect">
            <a:avLst/>
          </a:prstGeom>
        </p:spPr>
      </p:pic>
      <p:sp>
        <p:nvSpPr>
          <p:cNvPr id="6" name="Slide Number Placeholder 5">
            <a:extLst>
              <a:ext uri="{FF2B5EF4-FFF2-40B4-BE49-F238E27FC236}">
                <a16:creationId xmlns:a16="http://schemas.microsoft.com/office/drawing/2014/main" id="{822FCF9B-7A58-4425-825A-D979AC8A6655}"/>
              </a:ext>
            </a:extLst>
          </p:cNvPr>
          <p:cNvSpPr>
            <a:spLocks noGrp="1"/>
          </p:cNvSpPr>
          <p:nvPr>
            <p:ph type="sldNum" sz="quarter" idx="12"/>
          </p:nvPr>
        </p:nvSpPr>
        <p:spPr/>
        <p:txBody>
          <a:bodyPr/>
          <a:lstStyle/>
          <a:p>
            <a:fld id="{6B97D948-30E8-43F7-AE10-F6E2D9F2BBB1}" type="slidenum">
              <a:rPr lang="en-US" smtClean="0"/>
              <a:t>699</a:t>
            </a:fld>
            <a:endParaRPr lang="en-US"/>
          </a:p>
        </p:txBody>
      </p:sp>
    </p:spTree>
    <p:extLst>
      <p:ext uri="{BB962C8B-B14F-4D97-AF65-F5344CB8AC3E}">
        <p14:creationId xmlns:p14="http://schemas.microsoft.com/office/powerpoint/2010/main" val="640189940"/>
      </p:ext>
    </p:extLst>
  </p:cSld>
  <p:clrMapOvr>
    <a:masterClrMapping/>
  </p:clrMapOvr>
</p:sld>
</file>

<file path=ppt/slides/slide7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EFDF21-C3AD-4426-A8DA-4182FCDE9A3D}"/>
              </a:ext>
            </a:extLst>
          </p:cNvPr>
          <p:cNvSpPr>
            <a:spLocks noGrp="1"/>
          </p:cNvSpPr>
          <p:nvPr>
            <p:ph idx="1"/>
          </p:nvPr>
        </p:nvSpPr>
        <p:spPr>
          <a:xfrm>
            <a:off x="838200" y="520700"/>
            <a:ext cx="10515600" cy="5656263"/>
          </a:xfrm>
        </p:spPr>
        <p:txBody>
          <a:bodyPr>
            <a:normAutofit lnSpcReduction="10000"/>
          </a:bodyPr>
          <a:lstStyle/>
          <a:p>
            <a:pPr algn="just"/>
            <a:r>
              <a:rPr lang="en-US" dirty="0"/>
              <a:t>We can see that there is a clear </a:t>
            </a:r>
            <a:r>
              <a:rPr lang="en-US" dirty="0">
                <a:solidFill>
                  <a:srgbClr val="FF0000"/>
                </a:solidFill>
              </a:rPr>
              <a:t>“trade-off” </a:t>
            </a:r>
            <a:r>
              <a:rPr lang="en-US" dirty="0"/>
              <a:t>that comes from the complexity of our model. </a:t>
            </a:r>
          </a:p>
          <a:p>
            <a:pPr algn="just"/>
            <a:r>
              <a:rPr lang="en-US" dirty="0"/>
              <a:t>As </a:t>
            </a:r>
            <a:r>
              <a:rPr lang="en-US" dirty="0">
                <a:solidFill>
                  <a:srgbClr val="FF0000"/>
                </a:solidFill>
              </a:rPr>
              <a:t>model complexity increases</a:t>
            </a:r>
            <a:r>
              <a:rPr lang="en-US" dirty="0"/>
              <a:t>, </a:t>
            </a:r>
            <a:r>
              <a:rPr lang="en-US" dirty="0">
                <a:solidFill>
                  <a:srgbClr val="C00000"/>
                </a:solidFill>
              </a:rPr>
              <a:t>the model’s error on the training data decreases</a:t>
            </a:r>
            <a:r>
              <a:rPr lang="en-US" dirty="0"/>
              <a:t>. </a:t>
            </a:r>
            <a:r>
              <a:rPr lang="en-US" dirty="0">
                <a:solidFill>
                  <a:srgbClr val="002060"/>
                </a:solidFill>
              </a:rPr>
              <a:t>At the same time, the model’s variance tends to increase</a:t>
            </a:r>
            <a:r>
              <a:rPr lang="en-US" dirty="0"/>
              <a:t>.</a:t>
            </a:r>
          </a:p>
          <a:p>
            <a:pPr algn="just"/>
            <a:endParaRPr lang="en-US" dirty="0"/>
          </a:p>
          <a:p>
            <a:pPr algn="just"/>
            <a:r>
              <a:rPr lang="en-US" dirty="0"/>
              <a:t>Why does this matter? </a:t>
            </a:r>
          </a:p>
          <a:p>
            <a:pPr algn="just"/>
            <a:endParaRPr lang="en-US" dirty="0"/>
          </a:p>
          <a:p>
            <a:pPr algn="just"/>
            <a:r>
              <a:rPr lang="en-US" dirty="0"/>
              <a:t>To answer this question, let’s take a moment to review our modeling workflow when making predictions on new data.</a:t>
            </a:r>
          </a:p>
          <a:p>
            <a:pPr algn="just"/>
            <a:r>
              <a:rPr lang="en-US" dirty="0"/>
              <a:t>    </a:t>
            </a:r>
            <a:r>
              <a:rPr lang="en-US" dirty="0">
                <a:solidFill>
                  <a:srgbClr val="00B0F0"/>
                </a:solidFill>
              </a:rPr>
              <a:t>Sample a dataset of training data from the real world</a:t>
            </a:r>
          </a:p>
          <a:p>
            <a:pPr algn="just"/>
            <a:r>
              <a:rPr lang="en-US" dirty="0">
                <a:solidFill>
                  <a:srgbClr val="00B0F0"/>
                </a:solidFill>
              </a:rPr>
              <a:t>    Use this training data to fit a model</a:t>
            </a:r>
          </a:p>
          <a:p>
            <a:pPr algn="just"/>
            <a:r>
              <a:rPr lang="en-US" dirty="0">
                <a:solidFill>
                  <a:srgbClr val="00B0F0"/>
                </a:solidFill>
              </a:rPr>
              <a:t>    Apply this fitted model to generate predictions on unseen data</a:t>
            </a:r>
          </a:p>
          <a:p>
            <a:pPr algn="just"/>
            <a:endParaRPr lang="en-US" dirty="0"/>
          </a:p>
        </p:txBody>
      </p:sp>
      <p:sp>
        <p:nvSpPr>
          <p:cNvPr id="5" name="Slide Number Placeholder 4">
            <a:extLst>
              <a:ext uri="{FF2B5EF4-FFF2-40B4-BE49-F238E27FC236}">
                <a16:creationId xmlns:a16="http://schemas.microsoft.com/office/drawing/2014/main" id="{D89E3EEC-4947-4A94-B966-8368B079990A}"/>
              </a:ext>
            </a:extLst>
          </p:cNvPr>
          <p:cNvSpPr>
            <a:spLocks noGrp="1"/>
          </p:cNvSpPr>
          <p:nvPr>
            <p:ph type="sldNum" sz="quarter" idx="12"/>
          </p:nvPr>
        </p:nvSpPr>
        <p:spPr/>
        <p:txBody>
          <a:bodyPr/>
          <a:lstStyle/>
          <a:p>
            <a:fld id="{6B97D948-30E8-43F7-AE10-F6E2D9F2BBB1}" type="slidenum">
              <a:rPr lang="en-US" smtClean="0"/>
              <a:t>700</a:t>
            </a:fld>
            <a:endParaRPr lang="en-US"/>
          </a:p>
        </p:txBody>
      </p:sp>
    </p:spTree>
    <p:extLst>
      <p:ext uri="{BB962C8B-B14F-4D97-AF65-F5344CB8AC3E}">
        <p14:creationId xmlns:p14="http://schemas.microsoft.com/office/powerpoint/2010/main" val="2007081490"/>
      </p:ext>
    </p:extLst>
  </p:cSld>
  <p:clrMapOvr>
    <a:masterClrMapping/>
  </p:clrMapOvr>
</p:sld>
</file>

<file path=ppt/slides/slide7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C0B9B-31F3-4D6B-99AF-6878D5CBA173}"/>
              </a:ext>
            </a:extLst>
          </p:cNvPr>
          <p:cNvSpPr>
            <a:spLocks noGrp="1"/>
          </p:cNvSpPr>
          <p:nvPr>
            <p:ph idx="1"/>
          </p:nvPr>
        </p:nvSpPr>
        <p:spPr>
          <a:xfrm>
            <a:off x="838200" y="406400"/>
            <a:ext cx="10515600" cy="5770563"/>
          </a:xfrm>
        </p:spPr>
        <p:txBody>
          <a:bodyPr>
            <a:normAutofit/>
          </a:bodyPr>
          <a:lstStyle/>
          <a:p>
            <a:pPr algn="just"/>
            <a:r>
              <a:rPr lang="en-US" dirty="0"/>
              <a:t>This first step – sampling training data – is important to remember in our analysis. </a:t>
            </a:r>
          </a:p>
          <a:p>
            <a:pPr algn="just"/>
            <a:endParaRPr lang="en-US" dirty="0"/>
          </a:p>
          <a:p>
            <a:pPr algn="just"/>
            <a:r>
              <a:rPr lang="en-US" dirty="0"/>
              <a:t>As we saw above, a highly complex model may produce results that vary wildly across different samples of training data. </a:t>
            </a:r>
          </a:p>
          <a:p>
            <a:pPr algn="just"/>
            <a:endParaRPr lang="en-US" dirty="0"/>
          </a:p>
          <a:p>
            <a:pPr algn="just"/>
            <a:r>
              <a:rPr lang="en-US" dirty="0"/>
              <a:t>If we happen to sample a set of training data that is a poor representation of the population we are trying to model, our model may perform poorly on any new set of data it has not “seen” before during training.</a:t>
            </a:r>
          </a:p>
          <a:p>
            <a:pPr algn="just"/>
            <a:endParaRPr lang="en-US" dirty="0"/>
          </a:p>
        </p:txBody>
      </p:sp>
      <p:sp>
        <p:nvSpPr>
          <p:cNvPr id="5" name="Slide Number Placeholder 4">
            <a:extLst>
              <a:ext uri="{FF2B5EF4-FFF2-40B4-BE49-F238E27FC236}">
                <a16:creationId xmlns:a16="http://schemas.microsoft.com/office/drawing/2014/main" id="{EEB94973-878D-4E62-AFBE-04A2BF345145}"/>
              </a:ext>
            </a:extLst>
          </p:cNvPr>
          <p:cNvSpPr>
            <a:spLocks noGrp="1"/>
          </p:cNvSpPr>
          <p:nvPr>
            <p:ph type="sldNum" sz="quarter" idx="12"/>
          </p:nvPr>
        </p:nvSpPr>
        <p:spPr/>
        <p:txBody>
          <a:bodyPr/>
          <a:lstStyle/>
          <a:p>
            <a:fld id="{6B97D948-30E8-43F7-AE10-F6E2D9F2BBB1}" type="slidenum">
              <a:rPr lang="en-US" smtClean="0"/>
              <a:t>701</a:t>
            </a:fld>
            <a:endParaRPr lang="en-US"/>
          </a:p>
        </p:txBody>
      </p:sp>
    </p:spTree>
    <p:extLst>
      <p:ext uri="{BB962C8B-B14F-4D97-AF65-F5344CB8AC3E}">
        <p14:creationId xmlns:p14="http://schemas.microsoft.com/office/powerpoint/2010/main" val="4053895633"/>
      </p:ext>
    </p:extLst>
  </p:cSld>
  <p:clrMapOvr>
    <a:masterClrMapping/>
  </p:clrMapOvr>
</p:sld>
</file>

<file path=ppt/slides/slide7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AB185-BF10-4A32-BD75-E80001B9763A}"/>
              </a:ext>
            </a:extLst>
          </p:cNvPr>
          <p:cNvSpPr>
            <a:spLocks noGrp="1"/>
          </p:cNvSpPr>
          <p:nvPr>
            <p:ph idx="1"/>
          </p:nvPr>
        </p:nvSpPr>
        <p:spPr>
          <a:xfrm>
            <a:off x="838200" y="609600"/>
            <a:ext cx="10515600" cy="5567363"/>
          </a:xfrm>
        </p:spPr>
        <p:txBody>
          <a:bodyPr>
            <a:normAutofit/>
          </a:bodyPr>
          <a:lstStyle/>
          <a:p>
            <a:pPr algn="just"/>
            <a:r>
              <a:rPr lang="en-US" dirty="0"/>
              <a:t>To see why, consider a model fit using the training data shown on the left. </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Because the model is so complex, it achieves zero error on the training set – it perfectly predicts each value in the training data! </a:t>
            </a:r>
          </a:p>
        </p:txBody>
      </p:sp>
      <p:pic>
        <p:nvPicPr>
          <p:cNvPr id="5" name="Picture 4">
            <a:extLst>
              <a:ext uri="{FF2B5EF4-FFF2-40B4-BE49-F238E27FC236}">
                <a16:creationId xmlns:a16="http://schemas.microsoft.com/office/drawing/2014/main" id="{C1F03552-F4CC-4B57-8022-F58CD4D7CBAD}"/>
              </a:ext>
            </a:extLst>
          </p:cNvPr>
          <p:cNvPicPr>
            <a:picLocks noChangeAspect="1"/>
          </p:cNvPicPr>
          <p:nvPr/>
        </p:nvPicPr>
        <p:blipFill>
          <a:blip r:embed="rId2"/>
          <a:stretch>
            <a:fillRect/>
          </a:stretch>
        </p:blipFill>
        <p:spPr>
          <a:xfrm>
            <a:off x="2524125" y="1411287"/>
            <a:ext cx="7143750" cy="3171825"/>
          </a:xfrm>
          <a:prstGeom prst="rect">
            <a:avLst/>
          </a:prstGeom>
        </p:spPr>
      </p:pic>
      <p:sp>
        <p:nvSpPr>
          <p:cNvPr id="7" name="Slide Number Placeholder 6">
            <a:extLst>
              <a:ext uri="{FF2B5EF4-FFF2-40B4-BE49-F238E27FC236}">
                <a16:creationId xmlns:a16="http://schemas.microsoft.com/office/drawing/2014/main" id="{7CE89AA3-6944-4776-ADB8-DC6445C76820}"/>
              </a:ext>
            </a:extLst>
          </p:cNvPr>
          <p:cNvSpPr>
            <a:spLocks noGrp="1"/>
          </p:cNvSpPr>
          <p:nvPr>
            <p:ph type="sldNum" sz="quarter" idx="12"/>
          </p:nvPr>
        </p:nvSpPr>
        <p:spPr/>
        <p:txBody>
          <a:bodyPr/>
          <a:lstStyle/>
          <a:p>
            <a:fld id="{6B97D948-30E8-43F7-AE10-F6E2D9F2BBB1}" type="slidenum">
              <a:rPr lang="en-US" smtClean="0"/>
              <a:t>702</a:t>
            </a:fld>
            <a:endParaRPr lang="en-US"/>
          </a:p>
        </p:txBody>
      </p:sp>
    </p:spTree>
    <p:extLst>
      <p:ext uri="{BB962C8B-B14F-4D97-AF65-F5344CB8AC3E}">
        <p14:creationId xmlns:p14="http://schemas.microsoft.com/office/powerpoint/2010/main" val="1674989499"/>
      </p:ext>
    </p:extLst>
  </p:cSld>
  <p:clrMapOvr>
    <a:masterClrMapping/>
  </p:clrMapOvr>
</p:sld>
</file>

<file path=ppt/slides/slide7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326C0C-1087-4C40-AD7F-BFA59BC447E7}"/>
              </a:ext>
            </a:extLst>
          </p:cNvPr>
          <p:cNvSpPr>
            <a:spLocks noGrp="1"/>
          </p:cNvSpPr>
          <p:nvPr>
            <p:ph idx="1"/>
          </p:nvPr>
        </p:nvSpPr>
        <p:spPr>
          <a:xfrm>
            <a:off x="838200" y="546100"/>
            <a:ext cx="10515600" cy="5630863"/>
          </a:xfrm>
        </p:spPr>
        <p:txBody>
          <a:bodyPr>
            <a:normAutofit/>
          </a:bodyPr>
          <a:lstStyle/>
          <a:p>
            <a:pPr algn="just"/>
            <a:r>
              <a:rPr lang="en-US" dirty="0"/>
              <a:t>When we go to use this model to make predictions on a new sample of data, however, things aren’t so good. </a:t>
            </a:r>
          </a:p>
          <a:p>
            <a:pPr algn="just"/>
            <a:endParaRPr lang="en-US" dirty="0"/>
          </a:p>
          <a:p>
            <a:pPr algn="just"/>
            <a:r>
              <a:rPr lang="en-US" dirty="0"/>
              <a:t>The model now has enormous error on the unseen data.</a:t>
            </a:r>
          </a:p>
          <a:p>
            <a:pPr algn="just"/>
            <a:endParaRPr lang="en-US" dirty="0"/>
          </a:p>
          <a:p>
            <a:pPr algn="just"/>
            <a:r>
              <a:rPr lang="en-US" dirty="0"/>
              <a:t>The phenomenon above is called </a:t>
            </a:r>
            <a:r>
              <a:rPr lang="en-US" dirty="0">
                <a:solidFill>
                  <a:srgbClr val="FF0000"/>
                </a:solidFill>
              </a:rPr>
              <a:t>overfitting</a:t>
            </a:r>
            <a:r>
              <a:rPr lang="en-US" dirty="0"/>
              <a:t>. </a:t>
            </a:r>
          </a:p>
          <a:p>
            <a:pPr algn="just"/>
            <a:endParaRPr lang="en-US" dirty="0"/>
          </a:p>
          <a:p>
            <a:pPr algn="just"/>
            <a:r>
              <a:rPr lang="en-US" dirty="0"/>
              <a:t>The model effectively just memorized the training data it encountered when it was fitted, leaving it unable to handle new situations.</a:t>
            </a:r>
          </a:p>
          <a:p>
            <a:pPr algn="just"/>
            <a:endParaRPr lang="en-US" dirty="0"/>
          </a:p>
          <a:p>
            <a:endParaRPr lang="en-US" dirty="0"/>
          </a:p>
        </p:txBody>
      </p:sp>
      <p:sp>
        <p:nvSpPr>
          <p:cNvPr id="5" name="Slide Number Placeholder 4">
            <a:extLst>
              <a:ext uri="{FF2B5EF4-FFF2-40B4-BE49-F238E27FC236}">
                <a16:creationId xmlns:a16="http://schemas.microsoft.com/office/drawing/2014/main" id="{3A03E685-7BB0-4900-A671-06E9544EE6AB}"/>
              </a:ext>
            </a:extLst>
          </p:cNvPr>
          <p:cNvSpPr>
            <a:spLocks noGrp="1"/>
          </p:cNvSpPr>
          <p:nvPr>
            <p:ph type="sldNum" sz="quarter" idx="12"/>
          </p:nvPr>
        </p:nvSpPr>
        <p:spPr/>
        <p:txBody>
          <a:bodyPr/>
          <a:lstStyle/>
          <a:p>
            <a:fld id="{6B97D948-30E8-43F7-AE10-F6E2D9F2BBB1}" type="slidenum">
              <a:rPr lang="en-US" smtClean="0"/>
              <a:t>703</a:t>
            </a:fld>
            <a:endParaRPr lang="en-US"/>
          </a:p>
        </p:txBody>
      </p:sp>
    </p:spTree>
    <p:extLst>
      <p:ext uri="{BB962C8B-B14F-4D97-AF65-F5344CB8AC3E}">
        <p14:creationId xmlns:p14="http://schemas.microsoft.com/office/powerpoint/2010/main" val="3806675668"/>
      </p:ext>
    </p:extLst>
  </p:cSld>
  <p:clrMapOvr>
    <a:masterClrMapping/>
  </p:clrMapOvr>
</p:sld>
</file>

<file path=ppt/slides/slide7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3F8F-49A2-4EC5-A8B8-3D08B0B4993E}"/>
              </a:ext>
            </a:extLst>
          </p:cNvPr>
          <p:cNvSpPr>
            <a:spLocks noGrp="1"/>
          </p:cNvSpPr>
          <p:nvPr>
            <p:ph type="title"/>
          </p:nvPr>
        </p:nvSpPr>
        <p:spPr>
          <a:xfrm>
            <a:off x="838200" y="365125"/>
            <a:ext cx="10515600" cy="663575"/>
          </a:xfrm>
        </p:spPr>
        <p:txBody>
          <a:bodyPr>
            <a:normAutofit fontScale="90000"/>
          </a:bodyPr>
          <a:lstStyle/>
          <a:p>
            <a:r>
              <a:rPr lang="en-US" dirty="0"/>
              <a:t>Takeaway</a:t>
            </a:r>
          </a:p>
        </p:txBody>
      </p:sp>
      <p:sp>
        <p:nvSpPr>
          <p:cNvPr id="3" name="Content Placeholder 2">
            <a:extLst>
              <a:ext uri="{FF2B5EF4-FFF2-40B4-BE49-F238E27FC236}">
                <a16:creationId xmlns:a16="http://schemas.microsoft.com/office/drawing/2014/main" id="{3544D36A-45F8-4DDC-B7BF-40794388B677}"/>
              </a:ext>
            </a:extLst>
          </p:cNvPr>
          <p:cNvSpPr>
            <a:spLocks noGrp="1"/>
          </p:cNvSpPr>
          <p:nvPr>
            <p:ph idx="1"/>
          </p:nvPr>
        </p:nvSpPr>
        <p:spPr>
          <a:xfrm>
            <a:off x="838200" y="1130300"/>
            <a:ext cx="10515600" cy="5046663"/>
          </a:xfrm>
        </p:spPr>
        <p:txBody>
          <a:bodyPr/>
          <a:lstStyle/>
          <a:p>
            <a:pPr algn="just"/>
            <a:r>
              <a:rPr lang="en-US" dirty="0"/>
              <a:t>We have to strike a balance in the complexity of our models. </a:t>
            </a:r>
          </a:p>
          <a:p>
            <a:pPr algn="just"/>
            <a:endParaRPr lang="en-US" dirty="0"/>
          </a:p>
          <a:p>
            <a:pPr algn="just"/>
            <a:r>
              <a:rPr lang="en-US" dirty="0"/>
              <a:t>A model that is too simple won’t be able to capture the key relationships between our variables of interest; a model that is too complex runs the risk of overfitting.</a:t>
            </a:r>
          </a:p>
          <a:p>
            <a:endParaRPr lang="en-US" dirty="0"/>
          </a:p>
          <a:p>
            <a:r>
              <a:rPr lang="en-US" dirty="0"/>
              <a:t>How do we do it? </a:t>
            </a:r>
          </a:p>
          <a:p>
            <a:endParaRPr lang="en-US" dirty="0"/>
          </a:p>
          <a:p>
            <a:r>
              <a:rPr lang="en-US" dirty="0"/>
              <a:t>We turn to </a:t>
            </a:r>
            <a:r>
              <a:rPr lang="en-US" dirty="0">
                <a:solidFill>
                  <a:srgbClr val="FF0000"/>
                </a:solidFill>
              </a:rPr>
              <a:t>Regularization</a:t>
            </a:r>
            <a:r>
              <a:rPr lang="en-US" dirty="0"/>
              <a:t>.</a:t>
            </a:r>
          </a:p>
          <a:p>
            <a:endParaRPr lang="en-US" dirty="0"/>
          </a:p>
        </p:txBody>
      </p:sp>
      <p:sp>
        <p:nvSpPr>
          <p:cNvPr id="5" name="Slide Number Placeholder 4">
            <a:extLst>
              <a:ext uri="{FF2B5EF4-FFF2-40B4-BE49-F238E27FC236}">
                <a16:creationId xmlns:a16="http://schemas.microsoft.com/office/drawing/2014/main" id="{4CC9913B-FB6D-4FB2-83E3-A9F69FBFAE40}"/>
              </a:ext>
            </a:extLst>
          </p:cNvPr>
          <p:cNvSpPr>
            <a:spLocks noGrp="1"/>
          </p:cNvSpPr>
          <p:nvPr>
            <p:ph type="sldNum" sz="quarter" idx="12"/>
          </p:nvPr>
        </p:nvSpPr>
        <p:spPr/>
        <p:txBody>
          <a:bodyPr/>
          <a:lstStyle/>
          <a:p>
            <a:fld id="{6B97D948-30E8-43F7-AE10-F6E2D9F2BBB1}" type="slidenum">
              <a:rPr lang="en-US" smtClean="0"/>
              <a:t>704</a:t>
            </a:fld>
            <a:endParaRPr lang="en-US"/>
          </a:p>
        </p:txBody>
      </p:sp>
    </p:spTree>
    <p:extLst>
      <p:ext uri="{BB962C8B-B14F-4D97-AF65-F5344CB8AC3E}">
        <p14:creationId xmlns:p14="http://schemas.microsoft.com/office/powerpoint/2010/main" val="322398070"/>
      </p:ext>
    </p:extLst>
  </p:cSld>
  <p:clrMapOvr>
    <a:masterClrMapping/>
  </p:clrMapOvr>
</p:sld>
</file>

<file path=ppt/slides/slide7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9C614-A82C-4C24-8BEB-B3F6B23275A2}"/>
              </a:ext>
            </a:extLst>
          </p:cNvPr>
          <p:cNvSpPr>
            <a:spLocks noGrp="1"/>
          </p:cNvSpPr>
          <p:nvPr>
            <p:ph type="title"/>
          </p:nvPr>
        </p:nvSpPr>
        <p:spPr>
          <a:xfrm>
            <a:off x="838200" y="365126"/>
            <a:ext cx="10515600" cy="692150"/>
          </a:xfrm>
        </p:spPr>
        <p:txBody>
          <a:bodyPr>
            <a:normAutofit fontScale="90000"/>
          </a:bodyPr>
          <a:lstStyle/>
          <a:p>
            <a:r>
              <a:rPr lang="en-US" dirty="0"/>
              <a:t>Cross Validation and Regularization</a:t>
            </a:r>
          </a:p>
        </p:txBody>
      </p:sp>
      <p:sp>
        <p:nvSpPr>
          <p:cNvPr id="3" name="Content Placeholder 2">
            <a:extLst>
              <a:ext uri="{FF2B5EF4-FFF2-40B4-BE49-F238E27FC236}">
                <a16:creationId xmlns:a16="http://schemas.microsoft.com/office/drawing/2014/main" id="{E63C2588-010E-4C3A-A598-531EA2951ADC}"/>
              </a:ext>
            </a:extLst>
          </p:cNvPr>
          <p:cNvSpPr>
            <a:spLocks noGrp="1"/>
          </p:cNvSpPr>
          <p:nvPr>
            <p:ph idx="1"/>
          </p:nvPr>
        </p:nvSpPr>
        <p:spPr>
          <a:xfrm>
            <a:off x="838200" y="1057276"/>
            <a:ext cx="10515600" cy="5119687"/>
          </a:xfrm>
        </p:spPr>
        <p:txBody>
          <a:bodyPr>
            <a:normAutofit/>
          </a:bodyPr>
          <a:lstStyle/>
          <a:p>
            <a:pPr algn="just"/>
            <a:r>
              <a:rPr lang="en-US" dirty="0"/>
              <a:t>In our feature engineering lectures, we arrived at the issue of fine-tuning model complexity. </a:t>
            </a:r>
          </a:p>
          <a:p>
            <a:pPr algn="just"/>
            <a:endParaRPr lang="en-US" dirty="0"/>
          </a:p>
          <a:p>
            <a:pPr algn="just"/>
            <a:r>
              <a:rPr lang="en-US" dirty="0"/>
              <a:t>We identified that too complex of a model can lead to overfitting, while too simple of a model can lead to underfitting. </a:t>
            </a:r>
          </a:p>
          <a:p>
            <a:pPr algn="just"/>
            <a:endParaRPr lang="en-US" dirty="0"/>
          </a:p>
          <a:p>
            <a:pPr algn="just"/>
            <a:r>
              <a:rPr lang="en-US" dirty="0"/>
              <a:t>This brings us to a natural question: how do we control model complexity to avoid under- and overfitting?</a:t>
            </a:r>
          </a:p>
          <a:p>
            <a:pPr algn="just"/>
            <a:endParaRPr lang="en-US" dirty="0"/>
          </a:p>
        </p:txBody>
      </p:sp>
      <p:sp>
        <p:nvSpPr>
          <p:cNvPr id="5" name="Slide Number Placeholder 4">
            <a:extLst>
              <a:ext uri="{FF2B5EF4-FFF2-40B4-BE49-F238E27FC236}">
                <a16:creationId xmlns:a16="http://schemas.microsoft.com/office/drawing/2014/main" id="{B52AE87E-1E12-424F-8BA9-C760AE30C03A}"/>
              </a:ext>
            </a:extLst>
          </p:cNvPr>
          <p:cNvSpPr>
            <a:spLocks noGrp="1"/>
          </p:cNvSpPr>
          <p:nvPr>
            <p:ph type="sldNum" sz="quarter" idx="12"/>
          </p:nvPr>
        </p:nvSpPr>
        <p:spPr/>
        <p:txBody>
          <a:bodyPr/>
          <a:lstStyle/>
          <a:p>
            <a:fld id="{6B97D948-30E8-43F7-AE10-F6E2D9F2BBB1}" type="slidenum">
              <a:rPr lang="en-US" smtClean="0"/>
              <a:t>705</a:t>
            </a:fld>
            <a:endParaRPr lang="en-US"/>
          </a:p>
        </p:txBody>
      </p:sp>
    </p:spTree>
    <p:extLst>
      <p:ext uri="{BB962C8B-B14F-4D97-AF65-F5344CB8AC3E}">
        <p14:creationId xmlns:p14="http://schemas.microsoft.com/office/powerpoint/2010/main" val="4288891683"/>
      </p:ext>
    </p:extLst>
  </p:cSld>
  <p:clrMapOvr>
    <a:masterClrMapping/>
  </p:clrMapOvr>
</p:sld>
</file>

<file path=ppt/slides/slide7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A15435-29F2-4E4A-9BBC-E55AE82B9527}"/>
              </a:ext>
            </a:extLst>
          </p:cNvPr>
          <p:cNvSpPr>
            <a:spLocks noGrp="1"/>
          </p:cNvSpPr>
          <p:nvPr>
            <p:ph idx="1"/>
          </p:nvPr>
        </p:nvSpPr>
        <p:spPr>
          <a:xfrm>
            <a:off x="838200" y="936171"/>
            <a:ext cx="10515600" cy="5240792"/>
          </a:xfrm>
        </p:spPr>
        <p:txBody>
          <a:bodyPr/>
          <a:lstStyle/>
          <a:p>
            <a:pPr algn="just"/>
            <a:r>
              <a:rPr lang="en-US" dirty="0"/>
              <a:t>To answer this question, we will need to address two things. </a:t>
            </a:r>
          </a:p>
          <a:p>
            <a:pPr algn="just"/>
            <a:endParaRPr lang="en-US" dirty="0"/>
          </a:p>
          <a:p>
            <a:pPr algn="just"/>
            <a:r>
              <a:rPr lang="en-US" dirty="0"/>
              <a:t>First, we need to understand when our model begins to overfit by assessing its performance on unseen data. </a:t>
            </a:r>
          </a:p>
          <a:p>
            <a:pPr algn="just"/>
            <a:endParaRPr lang="en-US" dirty="0"/>
          </a:p>
          <a:p>
            <a:pPr algn="just"/>
            <a:r>
              <a:rPr lang="en-US" dirty="0"/>
              <a:t>We can achieve this through </a:t>
            </a:r>
            <a:r>
              <a:rPr lang="en-US" dirty="0">
                <a:solidFill>
                  <a:srgbClr val="FF0000"/>
                </a:solidFill>
              </a:rPr>
              <a:t>cross-validation</a:t>
            </a:r>
            <a:r>
              <a:rPr lang="en-US" dirty="0"/>
              <a:t>. </a:t>
            </a:r>
          </a:p>
          <a:p>
            <a:pPr algn="just"/>
            <a:endParaRPr lang="en-US" dirty="0"/>
          </a:p>
          <a:p>
            <a:pPr algn="just"/>
            <a:r>
              <a:rPr lang="en-US" dirty="0"/>
              <a:t>Secondly, we need to introduce a technique to adjust the complexity of our models ourselves – to do so, we will apply </a:t>
            </a:r>
            <a:r>
              <a:rPr lang="en-US" dirty="0">
                <a:solidFill>
                  <a:srgbClr val="FF0000"/>
                </a:solidFill>
              </a:rPr>
              <a:t>regularization.</a:t>
            </a:r>
          </a:p>
          <a:p>
            <a:pPr algn="just"/>
            <a:endParaRPr lang="en-US" dirty="0"/>
          </a:p>
        </p:txBody>
      </p:sp>
      <p:sp>
        <p:nvSpPr>
          <p:cNvPr id="5" name="Slide Number Placeholder 4">
            <a:extLst>
              <a:ext uri="{FF2B5EF4-FFF2-40B4-BE49-F238E27FC236}">
                <a16:creationId xmlns:a16="http://schemas.microsoft.com/office/drawing/2014/main" id="{5A7AF001-113E-4926-9C82-BC7AEAF8F2C3}"/>
              </a:ext>
            </a:extLst>
          </p:cNvPr>
          <p:cNvSpPr>
            <a:spLocks noGrp="1"/>
          </p:cNvSpPr>
          <p:nvPr>
            <p:ph type="sldNum" sz="quarter" idx="12"/>
          </p:nvPr>
        </p:nvSpPr>
        <p:spPr/>
        <p:txBody>
          <a:bodyPr/>
          <a:lstStyle/>
          <a:p>
            <a:fld id="{6B97D948-30E8-43F7-AE10-F6E2D9F2BBB1}" type="slidenum">
              <a:rPr lang="en-US" smtClean="0"/>
              <a:t>706</a:t>
            </a:fld>
            <a:endParaRPr lang="en-US"/>
          </a:p>
        </p:txBody>
      </p:sp>
    </p:spTree>
    <p:extLst>
      <p:ext uri="{BB962C8B-B14F-4D97-AF65-F5344CB8AC3E}">
        <p14:creationId xmlns:p14="http://schemas.microsoft.com/office/powerpoint/2010/main" val="1949549227"/>
      </p:ext>
    </p:extLst>
  </p:cSld>
  <p:clrMapOvr>
    <a:masterClrMapping/>
  </p:clrMapOvr>
</p:sld>
</file>

<file path=ppt/slides/slide7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04800-01C4-4022-83EC-1AD4B37BDF43}"/>
              </a:ext>
            </a:extLst>
          </p:cNvPr>
          <p:cNvSpPr>
            <a:spLocks noGrp="1"/>
          </p:cNvSpPr>
          <p:nvPr>
            <p:ph type="title"/>
          </p:nvPr>
        </p:nvSpPr>
        <p:spPr>
          <a:xfrm>
            <a:off x="838200" y="365125"/>
            <a:ext cx="10515600" cy="788761"/>
          </a:xfrm>
        </p:spPr>
        <p:txBody>
          <a:bodyPr/>
          <a:lstStyle/>
          <a:p>
            <a:r>
              <a:rPr lang="en-US" dirty="0"/>
              <a:t>Training, Test, and Validation Sets</a:t>
            </a:r>
          </a:p>
        </p:txBody>
      </p:sp>
      <p:sp>
        <p:nvSpPr>
          <p:cNvPr id="3" name="Content Placeholder 2">
            <a:extLst>
              <a:ext uri="{FF2B5EF4-FFF2-40B4-BE49-F238E27FC236}">
                <a16:creationId xmlns:a16="http://schemas.microsoft.com/office/drawing/2014/main" id="{39F710C2-3F6E-40A6-8907-EA38EC9F38EE}"/>
              </a:ext>
            </a:extLst>
          </p:cNvPr>
          <p:cNvSpPr>
            <a:spLocks noGrp="1"/>
          </p:cNvSpPr>
          <p:nvPr>
            <p:ph idx="1"/>
          </p:nvPr>
        </p:nvSpPr>
        <p:spPr>
          <a:xfrm>
            <a:off x="838200" y="1153886"/>
            <a:ext cx="10515600" cy="5023077"/>
          </a:xfrm>
        </p:spPr>
        <p:txBody>
          <a:bodyPr>
            <a:normAutofit/>
          </a:bodyPr>
          <a:lstStyle/>
          <a:p>
            <a:pPr algn="just"/>
            <a:r>
              <a:rPr lang="en-US" dirty="0"/>
              <a:t>We know </a:t>
            </a:r>
            <a:r>
              <a:rPr lang="en-US" dirty="0">
                <a:solidFill>
                  <a:srgbClr val="FF0000"/>
                </a:solidFill>
              </a:rPr>
              <a:t>that increasing model complexity decreased our model’s training error but increased its variance</a:t>
            </a:r>
            <a:r>
              <a:rPr lang="en-US" dirty="0"/>
              <a:t>. </a:t>
            </a:r>
          </a:p>
          <a:p>
            <a:pPr algn="just"/>
            <a:endParaRPr lang="en-US" dirty="0"/>
          </a:p>
          <a:p>
            <a:pPr algn="just"/>
            <a:r>
              <a:rPr lang="en-US" i="1" dirty="0">
                <a:solidFill>
                  <a:srgbClr val="0070C0"/>
                </a:solidFill>
              </a:rPr>
              <a:t>This makes intuitive sense: adding more features causes our model to fit more closely to data it encountered during training, but generalize worse to new data it hasn’t seen before. </a:t>
            </a:r>
          </a:p>
          <a:p>
            <a:pPr algn="just"/>
            <a:endParaRPr lang="en-US" dirty="0"/>
          </a:p>
          <a:p>
            <a:pPr algn="just"/>
            <a:r>
              <a:rPr lang="en-US" dirty="0"/>
              <a:t>For this reason, a low training error is not always representative of our model’s underlying performance - we need to also assess how well it performs on unseen data to ensure that it is not overfitting.</a:t>
            </a:r>
          </a:p>
          <a:p>
            <a:endParaRPr lang="en-US" dirty="0"/>
          </a:p>
        </p:txBody>
      </p:sp>
      <p:sp>
        <p:nvSpPr>
          <p:cNvPr id="5" name="Slide Number Placeholder 4">
            <a:extLst>
              <a:ext uri="{FF2B5EF4-FFF2-40B4-BE49-F238E27FC236}">
                <a16:creationId xmlns:a16="http://schemas.microsoft.com/office/drawing/2014/main" id="{F4A03FE9-308B-4BBE-9807-2F5C29DF21EE}"/>
              </a:ext>
            </a:extLst>
          </p:cNvPr>
          <p:cNvSpPr>
            <a:spLocks noGrp="1"/>
          </p:cNvSpPr>
          <p:nvPr>
            <p:ph type="sldNum" sz="quarter" idx="12"/>
          </p:nvPr>
        </p:nvSpPr>
        <p:spPr/>
        <p:txBody>
          <a:bodyPr/>
          <a:lstStyle/>
          <a:p>
            <a:fld id="{6B97D948-30E8-43F7-AE10-F6E2D9F2BBB1}" type="slidenum">
              <a:rPr lang="en-US" smtClean="0"/>
              <a:t>707</a:t>
            </a:fld>
            <a:endParaRPr lang="en-US"/>
          </a:p>
        </p:txBody>
      </p:sp>
    </p:spTree>
    <p:extLst>
      <p:ext uri="{BB962C8B-B14F-4D97-AF65-F5344CB8AC3E}">
        <p14:creationId xmlns:p14="http://schemas.microsoft.com/office/powerpoint/2010/main" val="4007259470"/>
      </p:ext>
    </p:extLst>
  </p:cSld>
  <p:clrMapOvr>
    <a:masterClrMapping/>
  </p:clrMapOvr>
</p:sld>
</file>

<file path=ppt/slides/slide7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F710F2-15C4-4493-ADC4-CF5E69C1789E}"/>
              </a:ext>
            </a:extLst>
          </p:cNvPr>
          <p:cNvSpPr>
            <a:spLocks noGrp="1"/>
          </p:cNvSpPr>
          <p:nvPr>
            <p:ph idx="1"/>
          </p:nvPr>
        </p:nvSpPr>
        <p:spPr>
          <a:xfrm>
            <a:off x="838200" y="849086"/>
            <a:ext cx="10515600" cy="5327877"/>
          </a:xfrm>
        </p:spPr>
        <p:txBody>
          <a:bodyPr/>
          <a:lstStyle/>
          <a:p>
            <a:pPr algn="just"/>
            <a:r>
              <a:rPr lang="en-US" dirty="0"/>
              <a:t>Truly, the only way to know when our model overfits is by evaluating it on unseen data. </a:t>
            </a:r>
          </a:p>
          <a:p>
            <a:pPr algn="just"/>
            <a:endParaRPr lang="en-US" dirty="0"/>
          </a:p>
          <a:p>
            <a:pPr algn="just"/>
            <a:r>
              <a:rPr lang="en-US" dirty="0"/>
              <a:t>Unfortunately, that means we need to wait for more data. </a:t>
            </a:r>
          </a:p>
          <a:p>
            <a:pPr algn="just"/>
            <a:endParaRPr lang="en-US" dirty="0"/>
          </a:p>
          <a:p>
            <a:pPr algn="just"/>
            <a:r>
              <a:rPr lang="en-US" dirty="0"/>
              <a:t>This may be very expensive and time-consuming.</a:t>
            </a:r>
          </a:p>
          <a:p>
            <a:endParaRPr lang="en-US" dirty="0"/>
          </a:p>
        </p:txBody>
      </p:sp>
      <p:sp>
        <p:nvSpPr>
          <p:cNvPr id="5" name="Slide Number Placeholder 4">
            <a:extLst>
              <a:ext uri="{FF2B5EF4-FFF2-40B4-BE49-F238E27FC236}">
                <a16:creationId xmlns:a16="http://schemas.microsoft.com/office/drawing/2014/main" id="{D7D0C2FC-B3B7-400B-98C3-8C85F9A72401}"/>
              </a:ext>
            </a:extLst>
          </p:cNvPr>
          <p:cNvSpPr>
            <a:spLocks noGrp="1"/>
          </p:cNvSpPr>
          <p:nvPr>
            <p:ph type="sldNum" sz="quarter" idx="12"/>
          </p:nvPr>
        </p:nvSpPr>
        <p:spPr/>
        <p:txBody>
          <a:bodyPr/>
          <a:lstStyle/>
          <a:p>
            <a:fld id="{6B97D948-30E8-43F7-AE10-F6E2D9F2BBB1}" type="slidenum">
              <a:rPr lang="en-US" smtClean="0"/>
              <a:t>708</a:t>
            </a:fld>
            <a:endParaRPr lang="en-US"/>
          </a:p>
        </p:txBody>
      </p:sp>
    </p:spTree>
    <p:extLst>
      <p:ext uri="{BB962C8B-B14F-4D97-AF65-F5344CB8AC3E}">
        <p14:creationId xmlns:p14="http://schemas.microsoft.com/office/powerpoint/2010/main" val="1842521165"/>
      </p:ext>
    </p:extLst>
  </p:cSld>
  <p:clrMapOvr>
    <a:masterClrMapping/>
  </p:clrMapOvr>
</p:sld>
</file>

<file path=ppt/slides/slide7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B87D2-BCFE-42D1-937B-6AB617C770B9}"/>
              </a:ext>
            </a:extLst>
          </p:cNvPr>
          <p:cNvSpPr>
            <a:spLocks noGrp="1"/>
          </p:cNvSpPr>
          <p:nvPr>
            <p:ph type="title"/>
          </p:nvPr>
        </p:nvSpPr>
        <p:spPr>
          <a:xfrm>
            <a:off x="838200" y="365125"/>
            <a:ext cx="10515600" cy="498475"/>
          </a:xfrm>
        </p:spPr>
        <p:txBody>
          <a:bodyPr>
            <a:normAutofit fontScale="90000"/>
          </a:bodyPr>
          <a:lstStyle/>
          <a:p>
            <a:r>
              <a:rPr lang="en-US" dirty="0"/>
              <a:t>Test Sets</a:t>
            </a:r>
          </a:p>
        </p:txBody>
      </p:sp>
      <p:sp>
        <p:nvSpPr>
          <p:cNvPr id="3" name="Content Placeholder 2">
            <a:extLst>
              <a:ext uri="{FF2B5EF4-FFF2-40B4-BE49-F238E27FC236}">
                <a16:creationId xmlns:a16="http://schemas.microsoft.com/office/drawing/2014/main" id="{FE5FD203-B8A0-4052-BBBA-9B767690C809}"/>
              </a:ext>
            </a:extLst>
          </p:cNvPr>
          <p:cNvSpPr>
            <a:spLocks noGrp="1"/>
          </p:cNvSpPr>
          <p:nvPr>
            <p:ph idx="1"/>
          </p:nvPr>
        </p:nvSpPr>
        <p:spPr>
          <a:xfrm>
            <a:off x="838200" y="977900"/>
            <a:ext cx="10515600" cy="5199063"/>
          </a:xfrm>
        </p:spPr>
        <p:txBody>
          <a:bodyPr>
            <a:normAutofit/>
          </a:bodyPr>
          <a:lstStyle/>
          <a:p>
            <a:pPr algn="just"/>
            <a:r>
              <a:rPr lang="en-US" dirty="0"/>
              <a:t>The simplest approach to avoid overfitting is to keep some of our data “secret” from ourselves. </a:t>
            </a:r>
          </a:p>
          <a:p>
            <a:pPr algn="just"/>
            <a:endParaRPr lang="en-US" dirty="0"/>
          </a:p>
          <a:p>
            <a:pPr algn="just"/>
            <a:r>
              <a:rPr lang="en-US" dirty="0"/>
              <a:t>We can set aside a random portion of our full dataset to use only for testing purposes. </a:t>
            </a:r>
          </a:p>
          <a:p>
            <a:pPr algn="just"/>
            <a:endParaRPr lang="en-US" dirty="0"/>
          </a:p>
          <a:p>
            <a:pPr algn="just"/>
            <a:r>
              <a:rPr lang="en-US" dirty="0"/>
              <a:t>The datapoints in this </a:t>
            </a:r>
            <a:r>
              <a:rPr lang="en-US" dirty="0">
                <a:solidFill>
                  <a:srgbClr val="FF0000"/>
                </a:solidFill>
              </a:rPr>
              <a:t>test set will NOT be used in the model fitting process</a:t>
            </a:r>
            <a:r>
              <a:rPr lang="en-US" dirty="0"/>
              <a:t>. </a:t>
            </a:r>
          </a:p>
          <a:p>
            <a:pPr algn="just"/>
            <a:endParaRPr lang="en-US" dirty="0"/>
          </a:p>
          <a:p>
            <a:pPr algn="just"/>
            <a:endParaRPr lang="en-US" dirty="0"/>
          </a:p>
        </p:txBody>
      </p:sp>
      <p:sp>
        <p:nvSpPr>
          <p:cNvPr id="5" name="Slide Number Placeholder 4">
            <a:extLst>
              <a:ext uri="{FF2B5EF4-FFF2-40B4-BE49-F238E27FC236}">
                <a16:creationId xmlns:a16="http://schemas.microsoft.com/office/drawing/2014/main" id="{BDC3342A-1F0D-48B0-9494-AD23917B767E}"/>
              </a:ext>
            </a:extLst>
          </p:cNvPr>
          <p:cNvSpPr>
            <a:spLocks noGrp="1"/>
          </p:cNvSpPr>
          <p:nvPr>
            <p:ph type="sldNum" sz="quarter" idx="12"/>
          </p:nvPr>
        </p:nvSpPr>
        <p:spPr/>
        <p:txBody>
          <a:bodyPr/>
          <a:lstStyle/>
          <a:p>
            <a:fld id="{6B97D948-30E8-43F7-AE10-F6E2D9F2BBB1}" type="slidenum">
              <a:rPr lang="en-US" smtClean="0"/>
              <a:t>709</a:t>
            </a:fld>
            <a:endParaRPr lang="en-US"/>
          </a:p>
        </p:txBody>
      </p:sp>
    </p:spTree>
    <p:extLst>
      <p:ext uri="{BB962C8B-B14F-4D97-AF65-F5344CB8AC3E}">
        <p14:creationId xmlns:p14="http://schemas.microsoft.com/office/powerpoint/2010/main" val="2094916489"/>
      </p:ext>
    </p:extLst>
  </p:cSld>
  <p:clrMapOvr>
    <a:masterClrMapping/>
  </p:clrMapOvr>
</p:sld>
</file>

<file path=ppt/slides/slide7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C6A2A9-77CC-47FC-AEEA-946B7213A0C8}"/>
              </a:ext>
            </a:extLst>
          </p:cNvPr>
          <p:cNvSpPr>
            <a:spLocks noGrp="1"/>
          </p:cNvSpPr>
          <p:nvPr>
            <p:ph idx="1"/>
          </p:nvPr>
        </p:nvSpPr>
        <p:spPr>
          <a:xfrm>
            <a:off x="838200" y="533400"/>
            <a:ext cx="10515600" cy="5643563"/>
          </a:xfrm>
        </p:spPr>
        <p:txBody>
          <a:bodyPr>
            <a:normAutofit/>
          </a:bodyPr>
          <a:lstStyle/>
          <a:p>
            <a:r>
              <a:rPr lang="en-US" dirty="0"/>
              <a:t>Instead, we will:</a:t>
            </a:r>
          </a:p>
          <a:p>
            <a:pPr algn="just"/>
            <a:r>
              <a:rPr lang="en-US" dirty="0"/>
              <a:t>Use the remaining portion of our dataset – now called the training set – to run ordinary least squares, gradient descent, or some other technique to fit model parameters</a:t>
            </a:r>
          </a:p>
          <a:p>
            <a:r>
              <a:rPr lang="en-US" dirty="0"/>
              <a:t>Take the fitted model and use it to make predictions on datapoints in the test set. </a:t>
            </a:r>
          </a:p>
          <a:p>
            <a:endParaRPr lang="en-US" dirty="0"/>
          </a:p>
          <a:p>
            <a:pPr algn="just"/>
            <a:r>
              <a:rPr lang="en-US" dirty="0"/>
              <a:t>The model’s performance on the test set (expressed as the MSE, RMSE, etc.) is now indicative of how well it can make predictions on unseen data</a:t>
            </a:r>
          </a:p>
          <a:p>
            <a:endParaRPr lang="en-US" dirty="0"/>
          </a:p>
        </p:txBody>
      </p:sp>
      <p:sp>
        <p:nvSpPr>
          <p:cNvPr id="5" name="Slide Number Placeholder 4">
            <a:extLst>
              <a:ext uri="{FF2B5EF4-FFF2-40B4-BE49-F238E27FC236}">
                <a16:creationId xmlns:a16="http://schemas.microsoft.com/office/drawing/2014/main" id="{ABDF0F6D-2ECA-4206-B789-4C93498ABC2F}"/>
              </a:ext>
            </a:extLst>
          </p:cNvPr>
          <p:cNvSpPr>
            <a:spLocks noGrp="1"/>
          </p:cNvSpPr>
          <p:nvPr>
            <p:ph type="sldNum" sz="quarter" idx="12"/>
          </p:nvPr>
        </p:nvSpPr>
        <p:spPr/>
        <p:txBody>
          <a:bodyPr/>
          <a:lstStyle/>
          <a:p>
            <a:fld id="{6B97D948-30E8-43F7-AE10-F6E2D9F2BBB1}" type="slidenum">
              <a:rPr lang="en-US" smtClean="0"/>
              <a:t>710</a:t>
            </a:fld>
            <a:endParaRPr lang="en-US"/>
          </a:p>
        </p:txBody>
      </p:sp>
    </p:spTree>
    <p:extLst>
      <p:ext uri="{BB962C8B-B14F-4D97-AF65-F5344CB8AC3E}">
        <p14:creationId xmlns:p14="http://schemas.microsoft.com/office/powerpoint/2010/main" val="3521206640"/>
      </p:ext>
    </p:extLst>
  </p:cSld>
  <p:clrMapOvr>
    <a:masterClrMapping/>
  </p:clrMapOvr>
</p:sld>
</file>

<file path=ppt/slides/slide7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2405-5177-4BA4-8BE9-CDECCF1AF679}"/>
              </a:ext>
            </a:extLst>
          </p:cNvPr>
          <p:cNvSpPr>
            <a:spLocks noGrp="1"/>
          </p:cNvSpPr>
          <p:nvPr>
            <p:ph type="title"/>
          </p:nvPr>
        </p:nvSpPr>
        <p:spPr>
          <a:xfrm>
            <a:off x="838200" y="365125"/>
            <a:ext cx="10515600" cy="625475"/>
          </a:xfrm>
        </p:spPr>
        <p:txBody>
          <a:bodyPr>
            <a:normAutofit fontScale="90000"/>
          </a:bodyPr>
          <a:lstStyle/>
          <a:p>
            <a:r>
              <a:rPr lang="en-US" dirty="0"/>
              <a:t>Important</a:t>
            </a:r>
          </a:p>
        </p:txBody>
      </p:sp>
      <p:sp>
        <p:nvSpPr>
          <p:cNvPr id="3" name="Content Placeholder 2">
            <a:extLst>
              <a:ext uri="{FF2B5EF4-FFF2-40B4-BE49-F238E27FC236}">
                <a16:creationId xmlns:a16="http://schemas.microsoft.com/office/drawing/2014/main" id="{64870E45-9D31-4AF3-B168-F76A1CE319BB}"/>
              </a:ext>
            </a:extLst>
          </p:cNvPr>
          <p:cNvSpPr>
            <a:spLocks noGrp="1"/>
          </p:cNvSpPr>
          <p:nvPr>
            <p:ph idx="1"/>
          </p:nvPr>
        </p:nvSpPr>
        <p:spPr>
          <a:xfrm>
            <a:off x="838200" y="990600"/>
            <a:ext cx="10515600" cy="5186363"/>
          </a:xfrm>
        </p:spPr>
        <p:txBody>
          <a:bodyPr>
            <a:normAutofit/>
          </a:bodyPr>
          <a:lstStyle/>
          <a:p>
            <a:pPr algn="just"/>
            <a:r>
              <a:rPr lang="en-US" dirty="0"/>
              <a:t>The </a:t>
            </a:r>
            <a:r>
              <a:rPr lang="en-US" dirty="0">
                <a:solidFill>
                  <a:srgbClr val="FF0000"/>
                </a:solidFill>
              </a:rPr>
              <a:t>optimal model parameters are found by only considering the data in the training set</a:t>
            </a:r>
            <a:r>
              <a:rPr lang="en-US" dirty="0"/>
              <a:t>. </a:t>
            </a:r>
          </a:p>
          <a:p>
            <a:pPr algn="just"/>
            <a:endParaRPr lang="en-US" dirty="0"/>
          </a:p>
          <a:p>
            <a:pPr algn="just"/>
            <a:r>
              <a:rPr lang="en-US" dirty="0"/>
              <a:t>After the model has been fitted to the training data, we do not change any parameters before making predictions on the test set. </a:t>
            </a:r>
          </a:p>
          <a:p>
            <a:pPr algn="just"/>
            <a:endParaRPr lang="en-US" dirty="0"/>
          </a:p>
          <a:p>
            <a:pPr algn="just"/>
            <a:r>
              <a:rPr lang="en-US" dirty="0"/>
              <a:t>Importantly, we only ever make predictions on the test set once, after all model design has been completely finalized. </a:t>
            </a:r>
          </a:p>
          <a:p>
            <a:pPr algn="just"/>
            <a:endParaRPr lang="en-US" dirty="0"/>
          </a:p>
          <a:p>
            <a:pPr algn="just"/>
            <a:r>
              <a:rPr lang="en-US" dirty="0"/>
              <a:t>We treat the test set performance as the final test of how well a model does.</a:t>
            </a:r>
          </a:p>
          <a:p>
            <a:pPr algn="just"/>
            <a:endParaRPr lang="en-US" dirty="0"/>
          </a:p>
        </p:txBody>
      </p:sp>
      <p:sp>
        <p:nvSpPr>
          <p:cNvPr id="5" name="Slide Number Placeholder 4">
            <a:extLst>
              <a:ext uri="{FF2B5EF4-FFF2-40B4-BE49-F238E27FC236}">
                <a16:creationId xmlns:a16="http://schemas.microsoft.com/office/drawing/2014/main" id="{E877E954-9159-403E-A723-FDE9455294B9}"/>
              </a:ext>
            </a:extLst>
          </p:cNvPr>
          <p:cNvSpPr>
            <a:spLocks noGrp="1"/>
          </p:cNvSpPr>
          <p:nvPr>
            <p:ph type="sldNum" sz="quarter" idx="12"/>
          </p:nvPr>
        </p:nvSpPr>
        <p:spPr/>
        <p:txBody>
          <a:bodyPr/>
          <a:lstStyle/>
          <a:p>
            <a:fld id="{6B97D948-30E8-43F7-AE10-F6E2D9F2BBB1}" type="slidenum">
              <a:rPr lang="en-US" smtClean="0"/>
              <a:t>711</a:t>
            </a:fld>
            <a:endParaRPr lang="en-US"/>
          </a:p>
        </p:txBody>
      </p:sp>
    </p:spTree>
    <p:extLst>
      <p:ext uri="{BB962C8B-B14F-4D97-AF65-F5344CB8AC3E}">
        <p14:creationId xmlns:p14="http://schemas.microsoft.com/office/powerpoint/2010/main" val="2570682856"/>
      </p:ext>
    </p:extLst>
  </p:cSld>
  <p:clrMapOvr>
    <a:masterClrMapping/>
  </p:clrMapOvr>
</p:sld>
</file>

<file path=ppt/slides/slide7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C1350F-116E-4533-93A9-F2E202CC9DB1}"/>
              </a:ext>
            </a:extLst>
          </p:cNvPr>
          <p:cNvSpPr>
            <a:spLocks noGrp="1"/>
          </p:cNvSpPr>
          <p:nvPr>
            <p:ph idx="1"/>
          </p:nvPr>
        </p:nvSpPr>
        <p:spPr>
          <a:xfrm>
            <a:off x="838200" y="596900"/>
            <a:ext cx="10515600" cy="5580063"/>
          </a:xfrm>
        </p:spPr>
        <p:txBody>
          <a:bodyPr/>
          <a:lstStyle/>
          <a:p>
            <a:pPr algn="just"/>
            <a:r>
              <a:rPr lang="en-US" dirty="0"/>
              <a:t>The process of sub-dividing our dataset into training and test sets is known as a train-test split. </a:t>
            </a:r>
          </a:p>
          <a:p>
            <a:pPr algn="just"/>
            <a:endParaRPr lang="en-US" dirty="0"/>
          </a:p>
          <a:p>
            <a:pPr algn="just"/>
            <a:r>
              <a:rPr lang="en-US" dirty="0"/>
              <a:t>Typically, between 10 and 20% of the data is allocated to the test set.</a:t>
            </a:r>
          </a:p>
          <a:p>
            <a:pPr algn="just"/>
            <a:endParaRPr lang="en-US" dirty="0"/>
          </a:p>
        </p:txBody>
      </p:sp>
      <p:pic>
        <p:nvPicPr>
          <p:cNvPr id="5" name="Picture 4">
            <a:extLst>
              <a:ext uri="{FF2B5EF4-FFF2-40B4-BE49-F238E27FC236}">
                <a16:creationId xmlns:a16="http://schemas.microsoft.com/office/drawing/2014/main" id="{1EC3AF16-4552-4BB3-B3BA-8073B2E91527}"/>
              </a:ext>
            </a:extLst>
          </p:cNvPr>
          <p:cNvPicPr>
            <a:picLocks noChangeAspect="1"/>
          </p:cNvPicPr>
          <p:nvPr/>
        </p:nvPicPr>
        <p:blipFill>
          <a:blip r:embed="rId2"/>
          <a:stretch>
            <a:fillRect/>
          </a:stretch>
        </p:blipFill>
        <p:spPr>
          <a:xfrm>
            <a:off x="3613150" y="3071812"/>
            <a:ext cx="4762500" cy="2619375"/>
          </a:xfrm>
          <a:prstGeom prst="rect">
            <a:avLst/>
          </a:prstGeom>
        </p:spPr>
      </p:pic>
      <p:sp>
        <p:nvSpPr>
          <p:cNvPr id="7" name="Slide Number Placeholder 6">
            <a:extLst>
              <a:ext uri="{FF2B5EF4-FFF2-40B4-BE49-F238E27FC236}">
                <a16:creationId xmlns:a16="http://schemas.microsoft.com/office/drawing/2014/main" id="{0223D48E-AE6D-48CC-A76C-17E1DFB6D76D}"/>
              </a:ext>
            </a:extLst>
          </p:cNvPr>
          <p:cNvSpPr>
            <a:spLocks noGrp="1"/>
          </p:cNvSpPr>
          <p:nvPr>
            <p:ph type="sldNum" sz="quarter" idx="12"/>
          </p:nvPr>
        </p:nvSpPr>
        <p:spPr/>
        <p:txBody>
          <a:bodyPr/>
          <a:lstStyle/>
          <a:p>
            <a:fld id="{6B97D948-30E8-43F7-AE10-F6E2D9F2BBB1}" type="slidenum">
              <a:rPr lang="en-US" smtClean="0"/>
              <a:t>712</a:t>
            </a:fld>
            <a:endParaRPr lang="en-US"/>
          </a:p>
        </p:txBody>
      </p:sp>
    </p:spTree>
    <p:extLst>
      <p:ext uri="{BB962C8B-B14F-4D97-AF65-F5344CB8AC3E}">
        <p14:creationId xmlns:p14="http://schemas.microsoft.com/office/powerpoint/2010/main" val="2744274894"/>
      </p:ext>
    </p:extLst>
  </p:cSld>
  <p:clrMapOvr>
    <a:masterClrMapping/>
  </p:clrMapOvr>
</p:sld>
</file>

<file path=ppt/slides/slide7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7310-D44F-4726-A4DA-25FFF8DA7627}"/>
              </a:ext>
            </a:extLst>
          </p:cNvPr>
          <p:cNvSpPr>
            <a:spLocks noGrp="1"/>
          </p:cNvSpPr>
          <p:nvPr>
            <p:ph type="title"/>
          </p:nvPr>
        </p:nvSpPr>
        <p:spPr>
          <a:xfrm>
            <a:off x="838200" y="365125"/>
            <a:ext cx="10515600" cy="460375"/>
          </a:xfrm>
        </p:spPr>
        <p:txBody>
          <a:bodyPr>
            <a:normAutofit fontScale="90000"/>
          </a:bodyPr>
          <a:lstStyle/>
          <a:p>
            <a:r>
              <a:rPr lang="en-US" dirty="0"/>
              <a:t>Back to </a:t>
            </a:r>
            <a:r>
              <a:rPr lang="en-US" dirty="0" err="1"/>
              <a:t>sklearn</a:t>
            </a:r>
            <a:endParaRPr lang="en-US" dirty="0"/>
          </a:p>
        </p:txBody>
      </p:sp>
      <p:sp>
        <p:nvSpPr>
          <p:cNvPr id="3" name="Content Placeholder 2">
            <a:extLst>
              <a:ext uri="{FF2B5EF4-FFF2-40B4-BE49-F238E27FC236}">
                <a16:creationId xmlns:a16="http://schemas.microsoft.com/office/drawing/2014/main" id="{3969E8A3-2A26-4E55-B4DC-7159C51A42F0}"/>
              </a:ext>
            </a:extLst>
          </p:cNvPr>
          <p:cNvSpPr>
            <a:spLocks noGrp="1"/>
          </p:cNvSpPr>
          <p:nvPr>
            <p:ph idx="1"/>
          </p:nvPr>
        </p:nvSpPr>
        <p:spPr>
          <a:xfrm>
            <a:off x="838200" y="825500"/>
            <a:ext cx="10515600" cy="5351463"/>
          </a:xfrm>
        </p:spPr>
        <p:txBody>
          <a:bodyPr/>
          <a:lstStyle/>
          <a:p>
            <a:pPr algn="just"/>
            <a:r>
              <a:rPr lang="en-US" dirty="0"/>
              <a:t>In </a:t>
            </a:r>
            <a:r>
              <a:rPr lang="en-US" dirty="0" err="1"/>
              <a:t>sklearn</a:t>
            </a:r>
            <a:r>
              <a:rPr lang="en-US" dirty="0"/>
              <a:t>, the </a:t>
            </a:r>
            <a:r>
              <a:rPr lang="en-US" dirty="0" err="1">
                <a:solidFill>
                  <a:srgbClr val="FF0000"/>
                </a:solidFill>
              </a:rPr>
              <a:t>train_test_split</a:t>
            </a:r>
            <a:r>
              <a:rPr lang="en-US" dirty="0">
                <a:solidFill>
                  <a:srgbClr val="FF0000"/>
                </a:solidFill>
              </a:rPr>
              <a:t> function</a:t>
            </a:r>
            <a:r>
              <a:rPr lang="en-US" dirty="0"/>
              <a:t> of the </a:t>
            </a:r>
            <a:r>
              <a:rPr lang="en-US" dirty="0" err="1">
                <a:solidFill>
                  <a:srgbClr val="FF0000"/>
                </a:solidFill>
              </a:rPr>
              <a:t>model_selection</a:t>
            </a:r>
            <a:r>
              <a:rPr lang="en-US" dirty="0">
                <a:solidFill>
                  <a:srgbClr val="FF0000"/>
                </a:solidFill>
              </a:rPr>
              <a:t> module</a:t>
            </a:r>
            <a:r>
              <a:rPr lang="en-US" dirty="0"/>
              <a:t> allows us to automatically generate train-test splits.</a:t>
            </a:r>
          </a:p>
          <a:p>
            <a:pPr algn="just"/>
            <a:endParaRPr lang="en-US" dirty="0"/>
          </a:p>
          <a:p>
            <a:pPr algn="just"/>
            <a:r>
              <a:rPr lang="en-US" dirty="0"/>
              <a:t>We will work with the vehicles dataset from previous lectures. </a:t>
            </a:r>
          </a:p>
          <a:p>
            <a:pPr algn="just"/>
            <a:endParaRPr lang="en-US" dirty="0"/>
          </a:p>
          <a:p>
            <a:pPr algn="just"/>
            <a:r>
              <a:rPr lang="en-US" dirty="0"/>
              <a:t>As before, we will attempt to predict the mpg of a vehicle from transformations of its hp. </a:t>
            </a:r>
          </a:p>
          <a:p>
            <a:pPr algn="just"/>
            <a:endParaRPr lang="en-US" dirty="0"/>
          </a:p>
          <a:p>
            <a:pPr algn="just"/>
            <a:r>
              <a:rPr lang="en-US" dirty="0"/>
              <a:t>We allocate 20% of the full dataset to testing, and the remaining 80% to training.</a:t>
            </a:r>
          </a:p>
        </p:txBody>
      </p:sp>
      <p:sp>
        <p:nvSpPr>
          <p:cNvPr id="5" name="Slide Number Placeholder 4">
            <a:extLst>
              <a:ext uri="{FF2B5EF4-FFF2-40B4-BE49-F238E27FC236}">
                <a16:creationId xmlns:a16="http://schemas.microsoft.com/office/drawing/2014/main" id="{D78F5D46-6856-4D53-9CCE-E95B62026288}"/>
              </a:ext>
            </a:extLst>
          </p:cNvPr>
          <p:cNvSpPr>
            <a:spLocks noGrp="1"/>
          </p:cNvSpPr>
          <p:nvPr>
            <p:ph type="sldNum" sz="quarter" idx="12"/>
          </p:nvPr>
        </p:nvSpPr>
        <p:spPr/>
        <p:txBody>
          <a:bodyPr/>
          <a:lstStyle/>
          <a:p>
            <a:fld id="{6B97D948-30E8-43F7-AE10-F6E2D9F2BBB1}" type="slidenum">
              <a:rPr lang="en-US" smtClean="0"/>
              <a:t>713</a:t>
            </a:fld>
            <a:endParaRPr lang="en-US"/>
          </a:p>
        </p:txBody>
      </p:sp>
    </p:spTree>
    <p:extLst>
      <p:ext uri="{BB962C8B-B14F-4D97-AF65-F5344CB8AC3E}">
        <p14:creationId xmlns:p14="http://schemas.microsoft.com/office/powerpoint/2010/main" val="1776417141"/>
      </p:ext>
    </p:extLst>
  </p:cSld>
  <p:clrMapOvr>
    <a:masterClrMapping/>
  </p:clrMapOvr>
</p:sld>
</file>

<file path=ppt/slides/slide7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D54D2-671D-4820-8B5D-44FAAF56CBDC}"/>
              </a:ext>
            </a:extLst>
          </p:cNvPr>
          <p:cNvSpPr>
            <a:spLocks noGrp="1"/>
          </p:cNvSpPr>
          <p:nvPr>
            <p:ph type="title"/>
          </p:nvPr>
        </p:nvSpPr>
        <p:spPr>
          <a:xfrm>
            <a:off x="838200" y="365125"/>
            <a:ext cx="10515600" cy="714375"/>
          </a:xfrm>
        </p:spPr>
        <p:txBody>
          <a:bodyPr/>
          <a:lstStyle/>
          <a:p>
            <a:r>
              <a:rPr lang="en-US" dirty="0"/>
              <a:t>Code</a:t>
            </a:r>
          </a:p>
        </p:txBody>
      </p:sp>
      <p:sp>
        <p:nvSpPr>
          <p:cNvPr id="3" name="Content Placeholder 2">
            <a:extLst>
              <a:ext uri="{FF2B5EF4-FFF2-40B4-BE49-F238E27FC236}">
                <a16:creationId xmlns:a16="http://schemas.microsoft.com/office/drawing/2014/main" id="{4F4A4AB6-68FD-448A-BC11-D10E398F972C}"/>
              </a:ext>
            </a:extLst>
          </p:cNvPr>
          <p:cNvSpPr>
            <a:spLocks noGrp="1"/>
          </p:cNvSpPr>
          <p:nvPr>
            <p:ph idx="1"/>
          </p:nvPr>
        </p:nvSpPr>
        <p:spPr>
          <a:xfrm>
            <a:off x="838200" y="1079500"/>
            <a:ext cx="10515600" cy="5097463"/>
          </a:xfrm>
        </p:spPr>
        <p:txBody>
          <a:bodyPr>
            <a:normAutofit/>
          </a:bodyPr>
          <a:lstStyle/>
          <a:p>
            <a:r>
              <a:rPr lang="en-US" dirty="0">
                <a:solidFill>
                  <a:srgbClr val="FF0000"/>
                </a:solidFill>
              </a:rPr>
              <a:t>import pandas as pd</a:t>
            </a:r>
          </a:p>
          <a:p>
            <a:r>
              <a:rPr lang="en-US" dirty="0">
                <a:solidFill>
                  <a:srgbClr val="FF0000"/>
                </a:solidFill>
              </a:rPr>
              <a:t>import </a:t>
            </a:r>
            <a:r>
              <a:rPr lang="en-US" dirty="0" err="1">
                <a:solidFill>
                  <a:srgbClr val="FF0000"/>
                </a:solidFill>
              </a:rPr>
              <a:t>numpy</a:t>
            </a:r>
            <a:r>
              <a:rPr lang="en-US" dirty="0">
                <a:solidFill>
                  <a:srgbClr val="FF0000"/>
                </a:solidFill>
              </a:rPr>
              <a:t> as np</a:t>
            </a:r>
          </a:p>
          <a:p>
            <a:r>
              <a:rPr lang="en-US" dirty="0">
                <a:solidFill>
                  <a:srgbClr val="FF0000"/>
                </a:solidFill>
              </a:rPr>
              <a:t>import seaborn as </a:t>
            </a:r>
            <a:r>
              <a:rPr lang="en-US" dirty="0" err="1">
                <a:solidFill>
                  <a:srgbClr val="FF0000"/>
                </a:solidFill>
              </a:rPr>
              <a:t>sns</a:t>
            </a:r>
            <a:endParaRPr lang="en-US" dirty="0">
              <a:solidFill>
                <a:srgbClr val="FF0000"/>
              </a:solidFill>
            </a:endParaRPr>
          </a:p>
          <a:p>
            <a:r>
              <a:rPr lang="en-US" dirty="0">
                <a:solidFill>
                  <a:srgbClr val="FF0000"/>
                </a:solidFill>
              </a:rPr>
              <a:t>import warnings</a:t>
            </a:r>
          </a:p>
          <a:p>
            <a:r>
              <a:rPr lang="en-US" dirty="0" err="1">
                <a:solidFill>
                  <a:srgbClr val="FF0000"/>
                </a:solidFill>
              </a:rPr>
              <a:t>warnings.filterwarnings</a:t>
            </a:r>
            <a:r>
              <a:rPr lang="en-US" dirty="0">
                <a:solidFill>
                  <a:srgbClr val="FF0000"/>
                </a:solidFill>
              </a:rPr>
              <a:t>('ignore')</a:t>
            </a:r>
          </a:p>
          <a:p>
            <a:endParaRPr lang="en-US" dirty="0"/>
          </a:p>
        </p:txBody>
      </p:sp>
      <p:sp>
        <p:nvSpPr>
          <p:cNvPr id="5" name="Slide Number Placeholder 4">
            <a:extLst>
              <a:ext uri="{FF2B5EF4-FFF2-40B4-BE49-F238E27FC236}">
                <a16:creationId xmlns:a16="http://schemas.microsoft.com/office/drawing/2014/main" id="{59A53A2F-C20C-4408-9BEE-43C2775AC2A0}"/>
              </a:ext>
            </a:extLst>
          </p:cNvPr>
          <p:cNvSpPr>
            <a:spLocks noGrp="1"/>
          </p:cNvSpPr>
          <p:nvPr>
            <p:ph type="sldNum" sz="quarter" idx="12"/>
          </p:nvPr>
        </p:nvSpPr>
        <p:spPr/>
        <p:txBody>
          <a:bodyPr/>
          <a:lstStyle/>
          <a:p>
            <a:fld id="{6B97D948-30E8-43F7-AE10-F6E2D9F2BBB1}" type="slidenum">
              <a:rPr lang="en-US" smtClean="0"/>
              <a:t>714</a:t>
            </a:fld>
            <a:endParaRPr lang="en-US"/>
          </a:p>
        </p:txBody>
      </p:sp>
    </p:spTree>
    <p:extLst>
      <p:ext uri="{BB962C8B-B14F-4D97-AF65-F5344CB8AC3E}">
        <p14:creationId xmlns:p14="http://schemas.microsoft.com/office/powerpoint/2010/main" val="1401827458"/>
      </p:ext>
    </p:extLst>
  </p:cSld>
  <p:clrMapOvr>
    <a:masterClrMapping/>
  </p:clrMapOvr>
</p:sld>
</file>

<file path=ppt/slides/slide7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D61BDB-95BC-487B-A98F-56CFD6508399}"/>
              </a:ext>
            </a:extLst>
          </p:cNvPr>
          <p:cNvSpPr>
            <a:spLocks noGrp="1"/>
          </p:cNvSpPr>
          <p:nvPr>
            <p:ph idx="1"/>
          </p:nvPr>
        </p:nvSpPr>
        <p:spPr>
          <a:xfrm>
            <a:off x="838200" y="469900"/>
            <a:ext cx="10515600" cy="5707063"/>
          </a:xfrm>
        </p:spPr>
        <p:txBody>
          <a:bodyPr>
            <a:normAutofit/>
          </a:bodyPr>
          <a:lstStyle/>
          <a:p>
            <a:r>
              <a:rPr lang="en-US" dirty="0"/>
              <a:t># Load the dataset and construct the design matrix</a:t>
            </a:r>
          </a:p>
          <a:p>
            <a:r>
              <a:rPr lang="en-US" dirty="0">
                <a:solidFill>
                  <a:srgbClr val="FF0000"/>
                </a:solidFill>
              </a:rPr>
              <a:t>vehicles = </a:t>
            </a:r>
            <a:r>
              <a:rPr lang="en-US" dirty="0" err="1">
                <a:solidFill>
                  <a:srgbClr val="FF0000"/>
                </a:solidFill>
              </a:rPr>
              <a:t>sns.load_dataset</a:t>
            </a:r>
            <a:r>
              <a:rPr lang="en-US" dirty="0">
                <a:solidFill>
                  <a:srgbClr val="FF0000"/>
                </a:solidFill>
              </a:rPr>
              <a:t>("mpg").rename(columns={"</a:t>
            </a:r>
            <a:r>
              <a:rPr lang="en-US" dirty="0" err="1">
                <a:solidFill>
                  <a:srgbClr val="FF0000"/>
                </a:solidFill>
              </a:rPr>
              <a:t>horsepower":"hp</a:t>
            </a:r>
            <a:r>
              <a:rPr lang="en-US" dirty="0">
                <a:solidFill>
                  <a:srgbClr val="FF0000"/>
                </a:solidFill>
              </a:rPr>
              <a:t>"}).</a:t>
            </a:r>
            <a:r>
              <a:rPr lang="en-US" dirty="0" err="1">
                <a:solidFill>
                  <a:srgbClr val="FF0000"/>
                </a:solidFill>
              </a:rPr>
              <a:t>dropna</a:t>
            </a:r>
            <a:r>
              <a:rPr lang="en-US" dirty="0">
                <a:solidFill>
                  <a:srgbClr val="FF0000"/>
                </a:solidFill>
              </a:rPr>
              <a:t>()</a:t>
            </a:r>
          </a:p>
          <a:p>
            <a:r>
              <a:rPr lang="en-US" dirty="0">
                <a:solidFill>
                  <a:srgbClr val="FF0000"/>
                </a:solidFill>
              </a:rPr>
              <a:t>X = vehicles[["hp"]]</a:t>
            </a:r>
          </a:p>
          <a:p>
            <a:r>
              <a:rPr lang="en-US" dirty="0">
                <a:solidFill>
                  <a:srgbClr val="FF0000"/>
                </a:solidFill>
              </a:rPr>
              <a:t>X["hp^2"] = vehicles["hp"]**2</a:t>
            </a:r>
          </a:p>
          <a:p>
            <a:r>
              <a:rPr lang="en-US" dirty="0">
                <a:solidFill>
                  <a:srgbClr val="FF0000"/>
                </a:solidFill>
              </a:rPr>
              <a:t>X["hp^3"] = vehicles["hp"]**3</a:t>
            </a:r>
          </a:p>
          <a:p>
            <a:r>
              <a:rPr lang="en-US" dirty="0">
                <a:solidFill>
                  <a:srgbClr val="FF0000"/>
                </a:solidFill>
              </a:rPr>
              <a:t>X["hp^4"] = vehicles["hp"]**4</a:t>
            </a:r>
          </a:p>
          <a:p>
            <a:endParaRPr lang="en-US" dirty="0">
              <a:solidFill>
                <a:srgbClr val="FF0000"/>
              </a:solidFill>
            </a:endParaRPr>
          </a:p>
          <a:p>
            <a:r>
              <a:rPr lang="en-US" dirty="0">
                <a:solidFill>
                  <a:srgbClr val="FF0000"/>
                </a:solidFill>
              </a:rPr>
              <a:t>Y = vehicles["mpg"]</a:t>
            </a:r>
          </a:p>
          <a:p>
            <a:endParaRPr lang="en-US" dirty="0"/>
          </a:p>
        </p:txBody>
      </p:sp>
      <p:sp>
        <p:nvSpPr>
          <p:cNvPr id="5" name="Slide Number Placeholder 4">
            <a:extLst>
              <a:ext uri="{FF2B5EF4-FFF2-40B4-BE49-F238E27FC236}">
                <a16:creationId xmlns:a16="http://schemas.microsoft.com/office/drawing/2014/main" id="{3252DD11-B19B-4D60-946C-44F18E7BD3D0}"/>
              </a:ext>
            </a:extLst>
          </p:cNvPr>
          <p:cNvSpPr>
            <a:spLocks noGrp="1"/>
          </p:cNvSpPr>
          <p:nvPr>
            <p:ph type="sldNum" sz="quarter" idx="12"/>
          </p:nvPr>
        </p:nvSpPr>
        <p:spPr/>
        <p:txBody>
          <a:bodyPr/>
          <a:lstStyle/>
          <a:p>
            <a:fld id="{6B97D948-30E8-43F7-AE10-F6E2D9F2BBB1}" type="slidenum">
              <a:rPr lang="en-US" smtClean="0"/>
              <a:t>715</a:t>
            </a:fld>
            <a:endParaRPr lang="en-US"/>
          </a:p>
        </p:txBody>
      </p:sp>
    </p:spTree>
    <p:extLst>
      <p:ext uri="{BB962C8B-B14F-4D97-AF65-F5344CB8AC3E}">
        <p14:creationId xmlns:p14="http://schemas.microsoft.com/office/powerpoint/2010/main" val="808123138"/>
      </p:ext>
    </p:extLst>
  </p:cSld>
  <p:clrMapOvr>
    <a:masterClrMapping/>
  </p:clrMapOvr>
</p:sld>
</file>

<file path=ppt/slides/slide7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28FA34-336E-4AF5-97BE-468E2C7699F7}"/>
              </a:ext>
            </a:extLst>
          </p:cNvPr>
          <p:cNvSpPr>
            <a:spLocks noGrp="1"/>
          </p:cNvSpPr>
          <p:nvPr>
            <p:ph idx="1"/>
          </p:nvPr>
        </p:nvSpPr>
        <p:spPr>
          <a:xfrm>
            <a:off x="838200" y="520700"/>
            <a:ext cx="10515600" cy="5656263"/>
          </a:xfrm>
        </p:spPr>
        <p:txBody>
          <a:bodyPr>
            <a:normAutofit lnSpcReduction="10000"/>
          </a:bodyPr>
          <a:lstStyle/>
          <a:p>
            <a:r>
              <a:rPr lang="en-US" dirty="0">
                <a:solidFill>
                  <a:srgbClr val="FF0000"/>
                </a:solidFill>
              </a:rPr>
              <a:t>from </a:t>
            </a:r>
            <a:r>
              <a:rPr lang="en-US" dirty="0" err="1">
                <a:solidFill>
                  <a:srgbClr val="FF0000"/>
                </a:solidFill>
              </a:rPr>
              <a:t>sklearn.model_selection</a:t>
            </a:r>
            <a:r>
              <a:rPr lang="en-US" dirty="0">
                <a:solidFill>
                  <a:srgbClr val="FF0000"/>
                </a:solidFill>
              </a:rPr>
              <a:t> import </a:t>
            </a:r>
            <a:r>
              <a:rPr lang="en-US" dirty="0" err="1">
                <a:solidFill>
                  <a:srgbClr val="FF0000"/>
                </a:solidFill>
              </a:rPr>
              <a:t>train_test_split</a:t>
            </a:r>
            <a:endParaRPr lang="en-US" dirty="0">
              <a:solidFill>
                <a:srgbClr val="FF0000"/>
              </a:solidFill>
            </a:endParaRPr>
          </a:p>
          <a:p>
            <a:endParaRPr lang="en-US" dirty="0"/>
          </a:p>
          <a:p>
            <a:r>
              <a:rPr lang="en-US" dirty="0"/>
              <a:t># `</a:t>
            </a:r>
            <a:r>
              <a:rPr lang="en-US" dirty="0" err="1"/>
              <a:t>test_size</a:t>
            </a:r>
            <a:r>
              <a:rPr lang="en-US" dirty="0"/>
              <a:t>` specifies the proportion of the full dataset that should be allocated to testing</a:t>
            </a:r>
          </a:p>
          <a:p>
            <a:r>
              <a:rPr lang="en-US" dirty="0"/>
              <a:t># `</a:t>
            </a:r>
            <a:r>
              <a:rPr lang="en-US" dirty="0" err="1"/>
              <a:t>random_state</a:t>
            </a:r>
            <a:r>
              <a:rPr lang="en-US" dirty="0"/>
              <a:t>` makes our results reproducible for educational purposes</a:t>
            </a:r>
          </a:p>
          <a:p>
            <a:r>
              <a:rPr lang="en-US" dirty="0" err="1">
                <a:solidFill>
                  <a:srgbClr val="FF0000"/>
                </a:solidFill>
              </a:rPr>
              <a:t>X_train</a:t>
            </a:r>
            <a:r>
              <a:rPr lang="en-US" dirty="0">
                <a:solidFill>
                  <a:srgbClr val="FF0000"/>
                </a:solidFill>
              </a:rPr>
              <a:t>, </a:t>
            </a:r>
            <a:r>
              <a:rPr lang="en-US" dirty="0" err="1">
                <a:solidFill>
                  <a:srgbClr val="FF0000"/>
                </a:solidFill>
              </a:rPr>
              <a:t>X_test</a:t>
            </a:r>
            <a:r>
              <a:rPr lang="en-US" dirty="0">
                <a:solidFill>
                  <a:srgbClr val="FF0000"/>
                </a:solidFill>
              </a:rPr>
              <a:t>, </a:t>
            </a:r>
            <a:r>
              <a:rPr lang="en-US" dirty="0" err="1">
                <a:solidFill>
                  <a:srgbClr val="FF0000"/>
                </a:solidFill>
              </a:rPr>
              <a:t>Y_train</a:t>
            </a:r>
            <a:r>
              <a:rPr lang="en-US" dirty="0">
                <a:solidFill>
                  <a:srgbClr val="FF0000"/>
                </a:solidFill>
              </a:rPr>
              <a:t>, </a:t>
            </a:r>
            <a:r>
              <a:rPr lang="en-US" dirty="0" err="1">
                <a:solidFill>
                  <a:srgbClr val="FF0000"/>
                </a:solidFill>
              </a:rPr>
              <a:t>Y_test</a:t>
            </a:r>
            <a:r>
              <a:rPr lang="en-US" dirty="0">
                <a:solidFill>
                  <a:srgbClr val="FF0000"/>
                </a:solidFill>
              </a:rPr>
              <a:t> = </a:t>
            </a:r>
            <a:r>
              <a:rPr lang="en-US" dirty="0" err="1">
                <a:solidFill>
                  <a:srgbClr val="FF0000"/>
                </a:solidFill>
              </a:rPr>
              <a:t>train_test_split</a:t>
            </a:r>
            <a:r>
              <a:rPr lang="en-US" dirty="0">
                <a:solidFill>
                  <a:srgbClr val="FF0000"/>
                </a:solidFill>
              </a:rPr>
              <a:t>(X, Y, </a:t>
            </a:r>
            <a:r>
              <a:rPr lang="en-US" dirty="0" err="1">
                <a:solidFill>
                  <a:srgbClr val="FF0000"/>
                </a:solidFill>
              </a:rPr>
              <a:t>test_size</a:t>
            </a:r>
            <a:r>
              <a:rPr lang="en-US" dirty="0">
                <a:solidFill>
                  <a:srgbClr val="FF0000"/>
                </a:solidFill>
              </a:rPr>
              <a:t>=0.2, </a:t>
            </a:r>
            <a:r>
              <a:rPr lang="en-US" dirty="0" err="1">
                <a:solidFill>
                  <a:srgbClr val="FF0000"/>
                </a:solidFill>
              </a:rPr>
              <a:t>random_state</a:t>
            </a:r>
            <a:r>
              <a:rPr lang="en-US" dirty="0">
                <a:solidFill>
                  <a:srgbClr val="FF0000"/>
                </a:solidFill>
              </a:rPr>
              <a:t>=220)</a:t>
            </a:r>
          </a:p>
          <a:p>
            <a:endParaRPr lang="en-US" dirty="0">
              <a:solidFill>
                <a:srgbClr val="FF0000"/>
              </a:solidFill>
            </a:endParaRPr>
          </a:p>
          <a:p>
            <a:r>
              <a:rPr lang="en-US" dirty="0">
                <a:solidFill>
                  <a:srgbClr val="FF0000"/>
                </a:solidFill>
              </a:rPr>
              <a:t>print(</a:t>
            </a:r>
            <a:r>
              <a:rPr lang="en-US" dirty="0" err="1">
                <a:solidFill>
                  <a:srgbClr val="FF0000"/>
                </a:solidFill>
              </a:rPr>
              <a:t>f"Size</a:t>
            </a:r>
            <a:r>
              <a:rPr lang="en-US" dirty="0">
                <a:solidFill>
                  <a:srgbClr val="FF0000"/>
                </a:solidFill>
              </a:rPr>
              <a:t> of full dataset: {</a:t>
            </a:r>
            <a:r>
              <a:rPr lang="en-US" dirty="0" err="1">
                <a:solidFill>
                  <a:srgbClr val="FF0000"/>
                </a:solidFill>
              </a:rPr>
              <a:t>X.shape</a:t>
            </a:r>
            <a:r>
              <a:rPr lang="en-US" dirty="0">
                <a:solidFill>
                  <a:srgbClr val="FF0000"/>
                </a:solidFill>
              </a:rPr>
              <a:t>[0]} points")</a:t>
            </a:r>
          </a:p>
          <a:p>
            <a:r>
              <a:rPr lang="en-US" dirty="0">
                <a:solidFill>
                  <a:srgbClr val="FF0000"/>
                </a:solidFill>
              </a:rPr>
              <a:t>print(</a:t>
            </a:r>
            <a:r>
              <a:rPr lang="en-US" dirty="0" err="1">
                <a:solidFill>
                  <a:srgbClr val="FF0000"/>
                </a:solidFill>
              </a:rPr>
              <a:t>f"Size</a:t>
            </a:r>
            <a:r>
              <a:rPr lang="en-US" dirty="0">
                <a:solidFill>
                  <a:srgbClr val="FF0000"/>
                </a:solidFill>
              </a:rPr>
              <a:t> of training set: {</a:t>
            </a:r>
            <a:r>
              <a:rPr lang="en-US" dirty="0" err="1">
                <a:solidFill>
                  <a:srgbClr val="FF0000"/>
                </a:solidFill>
              </a:rPr>
              <a:t>X_train.shape</a:t>
            </a:r>
            <a:r>
              <a:rPr lang="en-US" dirty="0">
                <a:solidFill>
                  <a:srgbClr val="FF0000"/>
                </a:solidFill>
              </a:rPr>
              <a:t>[0]} points")</a:t>
            </a:r>
          </a:p>
          <a:p>
            <a:r>
              <a:rPr lang="en-US" dirty="0">
                <a:solidFill>
                  <a:srgbClr val="FF0000"/>
                </a:solidFill>
              </a:rPr>
              <a:t>print(</a:t>
            </a:r>
            <a:r>
              <a:rPr lang="en-US" dirty="0" err="1">
                <a:solidFill>
                  <a:srgbClr val="FF0000"/>
                </a:solidFill>
              </a:rPr>
              <a:t>f"Size</a:t>
            </a:r>
            <a:r>
              <a:rPr lang="en-US" dirty="0">
                <a:solidFill>
                  <a:srgbClr val="FF0000"/>
                </a:solidFill>
              </a:rPr>
              <a:t> of test set: {</a:t>
            </a:r>
            <a:r>
              <a:rPr lang="en-US" dirty="0" err="1">
                <a:solidFill>
                  <a:srgbClr val="FF0000"/>
                </a:solidFill>
              </a:rPr>
              <a:t>X_test.shape</a:t>
            </a:r>
            <a:r>
              <a:rPr lang="en-US" dirty="0">
                <a:solidFill>
                  <a:srgbClr val="FF0000"/>
                </a:solidFill>
              </a:rPr>
              <a:t>[0]} points")</a:t>
            </a:r>
          </a:p>
        </p:txBody>
      </p:sp>
      <p:sp>
        <p:nvSpPr>
          <p:cNvPr id="5" name="Slide Number Placeholder 4">
            <a:extLst>
              <a:ext uri="{FF2B5EF4-FFF2-40B4-BE49-F238E27FC236}">
                <a16:creationId xmlns:a16="http://schemas.microsoft.com/office/drawing/2014/main" id="{ED42DB4E-2856-4851-94AB-1080852320C5}"/>
              </a:ext>
            </a:extLst>
          </p:cNvPr>
          <p:cNvSpPr>
            <a:spLocks noGrp="1"/>
          </p:cNvSpPr>
          <p:nvPr>
            <p:ph type="sldNum" sz="quarter" idx="12"/>
          </p:nvPr>
        </p:nvSpPr>
        <p:spPr/>
        <p:txBody>
          <a:bodyPr/>
          <a:lstStyle/>
          <a:p>
            <a:fld id="{6B97D948-30E8-43F7-AE10-F6E2D9F2BBB1}" type="slidenum">
              <a:rPr lang="en-US" smtClean="0"/>
              <a:t>716</a:t>
            </a:fld>
            <a:endParaRPr lang="en-US"/>
          </a:p>
        </p:txBody>
      </p:sp>
    </p:spTree>
    <p:extLst>
      <p:ext uri="{BB962C8B-B14F-4D97-AF65-F5344CB8AC3E}">
        <p14:creationId xmlns:p14="http://schemas.microsoft.com/office/powerpoint/2010/main" val="823570828"/>
      </p:ext>
    </p:extLst>
  </p:cSld>
  <p:clrMapOvr>
    <a:masterClrMapping/>
  </p:clrMapOvr>
</p:sld>
</file>

<file path=ppt/slides/slide7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55F6C2-153B-4980-9502-B259DFD9E8E8}"/>
              </a:ext>
            </a:extLst>
          </p:cNvPr>
          <p:cNvSpPr>
            <a:spLocks noGrp="1"/>
          </p:cNvSpPr>
          <p:nvPr>
            <p:ph idx="1"/>
          </p:nvPr>
        </p:nvSpPr>
        <p:spPr>
          <a:xfrm>
            <a:off x="838200" y="393700"/>
            <a:ext cx="10515600" cy="5783263"/>
          </a:xfrm>
        </p:spPr>
        <p:txBody>
          <a:bodyPr/>
          <a:lstStyle/>
          <a:p>
            <a:pPr algn="just"/>
            <a:r>
              <a:rPr lang="en-US" dirty="0"/>
              <a:t>After performing our train-test split, we fit a model to the training set and assess its performance on the test set.</a:t>
            </a:r>
          </a:p>
        </p:txBody>
      </p:sp>
      <p:sp>
        <p:nvSpPr>
          <p:cNvPr id="5" name="Slide Number Placeholder 4">
            <a:extLst>
              <a:ext uri="{FF2B5EF4-FFF2-40B4-BE49-F238E27FC236}">
                <a16:creationId xmlns:a16="http://schemas.microsoft.com/office/drawing/2014/main" id="{F2A1FC27-38AE-46ED-A37D-985E3A017C22}"/>
              </a:ext>
            </a:extLst>
          </p:cNvPr>
          <p:cNvSpPr>
            <a:spLocks noGrp="1"/>
          </p:cNvSpPr>
          <p:nvPr>
            <p:ph type="sldNum" sz="quarter" idx="12"/>
          </p:nvPr>
        </p:nvSpPr>
        <p:spPr/>
        <p:txBody>
          <a:bodyPr/>
          <a:lstStyle/>
          <a:p>
            <a:fld id="{6B97D948-30E8-43F7-AE10-F6E2D9F2BBB1}" type="slidenum">
              <a:rPr lang="en-US" smtClean="0"/>
              <a:t>717</a:t>
            </a:fld>
            <a:endParaRPr lang="en-US"/>
          </a:p>
        </p:txBody>
      </p:sp>
    </p:spTree>
    <p:extLst>
      <p:ext uri="{BB962C8B-B14F-4D97-AF65-F5344CB8AC3E}">
        <p14:creationId xmlns:p14="http://schemas.microsoft.com/office/powerpoint/2010/main" val="1489638399"/>
      </p:ext>
    </p:extLst>
  </p:cSld>
  <p:clrMapOvr>
    <a:masterClrMapping/>
  </p:clrMapOvr>
</p:sld>
</file>

<file path=ppt/slides/slide7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63F9DE-29EF-4EE3-B153-761DF3603D1F}"/>
              </a:ext>
            </a:extLst>
          </p:cNvPr>
          <p:cNvSpPr>
            <a:spLocks noGrp="1"/>
          </p:cNvSpPr>
          <p:nvPr>
            <p:ph idx="1"/>
          </p:nvPr>
        </p:nvSpPr>
        <p:spPr>
          <a:xfrm>
            <a:off x="838200" y="469900"/>
            <a:ext cx="10515600" cy="5707063"/>
          </a:xfrm>
        </p:spPr>
        <p:txBody>
          <a:bodyPr>
            <a:normAutofit fontScale="85000" lnSpcReduction="20000"/>
          </a:bodyPr>
          <a:lstStyle/>
          <a:p>
            <a:r>
              <a:rPr lang="en-US" dirty="0">
                <a:solidFill>
                  <a:srgbClr val="FF0000"/>
                </a:solidFill>
              </a:rPr>
              <a:t>import </a:t>
            </a:r>
            <a:r>
              <a:rPr lang="en-US" dirty="0" err="1">
                <a:solidFill>
                  <a:srgbClr val="FF0000"/>
                </a:solidFill>
              </a:rPr>
              <a:t>sklearn.linear_model</a:t>
            </a:r>
            <a:r>
              <a:rPr lang="en-US" dirty="0">
                <a:solidFill>
                  <a:srgbClr val="FF0000"/>
                </a:solidFill>
              </a:rPr>
              <a:t> as </a:t>
            </a:r>
            <a:r>
              <a:rPr lang="en-US" dirty="0" err="1">
                <a:solidFill>
                  <a:srgbClr val="FF0000"/>
                </a:solidFill>
              </a:rPr>
              <a:t>lm</a:t>
            </a:r>
            <a:endParaRPr lang="en-US" dirty="0">
              <a:solidFill>
                <a:srgbClr val="FF0000"/>
              </a:solidFill>
            </a:endParaRPr>
          </a:p>
          <a:p>
            <a:r>
              <a:rPr lang="en-US" dirty="0">
                <a:solidFill>
                  <a:srgbClr val="FF0000"/>
                </a:solidFill>
              </a:rPr>
              <a:t>from </a:t>
            </a:r>
            <a:r>
              <a:rPr lang="en-US" dirty="0" err="1">
                <a:solidFill>
                  <a:srgbClr val="FF0000"/>
                </a:solidFill>
              </a:rPr>
              <a:t>sklearn.metrics</a:t>
            </a:r>
            <a:r>
              <a:rPr lang="en-US" dirty="0">
                <a:solidFill>
                  <a:srgbClr val="FF0000"/>
                </a:solidFill>
              </a:rPr>
              <a:t> import </a:t>
            </a:r>
            <a:r>
              <a:rPr lang="en-US" dirty="0" err="1">
                <a:solidFill>
                  <a:srgbClr val="FF0000"/>
                </a:solidFill>
              </a:rPr>
              <a:t>mean_squared_error</a:t>
            </a:r>
            <a:endParaRPr lang="en-US" dirty="0">
              <a:solidFill>
                <a:srgbClr val="FF0000"/>
              </a:solidFill>
            </a:endParaRPr>
          </a:p>
          <a:p>
            <a:endParaRPr lang="en-US" dirty="0">
              <a:solidFill>
                <a:srgbClr val="FF0000"/>
              </a:solidFill>
            </a:endParaRPr>
          </a:p>
          <a:p>
            <a:r>
              <a:rPr lang="en-US" dirty="0">
                <a:solidFill>
                  <a:srgbClr val="FF0000"/>
                </a:solidFill>
              </a:rPr>
              <a:t>model = </a:t>
            </a:r>
            <a:r>
              <a:rPr lang="en-US" dirty="0" err="1">
                <a:solidFill>
                  <a:srgbClr val="FF0000"/>
                </a:solidFill>
              </a:rPr>
              <a:t>lm.LinearRegression</a:t>
            </a:r>
            <a:r>
              <a:rPr lang="en-US" dirty="0">
                <a:solidFill>
                  <a:srgbClr val="FF0000"/>
                </a:solidFill>
              </a:rPr>
              <a:t>()</a:t>
            </a:r>
          </a:p>
          <a:p>
            <a:endParaRPr lang="en-US" dirty="0"/>
          </a:p>
          <a:p>
            <a:r>
              <a:rPr lang="en-US" dirty="0"/>
              <a:t># Fit to the training set</a:t>
            </a:r>
          </a:p>
          <a:p>
            <a:r>
              <a:rPr lang="en-US" dirty="0" err="1">
                <a:solidFill>
                  <a:srgbClr val="FF0000"/>
                </a:solidFill>
              </a:rPr>
              <a:t>model.fit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endParaRPr lang="en-US" dirty="0"/>
          </a:p>
          <a:p>
            <a:r>
              <a:rPr lang="en-US" dirty="0"/>
              <a:t># Make predictions on the test set</a:t>
            </a:r>
          </a:p>
          <a:p>
            <a:r>
              <a:rPr lang="en-US" dirty="0" err="1">
                <a:solidFill>
                  <a:srgbClr val="FF0000"/>
                </a:solidFill>
              </a:rPr>
              <a:t>test_predictions</a:t>
            </a:r>
            <a:r>
              <a:rPr lang="en-US" dirty="0">
                <a:solidFill>
                  <a:srgbClr val="FF0000"/>
                </a:solidFill>
              </a:rPr>
              <a:t> = </a:t>
            </a:r>
            <a:r>
              <a:rPr lang="en-US" dirty="0" err="1">
                <a:solidFill>
                  <a:srgbClr val="FF0000"/>
                </a:solidFill>
              </a:rPr>
              <a:t>model.predict</a:t>
            </a:r>
            <a:r>
              <a:rPr lang="en-US" dirty="0">
                <a:solidFill>
                  <a:srgbClr val="FF0000"/>
                </a:solidFill>
              </a:rPr>
              <a:t>(</a:t>
            </a:r>
            <a:r>
              <a:rPr lang="en-US" dirty="0" err="1">
                <a:solidFill>
                  <a:srgbClr val="FF0000"/>
                </a:solidFill>
              </a:rPr>
              <a:t>X_test</a:t>
            </a:r>
            <a:r>
              <a:rPr lang="en-US" dirty="0">
                <a:solidFill>
                  <a:srgbClr val="FF0000"/>
                </a:solidFill>
              </a:rPr>
              <a:t>)</a:t>
            </a:r>
          </a:p>
          <a:p>
            <a:endParaRPr lang="en-US" dirty="0"/>
          </a:p>
          <a:p>
            <a:r>
              <a:rPr lang="en-US" dirty="0"/>
              <a:t># Let's also consider the training MSE for practice</a:t>
            </a:r>
          </a:p>
          <a:p>
            <a:r>
              <a:rPr lang="en-US" dirty="0">
                <a:solidFill>
                  <a:srgbClr val="FF0000"/>
                </a:solidFill>
              </a:rPr>
              <a:t>print(</a:t>
            </a:r>
            <a:r>
              <a:rPr lang="en-US" dirty="0" err="1">
                <a:solidFill>
                  <a:srgbClr val="FF0000"/>
                </a:solidFill>
              </a:rPr>
              <a:t>f"Train</a:t>
            </a:r>
            <a:r>
              <a:rPr lang="en-US" dirty="0">
                <a:solidFill>
                  <a:srgbClr val="FF0000"/>
                </a:solidFill>
              </a:rPr>
              <a:t> MSE: {</a:t>
            </a:r>
            <a:r>
              <a:rPr lang="en-US" dirty="0" err="1">
                <a:solidFill>
                  <a:srgbClr val="FF0000"/>
                </a:solidFill>
              </a:rPr>
              <a:t>mean_squared_error</a:t>
            </a:r>
            <a:r>
              <a:rPr lang="en-US" dirty="0">
                <a:solidFill>
                  <a:srgbClr val="FF0000"/>
                </a:solidFill>
              </a:rPr>
              <a:t>(</a:t>
            </a:r>
            <a:r>
              <a:rPr lang="en-US" dirty="0" err="1">
                <a:solidFill>
                  <a:srgbClr val="FF0000"/>
                </a:solidFill>
              </a:rPr>
              <a:t>Y_train</a:t>
            </a:r>
            <a:r>
              <a:rPr lang="en-US" dirty="0">
                <a:solidFill>
                  <a:srgbClr val="FF0000"/>
                </a:solidFill>
              </a:rPr>
              <a:t>, </a:t>
            </a:r>
            <a:r>
              <a:rPr lang="en-US" dirty="0" err="1">
                <a:solidFill>
                  <a:srgbClr val="FF0000"/>
                </a:solidFill>
              </a:rPr>
              <a:t>model.predict</a:t>
            </a:r>
            <a:r>
              <a:rPr lang="en-US" dirty="0">
                <a:solidFill>
                  <a:srgbClr val="FF0000"/>
                </a:solidFill>
              </a:rPr>
              <a:t>(</a:t>
            </a:r>
            <a:r>
              <a:rPr lang="en-US" dirty="0" err="1">
                <a:solidFill>
                  <a:srgbClr val="FF0000"/>
                </a:solidFill>
              </a:rPr>
              <a:t>X_train</a:t>
            </a:r>
            <a:r>
              <a:rPr lang="en-US" dirty="0">
                <a:solidFill>
                  <a:srgbClr val="FF0000"/>
                </a:solidFill>
              </a:rPr>
              <a:t>))}")</a:t>
            </a:r>
          </a:p>
          <a:p>
            <a:r>
              <a:rPr lang="en-US" dirty="0">
                <a:solidFill>
                  <a:srgbClr val="FF0000"/>
                </a:solidFill>
              </a:rPr>
              <a:t>print(</a:t>
            </a:r>
            <a:r>
              <a:rPr lang="en-US" dirty="0" err="1">
                <a:solidFill>
                  <a:srgbClr val="FF0000"/>
                </a:solidFill>
              </a:rPr>
              <a:t>f"Test</a:t>
            </a:r>
            <a:r>
              <a:rPr lang="en-US" dirty="0">
                <a:solidFill>
                  <a:srgbClr val="FF0000"/>
                </a:solidFill>
              </a:rPr>
              <a:t> MSE: {</a:t>
            </a:r>
            <a:r>
              <a:rPr lang="en-US" dirty="0" err="1">
                <a:solidFill>
                  <a:srgbClr val="FF0000"/>
                </a:solidFill>
              </a:rPr>
              <a:t>mean_squared_error</a:t>
            </a:r>
            <a:r>
              <a:rPr lang="en-US" dirty="0">
                <a:solidFill>
                  <a:srgbClr val="FF0000"/>
                </a:solidFill>
              </a:rPr>
              <a:t>(</a:t>
            </a:r>
            <a:r>
              <a:rPr lang="en-US" dirty="0" err="1">
                <a:solidFill>
                  <a:srgbClr val="FF0000"/>
                </a:solidFill>
              </a:rPr>
              <a:t>Y_test</a:t>
            </a:r>
            <a:r>
              <a:rPr lang="en-US" dirty="0">
                <a:solidFill>
                  <a:srgbClr val="FF0000"/>
                </a:solidFill>
              </a:rPr>
              <a:t>, </a:t>
            </a:r>
            <a:r>
              <a:rPr lang="en-US" dirty="0" err="1">
                <a:solidFill>
                  <a:srgbClr val="FF0000"/>
                </a:solidFill>
              </a:rPr>
              <a:t>test_predictions</a:t>
            </a:r>
            <a:r>
              <a:rPr lang="en-US" dirty="0">
                <a:solidFill>
                  <a:srgbClr val="FF0000"/>
                </a:solidFill>
              </a:rPr>
              <a:t>)}")</a:t>
            </a:r>
          </a:p>
        </p:txBody>
      </p:sp>
      <p:sp>
        <p:nvSpPr>
          <p:cNvPr id="5" name="Slide Number Placeholder 4">
            <a:extLst>
              <a:ext uri="{FF2B5EF4-FFF2-40B4-BE49-F238E27FC236}">
                <a16:creationId xmlns:a16="http://schemas.microsoft.com/office/drawing/2014/main" id="{DF3E471B-6B81-4A5E-91E3-AECF850D0AAA}"/>
              </a:ext>
            </a:extLst>
          </p:cNvPr>
          <p:cNvSpPr>
            <a:spLocks noGrp="1"/>
          </p:cNvSpPr>
          <p:nvPr>
            <p:ph type="sldNum" sz="quarter" idx="12"/>
          </p:nvPr>
        </p:nvSpPr>
        <p:spPr/>
        <p:txBody>
          <a:bodyPr/>
          <a:lstStyle/>
          <a:p>
            <a:fld id="{6B97D948-30E8-43F7-AE10-F6E2D9F2BBB1}" type="slidenum">
              <a:rPr lang="en-US" smtClean="0"/>
              <a:t>718</a:t>
            </a:fld>
            <a:endParaRPr lang="en-US"/>
          </a:p>
        </p:txBody>
      </p:sp>
    </p:spTree>
    <p:extLst>
      <p:ext uri="{BB962C8B-B14F-4D97-AF65-F5344CB8AC3E}">
        <p14:creationId xmlns:p14="http://schemas.microsoft.com/office/powerpoint/2010/main" val="883144067"/>
      </p:ext>
    </p:extLst>
  </p:cSld>
  <p:clrMapOvr>
    <a:masterClrMapping/>
  </p:clrMapOvr>
</p:sld>
</file>

<file path=ppt/slides/slide7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F98786-59D5-4DA9-8B5C-17DA1FEA1E6A}"/>
              </a:ext>
            </a:extLst>
          </p:cNvPr>
          <p:cNvSpPr>
            <a:spLocks noGrp="1"/>
          </p:cNvSpPr>
          <p:nvPr>
            <p:ph idx="1"/>
          </p:nvPr>
        </p:nvSpPr>
        <p:spPr>
          <a:xfrm>
            <a:off x="838200" y="381000"/>
            <a:ext cx="10515600" cy="5795963"/>
          </a:xfrm>
        </p:spPr>
        <p:txBody>
          <a:bodyPr/>
          <a:lstStyle/>
          <a:p>
            <a:pPr algn="just"/>
            <a:r>
              <a:rPr lang="en-US" dirty="0"/>
              <a:t>Train MSE: 17.858516841012094</a:t>
            </a:r>
          </a:p>
          <a:p>
            <a:pPr algn="just"/>
            <a:r>
              <a:rPr lang="en-US" dirty="0"/>
              <a:t>Test MSE: 23.192405628470613</a:t>
            </a:r>
          </a:p>
          <a:p>
            <a:pPr algn="just"/>
            <a:endParaRPr lang="en-US" dirty="0"/>
          </a:p>
          <a:p>
            <a:pPr algn="just"/>
            <a:r>
              <a:rPr lang="en-US" dirty="0"/>
              <a:t>Notice that the </a:t>
            </a:r>
            <a:r>
              <a:rPr lang="en-US" dirty="0">
                <a:solidFill>
                  <a:srgbClr val="FF0000"/>
                </a:solidFill>
              </a:rPr>
              <a:t>MSE on the test set is substantially higher than the MSE on the training set</a:t>
            </a:r>
            <a:r>
              <a:rPr lang="en-US" dirty="0"/>
              <a:t>. </a:t>
            </a:r>
          </a:p>
          <a:p>
            <a:pPr algn="just"/>
            <a:endParaRPr lang="en-US" dirty="0"/>
          </a:p>
          <a:p>
            <a:pPr algn="just"/>
            <a:r>
              <a:rPr lang="en-US" dirty="0"/>
              <a:t>This may be a sign that </a:t>
            </a:r>
            <a:r>
              <a:rPr lang="en-US" dirty="0">
                <a:solidFill>
                  <a:srgbClr val="FF0000"/>
                </a:solidFill>
              </a:rPr>
              <a:t>the model is overfitting to the training data</a:t>
            </a:r>
            <a:r>
              <a:rPr lang="en-US" dirty="0"/>
              <a:t>. </a:t>
            </a:r>
          </a:p>
          <a:p>
            <a:pPr algn="just"/>
            <a:endParaRPr lang="en-US" dirty="0"/>
          </a:p>
          <a:p>
            <a:pPr algn="just"/>
            <a:r>
              <a:rPr lang="en-US" dirty="0"/>
              <a:t>It also illustrates the importance of test sets – they give us a preview of how well the model generalizes to unseen data.</a:t>
            </a:r>
          </a:p>
        </p:txBody>
      </p:sp>
      <p:sp>
        <p:nvSpPr>
          <p:cNvPr id="5" name="Slide Number Placeholder 4">
            <a:extLst>
              <a:ext uri="{FF2B5EF4-FFF2-40B4-BE49-F238E27FC236}">
                <a16:creationId xmlns:a16="http://schemas.microsoft.com/office/drawing/2014/main" id="{18AD9F40-70D3-460A-9466-760D3B0D9255}"/>
              </a:ext>
            </a:extLst>
          </p:cNvPr>
          <p:cNvSpPr>
            <a:spLocks noGrp="1"/>
          </p:cNvSpPr>
          <p:nvPr>
            <p:ph type="sldNum" sz="quarter" idx="12"/>
          </p:nvPr>
        </p:nvSpPr>
        <p:spPr/>
        <p:txBody>
          <a:bodyPr/>
          <a:lstStyle/>
          <a:p>
            <a:fld id="{6B97D948-30E8-43F7-AE10-F6E2D9F2BBB1}" type="slidenum">
              <a:rPr lang="en-US" smtClean="0"/>
              <a:t>719</a:t>
            </a:fld>
            <a:endParaRPr lang="en-US"/>
          </a:p>
        </p:txBody>
      </p:sp>
    </p:spTree>
    <p:extLst>
      <p:ext uri="{BB962C8B-B14F-4D97-AF65-F5344CB8AC3E}">
        <p14:creationId xmlns:p14="http://schemas.microsoft.com/office/powerpoint/2010/main" val="4113389886"/>
      </p:ext>
    </p:extLst>
  </p:cSld>
  <p:clrMapOvr>
    <a:masterClrMapping/>
  </p:clrMapOvr>
</p:sld>
</file>

<file path=ppt/slides/slide7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B45A2-D6D8-41FF-91AE-CC86A602B6C3}"/>
              </a:ext>
            </a:extLst>
          </p:cNvPr>
          <p:cNvSpPr>
            <a:spLocks noGrp="1"/>
          </p:cNvSpPr>
          <p:nvPr>
            <p:ph type="title"/>
          </p:nvPr>
        </p:nvSpPr>
        <p:spPr>
          <a:xfrm>
            <a:off x="838200" y="365125"/>
            <a:ext cx="10515600" cy="638175"/>
          </a:xfrm>
        </p:spPr>
        <p:txBody>
          <a:bodyPr>
            <a:normAutofit fontScale="90000"/>
          </a:bodyPr>
          <a:lstStyle/>
          <a:p>
            <a:r>
              <a:rPr lang="en-US" dirty="0"/>
              <a:t>Validation Sets</a:t>
            </a:r>
          </a:p>
        </p:txBody>
      </p:sp>
      <p:sp>
        <p:nvSpPr>
          <p:cNvPr id="3" name="Content Placeholder 2">
            <a:extLst>
              <a:ext uri="{FF2B5EF4-FFF2-40B4-BE49-F238E27FC236}">
                <a16:creationId xmlns:a16="http://schemas.microsoft.com/office/drawing/2014/main" id="{696EB213-9073-44D5-B1C6-BFDC70BD3C6E}"/>
              </a:ext>
            </a:extLst>
          </p:cNvPr>
          <p:cNvSpPr>
            <a:spLocks noGrp="1"/>
          </p:cNvSpPr>
          <p:nvPr>
            <p:ph idx="1"/>
          </p:nvPr>
        </p:nvSpPr>
        <p:spPr>
          <a:xfrm>
            <a:off x="838200" y="1003300"/>
            <a:ext cx="10515600" cy="5173663"/>
          </a:xfrm>
        </p:spPr>
        <p:txBody>
          <a:bodyPr>
            <a:normAutofit/>
          </a:bodyPr>
          <a:lstStyle/>
          <a:p>
            <a:pPr algn="just"/>
            <a:r>
              <a:rPr lang="en-US" dirty="0"/>
              <a:t>We may have felt dissatisfied with the previous example. </a:t>
            </a:r>
          </a:p>
          <a:p>
            <a:pPr algn="just"/>
            <a:endParaRPr lang="en-US" dirty="0"/>
          </a:p>
          <a:p>
            <a:pPr algn="just"/>
            <a:r>
              <a:rPr lang="en-US" dirty="0"/>
              <a:t>We found that our model is likely overfitting, as evidenced by the high test MSE, but we seem to be “stuck”. </a:t>
            </a:r>
          </a:p>
          <a:p>
            <a:pPr algn="just"/>
            <a:endParaRPr lang="en-US" dirty="0"/>
          </a:p>
          <a:p>
            <a:pPr algn="just"/>
            <a:r>
              <a:rPr lang="en-US" dirty="0"/>
              <a:t>As outlined previously, assessing model performance on the test set is the final stage of the model design process. </a:t>
            </a:r>
          </a:p>
          <a:p>
            <a:pPr algn="just"/>
            <a:endParaRPr lang="en-US" dirty="0"/>
          </a:p>
          <a:p>
            <a:pPr algn="just"/>
            <a:r>
              <a:rPr lang="en-US" dirty="0"/>
              <a:t>We can’t go back and adjust our model based on the new discovery that it is overfitting – if we did, then we would be factoring the unseen test data into the design of the model. </a:t>
            </a:r>
          </a:p>
        </p:txBody>
      </p:sp>
      <p:sp>
        <p:nvSpPr>
          <p:cNvPr id="5" name="Slide Number Placeholder 4">
            <a:extLst>
              <a:ext uri="{FF2B5EF4-FFF2-40B4-BE49-F238E27FC236}">
                <a16:creationId xmlns:a16="http://schemas.microsoft.com/office/drawing/2014/main" id="{9194CE17-ED2D-4177-AD2E-58F87A7499D8}"/>
              </a:ext>
            </a:extLst>
          </p:cNvPr>
          <p:cNvSpPr>
            <a:spLocks noGrp="1"/>
          </p:cNvSpPr>
          <p:nvPr>
            <p:ph type="sldNum" sz="quarter" idx="12"/>
          </p:nvPr>
        </p:nvSpPr>
        <p:spPr/>
        <p:txBody>
          <a:bodyPr/>
          <a:lstStyle/>
          <a:p>
            <a:fld id="{6B97D948-30E8-43F7-AE10-F6E2D9F2BBB1}" type="slidenum">
              <a:rPr lang="en-US" smtClean="0"/>
              <a:t>720</a:t>
            </a:fld>
            <a:endParaRPr lang="en-US"/>
          </a:p>
        </p:txBody>
      </p:sp>
    </p:spTree>
    <p:extLst>
      <p:ext uri="{BB962C8B-B14F-4D97-AF65-F5344CB8AC3E}">
        <p14:creationId xmlns:p14="http://schemas.microsoft.com/office/powerpoint/2010/main" val="2284345946"/>
      </p:ext>
    </p:extLst>
  </p:cSld>
  <p:clrMapOvr>
    <a:masterClrMapping/>
  </p:clrMapOvr>
</p:sld>
</file>

<file path=ppt/slides/slide7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4B74DE-A0B5-46AF-97DC-C803E1099146}"/>
              </a:ext>
            </a:extLst>
          </p:cNvPr>
          <p:cNvSpPr>
            <a:spLocks noGrp="1"/>
          </p:cNvSpPr>
          <p:nvPr>
            <p:ph idx="1"/>
          </p:nvPr>
        </p:nvSpPr>
        <p:spPr>
          <a:xfrm>
            <a:off x="838200" y="393700"/>
            <a:ext cx="10515600" cy="5783263"/>
          </a:xfrm>
        </p:spPr>
        <p:txBody>
          <a:bodyPr/>
          <a:lstStyle/>
          <a:p>
            <a:pPr algn="just"/>
            <a:r>
              <a:rPr lang="en-US" dirty="0"/>
              <a:t>The test error would no longer be a true representation of the model’s performance on unseen data!</a:t>
            </a:r>
          </a:p>
          <a:p>
            <a:pPr algn="just"/>
            <a:r>
              <a:rPr lang="en-US" dirty="0"/>
              <a:t>What options do we have?</a:t>
            </a:r>
          </a:p>
        </p:txBody>
      </p:sp>
      <p:sp>
        <p:nvSpPr>
          <p:cNvPr id="5" name="Slide Number Placeholder 4">
            <a:extLst>
              <a:ext uri="{FF2B5EF4-FFF2-40B4-BE49-F238E27FC236}">
                <a16:creationId xmlns:a16="http://schemas.microsoft.com/office/drawing/2014/main" id="{391D066A-CE1A-43A9-A774-38B872A6C683}"/>
              </a:ext>
            </a:extLst>
          </p:cNvPr>
          <p:cNvSpPr>
            <a:spLocks noGrp="1"/>
          </p:cNvSpPr>
          <p:nvPr>
            <p:ph type="sldNum" sz="quarter" idx="12"/>
          </p:nvPr>
        </p:nvSpPr>
        <p:spPr/>
        <p:txBody>
          <a:bodyPr/>
          <a:lstStyle/>
          <a:p>
            <a:fld id="{6B97D948-30E8-43F7-AE10-F6E2D9F2BBB1}" type="slidenum">
              <a:rPr lang="en-US" smtClean="0"/>
              <a:t>721</a:t>
            </a:fld>
            <a:endParaRPr lang="en-US"/>
          </a:p>
        </p:txBody>
      </p:sp>
    </p:spTree>
    <p:extLst>
      <p:ext uri="{BB962C8B-B14F-4D97-AF65-F5344CB8AC3E}">
        <p14:creationId xmlns:p14="http://schemas.microsoft.com/office/powerpoint/2010/main" val="2910967021"/>
      </p:ext>
    </p:extLst>
  </p:cSld>
  <p:clrMapOvr>
    <a:masterClrMapping/>
  </p:clrMapOvr>
</p:sld>
</file>

<file path=ppt/slides/slide7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48B82E-2460-40A4-B88B-E89170A7064D}"/>
              </a:ext>
            </a:extLst>
          </p:cNvPr>
          <p:cNvSpPr>
            <a:spLocks noGrp="1"/>
          </p:cNvSpPr>
          <p:nvPr>
            <p:ph idx="1"/>
          </p:nvPr>
        </p:nvSpPr>
        <p:spPr>
          <a:xfrm>
            <a:off x="838200" y="381000"/>
            <a:ext cx="10515600" cy="5795963"/>
          </a:xfrm>
        </p:spPr>
        <p:txBody>
          <a:bodyPr>
            <a:normAutofit fontScale="92500" lnSpcReduction="10000"/>
          </a:bodyPr>
          <a:lstStyle/>
          <a:p>
            <a:pPr algn="just"/>
            <a:r>
              <a:rPr lang="en-US" dirty="0"/>
              <a:t>Well, our solution is to introduce a </a:t>
            </a:r>
            <a:r>
              <a:rPr lang="en-US" dirty="0">
                <a:solidFill>
                  <a:srgbClr val="FF0000"/>
                </a:solidFill>
              </a:rPr>
              <a:t>validation set</a:t>
            </a:r>
            <a:r>
              <a:rPr lang="en-US" dirty="0"/>
              <a:t>. </a:t>
            </a:r>
          </a:p>
          <a:p>
            <a:pPr algn="just"/>
            <a:endParaRPr lang="en-US" dirty="0"/>
          </a:p>
          <a:p>
            <a:pPr algn="just"/>
            <a:r>
              <a:rPr lang="en-US" i="1" dirty="0"/>
              <a:t>A validation set is a random portion of the training set that is set aside for assessing model performance while the model is still being developed.</a:t>
            </a:r>
            <a:r>
              <a:rPr lang="en-US" dirty="0"/>
              <a:t> </a:t>
            </a:r>
          </a:p>
          <a:p>
            <a:pPr algn="just"/>
            <a:endParaRPr lang="en-US" dirty="0"/>
          </a:p>
          <a:p>
            <a:pPr algn="just"/>
            <a:r>
              <a:rPr lang="en-US" dirty="0"/>
              <a:t>The process for using a validation set is:</a:t>
            </a:r>
          </a:p>
          <a:p>
            <a:pPr algn="just"/>
            <a:endParaRPr lang="en-US" dirty="0"/>
          </a:p>
          <a:p>
            <a:pPr algn="just"/>
            <a:r>
              <a:rPr lang="en-US" dirty="0"/>
              <a:t> - Perform a train-test split. Set the test set aside; we will not touch it until the very end of the model design process</a:t>
            </a:r>
          </a:p>
          <a:p>
            <a:pPr algn="just"/>
            <a:r>
              <a:rPr lang="en-US" dirty="0"/>
              <a:t> -   Set aside a portion of the training set to be used for validation</a:t>
            </a:r>
          </a:p>
          <a:p>
            <a:pPr algn="just"/>
            <a:r>
              <a:rPr lang="en-US" dirty="0"/>
              <a:t> - Fit the model parameters to the datapoints contained in the remaining portion of the training set</a:t>
            </a:r>
          </a:p>
          <a:p>
            <a:pPr algn="just"/>
            <a:r>
              <a:rPr lang="en-US" dirty="0"/>
              <a:t>    </a:t>
            </a:r>
          </a:p>
        </p:txBody>
      </p:sp>
      <p:sp>
        <p:nvSpPr>
          <p:cNvPr id="5" name="Slide Number Placeholder 4">
            <a:extLst>
              <a:ext uri="{FF2B5EF4-FFF2-40B4-BE49-F238E27FC236}">
                <a16:creationId xmlns:a16="http://schemas.microsoft.com/office/drawing/2014/main" id="{760A4872-AAAD-4911-9167-ED736AB640E9}"/>
              </a:ext>
            </a:extLst>
          </p:cNvPr>
          <p:cNvSpPr>
            <a:spLocks noGrp="1"/>
          </p:cNvSpPr>
          <p:nvPr>
            <p:ph type="sldNum" sz="quarter" idx="12"/>
          </p:nvPr>
        </p:nvSpPr>
        <p:spPr/>
        <p:txBody>
          <a:bodyPr/>
          <a:lstStyle/>
          <a:p>
            <a:fld id="{6B97D948-30E8-43F7-AE10-F6E2D9F2BBB1}" type="slidenum">
              <a:rPr lang="en-US" smtClean="0"/>
              <a:t>722</a:t>
            </a:fld>
            <a:endParaRPr lang="en-US"/>
          </a:p>
        </p:txBody>
      </p:sp>
    </p:spTree>
    <p:extLst>
      <p:ext uri="{BB962C8B-B14F-4D97-AF65-F5344CB8AC3E}">
        <p14:creationId xmlns:p14="http://schemas.microsoft.com/office/powerpoint/2010/main" val="3669630336"/>
      </p:ext>
    </p:extLst>
  </p:cSld>
  <p:clrMapOvr>
    <a:masterClrMapping/>
  </p:clrMapOvr>
</p:sld>
</file>

<file path=ppt/slides/slide7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BD99-7560-4BC3-AFFC-096DFDBF71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0DFB35-A594-4539-9297-77E901F44D23}"/>
              </a:ext>
            </a:extLst>
          </p:cNvPr>
          <p:cNvSpPr>
            <a:spLocks noGrp="1"/>
          </p:cNvSpPr>
          <p:nvPr>
            <p:ph idx="1"/>
          </p:nvPr>
        </p:nvSpPr>
        <p:spPr/>
        <p:txBody>
          <a:bodyPr/>
          <a:lstStyle/>
          <a:p>
            <a:pPr algn="just"/>
            <a:r>
              <a:rPr lang="en-US" dirty="0"/>
              <a:t>Assess the model’s performance on the validation set. Adjust the model as needed, re-fit it to the remaining portion of the training set, then re-evaluate it on the validation set. Repeat as necessary until you are satisfied.</a:t>
            </a:r>
          </a:p>
          <a:p>
            <a:pPr algn="just"/>
            <a:r>
              <a:rPr lang="en-US" dirty="0"/>
              <a:t>    Assess the model’s performance on the test set. This is the final test of how well the model performs on unseen data. No further modifications should be made to the model</a:t>
            </a:r>
          </a:p>
          <a:p>
            <a:endParaRPr lang="en-US" dirty="0"/>
          </a:p>
        </p:txBody>
      </p:sp>
      <p:sp>
        <p:nvSpPr>
          <p:cNvPr id="5" name="Slide Number Placeholder 4">
            <a:extLst>
              <a:ext uri="{FF2B5EF4-FFF2-40B4-BE49-F238E27FC236}">
                <a16:creationId xmlns:a16="http://schemas.microsoft.com/office/drawing/2014/main" id="{346F6EED-9EF8-4ED0-8806-3BE8A530DDA2}"/>
              </a:ext>
            </a:extLst>
          </p:cNvPr>
          <p:cNvSpPr>
            <a:spLocks noGrp="1"/>
          </p:cNvSpPr>
          <p:nvPr>
            <p:ph type="sldNum" sz="quarter" idx="12"/>
          </p:nvPr>
        </p:nvSpPr>
        <p:spPr/>
        <p:txBody>
          <a:bodyPr/>
          <a:lstStyle/>
          <a:p>
            <a:fld id="{6B97D948-30E8-43F7-AE10-F6E2D9F2BBB1}" type="slidenum">
              <a:rPr lang="en-US" smtClean="0"/>
              <a:t>723</a:t>
            </a:fld>
            <a:endParaRPr lang="en-US"/>
          </a:p>
        </p:txBody>
      </p:sp>
    </p:spTree>
    <p:extLst>
      <p:ext uri="{BB962C8B-B14F-4D97-AF65-F5344CB8AC3E}">
        <p14:creationId xmlns:p14="http://schemas.microsoft.com/office/powerpoint/2010/main" val="2068126017"/>
      </p:ext>
    </p:extLst>
  </p:cSld>
  <p:clrMapOvr>
    <a:masterClrMapping/>
  </p:clrMapOvr>
</p:sld>
</file>

<file path=ppt/slides/slide7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E74067-CC72-4CE9-BECE-F1C701771C24}"/>
              </a:ext>
            </a:extLst>
          </p:cNvPr>
          <p:cNvSpPr>
            <a:spLocks noGrp="1"/>
          </p:cNvSpPr>
          <p:nvPr>
            <p:ph idx="1"/>
          </p:nvPr>
        </p:nvSpPr>
        <p:spPr>
          <a:xfrm>
            <a:off x="838200" y="520700"/>
            <a:ext cx="10515600" cy="5656263"/>
          </a:xfrm>
        </p:spPr>
        <p:txBody>
          <a:bodyPr/>
          <a:lstStyle/>
          <a:p>
            <a:r>
              <a:rPr lang="en-US" dirty="0"/>
              <a:t>The process of creating a validation set is called a validation split.</a:t>
            </a:r>
          </a:p>
        </p:txBody>
      </p:sp>
      <p:pic>
        <p:nvPicPr>
          <p:cNvPr id="5" name="Picture 4">
            <a:extLst>
              <a:ext uri="{FF2B5EF4-FFF2-40B4-BE49-F238E27FC236}">
                <a16:creationId xmlns:a16="http://schemas.microsoft.com/office/drawing/2014/main" id="{2669BFE7-8AA3-40B3-A3CC-3630A01940B1}"/>
              </a:ext>
            </a:extLst>
          </p:cNvPr>
          <p:cNvPicPr>
            <a:picLocks noChangeAspect="1"/>
          </p:cNvPicPr>
          <p:nvPr/>
        </p:nvPicPr>
        <p:blipFill>
          <a:blip r:embed="rId2"/>
          <a:stretch>
            <a:fillRect/>
          </a:stretch>
        </p:blipFill>
        <p:spPr>
          <a:xfrm>
            <a:off x="1513780" y="1587500"/>
            <a:ext cx="8966895" cy="3060700"/>
          </a:xfrm>
          <a:prstGeom prst="rect">
            <a:avLst/>
          </a:prstGeom>
        </p:spPr>
      </p:pic>
      <p:sp>
        <p:nvSpPr>
          <p:cNvPr id="7" name="Slide Number Placeholder 6">
            <a:extLst>
              <a:ext uri="{FF2B5EF4-FFF2-40B4-BE49-F238E27FC236}">
                <a16:creationId xmlns:a16="http://schemas.microsoft.com/office/drawing/2014/main" id="{EE61E497-A591-4506-992F-22C41FB9C1D0}"/>
              </a:ext>
            </a:extLst>
          </p:cNvPr>
          <p:cNvSpPr>
            <a:spLocks noGrp="1"/>
          </p:cNvSpPr>
          <p:nvPr>
            <p:ph type="sldNum" sz="quarter" idx="12"/>
          </p:nvPr>
        </p:nvSpPr>
        <p:spPr/>
        <p:txBody>
          <a:bodyPr/>
          <a:lstStyle/>
          <a:p>
            <a:fld id="{6B97D948-30E8-43F7-AE10-F6E2D9F2BBB1}" type="slidenum">
              <a:rPr lang="en-US" smtClean="0"/>
              <a:t>724</a:t>
            </a:fld>
            <a:endParaRPr lang="en-US"/>
          </a:p>
        </p:txBody>
      </p:sp>
    </p:spTree>
    <p:extLst>
      <p:ext uri="{BB962C8B-B14F-4D97-AF65-F5344CB8AC3E}">
        <p14:creationId xmlns:p14="http://schemas.microsoft.com/office/powerpoint/2010/main" val="2746930344"/>
      </p:ext>
    </p:extLst>
  </p:cSld>
  <p:clrMapOvr>
    <a:masterClrMapping/>
  </p:clrMapOvr>
</p:sld>
</file>

<file path=ppt/slides/slide7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220BEC-0F7E-4CB9-8115-5946C6D96843}"/>
              </a:ext>
            </a:extLst>
          </p:cNvPr>
          <p:cNvSpPr>
            <a:spLocks noGrp="1"/>
          </p:cNvSpPr>
          <p:nvPr>
            <p:ph idx="1"/>
          </p:nvPr>
        </p:nvSpPr>
        <p:spPr>
          <a:xfrm>
            <a:off x="838200" y="393700"/>
            <a:ext cx="10515600" cy="5783263"/>
          </a:xfrm>
        </p:spPr>
        <p:txBody>
          <a:bodyPr>
            <a:normAutofit lnSpcReduction="10000"/>
          </a:bodyPr>
          <a:lstStyle/>
          <a:p>
            <a:pPr algn="just"/>
            <a:r>
              <a:rPr lang="en-US" dirty="0"/>
              <a:t>Let’s use a validation set to help us with our model design task – we want to find which degree of polynomial led to the best-performing model. </a:t>
            </a:r>
          </a:p>
          <a:p>
            <a:pPr algn="just"/>
            <a:endParaRPr lang="en-US" dirty="0"/>
          </a:p>
          <a:p>
            <a:pPr algn="just"/>
            <a:r>
              <a:rPr lang="en-US" dirty="0"/>
              <a:t>We use </a:t>
            </a:r>
            <a:r>
              <a:rPr lang="en-US" dirty="0" err="1"/>
              <a:t>train_test_split</a:t>
            </a:r>
            <a:r>
              <a:rPr lang="en-US" dirty="0"/>
              <a:t> to sub-divide the training set into a validation set and a “mini” training set.</a:t>
            </a:r>
          </a:p>
          <a:p>
            <a:pPr algn="just"/>
            <a:endParaRPr lang="en-US" dirty="0"/>
          </a:p>
          <a:p>
            <a:pPr algn="just"/>
            <a:r>
              <a:rPr lang="en-US" dirty="0" err="1">
                <a:solidFill>
                  <a:srgbClr val="FF0000"/>
                </a:solidFill>
              </a:rPr>
              <a:t>X_train_mini</a:t>
            </a:r>
            <a:r>
              <a:rPr lang="en-US" dirty="0">
                <a:solidFill>
                  <a:srgbClr val="FF0000"/>
                </a:solidFill>
              </a:rPr>
              <a:t>, </a:t>
            </a:r>
            <a:r>
              <a:rPr lang="en-US" dirty="0" err="1">
                <a:solidFill>
                  <a:srgbClr val="FF0000"/>
                </a:solidFill>
              </a:rPr>
              <a:t>X_val</a:t>
            </a:r>
            <a:r>
              <a:rPr lang="en-US" dirty="0">
                <a:solidFill>
                  <a:srgbClr val="FF0000"/>
                </a:solidFill>
              </a:rPr>
              <a:t>, </a:t>
            </a:r>
            <a:r>
              <a:rPr lang="en-US" dirty="0" err="1">
                <a:solidFill>
                  <a:srgbClr val="FF0000"/>
                </a:solidFill>
              </a:rPr>
              <a:t>Y_train_mini</a:t>
            </a:r>
            <a:r>
              <a:rPr lang="en-US" dirty="0">
                <a:solidFill>
                  <a:srgbClr val="FF0000"/>
                </a:solidFill>
              </a:rPr>
              <a:t>, </a:t>
            </a:r>
            <a:r>
              <a:rPr lang="en-US" dirty="0" err="1">
                <a:solidFill>
                  <a:srgbClr val="FF0000"/>
                </a:solidFill>
              </a:rPr>
              <a:t>Y_val</a:t>
            </a:r>
            <a:r>
              <a:rPr lang="en-US" dirty="0">
                <a:solidFill>
                  <a:srgbClr val="FF0000"/>
                </a:solidFill>
              </a:rPr>
              <a:t> = </a:t>
            </a:r>
            <a:r>
              <a:rPr lang="en-US" dirty="0" err="1">
                <a:solidFill>
                  <a:srgbClr val="FF0000"/>
                </a:solidFill>
              </a:rPr>
              <a:t>train_test_split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 </a:t>
            </a:r>
            <a:r>
              <a:rPr lang="en-US" dirty="0" err="1">
                <a:solidFill>
                  <a:srgbClr val="FF0000"/>
                </a:solidFill>
              </a:rPr>
              <a:t>test_size</a:t>
            </a:r>
            <a:r>
              <a:rPr lang="en-US" dirty="0">
                <a:solidFill>
                  <a:srgbClr val="FF0000"/>
                </a:solidFill>
              </a:rPr>
              <a:t>=0.2, </a:t>
            </a:r>
            <a:r>
              <a:rPr lang="en-US" dirty="0" err="1">
                <a:solidFill>
                  <a:srgbClr val="FF0000"/>
                </a:solidFill>
              </a:rPr>
              <a:t>random_state</a:t>
            </a:r>
            <a:r>
              <a:rPr lang="en-US" dirty="0">
                <a:solidFill>
                  <a:srgbClr val="FF0000"/>
                </a:solidFill>
              </a:rPr>
              <a:t>=100)</a:t>
            </a:r>
          </a:p>
          <a:p>
            <a:pPr algn="just"/>
            <a:endParaRPr lang="en-US" dirty="0">
              <a:solidFill>
                <a:srgbClr val="FF0000"/>
              </a:solidFill>
            </a:endParaRPr>
          </a:p>
          <a:p>
            <a:pPr algn="just"/>
            <a:r>
              <a:rPr lang="en-US" dirty="0">
                <a:solidFill>
                  <a:srgbClr val="FF0000"/>
                </a:solidFill>
              </a:rPr>
              <a:t>print(</a:t>
            </a:r>
            <a:r>
              <a:rPr lang="en-US" dirty="0" err="1">
                <a:solidFill>
                  <a:srgbClr val="FF0000"/>
                </a:solidFill>
              </a:rPr>
              <a:t>f"Size</a:t>
            </a:r>
            <a:r>
              <a:rPr lang="en-US" dirty="0">
                <a:solidFill>
                  <a:srgbClr val="FF0000"/>
                </a:solidFill>
              </a:rPr>
              <a:t> of original training set: {</a:t>
            </a:r>
            <a:r>
              <a:rPr lang="en-US" dirty="0" err="1">
                <a:solidFill>
                  <a:srgbClr val="FF0000"/>
                </a:solidFill>
              </a:rPr>
              <a:t>X_train.shape</a:t>
            </a:r>
            <a:r>
              <a:rPr lang="en-US" dirty="0">
                <a:solidFill>
                  <a:srgbClr val="FF0000"/>
                </a:solidFill>
              </a:rPr>
              <a:t>[0]} points")</a:t>
            </a:r>
          </a:p>
          <a:p>
            <a:pPr algn="just"/>
            <a:r>
              <a:rPr lang="en-US" dirty="0">
                <a:solidFill>
                  <a:srgbClr val="FF0000"/>
                </a:solidFill>
              </a:rPr>
              <a:t>print(</a:t>
            </a:r>
            <a:r>
              <a:rPr lang="en-US" dirty="0" err="1">
                <a:solidFill>
                  <a:srgbClr val="FF0000"/>
                </a:solidFill>
              </a:rPr>
              <a:t>f"Size</a:t>
            </a:r>
            <a:r>
              <a:rPr lang="en-US" dirty="0">
                <a:solidFill>
                  <a:srgbClr val="FF0000"/>
                </a:solidFill>
              </a:rPr>
              <a:t> of mini training set: {</a:t>
            </a:r>
            <a:r>
              <a:rPr lang="en-US" dirty="0" err="1">
                <a:solidFill>
                  <a:srgbClr val="FF0000"/>
                </a:solidFill>
              </a:rPr>
              <a:t>X_train_mini.shape</a:t>
            </a:r>
            <a:r>
              <a:rPr lang="en-US" dirty="0">
                <a:solidFill>
                  <a:srgbClr val="FF0000"/>
                </a:solidFill>
              </a:rPr>
              <a:t>[0]} points")</a:t>
            </a:r>
          </a:p>
          <a:p>
            <a:pPr algn="just"/>
            <a:r>
              <a:rPr lang="en-US" dirty="0">
                <a:solidFill>
                  <a:srgbClr val="FF0000"/>
                </a:solidFill>
              </a:rPr>
              <a:t>print(</a:t>
            </a:r>
            <a:r>
              <a:rPr lang="en-US" dirty="0" err="1">
                <a:solidFill>
                  <a:srgbClr val="FF0000"/>
                </a:solidFill>
              </a:rPr>
              <a:t>f"Size</a:t>
            </a:r>
            <a:r>
              <a:rPr lang="en-US" dirty="0">
                <a:solidFill>
                  <a:srgbClr val="FF0000"/>
                </a:solidFill>
              </a:rPr>
              <a:t> of validation set: {</a:t>
            </a:r>
            <a:r>
              <a:rPr lang="en-US" dirty="0" err="1">
                <a:solidFill>
                  <a:srgbClr val="FF0000"/>
                </a:solidFill>
              </a:rPr>
              <a:t>X_val.shape</a:t>
            </a:r>
            <a:r>
              <a:rPr lang="en-US" dirty="0">
                <a:solidFill>
                  <a:srgbClr val="FF0000"/>
                </a:solidFill>
              </a:rPr>
              <a:t>[0]} points")</a:t>
            </a:r>
          </a:p>
        </p:txBody>
      </p:sp>
      <p:sp>
        <p:nvSpPr>
          <p:cNvPr id="5" name="Slide Number Placeholder 4">
            <a:extLst>
              <a:ext uri="{FF2B5EF4-FFF2-40B4-BE49-F238E27FC236}">
                <a16:creationId xmlns:a16="http://schemas.microsoft.com/office/drawing/2014/main" id="{DAA32A56-F8E9-42BC-A4B9-63D1CF2838E5}"/>
              </a:ext>
            </a:extLst>
          </p:cNvPr>
          <p:cNvSpPr>
            <a:spLocks noGrp="1"/>
          </p:cNvSpPr>
          <p:nvPr>
            <p:ph type="sldNum" sz="quarter" idx="12"/>
          </p:nvPr>
        </p:nvSpPr>
        <p:spPr/>
        <p:txBody>
          <a:bodyPr/>
          <a:lstStyle/>
          <a:p>
            <a:fld id="{6B97D948-30E8-43F7-AE10-F6E2D9F2BBB1}" type="slidenum">
              <a:rPr lang="en-US" smtClean="0"/>
              <a:t>725</a:t>
            </a:fld>
            <a:endParaRPr lang="en-US"/>
          </a:p>
        </p:txBody>
      </p:sp>
    </p:spTree>
    <p:extLst>
      <p:ext uri="{BB962C8B-B14F-4D97-AF65-F5344CB8AC3E}">
        <p14:creationId xmlns:p14="http://schemas.microsoft.com/office/powerpoint/2010/main" val="2530083977"/>
      </p:ext>
    </p:extLst>
  </p:cSld>
  <p:clrMapOvr>
    <a:masterClrMapping/>
  </p:clrMapOvr>
</p:sld>
</file>

<file path=ppt/slides/slide7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AF7BFB-93EB-4B4B-AF38-66F79961B8C0}"/>
              </a:ext>
            </a:extLst>
          </p:cNvPr>
          <p:cNvSpPr>
            <a:spLocks noGrp="1"/>
          </p:cNvSpPr>
          <p:nvPr>
            <p:ph idx="1"/>
          </p:nvPr>
        </p:nvSpPr>
        <p:spPr>
          <a:xfrm>
            <a:off x="838200" y="381001"/>
            <a:ext cx="10515600" cy="901700"/>
          </a:xfrm>
        </p:spPr>
        <p:txBody>
          <a:bodyPr/>
          <a:lstStyle/>
          <a:p>
            <a:pPr algn="just"/>
            <a:r>
              <a:rPr lang="en-US" dirty="0"/>
              <a:t>We can then fit models of increasing polynomial degree and compute their validation errors. </a:t>
            </a:r>
          </a:p>
        </p:txBody>
      </p:sp>
      <p:pic>
        <p:nvPicPr>
          <p:cNvPr id="5" name="Picture 4">
            <a:extLst>
              <a:ext uri="{FF2B5EF4-FFF2-40B4-BE49-F238E27FC236}">
                <a16:creationId xmlns:a16="http://schemas.microsoft.com/office/drawing/2014/main" id="{255E30A2-D055-4380-BB1C-DE2E90CAC417}"/>
              </a:ext>
            </a:extLst>
          </p:cNvPr>
          <p:cNvPicPr>
            <a:picLocks noChangeAspect="1"/>
          </p:cNvPicPr>
          <p:nvPr/>
        </p:nvPicPr>
        <p:blipFill>
          <a:blip r:embed="rId2"/>
          <a:stretch>
            <a:fillRect/>
          </a:stretch>
        </p:blipFill>
        <p:spPr>
          <a:xfrm>
            <a:off x="2524125" y="1519237"/>
            <a:ext cx="7143750" cy="4733925"/>
          </a:xfrm>
          <a:prstGeom prst="rect">
            <a:avLst/>
          </a:prstGeom>
        </p:spPr>
      </p:pic>
      <p:sp>
        <p:nvSpPr>
          <p:cNvPr id="7" name="Slide Number Placeholder 6">
            <a:extLst>
              <a:ext uri="{FF2B5EF4-FFF2-40B4-BE49-F238E27FC236}">
                <a16:creationId xmlns:a16="http://schemas.microsoft.com/office/drawing/2014/main" id="{B320F799-CC01-4BB6-B06E-E19D7EB09769}"/>
              </a:ext>
            </a:extLst>
          </p:cNvPr>
          <p:cNvSpPr>
            <a:spLocks noGrp="1"/>
          </p:cNvSpPr>
          <p:nvPr>
            <p:ph type="sldNum" sz="quarter" idx="12"/>
          </p:nvPr>
        </p:nvSpPr>
        <p:spPr/>
        <p:txBody>
          <a:bodyPr/>
          <a:lstStyle/>
          <a:p>
            <a:fld id="{6B97D948-30E8-43F7-AE10-F6E2D9F2BBB1}" type="slidenum">
              <a:rPr lang="en-US" smtClean="0"/>
              <a:t>726</a:t>
            </a:fld>
            <a:endParaRPr lang="en-US"/>
          </a:p>
        </p:txBody>
      </p:sp>
    </p:spTree>
    <p:extLst>
      <p:ext uri="{BB962C8B-B14F-4D97-AF65-F5344CB8AC3E}">
        <p14:creationId xmlns:p14="http://schemas.microsoft.com/office/powerpoint/2010/main" val="2189600977"/>
      </p:ext>
    </p:extLst>
  </p:cSld>
  <p:clrMapOvr>
    <a:masterClrMapping/>
  </p:clrMapOvr>
</p:sld>
</file>

<file path=ppt/slides/slide7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4466A3-6CAB-438F-B763-152771055D74}"/>
              </a:ext>
            </a:extLst>
          </p:cNvPr>
          <p:cNvSpPr>
            <a:spLocks noGrp="1"/>
          </p:cNvSpPr>
          <p:nvPr>
            <p:ph idx="1"/>
          </p:nvPr>
        </p:nvSpPr>
        <p:spPr>
          <a:xfrm>
            <a:off x="838200" y="508000"/>
            <a:ext cx="10515600" cy="5668963"/>
          </a:xfrm>
        </p:spPr>
        <p:txBody>
          <a:bodyPr>
            <a:normAutofit fontScale="77500" lnSpcReduction="20000"/>
          </a:bodyPr>
          <a:lstStyle/>
          <a:p>
            <a:pPr algn="just"/>
            <a:r>
              <a:rPr lang="en-US" dirty="0"/>
              <a:t>We note that the validation error behaves quite differently to the training error explored previously. </a:t>
            </a:r>
          </a:p>
          <a:p>
            <a:pPr algn="just"/>
            <a:endParaRPr lang="en-US" dirty="0"/>
          </a:p>
          <a:p>
            <a:pPr algn="just"/>
            <a:r>
              <a:rPr lang="en-US" dirty="0"/>
              <a:t>Recall that the </a:t>
            </a:r>
            <a:r>
              <a:rPr lang="en-US" dirty="0">
                <a:solidFill>
                  <a:srgbClr val="FF0000"/>
                </a:solidFill>
              </a:rPr>
              <a:t>training error decreased </a:t>
            </a:r>
            <a:r>
              <a:rPr lang="en-US" dirty="0">
                <a:solidFill>
                  <a:srgbClr val="7030A0"/>
                </a:solidFill>
              </a:rPr>
              <a:t>monotonically</a:t>
            </a:r>
            <a:r>
              <a:rPr lang="en-US" dirty="0">
                <a:solidFill>
                  <a:srgbClr val="FF0000"/>
                </a:solidFill>
              </a:rPr>
              <a:t> with increasing model degree</a:t>
            </a:r>
            <a:r>
              <a:rPr lang="en-US" dirty="0"/>
              <a:t> – as the model became more complex, it made better and better predictions on the training data. </a:t>
            </a:r>
          </a:p>
          <a:p>
            <a:pPr algn="just"/>
            <a:endParaRPr lang="en-US" dirty="0"/>
          </a:p>
          <a:p>
            <a:pPr algn="just"/>
            <a:r>
              <a:rPr lang="en-US" dirty="0"/>
              <a:t>The validation error, in contrast, decreases then increases as we increase model complexity. </a:t>
            </a:r>
          </a:p>
          <a:p>
            <a:pPr algn="just"/>
            <a:endParaRPr lang="en-US" dirty="0"/>
          </a:p>
          <a:p>
            <a:pPr algn="just"/>
            <a:r>
              <a:rPr lang="en-US" dirty="0"/>
              <a:t>This reflects the transition from under- to overfitting. </a:t>
            </a:r>
          </a:p>
          <a:p>
            <a:pPr algn="just"/>
            <a:endParaRPr lang="en-US" dirty="0"/>
          </a:p>
          <a:p>
            <a:pPr algn="just"/>
            <a:r>
              <a:rPr lang="en-US" dirty="0"/>
              <a:t>At low model complexity, the model underfits because it is not complex enough to capture the main trends in the data. </a:t>
            </a:r>
          </a:p>
          <a:p>
            <a:pPr algn="just"/>
            <a:endParaRPr lang="en-US" dirty="0"/>
          </a:p>
          <a:p>
            <a:pPr algn="just"/>
            <a:r>
              <a:rPr lang="en-US" dirty="0"/>
              <a:t>At high model complexity, the model overfits because it “memorizes” the training data too closely.</a:t>
            </a:r>
          </a:p>
        </p:txBody>
      </p:sp>
      <p:sp>
        <p:nvSpPr>
          <p:cNvPr id="5" name="Slide Number Placeholder 4">
            <a:extLst>
              <a:ext uri="{FF2B5EF4-FFF2-40B4-BE49-F238E27FC236}">
                <a16:creationId xmlns:a16="http://schemas.microsoft.com/office/drawing/2014/main" id="{BD82BB9B-48CF-4F3C-9639-6273ED647269}"/>
              </a:ext>
            </a:extLst>
          </p:cNvPr>
          <p:cNvSpPr>
            <a:spLocks noGrp="1"/>
          </p:cNvSpPr>
          <p:nvPr>
            <p:ph type="sldNum" sz="quarter" idx="12"/>
          </p:nvPr>
        </p:nvSpPr>
        <p:spPr/>
        <p:txBody>
          <a:bodyPr/>
          <a:lstStyle/>
          <a:p>
            <a:fld id="{6B97D948-30E8-43F7-AE10-F6E2D9F2BBB1}" type="slidenum">
              <a:rPr lang="en-US" smtClean="0"/>
              <a:t>727</a:t>
            </a:fld>
            <a:endParaRPr lang="en-US"/>
          </a:p>
        </p:txBody>
      </p:sp>
    </p:spTree>
    <p:extLst>
      <p:ext uri="{BB962C8B-B14F-4D97-AF65-F5344CB8AC3E}">
        <p14:creationId xmlns:p14="http://schemas.microsoft.com/office/powerpoint/2010/main" val="2093038253"/>
      </p:ext>
    </p:extLst>
  </p:cSld>
  <p:clrMapOvr>
    <a:masterClrMapping/>
  </p:clrMapOvr>
</p:sld>
</file>

<file path=ppt/slides/slide7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B68C2-8571-44A5-9DE7-791ABC8C7288}"/>
              </a:ext>
            </a:extLst>
          </p:cNvPr>
          <p:cNvSpPr>
            <a:spLocks noGrp="1"/>
          </p:cNvSpPr>
          <p:nvPr>
            <p:ph type="title"/>
          </p:nvPr>
        </p:nvSpPr>
        <p:spPr>
          <a:xfrm>
            <a:off x="838200" y="365125"/>
            <a:ext cx="10515600" cy="625475"/>
          </a:xfrm>
        </p:spPr>
        <p:txBody>
          <a:bodyPr>
            <a:normAutofit fontScale="90000"/>
          </a:bodyPr>
          <a:lstStyle/>
          <a:p>
            <a:r>
              <a:rPr lang="en-US" dirty="0"/>
              <a:t>Bias-Variance Trade-off</a:t>
            </a:r>
          </a:p>
        </p:txBody>
      </p:sp>
      <p:sp>
        <p:nvSpPr>
          <p:cNvPr id="3" name="Content Placeholder 2">
            <a:extLst>
              <a:ext uri="{FF2B5EF4-FFF2-40B4-BE49-F238E27FC236}">
                <a16:creationId xmlns:a16="http://schemas.microsoft.com/office/drawing/2014/main" id="{8313B43B-E588-4848-876A-8BA2D244C9AF}"/>
              </a:ext>
            </a:extLst>
          </p:cNvPr>
          <p:cNvSpPr>
            <a:spLocks noGrp="1"/>
          </p:cNvSpPr>
          <p:nvPr>
            <p:ph idx="1"/>
          </p:nvPr>
        </p:nvSpPr>
        <p:spPr>
          <a:xfrm>
            <a:off x="838200" y="990600"/>
            <a:ext cx="10515600" cy="5186363"/>
          </a:xfrm>
        </p:spPr>
        <p:txBody>
          <a:bodyPr/>
          <a:lstStyle/>
          <a:p>
            <a:pPr algn="just"/>
            <a:r>
              <a:rPr lang="en-US" dirty="0"/>
              <a:t>We can update our understanding of the relationships between error, complexity, and model variance:</a:t>
            </a:r>
          </a:p>
        </p:txBody>
      </p:sp>
      <p:pic>
        <p:nvPicPr>
          <p:cNvPr id="5" name="Picture 4">
            <a:extLst>
              <a:ext uri="{FF2B5EF4-FFF2-40B4-BE49-F238E27FC236}">
                <a16:creationId xmlns:a16="http://schemas.microsoft.com/office/drawing/2014/main" id="{91FA1FA3-A3EF-4084-8B39-3BDB36EC25AB}"/>
              </a:ext>
            </a:extLst>
          </p:cNvPr>
          <p:cNvPicPr>
            <a:picLocks noChangeAspect="1"/>
          </p:cNvPicPr>
          <p:nvPr/>
        </p:nvPicPr>
        <p:blipFill>
          <a:blip r:embed="rId2"/>
          <a:stretch>
            <a:fillRect/>
          </a:stretch>
        </p:blipFill>
        <p:spPr>
          <a:xfrm>
            <a:off x="3119437" y="2103437"/>
            <a:ext cx="5953125" cy="4124325"/>
          </a:xfrm>
          <a:prstGeom prst="rect">
            <a:avLst/>
          </a:prstGeom>
        </p:spPr>
      </p:pic>
      <p:sp>
        <p:nvSpPr>
          <p:cNvPr id="7" name="Slide Number Placeholder 6">
            <a:extLst>
              <a:ext uri="{FF2B5EF4-FFF2-40B4-BE49-F238E27FC236}">
                <a16:creationId xmlns:a16="http://schemas.microsoft.com/office/drawing/2014/main" id="{63C2DE1B-017E-4DFB-933C-C26B83B771A1}"/>
              </a:ext>
            </a:extLst>
          </p:cNvPr>
          <p:cNvSpPr>
            <a:spLocks noGrp="1"/>
          </p:cNvSpPr>
          <p:nvPr>
            <p:ph type="sldNum" sz="quarter" idx="12"/>
          </p:nvPr>
        </p:nvSpPr>
        <p:spPr/>
        <p:txBody>
          <a:bodyPr/>
          <a:lstStyle/>
          <a:p>
            <a:fld id="{6B97D948-30E8-43F7-AE10-F6E2D9F2BBB1}" type="slidenum">
              <a:rPr lang="en-US" smtClean="0"/>
              <a:t>728</a:t>
            </a:fld>
            <a:endParaRPr lang="en-US"/>
          </a:p>
        </p:txBody>
      </p:sp>
    </p:spTree>
    <p:extLst>
      <p:ext uri="{BB962C8B-B14F-4D97-AF65-F5344CB8AC3E}">
        <p14:creationId xmlns:p14="http://schemas.microsoft.com/office/powerpoint/2010/main" val="858544520"/>
      </p:ext>
    </p:extLst>
  </p:cSld>
  <p:clrMapOvr>
    <a:masterClrMapping/>
  </p:clrMapOvr>
</p:sld>
</file>

<file path=ppt/slides/slide7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15F14-6616-4C5A-97B8-F9CA4C41D894}"/>
              </a:ext>
            </a:extLst>
          </p:cNvPr>
          <p:cNvSpPr>
            <a:spLocks noGrp="1"/>
          </p:cNvSpPr>
          <p:nvPr>
            <p:ph type="title"/>
          </p:nvPr>
        </p:nvSpPr>
        <p:spPr>
          <a:xfrm>
            <a:off x="838200" y="365125"/>
            <a:ext cx="10515600" cy="803275"/>
          </a:xfrm>
        </p:spPr>
        <p:txBody>
          <a:bodyPr/>
          <a:lstStyle/>
          <a:p>
            <a:r>
              <a:rPr lang="en-US" dirty="0"/>
              <a:t>The Goal</a:t>
            </a:r>
          </a:p>
        </p:txBody>
      </p:sp>
      <p:sp>
        <p:nvSpPr>
          <p:cNvPr id="3" name="Content Placeholder 2">
            <a:extLst>
              <a:ext uri="{FF2B5EF4-FFF2-40B4-BE49-F238E27FC236}">
                <a16:creationId xmlns:a16="http://schemas.microsoft.com/office/drawing/2014/main" id="{B315B3D0-4BF5-4CEE-A78D-28A499381841}"/>
              </a:ext>
            </a:extLst>
          </p:cNvPr>
          <p:cNvSpPr>
            <a:spLocks noGrp="1"/>
          </p:cNvSpPr>
          <p:nvPr>
            <p:ph idx="1"/>
          </p:nvPr>
        </p:nvSpPr>
        <p:spPr>
          <a:xfrm>
            <a:off x="838200" y="1168400"/>
            <a:ext cx="10515600" cy="5008563"/>
          </a:xfrm>
        </p:spPr>
        <p:txBody>
          <a:bodyPr/>
          <a:lstStyle/>
          <a:p>
            <a:pPr algn="just"/>
            <a:r>
              <a:rPr lang="en-US" dirty="0"/>
              <a:t>Our goal is to train a model with complexity near the black dotted line – this is where our model achieves minimum error on the validation set. </a:t>
            </a:r>
          </a:p>
        </p:txBody>
      </p:sp>
      <p:sp>
        <p:nvSpPr>
          <p:cNvPr id="5" name="Slide Number Placeholder 4">
            <a:extLst>
              <a:ext uri="{FF2B5EF4-FFF2-40B4-BE49-F238E27FC236}">
                <a16:creationId xmlns:a16="http://schemas.microsoft.com/office/drawing/2014/main" id="{52E86BDA-2D66-4610-A0F3-E10E51934197}"/>
              </a:ext>
            </a:extLst>
          </p:cNvPr>
          <p:cNvSpPr>
            <a:spLocks noGrp="1"/>
          </p:cNvSpPr>
          <p:nvPr>
            <p:ph type="sldNum" sz="quarter" idx="12"/>
          </p:nvPr>
        </p:nvSpPr>
        <p:spPr/>
        <p:txBody>
          <a:bodyPr/>
          <a:lstStyle/>
          <a:p>
            <a:fld id="{6B97D948-30E8-43F7-AE10-F6E2D9F2BBB1}" type="slidenum">
              <a:rPr lang="en-US" smtClean="0"/>
              <a:t>729</a:t>
            </a:fld>
            <a:endParaRPr lang="en-US"/>
          </a:p>
        </p:txBody>
      </p:sp>
    </p:spTree>
    <p:extLst>
      <p:ext uri="{BB962C8B-B14F-4D97-AF65-F5344CB8AC3E}">
        <p14:creationId xmlns:p14="http://schemas.microsoft.com/office/powerpoint/2010/main" val="1108363055"/>
      </p:ext>
    </p:extLst>
  </p:cSld>
  <p:clrMapOvr>
    <a:masterClrMapping/>
  </p:clrMapOvr>
</p:sld>
</file>

<file path=ppt/slides/slide7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1DBDE-F803-4EF5-93D1-31F0252A574A}"/>
              </a:ext>
            </a:extLst>
          </p:cNvPr>
          <p:cNvSpPr>
            <a:spLocks noGrp="1"/>
          </p:cNvSpPr>
          <p:nvPr>
            <p:ph type="title"/>
          </p:nvPr>
        </p:nvSpPr>
        <p:spPr>
          <a:xfrm>
            <a:off x="838200" y="365125"/>
            <a:ext cx="10515600" cy="650875"/>
          </a:xfrm>
        </p:spPr>
        <p:txBody>
          <a:bodyPr>
            <a:normAutofit fontScale="90000"/>
          </a:bodyPr>
          <a:lstStyle/>
          <a:p>
            <a:r>
              <a:rPr lang="en-US" dirty="0"/>
              <a:t>Cross-Validation</a:t>
            </a:r>
          </a:p>
        </p:txBody>
      </p:sp>
      <p:sp>
        <p:nvSpPr>
          <p:cNvPr id="3" name="Content Placeholder 2">
            <a:extLst>
              <a:ext uri="{FF2B5EF4-FFF2-40B4-BE49-F238E27FC236}">
                <a16:creationId xmlns:a16="http://schemas.microsoft.com/office/drawing/2014/main" id="{00B13206-DEEA-4303-971C-14BF56B958CA}"/>
              </a:ext>
            </a:extLst>
          </p:cNvPr>
          <p:cNvSpPr>
            <a:spLocks noGrp="1"/>
          </p:cNvSpPr>
          <p:nvPr>
            <p:ph idx="1"/>
          </p:nvPr>
        </p:nvSpPr>
        <p:spPr>
          <a:xfrm>
            <a:off x="838200" y="1016000"/>
            <a:ext cx="10515600" cy="5160963"/>
          </a:xfrm>
        </p:spPr>
        <p:txBody>
          <a:bodyPr>
            <a:normAutofit fontScale="85000" lnSpcReduction="20000"/>
          </a:bodyPr>
          <a:lstStyle/>
          <a:p>
            <a:pPr algn="just"/>
            <a:r>
              <a:rPr lang="en-US" dirty="0"/>
              <a:t>Introducing a validation set gave us an “extra” chance to assess model performance on one other set of unseen data. </a:t>
            </a:r>
          </a:p>
          <a:p>
            <a:pPr algn="just"/>
            <a:endParaRPr lang="en-US" dirty="0"/>
          </a:p>
          <a:p>
            <a:pPr algn="just"/>
            <a:r>
              <a:rPr lang="en-US" dirty="0"/>
              <a:t>We are able to finetune the model design based on its performance on this one set of validation data.</a:t>
            </a:r>
          </a:p>
          <a:p>
            <a:pPr algn="just"/>
            <a:endParaRPr lang="en-US" dirty="0"/>
          </a:p>
          <a:p>
            <a:pPr algn="just"/>
            <a:r>
              <a:rPr lang="en-US" dirty="0"/>
              <a:t>But what if, by random chance, our validation set just happened to contain </a:t>
            </a:r>
            <a:r>
              <a:rPr lang="en-US" dirty="0">
                <a:solidFill>
                  <a:srgbClr val="FF0000"/>
                </a:solidFill>
              </a:rPr>
              <a:t>many outliers</a:t>
            </a:r>
            <a:r>
              <a:rPr lang="en-US" dirty="0"/>
              <a:t>? </a:t>
            </a:r>
          </a:p>
          <a:p>
            <a:pPr algn="just"/>
            <a:r>
              <a:rPr lang="en-US" dirty="0"/>
              <a:t>It is possible that the validation datapoints we set aside do not actually </a:t>
            </a:r>
            <a:r>
              <a:rPr lang="en-US" dirty="0">
                <a:solidFill>
                  <a:srgbClr val="FF0000"/>
                </a:solidFill>
              </a:rPr>
              <a:t>represent</a:t>
            </a:r>
            <a:r>
              <a:rPr lang="en-US" dirty="0"/>
              <a:t> other unseen data that the model might encounter. </a:t>
            </a:r>
          </a:p>
          <a:p>
            <a:pPr algn="just"/>
            <a:r>
              <a:rPr lang="en-US" dirty="0"/>
              <a:t>Ideally, we would like </a:t>
            </a:r>
            <a:r>
              <a:rPr lang="en-US" dirty="0">
                <a:solidFill>
                  <a:srgbClr val="FF0000"/>
                </a:solidFill>
              </a:rPr>
              <a:t>to validate our model’s performance on several different unseen datasets</a:t>
            </a:r>
            <a:r>
              <a:rPr lang="en-US" dirty="0"/>
              <a:t>. </a:t>
            </a:r>
          </a:p>
          <a:p>
            <a:pPr algn="just"/>
            <a:endParaRPr lang="en-US" dirty="0"/>
          </a:p>
          <a:p>
            <a:pPr algn="just"/>
            <a:r>
              <a:rPr lang="en-US" dirty="0"/>
              <a:t>This would give us </a:t>
            </a:r>
            <a:r>
              <a:rPr lang="en-US" dirty="0">
                <a:solidFill>
                  <a:srgbClr val="FF0000"/>
                </a:solidFill>
              </a:rPr>
              <a:t>greater confidence in our understanding </a:t>
            </a:r>
            <a:r>
              <a:rPr lang="en-US" dirty="0"/>
              <a:t>of how the model behaves on new data.</a:t>
            </a:r>
          </a:p>
        </p:txBody>
      </p:sp>
      <p:sp>
        <p:nvSpPr>
          <p:cNvPr id="5" name="Slide Number Placeholder 4">
            <a:extLst>
              <a:ext uri="{FF2B5EF4-FFF2-40B4-BE49-F238E27FC236}">
                <a16:creationId xmlns:a16="http://schemas.microsoft.com/office/drawing/2014/main" id="{3C483B50-94E9-44F9-AA27-CE01F6D1A51F}"/>
              </a:ext>
            </a:extLst>
          </p:cNvPr>
          <p:cNvSpPr>
            <a:spLocks noGrp="1"/>
          </p:cNvSpPr>
          <p:nvPr>
            <p:ph type="sldNum" sz="quarter" idx="12"/>
          </p:nvPr>
        </p:nvSpPr>
        <p:spPr/>
        <p:txBody>
          <a:bodyPr/>
          <a:lstStyle/>
          <a:p>
            <a:fld id="{6B97D948-30E8-43F7-AE10-F6E2D9F2BBB1}" type="slidenum">
              <a:rPr lang="en-US" smtClean="0"/>
              <a:t>730</a:t>
            </a:fld>
            <a:endParaRPr lang="en-US"/>
          </a:p>
        </p:txBody>
      </p:sp>
    </p:spTree>
    <p:extLst>
      <p:ext uri="{BB962C8B-B14F-4D97-AF65-F5344CB8AC3E}">
        <p14:creationId xmlns:p14="http://schemas.microsoft.com/office/powerpoint/2010/main" val="3431471975"/>
      </p:ext>
    </p:extLst>
  </p:cSld>
  <p:clrMapOvr>
    <a:masterClrMapping/>
  </p:clrMapOvr>
</p:sld>
</file>

<file path=ppt/slides/slide7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56B600-7103-497F-80BF-08A043440521}"/>
              </a:ext>
            </a:extLst>
          </p:cNvPr>
          <p:cNvSpPr>
            <a:spLocks noGrp="1"/>
          </p:cNvSpPr>
          <p:nvPr>
            <p:ph idx="1"/>
          </p:nvPr>
        </p:nvSpPr>
        <p:spPr>
          <a:xfrm>
            <a:off x="838200" y="674914"/>
            <a:ext cx="10515600" cy="5502049"/>
          </a:xfrm>
        </p:spPr>
        <p:txBody>
          <a:bodyPr>
            <a:normAutofit/>
          </a:bodyPr>
          <a:lstStyle/>
          <a:p>
            <a:pPr algn="just"/>
            <a:r>
              <a:rPr lang="en-US" dirty="0"/>
              <a:t>Think about how our validation framework worked. </a:t>
            </a:r>
          </a:p>
          <a:p>
            <a:pPr algn="just"/>
            <a:endParaRPr lang="en-US" dirty="0"/>
          </a:p>
          <a:p>
            <a:pPr algn="just"/>
            <a:r>
              <a:rPr lang="en-US" dirty="0"/>
              <a:t>Earlier, we set aside some portion of our training data (say, 20%) to use for validation.</a:t>
            </a:r>
          </a:p>
          <a:p>
            <a:pPr algn="just"/>
            <a:endParaRPr lang="en-US" dirty="0"/>
          </a:p>
          <a:p>
            <a:pPr algn="just"/>
            <a:endParaRPr lang="en-US" dirty="0"/>
          </a:p>
          <a:p>
            <a:pPr algn="just"/>
            <a:r>
              <a:rPr lang="en-US" dirty="0"/>
              <a:t> In this example, we set aside the first 20% of training datapoints for the validation set. </a:t>
            </a:r>
          </a:p>
          <a:p>
            <a:pPr algn="just"/>
            <a:r>
              <a:rPr lang="en-US" dirty="0"/>
              <a:t>This was an arbitrary choice. </a:t>
            </a:r>
          </a:p>
          <a:p>
            <a:pPr algn="just"/>
            <a:endParaRPr lang="en-US" dirty="0"/>
          </a:p>
          <a:p>
            <a:pPr algn="just"/>
            <a:endParaRPr lang="en-US" dirty="0"/>
          </a:p>
        </p:txBody>
      </p:sp>
      <p:pic>
        <p:nvPicPr>
          <p:cNvPr id="7" name="Picture 6">
            <a:extLst>
              <a:ext uri="{FF2B5EF4-FFF2-40B4-BE49-F238E27FC236}">
                <a16:creationId xmlns:a16="http://schemas.microsoft.com/office/drawing/2014/main" id="{751FA5F8-9AB1-4F79-86B0-8C190E1F3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6979" y="2457062"/>
            <a:ext cx="2756042" cy="914447"/>
          </a:xfrm>
          <a:prstGeom prst="rect">
            <a:avLst/>
          </a:prstGeom>
        </p:spPr>
      </p:pic>
      <p:sp>
        <p:nvSpPr>
          <p:cNvPr id="9" name="Slide Number Placeholder 8">
            <a:extLst>
              <a:ext uri="{FF2B5EF4-FFF2-40B4-BE49-F238E27FC236}">
                <a16:creationId xmlns:a16="http://schemas.microsoft.com/office/drawing/2014/main" id="{F57C1FBA-79AE-4538-917A-BECDCC8FA475}"/>
              </a:ext>
            </a:extLst>
          </p:cNvPr>
          <p:cNvSpPr>
            <a:spLocks noGrp="1"/>
          </p:cNvSpPr>
          <p:nvPr>
            <p:ph type="sldNum" sz="quarter" idx="12"/>
          </p:nvPr>
        </p:nvSpPr>
        <p:spPr/>
        <p:txBody>
          <a:bodyPr/>
          <a:lstStyle/>
          <a:p>
            <a:fld id="{6B97D948-30E8-43F7-AE10-F6E2D9F2BBB1}" type="slidenum">
              <a:rPr lang="en-US" smtClean="0"/>
              <a:t>731</a:t>
            </a:fld>
            <a:endParaRPr lang="en-US"/>
          </a:p>
        </p:txBody>
      </p:sp>
    </p:spTree>
    <p:extLst>
      <p:ext uri="{BB962C8B-B14F-4D97-AF65-F5344CB8AC3E}">
        <p14:creationId xmlns:p14="http://schemas.microsoft.com/office/powerpoint/2010/main" val="3621153481"/>
      </p:ext>
    </p:extLst>
  </p:cSld>
  <p:clrMapOvr>
    <a:masterClrMapping/>
  </p:clrMapOvr>
</p:sld>
</file>

<file path=ppt/slides/slide7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C05889-7F0D-4E52-9DA0-19487A2D26DC}"/>
              </a:ext>
            </a:extLst>
          </p:cNvPr>
          <p:cNvSpPr>
            <a:spLocks noGrp="1"/>
          </p:cNvSpPr>
          <p:nvPr>
            <p:ph idx="1"/>
          </p:nvPr>
        </p:nvSpPr>
        <p:spPr>
          <a:xfrm>
            <a:off x="838200" y="685800"/>
            <a:ext cx="10515600" cy="5491163"/>
          </a:xfrm>
        </p:spPr>
        <p:txBody>
          <a:bodyPr>
            <a:normAutofit lnSpcReduction="10000"/>
          </a:bodyPr>
          <a:lstStyle/>
          <a:p>
            <a:pPr algn="just"/>
            <a:r>
              <a:rPr lang="en-US" dirty="0"/>
              <a:t>We could have set aside any 20% portion of the training data for validation. </a:t>
            </a:r>
          </a:p>
          <a:p>
            <a:pPr algn="just"/>
            <a:endParaRPr lang="en-US" dirty="0"/>
          </a:p>
          <a:p>
            <a:pPr algn="just"/>
            <a:r>
              <a:rPr lang="en-US" dirty="0"/>
              <a:t>In fact, there are 5 non-overlapping “chunks” of training points that we could have designated as the validation set.</a:t>
            </a:r>
          </a:p>
          <a:p>
            <a:pPr algn="just"/>
            <a:endParaRPr lang="en-US" dirty="0"/>
          </a:p>
          <a:p>
            <a:pPr algn="just"/>
            <a:endParaRPr lang="en-US" dirty="0"/>
          </a:p>
          <a:p>
            <a:pPr algn="just"/>
            <a:r>
              <a:rPr lang="en-US" dirty="0"/>
              <a:t>The common term for one of these chunks is a </a:t>
            </a:r>
            <a:r>
              <a:rPr lang="en-US" b="1" dirty="0"/>
              <a:t>fold</a:t>
            </a:r>
            <a:r>
              <a:rPr lang="en-US" dirty="0"/>
              <a:t>. </a:t>
            </a:r>
          </a:p>
          <a:p>
            <a:pPr algn="just"/>
            <a:r>
              <a:rPr lang="en-US" dirty="0"/>
              <a:t>In this example, we had 5 folds, each containing 20% of the training data. </a:t>
            </a:r>
          </a:p>
          <a:p>
            <a:pPr algn="just"/>
            <a:r>
              <a:rPr lang="en-US" dirty="0"/>
              <a:t>This gives us a new perspective: we really have </a:t>
            </a:r>
            <a:r>
              <a:rPr lang="en-US" i="1" dirty="0"/>
              <a:t>5</a:t>
            </a:r>
            <a:r>
              <a:rPr lang="en-US" dirty="0"/>
              <a:t> validation sets “hidden” in our training set.</a:t>
            </a:r>
          </a:p>
          <a:p>
            <a:endParaRPr lang="en-US" dirty="0"/>
          </a:p>
        </p:txBody>
      </p:sp>
      <p:pic>
        <p:nvPicPr>
          <p:cNvPr id="5" name="Picture 4">
            <a:extLst>
              <a:ext uri="{FF2B5EF4-FFF2-40B4-BE49-F238E27FC236}">
                <a16:creationId xmlns:a16="http://schemas.microsoft.com/office/drawing/2014/main" id="{3F4536E7-5FF2-42A0-AD39-F698D568F1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726" y="3028929"/>
            <a:ext cx="10668548" cy="800141"/>
          </a:xfrm>
          <a:prstGeom prst="rect">
            <a:avLst/>
          </a:prstGeom>
        </p:spPr>
      </p:pic>
      <p:sp>
        <p:nvSpPr>
          <p:cNvPr id="7" name="Slide Number Placeholder 6">
            <a:extLst>
              <a:ext uri="{FF2B5EF4-FFF2-40B4-BE49-F238E27FC236}">
                <a16:creationId xmlns:a16="http://schemas.microsoft.com/office/drawing/2014/main" id="{292AB567-6407-4648-9833-8A1EC25C5979}"/>
              </a:ext>
            </a:extLst>
          </p:cNvPr>
          <p:cNvSpPr>
            <a:spLocks noGrp="1"/>
          </p:cNvSpPr>
          <p:nvPr>
            <p:ph type="sldNum" sz="quarter" idx="12"/>
          </p:nvPr>
        </p:nvSpPr>
        <p:spPr/>
        <p:txBody>
          <a:bodyPr/>
          <a:lstStyle/>
          <a:p>
            <a:fld id="{6B97D948-30E8-43F7-AE10-F6E2D9F2BBB1}" type="slidenum">
              <a:rPr lang="en-US" smtClean="0"/>
              <a:t>732</a:t>
            </a:fld>
            <a:endParaRPr lang="en-US"/>
          </a:p>
        </p:txBody>
      </p:sp>
    </p:spTree>
    <p:extLst>
      <p:ext uri="{BB962C8B-B14F-4D97-AF65-F5344CB8AC3E}">
        <p14:creationId xmlns:p14="http://schemas.microsoft.com/office/powerpoint/2010/main" val="4104310593"/>
      </p:ext>
    </p:extLst>
  </p:cSld>
  <p:clrMapOvr>
    <a:masterClrMapping/>
  </p:clrMapOvr>
</p:sld>
</file>

<file path=ppt/slides/slide7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F6DFFA-B9C1-4311-8748-B151466E004F}"/>
                  </a:ext>
                </a:extLst>
              </p:cNvPr>
              <p:cNvSpPr>
                <a:spLocks noGrp="1"/>
              </p:cNvSpPr>
              <p:nvPr>
                <p:ph idx="1"/>
              </p:nvPr>
            </p:nvSpPr>
            <p:spPr>
              <a:xfrm>
                <a:off x="838200" y="707571"/>
                <a:ext cx="10515600" cy="5469392"/>
              </a:xfrm>
            </p:spPr>
            <p:txBody>
              <a:bodyPr>
                <a:normAutofit/>
              </a:bodyPr>
              <a:lstStyle/>
              <a:p>
                <a:pPr algn="just"/>
                <a:r>
                  <a:rPr lang="en-US" dirty="0"/>
                  <a:t>In cross-validation, we perform validation splits for each fold in the training set. </a:t>
                </a:r>
              </a:p>
              <a:p>
                <a:pPr algn="just"/>
                <a:endParaRPr lang="en-US" dirty="0"/>
              </a:p>
              <a:p>
                <a:pPr algn="just"/>
                <a:r>
                  <a:rPr lang="en-US" dirty="0"/>
                  <a:t>For a dataset with folds, we:</a:t>
                </a:r>
              </a:p>
              <a:p>
                <a:pPr algn="just"/>
                <a:endParaRPr lang="en-US" dirty="0"/>
              </a:p>
              <a:p>
                <a:pPr algn="just"/>
                <a:r>
                  <a:rPr lang="en-US" dirty="0"/>
                  <a:t>Pick one fold to be the validation fold</a:t>
                </a:r>
              </a:p>
              <a:p>
                <a:pPr algn="just"/>
                <a:r>
                  <a:rPr lang="en-US" dirty="0"/>
                  <a:t>Fit the model to training data from every fold other than the validation fold</a:t>
                </a:r>
              </a:p>
              <a:p>
                <a:pPr algn="just"/>
                <a:r>
                  <a:rPr lang="en-US" dirty="0"/>
                  <a:t>Compute the model’s error on the validation fold and record it</a:t>
                </a:r>
              </a:p>
              <a:p>
                <a:pPr algn="just"/>
                <a:r>
                  <a:rPr lang="en-US" dirty="0"/>
                  <a:t>Repeat for all </a:t>
                </a:r>
                <a14:m>
                  <m:oMath xmlns:m="http://schemas.openxmlformats.org/officeDocument/2006/math">
                    <m:r>
                      <a:rPr lang="en-US" b="0" i="1" smtClean="0">
                        <a:latin typeface="Cambria Math" panose="02040503050406030204" pitchFamily="18" charset="0"/>
                      </a:rPr>
                      <m:t>𝑘</m:t>
                    </m:r>
                  </m:oMath>
                </a14:m>
                <a:r>
                  <a:rPr lang="en-US" dirty="0"/>
                  <a:t> folds</a:t>
                </a:r>
              </a:p>
            </p:txBody>
          </p:sp>
        </mc:Choice>
        <mc:Fallback xmlns="">
          <p:sp>
            <p:nvSpPr>
              <p:cNvPr id="3" name="Content Placeholder 2">
                <a:extLst>
                  <a:ext uri="{FF2B5EF4-FFF2-40B4-BE49-F238E27FC236}">
                    <a16:creationId xmlns:a16="http://schemas.microsoft.com/office/drawing/2014/main" id="{46F6DFFA-B9C1-4311-8748-B151466E004F}"/>
                  </a:ext>
                </a:extLst>
              </p:cNvPr>
              <p:cNvSpPr>
                <a:spLocks noGrp="1" noRot="1" noChangeAspect="1" noMove="1" noResize="1" noEditPoints="1" noAdjustHandles="1" noChangeArrowheads="1" noChangeShapeType="1" noTextEdit="1"/>
              </p:cNvSpPr>
              <p:nvPr>
                <p:ph idx="1"/>
              </p:nvPr>
            </p:nvSpPr>
            <p:spPr>
              <a:xfrm>
                <a:off x="838200" y="707571"/>
                <a:ext cx="10515600" cy="5469392"/>
              </a:xfrm>
              <a:blipFill>
                <a:blip r:embed="rId2"/>
                <a:stretch>
                  <a:fillRect l="-1043" t="-1784"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D5352891-AA02-4EA9-BC82-EA3FFBDDEE40}"/>
              </a:ext>
            </a:extLst>
          </p:cNvPr>
          <p:cNvSpPr>
            <a:spLocks noGrp="1"/>
          </p:cNvSpPr>
          <p:nvPr>
            <p:ph type="sldNum" sz="quarter" idx="12"/>
          </p:nvPr>
        </p:nvSpPr>
        <p:spPr/>
        <p:txBody>
          <a:bodyPr/>
          <a:lstStyle/>
          <a:p>
            <a:fld id="{6B97D948-30E8-43F7-AE10-F6E2D9F2BBB1}" type="slidenum">
              <a:rPr lang="en-US" smtClean="0"/>
              <a:t>733</a:t>
            </a:fld>
            <a:endParaRPr lang="en-US"/>
          </a:p>
        </p:txBody>
      </p:sp>
    </p:spTree>
    <p:extLst>
      <p:ext uri="{BB962C8B-B14F-4D97-AF65-F5344CB8AC3E}">
        <p14:creationId xmlns:p14="http://schemas.microsoft.com/office/powerpoint/2010/main" val="2398204493"/>
      </p:ext>
    </p:extLst>
  </p:cSld>
  <p:clrMapOvr>
    <a:masterClrMapping/>
  </p:clrMapOvr>
</p:sld>
</file>

<file path=ppt/slides/slide7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C66DD2-90AD-4083-A262-DE50A0FBAE36}"/>
                  </a:ext>
                </a:extLst>
              </p:cNvPr>
              <p:cNvSpPr>
                <a:spLocks noGrp="1"/>
              </p:cNvSpPr>
              <p:nvPr>
                <p:ph idx="1"/>
              </p:nvPr>
            </p:nvSpPr>
            <p:spPr>
              <a:xfrm>
                <a:off x="838200" y="729343"/>
                <a:ext cx="10515600" cy="5447620"/>
              </a:xfrm>
            </p:spPr>
            <p:txBody>
              <a:bodyPr/>
              <a:lstStyle/>
              <a:p>
                <a:pPr algn="just"/>
                <a:r>
                  <a:rPr lang="en-US" dirty="0"/>
                  <a:t>The cross-validation error is then the average error across all </a:t>
                </a:r>
                <a14:m>
                  <m:oMath xmlns:m="http://schemas.openxmlformats.org/officeDocument/2006/math">
                    <m:r>
                      <a:rPr lang="en-US" b="0" i="1" smtClean="0">
                        <a:latin typeface="Cambria Math" panose="02040503050406030204" pitchFamily="18" charset="0"/>
                      </a:rPr>
                      <m:t>𝑘</m:t>
                    </m:r>
                  </m:oMath>
                </a14:m>
                <a:r>
                  <a:rPr lang="en-US" dirty="0"/>
                  <a:t> validation folds. </a:t>
                </a:r>
              </a:p>
            </p:txBody>
          </p:sp>
        </mc:Choice>
        <mc:Fallback xmlns="">
          <p:sp>
            <p:nvSpPr>
              <p:cNvPr id="3" name="Content Placeholder 2">
                <a:extLst>
                  <a:ext uri="{FF2B5EF4-FFF2-40B4-BE49-F238E27FC236}">
                    <a16:creationId xmlns:a16="http://schemas.microsoft.com/office/drawing/2014/main" id="{A4C66DD2-90AD-4083-A262-DE50A0FBAE36}"/>
                  </a:ext>
                </a:extLst>
              </p:cNvPr>
              <p:cNvSpPr>
                <a:spLocks noGrp="1" noRot="1" noChangeAspect="1" noMove="1" noResize="1" noEditPoints="1" noAdjustHandles="1" noChangeArrowheads="1" noChangeShapeType="1" noTextEdit="1"/>
              </p:cNvSpPr>
              <p:nvPr>
                <p:ph idx="1"/>
              </p:nvPr>
            </p:nvSpPr>
            <p:spPr>
              <a:xfrm>
                <a:off x="838200" y="729343"/>
                <a:ext cx="10515600" cy="5447620"/>
              </a:xfrm>
              <a:blipFill>
                <a:blip r:embed="rId2"/>
                <a:stretch>
                  <a:fillRect l="-1043" t="-190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26DE8AE-3618-4628-AF60-5EF958A8A2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6914" y="1931772"/>
            <a:ext cx="9825573" cy="3872249"/>
          </a:xfrm>
          <a:prstGeom prst="rect">
            <a:avLst/>
          </a:prstGeom>
        </p:spPr>
      </p:pic>
      <p:sp>
        <p:nvSpPr>
          <p:cNvPr id="7" name="Slide Number Placeholder 6">
            <a:extLst>
              <a:ext uri="{FF2B5EF4-FFF2-40B4-BE49-F238E27FC236}">
                <a16:creationId xmlns:a16="http://schemas.microsoft.com/office/drawing/2014/main" id="{31AFF67A-AE8A-4971-9DC3-BDC91876DF41}"/>
              </a:ext>
            </a:extLst>
          </p:cNvPr>
          <p:cNvSpPr>
            <a:spLocks noGrp="1"/>
          </p:cNvSpPr>
          <p:nvPr>
            <p:ph type="sldNum" sz="quarter" idx="12"/>
          </p:nvPr>
        </p:nvSpPr>
        <p:spPr/>
        <p:txBody>
          <a:bodyPr/>
          <a:lstStyle/>
          <a:p>
            <a:fld id="{6B97D948-30E8-43F7-AE10-F6E2D9F2BBB1}" type="slidenum">
              <a:rPr lang="en-US" smtClean="0"/>
              <a:t>734</a:t>
            </a:fld>
            <a:endParaRPr lang="en-US"/>
          </a:p>
        </p:txBody>
      </p:sp>
    </p:spTree>
    <p:extLst>
      <p:ext uri="{BB962C8B-B14F-4D97-AF65-F5344CB8AC3E}">
        <p14:creationId xmlns:p14="http://schemas.microsoft.com/office/powerpoint/2010/main" val="648054361"/>
      </p:ext>
    </p:extLst>
  </p:cSld>
  <p:clrMapOvr>
    <a:masterClrMapping/>
  </p:clrMapOvr>
</p:sld>
</file>

<file path=ppt/slides/slide7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BAF7E-F052-4F7B-85D9-308036046FC9}"/>
              </a:ext>
            </a:extLst>
          </p:cNvPr>
          <p:cNvSpPr>
            <a:spLocks noGrp="1"/>
          </p:cNvSpPr>
          <p:nvPr>
            <p:ph type="title"/>
          </p:nvPr>
        </p:nvSpPr>
        <p:spPr>
          <a:xfrm>
            <a:off x="838200" y="365125"/>
            <a:ext cx="10515600" cy="538389"/>
          </a:xfrm>
        </p:spPr>
        <p:txBody>
          <a:bodyPr>
            <a:normAutofit fontScale="90000"/>
          </a:bodyPr>
          <a:lstStyle/>
          <a:p>
            <a:r>
              <a:rPr lang="en-US" dirty="0"/>
              <a:t>Model Selection Workflow</a:t>
            </a:r>
          </a:p>
        </p:txBody>
      </p:sp>
      <p:sp>
        <p:nvSpPr>
          <p:cNvPr id="3" name="Content Placeholder 2">
            <a:extLst>
              <a:ext uri="{FF2B5EF4-FFF2-40B4-BE49-F238E27FC236}">
                <a16:creationId xmlns:a16="http://schemas.microsoft.com/office/drawing/2014/main" id="{DB9A22EF-6319-429E-9BAD-E393DBC58CC6}"/>
              </a:ext>
            </a:extLst>
          </p:cNvPr>
          <p:cNvSpPr>
            <a:spLocks noGrp="1"/>
          </p:cNvSpPr>
          <p:nvPr>
            <p:ph idx="1"/>
          </p:nvPr>
        </p:nvSpPr>
        <p:spPr>
          <a:xfrm>
            <a:off x="838200" y="903514"/>
            <a:ext cx="10515600" cy="5273449"/>
          </a:xfrm>
        </p:spPr>
        <p:txBody>
          <a:bodyPr/>
          <a:lstStyle/>
          <a:p>
            <a:pPr algn="just"/>
            <a:r>
              <a:rPr lang="en-US" dirty="0"/>
              <a:t>At this stage, we have refined our model selection workflow. </a:t>
            </a:r>
          </a:p>
          <a:p>
            <a:pPr algn="just"/>
            <a:endParaRPr lang="en-US" dirty="0"/>
          </a:p>
          <a:p>
            <a:pPr algn="just"/>
            <a:r>
              <a:rPr lang="en-US" dirty="0"/>
              <a:t>We begin by performing a </a:t>
            </a:r>
            <a:r>
              <a:rPr lang="en-US" dirty="0">
                <a:solidFill>
                  <a:srgbClr val="FF0000"/>
                </a:solidFill>
              </a:rPr>
              <a:t>train-test split </a:t>
            </a:r>
            <a:r>
              <a:rPr lang="en-US" dirty="0"/>
              <a:t>to </a:t>
            </a:r>
            <a:r>
              <a:rPr lang="en-US" dirty="0">
                <a:solidFill>
                  <a:srgbClr val="FF0000"/>
                </a:solidFill>
              </a:rPr>
              <a:t>set aside a test set for the final evaluation of model performance</a:t>
            </a:r>
            <a:r>
              <a:rPr lang="en-US" dirty="0"/>
              <a:t>. </a:t>
            </a:r>
          </a:p>
          <a:p>
            <a:pPr algn="just"/>
            <a:endParaRPr lang="en-US" dirty="0"/>
          </a:p>
          <a:p>
            <a:pPr algn="just"/>
            <a:r>
              <a:rPr lang="en-US" dirty="0"/>
              <a:t>Then, we alternate between adjusting our design matrix and computing the cross-validation error to finetune the model’s design. </a:t>
            </a:r>
          </a:p>
          <a:p>
            <a:pPr algn="just"/>
            <a:r>
              <a:rPr lang="en-US" dirty="0"/>
              <a:t>For example below, we illustrate the use of 3-fold cross-validation to help inform model design.</a:t>
            </a:r>
          </a:p>
        </p:txBody>
      </p:sp>
      <p:sp>
        <p:nvSpPr>
          <p:cNvPr id="5" name="Slide Number Placeholder 4">
            <a:extLst>
              <a:ext uri="{FF2B5EF4-FFF2-40B4-BE49-F238E27FC236}">
                <a16:creationId xmlns:a16="http://schemas.microsoft.com/office/drawing/2014/main" id="{C775AFFD-BF61-4D06-9F62-94C633F804F1}"/>
              </a:ext>
            </a:extLst>
          </p:cNvPr>
          <p:cNvSpPr>
            <a:spLocks noGrp="1"/>
          </p:cNvSpPr>
          <p:nvPr>
            <p:ph type="sldNum" sz="quarter" idx="12"/>
          </p:nvPr>
        </p:nvSpPr>
        <p:spPr/>
        <p:txBody>
          <a:bodyPr/>
          <a:lstStyle/>
          <a:p>
            <a:fld id="{6B97D948-30E8-43F7-AE10-F6E2D9F2BBB1}" type="slidenum">
              <a:rPr lang="en-US" smtClean="0"/>
              <a:t>735</a:t>
            </a:fld>
            <a:endParaRPr lang="en-US"/>
          </a:p>
        </p:txBody>
      </p:sp>
    </p:spTree>
    <p:extLst>
      <p:ext uri="{BB962C8B-B14F-4D97-AF65-F5344CB8AC3E}">
        <p14:creationId xmlns:p14="http://schemas.microsoft.com/office/powerpoint/2010/main" val="4036248818"/>
      </p:ext>
    </p:extLst>
  </p:cSld>
  <p:clrMapOvr>
    <a:masterClrMapping/>
  </p:clrMapOvr>
</p:sld>
</file>

<file path=ppt/slides/slide7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CE10FA-B7D5-420C-8A42-F3000BEBAD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841" y="2769330"/>
            <a:ext cx="10084318" cy="2463927"/>
          </a:xfrm>
        </p:spPr>
      </p:pic>
      <p:sp>
        <p:nvSpPr>
          <p:cNvPr id="7" name="Slide Number Placeholder 6">
            <a:extLst>
              <a:ext uri="{FF2B5EF4-FFF2-40B4-BE49-F238E27FC236}">
                <a16:creationId xmlns:a16="http://schemas.microsoft.com/office/drawing/2014/main" id="{669C3AD0-B1C2-4287-BCED-0B3F319CEBB0}"/>
              </a:ext>
            </a:extLst>
          </p:cNvPr>
          <p:cNvSpPr>
            <a:spLocks noGrp="1"/>
          </p:cNvSpPr>
          <p:nvPr>
            <p:ph type="sldNum" sz="quarter" idx="12"/>
          </p:nvPr>
        </p:nvSpPr>
        <p:spPr/>
        <p:txBody>
          <a:bodyPr/>
          <a:lstStyle/>
          <a:p>
            <a:fld id="{6B97D948-30E8-43F7-AE10-F6E2D9F2BBB1}" type="slidenum">
              <a:rPr lang="en-US" smtClean="0"/>
              <a:t>736</a:t>
            </a:fld>
            <a:endParaRPr lang="en-US"/>
          </a:p>
        </p:txBody>
      </p:sp>
    </p:spTree>
    <p:extLst>
      <p:ext uri="{BB962C8B-B14F-4D97-AF65-F5344CB8AC3E}">
        <p14:creationId xmlns:p14="http://schemas.microsoft.com/office/powerpoint/2010/main" val="2214891105"/>
      </p:ext>
    </p:extLst>
  </p:cSld>
  <p:clrMapOvr>
    <a:masterClrMapping/>
  </p:clrMapOvr>
</p:sld>
</file>

<file path=ppt/slides/slide7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833BB-7910-47D4-8FB5-BAA817553018}"/>
              </a:ext>
            </a:extLst>
          </p:cNvPr>
          <p:cNvSpPr>
            <a:spLocks noGrp="1"/>
          </p:cNvSpPr>
          <p:nvPr>
            <p:ph type="title"/>
          </p:nvPr>
        </p:nvSpPr>
        <p:spPr>
          <a:xfrm>
            <a:off x="838200" y="365126"/>
            <a:ext cx="10515600" cy="679904"/>
          </a:xfrm>
        </p:spPr>
        <p:txBody>
          <a:bodyPr>
            <a:normAutofit fontScale="90000"/>
          </a:bodyPr>
          <a:lstStyle/>
          <a:p>
            <a:r>
              <a:rPr lang="en-US" dirty="0"/>
              <a:t>Logistic Regression</a:t>
            </a:r>
          </a:p>
        </p:txBody>
      </p:sp>
      <p:sp>
        <p:nvSpPr>
          <p:cNvPr id="3" name="Content Placeholder 2">
            <a:extLst>
              <a:ext uri="{FF2B5EF4-FFF2-40B4-BE49-F238E27FC236}">
                <a16:creationId xmlns:a16="http://schemas.microsoft.com/office/drawing/2014/main" id="{D2A4DFB9-FD84-4579-87A4-448D069EA89F}"/>
              </a:ext>
            </a:extLst>
          </p:cNvPr>
          <p:cNvSpPr>
            <a:spLocks noGrp="1"/>
          </p:cNvSpPr>
          <p:nvPr>
            <p:ph idx="1"/>
          </p:nvPr>
        </p:nvSpPr>
        <p:spPr>
          <a:xfrm>
            <a:off x="838200" y="1045030"/>
            <a:ext cx="10515600" cy="5131933"/>
          </a:xfrm>
        </p:spPr>
        <p:txBody>
          <a:bodyPr>
            <a:normAutofit fontScale="85000" lnSpcReduction="20000"/>
          </a:bodyPr>
          <a:lstStyle/>
          <a:p>
            <a:pPr algn="just"/>
            <a:r>
              <a:rPr lang="en-US" dirty="0"/>
              <a:t>To this point , we’ve focused on regression tasks - that is, predicting a numerical quantity from a given dataset.</a:t>
            </a:r>
          </a:p>
          <a:p>
            <a:pPr algn="just"/>
            <a:r>
              <a:rPr lang="en-US" dirty="0"/>
              <a:t>We looked at how to explain outcomes that have continuous scale, such as quantity, money, height or weight. </a:t>
            </a:r>
          </a:p>
          <a:p>
            <a:pPr algn="just"/>
            <a:endParaRPr lang="en-US" dirty="0"/>
          </a:p>
          <a:p>
            <a:pPr algn="just"/>
            <a:r>
              <a:rPr lang="en-US" dirty="0"/>
              <a:t>While these are a number of typical outcomes data science, they are not the most common form of outcomes that are typically modeled. </a:t>
            </a:r>
          </a:p>
          <a:p>
            <a:pPr algn="just"/>
            <a:endParaRPr lang="en-US" dirty="0"/>
          </a:p>
          <a:p>
            <a:pPr algn="just"/>
            <a:r>
              <a:rPr lang="en-US" dirty="0"/>
              <a:t>Much more common are situations where the outcome of interest takes the form of a limited set of classes. </a:t>
            </a:r>
          </a:p>
          <a:p>
            <a:pPr algn="just"/>
            <a:endParaRPr lang="en-US" dirty="0"/>
          </a:p>
          <a:p>
            <a:pPr algn="just"/>
            <a:r>
              <a:rPr lang="en-US" dirty="0"/>
              <a:t>Binary (two class) problems are very common.</a:t>
            </a:r>
          </a:p>
          <a:p>
            <a:pPr algn="just"/>
            <a:endParaRPr lang="en-US" dirty="0"/>
          </a:p>
          <a:p>
            <a:pPr algn="just"/>
            <a:r>
              <a:rPr lang="en-US" dirty="0"/>
              <a:t>Now that we have some understanding of the modeling process, let’s expand our knowledge of other possible modeling tasks.</a:t>
            </a:r>
          </a:p>
        </p:txBody>
      </p:sp>
      <p:sp>
        <p:nvSpPr>
          <p:cNvPr id="5" name="Slide Number Placeholder 4">
            <a:extLst>
              <a:ext uri="{FF2B5EF4-FFF2-40B4-BE49-F238E27FC236}">
                <a16:creationId xmlns:a16="http://schemas.microsoft.com/office/drawing/2014/main" id="{4CB54109-0A93-4D8E-96B2-A31B3A50D097}"/>
              </a:ext>
            </a:extLst>
          </p:cNvPr>
          <p:cNvSpPr>
            <a:spLocks noGrp="1"/>
          </p:cNvSpPr>
          <p:nvPr>
            <p:ph type="sldNum" sz="quarter" idx="12"/>
          </p:nvPr>
        </p:nvSpPr>
        <p:spPr/>
        <p:txBody>
          <a:bodyPr/>
          <a:lstStyle/>
          <a:p>
            <a:fld id="{6B97D948-30E8-43F7-AE10-F6E2D9F2BBB1}" type="slidenum">
              <a:rPr lang="en-US" smtClean="0"/>
              <a:t>737</a:t>
            </a:fld>
            <a:endParaRPr lang="en-US"/>
          </a:p>
        </p:txBody>
      </p:sp>
    </p:spTree>
    <p:extLst>
      <p:ext uri="{BB962C8B-B14F-4D97-AF65-F5344CB8AC3E}">
        <p14:creationId xmlns:p14="http://schemas.microsoft.com/office/powerpoint/2010/main" val="3491307053"/>
      </p:ext>
    </p:extLst>
  </p:cSld>
  <p:clrMapOvr>
    <a:masterClrMapping/>
  </p:clrMapOvr>
</p:sld>
</file>

<file path=ppt/slides/slide7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099B6-CEA8-46B8-860B-7A5EC3861083}"/>
              </a:ext>
            </a:extLst>
          </p:cNvPr>
          <p:cNvSpPr>
            <a:spLocks noGrp="1"/>
          </p:cNvSpPr>
          <p:nvPr>
            <p:ph type="title"/>
          </p:nvPr>
        </p:nvSpPr>
        <p:spPr>
          <a:xfrm>
            <a:off x="838200" y="365125"/>
            <a:ext cx="10515600" cy="777875"/>
          </a:xfrm>
        </p:spPr>
        <p:txBody>
          <a:bodyPr/>
          <a:lstStyle/>
          <a:p>
            <a:r>
              <a:rPr lang="en-US" dirty="0"/>
              <a:t>Examples</a:t>
            </a:r>
          </a:p>
        </p:txBody>
      </p:sp>
      <p:sp>
        <p:nvSpPr>
          <p:cNvPr id="3" name="Content Placeholder 2">
            <a:extLst>
              <a:ext uri="{FF2B5EF4-FFF2-40B4-BE49-F238E27FC236}">
                <a16:creationId xmlns:a16="http://schemas.microsoft.com/office/drawing/2014/main" id="{267A501F-D172-40D1-BDD0-F9244D0BC281}"/>
              </a:ext>
            </a:extLst>
          </p:cNvPr>
          <p:cNvSpPr>
            <a:spLocks noGrp="1"/>
          </p:cNvSpPr>
          <p:nvPr>
            <p:ph idx="1"/>
          </p:nvPr>
        </p:nvSpPr>
        <p:spPr>
          <a:xfrm>
            <a:off x="838200" y="1143000"/>
            <a:ext cx="10515600" cy="5033963"/>
          </a:xfrm>
        </p:spPr>
        <p:txBody>
          <a:bodyPr>
            <a:normAutofit fontScale="92500"/>
          </a:bodyPr>
          <a:lstStyle/>
          <a:p>
            <a:pPr algn="just"/>
            <a:r>
              <a:rPr lang="en-US" dirty="0"/>
              <a:t>Hiring, promotion and attrition are often modeled as binary outcomes.</a:t>
            </a:r>
          </a:p>
          <a:p>
            <a:pPr algn="just"/>
            <a:endParaRPr lang="en-US" dirty="0"/>
          </a:p>
          <a:p>
            <a:pPr algn="just"/>
            <a:r>
              <a:rPr lang="en-US" dirty="0"/>
              <a:t>For example ‘Promoted’ or ‘Not promoted’. </a:t>
            </a:r>
          </a:p>
          <a:p>
            <a:pPr algn="just"/>
            <a:endParaRPr lang="en-US" dirty="0"/>
          </a:p>
          <a:p>
            <a:pPr algn="just"/>
            <a:r>
              <a:rPr lang="en-US" dirty="0"/>
              <a:t>Multi-class outcomes like performance ratings on an ordinal scale, or survey responses on a Likert scale are often converted to binary outcomes by dividing the ratings into two groups.</a:t>
            </a:r>
          </a:p>
          <a:p>
            <a:pPr algn="just"/>
            <a:endParaRPr lang="en-US" dirty="0"/>
          </a:p>
          <a:p>
            <a:pPr algn="just"/>
            <a:r>
              <a:rPr lang="en-US" dirty="0"/>
              <a:t>For example ‘High’ and ‘Not High’.</a:t>
            </a:r>
          </a:p>
          <a:p>
            <a:pPr algn="just"/>
            <a:endParaRPr lang="en-US" dirty="0"/>
          </a:p>
          <a:p>
            <a:pPr algn="just"/>
            <a:r>
              <a:rPr lang="en-US" dirty="0"/>
              <a:t>These are in the realm of </a:t>
            </a:r>
            <a:r>
              <a:rPr lang="en-US" dirty="0">
                <a:solidFill>
                  <a:srgbClr val="FF0000"/>
                </a:solidFill>
              </a:rPr>
              <a:t>classification</a:t>
            </a:r>
            <a:r>
              <a:rPr lang="en-US" dirty="0"/>
              <a:t> problems.</a:t>
            </a:r>
          </a:p>
        </p:txBody>
      </p:sp>
      <p:sp>
        <p:nvSpPr>
          <p:cNvPr id="5" name="Slide Number Placeholder 4">
            <a:extLst>
              <a:ext uri="{FF2B5EF4-FFF2-40B4-BE49-F238E27FC236}">
                <a16:creationId xmlns:a16="http://schemas.microsoft.com/office/drawing/2014/main" id="{0AE95718-9FA2-4F70-AB30-3D1ABCD58DFD}"/>
              </a:ext>
            </a:extLst>
          </p:cNvPr>
          <p:cNvSpPr>
            <a:spLocks noGrp="1"/>
          </p:cNvSpPr>
          <p:nvPr>
            <p:ph type="sldNum" sz="quarter" idx="12"/>
          </p:nvPr>
        </p:nvSpPr>
        <p:spPr/>
        <p:txBody>
          <a:bodyPr/>
          <a:lstStyle/>
          <a:p>
            <a:fld id="{6B97D948-30E8-43F7-AE10-F6E2D9F2BBB1}" type="slidenum">
              <a:rPr lang="en-US" smtClean="0"/>
              <a:t>738</a:t>
            </a:fld>
            <a:endParaRPr lang="en-US"/>
          </a:p>
        </p:txBody>
      </p:sp>
    </p:spTree>
    <p:extLst>
      <p:ext uri="{BB962C8B-B14F-4D97-AF65-F5344CB8AC3E}">
        <p14:creationId xmlns:p14="http://schemas.microsoft.com/office/powerpoint/2010/main" val="1846114635"/>
      </p:ext>
    </p:extLst>
  </p:cSld>
  <p:clrMapOvr>
    <a:masterClrMapping/>
  </p:clrMapOvr>
</p:sld>
</file>

<file path=ppt/slides/slide7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D868-03EA-4246-849D-EC3AC838EE7E}"/>
              </a:ext>
            </a:extLst>
          </p:cNvPr>
          <p:cNvSpPr>
            <a:spLocks noGrp="1"/>
          </p:cNvSpPr>
          <p:nvPr>
            <p:ph type="title"/>
          </p:nvPr>
        </p:nvSpPr>
        <p:spPr>
          <a:xfrm>
            <a:off x="838200" y="365126"/>
            <a:ext cx="10515600" cy="592818"/>
          </a:xfrm>
        </p:spPr>
        <p:txBody>
          <a:bodyPr>
            <a:normAutofit fontScale="90000"/>
          </a:bodyPr>
          <a:lstStyle/>
          <a:p>
            <a:r>
              <a:rPr lang="en-US" dirty="0"/>
              <a:t>Classification</a:t>
            </a:r>
          </a:p>
        </p:txBody>
      </p:sp>
      <p:sp>
        <p:nvSpPr>
          <p:cNvPr id="3" name="Content Placeholder 2">
            <a:extLst>
              <a:ext uri="{FF2B5EF4-FFF2-40B4-BE49-F238E27FC236}">
                <a16:creationId xmlns:a16="http://schemas.microsoft.com/office/drawing/2014/main" id="{379258DE-84FE-4C6F-B5D6-6EA0AD1CBCA6}"/>
              </a:ext>
            </a:extLst>
          </p:cNvPr>
          <p:cNvSpPr>
            <a:spLocks noGrp="1"/>
          </p:cNvSpPr>
          <p:nvPr>
            <p:ph idx="1"/>
          </p:nvPr>
        </p:nvSpPr>
        <p:spPr>
          <a:xfrm>
            <a:off x="838200" y="957944"/>
            <a:ext cx="10515600" cy="5219019"/>
          </a:xfrm>
        </p:spPr>
        <p:txBody>
          <a:bodyPr>
            <a:normAutofit/>
          </a:bodyPr>
          <a:lstStyle/>
          <a:p>
            <a:pPr algn="just"/>
            <a:r>
              <a:rPr lang="en-US" dirty="0"/>
              <a:t>A classification problem aims to classify data into categories. </a:t>
            </a:r>
          </a:p>
          <a:p>
            <a:pPr algn="just"/>
            <a:endParaRPr lang="en-US" dirty="0"/>
          </a:p>
          <a:p>
            <a:pPr algn="just"/>
            <a:r>
              <a:rPr lang="en-US" dirty="0"/>
              <a:t>Unlike in regression, where we predicted a quantitative output, classification involves predicting some categorical variable. </a:t>
            </a:r>
          </a:p>
          <a:p>
            <a:pPr algn="just"/>
            <a:endParaRPr lang="en-US" dirty="0"/>
          </a:p>
          <a:p>
            <a:pPr algn="just"/>
            <a:r>
              <a:rPr lang="en-US" dirty="0"/>
              <a:t>Examples of classification tasks include:</a:t>
            </a:r>
          </a:p>
          <a:p>
            <a:r>
              <a:rPr lang="en-US" dirty="0"/>
              <a:t>Predicting the species of penguin from its flipper length</a:t>
            </a:r>
          </a:p>
          <a:p>
            <a:r>
              <a:rPr lang="en-US" dirty="0"/>
              <a:t>Predicting the day of the week of a meal from the total restaurant bill</a:t>
            </a:r>
          </a:p>
          <a:p>
            <a:r>
              <a:rPr lang="en-US" dirty="0"/>
              <a:t>Predicting the model of car from its horsepower</a:t>
            </a:r>
          </a:p>
          <a:p>
            <a:endParaRPr lang="en-US" dirty="0"/>
          </a:p>
        </p:txBody>
      </p:sp>
      <p:sp>
        <p:nvSpPr>
          <p:cNvPr id="5" name="Slide Number Placeholder 4">
            <a:extLst>
              <a:ext uri="{FF2B5EF4-FFF2-40B4-BE49-F238E27FC236}">
                <a16:creationId xmlns:a16="http://schemas.microsoft.com/office/drawing/2014/main" id="{507DA67E-55A5-49C7-9156-8182D9B93E65}"/>
              </a:ext>
            </a:extLst>
          </p:cNvPr>
          <p:cNvSpPr>
            <a:spLocks noGrp="1"/>
          </p:cNvSpPr>
          <p:nvPr>
            <p:ph type="sldNum" sz="quarter" idx="12"/>
          </p:nvPr>
        </p:nvSpPr>
        <p:spPr/>
        <p:txBody>
          <a:bodyPr/>
          <a:lstStyle/>
          <a:p>
            <a:fld id="{6B97D948-30E8-43F7-AE10-F6E2D9F2BBB1}" type="slidenum">
              <a:rPr lang="en-US" smtClean="0"/>
              <a:t>739</a:t>
            </a:fld>
            <a:endParaRPr lang="en-US"/>
          </a:p>
        </p:txBody>
      </p:sp>
    </p:spTree>
    <p:extLst>
      <p:ext uri="{BB962C8B-B14F-4D97-AF65-F5344CB8AC3E}">
        <p14:creationId xmlns:p14="http://schemas.microsoft.com/office/powerpoint/2010/main" val="2094308350"/>
      </p:ext>
    </p:extLst>
  </p:cSld>
  <p:clrMapOvr>
    <a:masterClrMapping/>
  </p:clrMapOvr>
</p:sld>
</file>

<file path=ppt/slides/slide7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B02CC2-45BA-45BB-8F4D-FEF0598B3F6E}"/>
              </a:ext>
            </a:extLst>
          </p:cNvPr>
          <p:cNvSpPr>
            <a:spLocks noGrp="1"/>
          </p:cNvSpPr>
          <p:nvPr>
            <p:ph idx="1"/>
          </p:nvPr>
        </p:nvSpPr>
        <p:spPr>
          <a:xfrm>
            <a:off x="838200" y="783771"/>
            <a:ext cx="10515600" cy="5393192"/>
          </a:xfrm>
        </p:spPr>
        <p:txBody>
          <a:bodyPr>
            <a:normAutofit/>
          </a:bodyPr>
          <a:lstStyle/>
          <a:p>
            <a:pPr algn="just"/>
            <a:r>
              <a:rPr lang="en-US" dirty="0"/>
              <a:t>We will mostly deal with binary classification, where we are attempting to classify data into one of two classes.</a:t>
            </a:r>
          </a:p>
          <a:p>
            <a:endParaRPr lang="en-US" dirty="0"/>
          </a:p>
          <a:p>
            <a:pPr algn="just"/>
            <a:r>
              <a:rPr lang="en-US" dirty="0"/>
              <a:t>To build a classification model, we need to modify our modeling workflow slightly.</a:t>
            </a:r>
          </a:p>
          <a:p>
            <a:endParaRPr lang="en-US" dirty="0"/>
          </a:p>
          <a:p>
            <a:r>
              <a:rPr lang="en-US" dirty="0"/>
              <a:t>Recall that in regression we:</a:t>
            </a:r>
          </a:p>
          <a:p>
            <a:endParaRPr lang="en-US" dirty="0"/>
          </a:p>
          <a:p>
            <a:r>
              <a:rPr lang="en-US" dirty="0"/>
              <a:t>Created a design matrix of numeric features</a:t>
            </a:r>
          </a:p>
          <a:p>
            <a:r>
              <a:rPr lang="en-US" dirty="0"/>
              <a:t> Defined our model as a linear combination of these numeric features</a:t>
            </a:r>
          </a:p>
          <a:p>
            <a:r>
              <a:rPr lang="en-US" dirty="0"/>
              <a:t> Used the model to output numeric predictions</a:t>
            </a:r>
          </a:p>
          <a:p>
            <a:endParaRPr lang="en-US" dirty="0"/>
          </a:p>
        </p:txBody>
      </p:sp>
      <p:sp>
        <p:nvSpPr>
          <p:cNvPr id="5" name="Slide Number Placeholder 4">
            <a:extLst>
              <a:ext uri="{FF2B5EF4-FFF2-40B4-BE49-F238E27FC236}">
                <a16:creationId xmlns:a16="http://schemas.microsoft.com/office/drawing/2014/main" id="{19023541-7A4A-4D30-9965-DF0E6A651F6F}"/>
              </a:ext>
            </a:extLst>
          </p:cNvPr>
          <p:cNvSpPr>
            <a:spLocks noGrp="1"/>
          </p:cNvSpPr>
          <p:nvPr>
            <p:ph type="sldNum" sz="quarter" idx="12"/>
          </p:nvPr>
        </p:nvSpPr>
        <p:spPr/>
        <p:txBody>
          <a:bodyPr/>
          <a:lstStyle/>
          <a:p>
            <a:fld id="{6B97D948-30E8-43F7-AE10-F6E2D9F2BBB1}" type="slidenum">
              <a:rPr lang="en-US" smtClean="0"/>
              <a:t>740</a:t>
            </a:fld>
            <a:endParaRPr lang="en-US"/>
          </a:p>
        </p:txBody>
      </p:sp>
    </p:spTree>
    <p:extLst>
      <p:ext uri="{BB962C8B-B14F-4D97-AF65-F5344CB8AC3E}">
        <p14:creationId xmlns:p14="http://schemas.microsoft.com/office/powerpoint/2010/main" val="226433994"/>
      </p:ext>
    </p:extLst>
  </p:cSld>
  <p:clrMapOvr>
    <a:masterClrMapping/>
  </p:clrMapOvr>
</p:sld>
</file>

<file path=ppt/slides/slide7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22E081-DC4D-4BC1-B408-18344A75EAD6}"/>
              </a:ext>
            </a:extLst>
          </p:cNvPr>
          <p:cNvSpPr>
            <a:spLocks noGrp="1"/>
          </p:cNvSpPr>
          <p:nvPr>
            <p:ph idx="1"/>
          </p:nvPr>
        </p:nvSpPr>
        <p:spPr>
          <a:xfrm>
            <a:off x="838200" y="381000"/>
            <a:ext cx="10515600" cy="5795963"/>
          </a:xfrm>
        </p:spPr>
        <p:txBody>
          <a:bodyPr/>
          <a:lstStyle/>
          <a:p>
            <a:pPr algn="just"/>
            <a:r>
              <a:rPr lang="en-US" dirty="0"/>
              <a:t>In classification, we no longer want to output numeric predictions; instead, we want to predict the class to which a datapoint belongs. </a:t>
            </a:r>
          </a:p>
          <a:p>
            <a:pPr algn="just"/>
            <a:endParaRPr lang="en-US" dirty="0"/>
          </a:p>
          <a:p>
            <a:pPr algn="just"/>
            <a:r>
              <a:rPr lang="en-US" dirty="0"/>
              <a:t>This means that we need to update our workflow. </a:t>
            </a:r>
          </a:p>
        </p:txBody>
      </p:sp>
      <p:sp>
        <p:nvSpPr>
          <p:cNvPr id="5" name="Slide Number Placeholder 4">
            <a:extLst>
              <a:ext uri="{FF2B5EF4-FFF2-40B4-BE49-F238E27FC236}">
                <a16:creationId xmlns:a16="http://schemas.microsoft.com/office/drawing/2014/main" id="{F093B165-76D5-4D15-8D34-38AB27B00F20}"/>
              </a:ext>
            </a:extLst>
          </p:cNvPr>
          <p:cNvSpPr>
            <a:spLocks noGrp="1"/>
          </p:cNvSpPr>
          <p:nvPr>
            <p:ph type="sldNum" sz="quarter" idx="12"/>
          </p:nvPr>
        </p:nvSpPr>
        <p:spPr/>
        <p:txBody>
          <a:bodyPr/>
          <a:lstStyle/>
          <a:p>
            <a:fld id="{6B97D948-30E8-43F7-AE10-F6E2D9F2BBB1}" type="slidenum">
              <a:rPr lang="en-US" smtClean="0"/>
              <a:t>741</a:t>
            </a:fld>
            <a:endParaRPr lang="en-US"/>
          </a:p>
        </p:txBody>
      </p:sp>
    </p:spTree>
    <p:extLst>
      <p:ext uri="{BB962C8B-B14F-4D97-AF65-F5344CB8AC3E}">
        <p14:creationId xmlns:p14="http://schemas.microsoft.com/office/powerpoint/2010/main" val="936241738"/>
      </p:ext>
    </p:extLst>
  </p:cSld>
  <p:clrMapOvr>
    <a:masterClrMapping/>
  </p:clrMapOvr>
</p:sld>
</file>

<file path=ppt/slides/slide7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7691-C1E3-4058-90F8-DFBB2B3CA17B}"/>
              </a:ext>
            </a:extLst>
          </p:cNvPr>
          <p:cNvSpPr>
            <a:spLocks noGrp="1"/>
          </p:cNvSpPr>
          <p:nvPr>
            <p:ph type="title"/>
          </p:nvPr>
        </p:nvSpPr>
        <p:spPr>
          <a:xfrm>
            <a:off x="838200" y="365125"/>
            <a:ext cx="10515600" cy="690789"/>
          </a:xfrm>
        </p:spPr>
        <p:txBody>
          <a:bodyPr>
            <a:normAutofit fontScale="90000"/>
          </a:bodyPr>
          <a:lstStyle/>
          <a:p>
            <a:r>
              <a:rPr lang="en-US" dirty="0"/>
              <a:t>Workflow</a:t>
            </a:r>
          </a:p>
        </p:txBody>
      </p:sp>
      <p:sp>
        <p:nvSpPr>
          <p:cNvPr id="3" name="Content Placeholder 2">
            <a:extLst>
              <a:ext uri="{FF2B5EF4-FFF2-40B4-BE49-F238E27FC236}">
                <a16:creationId xmlns:a16="http://schemas.microsoft.com/office/drawing/2014/main" id="{8B31C24D-B5CD-42B9-A73F-396B4C037764}"/>
              </a:ext>
            </a:extLst>
          </p:cNvPr>
          <p:cNvSpPr>
            <a:spLocks noGrp="1"/>
          </p:cNvSpPr>
          <p:nvPr>
            <p:ph idx="1"/>
          </p:nvPr>
        </p:nvSpPr>
        <p:spPr>
          <a:xfrm>
            <a:off x="838200" y="1055914"/>
            <a:ext cx="10515600" cy="5121049"/>
          </a:xfrm>
        </p:spPr>
        <p:txBody>
          <a:bodyPr/>
          <a:lstStyle/>
          <a:p>
            <a:r>
              <a:rPr lang="en-US" dirty="0"/>
              <a:t>To build a classification model, we will:</a:t>
            </a:r>
          </a:p>
          <a:p>
            <a:r>
              <a:rPr lang="en-US" dirty="0"/>
              <a:t>Create a design matrix of numeric features</a:t>
            </a:r>
          </a:p>
          <a:p>
            <a:pPr algn="just"/>
            <a:r>
              <a:rPr lang="en-US" dirty="0"/>
              <a:t>Define our model as a linear combination of these numeric features, transformed by a </a:t>
            </a:r>
            <a:r>
              <a:rPr lang="en-US" dirty="0">
                <a:solidFill>
                  <a:srgbClr val="FF0000"/>
                </a:solidFill>
              </a:rPr>
              <a:t>non-linear sigmoid function</a:t>
            </a:r>
            <a:r>
              <a:rPr lang="en-US" dirty="0"/>
              <a:t>. </a:t>
            </a:r>
          </a:p>
          <a:p>
            <a:pPr algn="just"/>
            <a:endParaRPr lang="en-US" dirty="0"/>
          </a:p>
          <a:p>
            <a:pPr algn="just"/>
            <a:r>
              <a:rPr lang="en-US" dirty="0"/>
              <a:t>This outputs a numeric quantity.</a:t>
            </a:r>
          </a:p>
          <a:p>
            <a:endParaRPr lang="en-US" dirty="0"/>
          </a:p>
          <a:p>
            <a:r>
              <a:rPr lang="en-US" dirty="0"/>
              <a:t>Apply a decision rule to interpret the outputted quantity and decide a classification</a:t>
            </a:r>
          </a:p>
          <a:p>
            <a:r>
              <a:rPr lang="en-US" dirty="0"/>
              <a:t>Output a predicted class</a:t>
            </a:r>
          </a:p>
          <a:p>
            <a:endParaRPr lang="en-US" dirty="0"/>
          </a:p>
        </p:txBody>
      </p:sp>
      <p:sp>
        <p:nvSpPr>
          <p:cNvPr id="5" name="Slide Number Placeholder 4">
            <a:extLst>
              <a:ext uri="{FF2B5EF4-FFF2-40B4-BE49-F238E27FC236}">
                <a16:creationId xmlns:a16="http://schemas.microsoft.com/office/drawing/2014/main" id="{5F4D81C3-8AC0-49A1-B341-75E048376C57}"/>
              </a:ext>
            </a:extLst>
          </p:cNvPr>
          <p:cNvSpPr>
            <a:spLocks noGrp="1"/>
          </p:cNvSpPr>
          <p:nvPr>
            <p:ph type="sldNum" sz="quarter" idx="12"/>
          </p:nvPr>
        </p:nvSpPr>
        <p:spPr/>
        <p:txBody>
          <a:bodyPr/>
          <a:lstStyle/>
          <a:p>
            <a:fld id="{6B97D948-30E8-43F7-AE10-F6E2D9F2BBB1}" type="slidenum">
              <a:rPr lang="en-US" smtClean="0"/>
              <a:t>742</a:t>
            </a:fld>
            <a:endParaRPr lang="en-US"/>
          </a:p>
        </p:txBody>
      </p:sp>
    </p:spTree>
    <p:extLst>
      <p:ext uri="{BB962C8B-B14F-4D97-AF65-F5344CB8AC3E}">
        <p14:creationId xmlns:p14="http://schemas.microsoft.com/office/powerpoint/2010/main" val="2337785353"/>
      </p:ext>
    </p:extLst>
  </p:cSld>
  <p:clrMapOvr>
    <a:masterClrMapping/>
  </p:clrMapOvr>
</p:sld>
</file>

<file path=ppt/slides/slide7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BCA936-51A9-4C4B-B497-77ED31561A58}"/>
                  </a:ext>
                </a:extLst>
              </p:cNvPr>
              <p:cNvSpPr>
                <a:spLocks noGrp="1"/>
              </p:cNvSpPr>
              <p:nvPr>
                <p:ph idx="1"/>
              </p:nvPr>
            </p:nvSpPr>
            <p:spPr>
              <a:xfrm>
                <a:off x="838200" y="478971"/>
                <a:ext cx="10515600" cy="5697992"/>
              </a:xfrm>
            </p:spPr>
            <p:txBody>
              <a:bodyPr/>
              <a:lstStyle/>
              <a:p>
                <a:pPr algn="just"/>
                <a:r>
                  <a:rPr lang="en-US" dirty="0"/>
                  <a:t>There are two key differences: we need to incorporate a </a:t>
                </a:r>
                <a:r>
                  <a:rPr lang="en-US" dirty="0">
                    <a:solidFill>
                      <a:srgbClr val="FF0000"/>
                    </a:solidFill>
                  </a:rPr>
                  <a:t>non-linear transformation</a:t>
                </a:r>
                <a:r>
                  <a:rPr lang="en-US" dirty="0"/>
                  <a:t> to capture </a:t>
                </a:r>
                <a:r>
                  <a:rPr lang="en-US" dirty="0">
                    <a:solidFill>
                      <a:srgbClr val="FF0000"/>
                    </a:solidFill>
                  </a:rPr>
                  <a:t>non-linear relationships hidden in our data</a:t>
                </a:r>
                <a:r>
                  <a:rPr lang="en-US" dirty="0"/>
                  <a:t>. </a:t>
                </a:r>
              </a:p>
              <a:p>
                <a:pPr algn="just"/>
                <a:endParaRPr lang="en-US" dirty="0"/>
              </a:p>
              <a:p>
                <a:pPr algn="just"/>
                <a:r>
                  <a:rPr lang="en-US" dirty="0"/>
                  <a:t>We do so by applying the </a:t>
                </a:r>
                <a:r>
                  <a:rPr lang="en-US" dirty="0">
                    <a:solidFill>
                      <a:srgbClr val="FF0000"/>
                    </a:solidFill>
                  </a:rPr>
                  <a:t>sigmoid function to a linear combination of the features</a:t>
                </a:r>
                <a:r>
                  <a:rPr lang="en-US" dirty="0"/>
                  <a:t>. </a:t>
                </a:r>
              </a:p>
              <a:p>
                <a:pPr algn="just"/>
                <a:endParaRPr lang="en-US" dirty="0"/>
              </a:p>
              <a:p>
                <a:pPr algn="just"/>
                <a:r>
                  <a:rPr lang="en-US" dirty="0"/>
                  <a:t>Secondly, we must apply a decision rule to convert the numeric quantities computed by our model into an actual class prediction. </a:t>
                </a:r>
              </a:p>
              <a:p>
                <a:pPr algn="just"/>
                <a:endParaRPr lang="en-US" dirty="0"/>
              </a:p>
              <a:p>
                <a:pPr algn="just"/>
                <a:r>
                  <a:rPr lang="en-US" dirty="0"/>
                  <a:t>This can be as simple as saying that any datapoint with a feature greater than some number </a:t>
                </a:r>
                <a14:m>
                  <m:oMath xmlns:m="http://schemas.openxmlformats.org/officeDocument/2006/math">
                    <m:r>
                      <a:rPr lang="en-US" b="0" i="1" smtClean="0">
                        <a:latin typeface="Cambria Math" panose="02040503050406030204" pitchFamily="18" charset="0"/>
                      </a:rPr>
                      <m:t>𝑥</m:t>
                    </m:r>
                  </m:oMath>
                </a14:m>
                <a:r>
                  <a:rPr lang="en-US" dirty="0"/>
                  <a:t> belongs to Class 1.</a:t>
                </a:r>
              </a:p>
            </p:txBody>
          </p:sp>
        </mc:Choice>
        <mc:Fallback xmlns="">
          <p:sp>
            <p:nvSpPr>
              <p:cNvPr id="3" name="Content Placeholder 2">
                <a:extLst>
                  <a:ext uri="{FF2B5EF4-FFF2-40B4-BE49-F238E27FC236}">
                    <a16:creationId xmlns:a16="http://schemas.microsoft.com/office/drawing/2014/main" id="{99BCA936-51A9-4C4B-B497-77ED31561A58}"/>
                  </a:ext>
                </a:extLst>
              </p:cNvPr>
              <p:cNvSpPr>
                <a:spLocks noGrp="1" noRot="1" noChangeAspect="1" noMove="1" noResize="1" noEditPoints="1" noAdjustHandles="1" noChangeArrowheads="1" noChangeShapeType="1" noTextEdit="1"/>
              </p:cNvSpPr>
              <p:nvPr>
                <p:ph idx="1"/>
              </p:nvPr>
            </p:nvSpPr>
            <p:spPr>
              <a:xfrm>
                <a:off x="838200" y="478971"/>
                <a:ext cx="10515600" cy="5697992"/>
              </a:xfrm>
              <a:blipFill>
                <a:blip r:embed="rId2"/>
                <a:stretch>
                  <a:fillRect l="-1043" t="-1820"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77E2524-002C-430F-B8A8-48BBAF394E96}"/>
              </a:ext>
            </a:extLst>
          </p:cNvPr>
          <p:cNvSpPr>
            <a:spLocks noGrp="1"/>
          </p:cNvSpPr>
          <p:nvPr>
            <p:ph type="sldNum" sz="quarter" idx="12"/>
          </p:nvPr>
        </p:nvSpPr>
        <p:spPr/>
        <p:txBody>
          <a:bodyPr/>
          <a:lstStyle/>
          <a:p>
            <a:fld id="{6B97D948-30E8-43F7-AE10-F6E2D9F2BBB1}" type="slidenum">
              <a:rPr lang="en-US" smtClean="0"/>
              <a:t>743</a:t>
            </a:fld>
            <a:endParaRPr lang="en-US"/>
          </a:p>
        </p:txBody>
      </p:sp>
    </p:spTree>
    <p:extLst>
      <p:ext uri="{BB962C8B-B14F-4D97-AF65-F5344CB8AC3E}">
        <p14:creationId xmlns:p14="http://schemas.microsoft.com/office/powerpoint/2010/main" val="816510541"/>
      </p:ext>
    </p:extLst>
  </p:cSld>
  <p:clrMapOvr>
    <a:masterClrMapping/>
  </p:clrMapOvr>
</p:sld>
</file>

<file path=ppt/slides/slide7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1E3F82-36A5-4B66-8C42-587681D28D84}"/>
              </a:ext>
            </a:extLst>
          </p:cNvPr>
          <p:cNvPicPr>
            <a:picLocks noChangeAspect="1"/>
          </p:cNvPicPr>
          <p:nvPr/>
        </p:nvPicPr>
        <p:blipFill>
          <a:blip r:embed="rId2"/>
          <a:stretch>
            <a:fillRect/>
          </a:stretch>
        </p:blipFill>
        <p:spPr>
          <a:xfrm>
            <a:off x="631685" y="1055914"/>
            <a:ext cx="10852065" cy="4874986"/>
          </a:xfrm>
          <a:prstGeom prst="rect">
            <a:avLst/>
          </a:prstGeom>
        </p:spPr>
      </p:pic>
      <p:sp>
        <p:nvSpPr>
          <p:cNvPr id="7" name="Slide Number Placeholder 6">
            <a:extLst>
              <a:ext uri="{FF2B5EF4-FFF2-40B4-BE49-F238E27FC236}">
                <a16:creationId xmlns:a16="http://schemas.microsoft.com/office/drawing/2014/main" id="{CE533680-EAEA-4961-8BE5-941555BB639A}"/>
              </a:ext>
            </a:extLst>
          </p:cNvPr>
          <p:cNvSpPr>
            <a:spLocks noGrp="1"/>
          </p:cNvSpPr>
          <p:nvPr>
            <p:ph type="sldNum" sz="quarter" idx="12"/>
          </p:nvPr>
        </p:nvSpPr>
        <p:spPr/>
        <p:txBody>
          <a:bodyPr/>
          <a:lstStyle/>
          <a:p>
            <a:fld id="{6B97D948-30E8-43F7-AE10-F6E2D9F2BBB1}" type="slidenum">
              <a:rPr lang="en-US" smtClean="0"/>
              <a:t>744</a:t>
            </a:fld>
            <a:endParaRPr lang="en-US"/>
          </a:p>
        </p:txBody>
      </p:sp>
    </p:spTree>
    <p:extLst>
      <p:ext uri="{BB962C8B-B14F-4D97-AF65-F5344CB8AC3E}">
        <p14:creationId xmlns:p14="http://schemas.microsoft.com/office/powerpoint/2010/main" val="2215519673"/>
      </p:ext>
    </p:extLst>
  </p:cSld>
  <p:clrMapOvr>
    <a:masterClrMapping/>
  </p:clrMapOvr>
</p:sld>
</file>

<file path=ppt/slides/slide7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D8767-DE03-4CD4-8252-A1DA73EB9107}"/>
              </a:ext>
            </a:extLst>
          </p:cNvPr>
          <p:cNvSpPr>
            <a:spLocks noGrp="1"/>
          </p:cNvSpPr>
          <p:nvPr>
            <p:ph type="title"/>
          </p:nvPr>
        </p:nvSpPr>
        <p:spPr>
          <a:xfrm>
            <a:off x="838200" y="365125"/>
            <a:ext cx="10515600" cy="854075"/>
          </a:xfrm>
        </p:spPr>
        <p:txBody>
          <a:bodyPr/>
          <a:lstStyle/>
          <a:p>
            <a:r>
              <a:rPr lang="en-US" dirty="0"/>
              <a:t>Sigmoid or Logistic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45B447-DC31-4E5A-B395-6865A0C33E75}"/>
                  </a:ext>
                </a:extLst>
              </p:cNvPr>
              <p:cNvSpPr>
                <a:spLocks noGrp="1"/>
              </p:cNvSpPr>
              <p:nvPr>
                <p:ph idx="1"/>
              </p:nvPr>
            </p:nvSpPr>
            <p:spPr>
              <a:xfrm>
                <a:off x="838200" y="1219200"/>
                <a:ext cx="10515600" cy="4957763"/>
              </a:xfrm>
            </p:spPr>
            <p:txBody>
              <a:bodyPr/>
              <a:lstStyle/>
              <a:p>
                <a:r>
                  <a:rPr lang="en-US" dirty="0"/>
                  <a:t>The sigmoid or logistic function is given by:</a:t>
                </a:r>
              </a:p>
              <a:p>
                <a:pPr marL="0" indent="0">
                  <a:buNone/>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𝜎</m:t>
                      </m:r>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𝑥</m:t>
                          </m:r>
                        </m:e>
                      </m:d>
                      <m:r>
                        <a:rPr lang="en-US" b="0" i="1" smtClean="0">
                          <a:solidFill>
                            <a:srgbClr val="FF0000"/>
                          </a:solidFill>
                          <a:latin typeface="Cambria Math" panose="02040503050406030204" pitchFamily="18" charset="0"/>
                          <a:ea typeface="Cambria Math" panose="02040503050406030204" pitchFamily="18" charset="0"/>
                        </a:rPr>
                        <m:t>= </m:t>
                      </m:r>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1</m:t>
                          </m:r>
                        </m:num>
                        <m:den>
                          <m:r>
                            <a:rPr lang="en-US" b="0" i="1" smtClean="0">
                              <a:solidFill>
                                <a:srgbClr val="FF0000"/>
                              </a:solidFill>
                              <a:latin typeface="Cambria Math" panose="02040503050406030204" pitchFamily="18" charset="0"/>
                              <a:ea typeface="Cambria Math" panose="02040503050406030204" pitchFamily="18" charset="0"/>
                            </a:rPr>
                            <m:t>1+ </m:t>
                          </m:r>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𝑥</m:t>
                              </m:r>
                            </m:sup>
                          </m:sSup>
                        </m:den>
                      </m:f>
                    </m:oMath>
                  </m:oMathPara>
                </a14:m>
                <a:endParaRPr lang="en-US" dirty="0"/>
              </a:p>
              <a:p>
                <a:pPr algn="just"/>
                <a:endParaRPr lang="en-US" dirty="0"/>
              </a:p>
              <a:p>
                <a:pPr algn="just"/>
                <a:r>
                  <a:rPr lang="en-US" dirty="0"/>
                  <a:t>It is an important function that usually transforms a non-linear relation into a linear relation for analysis.</a:t>
                </a:r>
              </a:p>
              <a:p>
                <a:pPr algn="just"/>
                <a:endParaRPr lang="en-US" dirty="0"/>
              </a:p>
              <a:p>
                <a:pPr algn="just"/>
                <a:r>
                  <a:rPr lang="en-US" dirty="0"/>
                  <a:t>It functions by mapping input values to a value between 0 and 1, making it useful for binary classification and logistic regression problems.</a:t>
                </a:r>
              </a:p>
            </p:txBody>
          </p:sp>
        </mc:Choice>
        <mc:Fallback xmlns="">
          <p:sp>
            <p:nvSpPr>
              <p:cNvPr id="3" name="Content Placeholder 2">
                <a:extLst>
                  <a:ext uri="{FF2B5EF4-FFF2-40B4-BE49-F238E27FC236}">
                    <a16:creationId xmlns:a16="http://schemas.microsoft.com/office/drawing/2014/main" id="{4545B447-DC31-4E5A-B395-6865A0C33E75}"/>
                  </a:ext>
                </a:extLst>
              </p:cNvPr>
              <p:cNvSpPr>
                <a:spLocks noGrp="1" noRot="1" noChangeAspect="1" noMove="1" noResize="1" noEditPoints="1" noAdjustHandles="1" noChangeArrowheads="1" noChangeShapeType="1" noTextEdit="1"/>
              </p:cNvSpPr>
              <p:nvPr>
                <p:ph idx="1"/>
              </p:nvPr>
            </p:nvSpPr>
            <p:spPr>
              <a:xfrm>
                <a:off x="838200" y="1219200"/>
                <a:ext cx="10515600" cy="4957763"/>
              </a:xfrm>
              <a:blipFill>
                <a:blip r:embed="rId2"/>
                <a:stretch>
                  <a:fillRect l="-1043" t="-1968"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5125C899-9BA6-4CEC-ACEB-166A3E11C0F4}"/>
              </a:ext>
            </a:extLst>
          </p:cNvPr>
          <p:cNvSpPr>
            <a:spLocks noGrp="1"/>
          </p:cNvSpPr>
          <p:nvPr>
            <p:ph type="sldNum" sz="quarter" idx="12"/>
          </p:nvPr>
        </p:nvSpPr>
        <p:spPr/>
        <p:txBody>
          <a:bodyPr/>
          <a:lstStyle/>
          <a:p>
            <a:fld id="{6B97D948-30E8-43F7-AE10-F6E2D9F2BBB1}" type="slidenum">
              <a:rPr lang="en-US" smtClean="0"/>
              <a:t>745</a:t>
            </a:fld>
            <a:endParaRPr lang="en-US"/>
          </a:p>
        </p:txBody>
      </p:sp>
    </p:spTree>
    <p:extLst>
      <p:ext uri="{BB962C8B-B14F-4D97-AF65-F5344CB8AC3E}">
        <p14:creationId xmlns:p14="http://schemas.microsoft.com/office/powerpoint/2010/main" val="3063579682"/>
      </p:ext>
    </p:extLst>
  </p:cSld>
  <p:clrMapOvr>
    <a:masterClrMapping/>
  </p:clrMapOvr>
</p:sld>
</file>

<file path=ppt/slides/slide7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FB4CC-01B8-4604-BFF6-ED41E3BF18D2}"/>
              </a:ext>
            </a:extLst>
          </p:cNvPr>
          <p:cNvSpPr>
            <a:spLocks noGrp="1"/>
          </p:cNvSpPr>
          <p:nvPr>
            <p:ph type="title"/>
          </p:nvPr>
        </p:nvSpPr>
        <p:spPr>
          <a:xfrm>
            <a:off x="838200" y="365125"/>
            <a:ext cx="10515600" cy="574675"/>
          </a:xfrm>
        </p:spPr>
        <p:txBody>
          <a:bodyPr>
            <a:normAutofit fontScale="90000"/>
          </a:bodyPr>
          <a:lstStyle/>
          <a:p>
            <a:r>
              <a:rPr lang="en-US" dirty="0"/>
              <a:t>Graph of sigmoid function</a:t>
            </a:r>
          </a:p>
        </p:txBody>
      </p:sp>
      <p:pic>
        <p:nvPicPr>
          <p:cNvPr id="4" name="Content Placeholder 3">
            <a:extLst>
              <a:ext uri="{FF2B5EF4-FFF2-40B4-BE49-F238E27FC236}">
                <a16:creationId xmlns:a16="http://schemas.microsoft.com/office/drawing/2014/main" id="{635752A2-F053-43EB-BE82-5FE050A1ED11}"/>
              </a:ext>
            </a:extLst>
          </p:cNvPr>
          <p:cNvPicPr>
            <a:picLocks noGrp="1" noChangeAspect="1"/>
          </p:cNvPicPr>
          <p:nvPr>
            <p:ph idx="1"/>
          </p:nvPr>
        </p:nvPicPr>
        <p:blipFill>
          <a:blip r:embed="rId2"/>
          <a:stretch>
            <a:fillRect/>
          </a:stretch>
        </p:blipFill>
        <p:spPr>
          <a:xfrm>
            <a:off x="2070100" y="996247"/>
            <a:ext cx="6940671" cy="5180716"/>
          </a:xfrm>
          <a:prstGeom prst="rect">
            <a:avLst/>
          </a:prstGeom>
        </p:spPr>
      </p:pic>
      <p:sp>
        <p:nvSpPr>
          <p:cNvPr id="6" name="Slide Number Placeholder 5">
            <a:extLst>
              <a:ext uri="{FF2B5EF4-FFF2-40B4-BE49-F238E27FC236}">
                <a16:creationId xmlns:a16="http://schemas.microsoft.com/office/drawing/2014/main" id="{95240C6A-64DA-4FFA-AC1C-A7832BEBBBF8}"/>
              </a:ext>
            </a:extLst>
          </p:cNvPr>
          <p:cNvSpPr>
            <a:spLocks noGrp="1"/>
          </p:cNvSpPr>
          <p:nvPr>
            <p:ph type="sldNum" sz="quarter" idx="12"/>
          </p:nvPr>
        </p:nvSpPr>
        <p:spPr/>
        <p:txBody>
          <a:bodyPr/>
          <a:lstStyle/>
          <a:p>
            <a:fld id="{6B97D948-30E8-43F7-AE10-F6E2D9F2BBB1}" type="slidenum">
              <a:rPr lang="en-US" smtClean="0"/>
              <a:t>746</a:t>
            </a:fld>
            <a:endParaRPr lang="en-US"/>
          </a:p>
        </p:txBody>
      </p:sp>
    </p:spTree>
    <p:extLst>
      <p:ext uri="{BB962C8B-B14F-4D97-AF65-F5344CB8AC3E}">
        <p14:creationId xmlns:p14="http://schemas.microsoft.com/office/powerpoint/2010/main" val="692996336"/>
      </p:ext>
    </p:extLst>
  </p:cSld>
  <p:clrMapOvr>
    <a:masterClrMapping/>
  </p:clrMapOvr>
</p:sld>
</file>

<file path=ppt/slides/slide7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09B1F-9B7E-4D6E-8434-E86933B27BE8}"/>
              </a:ext>
            </a:extLst>
          </p:cNvPr>
          <p:cNvSpPr>
            <a:spLocks noGrp="1"/>
          </p:cNvSpPr>
          <p:nvPr>
            <p:ph type="title"/>
          </p:nvPr>
        </p:nvSpPr>
        <p:spPr>
          <a:xfrm>
            <a:off x="838200" y="365125"/>
            <a:ext cx="10515600" cy="732155"/>
          </a:xfrm>
        </p:spPr>
        <p:txBody>
          <a:bodyPr/>
          <a:lstStyle/>
          <a:p>
            <a:r>
              <a:rPr lang="en-US" dirty="0"/>
              <a:t>Code</a:t>
            </a:r>
          </a:p>
        </p:txBody>
      </p:sp>
      <p:sp>
        <p:nvSpPr>
          <p:cNvPr id="3" name="Content Placeholder 2">
            <a:extLst>
              <a:ext uri="{FF2B5EF4-FFF2-40B4-BE49-F238E27FC236}">
                <a16:creationId xmlns:a16="http://schemas.microsoft.com/office/drawing/2014/main" id="{F2EC10E9-8276-4838-B39D-AC65AB3FE845}"/>
              </a:ext>
            </a:extLst>
          </p:cNvPr>
          <p:cNvSpPr>
            <a:spLocks noGrp="1"/>
          </p:cNvSpPr>
          <p:nvPr>
            <p:ph idx="1"/>
          </p:nvPr>
        </p:nvSpPr>
        <p:spPr>
          <a:xfrm>
            <a:off x="838200" y="1097280"/>
            <a:ext cx="10515600" cy="5079683"/>
          </a:xfrm>
        </p:spPr>
        <p:txBody>
          <a:bodyPr/>
          <a:lstStyle/>
          <a:p>
            <a:r>
              <a:rPr lang="en-US" dirty="0">
                <a:solidFill>
                  <a:srgbClr val="FF0000"/>
                </a:solidFill>
              </a:rPr>
              <a:t>import </a:t>
            </a:r>
            <a:r>
              <a:rPr lang="en-US" dirty="0" err="1">
                <a:solidFill>
                  <a:srgbClr val="FF0000"/>
                </a:solidFill>
              </a:rPr>
              <a:t>numpy</a:t>
            </a:r>
            <a:r>
              <a:rPr lang="en-US" dirty="0">
                <a:solidFill>
                  <a:srgbClr val="FF0000"/>
                </a:solidFill>
              </a:rPr>
              <a:t> as np</a:t>
            </a:r>
          </a:p>
          <a:p>
            <a:endParaRPr lang="en-US" dirty="0">
              <a:solidFill>
                <a:srgbClr val="FF0000"/>
              </a:solidFill>
            </a:endParaRPr>
          </a:p>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endParaRPr lang="en-US" dirty="0">
              <a:solidFill>
                <a:srgbClr val="FF0000"/>
              </a:solidFill>
            </a:endParaRPr>
          </a:p>
          <a:p>
            <a:r>
              <a:rPr lang="en-US" dirty="0">
                <a:solidFill>
                  <a:srgbClr val="FF0000"/>
                </a:solidFill>
              </a:rPr>
              <a:t>%matplotlib</a:t>
            </a:r>
          </a:p>
        </p:txBody>
      </p:sp>
      <p:sp>
        <p:nvSpPr>
          <p:cNvPr id="5" name="Slide Number Placeholder 4">
            <a:extLst>
              <a:ext uri="{FF2B5EF4-FFF2-40B4-BE49-F238E27FC236}">
                <a16:creationId xmlns:a16="http://schemas.microsoft.com/office/drawing/2014/main" id="{3A43BBB3-FD1D-4982-863E-D7373D69033F}"/>
              </a:ext>
            </a:extLst>
          </p:cNvPr>
          <p:cNvSpPr>
            <a:spLocks noGrp="1"/>
          </p:cNvSpPr>
          <p:nvPr>
            <p:ph type="sldNum" sz="quarter" idx="12"/>
          </p:nvPr>
        </p:nvSpPr>
        <p:spPr/>
        <p:txBody>
          <a:bodyPr/>
          <a:lstStyle/>
          <a:p>
            <a:fld id="{6B97D948-30E8-43F7-AE10-F6E2D9F2BBB1}" type="slidenum">
              <a:rPr lang="en-US" smtClean="0"/>
              <a:t>747</a:t>
            </a:fld>
            <a:endParaRPr lang="en-US"/>
          </a:p>
        </p:txBody>
      </p:sp>
    </p:spTree>
    <p:extLst>
      <p:ext uri="{BB962C8B-B14F-4D97-AF65-F5344CB8AC3E}">
        <p14:creationId xmlns:p14="http://schemas.microsoft.com/office/powerpoint/2010/main" val="1049479044"/>
      </p:ext>
    </p:extLst>
  </p:cSld>
  <p:clrMapOvr>
    <a:masterClrMapping/>
  </p:clrMapOvr>
</p:sld>
</file>

<file path=ppt/slides/slide7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66FFE-1A16-45D3-917A-6689DD4BF0CC}"/>
              </a:ext>
            </a:extLst>
          </p:cNvPr>
          <p:cNvSpPr>
            <a:spLocks noGrp="1"/>
          </p:cNvSpPr>
          <p:nvPr>
            <p:ph type="title"/>
          </p:nvPr>
        </p:nvSpPr>
        <p:spPr>
          <a:xfrm>
            <a:off x="838200" y="365125"/>
            <a:ext cx="10515600" cy="793115"/>
          </a:xfrm>
        </p:spPr>
        <p:txBody>
          <a:bodyPr/>
          <a:lstStyle/>
          <a:p>
            <a:r>
              <a:rPr lang="en-US" dirty="0"/>
              <a:t>Function</a:t>
            </a:r>
          </a:p>
        </p:txBody>
      </p:sp>
      <p:sp>
        <p:nvSpPr>
          <p:cNvPr id="3" name="Content Placeholder 2">
            <a:extLst>
              <a:ext uri="{FF2B5EF4-FFF2-40B4-BE49-F238E27FC236}">
                <a16:creationId xmlns:a16="http://schemas.microsoft.com/office/drawing/2014/main" id="{2EC4D4F1-2804-403C-ACD7-45084F3F7B6F}"/>
              </a:ext>
            </a:extLst>
          </p:cNvPr>
          <p:cNvSpPr>
            <a:spLocks noGrp="1"/>
          </p:cNvSpPr>
          <p:nvPr>
            <p:ph idx="1"/>
          </p:nvPr>
        </p:nvSpPr>
        <p:spPr>
          <a:xfrm>
            <a:off x="838200" y="1158240"/>
            <a:ext cx="10515600" cy="5018723"/>
          </a:xfrm>
        </p:spPr>
        <p:txBody>
          <a:bodyPr/>
          <a:lstStyle/>
          <a:p>
            <a:r>
              <a:rPr lang="en-US" dirty="0">
                <a:solidFill>
                  <a:srgbClr val="FF0000"/>
                </a:solidFill>
              </a:rPr>
              <a:t>def sig(x):</a:t>
            </a:r>
          </a:p>
          <a:p>
            <a:r>
              <a:rPr lang="en-US" dirty="0">
                <a:solidFill>
                  <a:srgbClr val="FF0000"/>
                </a:solidFill>
              </a:rPr>
              <a:t>         return 1/(1 + </a:t>
            </a:r>
            <a:r>
              <a:rPr lang="en-US" dirty="0" err="1">
                <a:solidFill>
                  <a:srgbClr val="FF0000"/>
                </a:solidFill>
              </a:rPr>
              <a:t>np.exp</a:t>
            </a:r>
            <a:r>
              <a:rPr lang="en-US" dirty="0">
                <a:solidFill>
                  <a:srgbClr val="FF0000"/>
                </a:solidFill>
              </a:rPr>
              <a:t>(-x))</a:t>
            </a:r>
          </a:p>
          <a:p>
            <a:endParaRPr lang="en-US" dirty="0">
              <a:solidFill>
                <a:srgbClr val="FF0000"/>
              </a:solidFill>
            </a:endParaRPr>
          </a:p>
          <a:p>
            <a:r>
              <a:rPr lang="en-US" dirty="0"/>
              <a:t>Let’s substitute give values of x and see what the function gives us.</a:t>
            </a:r>
          </a:p>
          <a:p>
            <a:endParaRPr lang="en-US" dirty="0"/>
          </a:p>
        </p:txBody>
      </p:sp>
      <p:sp>
        <p:nvSpPr>
          <p:cNvPr id="5" name="Slide Number Placeholder 4">
            <a:extLst>
              <a:ext uri="{FF2B5EF4-FFF2-40B4-BE49-F238E27FC236}">
                <a16:creationId xmlns:a16="http://schemas.microsoft.com/office/drawing/2014/main" id="{7F92070C-8C78-433D-8BAD-A3AF9E8FCF71}"/>
              </a:ext>
            </a:extLst>
          </p:cNvPr>
          <p:cNvSpPr>
            <a:spLocks noGrp="1"/>
          </p:cNvSpPr>
          <p:nvPr>
            <p:ph type="sldNum" sz="quarter" idx="12"/>
          </p:nvPr>
        </p:nvSpPr>
        <p:spPr/>
        <p:txBody>
          <a:bodyPr/>
          <a:lstStyle/>
          <a:p>
            <a:fld id="{6B97D948-30E8-43F7-AE10-F6E2D9F2BBB1}" type="slidenum">
              <a:rPr lang="en-US" smtClean="0"/>
              <a:t>748</a:t>
            </a:fld>
            <a:endParaRPr lang="en-US"/>
          </a:p>
        </p:txBody>
      </p:sp>
    </p:spTree>
    <p:extLst>
      <p:ext uri="{BB962C8B-B14F-4D97-AF65-F5344CB8AC3E}">
        <p14:creationId xmlns:p14="http://schemas.microsoft.com/office/powerpoint/2010/main" val="533944272"/>
      </p:ext>
    </p:extLst>
  </p:cSld>
  <p:clrMapOvr>
    <a:masterClrMapping/>
  </p:clrMapOvr>
</p:sld>
</file>

<file path=ppt/slides/slide7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6E69C7-5290-4570-A8D9-2A6781257D65}"/>
              </a:ext>
            </a:extLst>
          </p:cNvPr>
          <p:cNvSpPr>
            <a:spLocks noGrp="1"/>
          </p:cNvSpPr>
          <p:nvPr>
            <p:ph idx="1"/>
          </p:nvPr>
        </p:nvSpPr>
        <p:spPr>
          <a:xfrm>
            <a:off x="838200" y="518160"/>
            <a:ext cx="10515600" cy="5658803"/>
          </a:xfrm>
        </p:spPr>
        <p:txBody>
          <a:bodyPr>
            <a:normAutofit/>
          </a:bodyPr>
          <a:lstStyle/>
          <a:p>
            <a:r>
              <a:rPr lang="en-US" dirty="0">
                <a:solidFill>
                  <a:srgbClr val="FF0000"/>
                </a:solidFill>
              </a:rPr>
              <a:t>x = 1.0</a:t>
            </a:r>
          </a:p>
          <a:p>
            <a:r>
              <a:rPr lang="en-US" dirty="0">
                <a:solidFill>
                  <a:srgbClr val="FF0000"/>
                </a:solidFill>
              </a:rPr>
              <a:t>(x, sig(x))</a:t>
            </a:r>
          </a:p>
          <a:p>
            <a:endParaRPr lang="en-US" dirty="0">
              <a:solidFill>
                <a:srgbClr val="FF0000"/>
              </a:solidFill>
            </a:endParaRPr>
          </a:p>
          <a:p>
            <a:r>
              <a:rPr lang="en-US" dirty="0">
                <a:solidFill>
                  <a:srgbClr val="FF0000"/>
                </a:solidFill>
              </a:rPr>
              <a:t>x = -10.0</a:t>
            </a:r>
          </a:p>
          <a:p>
            <a:r>
              <a:rPr lang="en-US" dirty="0">
                <a:solidFill>
                  <a:srgbClr val="FF0000"/>
                </a:solidFill>
              </a:rPr>
              <a:t>(x, sig(x))</a:t>
            </a:r>
          </a:p>
          <a:p>
            <a:endParaRPr lang="en-US" dirty="0">
              <a:solidFill>
                <a:srgbClr val="FF0000"/>
              </a:solidFill>
            </a:endParaRPr>
          </a:p>
          <a:p>
            <a:r>
              <a:rPr lang="en-US" dirty="0">
                <a:solidFill>
                  <a:srgbClr val="FF0000"/>
                </a:solidFill>
              </a:rPr>
              <a:t>x = 0</a:t>
            </a:r>
          </a:p>
          <a:p>
            <a:r>
              <a:rPr lang="en-US" dirty="0">
                <a:solidFill>
                  <a:srgbClr val="FF0000"/>
                </a:solidFill>
              </a:rPr>
              <a:t>(x, sig(x))</a:t>
            </a:r>
          </a:p>
          <a:p>
            <a:endParaRPr lang="en-US" dirty="0">
              <a:solidFill>
                <a:srgbClr val="FF0000"/>
              </a:solidFill>
            </a:endParaRPr>
          </a:p>
          <a:p>
            <a:r>
              <a:rPr lang="en-US" dirty="0">
                <a:solidFill>
                  <a:srgbClr val="FF0000"/>
                </a:solidFill>
              </a:rPr>
              <a:t>x = 15</a:t>
            </a:r>
          </a:p>
          <a:p>
            <a:r>
              <a:rPr lang="en-US" dirty="0">
                <a:solidFill>
                  <a:srgbClr val="FF0000"/>
                </a:solidFill>
              </a:rPr>
              <a:t>(x, sig(x))</a:t>
            </a:r>
          </a:p>
          <a:p>
            <a:endParaRPr lang="en-US" dirty="0"/>
          </a:p>
        </p:txBody>
      </p:sp>
      <p:sp>
        <p:nvSpPr>
          <p:cNvPr id="5" name="Slide Number Placeholder 4">
            <a:extLst>
              <a:ext uri="{FF2B5EF4-FFF2-40B4-BE49-F238E27FC236}">
                <a16:creationId xmlns:a16="http://schemas.microsoft.com/office/drawing/2014/main" id="{E3230257-1C6E-473E-A2A1-5C29F44A25A7}"/>
              </a:ext>
            </a:extLst>
          </p:cNvPr>
          <p:cNvSpPr>
            <a:spLocks noGrp="1"/>
          </p:cNvSpPr>
          <p:nvPr>
            <p:ph type="sldNum" sz="quarter" idx="12"/>
          </p:nvPr>
        </p:nvSpPr>
        <p:spPr/>
        <p:txBody>
          <a:bodyPr/>
          <a:lstStyle/>
          <a:p>
            <a:fld id="{6B97D948-30E8-43F7-AE10-F6E2D9F2BBB1}" type="slidenum">
              <a:rPr lang="en-US" smtClean="0"/>
              <a:t>749</a:t>
            </a:fld>
            <a:endParaRPr lang="en-US"/>
          </a:p>
        </p:txBody>
      </p:sp>
    </p:spTree>
    <p:extLst>
      <p:ext uri="{BB962C8B-B14F-4D97-AF65-F5344CB8AC3E}">
        <p14:creationId xmlns:p14="http://schemas.microsoft.com/office/powerpoint/2010/main" val="1137384036"/>
      </p:ext>
    </p:extLst>
  </p:cSld>
  <p:clrMapOvr>
    <a:masterClrMapping/>
  </p:clrMapOvr>
</p:sld>
</file>

<file path=ppt/slides/slide7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8D86C-432E-49CD-98E9-731DA9A31B30}"/>
              </a:ext>
            </a:extLst>
          </p:cNvPr>
          <p:cNvSpPr>
            <a:spLocks noGrp="1"/>
          </p:cNvSpPr>
          <p:nvPr>
            <p:ph type="title"/>
          </p:nvPr>
        </p:nvSpPr>
        <p:spPr>
          <a:xfrm>
            <a:off x="838200" y="365125"/>
            <a:ext cx="10515600" cy="823595"/>
          </a:xfrm>
        </p:spPr>
        <p:txBody>
          <a:bodyPr/>
          <a:lstStyle/>
          <a:p>
            <a:r>
              <a:rPr lang="en-US" dirty="0"/>
              <a:t>Plot sigmoid activation</a:t>
            </a:r>
          </a:p>
        </p:txBody>
      </p:sp>
      <p:sp>
        <p:nvSpPr>
          <p:cNvPr id="3" name="Content Placeholder 2">
            <a:extLst>
              <a:ext uri="{FF2B5EF4-FFF2-40B4-BE49-F238E27FC236}">
                <a16:creationId xmlns:a16="http://schemas.microsoft.com/office/drawing/2014/main" id="{C776FA87-9DC4-439A-8C46-AC36E9FA8C7E}"/>
              </a:ext>
            </a:extLst>
          </p:cNvPr>
          <p:cNvSpPr>
            <a:spLocks noGrp="1"/>
          </p:cNvSpPr>
          <p:nvPr>
            <p:ph idx="1"/>
          </p:nvPr>
        </p:nvSpPr>
        <p:spPr>
          <a:xfrm>
            <a:off x="838200" y="1188720"/>
            <a:ext cx="10515600" cy="4988243"/>
          </a:xfrm>
        </p:spPr>
        <p:txBody>
          <a:bodyPr>
            <a:normAutofit/>
          </a:bodyPr>
          <a:lstStyle/>
          <a:p>
            <a:r>
              <a:rPr lang="en-US" dirty="0">
                <a:solidFill>
                  <a:srgbClr val="FF0000"/>
                </a:solidFill>
              </a:rPr>
              <a:t>x = </a:t>
            </a:r>
            <a:r>
              <a:rPr lang="en-US" dirty="0" err="1">
                <a:solidFill>
                  <a:srgbClr val="FF0000"/>
                </a:solidFill>
              </a:rPr>
              <a:t>np.linspace</a:t>
            </a:r>
            <a:r>
              <a:rPr lang="en-US" dirty="0">
                <a:solidFill>
                  <a:srgbClr val="FF0000"/>
                </a:solidFill>
              </a:rPr>
              <a:t>(-10, 10, 50)</a:t>
            </a:r>
          </a:p>
          <a:p>
            <a:endParaRPr lang="en-US" dirty="0">
              <a:solidFill>
                <a:srgbClr val="FF0000"/>
              </a:solidFill>
            </a:endParaRPr>
          </a:p>
          <a:p>
            <a:r>
              <a:rPr lang="en-US" dirty="0">
                <a:solidFill>
                  <a:srgbClr val="FF0000"/>
                </a:solidFill>
              </a:rPr>
              <a:t>y = sig(x)</a:t>
            </a:r>
          </a:p>
          <a:p>
            <a:endParaRPr lang="en-US" dirty="0">
              <a:solidFill>
                <a:srgbClr val="FF0000"/>
              </a:solidFill>
            </a:endParaRPr>
          </a:p>
          <a:p>
            <a:r>
              <a:rPr lang="en-US" dirty="0" err="1">
                <a:solidFill>
                  <a:srgbClr val="FF0000"/>
                </a:solidFill>
              </a:rPr>
              <a:t>plt.ylabel</a:t>
            </a:r>
            <a:r>
              <a:rPr lang="en-US" dirty="0">
                <a:solidFill>
                  <a:srgbClr val="FF0000"/>
                </a:solidFill>
              </a:rPr>
              <a:t>(</a:t>
            </a:r>
            <a:r>
              <a:rPr lang="en-US" dirty="0" err="1">
                <a:solidFill>
                  <a:srgbClr val="FF0000"/>
                </a:solidFill>
              </a:rPr>
              <a:t>r'$Sigmoid</a:t>
            </a:r>
            <a:r>
              <a:rPr lang="en-US" dirty="0">
                <a:solidFill>
                  <a:srgbClr val="FF0000"/>
                </a:solidFill>
              </a:rPr>
              <a:t>(x)$')</a:t>
            </a:r>
          </a:p>
          <a:p>
            <a:endParaRPr lang="en-US" dirty="0">
              <a:solidFill>
                <a:srgbClr val="FF0000"/>
              </a:solidFill>
            </a:endParaRPr>
          </a:p>
          <a:p>
            <a:r>
              <a:rPr lang="en-US" dirty="0" err="1">
                <a:solidFill>
                  <a:srgbClr val="FF0000"/>
                </a:solidFill>
              </a:rPr>
              <a:t>plt.xlabel</a:t>
            </a:r>
            <a:r>
              <a:rPr lang="en-US" dirty="0">
                <a:solidFill>
                  <a:srgbClr val="FF0000"/>
                </a:solidFill>
              </a:rPr>
              <a:t>(</a:t>
            </a:r>
            <a:r>
              <a:rPr lang="en-US" dirty="0" err="1">
                <a:solidFill>
                  <a:srgbClr val="FF0000"/>
                </a:solidFill>
              </a:rPr>
              <a:t>r'$x</a:t>
            </a:r>
            <a:r>
              <a:rPr lang="en-US" dirty="0">
                <a:solidFill>
                  <a:srgbClr val="FF0000"/>
                </a:solidFill>
              </a:rPr>
              <a:t>$')</a:t>
            </a:r>
          </a:p>
          <a:p>
            <a:endParaRPr lang="en-US" dirty="0">
              <a:solidFill>
                <a:srgbClr val="FF0000"/>
              </a:solidFill>
            </a:endParaRPr>
          </a:p>
          <a:p>
            <a:r>
              <a:rPr lang="en-US" dirty="0" err="1">
                <a:solidFill>
                  <a:srgbClr val="FF0000"/>
                </a:solidFill>
              </a:rPr>
              <a:t>plt.plot</a:t>
            </a:r>
            <a:r>
              <a:rPr lang="en-US" dirty="0">
                <a:solidFill>
                  <a:srgbClr val="FF0000"/>
                </a:solidFill>
              </a:rPr>
              <a:t>(x, y)</a:t>
            </a:r>
          </a:p>
        </p:txBody>
      </p:sp>
      <p:sp>
        <p:nvSpPr>
          <p:cNvPr id="5" name="Slide Number Placeholder 4">
            <a:extLst>
              <a:ext uri="{FF2B5EF4-FFF2-40B4-BE49-F238E27FC236}">
                <a16:creationId xmlns:a16="http://schemas.microsoft.com/office/drawing/2014/main" id="{D5D05047-56FE-4441-998D-302848801121}"/>
              </a:ext>
            </a:extLst>
          </p:cNvPr>
          <p:cNvSpPr>
            <a:spLocks noGrp="1"/>
          </p:cNvSpPr>
          <p:nvPr>
            <p:ph type="sldNum" sz="quarter" idx="12"/>
          </p:nvPr>
        </p:nvSpPr>
        <p:spPr/>
        <p:txBody>
          <a:bodyPr/>
          <a:lstStyle/>
          <a:p>
            <a:fld id="{6B97D948-30E8-43F7-AE10-F6E2D9F2BBB1}" type="slidenum">
              <a:rPr lang="en-US" smtClean="0"/>
              <a:t>750</a:t>
            </a:fld>
            <a:endParaRPr lang="en-US"/>
          </a:p>
        </p:txBody>
      </p:sp>
    </p:spTree>
    <p:extLst>
      <p:ext uri="{BB962C8B-B14F-4D97-AF65-F5344CB8AC3E}">
        <p14:creationId xmlns:p14="http://schemas.microsoft.com/office/powerpoint/2010/main" val="1619265692"/>
      </p:ext>
    </p:extLst>
  </p:cSld>
  <p:clrMapOvr>
    <a:masterClrMapping/>
  </p:clrMapOvr>
</p:sld>
</file>

<file path=ppt/slides/slide7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57132-F65E-4124-917C-49F53D395B8F}"/>
              </a:ext>
            </a:extLst>
          </p:cNvPr>
          <p:cNvSpPr>
            <a:spLocks noGrp="1"/>
          </p:cNvSpPr>
          <p:nvPr>
            <p:ph type="title"/>
          </p:nvPr>
        </p:nvSpPr>
        <p:spPr>
          <a:xfrm>
            <a:off x="838200" y="365125"/>
            <a:ext cx="10515600" cy="671195"/>
          </a:xfrm>
        </p:spPr>
        <p:txBody>
          <a:bodyPr>
            <a:normAutofit fontScale="90000"/>
          </a:bodyPr>
          <a:lstStyle/>
          <a:p>
            <a:r>
              <a:rPr lang="en-US" dirty="0"/>
              <a:t>Graph</a:t>
            </a:r>
          </a:p>
        </p:txBody>
      </p:sp>
      <p:pic>
        <p:nvPicPr>
          <p:cNvPr id="5" name="Content Placeholder 4">
            <a:extLst>
              <a:ext uri="{FF2B5EF4-FFF2-40B4-BE49-F238E27FC236}">
                <a16:creationId xmlns:a16="http://schemas.microsoft.com/office/drawing/2014/main" id="{B28D0C13-3F7D-4926-BD5C-5C3A6DA809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8461" y="1310640"/>
            <a:ext cx="6488431" cy="4866323"/>
          </a:xfrm>
        </p:spPr>
      </p:pic>
      <p:sp>
        <p:nvSpPr>
          <p:cNvPr id="7" name="Slide Number Placeholder 6">
            <a:extLst>
              <a:ext uri="{FF2B5EF4-FFF2-40B4-BE49-F238E27FC236}">
                <a16:creationId xmlns:a16="http://schemas.microsoft.com/office/drawing/2014/main" id="{CED58CCB-01C6-40CB-A031-6B6BC54FDC35}"/>
              </a:ext>
            </a:extLst>
          </p:cNvPr>
          <p:cNvSpPr>
            <a:spLocks noGrp="1"/>
          </p:cNvSpPr>
          <p:nvPr>
            <p:ph type="sldNum" sz="quarter" idx="12"/>
          </p:nvPr>
        </p:nvSpPr>
        <p:spPr/>
        <p:txBody>
          <a:bodyPr/>
          <a:lstStyle/>
          <a:p>
            <a:fld id="{6B97D948-30E8-43F7-AE10-F6E2D9F2BBB1}" type="slidenum">
              <a:rPr lang="en-US" smtClean="0"/>
              <a:t>751</a:t>
            </a:fld>
            <a:endParaRPr lang="en-US"/>
          </a:p>
        </p:txBody>
      </p:sp>
    </p:spTree>
    <p:extLst>
      <p:ext uri="{BB962C8B-B14F-4D97-AF65-F5344CB8AC3E}">
        <p14:creationId xmlns:p14="http://schemas.microsoft.com/office/powerpoint/2010/main" val="2770415511"/>
      </p:ext>
    </p:extLst>
  </p:cSld>
  <p:clrMapOvr>
    <a:masterClrMapping/>
  </p:clrMapOvr>
</p:sld>
</file>

<file path=ppt/slides/slide7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B9953-9BC3-4B7D-BEC4-C0E2650BA467}"/>
              </a:ext>
            </a:extLst>
          </p:cNvPr>
          <p:cNvSpPr>
            <a:spLocks noGrp="1"/>
          </p:cNvSpPr>
          <p:nvPr>
            <p:ph type="title"/>
          </p:nvPr>
        </p:nvSpPr>
        <p:spPr>
          <a:xfrm>
            <a:off x="838200" y="365125"/>
            <a:ext cx="10515600" cy="534035"/>
          </a:xfrm>
        </p:spPr>
        <p:txBody>
          <a:bodyPr>
            <a:normAutofit fontScale="90000"/>
          </a:bodyPr>
          <a:lstStyle/>
          <a:p>
            <a:r>
              <a:rPr lang="en-US" dirty="0"/>
              <a:t>Use cases for binomial logistic regression</a:t>
            </a:r>
          </a:p>
        </p:txBody>
      </p:sp>
      <p:sp>
        <p:nvSpPr>
          <p:cNvPr id="3" name="Content Placeholder 2">
            <a:extLst>
              <a:ext uri="{FF2B5EF4-FFF2-40B4-BE49-F238E27FC236}">
                <a16:creationId xmlns:a16="http://schemas.microsoft.com/office/drawing/2014/main" id="{6D3B3418-65C3-4A8E-9EAB-36505F5BE335}"/>
              </a:ext>
            </a:extLst>
          </p:cNvPr>
          <p:cNvSpPr>
            <a:spLocks noGrp="1"/>
          </p:cNvSpPr>
          <p:nvPr>
            <p:ph idx="1"/>
          </p:nvPr>
        </p:nvSpPr>
        <p:spPr>
          <a:xfrm>
            <a:off x="838200" y="899160"/>
            <a:ext cx="10515600" cy="5277803"/>
          </a:xfrm>
        </p:spPr>
        <p:txBody>
          <a:bodyPr/>
          <a:lstStyle/>
          <a:p>
            <a:pPr algn="just"/>
            <a:r>
              <a:rPr lang="en-US" dirty="0"/>
              <a:t>Binomial logistic regression can be used when the outcome of interest is binary or </a:t>
            </a:r>
            <a:r>
              <a:rPr lang="en-US" dirty="0">
                <a:solidFill>
                  <a:srgbClr val="FF0000"/>
                </a:solidFill>
              </a:rPr>
              <a:t>dichotomous</a:t>
            </a:r>
            <a:r>
              <a:rPr lang="en-US" dirty="0"/>
              <a:t> in nature. </a:t>
            </a:r>
          </a:p>
          <a:p>
            <a:pPr algn="just"/>
            <a:endParaRPr lang="en-US" dirty="0"/>
          </a:p>
          <a:p>
            <a:pPr algn="just"/>
            <a:r>
              <a:rPr lang="en-US" dirty="0"/>
              <a:t>That is, it takes one of two values. </a:t>
            </a:r>
          </a:p>
          <a:p>
            <a:pPr algn="just"/>
            <a:endParaRPr lang="en-US" dirty="0"/>
          </a:p>
          <a:p>
            <a:pPr algn="just"/>
            <a:r>
              <a:rPr lang="en-US" dirty="0"/>
              <a:t>For example, one or zero, true or false, yes or no. </a:t>
            </a:r>
          </a:p>
          <a:p>
            <a:pPr algn="just"/>
            <a:endParaRPr lang="en-US" dirty="0"/>
          </a:p>
          <a:p>
            <a:pPr algn="just"/>
            <a:r>
              <a:rPr lang="en-US" dirty="0"/>
              <a:t>These classes are commonly described as ‘positive’ and ‘negative’ classes.</a:t>
            </a:r>
          </a:p>
        </p:txBody>
      </p:sp>
      <p:sp>
        <p:nvSpPr>
          <p:cNvPr id="5" name="Slide Number Placeholder 4">
            <a:extLst>
              <a:ext uri="{FF2B5EF4-FFF2-40B4-BE49-F238E27FC236}">
                <a16:creationId xmlns:a16="http://schemas.microsoft.com/office/drawing/2014/main" id="{6984EE7C-84AE-4312-8CE1-023E942DA016}"/>
              </a:ext>
            </a:extLst>
          </p:cNvPr>
          <p:cNvSpPr>
            <a:spLocks noGrp="1"/>
          </p:cNvSpPr>
          <p:nvPr>
            <p:ph type="sldNum" sz="quarter" idx="12"/>
          </p:nvPr>
        </p:nvSpPr>
        <p:spPr/>
        <p:txBody>
          <a:bodyPr/>
          <a:lstStyle/>
          <a:p>
            <a:fld id="{6B97D948-30E8-43F7-AE10-F6E2D9F2BBB1}" type="slidenum">
              <a:rPr lang="en-US" smtClean="0"/>
              <a:t>752</a:t>
            </a:fld>
            <a:endParaRPr lang="en-US"/>
          </a:p>
        </p:txBody>
      </p:sp>
    </p:spTree>
    <p:extLst>
      <p:ext uri="{BB962C8B-B14F-4D97-AF65-F5344CB8AC3E}">
        <p14:creationId xmlns:p14="http://schemas.microsoft.com/office/powerpoint/2010/main" val="3958930200"/>
      </p:ext>
    </p:extLst>
  </p:cSld>
  <p:clrMapOvr>
    <a:masterClrMapping/>
  </p:clrMapOvr>
</p:sld>
</file>

<file path=ppt/slides/slide7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1AAC6-9E1F-469B-B907-ECADE8BC244C}"/>
              </a:ext>
            </a:extLst>
          </p:cNvPr>
          <p:cNvSpPr>
            <a:spLocks noGrp="1"/>
          </p:cNvSpPr>
          <p:nvPr>
            <p:ph idx="1"/>
          </p:nvPr>
        </p:nvSpPr>
        <p:spPr>
          <a:xfrm>
            <a:off x="838200" y="548640"/>
            <a:ext cx="10515600" cy="5628323"/>
          </a:xfrm>
        </p:spPr>
        <p:txBody>
          <a:bodyPr>
            <a:normAutofit/>
          </a:bodyPr>
          <a:lstStyle/>
          <a:p>
            <a:pPr algn="just"/>
            <a:r>
              <a:rPr lang="en-US" dirty="0"/>
              <a:t>Given a set of data about sales managers in an organization, including performance against targets, team size, tenure in the organization and other factors, what influence do these factors have on the likelihood of the individual receiving a high performance rating?</a:t>
            </a:r>
          </a:p>
          <a:p>
            <a:pPr algn="just"/>
            <a:endParaRPr lang="en-US" dirty="0"/>
          </a:p>
          <a:p>
            <a:pPr algn="just"/>
            <a:r>
              <a:rPr lang="en-US" dirty="0"/>
              <a:t>Given a set of demographic, income and location data, what influence does each have on the likelihood of an individual voting in an election?</a:t>
            </a:r>
          </a:p>
          <a:p>
            <a:pPr algn="just"/>
            <a:endParaRPr lang="en-US" dirty="0"/>
          </a:p>
          <a:p>
            <a:pPr algn="just"/>
            <a:r>
              <a:rPr lang="en-US" dirty="0"/>
              <a:t>Given a set of statistics about the in-game activity of soccer players, what relationship does each statistic have with the likelihood of a player scoring a goal?</a:t>
            </a:r>
          </a:p>
          <a:p>
            <a:endParaRPr lang="en-US" dirty="0"/>
          </a:p>
        </p:txBody>
      </p:sp>
      <p:sp>
        <p:nvSpPr>
          <p:cNvPr id="5" name="Slide Number Placeholder 4">
            <a:extLst>
              <a:ext uri="{FF2B5EF4-FFF2-40B4-BE49-F238E27FC236}">
                <a16:creationId xmlns:a16="http://schemas.microsoft.com/office/drawing/2014/main" id="{855AEA28-5D5B-4FAC-AEA8-E1AB5189C270}"/>
              </a:ext>
            </a:extLst>
          </p:cNvPr>
          <p:cNvSpPr>
            <a:spLocks noGrp="1"/>
          </p:cNvSpPr>
          <p:nvPr>
            <p:ph type="sldNum" sz="quarter" idx="12"/>
          </p:nvPr>
        </p:nvSpPr>
        <p:spPr/>
        <p:txBody>
          <a:bodyPr/>
          <a:lstStyle/>
          <a:p>
            <a:fld id="{6B97D948-30E8-43F7-AE10-F6E2D9F2BBB1}" type="slidenum">
              <a:rPr lang="en-US" smtClean="0"/>
              <a:t>753</a:t>
            </a:fld>
            <a:endParaRPr lang="en-US"/>
          </a:p>
        </p:txBody>
      </p:sp>
    </p:spTree>
    <p:extLst>
      <p:ext uri="{BB962C8B-B14F-4D97-AF65-F5344CB8AC3E}">
        <p14:creationId xmlns:p14="http://schemas.microsoft.com/office/powerpoint/2010/main" val="2285564394"/>
      </p:ext>
    </p:extLst>
  </p:cSld>
  <p:clrMapOvr>
    <a:masterClrMapping/>
  </p:clrMapOvr>
</p:sld>
</file>

<file path=ppt/slides/slide7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85645-CB3B-57DE-243E-217198413A69}"/>
              </a:ext>
            </a:extLst>
          </p:cNvPr>
          <p:cNvSpPr>
            <a:spLocks noGrp="1"/>
          </p:cNvSpPr>
          <p:nvPr>
            <p:ph type="title"/>
          </p:nvPr>
        </p:nvSpPr>
        <p:spPr>
          <a:xfrm>
            <a:off x="1981200" y="274638"/>
            <a:ext cx="8229600" cy="706090"/>
          </a:xfrm>
        </p:spPr>
        <p:txBody>
          <a:bodyPr>
            <a:normAutofit/>
          </a:bodyPr>
          <a:lstStyle/>
          <a:p>
            <a:r>
              <a:rPr lang="en-US" dirty="0"/>
              <a:t>The Logistic Regression</a:t>
            </a:r>
          </a:p>
        </p:txBody>
      </p:sp>
      <p:sp>
        <p:nvSpPr>
          <p:cNvPr id="3" name="Content Placeholder 2">
            <a:extLst>
              <a:ext uri="{FF2B5EF4-FFF2-40B4-BE49-F238E27FC236}">
                <a16:creationId xmlns:a16="http://schemas.microsoft.com/office/drawing/2014/main" id="{949DFC61-993F-7154-2E19-3264AB4887DF}"/>
              </a:ext>
            </a:extLst>
          </p:cNvPr>
          <p:cNvSpPr>
            <a:spLocks noGrp="1"/>
          </p:cNvSpPr>
          <p:nvPr>
            <p:ph idx="1"/>
          </p:nvPr>
        </p:nvSpPr>
        <p:spPr>
          <a:xfrm>
            <a:off x="736847" y="980729"/>
            <a:ext cx="10875145" cy="5145435"/>
          </a:xfrm>
        </p:spPr>
        <p:txBody>
          <a:bodyPr>
            <a:normAutofit/>
          </a:bodyPr>
          <a:lstStyle/>
          <a:p>
            <a:pPr algn="just"/>
            <a:r>
              <a:rPr lang="en-US" dirty="0"/>
              <a:t>Imagine that you have an outcome event which either occurs or does not occur. </a:t>
            </a:r>
          </a:p>
          <a:p>
            <a:pPr algn="just"/>
            <a:endParaRPr lang="en-US" dirty="0"/>
          </a:p>
          <a:p>
            <a:pPr algn="just"/>
            <a:r>
              <a:rPr lang="en-US" dirty="0"/>
              <a:t>The probability of y occurring, or P(y=1), obviously takes a value between 0 and 1. </a:t>
            </a:r>
          </a:p>
          <a:p>
            <a:pPr algn="just"/>
            <a:endParaRPr lang="en-US" dirty="0"/>
          </a:p>
          <a:p>
            <a:pPr algn="just"/>
            <a:r>
              <a:rPr lang="en-US" dirty="0"/>
              <a:t>Now imagine that some input variable x has a positive effect on the probability of the event occurring. </a:t>
            </a:r>
          </a:p>
          <a:p>
            <a:pPr algn="just"/>
            <a:endParaRPr lang="en-US" dirty="0"/>
          </a:p>
          <a:p>
            <a:pPr algn="just"/>
            <a:r>
              <a:rPr lang="en-US" dirty="0"/>
              <a:t>Then you would naturally expect P(y=1) to increase as x increases.</a:t>
            </a:r>
          </a:p>
        </p:txBody>
      </p:sp>
      <p:sp>
        <p:nvSpPr>
          <p:cNvPr id="5" name="Slide Number Placeholder 4">
            <a:extLst>
              <a:ext uri="{FF2B5EF4-FFF2-40B4-BE49-F238E27FC236}">
                <a16:creationId xmlns:a16="http://schemas.microsoft.com/office/drawing/2014/main" id="{F09D1C1E-02C6-4286-9D19-36E93CBA373A}"/>
              </a:ext>
            </a:extLst>
          </p:cNvPr>
          <p:cNvSpPr>
            <a:spLocks noGrp="1"/>
          </p:cNvSpPr>
          <p:nvPr>
            <p:ph type="sldNum" sz="quarter" idx="12"/>
          </p:nvPr>
        </p:nvSpPr>
        <p:spPr/>
        <p:txBody>
          <a:bodyPr/>
          <a:lstStyle/>
          <a:p>
            <a:fld id="{6B97D948-30E8-43F7-AE10-F6E2D9F2BBB1}" type="slidenum">
              <a:rPr lang="en-US" smtClean="0"/>
              <a:t>754</a:t>
            </a:fld>
            <a:endParaRPr lang="en-US"/>
          </a:p>
        </p:txBody>
      </p:sp>
    </p:spTree>
    <p:extLst>
      <p:ext uri="{BB962C8B-B14F-4D97-AF65-F5344CB8AC3E}">
        <p14:creationId xmlns:p14="http://schemas.microsoft.com/office/powerpoint/2010/main" val="464766356"/>
      </p:ext>
    </p:extLst>
  </p:cSld>
  <p:clrMapOvr>
    <a:masterClrMapping/>
  </p:clrMapOvr>
</p:sld>
</file>

<file path=ppt/slides/slide7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6A64F4-60DA-43D0-1EA2-5B40A8657CFD}"/>
                  </a:ext>
                </a:extLst>
              </p:cNvPr>
              <p:cNvSpPr>
                <a:spLocks noGrp="1"/>
              </p:cNvSpPr>
              <p:nvPr>
                <p:ph idx="1"/>
              </p:nvPr>
            </p:nvSpPr>
            <p:spPr>
              <a:xfrm>
                <a:off x="781235" y="476673"/>
                <a:ext cx="10821880" cy="5649491"/>
              </a:xfrm>
            </p:spPr>
            <p:txBody>
              <a:bodyPr/>
              <a:lstStyle/>
              <a:p>
                <a:pPr algn="just"/>
                <a:r>
                  <a:rPr lang="en-US" dirty="0"/>
                  <a:t>For example, a manager’s promotion is more likely with higher sales levels. </a:t>
                </a:r>
              </a:p>
              <a:p>
                <a:pPr algn="just"/>
                <a:endParaRPr lang="en-US" dirty="0"/>
              </a:p>
              <a:p>
                <a:pPr algn="just"/>
                <a:r>
                  <a:rPr lang="en-US" dirty="0"/>
                  <a:t>We will try to model this probability using our logistic function:</a:t>
                </a:r>
              </a:p>
              <a:p>
                <a:pPr algn="just"/>
                <a14:m>
                  <m:oMath xmlns:m="http://schemas.openxmlformats.org/officeDocument/2006/math">
                    <m:r>
                      <a:rPr lang="en-US" b="0" i="1" smtClean="0">
                        <a:solidFill>
                          <a:srgbClr val="FF0000"/>
                        </a:solidFill>
                        <a:latin typeface="Cambria Math" panose="02040503050406030204" pitchFamily="18" charset="0"/>
                      </a:rPr>
                      <m:t>𝑃</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=1</m:t>
                        </m:r>
                      </m:e>
                    </m:d>
                    <m:r>
                      <a:rPr lang="en-US" b="0" i="1" smtClean="0">
                        <a:solidFill>
                          <a:srgbClr val="FF0000"/>
                        </a:solidFill>
                        <a:latin typeface="Cambria Math" panose="02040503050406030204" pitchFamily="18" charset="0"/>
                      </a:rPr>
                      <m:t>= </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1+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𝑘</m:t>
                            </m:r>
                            <m:r>
                              <a:rPr lang="en-US" b="0" i="1" smtClean="0">
                                <a:solidFill>
                                  <a:srgbClr val="FF0000"/>
                                </a:solidFill>
                                <a:latin typeface="Cambria Math" panose="02040503050406030204" pitchFamily="18" charset="0"/>
                              </a:rPr>
                              <m:t>(</m:t>
                            </m:r>
                            <m:r>
                              <a:rPr lang="en-US" b="0" i="1" smtClean="0">
                                <a:solidFill>
                                  <a:schemeClr val="tx1"/>
                                </a:solidFill>
                                <a:latin typeface="Cambria Math" panose="02040503050406030204" pitchFamily="18" charset="0"/>
                              </a:rPr>
                              <m:t>𝑥</m:t>
                            </m:r>
                            <m:r>
                              <a:rPr lang="en-US" b="0" i="1" smtClean="0">
                                <a:solidFill>
                                  <a:srgbClr val="FF0000"/>
                                </a:solidFill>
                                <a:latin typeface="Cambria Math" panose="02040503050406030204" pitchFamily="18" charset="0"/>
                              </a:rPr>
                              <m:t> − </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0</m:t>
                                </m:r>
                              </m:sub>
                            </m:sSub>
                            <m:r>
                              <a:rPr lang="en-US" b="0" i="1" smtClean="0">
                                <a:solidFill>
                                  <a:srgbClr val="FF0000"/>
                                </a:solidFill>
                                <a:latin typeface="Cambria Math" panose="02040503050406030204" pitchFamily="18" charset="0"/>
                              </a:rPr>
                              <m:t>)</m:t>
                            </m:r>
                          </m:sup>
                        </m:sSup>
                      </m:den>
                    </m:f>
                  </m:oMath>
                </a14:m>
                <a:endParaRPr lang="en-US" dirty="0"/>
              </a:p>
              <a:p>
                <a:pPr algn="just"/>
                <a:r>
                  <a:rPr lang="en-US" dirty="0"/>
                  <a:t>where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a14:m>
                <a:r>
                  <a:rPr lang="en-US" dirty="0"/>
                  <a:t> is the mean of the input and </a:t>
                </a:r>
                <a14:m>
                  <m:oMath xmlns:m="http://schemas.openxmlformats.org/officeDocument/2006/math">
                    <m:r>
                      <a:rPr lang="en-US" b="0" i="1" smtClean="0">
                        <a:latin typeface="Cambria Math" panose="02040503050406030204" pitchFamily="18" charset="0"/>
                      </a:rPr>
                      <m:t>𝑘</m:t>
                    </m:r>
                  </m:oMath>
                </a14:m>
                <a:r>
                  <a:rPr lang="en-US" dirty="0"/>
                  <a:t> some maximum gradient value.</a:t>
                </a:r>
              </a:p>
            </p:txBody>
          </p:sp>
        </mc:Choice>
        <mc:Fallback xmlns="">
          <p:sp>
            <p:nvSpPr>
              <p:cNvPr id="3" name="Content Placeholder 2">
                <a:extLst>
                  <a:ext uri="{FF2B5EF4-FFF2-40B4-BE49-F238E27FC236}">
                    <a16:creationId xmlns:a16="http://schemas.microsoft.com/office/drawing/2014/main" id="{6E6A64F4-60DA-43D0-1EA2-5B40A8657CFD}"/>
                  </a:ext>
                </a:extLst>
              </p:cNvPr>
              <p:cNvSpPr>
                <a:spLocks noGrp="1" noRot="1" noChangeAspect="1" noMove="1" noResize="1" noEditPoints="1" noAdjustHandles="1" noChangeArrowheads="1" noChangeShapeType="1" noTextEdit="1"/>
              </p:cNvSpPr>
              <p:nvPr>
                <p:ph idx="1"/>
              </p:nvPr>
            </p:nvSpPr>
            <p:spPr>
              <a:xfrm>
                <a:off x="781235" y="476673"/>
                <a:ext cx="10821880" cy="5649491"/>
              </a:xfrm>
              <a:blipFill>
                <a:blip r:embed="rId2"/>
                <a:stretch>
                  <a:fillRect l="-1014" t="-1726" r="-118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4471E02-FC67-42C2-878E-5C973EEEA461}"/>
              </a:ext>
            </a:extLst>
          </p:cNvPr>
          <p:cNvSpPr>
            <a:spLocks noGrp="1"/>
          </p:cNvSpPr>
          <p:nvPr>
            <p:ph type="sldNum" sz="quarter" idx="12"/>
          </p:nvPr>
        </p:nvSpPr>
        <p:spPr/>
        <p:txBody>
          <a:bodyPr/>
          <a:lstStyle/>
          <a:p>
            <a:fld id="{6B97D948-30E8-43F7-AE10-F6E2D9F2BBB1}" type="slidenum">
              <a:rPr lang="en-US" smtClean="0"/>
              <a:t>755</a:t>
            </a:fld>
            <a:endParaRPr lang="en-US"/>
          </a:p>
        </p:txBody>
      </p:sp>
    </p:spTree>
    <p:extLst>
      <p:ext uri="{BB962C8B-B14F-4D97-AF65-F5344CB8AC3E}">
        <p14:creationId xmlns:p14="http://schemas.microsoft.com/office/powerpoint/2010/main" val="4293340219"/>
      </p:ext>
    </p:extLst>
  </p:cSld>
  <p:clrMapOvr>
    <a:masterClrMapping/>
  </p:clrMapOvr>
</p:sld>
</file>

<file path=ppt/slides/slide7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F4AB4-27B7-4F51-B849-22C093942488}"/>
              </a:ext>
            </a:extLst>
          </p:cNvPr>
          <p:cNvSpPr>
            <a:spLocks noGrp="1"/>
          </p:cNvSpPr>
          <p:nvPr>
            <p:ph type="title"/>
          </p:nvPr>
        </p:nvSpPr>
        <p:spPr>
          <a:xfrm>
            <a:off x="838200" y="365125"/>
            <a:ext cx="10515600" cy="686435"/>
          </a:xfrm>
        </p:spPr>
        <p:txBody>
          <a:bodyPr>
            <a:normAutofit fontScale="90000"/>
          </a:bodyPr>
          <a:lstStyle/>
          <a:p>
            <a:r>
              <a:rPr lang="en-US" b="1" dirty="0"/>
              <a:t>Deriving the concept of log odds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CD83CC-E7C6-3919-B840-D5068A6AFA36}"/>
                  </a:ext>
                </a:extLst>
              </p:cNvPr>
              <p:cNvSpPr>
                <a:spLocks noGrp="1"/>
              </p:cNvSpPr>
              <p:nvPr>
                <p:ph idx="1"/>
              </p:nvPr>
            </p:nvSpPr>
            <p:spPr>
              <a:xfrm>
                <a:off x="838200" y="1051560"/>
                <a:ext cx="10515600" cy="5125403"/>
              </a:xfrm>
            </p:spPr>
            <p:txBody>
              <a:bodyPr>
                <a:normAutofit/>
              </a:bodyPr>
              <a:lstStyle/>
              <a:p>
                <a:r>
                  <a:rPr lang="en-US" dirty="0"/>
                  <a:t>Let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𝑘</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𝑘𝑥</m:t>
                        </m:r>
                        <m:r>
                          <a:rPr lang="en-US" b="0" i="1" smtClean="0">
                            <a:latin typeface="Cambria Math" panose="02040503050406030204" pitchFamily="18" charset="0"/>
                          </a:rPr>
                          <m:t> −</m:t>
                        </m:r>
                        <m:r>
                          <a:rPr lang="en-US" b="0" i="1" smtClean="0">
                            <a:latin typeface="Cambria Math" panose="02040503050406030204" pitchFamily="18" charset="0"/>
                          </a:rPr>
                          <m:t>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i="1">
                        <a:latin typeface="Cambria Math" panose="02040503050406030204" pitchFamily="18" charset="0"/>
                      </a:rPr>
                      <m:t>=</m:t>
                    </m:r>
                    <m:r>
                      <a:rPr lang="en-US" i="1" smtClean="0">
                        <a:solidFill>
                          <a:srgbClr val="FF0000"/>
                        </a:solidFill>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𝑘</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b="0" i="1" smtClean="0">
                        <a:latin typeface="Cambria Math" panose="02040503050406030204" pitchFamily="18" charset="0"/>
                      </a:rPr>
                      <m:t>+</m:t>
                    </m:r>
                    <m:r>
                      <a:rPr lang="en-US" i="1">
                        <a:latin typeface="Cambria Math" panose="02040503050406030204" pitchFamily="18" charset="0"/>
                      </a:rPr>
                      <m:t>𝑘𝑥</m:t>
                    </m:r>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where </a:t>
                </a:r>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𝑘</m:t>
                    </m:r>
                  </m:oMath>
                </a14:m>
                <a:r>
                  <a:rPr lang="en-US" dirty="0"/>
                  <a:t>.  5 + 6 = 6 + 5, -2 + 8 = 8 + -2 = 8 - 2</a:t>
                </a:r>
              </a:p>
              <a:p>
                <a:pPr marL="0" indent="0">
                  <a:buNone/>
                </a:pPr>
                <a:r>
                  <a:rPr lang="en-US" dirty="0"/>
                  <a:t>Therefore, </a:t>
                </a:r>
              </a:p>
              <a:p>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=1</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𝛽</m:t>
                                </m:r>
                              </m:e>
                              <m:sub>
                                <m:r>
                                  <a:rPr lang="en-US" b="0" i="1" smtClean="0">
                                    <a:solidFill>
                                      <a:srgbClr val="FF0000"/>
                                    </a:solidFill>
                                    <a:latin typeface="Cambria Math" panose="02040503050406030204" pitchFamily="18" charset="0"/>
                                  </a:rPr>
                                  <m:t>0</m:t>
                                </m:r>
                              </m:sub>
                            </m:sSub>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𝛽</m:t>
                                </m:r>
                              </m:e>
                              <m:sub>
                                <m:r>
                                  <a:rPr lang="en-US" b="0" i="1"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𝑥</m:t>
                            </m:r>
                            <m:r>
                              <a:rPr lang="en-US" b="0" i="1" smtClean="0">
                                <a:latin typeface="Cambria Math" panose="02040503050406030204" pitchFamily="18" charset="0"/>
                              </a:rPr>
                              <m:t>)</m:t>
                            </m:r>
                          </m:sup>
                        </m:sSup>
                      </m:den>
                    </m:f>
                  </m:oMath>
                </a14:m>
                <a:r>
                  <a:rPr lang="en-US" dirty="0"/>
                  <a:t>.</a:t>
                </a:r>
              </a:p>
              <a:p>
                <a:pPr algn="just"/>
                <a:endParaRPr lang="en-US" dirty="0"/>
              </a:p>
              <a:p>
                <a:pPr algn="just"/>
                <a:r>
                  <a:rPr lang="en-US" dirty="0"/>
                  <a:t>We see in this equation that as the value of x increases, the value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𝑥</m:t>
                        </m:r>
                        <m:r>
                          <a:rPr lang="en-US" b="0" i="1" smtClean="0">
                            <a:latin typeface="Cambria Math" panose="02040503050406030204" pitchFamily="18" charset="0"/>
                          </a:rPr>
                          <m:t>)</m:t>
                        </m:r>
                      </m:sup>
                    </m:sSup>
                  </m:oMath>
                </a14:m>
                <a:r>
                  <a:rPr lang="en-US" dirty="0"/>
                  <a:t>gets smaller and smaller towards zero, and thus P(y=1) approaches its theoretical maximum value of 1. </a:t>
                </a:r>
              </a:p>
              <a:p>
                <a:pPr algn="just"/>
                <a:endParaRPr lang="en-US" dirty="0"/>
              </a:p>
            </p:txBody>
          </p:sp>
        </mc:Choice>
        <mc:Fallback xmlns="">
          <p:sp>
            <p:nvSpPr>
              <p:cNvPr id="3" name="Content Placeholder 2">
                <a:extLst>
                  <a:ext uri="{FF2B5EF4-FFF2-40B4-BE49-F238E27FC236}">
                    <a16:creationId xmlns:a16="http://schemas.microsoft.com/office/drawing/2014/main" id="{F6CD83CC-E7C6-3919-B840-D5068A6AFA36}"/>
                  </a:ext>
                </a:extLst>
              </p:cNvPr>
              <p:cNvSpPr>
                <a:spLocks noGrp="1" noRot="1" noChangeAspect="1" noMove="1" noResize="1" noEditPoints="1" noAdjustHandles="1" noChangeArrowheads="1" noChangeShapeType="1" noTextEdit="1"/>
              </p:cNvSpPr>
              <p:nvPr>
                <p:ph idx="1"/>
              </p:nvPr>
            </p:nvSpPr>
            <p:spPr>
              <a:xfrm>
                <a:off x="838200" y="1051560"/>
                <a:ext cx="10515600" cy="5125403"/>
              </a:xfrm>
              <a:blipFill>
                <a:blip r:embed="rId2"/>
                <a:stretch>
                  <a:fillRect l="-1217" t="-2024"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D8D58DBA-0B0F-41E0-9271-CA67F28D1796}"/>
              </a:ext>
            </a:extLst>
          </p:cNvPr>
          <p:cNvSpPr>
            <a:spLocks noGrp="1"/>
          </p:cNvSpPr>
          <p:nvPr>
            <p:ph type="sldNum" sz="quarter" idx="12"/>
          </p:nvPr>
        </p:nvSpPr>
        <p:spPr/>
        <p:txBody>
          <a:bodyPr/>
          <a:lstStyle/>
          <a:p>
            <a:fld id="{6B97D948-30E8-43F7-AE10-F6E2D9F2BBB1}" type="slidenum">
              <a:rPr lang="en-US" smtClean="0"/>
              <a:t>756</a:t>
            </a:fld>
            <a:endParaRPr lang="en-US"/>
          </a:p>
        </p:txBody>
      </p:sp>
    </p:spTree>
    <p:extLst>
      <p:ext uri="{BB962C8B-B14F-4D97-AF65-F5344CB8AC3E}">
        <p14:creationId xmlns:p14="http://schemas.microsoft.com/office/powerpoint/2010/main" val="92486345"/>
      </p:ext>
    </p:extLst>
  </p:cSld>
  <p:clrMapOvr>
    <a:masterClrMapping/>
  </p:clrMapOvr>
</p:sld>
</file>

<file path=ppt/slides/slide7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1197D6-38B5-498B-9727-438DBA3CBE4B}"/>
                  </a:ext>
                </a:extLst>
              </p:cNvPr>
              <p:cNvSpPr>
                <a:spLocks noGrp="1"/>
              </p:cNvSpPr>
              <p:nvPr>
                <p:ph idx="1"/>
              </p:nvPr>
            </p:nvSpPr>
            <p:spPr>
              <a:xfrm>
                <a:off x="838200" y="594360"/>
                <a:ext cx="10515600" cy="5582603"/>
              </a:xfrm>
            </p:spPr>
            <p:txBody>
              <a:bodyPr/>
              <a:lstStyle/>
              <a:p>
                <a:r>
                  <a:rPr lang="en-US" dirty="0"/>
                  <a:t>As the value of x decreases towards zero, we see that the value of P(y=1) approaches a minimum value of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𝑥</m:t>
                            </m:r>
                            <m:r>
                              <a:rPr lang="en-US" b="0" i="1" smtClean="0">
                                <a:latin typeface="Cambria Math" panose="02040503050406030204" pitchFamily="18" charset="0"/>
                              </a:rPr>
                              <m:t>)</m:t>
                            </m:r>
                          </m:sup>
                        </m:sSup>
                      </m:den>
                    </m:f>
                  </m:oMath>
                </a14:m>
                <a:r>
                  <a:rPr lang="en-US" dirty="0"/>
                  <a:t>.</a:t>
                </a:r>
              </a:p>
            </p:txBody>
          </p:sp>
        </mc:Choice>
        <mc:Fallback xmlns="">
          <p:sp>
            <p:nvSpPr>
              <p:cNvPr id="3" name="Content Placeholder 2">
                <a:extLst>
                  <a:ext uri="{FF2B5EF4-FFF2-40B4-BE49-F238E27FC236}">
                    <a16:creationId xmlns:a16="http://schemas.microsoft.com/office/drawing/2014/main" id="{1B1197D6-38B5-498B-9727-438DBA3CBE4B}"/>
                  </a:ext>
                </a:extLst>
              </p:cNvPr>
              <p:cNvSpPr>
                <a:spLocks noGrp="1" noRot="1" noChangeAspect="1" noMove="1" noResize="1" noEditPoints="1" noAdjustHandles="1" noChangeArrowheads="1" noChangeShapeType="1" noTextEdit="1"/>
              </p:cNvSpPr>
              <p:nvPr>
                <p:ph idx="1"/>
              </p:nvPr>
            </p:nvSpPr>
            <p:spPr>
              <a:xfrm>
                <a:off x="838200" y="594360"/>
                <a:ext cx="10515600" cy="5582603"/>
              </a:xfrm>
              <a:blipFill>
                <a:blip r:embed="rId2"/>
                <a:stretch>
                  <a:fillRect l="-1043" t="-185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6B5FCB40-C7FB-4F33-9BEA-3535BD25DB09}"/>
              </a:ext>
            </a:extLst>
          </p:cNvPr>
          <p:cNvSpPr>
            <a:spLocks noGrp="1"/>
          </p:cNvSpPr>
          <p:nvPr>
            <p:ph type="sldNum" sz="quarter" idx="12"/>
          </p:nvPr>
        </p:nvSpPr>
        <p:spPr/>
        <p:txBody>
          <a:bodyPr/>
          <a:lstStyle/>
          <a:p>
            <a:fld id="{6B97D948-30E8-43F7-AE10-F6E2D9F2BBB1}" type="slidenum">
              <a:rPr lang="en-US" smtClean="0"/>
              <a:t>757</a:t>
            </a:fld>
            <a:endParaRPr lang="en-US"/>
          </a:p>
        </p:txBody>
      </p:sp>
    </p:spTree>
    <p:extLst>
      <p:ext uri="{BB962C8B-B14F-4D97-AF65-F5344CB8AC3E}">
        <p14:creationId xmlns:p14="http://schemas.microsoft.com/office/powerpoint/2010/main" val="394170389"/>
      </p:ext>
    </p:extLst>
  </p:cSld>
  <p:clrMapOvr>
    <a:masterClrMapping/>
  </p:clrMapOvr>
</p:sld>
</file>

<file path=ppt/slides/slide7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39F4BC-C2E5-53F9-9AEC-AE591A919E63}"/>
                  </a:ext>
                </a:extLst>
              </p:cNvPr>
              <p:cNvSpPr>
                <a:spLocks noGrp="1"/>
              </p:cNvSpPr>
              <p:nvPr>
                <p:ph idx="1"/>
              </p:nvPr>
            </p:nvSpPr>
            <p:spPr>
              <a:xfrm>
                <a:off x="763479" y="154857"/>
                <a:ext cx="10875145" cy="5793507"/>
              </a:xfrm>
            </p:spPr>
            <p:txBody>
              <a:bodyPr/>
              <a:lstStyle/>
              <a:p>
                <a:pPr algn="just"/>
                <a:r>
                  <a:rPr lang="en-US" dirty="0"/>
                  <a:t>Let’s formalize the role of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rPr>
                      <m:t> </m:t>
                    </m:r>
                  </m:oMath>
                </a14:m>
                <a:r>
                  <a:rPr lang="en-US" dirty="0"/>
                  <a:t>in the likelihood of a positive outcome. P(A) + P(A’) = 1 =&gt; P(A’) = 1 – P(A)</a:t>
                </a:r>
              </a:p>
              <a:p>
                <a:pPr algn="just"/>
                <a:r>
                  <a:rPr lang="en-US" dirty="0"/>
                  <a:t>We know that for any binary event </a:t>
                </a:r>
                <a:r>
                  <a:rPr lang="en-US" dirty="0">
                    <a:effectLst/>
                  </a:rPr>
                  <a:t>y</a:t>
                </a:r>
                <a:r>
                  <a:rPr lang="en-US" dirty="0"/>
                  <a:t>, </a:t>
                </a:r>
                <a:r>
                  <a:rPr lang="en-US" dirty="0">
                    <a:effectLst/>
                  </a:rPr>
                  <a:t>P(y=0)</a:t>
                </a:r>
                <a:r>
                  <a:rPr lang="en-US" dirty="0"/>
                  <a:t> is equal to </a:t>
                </a:r>
                <a:r>
                  <a:rPr lang="en-US" dirty="0">
                    <a:effectLst/>
                  </a:rPr>
                  <a:t>1−P(y=1)</a:t>
                </a:r>
                <a:r>
                  <a:rPr lang="en-US" dirty="0"/>
                  <a:t>, </a:t>
                </a:r>
                <a:r>
                  <a:rPr lang="en-US" dirty="0" err="1"/>
                  <a:t>ie</a:t>
                </a:r>
                <a:r>
                  <a:rPr lang="en-US" dirty="0"/>
                  <a:t>. P(y=0) + </a:t>
                </a:r>
                <a:r>
                  <a:rPr lang="en-US" dirty="0">
                    <a:solidFill>
                      <a:srgbClr val="FF0000"/>
                    </a:solidFill>
                  </a:rPr>
                  <a:t>P(y=1)</a:t>
                </a:r>
                <a:r>
                  <a:rPr lang="en-US" dirty="0"/>
                  <a:t> = 1 (In probability </a:t>
                </a:r>
                <a:r>
                  <a:rPr lang="en-US" dirty="0">
                    <a:solidFill>
                      <a:srgbClr val="FF0000"/>
                    </a:solidFill>
                  </a:rPr>
                  <a:t>P(A) + P(A’) = 1</a:t>
                </a:r>
                <a:r>
                  <a:rPr lang="en-US" dirty="0"/>
                  <a:t>)</a:t>
                </a:r>
              </a:p>
              <a:p>
                <a:pPr algn="just"/>
                <a:r>
                  <a:rPr lang="en-US" dirty="0"/>
                  <a:t>P(y = 0) = 1 – P(y = 1)</a:t>
                </a:r>
              </a:p>
              <a:p>
                <a:pPr algn="just"/>
                <a:r>
                  <a:rPr lang="en-US" dirty="0"/>
                  <a:t>So</a:t>
                </a:r>
              </a:p>
              <a:p>
                <a:pPr algn="just"/>
                <a:endParaRPr lang="en-US" dirty="0"/>
              </a:p>
            </p:txBody>
          </p:sp>
        </mc:Choice>
        <mc:Fallback xmlns="">
          <p:sp>
            <p:nvSpPr>
              <p:cNvPr id="3" name="Content Placeholder 2">
                <a:extLst>
                  <a:ext uri="{FF2B5EF4-FFF2-40B4-BE49-F238E27FC236}">
                    <a16:creationId xmlns:a16="http://schemas.microsoft.com/office/drawing/2014/main" id="{4139F4BC-C2E5-53F9-9AEC-AE591A919E63}"/>
                  </a:ext>
                </a:extLst>
              </p:cNvPr>
              <p:cNvSpPr>
                <a:spLocks noGrp="1" noRot="1" noChangeAspect="1" noMove="1" noResize="1" noEditPoints="1" noAdjustHandles="1" noChangeArrowheads="1" noChangeShapeType="1" noTextEdit="1"/>
              </p:cNvSpPr>
              <p:nvPr>
                <p:ph idx="1"/>
              </p:nvPr>
            </p:nvSpPr>
            <p:spPr>
              <a:xfrm>
                <a:off x="763479" y="154857"/>
                <a:ext cx="10875145" cy="5793507"/>
              </a:xfrm>
              <a:blipFill>
                <a:blip r:embed="rId2"/>
                <a:stretch>
                  <a:fillRect l="-1009" t="-1682" r="-117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757A4931-3E35-C346-B2C7-487936E11501}"/>
              </a:ext>
            </a:extLst>
          </p:cNvPr>
          <p:cNvPicPr>
            <a:picLocks noChangeAspect="1"/>
          </p:cNvPicPr>
          <p:nvPr/>
        </p:nvPicPr>
        <p:blipFill>
          <a:blip r:embed="rId3"/>
          <a:stretch>
            <a:fillRect/>
          </a:stretch>
        </p:blipFill>
        <p:spPr>
          <a:xfrm>
            <a:off x="2130388" y="2367624"/>
            <a:ext cx="7931224" cy="3240360"/>
          </a:xfrm>
          <a:prstGeom prst="rect">
            <a:avLst/>
          </a:prstGeom>
        </p:spPr>
      </p:pic>
      <p:sp>
        <p:nvSpPr>
          <p:cNvPr id="4" name="Slide Number Placeholder 3">
            <a:extLst>
              <a:ext uri="{FF2B5EF4-FFF2-40B4-BE49-F238E27FC236}">
                <a16:creationId xmlns:a16="http://schemas.microsoft.com/office/drawing/2014/main" id="{CF8F5B61-203A-476D-9710-C57BAB24DB9C}"/>
              </a:ext>
            </a:extLst>
          </p:cNvPr>
          <p:cNvSpPr>
            <a:spLocks noGrp="1"/>
          </p:cNvSpPr>
          <p:nvPr>
            <p:ph type="sldNum" sz="quarter" idx="12"/>
          </p:nvPr>
        </p:nvSpPr>
        <p:spPr/>
        <p:txBody>
          <a:bodyPr/>
          <a:lstStyle/>
          <a:p>
            <a:fld id="{6B97D948-30E8-43F7-AE10-F6E2D9F2BBB1}" type="slidenum">
              <a:rPr lang="en-US" smtClean="0"/>
              <a:t>758</a:t>
            </a:fld>
            <a:endParaRPr lang="en-US"/>
          </a:p>
        </p:txBody>
      </p:sp>
    </p:spTree>
    <p:extLst>
      <p:ext uri="{BB962C8B-B14F-4D97-AF65-F5344CB8AC3E}">
        <p14:creationId xmlns:p14="http://schemas.microsoft.com/office/powerpoint/2010/main" val="4245934528"/>
      </p:ext>
    </p:extLst>
  </p:cSld>
  <p:clrMapOvr>
    <a:masterClrMapping/>
  </p:clrMapOvr>
</p:sld>
</file>

<file path=ppt/slides/slide7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C75F86-6D3E-8F2E-307E-72E34CAEA98A}"/>
              </a:ext>
            </a:extLst>
          </p:cNvPr>
          <p:cNvSpPr>
            <a:spLocks noGrp="1"/>
          </p:cNvSpPr>
          <p:nvPr>
            <p:ph idx="1"/>
          </p:nvPr>
        </p:nvSpPr>
        <p:spPr>
          <a:xfrm>
            <a:off x="1981200" y="548681"/>
            <a:ext cx="9302318" cy="5577483"/>
          </a:xfrm>
        </p:spPr>
        <p:txBody>
          <a:bodyPr/>
          <a:lstStyle/>
          <a:p>
            <a:r>
              <a:rPr lang="en-US" dirty="0"/>
              <a:t>Putting these together, we find that</a:t>
            </a:r>
          </a:p>
          <a:p>
            <a:endParaRPr lang="en-US" dirty="0"/>
          </a:p>
          <a:p>
            <a:endParaRPr lang="en-US" dirty="0"/>
          </a:p>
          <a:p>
            <a:endParaRPr lang="en-US" dirty="0"/>
          </a:p>
          <a:p>
            <a:endParaRPr lang="en-US" dirty="0"/>
          </a:p>
          <a:p>
            <a:endParaRPr lang="en-US" dirty="0"/>
          </a:p>
          <a:p>
            <a:endParaRPr lang="en-US" dirty="0"/>
          </a:p>
          <a:p>
            <a:pPr algn="just"/>
            <a:endParaRPr lang="en-US" dirty="0"/>
          </a:p>
          <a:p>
            <a:pPr algn="just"/>
            <a:r>
              <a:rPr lang="en-US" dirty="0"/>
              <a:t>Odds ratio. . . 1:4 =&gt; 1/5, 4/5</a:t>
            </a:r>
          </a:p>
          <a:p>
            <a:pPr algn="just"/>
            <a:r>
              <a:rPr lang="en-US" dirty="0"/>
              <a:t>If we take the natural logarithm to both sides, we get. . . </a:t>
            </a:r>
          </a:p>
          <a:p>
            <a:endParaRPr lang="en-US" dirty="0"/>
          </a:p>
        </p:txBody>
      </p:sp>
      <p:pic>
        <p:nvPicPr>
          <p:cNvPr id="5" name="Picture 4">
            <a:extLst>
              <a:ext uri="{FF2B5EF4-FFF2-40B4-BE49-F238E27FC236}">
                <a16:creationId xmlns:a16="http://schemas.microsoft.com/office/drawing/2014/main" id="{604937AA-C968-87C6-C064-7D3024D6F798}"/>
              </a:ext>
            </a:extLst>
          </p:cNvPr>
          <p:cNvPicPr>
            <a:picLocks noChangeAspect="1"/>
          </p:cNvPicPr>
          <p:nvPr/>
        </p:nvPicPr>
        <p:blipFill>
          <a:blip r:embed="rId2"/>
          <a:stretch>
            <a:fillRect/>
          </a:stretch>
        </p:blipFill>
        <p:spPr>
          <a:xfrm>
            <a:off x="1049898" y="1257300"/>
            <a:ext cx="9160902" cy="3154901"/>
          </a:xfrm>
          <a:prstGeom prst="rect">
            <a:avLst/>
          </a:prstGeom>
        </p:spPr>
      </p:pic>
      <p:sp>
        <p:nvSpPr>
          <p:cNvPr id="4" name="Slide Number Placeholder 3">
            <a:extLst>
              <a:ext uri="{FF2B5EF4-FFF2-40B4-BE49-F238E27FC236}">
                <a16:creationId xmlns:a16="http://schemas.microsoft.com/office/drawing/2014/main" id="{9B2B88EF-4426-48A1-9B54-FBC7CF13CE08}"/>
              </a:ext>
            </a:extLst>
          </p:cNvPr>
          <p:cNvSpPr>
            <a:spLocks noGrp="1"/>
          </p:cNvSpPr>
          <p:nvPr>
            <p:ph type="sldNum" sz="quarter" idx="12"/>
          </p:nvPr>
        </p:nvSpPr>
        <p:spPr/>
        <p:txBody>
          <a:bodyPr/>
          <a:lstStyle/>
          <a:p>
            <a:fld id="{6B97D948-30E8-43F7-AE10-F6E2D9F2BBB1}" type="slidenum">
              <a:rPr lang="en-US" smtClean="0"/>
              <a:t>759</a:t>
            </a:fld>
            <a:endParaRPr lang="en-US"/>
          </a:p>
        </p:txBody>
      </p:sp>
    </p:spTree>
    <p:extLst>
      <p:ext uri="{BB962C8B-B14F-4D97-AF65-F5344CB8AC3E}">
        <p14:creationId xmlns:p14="http://schemas.microsoft.com/office/powerpoint/2010/main" val="1859421196"/>
      </p:ext>
    </p:extLst>
  </p:cSld>
  <p:clrMapOvr>
    <a:masterClrMapping/>
  </p:clrMapOvr>
</p:sld>
</file>

<file path=ppt/slides/slide7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B57CA2-95F7-EE0F-4A6A-3BC05DABE58C}"/>
              </a:ext>
            </a:extLst>
          </p:cNvPr>
          <p:cNvSpPr>
            <a:spLocks noGrp="1"/>
          </p:cNvSpPr>
          <p:nvPr>
            <p:ph idx="1"/>
          </p:nvPr>
        </p:nvSpPr>
        <p:spPr>
          <a:xfrm>
            <a:off x="772357" y="2564905"/>
            <a:ext cx="10821880" cy="3561259"/>
          </a:xfrm>
        </p:spPr>
        <p:txBody>
          <a:bodyPr>
            <a:normAutofit/>
          </a:bodyPr>
          <a:lstStyle/>
          <a:p>
            <a:pPr algn="just"/>
            <a:r>
              <a:rPr lang="en-US" dirty="0"/>
              <a:t>P(y=1) is the probability that the event will occur, while P(y=0) is the probability that the event will not occur. </a:t>
            </a:r>
          </a:p>
          <a:p>
            <a:pPr algn="just"/>
            <a:r>
              <a:rPr lang="en-US" dirty="0"/>
              <a:t>You may be familiar from sports like soccer betting or other gambling situations that the ratio of these two represents the </a:t>
            </a:r>
            <a:r>
              <a:rPr lang="en-US" dirty="0">
                <a:solidFill>
                  <a:srgbClr val="FF0000"/>
                </a:solidFill>
              </a:rPr>
              <a:t>odds</a:t>
            </a:r>
            <a:r>
              <a:rPr lang="en-US" dirty="0"/>
              <a:t> of an event. </a:t>
            </a:r>
          </a:p>
          <a:p>
            <a:pPr algn="just"/>
            <a:r>
              <a:rPr lang="en-US" dirty="0"/>
              <a:t>For example, if a given match has odds of 1:4, this means that there is a 20% probability they will win and an 80% probability they will not.</a:t>
            </a:r>
          </a:p>
        </p:txBody>
      </p:sp>
      <p:pic>
        <p:nvPicPr>
          <p:cNvPr id="5" name="Picture 4">
            <a:extLst>
              <a:ext uri="{FF2B5EF4-FFF2-40B4-BE49-F238E27FC236}">
                <a16:creationId xmlns:a16="http://schemas.microsoft.com/office/drawing/2014/main" id="{9B9E99B6-11E1-BE63-0380-AC6415CDE8AF}"/>
              </a:ext>
            </a:extLst>
          </p:cNvPr>
          <p:cNvPicPr>
            <a:picLocks noChangeAspect="1"/>
          </p:cNvPicPr>
          <p:nvPr/>
        </p:nvPicPr>
        <p:blipFill>
          <a:blip r:embed="rId2"/>
          <a:stretch>
            <a:fillRect/>
          </a:stretch>
        </p:blipFill>
        <p:spPr>
          <a:xfrm>
            <a:off x="2567608" y="692696"/>
            <a:ext cx="7200800" cy="1728192"/>
          </a:xfrm>
          <a:prstGeom prst="rect">
            <a:avLst/>
          </a:prstGeom>
        </p:spPr>
      </p:pic>
      <p:sp>
        <p:nvSpPr>
          <p:cNvPr id="4" name="Slide Number Placeholder 3">
            <a:extLst>
              <a:ext uri="{FF2B5EF4-FFF2-40B4-BE49-F238E27FC236}">
                <a16:creationId xmlns:a16="http://schemas.microsoft.com/office/drawing/2014/main" id="{7F316722-9009-46E4-B55F-78E31241BFBA}"/>
              </a:ext>
            </a:extLst>
          </p:cNvPr>
          <p:cNvSpPr>
            <a:spLocks noGrp="1"/>
          </p:cNvSpPr>
          <p:nvPr>
            <p:ph type="sldNum" sz="quarter" idx="12"/>
          </p:nvPr>
        </p:nvSpPr>
        <p:spPr/>
        <p:txBody>
          <a:bodyPr/>
          <a:lstStyle/>
          <a:p>
            <a:fld id="{6B97D948-30E8-43F7-AE10-F6E2D9F2BBB1}" type="slidenum">
              <a:rPr lang="en-US" smtClean="0"/>
              <a:t>760</a:t>
            </a:fld>
            <a:endParaRPr lang="en-US"/>
          </a:p>
        </p:txBody>
      </p:sp>
    </p:spTree>
    <p:extLst>
      <p:ext uri="{BB962C8B-B14F-4D97-AF65-F5344CB8AC3E}">
        <p14:creationId xmlns:p14="http://schemas.microsoft.com/office/powerpoint/2010/main" val="121715998"/>
      </p:ext>
    </p:extLst>
  </p:cSld>
  <p:clrMapOvr>
    <a:masterClrMapping/>
  </p:clrMapOvr>
</p:sld>
</file>

<file path=ppt/slides/slide7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36EE7-7525-AA0C-1062-7EDB00FCDF92}"/>
              </a:ext>
            </a:extLst>
          </p:cNvPr>
          <p:cNvSpPr>
            <a:spLocks noGrp="1"/>
          </p:cNvSpPr>
          <p:nvPr>
            <p:ph type="title"/>
          </p:nvPr>
        </p:nvSpPr>
        <p:spPr>
          <a:xfrm>
            <a:off x="1981200" y="274638"/>
            <a:ext cx="8229600" cy="706090"/>
          </a:xfrm>
        </p:spPr>
        <p:txBody>
          <a:bodyPr>
            <a:normAutofit/>
          </a:bodyPr>
          <a:lstStyle/>
          <a:p>
            <a:r>
              <a:rPr lang="en-US" dirty="0"/>
              <a:t>Multivariate Binomial Logistic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9EE474-65B8-3AB9-1006-8E164B16EA34}"/>
                  </a:ext>
                </a:extLst>
              </p:cNvPr>
              <p:cNvSpPr>
                <a:spLocks noGrp="1"/>
              </p:cNvSpPr>
              <p:nvPr>
                <p:ph idx="1"/>
              </p:nvPr>
            </p:nvSpPr>
            <p:spPr>
              <a:xfrm>
                <a:off x="754602" y="980728"/>
                <a:ext cx="10821880" cy="5400600"/>
              </a:xfrm>
            </p:spPr>
            <p:txBody>
              <a:bodyPr/>
              <a:lstStyle/>
              <a:p>
                <a:r>
                  <a:rPr lang="en-US" dirty="0"/>
                  <a:t>The derivations in the previous section extend to multivariate data.</a:t>
                </a:r>
              </a:p>
              <a:p>
                <a:pPr algn="just"/>
                <a:r>
                  <a:rPr lang="en-US" dirty="0"/>
                  <a:t>Let y be a dichotomous outcome, and let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 . .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𝑝</m:t>
                        </m:r>
                      </m:sub>
                    </m:sSub>
                  </m:oMath>
                </a14:m>
                <a:r>
                  <a:rPr lang="en-US" dirty="0"/>
                  <a:t> be our input variables. Then</a:t>
                </a:r>
              </a:p>
              <a:p>
                <a:pPr algn="just"/>
                <a:endParaRPr lang="en-US" dirty="0"/>
              </a:p>
              <a:p>
                <a:pPr algn="just"/>
                <a:endParaRPr lang="en-US" dirty="0"/>
              </a:p>
              <a:p>
                <a:pPr algn="just"/>
                <a:endParaRPr lang="en-US" dirty="0"/>
              </a:p>
              <a:p>
                <a:pPr algn="just"/>
                <a:r>
                  <a:rPr lang="en-US" dirty="0"/>
                  <a:t>for coefficients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 .  .  .,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𝑝</m:t>
                        </m:r>
                      </m:sub>
                    </m:sSub>
                  </m:oMath>
                </a14:m>
                <a:r>
                  <a:rPr lang="en-US" dirty="0"/>
                  <a:t>.</a:t>
                </a:r>
              </a:p>
            </p:txBody>
          </p:sp>
        </mc:Choice>
        <mc:Fallback xmlns="">
          <p:sp>
            <p:nvSpPr>
              <p:cNvPr id="3" name="Content Placeholder 2">
                <a:extLst>
                  <a:ext uri="{FF2B5EF4-FFF2-40B4-BE49-F238E27FC236}">
                    <a16:creationId xmlns:a16="http://schemas.microsoft.com/office/drawing/2014/main" id="{909EE474-65B8-3AB9-1006-8E164B16EA34}"/>
                  </a:ext>
                </a:extLst>
              </p:cNvPr>
              <p:cNvSpPr>
                <a:spLocks noGrp="1" noRot="1" noChangeAspect="1" noMove="1" noResize="1" noEditPoints="1" noAdjustHandles="1" noChangeArrowheads="1" noChangeShapeType="1" noTextEdit="1"/>
              </p:cNvSpPr>
              <p:nvPr>
                <p:ph idx="1"/>
              </p:nvPr>
            </p:nvSpPr>
            <p:spPr>
              <a:xfrm>
                <a:off x="754602" y="980728"/>
                <a:ext cx="10821880" cy="5400600"/>
              </a:xfrm>
              <a:blipFill>
                <a:blip r:embed="rId2"/>
                <a:stretch>
                  <a:fillRect l="-1014" t="-1919" r="-112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31E5F784-6AA9-AFF2-D99A-329E3C7A3098}"/>
              </a:ext>
            </a:extLst>
          </p:cNvPr>
          <p:cNvPicPr>
            <a:picLocks noChangeAspect="1"/>
          </p:cNvPicPr>
          <p:nvPr/>
        </p:nvPicPr>
        <p:blipFill>
          <a:blip r:embed="rId3"/>
          <a:stretch>
            <a:fillRect/>
          </a:stretch>
        </p:blipFill>
        <p:spPr>
          <a:xfrm>
            <a:off x="2532099" y="2621132"/>
            <a:ext cx="7509029" cy="1224136"/>
          </a:xfrm>
          <a:prstGeom prst="rect">
            <a:avLst/>
          </a:prstGeom>
        </p:spPr>
      </p:pic>
      <p:sp>
        <p:nvSpPr>
          <p:cNvPr id="6" name="Slide Number Placeholder 5">
            <a:extLst>
              <a:ext uri="{FF2B5EF4-FFF2-40B4-BE49-F238E27FC236}">
                <a16:creationId xmlns:a16="http://schemas.microsoft.com/office/drawing/2014/main" id="{4CF03922-3B1E-4498-BCA3-5DBAE66B9D87}"/>
              </a:ext>
            </a:extLst>
          </p:cNvPr>
          <p:cNvSpPr>
            <a:spLocks noGrp="1"/>
          </p:cNvSpPr>
          <p:nvPr>
            <p:ph type="sldNum" sz="quarter" idx="12"/>
          </p:nvPr>
        </p:nvSpPr>
        <p:spPr/>
        <p:txBody>
          <a:bodyPr/>
          <a:lstStyle/>
          <a:p>
            <a:fld id="{6B97D948-30E8-43F7-AE10-F6E2D9F2BBB1}" type="slidenum">
              <a:rPr lang="en-US" smtClean="0"/>
              <a:t>761</a:t>
            </a:fld>
            <a:endParaRPr lang="en-US"/>
          </a:p>
        </p:txBody>
      </p:sp>
    </p:spTree>
    <p:extLst>
      <p:ext uri="{BB962C8B-B14F-4D97-AF65-F5344CB8AC3E}">
        <p14:creationId xmlns:p14="http://schemas.microsoft.com/office/powerpoint/2010/main" val="3079560884"/>
      </p:ext>
    </p:extLst>
  </p:cSld>
  <p:clrMapOvr>
    <a:masterClrMapping/>
  </p:clrMapOvr>
</p:sld>
</file>

<file path=ppt/slides/slide7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81EE2-76E1-43A3-AF09-4690F6B2EBED}"/>
              </a:ext>
            </a:extLst>
          </p:cNvPr>
          <p:cNvSpPr>
            <a:spLocks noGrp="1"/>
          </p:cNvSpPr>
          <p:nvPr>
            <p:ph type="title"/>
          </p:nvPr>
        </p:nvSpPr>
        <p:spPr>
          <a:xfrm>
            <a:off x="1981200" y="274638"/>
            <a:ext cx="8229600" cy="562074"/>
          </a:xfrm>
        </p:spPr>
        <p:txBody>
          <a:bodyPr>
            <a:normAutofit fontScale="90000"/>
          </a:bodyPr>
          <a:lstStyle/>
          <a:p>
            <a:r>
              <a:rPr lang="en-US" dirty="0"/>
              <a:t>Code</a:t>
            </a:r>
          </a:p>
        </p:txBody>
      </p:sp>
      <p:sp>
        <p:nvSpPr>
          <p:cNvPr id="3" name="Content Placeholder 2">
            <a:extLst>
              <a:ext uri="{FF2B5EF4-FFF2-40B4-BE49-F238E27FC236}">
                <a16:creationId xmlns:a16="http://schemas.microsoft.com/office/drawing/2014/main" id="{5D090253-3EF0-4BCA-A844-CA74A8C09738}"/>
              </a:ext>
            </a:extLst>
          </p:cNvPr>
          <p:cNvSpPr>
            <a:spLocks noGrp="1"/>
          </p:cNvSpPr>
          <p:nvPr>
            <p:ph idx="1"/>
          </p:nvPr>
        </p:nvSpPr>
        <p:spPr>
          <a:xfrm>
            <a:off x="550415" y="836713"/>
            <a:ext cx="11043821" cy="5289451"/>
          </a:xfrm>
        </p:spPr>
        <p:txBody>
          <a:bodyPr/>
          <a:lstStyle/>
          <a:p>
            <a:pPr algn="just"/>
            <a:r>
              <a:rPr lang="en-US" dirty="0"/>
              <a:t>We will build binary logistic regression models with that will predict whether a breast cancer tumor is malignant or benign.</a:t>
            </a:r>
          </a:p>
          <a:p>
            <a:pPr algn="just"/>
            <a:endParaRPr lang="en-US" dirty="0"/>
          </a:p>
          <a:p>
            <a:pPr algn="just"/>
            <a:r>
              <a:rPr lang="en-US" dirty="0">
                <a:solidFill>
                  <a:srgbClr val="FF0000"/>
                </a:solidFill>
              </a:rPr>
              <a:t>Malignant</a:t>
            </a:r>
            <a:r>
              <a:rPr lang="en-US" dirty="0"/>
              <a:t> or </a:t>
            </a:r>
            <a:r>
              <a:rPr lang="en-US" dirty="0">
                <a:solidFill>
                  <a:srgbClr val="FF0000"/>
                </a:solidFill>
              </a:rPr>
              <a:t>Benign</a:t>
            </a:r>
            <a:r>
              <a:rPr lang="en-US" dirty="0"/>
              <a:t> will be our response variable. </a:t>
            </a:r>
          </a:p>
          <a:p>
            <a:pPr algn="just"/>
            <a:endParaRPr lang="en-US" dirty="0"/>
          </a:p>
          <a:p>
            <a:pPr algn="just"/>
            <a:endParaRPr lang="en-US" dirty="0"/>
          </a:p>
          <a:p>
            <a:pPr algn="just"/>
            <a:r>
              <a:rPr lang="en-US" dirty="0"/>
              <a:t>We will use the Breast Cancer Wisconsin (Diagnostic) Data Set available from </a:t>
            </a:r>
            <a:r>
              <a:rPr lang="en-US" dirty="0" err="1"/>
              <a:t>sklearn.datasets</a:t>
            </a:r>
            <a:r>
              <a:rPr lang="en-US" dirty="0"/>
              <a:t>.</a:t>
            </a:r>
          </a:p>
          <a:p>
            <a:pPr algn="just"/>
            <a:endParaRPr lang="en-US" dirty="0"/>
          </a:p>
        </p:txBody>
      </p:sp>
      <p:sp>
        <p:nvSpPr>
          <p:cNvPr id="5" name="Slide Number Placeholder 4">
            <a:extLst>
              <a:ext uri="{FF2B5EF4-FFF2-40B4-BE49-F238E27FC236}">
                <a16:creationId xmlns:a16="http://schemas.microsoft.com/office/drawing/2014/main" id="{26F49CD5-F6FB-45F7-B1E5-98033EDC6DF3}"/>
              </a:ext>
            </a:extLst>
          </p:cNvPr>
          <p:cNvSpPr>
            <a:spLocks noGrp="1"/>
          </p:cNvSpPr>
          <p:nvPr>
            <p:ph type="sldNum" sz="quarter" idx="12"/>
          </p:nvPr>
        </p:nvSpPr>
        <p:spPr/>
        <p:txBody>
          <a:bodyPr/>
          <a:lstStyle/>
          <a:p>
            <a:fld id="{6B97D948-30E8-43F7-AE10-F6E2D9F2BBB1}" type="slidenum">
              <a:rPr lang="en-US" smtClean="0"/>
              <a:t>762</a:t>
            </a:fld>
            <a:endParaRPr lang="en-US"/>
          </a:p>
        </p:txBody>
      </p:sp>
    </p:spTree>
    <p:extLst>
      <p:ext uri="{BB962C8B-B14F-4D97-AF65-F5344CB8AC3E}">
        <p14:creationId xmlns:p14="http://schemas.microsoft.com/office/powerpoint/2010/main" val="3393271907"/>
      </p:ext>
    </p:extLst>
  </p:cSld>
  <p:clrMapOvr>
    <a:masterClrMapping/>
  </p:clrMapOvr>
</p:sld>
</file>

<file path=ppt/slides/slide7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219477D-BE5D-46BF-9CFB-7B35D7F0D1DC}"/>
              </a:ext>
            </a:extLst>
          </p:cNvPr>
          <p:cNvPicPr>
            <a:picLocks noGrp="1" noChangeAspect="1"/>
          </p:cNvPicPr>
          <p:nvPr>
            <p:ph idx="1"/>
          </p:nvPr>
        </p:nvPicPr>
        <p:blipFill>
          <a:blip r:embed="rId2"/>
          <a:stretch>
            <a:fillRect/>
          </a:stretch>
        </p:blipFill>
        <p:spPr>
          <a:xfrm>
            <a:off x="1988641" y="883920"/>
            <a:ext cx="8563154" cy="4831874"/>
          </a:xfrm>
          <a:prstGeom prst="rect">
            <a:avLst/>
          </a:prstGeom>
        </p:spPr>
      </p:pic>
      <p:sp>
        <p:nvSpPr>
          <p:cNvPr id="6" name="Slide Number Placeholder 5">
            <a:extLst>
              <a:ext uri="{FF2B5EF4-FFF2-40B4-BE49-F238E27FC236}">
                <a16:creationId xmlns:a16="http://schemas.microsoft.com/office/drawing/2014/main" id="{E69FDD85-CA3C-49DB-B9C6-AFB300DE3A2C}"/>
              </a:ext>
            </a:extLst>
          </p:cNvPr>
          <p:cNvSpPr>
            <a:spLocks noGrp="1"/>
          </p:cNvSpPr>
          <p:nvPr>
            <p:ph type="sldNum" sz="quarter" idx="12"/>
          </p:nvPr>
        </p:nvSpPr>
        <p:spPr/>
        <p:txBody>
          <a:bodyPr/>
          <a:lstStyle/>
          <a:p>
            <a:fld id="{6B97D948-30E8-43F7-AE10-F6E2D9F2BBB1}" type="slidenum">
              <a:rPr lang="en-US" smtClean="0"/>
              <a:t>763</a:t>
            </a:fld>
            <a:endParaRPr lang="en-US"/>
          </a:p>
        </p:txBody>
      </p:sp>
    </p:spTree>
    <p:extLst>
      <p:ext uri="{BB962C8B-B14F-4D97-AF65-F5344CB8AC3E}">
        <p14:creationId xmlns:p14="http://schemas.microsoft.com/office/powerpoint/2010/main" val="588784428"/>
      </p:ext>
    </p:extLst>
  </p:cSld>
  <p:clrMapOvr>
    <a:masterClrMapping/>
  </p:clrMapOvr>
</p:sld>
</file>

<file path=ppt/slides/slide7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02881F-57F9-4B7C-870B-693463CA12D8}"/>
              </a:ext>
            </a:extLst>
          </p:cNvPr>
          <p:cNvSpPr>
            <a:spLocks noGrp="1"/>
          </p:cNvSpPr>
          <p:nvPr>
            <p:ph idx="1"/>
          </p:nvPr>
        </p:nvSpPr>
        <p:spPr>
          <a:xfrm>
            <a:off x="772357" y="476673"/>
            <a:ext cx="10910657" cy="5649491"/>
          </a:xfrm>
        </p:spPr>
        <p:txBody>
          <a:bodyPr>
            <a:normAutofit/>
          </a:bodyPr>
          <a:lstStyle/>
          <a:p>
            <a:r>
              <a:rPr lang="en-US" dirty="0">
                <a:solidFill>
                  <a:srgbClr val="FF0000"/>
                </a:solidFill>
              </a:rPr>
              <a:t>import </a:t>
            </a:r>
            <a:r>
              <a:rPr lang="en-US" dirty="0" err="1">
                <a:solidFill>
                  <a:srgbClr val="FF0000"/>
                </a:solidFill>
              </a:rPr>
              <a:t>numpy</a:t>
            </a:r>
            <a:r>
              <a:rPr lang="en-US" dirty="0">
                <a:solidFill>
                  <a:srgbClr val="FF0000"/>
                </a:solidFill>
              </a:rPr>
              <a:t> as np</a:t>
            </a:r>
          </a:p>
          <a:p>
            <a:r>
              <a:rPr lang="en-US" dirty="0">
                <a:solidFill>
                  <a:srgbClr val="FF0000"/>
                </a:solidFill>
              </a:rPr>
              <a:t>from </a:t>
            </a:r>
            <a:r>
              <a:rPr lang="en-US" dirty="0" err="1">
                <a:solidFill>
                  <a:srgbClr val="FF0000"/>
                </a:solidFill>
              </a:rPr>
              <a:t>sklearn.datasets</a:t>
            </a:r>
            <a:r>
              <a:rPr lang="en-US" dirty="0">
                <a:solidFill>
                  <a:srgbClr val="FF0000"/>
                </a:solidFill>
              </a:rPr>
              <a:t> import </a:t>
            </a:r>
            <a:r>
              <a:rPr lang="en-US" dirty="0" err="1">
                <a:solidFill>
                  <a:srgbClr val="FF0000"/>
                </a:solidFill>
              </a:rPr>
              <a:t>load_breast_cancer</a:t>
            </a:r>
            <a:endParaRPr lang="en-US" dirty="0">
              <a:solidFill>
                <a:srgbClr val="FF0000"/>
              </a:solidFill>
            </a:endParaRPr>
          </a:p>
          <a:p>
            <a:r>
              <a:rPr lang="en-US" dirty="0">
                <a:solidFill>
                  <a:srgbClr val="FF0000"/>
                </a:solidFill>
              </a:rPr>
              <a:t>from </a:t>
            </a:r>
            <a:r>
              <a:rPr lang="en-US" dirty="0" err="1">
                <a:solidFill>
                  <a:srgbClr val="FF0000"/>
                </a:solidFill>
              </a:rPr>
              <a:t>sklearn.model_selection</a:t>
            </a:r>
            <a:r>
              <a:rPr lang="en-US" dirty="0">
                <a:solidFill>
                  <a:srgbClr val="FF0000"/>
                </a:solidFill>
              </a:rPr>
              <a:t> import </a:t>
            </a:r>
            <a:r>
              <a:rPr lang="en-US" dirty="0" err="1">
                <a:solidFill>
                  <a:srgbClr val="FF0000"/>
                </a:solidFill>
              </a:rPr>
              <a:t>train_test_split</a:t>
            </a:r>
            <a:endParaRPr lang="en-US" dirty="0">
              <a:solidFill>
                <a:srgbClr val="FF0000"/>
              </a:solidFill>
            </a:endParaRPr>
          </a:p>
          <a:p>
            <a:r>
              <a:rPr lang="en-US" dirty="0">
                <a:solidFill>
                  <a:srgbClr val="FF0000"/>
                </a:solidFill>
              </a:rPr>
              <a:t>cancer1 = </a:t>
            </a:r>
            <a:r>
              <a:rPr lang="en-US" dirty="0" err="1">
                <a:solidFill>
                  <a:srgbClr val="FF0000"/>
                </a:solidFill>
              </a:rPr>
              <a:t>load_breast_cancer</a:t>
            </a:r>
            <a:r>
              <a:rPr lang="en-US" dirty="0">
                <a:solidFill>
                  <a:srgbClr val="FF0000"/>
                </a:solidFill>
              </a:rPr>
              <a:t>()</a:t>
            </a:r>
          </a:p>
          <a:p>
            <a:pPr algn="just"/>
            <a:endParaRPr lang="en-US" dirty="0"/>
          </a:p>
          <a:p>
            <a:pPr algn="just"/>
            <a:r>
              <a:rPr lang="en-US" dirty="0"/>
              <a:t>We can take a look at the predictors (independent variables) using the </a:t>
            </a:r>
            <a:r>
              <a:rPr lang="en-US" dirty="0" err="1">
                <a:solidFill>
                  <a:srgbClr val="FF0000"/>
                </a:solidFill>
              </a:rPr>
              <a:t>feature_names</a:t>
            </a:r>
            <a:r>
              <a:rPr lang="en-US" dirty="0"/>
              <a:t> attribute and the response variable (dependent variable) using the </a:t>
            </a:r>
            <a:r>
              <a:rPr lang="en-US" dirty="0" err="1">
                <a:solidFill>
                  <a:srgbClr val="FF0000"/>
                </a:solidFill>
              </a:rPr>
              <a:t>target_names</a:t>
            </a:r>
            <a:r>
              <a:rPr lang="en-US" dirty="0">
                <a:solidFill>
                  <a:srgbClr val="FF0000"/>
                </a:solidFill>
              </a:rPr>
              <a:t> </a:t>
            </a:r>
            <a:r>
              <a:rPr lang="en-US" dirty="0"/>
              <a:t>attribute.</a:t>
            </a:r>
          </a:p>
          <a:p>
            <a:pPr algn="just"/>
            <a:endParaRPr lang="en-US" dirty="0"/>
          </a:p>
        </p:txBody>
      </p:sp>
      <p:sp>
        <p:nvSpPr>
          <p:cNvPr id="4" name="Slide Number Placeholder 3">
            <a:extLst>
              <a:ext uri="{FF2B5EF4-FFF2-40B4-BE49-F238E27FC236}">
                <a16:creationId xmlns:a16="http://schemas.microsoft.com/office/drawing/2014/main" id="{BAE181F8-66CD-416F-BB00-37AAA6A9D740}"/>
              </a:ext>
            </a:extLst>
          </p:cNvPr>
          <p:cNvSpPr>
            <a:spLocks noGrp="1"/>
          </p:cNvSpPr>
          <p:nvPr>
            <p:ph type="sldNum" sz="quarter" idx="12"/>
          </p:nvPr>
        </p:nvSpPr>
        <p:spPr/>
        <p:txBody>
          <a:bodyPr/>
          <a:lstStyle/>
          <a:p>
            <a:fld id="{6B97D948-30E8-43F7-AE10-F6E2D9F2BBB1}" type="slidenum">
              <a:rPr lang="en-US" smtClean="0"/>
              <a:t>764</a:t>
            </a:fld>
            <a:endParaRPr lang="en-US"/>
          </a:p>
        </p:txBody>
      </p:sp>
    </p:spTree>
    <p:extLst>
      <p:ext uri="{BB962C8B-B14F-4D97-AF65-F5344CB8AC3E}">
        <p14:creationId xmlns:p14="http://schemas.microsoft.com/office/powerpoint/2010/main" val="1229948488"/>
      </p:ext>
    </p:extLst>
  </p:cSld>
  <p:clrMapOvr>
    <a:masterClrMapping/>
  </p:clrMapOvr>
</p:sld>
</file>

<file path=ppt/slides/slide7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0A04FB-D4DC-42A4-B362-B565B0B16E21}"/>
              </a:ext>
            </a:extLst>
          </p:cNvPr>
          <p:cNvSpPr>
            <a:spLocks noGrp="1"/>
          </p:cNvSpPr>
          <p:nvPr>
            <p:ph idx="1"/>
          </p:nvPr>
        </p:nvSpPr>
        <p:spPr>
          <a:xfrm>
            <a:off x="949911" y="548681"/>
            <a:ext cx="10493406" cy="5577483"/>
          </a:xfrm>
        </p:spPr>
        <p:txBody>
          <a:bodyPr>
            <a:normAutofit fontScale="92500" lnSpcReduction="10000"/>
          </a:bodyPr>
          <a:lstStyle/>
          <a:p>
            <a:pPr algn="just"/>
            <a:r>
              <a:rPr lang="en-US" dirty="0">
                <a:solidFill>
                  <a:srgbClr val="FF0000"/>
                </a:solidFill>
              </a:rPr>
              <a:t>cancer1.feature_names</a:t>
            </a:r>
          </a:p>
          <a:p>
            <a:pPr algn="just"/>
            <a:r>
              <a:rPr lang="en-US" dirty="0"/>
              <a:t>Out[7]:</a:t>
            </a:r>
          </a:p>
          <a:p>
            <a:pPr algn="just"/>
            <a:r>
              <a:rPr lang="en-US" dirty="0"/>
              <a:t>array(['mean radius', 'mean texture', 'mean perimeter', 'mean area',</a:t>
            </a:r>
          </a:p>
          <a:p>
            <a:pPr algn="just"/>
            <a:r>
              <a:rPr lang="en-US" dirty="0"/>
              <a:t>       'mean smoothness', 'mean compactness', 'mean concavity',</a:t>
            </a:r>
          </a:p>
          <a:p>
            <a:pPr algn="just"/>
            <a:r>
              <a:rPr lang="en-US" dirty="0"/>
              <a:t>       'mean concave points', 'mean symmetry', 'mean fractal dimension',</a:t>
            </a:r>
          </a:p>
          <a:p>
            <a:pPr algn="just"/>
            <a:r>
              <a:rPr lang="en-US" dirty="0"/>
              <a:t>       'radius error', 'texture error', 'perimeter error', 'area error',</a:t>
            </a:r>
          </a:p>
          <a:p>
            <a:pPr algn="just"/>
            <a:r>
              <a:rPr lang="en-US" dirty="0"/>
              <a:t>       'smoothness error', 'compactness error', 'concavity error',</a:t>
            </a:r>
          </a:p>
          <a:p>
            <a:pPr algn="just"/>
            <a:r>
              <a:rPr lang="en-US" dirty="0"/>
              <a:t>       'concave points error', 'symmetry error',</a:t>
            </a:r>
          </a:p>
          <a:p>
            <a:pPr algn="just"/>
            <a:r>
              <a:rPr lang="en-US" dirty="0"/>
              <a:t>       'fractal dimension error', 'worst radius', 'worst texture',</a:t>
            </a:r>
          </a:p>
          <a:p>
            <a:pPr algn="just"/>
            <a:r>
              <a:rPr lang="en-US" dirty="0"/>
              <a:t>       'worst perimeter', 'worst area', 'worst smoothness',</a:t>
            </a:r>
          </a:p>
          <a:p>
            <a:pPr algn="just"/>
            <a:r>
              <a:rPr lang="en-US" dirty="0"/>
              <a:t>       'worst compactness', 'worst concavity', 'worst concave points',</a:t>
            </a:r>
          </a:p>
          <a:p>
            <a:pPr algn="just"/>
            <a:r>
              <a:rPr lang="en-US" dirty="0"/>
              <a:t>       'worst symmetry', 'worst fractal dimension'], </a:t>
            </a:r>
            <a:r>
              <a:rPr lang="en-US" dirty="0" err="1"/>
              <a:t>dtype</a:t>
            </a:r>
            <a:r>
              <a:rPr lang="en-US" dirty="0"/>
              <a:t>='&lt;U23')</a:t>
            </a:r>
          </a:p>
        </p:txBody>
      </p:sp>
      <p:sp>
        <p:nvSpPr>
          <p:cNvPr id="4" name="Slide Number Placeholder 3">
            <a:extLst>
              <a:ext uri="{FF2B5EF4-FFF2-40B4-BE49-F238E27FC236}">
                <a16:creationId xmlns:a16="http://schemas.microsoft.com/office/drawing/2014/main" id="{38F0FD95-CD98-4ACE-95FB-2EC1684B35A6}"/>
              </a:ext>
            </a:extLst>
          </p:cNvPr>
          <p:cNvSpPr>
            <a:spLocks noGrp="1"/>
          </p:cNvSpPr>
          <p:nvPr>
            <p:ph type="sldNum" sz="quarter" idx="12"/>
          </p:nvPr>
        </p:nvSpPr>
        <p:spPr/>
        <p:txBody>
          <a:bodyPr/>
          <a:lstStyle/>
          <a:p>
            <a:fld id="{6B97D948-30E8-43F7-AE10-F6E2D9F2BBB1}" type="slidenum">
              <a:rPr lang="en-US" smtClean="0"/>
              <a:t>765</a:t>
            </a:fld>
            <a:endParaRPr lang="en-US"/>
          </a:p>
        </p:txBody>
      </p:sp>
    </p:spTree>
    <p:extLst>
      <p:ext uri="{BB962C8B-B14F-4D97-AF65-F5344CB8AC3E}">
        <p14:creationId xmlns:p14="http://schemas.microsoft.com/office/powerpoint/2010/main" val="2493214133"/>
      </p:ext>
    </p:extLst>
  </p:cSld>
  <p:clrMapOvr>
    <a:masterClrMapping/>
  </p:clrMapOvr>
</p:sld>
</file>

<file path=ppt/slides/slide7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BC0B32-371F-4A45-8666-EAA45BD5B106}"/>
              </a:ext>
            </a:extLst>
          </p:cNvPr>
          <p:cNvSpPr>
            <a:spLocks noGrp="1"/>
          </p:cNvSpPr>
          <p:nvPr>
            <p:ph idx="1"/>
          </p:nvPr>
        </p:nvSpPr>
        <p:spPr>
          <a:xfrm>
            <a:off x="1029809" y="548681"/>
            <a:ext cx="10457895" cy="5577483"/>
          </a:xfrm>
        </p:spPr>
        <p:txBody>
          <a:bodyPr/>
          <a:lstStyle/>
          <a:p>
            <a:r>
              <a:rPr lang="en-US" dirty="0">
                <a:solidFill>
                  <a:srgbClr val="FF0000"/>
                </a:solidFill>
              </a:rPr>
              <a:t>cancer1.target_names</a:t>
            </a:r>
          </a:p>
          <a:p>
            <a:r>
              <a:rPr lang="en-US" dirty="0"/>
              <a:t>Out[8]: array(['malignant', 'benign'], </a:t>
            </a:r>
            <a:r>
              <a:rPr lang="en-US" dirty="0" err="1"/>
              <a:t>dtype</a:t>
            </a:r>
            <a:r>
              <a:rPr lang="en-US" dirty="0"/>
              <a:t>='&lt;U9’)</a:t>
            </a:r>
          </a:p>
          <a:p>
            <a:endParaRPr lang="en-US" dirty="0"/>
          </a:p>
        </p:txBody>
      </p:sp>
      <p:sp>
        <p:nvSpPr>
          <p:cNvPr id="4" name="Slide Number Placeholder 3">
            <a:extLst>
              <a:ext uri="{FF2B5EF4-FFF2-40B4-BE49-F238E27FC236}">
                <a16:creationId xmlns:a16="http://schemas.microsoft.com/office/drawing/2014/main" id="{759368CC-869F-4C25-BAFE-74EE9D072202}"/>
              </a:ext>
            </a:extLst>
          </p:cNvPr>
          <p:cNvSpPr>
            <a:spLocks noGrp="1"/>
          </p:cNvSpPr>
          <p:nvPr>
            <p:ph type="sldNum" sz="quarter" idx="12"/>
          </p:nvPr>
        </p:nvSpPr>
        <p:spPr/>
        <p:txBody>
          <a:bodyPr/>
          <a:lstStyle/>
          <a:p>
            <a:fld id="{6B97D948-30E8-43F7-AE10-F6E2D9F2BBB1}" type="slidenum">
              <a:rPr lang="en-US" smtClean="0"/>
              <a:t>766</a:t>
            </a:fld>
            <a:endParaRPr lang="en-US"/>
          </a:p>
        </p:txBody>
      </p:sp>
    </p:spTree>
    <p:extLst>
      <p:ext uri="{BB962C8B-B14F-4D97-AF65-F5344CB8AC3E}">
        <p14:creationId xmlns:p14="http://schemas.microsoft.com/office/powerpoint/2010/main" val="1431514205"/>
      </p:ext>
    </p:extLst>
  </p:cSld>
  <p:clrMapOvr>
    <a:masterClrMapping/>
  </p:clrMapOvr>
</p:sld>
</file>

<file path=ppt/slides/slide7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733999-2B8E-418A-A056-DE0586FF293E}"/>
              </a:ext>
            </a:extLst>
          </p:cNvPr>
          <p:cNvSpPr>
            <a:spLocks noGrp="1"/>
          </p:cNvSpPr>
          <p:nvPr>
            <p:ph idx="1"/>
          </p:nvPr>
        </p:nvSpPr>
        <p:spPr>
          <a:xfrm>
            <a:off x="861134" y="476673"/>
            <a:ext cx="10715348" cy="5649491"/>
          </a:xfrm>
        </p:spPr>
        <p:txBody>
          <a:bodyPr>
            <a:normAutofit lnSpcReduction="10000"/>
          </a:bodyPr>
          <a:lstStyle/>
          <a:p>
            <a:r>
              <a:rPr lang="en-US" dirty="0">
                <a:solidFill>
                  <a:srgbClr val="FF0000"/>
                </a:solidFill>
              </a:rPr>
              <a:t>cancer = </a:t>
            </a:r>
            <a:r>
              <a:rPr lang="en-US" dirty="0" err="1">
                <a:solidFill>
                  <a:srgbClr val="FF0000"/>
                </a:solidFill>
              </a:rPr>
              <a:t>pd.DataFrame</a:t>
            </a:r>
            <a:r>
              <a:rPr lang="en-US" dirty="0">
                <a:solidFill>
                  <a:srgbClr val="FF0000"/>
                </a:solidFill>
              </a:rPr>
              <a:t>(cancer1.data, columns = cancer1.feature_names)</a:t>
            </a:r>
          </a:p>
          <a:p>
            <a:endParaRPr lang="en-US" dirty="0">
              <a:solidFill>
                <a:srgbClr val="FF0000"/>
              </a:solidFill>
            </a:endParaRPr>
          </a:p>
          <a:p>
            <a:r>
              <a:rPr lang="en-US" dirty="0" err="1">
                <a:solidFill>
                  <a:srgbClr val="FF0000"/>
                </a:solidFill>
              </a:rPr>
              <a:t>cancer.head</a:t>
            </a:r>
            <a:r>
              <a:rPr lang="en-US" dirty="0">
                <a:solidFill>
                  <a:srgbClr val="FF0000"/>
                </a:solidFill>
              </a:rPr>
              <a:t>()</a:t>
            </a:r>
          </a:p>
          <a:p>
            <a:r>
              <a:rPr lang="en-US" dirty="0"/>
              <a:t>Out[14]:</a:t>
            </a:r>
          </a:p>
          <a:p>
            <a:r>
              <a:rPr lang="en-US" dirty="0"/>
              <a:t>   mean radius  mean texture  ...  worst symmetry  worst fractal dimension</a:t>
            </a:r>
          </a:p>
          <a:p>
            <a:r>
              <a:rPr lang="en-US" dirty="0"/>
              <a:t>0        17.99         10.38  ...          0.4601                  0.11890</a:t>
            </a:r>
          </a:p>
          <a:p>
            <a:r>
              <a:rPr lang="en-US" dirty="0"/>
              <a:t>1        20.57         17.77  ...          0.2750                  0.08902</a:t>
            </a:r>
          </a:p>
          <a:p>
            <a:r>
              <a:rPr lang="en-US" dirty="0"/>
              <a:t>2        19.69         21.25  ...          0.3613                  0.08758</a:t>
            </a:r>
          </a:p>
          <a:p>
            <a:r>
              <a:rPr lang="en-US" dirty="0"/>
              <a:t>3        11.42         20.38  ...          0.6638                  0.17300</a:t>
            </a:r>
          </a:p>
          <a:p>
            <a:r>
              <a:rPr lang="en-US" dirty="0"/>
              <a:t>4        20.29         14.34  ...          0.2364                  0.07678</a:t>
            </a:r>
          </a:p>
          <a:p>
            <a:endParaRPr lang="en-US" dirty="0"/>
          </a:p>
          <a:p>
            <a:endParaRPr lang="en-US" dirty="0"/>
          </a:p>
        </p:txBody>
      </p:sp>
      <p:sp>
        <p:nvSpPr>
          <p:cNvPr id="4" name="Slide Number Placeholder 3">
            <a:extLst>
              <a:ext uri="{FF2B5EF4-FFF2-40B4-BE49-F238E27FC236}">
                <a16:creationId xmlns:a16="http://schemas.microsoft.com/office/drawing/2014/main" id="{7F03C8B6-E8A7-4FA7-8B17-5CE35797504B}"/>
              </a:ext>
            </a:extLst>
          </p:cNvPr>
          <p:cNvSpPr>
            <a:spLocks noGrp="1"/>
          </p:cNvSpPr>
          <p:nvPr>
            <p:ph type="sldNum" sz="quarter" idx="12"/>
          </p:nvPr>
        </p:nvSpPr>
        <p:spPr/>
        <p:txBody>
          <a:bodyPr/>
          <a:lstStyle/>
          <a:p>
            <a:fld id="{6B97D948-30E8-43F7-AE10-F6E2D9F2BBB1}" type="slidenum">
              <a:rPr lang="en-US" smtClean="0"/>
              <a:t>767</a:t>
            </a:fld>
            <a:endParaRPr lang="en-US"/>
          </a:p>
        </p:txBody>
      </p:sp>
    </p:spTree>
    <p:extLst>
      <p:ext uri="{BB962C8B-B14F-4D97-AF65-F5344CB8AC3E}">
        <p14:creationId xmlns:p14="http://schemas.microsoft.com/office/powerpoint/2010/main" val="4182858286"/>
      </p:ext>
    </p:extLst>
  </p:cSld>
  <p:clrMapOvr>
    <a:masterClrMapping/>
  </p:clrMapOvr>
</p:sld>
</file>

<file path=ppt/slides/slide7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171907-74B4-4556-9721-FA5DDA067332}"/>
              </a:ext>
            </a:extLst>
          </p:cNvPr>
          <p:cNvSpPr>
            <a:spLocks noGrp="1"/>
          </p:cNvSpPr>
          <p:nvPr>
            <p:ph idx="1"/>
          </p:nvPr>
        </p:nvSpPr>
        <p:spPr>
          <a:xfrm>
            <a:off x="843379" y="404665"/>
            <a:ext cx="10733103" cy="5721499"/>
          </a:xfrm>
        </p:spPr>
        <p:txBody>
          <a:bodyPr>
            <a:normAutofit fontScale="92500" lnSpcReduction="20000"/>
          </a:bodyPr>
          <a:lstStyle/>
          <a:p>
            <a:r>
              <a:rPr lang="en-US" dirty="0" err="1">
                <a:solidFill>
                  <a:srgbClr val="FF0000"/>
                </a:solidFill>
              </a:rPr>
              <a:t>cancer.columns</a:t>
            </a:r>
            <a:r>
              <a:rPr lang="en-US" dirty="0">
                <a:solidFill>
                  <a:srgbClr val="FF0000"/>
                </a:solidFill>
              </a:rPr>
              <a:t> = </a:t>
            </a:r>
            <a:r>
              <a:rPr lang="en-US" dirty="0" err="1">
                <a:solidFill>
                  <a:srgbClr val="FF0000"/>
                </a:solidFill>
              </a:rPr>
              <a:t>cancer.columns.str.replace</a:t>
            </a:r>
            <a:r>
              <a:rPr lang="en-US" dirty="0">
                <a:solidFill>
                  <a:srgbClr val="FF0000"/>
                </a:solidFill>
              </a:rPr>
              <a:t>(' ','_')</a:t>
            </a:r>
          </a:p>
          <a:p>
            <a:endParaRPr lang="en-US" dirty="0">
              <a:solidFill>
                <a:srgbClr val="FF0000"/>
              </a:solidFill>
            </a:endParaRPr>
          </a:p>
          <a:p>
            <a:r>
              <a:rPr lang="en-US" dirty="0">
                <a:solidFill>
                  <a:srgbClr val="FF0000"/>
                </a:solidFill>
              </a:rPr>
              <a:t>In [16]: </a:t>
            </a:r>
            <a:r>
              <a:rPr lang="en-US" dirty="0" err="1">
                <a:solidFill>
                  <a:srgbClr val="FF0000"/>
                </a:solidFill>
              </a:rPr>
              <a:t>cancer.head</a:t>
            </a:r>
            <a:r>
              <a:rPr lang="en-US" dirty="0">
                <a:solidFill>
                  <a:srgbClr val="FF0000"/>
                </a:solidFill>
              </a:rPr>
              <a:t>()</a:t>
            </a:r>
          </a:p>
          <a:p>
            <a:r>
              <a:rPr lang="en-US" dirty="0"/>
              <a:t>Out[16]:</a:t>
            </a:r>
          </a:p>
          <a:p>
            <a:r>
              <a:rPr lang="en-US" dirty="0"/>
              <a:t>   </a:t>
            </a:r>
            <a:r>
              <a:rPr lang="en-US" dirty="0" err="1"/>
              <a:t>mean_radius</a:t>
            </a:r>
            <a:r>
              <a:rPr lang="en-US" dirty="0"/>
              <a:t>  </a:t>
            </a:r>
            <a:r>
              <a:rPr lang="en-US" dirty="0" err="1"/>
              <a:t>mean_texture</a:t>
            </a:r>
            <a:r>
              <a:rPr lang="en-US" dirty="0"/>
              <a:t>  ...  </a:t>
            </a:r>
            <a:r>
              <a:rPr lang="en-US" dirty="0" err="1"/>
              <a:t>worst_symmetry</a:t>
            </a:r>
            <a:r>
              <a:rPr lang="en-US" dirty="0"/>
              <a:t>  </a:t>
            </a:r>
            <a:r>
              <a:rPr lang="en-US" dirty="0" err="1"/>
              <a:t>worst_fractal_dimension</a:t>
            </a:r>
            <a:endParaRPr lang="en-US" dirty="0"/>
          </a:p>
          <a:p>
            <a:r>
              <a:rPr lang="en-US" dirty="0"/>
              <a:t>0        17.99         10.38  ...          0.4601                  0.11890</a:t>
            </a:r>
          </a:p>
          <a:p>
            <a:r>
              <a:rPr lang="en-US" dirty="0"/>
              <a:t>1        20.57         17.77  ...          0.2750                  0.08902</a:t>
            </a:r>
          </a:p>
          <a:p>
            <a:r>
              <a:rPr lang="en-US" dirty="0"/>
              <a:t>2        19.69         21.25  ...          0.3613                  0.08758</a:t>
            </a:r>
          </a:p>
          <a:p>
            <a:r>
              <a:rPr lang="en-US" dirty="0"/>
              <a:t>3        11.42         20.38  ...          0.6638                  0.17300</a:t>
            </a:r>
          </a:p>
          <a:p>
            <a:r>
              <a:rPr lang="en-US" dirty="0"/>
              <a:t>4        20.29         14.34  ...          0.2364                  0.07678</a:t>
            </a:r>
          </a:p>
          <a:p>
            <a:endParaRPr lang="en-US" dirty="0"/>
          </a:p>
          <a:p>
            <a:r>
              <a:rPr lang="en-US" dirty="0" err="1">
                <a:solidFill>
                  <a:srgbClr val="FF0000"/>
                </a:solidFill>
              </a:rPr>
              <a:t>cancer.shape</a:t>
            </a:r>
            <a:endParaRPr lang="en-US" dirty="0">
              <a:solidFill>
                <a:srgbClr val="FF0000"/>
              </a:solidFill>
            </a:endParaRPr>
          </a:p>
          <a:p>
            <a:r>
              <a:rPr lang="en-US" dirty="0"/>
              <a:t>Out[17]: (569, 30)</a:t>
            </a:r>
          </a:p>
        </p:txBody>
      </p:sp>
      <p:sp>
        <p:nvSpPr>
          <p:cNvPr id="4" name="Slide Number Placeholder 3">
            <a:extLst>
              <a:ext uri="{FF2B5EF4-FFF2-40B4-BE49-F238E27FC236}">
                <a16:creationId xmlns:a16="http://schemas.microsoft.com/office/drawing/2014/main" id="{AEE9BB2D-EB60-4D72-AF8D-2457A41C0CAE}"/>
              </a:ext>
            </a:extLst>
          </p:cNvPr>
          <p:cNvSpPr>
            <a:spLocks noGrp="1"/>
          </p:cNvSpPr>
          <p:nvPr>
            <p:ph type="sldNum" sz="quarter" idx="12"/>
          </p:nvPr>
        </p:nvSpPr>
        <p:spPr/>
        <p:txBody>
          <a:bodyPr/>
          <a:lstStyle/>
          <a:p>
            <a:fld id="{6B97D948-30E8-43F7-AE10-F6E2D9F2BBB1}" type="slidenum">
              <a:rPr lang="en-US" smtClean="0"/>
              <a:t>768</a:t>
            </a:fld>
            <a:endParaRPr lang="en-US"/>
          </a:p>
        </p:txBody>
      </p:sp>
    </p:spTree>
    <p:extLst>
      <p:ext uri="{BB962C8B-B14F-4D97-AF65-F5344CB8AC3E}">
        <p14:creationId xmlns:p14="http://schemas.microsoft.com/office/powerpoint/2010/main" val="1801895974"/>
      </p:ext>
    </p:extLst>
  </p:cSld>
  <p:clrMapOvr>
    <a:masterClrMapping/>
  </p:clrMapOvr>
</p:sld>
</file>

<file path=ppt/slides/slide7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912021-E82A-47CB-8CE4-2E188953E0C6}"/>
              </a:ext>
            </a:extLst>
          </p:cNvPr>
          <p:cNvSpPr>
            <a:spLocks noGrp="1"/>
          </p:cNvSpPr>
          <p:nvPr>
            <p:ph idx="1"/>
          </p:nvPr>
        </p:nvSpPr>
        <p:spPr>
          <a:xfrm>
            <a:off x="790113" y="404665"/>
            <a:ext cx="10884023" cy="5721499"/>
          </a:xfrm>
        </p:spPr>
        <p:txBody>
          <a:bodyPr>
            <a:normAutofit/>
          </a:bodyPr>
          <a:lstStyle/>
          <a:p>
            <a:pPr algn="just"/>
            <a:r>
              <a:rPr lang="en-US" dirty="0"/>
              <a:t>Each tumor, or each row, contains those same 30 predictors we saw above as columns.</a:t>
            </a:r>
          </a:p>
          <a:p>
            <a:pPr algn="just"/>
            <a:endParaRPr lang="en-US" dirty="0"/>
          </a:p>
          <a:p>
            <a:pPr algn="just"/>
            <a:r>
              <a:rPr lang="en-US" dirty="0"/>
              <a:t>It is important to note that the </a:t>
            </a:r>
            <a:r>
              <a:rPr lang="en-US" dirty="0">
                <a:solidFill>
                  <a:srgbClr val="FF0000"/>
                </a:solidFill>
              </a:rPr>
              <a:t>current</a:t>
            </a:r>
            <a:r>
              <a:rPr lang="en-US" dirty="0"/>
              <a:t> </a:t>
            </a:r>
            <a:r>
              <a:rPr lang="en-US" dirty="0" err="1"/>
              <a:t>DataFrame</a:t>
            </a:r>
            <a:r>
              <a:rPr lang="en-US" dirty="0"/>
              <a:t> does not contain the </a:t>
            </a:r>
            <a:r>
              <a:rPr lang="en-US" dirty="0">
                <a:solidFill>
                  <a:srgbClr val="FF0000"/>
                </a:solidFill>
              </a:rPr>
              <a:t>response variable information</a:t>
            </a:r>
            <a:r>
              <a:rPr lang="en-US" dirty="0"/>
              <a:t>, it only contains the predictors! </a:t>
            </a:r>
          </a:p>
          <a:p>
            <a:pPr algn="just"/>
            <a:endParaRPr lang="en-US" dirty="0"/>
          </a:p>
          <a:p>
            <a:pPr algn="just"/>
            <a:r>
              <a:rPr lang="en-US" dirty="0"/>
              <a:t>We want our dataset to contain input-output pairs so that we can train our logistic regression model to know which predictor values will likely result in either a malignant or benign tumor. </a:t>
            </a:r>
          </a:p>
          <a:p>
            <a:pPr algn="just"/>
            <a:endParaRPr lang="en-US" dirty="0"/>
          </a:p>
          <a:p>
            <a:pPr algn="just"/>
            <a:r>
              <a:rPr lang="en-US" dirty="0"/>
              <a:t>We have the inputs (predictors), so we just need to add a column onto the </a:t>
            </a:r>
            <a:r>
              <a:rPr lang="en-US" dirty="0" err="1"/>
              <a:t>DataFrame</a:t>
            </a:r>
            <a:r>
              <a:rPr lang="en-US" dirty="0"/>
              <a:t> containing the output (responses).</a:t>
            </a:r>
          </a:p>
        </p:txBody>
      </p:sp>
      <p:sp>
        <p:nvSpPr>
          <p:cNvPr id="4" name="Slide Number Placeholder 3">
            <a:extLst>
              <a:ext uri="{FF2B5EF4-FFF2-40B4-BE49-F238E27FC236}">
                <a16:creationId xmlns:a16="http://schemas.microsoft.com/office/drawing/2014/main" id="{A7E1BFEE-2679-4616-82BF-C5E09487C254}"/>
              </a:ext>
            </a:extLst>
          </p:cNvPr>
          <p:cNvSpPr>
            <a:spLocks noGrp="1"/>
          </p:cNvSpPr>
          <p:nvPr>
            <p:ph type="sldNum" sz="quarter" idx="12"/>
          </p:nvPr>
        </p:nvSpPr>
        <p:spPr/>
        <p:txBody>
          <a:bodyPr/>
          <a:lstStyle/>
          <a:p>
            <a:fld id="{6B97D948-30E8-43F7-AE10-F6E2D9F2BBB1}" type="slidenum">
              <a:rPr lang="en-US" smtClean="0"/>
              <a:t>769</a:t>
            </a:fld>
            <a:endParaRPr lang="en-US"/>
          </a:p>
        </p:txBody>
      </p:sp>
    </p:spTree>
    <p:extLst>
      <p:ext uri="{BB962C8B-B14F-4D97-AF65-F5344CB8AC3E}">
        <p14:creationId xmlns:p14="http://schemas.microsoft.com/office/powerpoint/2010/main" val="2629234484"/>
      </p:ext>
    </p:extLst>
  </p:cSld>
  <p:clrMapOvr>
    <a:masterClrMapping/>
  </p:clrMapOvr>
</p:sld>
</file>

<file path=ppt/slides/slide7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0ACFB-7E75-4AA6-9488-DCF9E5CF217F}"/>
              </a:ext>
            </a:extLst>
          </p:cNvPr>
          <p:cNvSpPr>
            <a:spLocks noGrp="1"/>
          </p:cNvSpPr>
          <p:nvPr>
            <p:ph idx="1"/>
          </p:nvPr>
        </p:nvSpPr>
        <p:spPr>
          <a:xfrm>
            <a:off x="790113" y="630315"/>
            <a:ext cx="10857390" cy="5495849"/>
          </a:xfrm>
        </p:spPr>
        <p:txBody>
          <a:bodyPr/>
          <a:lstStyle/>
          <a:p>
            <a:r>
              <a:rPr lang="en-US" dirty="0">
                <a:solidFill>
                  <a:srgbClr val="FF0000"/>
                </a:solidFill>
              </a:rPr>
              <a:t>cancer['Target'] = cancer1.target</a:t>
            </a:r>
          </a:p>
          <a:p>
            <a:r>
              <a:rPr lang="en-US" dirty="0" err="1">
                <a:solidFill>
                  <a:srgbClr val="FF0000"/>
                </a:solidFill>
              </a:rPr>
              <a:t>cancer.shape</a:t>
            </a:r>
            <a:endParaRPr lang="en-US" dirty="0">
              <a:solidFill>
                <a:srgbClr val="FF0000"/>
              </a:solidFill>
            </a:endParaRPr>
          </a:p>
          <a:p>
            <a:r>
              <a:rPr lang="en-US" dirty="0"/>
              <a:t>Out[21]: (569, 31)</a:t>
            </a:r>
          </a:p>
          <a:p>
            <a:r>
              <a:rPr lang="en-US" dirty="0" err="1"/>
              <a:t>cancer.head</a:t>
            </a:r>
            <a:r>
              <a:rPr lang="en-US" dirty="0"/>
              <a:t>()</a:t>
            </a:r>
          </a:p>
          <a:p>
            <a:endParaRPr lang="en-US" dirty="0"/>
          </a:p>
        </p:txBody>
      </p:sp>
      <p:sp>
        <p:nvSpPr>
          <p:cNvPr id="4" name="Slide Number Placeholder 3">
            <a:extLst>
              <a:ext uri="{FF2B5EF4-FFF2-40B4-BE49-F238E27FC236}">
                <a16:creationId xmlns:a16="http://schemas.microsoft.com/office/drawing/2014/main" id="{A0F16511-0A9F-4790-BD88-F4C048E55936}"/>
              </a:ext>
            </a:extLst>
          </p:cNvPr>
          <p:cNvSpPr>
            <a:spLocks noGrp="1"/>
          </p:cNvSpPr>
          <p:nvPr>
            <p:ph type="sldNum" sz="quarter" idx="12"/>
          </p:nvPr>
        </p:nvSpPr>
        <p:spPr/>
        <p:txBody>
          <a:bodyPr/>
          <a:lstStyle/>
          <a:p>
            <a:fld id="{6B97D948-30E8-43F7-AE10-F6E2D9F2BBB1}" type="slidenum">
              <a:rPr lang="en-US" smtClean="0"/>
              <a:t>770</a:t>
            </a:fld>
            <a:endParaRPr lang="en-US"/>
          </a:p>
        </p:txBody>
      </p:sp>
    </p:spTree>
    <p:extLst>
      <p:ext uri="{BB962C8B-B14F-4D97-AF65-F5344CB8AC3E}">
        <p14:creationId xmlns:p14="http://schemas.microsoft.com/office/powerpoint/2010/main" val="4037512114"/>
      </p:ext>
    </p:extLst>
  </p:cSld>
  <p:clrMapOvr>
    <a:masterClrMapping/>
  </p:clrMapOvr>
</p:sld>
</file>

<file path=ppt/slides/slide7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0017A-1E04-4747-B456-912851CF7504}"/>
              </a:ext>
            </a:extLst>
          </p:cNvPr>
          <p:cNvSpPr>
            <a:spLocks noGrp="1"/>
          </p:cNvSpPr>
          <p:nvPr>
            <p:ph type="title"/>
          </p:nvPr>
        </p:nvSpPr>
        <p:spPr>
          <a:xfrm>
            <a:off x="1981200" y="274638"/>
            <a:ext cx="8229600" cy="562074"/>
          </a:xfrm>
        </p:spPr>
        <p:txBody>
          <a:bodyPr>
            <a:normAutofit fontScale="90000"/>
          </a:bodyPr>
          <a:lstStyle/>
          <a:p>
            <a:r>
              <a:rPr lang="en-US" dirty="0"/>
              <a:t>Splitting the Data</a:t>
            </a:r>
          </a:p>
        </p:txBody>
      </p:sp>
      <p:sp>
        <p:nvSpPr>
          <p:cNvPr id="3" name="Content Placeholder 2">
            <a:extLst>
              <a:ext uri="{FF2B5EF4-FFF2-40B4-BE49-F238E27FC236}">
                <a16:creationId xmlns:a16="http://schemas.microsoft.com/office/drawing/2014/main" id="{6D99A34E-AAE3-46B5-8075-39BF46C27B13}"/>
              </a:ext>
            </a:extLst>
          </p:cNvPr>
          <p:cNvSpPr>
            <a:spLocks noGrp="1"/>
          </p:cNvSpPr>
          <p:nvPr>
            <p:ph idx="1"/>
          </p:nvPr>
        </p:nvSpPr>
        <p:spPr>
          <a:xfrm>
            <a:off x="763480" y="908721"/>
            <a:ext cx="10866268" cy="5217443"/>
          </a:xfrm>
        </p:spPr>
        <p:txBody>
          <a:bodyPr>
            <a:normAutofit lnSpcReduction="10000"/>
          </a:bodyPr>
          <a:lstStyle/>
          <a:p>
            <a:pPr algn="just"/>
            <a:r>
              <a:rPr lang="en-US" dirty="0"/>
              <a:t>Next, we will split up our predictor and response data into </a:t>
            </a:r>
            <a:r>
              <a:rPr lang="en-US" dirty="0">
                <a:solidFill>
                  <a:srgbClr val="FF0000"/>
                </a:solidFill>
              </a:rPr>
              <a:t>training datasets</a:t>
            </a:r>
            <a:r>
              <a:rPr lang="en-US" dirty="0"/>
              <a:t> and </a:t>
            </a:r>
            <a:r>
              <a:rPr lang="en-US" dirty="0">
                <a:solidFill>
                  <a:srgbClr val="FF0000"/>
                </a:solidFill>
              </a:rPr>
              <a:t>testing</a:t>
            </a:r>
            <a:r>
              <a:rPr lang="en-US" dirty="0"/>
              <a:t> </a:t>
            </a:r>
            <a:r>
              <a:rPr lang="en-US" dirty="0">
                <a:solidFill>
                  <a:srgbClr val="FF0000"/>
                </a:solidFill>
              </a:rPr>
              <a:t>datasets</a:t>
            </a:r>
            <a:r>
              <a:rPr lang="en-US" dirty="0"/>
              <a:t>. </a:t>
            </a:r>
          </a:p>
          <a:p>
            <a:pPr algn="just"/>
            <a:r>
              <a:rPr lang="en-US" dirty="0"/>
              <a:t>We will use the </a:t>
            </a:r>
            <a:r>
              <a:rPr lang="en-US" dirty="0">
                <a:solidFill>
                  <a:srgbClr val="0070C0"/>
                </a:solidFill>
              </a:rPr>
              <a:t>training dataset</a:t>
            </a:r>
            <a:r>
              <a:rPr lang="en-US" dirty="0"/>
              <a:t> to </a:t>
            </a:r>
            <a:r>
              <a:rPr lang="en-US" dirty="0">
                <a:solidFill>
                  <a:srgbClr val="0070C0"/>
                </a:solidFill>
              </a:rPr>
              <a:t>train</a:t>
            </a:r>
            <a:r>
              <a:rPr lang="en-US" dirty="0"/>
              <a:t> our logistic regression models and then use the </a:t>
            </a:r>
            <a:r>
              <a:rPr lang="en-US" dirty="0">
                <a:solidFill>
                  <a:srgbClr val="002060"/>
                </a:solidFill>
              </a:rPr>
              <a:t>testing dataset</a:t>
            </a:r>
            <a:r>
              <a:rPr lang="en-US" dirty="0"/>
              <a:t> to </a:t>
            </a:r>
            <a:r>
              <a:rPr lang="en-US" dirty="0">
                <a:solidFill>
                  <a:srgbClr val="002060"/>
                </a:solidFill>
              </a:rPr>
              <a:t>test</a:t>
            </a:r>
            <a:r>
              <a:rPr lang="en-US" dirty="0"/>
              <a:t> the accuracy of model predictions. </a:t>
            </a:r>
          </a:p>
          <a:p>
            <a:pPr algn="just"/>
            <a:r>
              <a:rPr lang="en-US" dirty="0"/>
              <a:t>There is a nice function from </a:t>
            </a:r>
            <a:r>
              <a:rPr lang="en-US" dirty="0" err="1">
                <a:solidFill>
                  <a:srgbClr val="FF0000"/>
                </a:solidFill>
              </a:rPr>
              <a:t>sklearn</a:t>
            </a:r>
            <a:r>
              <a:rPr lang="en-US" dirty="0" err="1"/>
              <a:t>.</a:t>
            </a:r>
            <a:r>
              <a:rPr lang="en-US" dirty="0" err="1">
                <a:solidFill>
                  <a:srgbClr val="FF0000"/>
                </a:solidFill>
              </a:rPr>
              <a:t>model</a:t>
            </a:r>
            <a:r>
              <a:rPr lang="en-US" dirty="0" err="1"/>
              <a:t>_</a:t>
            </a:r>
            <a:r>
              <a:rPr lang="en-US" dirty="0" err="1">
                <a:solidFill>
                  <a:srgbClr val="FF0000"/>
                </a:solidFill>
              </a:rPr>
              <a:t>selection</a:t>
            </a:r>
            <a:r>
              <a:rPr lang="en-US" dirty="0"/>
              <a:t> called </a:t>
            </a:r>
            <a:r>
              <a:rPr lang="en-US" dirty="0" err="1">
                <a:solidFill>
                  <a:srgbClr val="FF0000"/>
                </a:solidFill>
              </a:rPr>
              <a:t>train_test_split</a:t>
            </a:r>
            <a:r>
              <a:rPr lang="en-US" dirty="0"/>
              <a:t> that splits a given dataset into </a:t>
            </a:r>
            <a:r>
              <a:rPr lang="en-US" dirty="0">
                <a:solidFill>
                  <a:srgbClr val="FF0000"/>
                </a:solidFill>
              </a:rPr>
              <a:t>75%</a:t>
            </a:r>
            <a:r>
              <a:rPr lang="en-US" dirty="0"/>
              <a:t> training and </a:t>
            </a:r>
            <a:r>
              <a:rPr lang="en-US" dirty="0">
                <a:solidFill>
                  <a:srgbClr val="FF0000"/>
                </a:solidFill>
              </a:rPr>
              <a:t>25%</a:t>
            </a:r>
            <a:r>
              <a:rPr lang="en-US" dirty="0"/>
              <a:t> testing data. </a:t>
            </a:r>
          </a:p>
          <a:p>
            <a:pPr algn="just"/>
            <a:r>
              <a:rPr lang="en-US" dirty="0"/>
              <a:t>Setting </a:t>
            </a:r>
            <a:r>
              <a:rPr lang="en-US" dirty="0" err="1">
                <a:solidFill>
                  <a:srgbClr val="FF0000"/>
                </a:solidFill>
              </a:rPr>
              <a:t>random_state</a:t>
            </a:r>
            <a:r>
              <a:rPr lang="en-US" dirty="0">
                <a:solidFill>
                  <a:srgbClr val="FF0000"/>
                </a:solidFill>
              </a:rPr>
              <a:t>=123</a:t>
            </a:r>
            <a:r>
              <a:rPr lang="en-US" dirty="0"/>
              <a:t> allows you to generate the same random train and test subsets. </a:t>
            </a:r>
          </a:p>
          <a:p>
            <a:pPr algn="just"/>
            <a:r>
              <a:rPr lang="en-US" dirty="0"/>
              <a:t>It’s not strictly necessary to split data into training and testing sets when performing logistic regression. </a:t>
            </a:r>
          </a:p>
          <a:p>
            <a:pPr algn="just"/>
            <a:r>
              <a:rPr lang="en-US" dirty="0"/>
              <a:t>In fact if you have limited data it’s not wise to do. </a:t>
            </a:r>
          </a:p>
        </p:txBody>
      </p:sp>
      <p:sp>
        <p:nvSpPr>
          <p:cNvPr id="5" name="Slide Number Placeholder 4">
            <a:extLst>
              <a:ext uri="{FF2B5EF4-FFF2-40B4-BE49-F238E27FC236}">
                <a16:creationId xmlns:a16="http://schemas.microsoft.com/office/drawing/2014/main" id="{E69D8D5E-3908-43B7-BDCD-1121BD8371F4}"/>
              </a:ext>
            </a:extLst>
          </p:cNvPr>
          <p:cNvSpPr>
            <a:spLocks noGrp="1"/>
          </p:cNvSpPr>
          <p:nvPr>
            <p:ph type="sldNum" sz="quarter" idx="12"/>
          </p:nvPr>
        </p:nvSpPr>
        <p:spPr/>
        <p:txBody>
          <a:bodyPr/>
          <a:lstStyle/>
          <a:p>
            <a:fld id="{6B97D948-30E8-43F7-AE10-F6E2D9F2BBB1}" type="slidenum">
              <a:rPr lang="en-US" smtClean="0"/>
              <a:t>771</a:t>
            </a:fld>
            <a:endParaRPr lang="en-US"/>
          </a:p>
        </p:txBody>
      </p:sp>
    </p:spTree>
    <p:extLst>
      <p:ext uri="{BB962C8B-B14F-4D97-AF65-F5344CB8AC3E}">
        <p14:creationId xmlns:p14="http://schemas.microsoft.com/office/powerpoint/2010/main" val="3859798982"/>
      </p:ext>
    </p:extLst>
  </p:cSld>
  <p:clrMapOvr>
    <a:masterClrMapping/>
  </p:clrMapOvr>
</p:sld>
</file>

<file path=ppt/slides/slide7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D192EA-3FFD-48EF-B2A8-318F6EEA72BD}"/>
              </a:ext>
            </a:extLst>
          </p:cNvPr>
          <p:cNvSpPr>
            <a:spLocks noGrp="1"/>
          </p:cNvSpPr>
          <p:nvPr>
            <p:ph idx="1"/>
          </p:nvPr>
        </p:nvSpPr>
        <p:spPr>
          <a:xfrm>
            <a:off x="736847" y="404665"/>
            <a:ext cx="10884023" cy="5721499"/>
          </a:xfrm>
        </p:spPr>
        <p:txBody>
          <a:bodyPr/>
          <a:lstStyle/>
          <a:p>
            <a:pPr algn="just"/>
            <a:endParaRPr lang="en-US" dirty="0"/>
          </a:p>
          <a:p>
            <a:pPr algn="just"/>
            <a:r>
              <a:rPr lang="en-US" dirty="0"/>
              <a:t>For the logistic regression examples, we will model </a:t>
            </a:r>
            <a:r>
              <a:rPr lang="en-US" dirty="0">
                <a:solidFill>
                  <a:srgbClr val="FF0000"/>
                </a:solidFill>
              </a:rPr>
              <a:t>malignant</a:t>
            </a:r>
            <a:r>
              <a:rPr lang="en-US" dirty="0"/>
              <a:t> or </a:t>
            </a:r>
            <a:r>
              <a:rPr lang="en-US" dirty="0">
                <a:solidFill>
                  <a:srgbClr val="FF0000"/>
                </a:solidFill>
              </a:rPr>
              <a:t>benign</a:t>
            </a:r>
            <a:r>
              <a:rPr lang="en-US" dirty="0"/>
              <a:t> as a function of the first 10 predictors (columns) in our dataset. </a:t>
            </a:r>
          </a:p>
          <a:p>
            <a:pPr algn="just"/>
            <a:endParaRPr lang="en-US" dirty="0"/>
          </a:p>
          <a:p>
            <a:pPr algn="just"/>
            <a:endParaRPr lang="en-US" dirty="0"/>
          </a:p>
          <a:p>
            <a:pPr algn="just"/>
            <a:r>
              <a:rPr lang="en-US" dirty="0"/>
              <a:t>These first 10 correspond to mean measurements of each tumor; mean radius, mean texture, mean perimeter, mean area, etc. </a:t>
            </a:r>
          </a:p>
          <a:p>
            <a:pPr algn="just"/>
            <a:endParaRPr lang="en-US" dirty="0"/>
          </a:p>
          <a:p>
            <a:pPr algn="just"/>
            <a:r>
              <a:rPr lang="en-US" dirty="0"/>
              <a:t>We selected these 10 columns purely for convenience to limit output.</a:t>
            </a:r>
          </a:p>
        </p:txBody>
      </p:sp>
      <p:sp>
        <p:nvSpPr>
          <p:cNvPr id="4" name="Slide Number Placeholder 3">
            <a:extLst>
              <a:ext uri="{FF2B5EF4-FFF2-40B4-BE49-F238E27FC236}">
                <a16:creationId xmlns:a16="http://schemas.microsoft.com/office/drawing/2014/main" id="{0BF264E4-CA61-468A-8262-ED5B5029F3E4}"/>
              </a:ext>
            </a:extLst>
          </p:cNvPr>
          <p:cNvSpPr>
            <a:spLocks noGrp="1"/>
          </p:cNvSpPr>
          <p:nvPr>
            <p:ph type="sldNum" sz="quarter" idx="12"/>
          </p:nvPr>
        </p:nvSpPr>
        <p:spPr/>
        <p:txBody>
          <a:bodyPr/>
          <a:lstStyle/>
          <a:p>
            <a:fld id="{6B97D948-30E8-43F7-AE10-F6E2D9F2BBB1}" type="slidenum">
              <a:rPr lang="en-US" smtClean="0"/>
              <a:t>772</a:t>
            </a:fld>
            <a:endParaRPr lang="en-US"/>
          </a:p>
        </p:txBody>
      </p:sp>
    </p:spTree>
    <p:extLst>
      <p:ext uri="{BB962C8B-B14F-4D97-AF65-F5344CB8AC3E}">
        <p14:creationId xmlns:p14="http://schemas.microsoft.com/office/powerpoint/2010/main" val="369481426"/>
      </p:ext>
    </p:extLst>
  </p:cSld>
  <p:clrMapOvr>
    <a:masterClrMapping/>
  </p:clrMapOvr>
</p:sld>
</file>

<file path=ppt/slides/slide7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9ECBDB-2075-49DB-A933-A9C440DFB4CE}"/>
              </a:ext>
            </a:extLst>
          </p:cNvPr>
          <p:cNvSpPr>
            <a:spLocks noGrp="1"/>
          </p:cNvSpPr>
          <p:nvPr>
            <p:ph idx="1"/>
          </p:nvPr>
        </p:nvSpPr>
        <p:spPr>
          <a:xfrm>
            <a:off x="949911" y="476673"/>
            <a:ext cx="10688714" cy="5649491"/>
          </a:xfrm>
        </p:spPr>
        <p:txBody>
          <a:bodyPr/>
          <a:lstStyle/>
          <a:p>
            <a:r>
              <a:rPr lang="en-US" dirty="0">
                <a:solidFill>
                  <a:srgbClr val="FF0000"/>
                </a:solidFill>
              </a:rPr>
              <a:t>X = </a:t>
            </a:r>
            <a:r>
              <a:rPr lang="en-US" dirty="0" err="1">
                <a:solidFill>
                  <a:srgbClr val="FF0000"/>
                </a:solidFill>
              </a:rPr>
              <a:t>cancer.iloc</a:t>
            </a:r>
            <a:r>
              <a:rPr lang="en-US" dirty="0">
                <a:solidFill>
                  <a:srgbClr val="FF0000"/>
                </a:solidFill>
              </a:rPr>
              <a:t>[</a:t>
            </a:r>
            <a:r>
              <a:rPr lang="en-US" dirty="0"/>
              <a:t>:</a:t>
            </a:r>
            <a:r>
              <a:rPr lang="en-US" dirty="0">
                <a:solidFill>
                  <a:srgbClr val="FF0000"/>
                </a:solidFill>
              </a:rPr>
              <a:t>,</a:t>
            </a:r>
            <a:r>
              <a:rPr lang="en-US" dirty="0"/>
              <a:t>:10</a:t>
            </a:r>
            <a:r>
              <a:rPr lang="en-US" dirty="0">
                <a:solidFill>
                  <a:srgbClr val="FF0000"/>
                </a:solidFill>
              </a:rPr>
              <a:t>]			</a:t>
            </a:r>
          </a:p>
          <a:p>
            <a:endParaRPr lang="en-US" dirty="0">
              <a:solidFill>
                <a:srgbClr val="FF0000"/>
              </a:solidFill>
            </a:endParaRPr>
          </a:p>
          <a:p>
            <a:r>
              <a:rPr lang="en-US" dirty="0">
                <a:solidFill>
                  <a:srgbClr val="FF0000"/>
                </a:solidFill>
              </a:rPr>
              <a:t>y = </a:t>
            </a:r>
            <a:r>
              <a:rPr lang="en-US" dirty="0" err="1">
                <a:solidFill>
                  <a:srgbClr val="FF0000"/>
                </a:solidFill>
              </a:rPr>
              <a:t>cancer.Target</a:t>
            </a:r>
            <a:endParaRPr lang="en-US" dirty="0">
              <a:solidFill>
                <a:srgbClr val="FF0000"/>
              </a:solidFill>
            </a:endParaRPr>
          </a:p>
          <a:p>
            <a:endParaRPr lang="en-US" dirty="0"/>
          </a:p>
          <a:p>
            <a:r>
              <a:rPr lang="en-US" dirty="0"/>
              <a:t># Split these data into training and testing datasets</a:t>
            </a:r>
          </a:p>
          <a:p>
            <a:r>
              <a:rPr lang="en-US" dirty="0" err="1">
                <a:solidFill>
                  <a:srgbClr val="FF0000"/>
                </a:solidFill>
              </a:rPr>
              <a:t>x_train</a:t>
            </a:r>
            <a:r>
              <a:rPr lang="en-US" dirty="0">
                <a:solidFill>
                  <a:srgbClr val="FF0000"/>
                </a:solidFill>
              </a:rPr>
              <a:t>, </a:t>
            </a:r>
            <a:r>
              <a:rPr lang="en-US" dirty="0" err="1">
                <a:solidFill>
                  <a:srgbClr val="FF0000"/>
                </a:solidFill>
              </a:rPr>
              <a:t>x_test</a:t>
            </a:r>
            <a:r>
              <a:rPr lang="en-US" dirty="0">
                <a:solidFill>
                  <a:srgbClr val="FF0000"/>
                </a:solidFill>
              </a:rPr>
              <a:t>, </a:t>
            </a:r>
            <a:r>
              <a:rPr lang="en-US" dirty="0" err="1">
                <a:solidFill>
                  <a:srgbClr val="FF0000"/>
                </a:solidFill>
              </a:rPr>
              <a:t>y_train</a:t>
            </a:r>
            <a:r>
              <a:rPr lang="en-US" dirty="0">
                <a:solidFill>
                  <a:srgbClr val="FF0000"/>
                </a:solidFill>
              </a:rPr>
              <a:t>, </a:t>
            </a:r>
            <a:r>
              <a:rPr lang="en-US" dirty="0" err="1">
                <a:solidFill>
                  <a:srgbClr val="FF0000"/>
                </a:solidFill>
              </a:rPr>
              <a:t>y_test</a:t>
            </a:r>
            <a:r>
              <a:rPr lang="en-US" dirty="0">
                <a:solidFill>
                  <a:srgbClr val="FF0000"/>
                </a:solidFill>
              </a:rPr>
              <a:t> = </a:t>
            </a:r>
            <a:r>
              <a:rPr lang="en-US" dirty="0" err="1">
                <a:solidFill>
                  <a:srgbClr val="FF0000"/>
                </a:solidFill>
              </a:rPr>
              <a:t>train_test_split</a:t>
            </a:r>
            <a:r>
              <a:rPr lang="en-US" dirty="0">
                <a:solidFill>
                  <a:srgbClr val="FF0000"/>
                </a:solidFill>
              </a:rPr>
              <a:t>(</a:t>
            </a:r>
            <a:r>
              <a:rPr lang="en-US" dirty="0" err="1">
                <a:solidFill>
                  <a:srgbClr val="FF0000"/>
                </a:solidFill>
              </a:rPr>
              <a:t>X,y</a:t>
            </a:r>
            <a:r>
              <a:rPr lang="en-US" dirty="0">
                <a:solidFill>
                  <a:srgbClr val="FF0000"/>
                </a:solidFill>
              </a:rPr>
              <a:t>, </a:t>
            </a:r>
            <a:r>
              <a:rPr lang="en-US" dirty="0" err="1">
                <a:solidFill>
                  <a:srgbClr val="FF0000"/>
                </a:solidFill>
              </a:rPr>
              <a:t>random_state</a:t>
            </a:r>
            <a:r>
              <a:rPr lang="en-US" dirty="0">
                <a:solidFill>
                  <a:srgbClr val="FF0000"/>
                </a:solidFill>
              </a:rPr>
              <a:t>=123)</a:t>
            </a:r>
          </a:p>
          <a:p>
            <a:endParaRPr lang="en-US" dirty="0"/>
          </a:p>
          <a:p>
            <a:r>
              <a:rPr lang="en-US" dirty="0"/>
              <a:t>Now we are ready to build our logistic regression models!</a:t>
            </a:r>
          </a:p>
          <a:p>
            <a:endParaRPr lang="en-US" dirty="0">
              <a:solidFill>
                <a:srgbClr val="FF0000"/>
              </a:solidFill>
            </a:endParaRPr>
          </a:p>
        </p:txBody>
      </p:sp>
      <p:sp>
        <p:nvSpPr>
          <p:cNvPr id="4" name="Slide Number Placeholder 3">
            <a:extLst>
              <a:ext uri="{FF2B5EF4-FFF2-40B4-BE49-F238E27FC236}">
                <a16:creationId xmlns:a16="http://schemas.microsoft.com/office/drawing/2014/main" id="{C06042A1-F81B-4837-A848-1C1A6EAB4C1D}"/>
              </a:ext>
            </a:extLst>
          </p:cNvPr>
          <p:cNvSpPr>
            <a:spLocks noGrp="1"/>
          </p:cNvSpPr>
          <p:nvPr>
            <p:ph type="sldNum" sz="quarter" idx="12"/>
          </p:nvPr>
        </p:nvSpPr>
        <p:spPr/>
        <p:txBody>
          <a:bodyPr/>
          <a:lstStyle/>
          <a:p>
            <a:fld id="{6B97D948-30E8-43F7-AE10-F6E2D9F2BBB1}" type="slidenum">
              <a:rPr lang="en-US" smtClean="0"/>
              <a:t>773</a:t>
            </a:fld>
            <a:endParaRPr lang="en-US"/>
          </a:p>
        </p:txBody>
      </p:sp>
    </p:spTree>
    <p:extLst>
      <p:ext uri="{BB962C8B-B14F-4D97-AF65-F5344CB8AC3E}">
        <p14:creationId xmlns:p14="http://schemas.microsoft.com/office/powerpoint/2010/main" val="985025205"/>
      </p:ext>
    </p:extLst>
  </p:cSld>
  <p:clrMapOvr>
    <a:masterClrMapping/>
  </p:clrMapOvr>
</p:sld>
</file>

<file path=ppt/slides/slide7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FCAD9C-42BA-4919-A5FB-2B041FDF44C4}"/>
              </a:ext>
            </a:extLst>
          </p:cNvPr>
          <p:cNvSpPr>
            <a:spLocks noGrp="1"/>
          </p:cNvSpPr>
          <p:nvPr>
            <p:ph type="title"/>
          </p:nvPr>
        </p:nvSpPr>
        <p:spPr>
          <a:xfrm>
            <a:off x="1981200" y="274638"/>
            <a:ext cx="8229600" cy="706090"/>
          </a:xfrm>
        </p:spPr>
        <p:txBody>
          <a:bodyPr>
            <a:normAutofit/>
          </a:bodyPr>
          <a:lstStyle/>
          <a:p>
            <a:r>
              <a:rPr lang="en-US" dirty="0"/>
              <a:t>Determining Model Accuracy</a:t>
            </a:r>
          </a:p>
        </p:txBody>
      </p:sp>
      <p:sp>
        <p:nvSpPr>
          <p:cNvPr id="3" name="Content Placeholder 2">
            <a:extLst>
              <a:ext uri="{FF2B5EF4-FFF2-40B4-BE49-F238E27FC236}">
                <a16:creationId xmlns:a16="http://schemas.microsoft.com/office/drawing/2014/main" id="{12569B08-8A9B-4C90-9139-547F4CDD454F}"/>
              </a:ext>
            </a:extLst>
          </p:cNvPr>
          <p:cNvSpPr>
            <a:spLocks noGrp="1"/>
          </p:cNvSpPr>
          <p:nvPr>
            <p:ph idx="1"/>
          </p:nvPr>
        </p:nvSpPr>
        <p:spPr>
          <a:xfrm>
            <a:off x="834501" y="980729"/>
            <a:ext cx="10848513" cy="5145435"/>
          </a:xfrm>
        </p:spPr>
        <p:txBody>
          <a:bodyPr>
            <a:normAutofit/>
          </a:bodyPr>
          <a:lstStyle/>
          <a:p>
            <a:pPr algn="just"/>
            <a:r>
              <a:rPr lang="en-US" dirty="0"/>
              <a:t>We will need to assess how well the models work at correctly classifying the test data. </a:t>
            </a:r>
          </a:p>
          <a:p>
            <a:pPr algn="just"/>
            <a:endParaRPr lang="en-US" dirty="0"/>
          </a:p>
          <a:p>
            <a:pPr algn="just"/>
            <a:r>
              <a:rPr lang="en-US" dirty="0"/>
              <a:t>We will use two tools to assess the accuracy of the models: the </a:t>
            </a:r>
            <a:r>
              <a:rPr lang="en-US" dirty="0">
                <a:solidFill>
                  <a:srgbClr val="FF0000"/>
                </a:solidFill>
              </a:rPr>
              <a:t>confusion matrix</a:t>
            </a:r>
            <a:r>
              <a:rPr lang="en-US" dirty="0"/>
              <a:t> and the </a:t>
            </a:r>
            <a:r>
              <a:rPr lang="en-US" dirty="0">
                <a:solidFill>
                  <a:srgbClr val="FF0000"/>
                </a:solidFill>
              </a:rPr>
              <a:t>accuracy score</a:t>
            </a:r>
            <a:r>
              <a:rPr lang="en-US" dirty="0"/>
              <a:t>.</a:t>
            </a:r>
          </a:p>
        </p:txBody>
      </p:sp>
      <p:sp>
        <p:nvSpPr>
          <p:cNvPr id="5" name="Slide Number Placeholder 4">
            <a:extLst>
              <a:ext uri="{FF2B5EF4-FFF2-40B4-BE49-F238E27FC236}">
                <a16:creationId xmlns:a16="http://schemas.microsoft.com/office/drawing/2014/main" id="{CC9AD329-C685-4741-AB74-554F01D8455E}"/>
              </a:ext>
            </a:extLst>
          </p:cNvPr>
          <p:cNvSpPr>
            <a:spLocks noGrp="1"/>
          </p:cNvSpPr>
          <p:nvPr>
            <p:ph type="sldNum" sz="quarter" idx="12"/>
          </p:nvPr>
        </p:nvSpPr>
        <p:spPr/>
        <p:txBody>
          <a:bodyPr/>
          <a:lstStyle/>
          <a:p>
            <a:fld id="{6B97D948-30E8-43F7-AE10-F6E2D9F2BBB1}" type="slidenum">
              <a:rPr lang="en-US" smtClean="0"/>
              <a:t>774</a:t>
            </a:fld>
            <a:endParaRPr lang="en-US"/>
          </a:p>
        </p:txBody>
      </p:sp>
    </p:spTree>
    <p:extLst>
      <p:ext uri="{BB962C8B-B14F-4D97-AF65-F5344CB8AC3E}">
        <p14:creationId xmlns:p14="http://schemas.microsoft.com/office/powerpoint/2010/main" val="2107001755"/>
      </p:ext>
    </p:extLst>
  </p:cSld>
  <p:clrMapOvr>
    <a:masterClrMapping/>
  </p:clrMapOvr>
</p:sld>
</file>

<file path=ppt/slides/slide7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D8C47-3487-496C-A4AF-70ED74B5E586}"/>
              </a:ext>
            </a:extLst>
          </p:cNvPr>
          <p:cNvSpPr>
            <a:spLocks noGrp="1"/>
          </p:cNvSpPr>
          <p:nvPr>
            <p:ph type="title"/>
          </p:nvPr>
        </p:nvSpPr>
        <p:spPr>
          <a:xfrm>
            <a:off x="1981200" y="274638"/>
            <a:ext cx="8229600" cy="562074"/>
          </a:xfrm>
        </p:spPr>
        <p:txBody>
          <a:bodyPr>
            <a:normAutofit fontScale="90000"/>
          </a:bodyPr>
          <a:lstStyle/>
          <a:p>
            <a:r>
              <a:rPr lang="en-US" dirty="0"/>
              <a:t>Confusion Matrix</a:t>
            </a:r>
          </a:p>
        </p:txBody>
      </p:sp>
      <p:sp>
        <p:nvSpPr>
          <p:cNvPr id="3" name="Content Placeholder 2">
            <a:extLst>
              <a:ext uri="{FF2B5EF4-FFF2-40B4-BE49-F238E27FC236}">
                <a16:creationId xmlns:a16="http://schemas.microsoft.com/office/drawing/2014/main" id="{58AE6CA0-D23E-47A4-9C4F-98605413F88F}"/>
              </a:ext>
            </a:extLst>
          </p:cNvPr>
          <p:cNvSpPr>
            <a:spLocks noGrp="1"/>
          </p:cNvSpPr>
          <p:nvPr>
            <p:ph idx="1"/>
          </p:nvPr>
        </p:nvSpPr>
        <p:spPr>
          <a:xfrm>
            <a:off x="710214" y="980729"/>
            <a:ext cx="10955044" cy="5145435"/>
          </a:xfrm>
        </p:spPr>
        <p:txBody>
          <a:bodyPr/>
          <a:lstStyle/>
          <a:p>
            <a:pPr algn="just"/>
            <a:r>
              <a:rPr lang="en-US" dirty="0"/>
              <a:t>The </a:t>
            </a:r>
            <a:r>
              <a:rPr lang="en-US" dirty="0">
                <a:solidFill>
                  <a:srgbClr val="FF0000"/>
                </a:solidFill>
              </a:rPr>
              <a:t>confusion matrix </a:t>
            </a:r>
            <a:r>
              <a:rPr lang="en-US" dirty="0"/>
              <a:t>is a matrix/table layout that provides a visualization of </a:t>
            </a:r>
            <a:r>
              <a:rPr lang="en-US" dirty="0">
                <a:solidFill>
                  <a:srgbClr val="FF0000"/>
                </a:solidFill>
              </a:rPr>
              <a:t>how well a certain algorithm (usually a supervised learning algorithm) performed</a:t>
            </a:r>
            <a:r>
              <a:rPr lang="en-US" dirty="0"/>
              <a:t>.</a:t>
            </a:r>
          </a:p>
          <a:p>
            <a:endParaRPr lang="en-US" dirty="0"/>
          </a:p>
        </p:txBody>
      </p:sp>
      <p:sp>
        <p:nvSpPr>
          <p:cNvPr id="5" name="Slide Number Placeholder 4">
            <a:extLst>
              <a:ext uri="{FF2B5EF4-FFF2-40B4-BE49-F238E27FC236}">
                <a16:creationId xmlns:a16="http://schemas.microsoft.com/office/drawing/2014/main" id="{E3F6A386-E29E-4F78-A7DE-0FA96A4B93FC}"/>
              </a:ext>
            </a:extLst>
          </p:cNvPr>
          <p:cNvSpPr>
            <a:spLocks noGrp="1"/>
          </p:cNvSpPr>
          <p:nvPr>
            <p:ph type="sldNum" sz="quarter" idx="12"/>
          </p:nvPr>
        </p:nvSpPr>
        <p:spPr/>
        <p:txBody>
          <a:bodyPr/>
          <a:lstStyle/>
          <a:p>
            <a:fld id="{6B97D948-30E8-43F7-AE10-F6E2D9F2BBB1}" type="slidenum">
              <a:rPr lang="en-US" smtClean="0"/>
              <a:t>775</a:t>
            </a:fld>
            <a:endParaRPr lang="en-US"/>
          </a:p>
        </p:txBody>
      </p:sp>
    </p:spTree>
    <p:extLst>
      <p:ext uri="{BB962C8B-B14F-4D97-AF65-F5344CB8AC3E}">
        <p14:creationId xmlns:p14="http://schemas.microsoft.com/office/powerpoint/2010/main" val="18928101"/>
      </p:ext>
    </p:extLst>
  </p:cSld>
  <p:clrMapOvr>
    <a:masterClrMapping/>
  </p:clrMapOvr>
</p:sld>
</file>

<file path=ppt/slides/slide7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9737B3-E2FF-43A0-B4E6-ED48CCE0E3C2}"/>
              </a:ext>
            </a:extLst>
          </p:cNvPr>
          <p:cNvSpPr>
            <a:spLocks noGrp="1"/>
          </p:cNvSpPr>
          <p:nvPr>
            <p:ph idx="1"/>
          </p:nvPr>
        </p:nvSpPr>
        <p:spPr>
          <a:xfrm>
            <a:off x="612559" y="332657"/>
            <a:ext cx="10786369" cy="5793507"/>
          </a:xfrm>
        </p:spPr>
        <p:txBody>
          <a:bodyPr>
            <a:normAutofit/>
          </a:bodyPr>
          <a:lstStyle/>
          <a:p>
            <a:pPr algn="just"/>
            <a:r>
              <a:rPr lang="en-US" dirty="0"/>
              <a:t>For a binary classification model like logistic regression, the confusion matrix will be a 2×2 matrix.</a:t>
            </a:r>
          </a:p>
          <a:p>
            <a:pPr algn="just"/>
            <a:endParaRPr lang="en-US" dirty="0"/>
          </a:p>
          <a:p>
            <a:pPr algn="just"/>
            <a:r>
              <a:rPr lang="en-US" dirty="0"/>
              <a:t>Each </a:t>
            </a:r>
            <a:r>
              <a:rPr lang="en-US" dirty="0">
                <a:solidFill>
                  <a:srgbClr val="FF0000"/>
                </a:solidFill>
              </a:rPr>
              <a:t>row</a:t>
            </a:r>
            <a:r>
              <a:rPr lang="en-US" dirty="0"/>
              <a:t> representing the counts of actual conditions and each </a:t>
            </a:r>
            <a:r>
              <a:rPr lang="en-US" dirty="0">
                <a:solidFill>
                  <a:srgbClr val="FF0000"/>
                </a:solidFill>
              </a:rPr>
              <a:t>column</a:t>
            </a:r>
            <a:r>
              <a:rPr lang="en-US" dirty="0"/>
              <a:t> representing the counts of predicted conditions. </a:t>
            </a:r>
          </a:p>
          <a:p>
            <a:pPr algn="just"/>
            <a:endParaRPr lang="en-US" dirty="0"/>
          </a:p>
          <a:p>
            <a:pPr algn="just"/>
            <a:endParaRPr lang="en-US" dirty="0"/>
          </a:p>
          <a:p>
            <a:pPr algn="just"/>
            <a:r>
              <a:rPr lang="en-US" dirty="0"/>
              <a:t>Essentially, a confusion matrix is a contingency table with two dimensions: predicted and actual. </a:t>
            </a:r>
          </a:p>
          <a:p>
            <a:pPr algn="just"/>
            <a:endParaRPr lang="en-US" dirty="0"/>
          </a:p>
          <a:p>
            <a:pPr algn="just"/>
            <a:r>
              <a:rPr lang="en-US" dirty="0"/>
              <a:t>Let’s call the confusion matrix itself </a:t>
            </a:r>
            <a:r>
              <a:rPr lang="en-US" i="1" dirty="0"/>
              <a:t>C</a:t>
            </a:r>
            <a:r>
              <a:rPr lang="en-US" dirty="0"/>
              <a:t>. </a:t>
            </a:r>
          </a:p>
          <a:p>
            <a:pPr algn="just"/>
            <a:endParaRPr lang="en-US" dirty="0"/>
          </a:p>
        </p:txBody>
      </p:sp>
      <p:sp>
        <p:nvSpPr>
          <p:cNvPr id="4" name="Slide Number Placeholder 3">
            <a:extLst>
              <a:ext uri="{FF2B5EF4-FFF2-40B4-BE49-F238E27FC236}">
                <a16:creationId xmlns:a16="http://schemas.microsoft.com/office/drawing/2014/main" id="{C455FBB9-AA46-4929-A5CF-BAB83301A482}"/>
              </a:ext>
            </a:extLst>
          </p:cNvPr>
          <p:cNvSpPr>
            <a:spLocks noGrp="1"/>
          </p:cNvSpPr>
          <p:nvPr>
            <p:ph type="sldNum" sz="quarter" idx="12"/>
          </p:nvPr>
        </p:nvSpPr>
        <p:spPr/>
        <p:txBody>
          <a:bodyPr/>
          <a:lstStyle/>
          <a:p>
            <a:fld id="{6B97D948-30E8-43F7-AE10-F6E2D9F2BBB1}" type="slidenum">
              <a:rPr lang="en-US" smtClean="0"/>
              <a:t>776</a:t>
            </a:fld>
            <a:endParaRPr lang="en-US"/>
          </a:p>
        </p:txBody>
      </p:sp>
    </p:spTree>
    <p:extLst>
      <p:ext uri="{BB962C8B-B14F-4D97-AF65-F5344CB8AC3E}">
        <p14:creationId xmlns:p14="http://schemas.microsoft.com/office/powerpoint/2010/main" val="3701258531"/>
      </p:ext>
    </p:extLst>
  </p:cSld>
  <p:clrMapOvr>
    <a:masterClrMapping/>
  </p:clrMapOvr>
</p:sld>
</file>

<file path=ppt/slides/slide7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3C90DC-B2C9-4E89-A47D-1B2337A4491A}"/>
                  </a:ext>
                </a:extLst>
              </p:cNvPr>
              <p:cNvSpPr>
                <a:spLocks noGrp="1"/>
              </p:cNvSpPr>
              <p:nvPr>
                <p:ph idx="1"/>
              </p:nvPr>
            </p:nvSpPr>
            <p:spPr>
              <a:xfrm>
                <a:off x="719091" y="332657"/>
                <a:ext cx="11008311" cy="5793507"/>
              </a:xfrm>
            </p:spPr>
            <p:txBody>
              <a:bodyPr/>
              <a:lstStyle/>
              <a:p>
                <a:pPr algn="just"/>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00</m:t>
                        </m:r>
                      </m:sub>
                    </m:sSub>
                    <m:r>
                      <a:rPr lang="en-US" i="1">
                        <a:latin typeface="Cambria Math" panose="02040503050406030204" pitchFamily="18" charset="0"/>
                      </a:rPr>
                      <m:t> </m:t>
                    </m:r>
                  </m:oMath>
                </a14:m>
                <a:r>
                  <a:rPr lang="en-US" dirty="0"/>
                  <a:t>(the 00th element or the top left matrix element) will show the count of </a:t>
                </a:r>
                <a:r>
                  <a:rPr lang="en-US" dirty="0">
                    <a:solidFill>
                      <a:srgbClr val="FF0000"/>
                    </a:solidFill>
                  </a:rPr>
                  <a:t>true positives</a:t>
                </a:r>
                <a:r>
                  <a:rPr lang="en-US" dirty="0"/>
                  <a:t>.</a:t>
                </a:r>
              </a:p>
              <a:p>
                <a:pPr algn="just"/>
                <a:endParaRPr lang="en-US" dirty="0"/>
              </a:p>
              <a:p>
                <a:pPr algn="just"/>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11</m:t>
                        </m:r>
                      </m:sub>
                    </m:sSub>
                    <m:r>
                      <a:rPr lang="en-US" i="1">
                        <a:latin typeface="Cambria Math" panose="02040503050406030204" pitchFamily="18" charset="0"/>
                      </a:rPr>
                      <m:t> </m:t>
                    </m:r>
                  </m:oMath>
                </a14:m>
                <a:r>
                  <a:rPr lang="en-US" dirty="0"/>
                  <a:t>(the bottom right element) will show the count of </a:t>
                </a:r>
                <a:r>
                  <a:rPr lang="en-US" dirty="0">
                    <a:solidFill>
                      <a:srgbClr val="FF0000"/>
                    </a:solidFill>
                  </a:rPr>
                  <a:t>true negatives</a:t>
                </a:r>
                <a:r>
                  <a:rPr lang="en-US" dirty="0"/>
                  <a:t>.</a:t>
                </a:r>
              </a:p>
              <a:p>
                <a:pPr algn="just"/>
                <a:endParaRPr lang="en-US" dirty="0"/>
              </a:p>
              <a:p>
                <a:pPr algn="just"/>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0</m:t>
                        </m:r>
                        <m:r>
                          <a:rPr lang="en-US" i="1">
                            <a:latin typeface="Cambria Math" panose="02040503050406030204" pitchFamily="18" charset="0"/>
                          </a:rPr>
                          <m:t>1</m:t>
                        </m:r>
                      </m:sub>
                    </m:sSub>
                  </m:oMath>
                </a14:m>
                <a:r>
                  <a:rPr lang="en-US" dirty="0"/>
                  <a:t> (the top right element) will show the count of </a:t>
                </a:r>
                <a:r>
                  <a:rPr lang="en-US" dirty="0">
                    <a:solidFill>
                      <a:srgbClr val="FF0000"/>
                    </a:solidFill>
                  </a:rPr>
                  <a:t>false negatives</a:t>
                </a:r>
                <a:r>
                  <a:rPr lang="en-US" dirty="0"/>
                  <a:t>.</a:t>
                </a:r>
              </a:p>
              <a:p>
                <a:pPr algn="just"/>
                <a:endParaRPr lang="en-US" dirty="0"/>
              </a:p>
              <a:p>
                <a:pPr algn="just"/>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1</m:t>
                        </m:r>
                        <m:r>
                          <a:rPr lang="en-US" b="0" i="1" smtClean="0">
                            <a:latin typeface="Cambria Math" panose="02040503050406030204" pitchFamily="18" charset="0"/>
                          </a:rPr>
                          <m:t>0</m:t>
                        </m:r>
                      </m:sub>
                    </m:sSub>
                    <m:r>
                      <a:rPr lang="en-US" i="1">
                        <a:latin typeface="Cambria Math" panose="02040503050406030204" pitchFamily="18" charset="0"/>
                      </a:rPr>
                      <m:t> </m:t>
                    </m:r>
                  </m:oMath>
                </a14:m>
                <a:r>
                  <a:rPr lang="en-US" dirty="0"/>
                  <a:t>(the bottom left element) will show the count of </a:t>
                </a:r>
                <a:r>
                  <a:rPr lang="en-US" dirty="0">
                    <a:solidFill>
                      <a:srgbClr val="FF0000"/>
                    </a:solidFill>
                  </a:rPr>
                  <a:t>false positives</a:t>
                </a:r>
                <a:r>
                  <a:rPr lang="en-US" dirty="0"/>
                  <a:t>.</a:t>
                </a:r>
              </a:p>
            </p:txBody>
          </p:sp>
        </mc:Choice>
        <mc:Fallback xmlns="">
          <p:sp>
            <p:nvSpPr>
              <p:cNvPr id="3" name="Content Placeholder 2">
                <a:extLst>
                  <a:ext uri="{FF2B5EF4-FFF2-40B4-BE49-F238E27FC236}">
                    <a16:creationId xmlns:a16="http://schemas.microsoft.com/office/drawing/2014/main" id="{B93C90DC-B2C9-4E89-A47D-1B2337A4491A}"/>
                  </a:ext>
                </a:extLst>
              </p:cNvPr>
              <p:cNvSpPr>
                <a:spLocks noGrp="1" noRot="1" noChangeAspect="1" noMove="1" noResize="1" noEditPoints="1" noAdjustHandles="1" noChangeArrowheads="1" noChangeShapeType="1" noTextEdit="1"/>
              </p:cNvSpPr>
              <p:nvPr>
                <p:ph idx="1"/>
              </p:nvPr>
            </p:nvSpPr>
            <p:spPr>
              <a:xfrm>
                <a:off x="719091" y="332657"/>
                <a:ext cx="11008311" cy="5793507"/>
              </a:xfrm>
              <a:blipFill>
                <a:blip r:embed="rId2"/>
                <a:stretch>
                  <a:fillRect t="-1789" r="-110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B1B1875-25C3-4E1E-A109-AAD8716A8601}"/>
              </a:ext>
            </a:extLst>
          </p:cNvPr>
          <p:cNvSpPr>
            <a:spLocks noGrp="1"/>
          </p:cNvSpPr>
          <p:nvPr>
            <p:ph type="sldNum" sz="quarter" idx="12"/>
          </p:nvPr>
        </p:nvSpPr>
        <p:spPr/>
        <p:txBody>
          <a:bodyPr/>
          <a:lstStyle/>
          <a:p>
            <a:fld id="{6B97D948-30E8-43F7-AE10-F6E2D9F2BBB1}" type="slidenum">
              <a:rPr lang="en-US" smtClean="0"/>
              <a:t>777</a:t>
            </a:fld>
            <a:endParaRPr lang="en-US"/>
          </a:p>
        </p:txBody>
      </p:sp>
    </p:spTree>
    <p:extLst>
      <p:ext uri="{BB962C8B-B14F-4D97-AF65-F5344CB8AC3E}">
        <p14:creationId xmlns:p14="http://schemas.microsoft.com/office/powerpoint/2010/main" val="1094250106"/>
      </p:ext>
    </p:extLst>
  </p:cSld>
  <p:clrMapOvr>
    <a:masterClrMapping/>
  </p:clrMapOvr>
</p:sld>
</file>

<file path=ppt/slides/slide7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AAF0E0-3A57-4645-BAF6-DD21E609AE1C}"/>
              </a:ext>
            </a:extLst>
          </p:cNvPr>
          <p:cNvPicPr>
            <a:picLocks noGrp="1" noChangeAspect="1"/>
          </p:cNvPicPr>
          <p:nvPr>
            <p:ph idx="1"/>
          </p:nvPr>
        </p:nvPicPr>
        <p:blipFill>
          <a:blip r:embed="rId2"/>
          <a:stretch>
            <a:fillRect/>
          </a:stretch>
        </p:blipFill>
        <p:spPr>
          <a:xfrm>
            <a:off x="723900" y="531910"/>
            <a:ext cx="10030421" cy="5645053"/>
          </a:xfrm>
          <a:prstGeom prst="rect">
            <a:avLst/>
          </a:prstGeom>
        </p:spPr>
      </p:pic>
      <p:sp>
        <p:nvSpPr>
          <p:cNvPr id="6" name="Slide Number Placeholder 5">
            <a:extLst>
              <a:ext uri="{FF2B5EF4-FFF2-40B4-BE49-F238E27FC236}">
                <a16:creationId xmlns:a16="http://schemas.microsoft.com/office/drawing/2014/main" id="{A8FC7478-83B4-47DC-8827-4BA0E2800FBE}"/>
              </a:ext>
            </a:extLst>
          </p:cNvPr>
          <p:cNvSpPr>
            <a:spLocks noGrp="1"/>
          </p:cNvSpPr>
          <p:nvPr>
            <p:ph type="sldNum" sz="quarter" idx="12"/>
          </p:nvPr>
        </p:nvSpPr>
        <p:spPr/>
        <p:txBody>
          <a:bodyPr/>
          <a:lstStyle/>
          <a:p>
            <a:fld id="{6B97D948-30E8-43F7-AE10-F6E2D9F2BBB1}" type="slidenum">
              <a:rPr lang="en-US" smtClean="0"/>
              <a:t>778</a:t>
            </a:fld>
            <a:endParaRPr lang="en-US"/>
          </a:p>
        </p:txBody>
      </p:sp>
    </p:spTree>
    <p:extLst>
      <p:ext uri="{BB962C8B-B14F-4D97-AF65-F5344CB8AC3E}">
        <p14:creationId xmlns:p14="http://schemas.microsoft.com/office/powerpoint/2010/main" val="3770452090"/>
      </p:ext>
    </p:extLst>
  </p:cSld>
  <p:clrMapOvr>
    <a:masterClrMapping/>
  </p:clrMapOvr>
</p:sld>
</file>

<file path=ppt/slides/slide7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95B701F-B751-400E-9E64-82F566CEC6C9}"/>
              </a:ext>
            </a:extLst>
          </p:cNvPr>
          <p:cNvSpPr>
            <a:spLocks noGrp="1"/>
          </p:cNvSpPr>
          <p:nvPr>
            <p:ph type="title"/>
          </p:nvPr>
        </p:nvSpPr>
        <p:spPr>
          <a:xfrm>
            <a:off x="838200" y="365125"/>
            <a:ext cx="10515600" cy="716915"/>
          </a:xfrm>
        </p:spPr>
        <p:txBody>
          <a:bodyPr/>
          <a:lstStyle/>
          <a:p>
            <a:r>
              <a:rPr lang="en-US" dirty="0"/>
              <a:t>Model Criteria</a:t>
            </a:r>
          </a:p>
        </p:txBody>
      </p:sp>
      <p:pic>
        <p:nvPicPr>
          <p:cNvPr id="5" name="Content Placeholder 4">
            <a:extLst>
              <a:ext uri="{FF2B5EF4-FFF2-40B4-BE49-F238E27FC236}">
                <a16:creationId xmlns:a16="http://schemas.microsoft.com/office/drawing/2014/main" id="{63938FE8-CF04-437F-A803-67A7ED4A5C22}"/>
              </a:ext>
            </a:extLst>
          </p:cNvPr>
          <p:cNvPicPr>
            <a:picLocks noGrp="1" noChangeAspect="1"/>
          </p:cNvPicPr>
          <p:nvPr>
            <p:ph idx="1"/>
          </p:nvPr>
        </p:nvPicPr>
        <p:blipFill>
          <a:blip r:embed="rId2"/>
          <a:stretch>
            <a:fillRect/>
          </a:stretch>
        </p:blipFill>
        <p:spPr>
          <a:xfrm>
            <a:off x="1341120" y="1321157"/>
            <a:ext cx="8900160" cy="5016668"/>
          </a:xfrm>
          <a:prstGeom prst="rect">
            <a:avLst/>
          </a:prstGeom>
        </p:spPr>
      </p:pic>
      <p:sp>
        <p:nvSpPr>
          <p:cNvPr id="8" name="Slide Number Placeholder 7">
            <a:extLst>
              <a:ext uri="{FF2B5EF4-FFF2-40B4-BE49-F238E27FC236}">
                <a16:creationId xmlns:a16="http://schemas.microsoft.com/office/drawing/2014/main" id="{88ACF455-38DC-493D-85F7-D4F19CBAFE30}"/>
              </a:ext>
            </a:extLst>
          </p:cNvPr>
          <p:cNvSpPr>
            <a:spLocks noGrp="1"/>
          </p:cNvSpPr>
          <p:nvPr>
            <p:ph type="sldNum" sz="quarter" idx="12"/>
          </p:nvPr>
        </p:nvSpPr>
        <p:spPr/>
        <p:txBody>
          <a:bodyPr/>
          <a:lstStyle/>
          <a:p>
            <a:fld id="{6B97D948-30E8-43F7-AE10-F6E2D9F2BBB1}" type="slidenum">
              <a:rPr lang="en-US" smtClean="0"/>
              <a:t>779</a:t>
            </a:fld>
            <a:endParaRPr lang="en-US"/>
          </a:p>
        </p:txBody>
      </p:sp>
    </p:spTree>
    <p:extLst>
      <p:ext uri="{BB962C8B-B14F-4D97-AF65-F5344CB8AC3E}">
        <p14:creationId xmlns:p14="http://schemas.microsoft.com/office/powerpoint/2010/main" val="2485622825"/>
      </p:ext>
    </p:extLst>
  </p:cSld>
  <p:clrMapOvr>
    <a:masterClrMapping/>
  </p:clrMapOvr>
</p:sld>
</file>

<file path=ppt/slides/slide7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17974D-63C5-4887-8C51-2C93B2031124}"/>
              </a:ext>
            </a:extLst>
          </p:cNvPr>
          <p:cNvSpPr>
            <a:spLocks noGrp="1"/>
          </p:cNvSpPr>
          <p:nvPr>
            <p:ph idx="1"/>
          </p:nvPr>
        </p:nvSpPr>
        <p:spPr>
          <a:xfrm>
            <a:off x="656948" y="476673"/>
            <a:ext cx="11132598" cy="5649491"/>
          </a:xfrm>
        </p:spPr>
        <p:txBody>
          <a:bodyPr>
            <a:normAutofit lnSpcReduction="10000"/>
          </a:bodyPr>
          <a:lstStyle/>
          <a:p>
            <a:pPr algn="just"/>
            <a:r>
              <a:rPr lang="en-US" dirty="0"/>
              <a:t>Note that logistic regression returns </a:t>
            </a:r>
            <a:r>
              <a:rPr lang="en-US" dirty="0">
                <a:solidFill>
                  <a:srgbClr val="FF0000"/>
                </a:solidFill>
              </a:rPr>
              <a:t>predicted probabilities</a:t>
            </a:r>
            <a:r>
              <a:rPr lang="en-US" dirty="0"/>
              <a:t>, </a:t>
            </a:r>
            <a:r>
              <a:rPr lang="en-US" dirty="0">
                <a:solidFill>
                  <a:srgbClr val="00B0F0"/>
                </a:solidFill>
              </a:rPr>
              <a:t>not classifications</a:t>
            </a:r>
            <a:r>
              <a:rPr lang="en-US" dirty="0"/>
              <a:t>. </a:t>
            </a:r>
          </a:p>
          <a:p>
            <a:pPr algn="just"/>
            <a:endParaRPr lang="en-US" dirty="0"/>
          </a:p>
          <a:p>
            <a:pPr algn="just"/>
            <a:r>
              <a:rPr lang="en-US" dirty="0"/>
              <a:t>In order to make a classification we have to </a:t>
            </a:r>
            <a:r>
              <a:rPr lang="en-US" dirty="0">
                <a:solidFill>
                  <a:srgbClr val="FF0000"/>
                </a:solidFill>
              </a:rPr>
              <a:t>set a threshold</a:t>
            </a:r>
            <a:r>
              <a:rPr lang="en-US" dirty="0"/>
              <a:t>. </a:t>
            </a:r>
          </a:p>
          <a:p>
            <a:pPr algn="just"/>
            <a:endParaRPr lang="en-US" dirty="0"/>
          </a:p>
          <a:p>
            <a:pPr algn="just"/>
            <a:r>
              <a:rPr lang="en-US" dirty="0"/>
              <a:t>The most common threshold is 0.5. If a prediction is 0.5 or below, the classification is a 0. If it’s higher than 0.5, the classification is a 1. </a:t>
            </a:r>
          </a:p>
          <a:p>
            <a:pPr algn="just"/>
            <a:endParaRPr lang="en-US" dirty="0"/>
          </a:p>
          <a:p>
            <a:pPr algn="just"/>
            <a:r>
              <a:rPr lang="en-US" dirty="0"/>
              <a:t>Of course. . . </a:t>
            </a:r>
          </a:p>
          <a:p>
            <a:pPr algn="just"/>
            <a:endParaRPr lang="en-US" dirty="0"/>
          </a:p>
          <a:p>
            <a:pPr algn="just"/>
            <a:r>
              <a:rPr lang="en-US" dirty="0"/>
              <a:t>Clearly a confusion matrix is not a perfect measure of model accuracy, especially when dealing with probabilities close to 0.5.</a:t>
            </a:r>
          </a:p>
        </p:txBody>
      </p:sp>
      <p:sp>
        <p:nvSpPr>
          <p:cNvPr id="4" name="Slide Number Placeholder 3">
            <a:extLst>
              <a:ext uri="{FF2B5EF4-FFF2-40B4-BE49-F238E27FC236}">
                <a16:creationId xmlns:a16="http://schemas.microsoft.com/office/drawing/2014/main" id="{57D8388F-7CD1-49F6-8C60-FD7FB5E1B9DC}"/>
              </a:ext>
            </a:extLst>
          </p:cNvPr>
          <p:cNvSpPr>
            <a:spLocks noGrp="1"/>
          </p:cNvSpPr>
          <p:nvPr>
            <p:ph type="sldNum" sz="quarter" idx="12"/>
          </p:nvPr>
        </p:nvSpPr>
        <p:spPr/>
        <p:txBody>
          <a:bodyPr/>
          <a:lstStyle/>
          <a:p>
            <a:fld id="{6B97D948-30E8-43F7-AE10-F6E2D9F2BBB1}" type="slidenum">
              <a:rPr lang="en-US" smtClean="0"/>
              <a:t>780</a:t>
            </a:fld>
            <a:endParaRPr lang="en-US"/>
          </a:p>
        </p:txBody>
      </p:sp>
    </p:spTree>
    <p:extLst>
      <p:ext uri="{BB962C8B-B14F-4D97-AF65-F5344CB8AC3E}">
        <p14:creationId xmlns:p14="http://schemas.microsoft.com/office/powerpoint/2010/main" val="4258172222"/>
      </p:ext>
    </p:extLst>
  </p:cSld>
  <p:clrMapOvr>
    <a:masterClrMapping/>
  </p:clrMapOvr>
</p:sld>
</file>

<file path=ppt/slides/slide7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0453A6-57B4-4F4B-B7D9-518586B26B4E}"/>
              </a:ext>
            </a:extLst>
          </p:cNvPr>
          <p:cNvSpPr>
            <a:spLocks noGrp="1"/>
          </p:cNvSpPr>
          <p:nvPr>
            <p:ph idx="1"/>
          </p:nvPr>
        </p:nvSpPr>
        <p:spPr>
          <a:xfrm>
            <a:off x="630315" y="404665"/>
            <a:ext cx="10928411" cy="5721499"/>
          </a:xfrm>
        </p:spPr>
        <p:txBody>
          <a:bodyPr>
            <a:normAutofit/>
          </a:bodyPr>
          <a:lstStyle/>
          <a:p>
            <a:pPr algn="just"/>
            <a:r>
              <a:rPr lang="en-US" dirty="0"/>
              <a:t>If the model performed perfectly, there would be </a:t>
            </a:r>
            <a:r>
              <a:rPr lang="en-US" dirty="0">
                <a:solidFill>
                  <a:srgbClr val="00B0F0"/>
                </a:solidFill>
              </a:rPr>
              <a:t>no off-diagonal elements in the confusion matrix </a:t>
            </a:r>
            <a:r>
              <a:rPr lang="en-US" dirty="0"/>
              <a:t>— it would only contain true negatives and true positives. </a:t>
            </a:r>
          </a:p>
          <a:p>
            <a:pPr algn="just"/>
            <a:endParaRPr lang="en-US" dirty="0"/>
          </a:p>
          <a:p>
            <a:pPr algn="just"/>
            <a:r>
              <a:rPr lang="en-US" dirty="0"/>
              <a:t>The model is likely imperfect, so there will be off-diagonal elements in the confusion matrix. </a:t>
            </a:r>
          </a:p>
          <a:p>
            <a:pPr algn="just"/>
            <a:endParaRPr lang="en-US" dirty="0"/>
          </a:p>
          <a:p>
            <a:pPr algn="just"/>
            <a:r>
              <a:rPr lang="en-US" dirty="0"/>
              <a:t>Having the majority of counts (larger numbers) in the true negative and true positive (diagonal) elements is a good indication that the model is working well.</a:t>
            </a:r>
          </a:p>
        </p:txBody>
      </p:sp>
      <p:sp>
        <p:nvSpPr>
          <p:cNvPr id="4" name="Slide Number Placeholder 3">
            <a:extLst>
              <a:ext uri="{FF2B5EF4-FFF2-40B4-BE49-F238E27FC236}">
                <a16:creationId xmlns:a16="http://schemas.microsoft.com/office/drawing/2014/main" id="{C6CA0FA9-27D7-470C-AB2A-F876FE4293A5}"/>
              </a:ext>
            </a:extLst>
          </p:cNvPr>
          <p:cNvSpPr>
            <a:spLocks noGrp="1"/>
          </p:cNvSpPr>
          <p:nvPr>
            <p:ph type="sldNum" sz="quarter" idx="12"/>
          </p:nvPr>
        </p:nvSpPr>
        <p:spPr/>
        <p:txBody>
          <a:bodyPr/>
          <a:lstStyle/>
          <a:p>
            <a:fld id="{6B97D948-30E8-43F7-AE10-F6E2D9F2BBB1}" type="slidenum">
              <a:rPr lang="en-US" smtClean="0"/>
              <a:t>781</a:t>
            </a:fld>
            <a:endParaRPr lang="en-US"/>
          </a:p>
        </p:txBody>
      </p:sp>
    </p:spTree>
    <p:extLst>
      <p:ext uri="{BB962C8B-B14F-4D97-AF65-F5344CB8AC3E}">
        <p14:creationId xmlns:p14="http://schemas.microsoft.com/office/powerpoint/2010/main" val="1189621309"/>
      </p:ext>
    </p:extLst>
  </p:cSld>
  <p:clrMapOvr>
    <a:masterClrMapping/>
  </p:clrMapOvr>
</p:sld>
</file>

<file path=ppt/slides/slide7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97580-E7FC-4896-B80C-32C2A8D75EC2}"/>
              </a:ext>
            </a:extLst>
          </p:cNvPr>
          <p:cNvSpPr>
            <a:spLocks noGrp="1"/>
          </p:cNvSpPr>
          <p:nvPr>
            <p:ph type="title"/>
          </p:nvPr>
        </p:nvSpPr>
        <p:spPr>
          <a:xfrm>
            <a:off x="1981200" y="274638"/>
            <a:ext cx="8229600" cy="634082"/>
          </a:xfrm>
        </p:spPr>
        <p:txBody>
          <a:bodyPr>
            <a:normAutofit fontScale="90000"/>
          </a:bodyPr>
          <a:lstStyle/>
          <a:p>
            <a:r>
              <a:rPr lang="en-US" dirty="0"/>
              <a:t>Accuracy Score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0F7EF7-EF03-42C7-AFCE-E6586ED7BC43}"/>
                  </a:ext>
                </a:extLst>
              </p:cNvPr>
              <p:cNvSpPr>
                <a:spLocks noGrp="1"/>
              </p:cNvSpPr>
              <p:nvPr>
                <p:ph idx="1"/>
              </p:nvPr>
            </p:nvSpPr>
            <p:spPr>
              <a:xfrm>
                <a:off x="772357" y="1052737"/>
                <a:ext cx="10839635" cy="5073427"/>
              </a:xfrm>
            </p:spPr>
            <p:txBody>
              <a:bodyPr>
                <a:normAutofit/>
              </a:bodyPr>
              <a:lstStyle/>
              <a:p>
                <a:pPr algn="just"/>
                <a:r>
                  <a:rPr lang="en-US" dirty="0"/>
                  <a:t>The accuracy score is a metric given as the fraction of </a:t>
                </a:r>
                <a:r>
                  <a:rPr lang="en-US" dirty="0">
                    <a:solidFill>
                      <a:srgbClr val="FF0000"/>
                    </a:solidFill>
                  </a:rPr>
                  <a:t>correct predictions </a:t>
                </a:r>
                <a:r>
                  <a:rPr lang="en-US" dirty="0"/>
                  <a:t>generated by the given model. </a:t>
                </a:r>
              </a:p>
              <a:p>
                <a:pPr algn="just"/>
                <a:endParaRPr lang="en-US" dirty="0"/>
              </a:p>
              <a:p>
                <a:pPr algn="just"/>
                <a:r>
                  <a:rPr lang="en-US" dirty="0"/>
                  <a:t>To calculate the accuracy score of our logistic regression models, we will use the </a:t>
                </a:r>
                <a:r>
                  <a:rPr lang="en-US" dirty="0" err="1">
                    <a:solidFill>
                      <a:srgbClr val="FF0000"/>
                    </a:solidFill>
                  </a:rPr>
                  <a:t>sklearn.metrics.accuracy_score</a:t>
                </a:r>
                <a:r>
                  <a:rPr lang="en-US" dirty="0"/>
                  <a:t> function. </a:t>
                </a:r>
              </a:p>
              <a:p>
                <a:pPr algn="just"/>
                <a:endParaRPr lang="en-US" dirty="0"/>
              </a:p>
              <a:p>
                <a:pPr algn="just"/>
                <a:r>
                  <a:rPr lang="en-US" dirty="0"/>
                  <a:t>It computes the accuracy score as follows:</a:t>
                </a:r>
              </a:p>
              <a:p>
                <a:pPr algn="just"/>
                <a14:m>
                  <m:oMath xmlns:m="http://schemas.openxmlformats.org/officeDocument/2006/math">
                    <m:r>
                      <a:rPr lang="en-US" b="0" i="1" smtClean="0">
                        <a:latin typeface="Cambria Math" panose="02040503050406030204" pitchFamily="18" charset="0"/>
                      </a:rPr>
                      <m:t>𝑎𝑐𝑐𝑢𝑟𝑎𝑐𝑦</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𝑠𝑎𝑚𝑝𝑙𝑒𝑠</m:t>
                            </m:r>
                          </m:sub>
                        </m:sSub>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𝑠𝑎𝑚𝑝𝑙𝑒𝑠</m:t>
                            </m:r>
                          </m:sub>
                        </m:sSub>
                        <m:r>
                          <a:rPr lang="en-US" b="0" i="1" smtClean="0">
                            <a:latin typeface="Cambria Math" panose="02040503050406030204" pitchFamily="18" charset="0"/>
                          </a:rPr>
                          <m:t>−1</m:t>
                        </m:r>
                      </m:sup>
                      <m:e>
                        <m:r>
                          <a:rPr lang="en-US" b="0" i="1" smtClean="0">
                            <a:latin typeface="Cambria Math" panose="02040503050406030204" pitchFamily="18" charset="0"/>
                            <a:ea typeface="Cambria Math" panose="02040503050406030204" pitchFamily="18" charset="0"/>
                          </a:rPr>
                          <m:t>𝕀</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nary>
                  </m:oMath>
                </a14:m>
                <a:r>
                  <a:rPr lang="en-US" dirty="0"/>
                  <a:t> or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𝑇𝑃</m:t>
                        </m:r>
                        <m:r>
                          <a:rPr lang="en-US" b="0" i="1" smtClean="0">
                            <a:latin typeface="Cambria Math" panose="02040503050406030204" pitchFamily="18" charset="0"/>
                          </a:rPr>
                          <m:t>+</m:t>
                        </m:r>
                        <m:r>
                          <a:rPr lang="en-US" b="0" i="1" smtClean="0">
                            <a:latin typeface="Cambria Math" panose="02040503050406030204" pitchFamily="18" charset="0"/>
                          </a:rPr>
                          <m:t>𝑇𝑁</m:t>
                        </m:r>
                      </m:num>
                      <m:den>
                        <m:r>
                          <a:rPr lang="en-US" b="0" i="1" smtClean="0">
                            <a:latin typeface="Cambria Math" panose="02040503050406030204" pitchFamily="18" charset="0"/>
                          </a:rPr>
                          <m:t>𝑇𝑃</m:t>
                        </m:r>
                        <m:r>
                          <a:rPr lang="en-US" b="0" i="1" smtClean="0">
                            <a:latin typeface="Cambria Math" panose="02040503050406030204" pitchFamily="18" charset="0"/>
                          </a:rPr>
                          <m:t>+</m:t>
                        </m:r>
                        <m:r>
                          <a:rPr lang="en-US" b="0" i="1" smtClean="0">
                            <a:latin typeface="Cambria Math" panose="02040503050406030204" pitchFamily="18" charset="0"/>
                          </a:rPr>
                          <m:t>𝑇𝑁</m:t>
                        </m:r>
                        <m:r>
                          <a:rPr lang="en-US" b="0" i="1" smtClean="0">
                            <a:latin typeface="Cambria Math" panose="02040503050406030204" pitchFamily="18" charset="0"/>
                          </a:rPr>
                          <m:t>+</m:t>
                        </m:r>
                        <m:r>
                          <a:rPr lang="en-US" b="0" i="1" smtClean="0">
                            <a:latin typeface="Cambria Math" panose="02040503050406030204" pitchFamily="18" charset="0"/>
                          </a:rPr>
                          <m:t>𝐹𝑃</m:t>
                        </m:r>
                        <m:r>
                          <a:rPr lang="en-US" b="0" i="1" smtClean="0">
                            <a:latin typeface="Cambria Math" panose="02040503050406030204" pitchFamily="18" charset="0"/>
                          </a:rPr>
                          <m:t>+</m:t>
                        </m:r>
                        <m:r>
                          <a:rPr lang="en-US" b="0" i="1" smtClean="0">
                            <a:latin typeface="Cambria Math" panose="02040503050406030204" pitchFamily="18" charset="0"/>
                          </a:rPr>
                          <m:t>𝐹𝑁</m:t>
                        </m:r>
                      </m:den>
                    </m:f>
                  </m:oMath>
                </a14:m>
                <a:endParaRPr lang="en-US" dirty="0"/>
              </a:p>
              <a:p>
                <a:pPr algn="just"/>
                <a:r>
                  <a:rPr lang="en-US" dirty="0"/>
                  <a:t>where 1(…) is the indicator function.</a:t>
                </a:r>
              </a:p>
            </p:txBody>
          </p:sp>
        </mc:Choice>
        <mc:Fallback xmlns="">
          <p:sp>
            <p:nvSpPr>
              <p:cNvPr id="3" name="Content Placeholder 2">
                <a:extLst>
                  <a:ext uri="{FF2B5EF4-FFF2-40B4-BE49-F238E27FC236}">
                    <a16:creationId xmlns:a16="http://schemas.microsoft.com/office/drawing/2014/main" id="{200F7EF7-EF03-42C7-AFCE-E6586ED7BC43}"/>
                  </a:ext>
                </a:extLst>
              </p:cNvPr>
              <p:cNvSpPr>
                <a:spLocks noGrp="1" noRot="1" noChangeAspect="1" noMove="1" noResize="1" noEditPoints="1" noAdjustHandles="1" noChangeArrowheads="1" noChangeShapeType="1" noTextEdit="1"/>
              </p:cNvSpPr>
              <p:nvPr>
                <p:ph idx="1"/>
              </p:nvPr>
            </p:nvSpPr>
            <p:spPr>
              <a:xfrm>
                <a:off x="772357" y="1052737"/>
                <a:ext cx="10839635" cy="5073427"/>
              </a:xfrm>
              <a:blipFill>
                <a:blip r:embed="rId2"/>
                <a:stretch>
                  <a:fillRect l="-1012" t="-2043" r="-112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2B89D656-4C4A-4160-A979-E9D6CF140832}"/>
              </a:ext>
            </a:extLst>
          </p:cNvPr>
          <p:cNvSpPr>
            <a:spLocks noGrp="1"/>
          </p:cNvSpPr>
          <p:nvPr>
            <p:ph type="sldNum" sz="quarter" idx="12"/>
          </p:nvPr>
        </p:nvSpPr>
        <p:spPr/>
        <p:txBody>
          <a:bodyPr/>
          <a:lstStyle/>
          <a:p>
            <a:fld id="{6B97D948-30E8-43F7-AE10-F6E2D9F2BBB1}" type="slidenum">
              <a:rPr lang="en-US" smtClean="0"/>
              <a:t>782</a:t>
            </a:fld>
            <a:endParaRPr lang="en-US"/>
          </a:p>
        </p:txBody>
      </p:sp>
    </p:spTree>
    <p:extLst>
      <p:ext uri="{BB962C8B-B14F-4D97-AF65-F5344CB8AC3E}">
        <p14:creationId xmlns:p14="http://schemas.microsoft.com/office/powerpoint/2010/main" val="1328906623"/>
      </p:ext>
    </p:extLst>
  </p:cSld>
  <p:clrMapOvr>
    <a:masterClrMapping/>
  </p:clrMapOvr>
</p:sld>
</file>

<file path=ppt/slides/slide7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F55EE9-F49E-4F47-9D8C-CC9E83EA344A}"/>
              </a:ext>
            </a:extLst>
          </p:cNvPr>
          <p:cNvSpPr>
            <a:spLocks noGrp="1"/>
          </p:cNvSpPr>
          <p:nvPr>
            <p:ph idx="1"/>
          </p:nvPr>
        </p:nvSpPr>
        <p:spPr>
          <a:xfrm>
            <a:off x="621437" y="548681"/>
            <a:ext cx="10955045" cy="5577483"/>
          </a:xfrm>
        </p:spPr>
        <p:txBody>
          <a:bodyPr/>
          <a:lstStyle/>
          <a:p>
            <a:pPr algn="just"/>
            <a:r>
              <a:rPr lang="en-US" dirty="0"/>
              <a:t>If the model performed perfectly and was able to correctly classify every sample in the test dataset, the accuracy score would return a 1.0 (100%). </a:t>
            </a:r>
          </a:p>
          <a:p>
            <a:pPr algn="just"/>
            <a:endParaRPr lang="en-US" dirty="0"/>
          </a:p>
          <a:p>
            <a:pPr algn="just"/>
            <a:r>
              <a:rPr lang="en-US" dirty="0"/>
              <a:t>So the closer to 1.0 or 100% the better the model performance.</a:t>
            </a:r>
          </a:p>
          <a:p>
            <a:pPr algn="just"/>
            <a:endParaRPr lang="en-US" dirty="0"/>
          </a:p>
          <a:p>
            <a:pPr algn="just"/>
            <a:r>
              <a:rPr lang="en-US" dirty="0"/>
              <a:t>Now we are ready to build our logistic regression models.</a:t>
            </a:r>
          </a:p>
        </p:txBody>
      </p:sp>
      <p:sp>
        <p:nvSpPr>
          <p:cNvPr id="4" name="Slide Number Placeholder 3">
            <a:extLst>
              <a:ext uri="{FF2B5EF4-FFF2-40B4-BE49-F238E27FC236}">
                <a16:creationId xmlns:a16="http://schemas.microsoft.com/office/drawing/2014/main" id="{1AAC7E36-4DEF-443E-905A-8BEB11A77545}"/>
              </a:ext>
            </a:extLst>
          </p:cNvPr>
          <p:cNvSpPr>
            <a:spLocks noGrp="1"/>
          </p:cNvSpPr>
          <p:nvPr>
            <p:ph type="sldNum" sz="quarter" idx="12"/>
          </p:nvPr>
        </p:nvSpPr>
        <p:spPr/>
        <p:txBody>
          <a:bodyPr/>
          <a:lstStyle/>
          <a:p>
            <a:fld id="{6B97D948-30E8-43F7-AE10-F6E2D9F2BBB1}" type="slidenum">
              <a:rPr lang="en-US" smtClean="0"/>
              <a:t>783</a:t>
            </a:fld>
            <a:endParaRPr lang="en-US"/>
          </a:p>
        </p:txBody>
      </p:sp>
    </p:spTree>
    <p:extLst>
      <p:ext uri="{BB962C8B-B14F-4D97-AF65-F5344CB8AC3E}">
        <p14:creationId xmlns:p14="http://schemas.microsoft.com/office/powerpoint/2010/main" val="4139917476"/>
      </p:ext>
    </p:extLst>
  </p:cSld>
  <p:clrMapOvr>
    <a:masterClrMapping/>
  </p:clrMapOvr>
</p:sld>
</file>

<file path=ppt/slides/slide7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4543EF-92DB-4066-BAF9-7B4B5ABEC894}"/>
              </a:ext>
            </a:extLst>
          </p:cNvPr>
          <p:cNvSpPr>
            <a:spLocks noGrp="1"/>
          </p:cNvSpPr>
          <p:nvPr>
            <p:ph idx="1"/>
          </p:nvPr>
        </p:nvSpPr>
        <p:spPr>
          <a:xfrm>
            <a:off x="692458" y="404665"/>
            <a:ext cx="10706470" cy="5721499"/>
          </a:xfrm>
        </p:spPr>
        <p:txBody>
          <a:bodyPr>
            <a:normAutofit/>
          </a:bodyPr>
          <a:lstStyle/>
          <a:p>
            <a:r>
              <a:rPr lang="en-US" dirty="0">
                <a:solidFill>
                  <a:srgbClr val="FF0000"/>
                </a:solidFill>
              </a:rPr>
              <a:t>import </a:t>
            </a:r>
            <a:r>
              <a:rPr lang="en-US" dirty="0" err="1">
                <a:solidFill>
                  <a:srgbClr val="FF0000"/>
                </a:solidFill>
              </a:rPr>
              <a:t>statsmodels.formula.api</a:t>
            </a:r>
            <a:r>
              <a:rPr lang="en-US" dirty="0">
                <a:solidFill>
                  <a:srgbClr val="FF0000"/>
                </a:solidFill>
              </a:rPr>
              <a:t> as </a:t>
            </a:r>
            <a:r>
              <a:rPr lang="en-US" dirty="0" err="1">
                <a:solidFill>
                  <a:srgbClr val="FF0000"/>
                </a:solidFill>
              </a:rPr>
              <a:t>smf</a:t>
            </a:r>
            <a:endParaRPr lang="en-US" dirty="0">
              <a:solidFill>
                <a:srgbClr val="FF0000"/>
              </a:solidFill>
            </a:endParaRPr>
          </a:p>
          <a:p>
            <a:r>
              <a:rPr lang="en-US" dirty="0" err="1">
                <a:solidFill>
                  <a:srgbClr val="FF0000"/>
                </a:solidFill>
              </a:rPr>
              <a:t>all_columns</a:t>
            </a:r>
            <a:r>
              <a:rPr lang="en-US" dirty="0">
                <a:solidFill>
                  <a:srgbClr val="FF0000"/>
                </a:solidFill>
              </a:rPr>
              <a:t> = ' + '.join(</a:t>
            </a:r>
            <a:r>
              <a:rPr lang="en-US" dirty="0" err="1">
                <a:solidFill>
                  <a:srgbClr val="FF0000"/>
                </a:solidFill>
              </a:rPr>
              <a:t>cancer.columns</a:t>
            </a:r>
            <a:r>
              <a:rPr lang="en-US" dirty="0">
                <a:solidFill>
                  <a:srgbClr val="FF0000"/>
                </a:solidFill>
              </a:rPr>
              <a:t>[:10])</a:t>
            </a:r>
          </a:p>
          <a:p>
            <a:r>
              <a:rPr lang="en-US" dirty="0">
                <a:solidFill>
                  <a:srgbClr val="FF0000"/>
                </a:solidFill>
              </a:rPr>
              <a:t>formula = "Target ~ " + </a:t>
            </a:r>
            <a:r>
              <a:rPr lang="en-US" dirty="0" err="1">
                <a:solidFill>
                  <a:srgbClr val="FF0000"/>
                </a:solidFill>
              </a:rPr>
              <a:t>all_columns</a:t>
            </a:r>
            <a:r>
              <a:rPr lang="en-US" dirty="0">
                <a:solidFill>
                  <a:srgbClr val="FF0000"/>
                </a:solidFill>
              </a:rPr>
              <a:t> </a:t>
            </a:r>
          </a:p>
          <a:p>
            <a:r>
              <a:rPr lang="en-US" dirty="0">
                <a:solidFill>
                  <a:srgbClr val="FF0000"/>
                </a:solidFill>
              </a:rPr>
              <a:t>print("Formula: ", formula, "\n")</a:t>
            </a:r>
          </a:p>
          <a:p>
            <a:pPr algn="just"/>
            <a:r>
              <a:rPr lang="en-US" dirty="0"/>
              <a:t>Formula:  Target ~ </a:t>
            </a:r>
            <a:r>
              <a:rPr lang="en-US" dirty="0" err="1"/>
              <a:t>mean_radius</a:t>
            </a:r>
            <a:r>
              <a:rPr lang="en-US" dirty="0"/>
              <a:t> + </a:t>
            </a:r>
            <a:r>
              <a:rPr lang="en-US" dirty="0" err="1"/>
              <a:t>mean_texture</a:t>
            </a:r>
            <a:r>
              <a:rPr lang="en-US" dirty="0"/>
              <a:t> + </a:t>
            </a:r>
            <a:r>
              <a:rPr lang="en-US" dirty="0" err="1"/>
              <a:t>mean_perimeter</a:t>
            </a:r>
            <a:r>
              <a:rPr lang="en-US" dirty="0"/>
              <a:t> + </a:t>
            </a:r>
            <a:r>
              <a:rPr lang="en-US" dirty="0" err="1"/>
              <a:t>mean_area</a:t>
            </a:r>
            <a:r>
              <a:rPr lang="en-US" dirty="0"/>
              <a:t> + </a:t>
            </a:r>
            <a:r>
              <a:rPr lang="en-US" dirty="0" err="1"/>
              <a:t>mean_smoothness</a:t>
            </a:r>
            <a:r>
              <a:rPr lang="en-US" dirty="0"/>
              <a:t> + </a:t>
            </a:r>
            <a:r>
              <a:rPr lang="en-US" dirty="0" err="1"/>
              <a:t>mean_compactness</a:t>
            </a:r>
            <a:r>
              <a:rPr lang="en-US" dirty="0"/>
              <a:t> + </a:t>
            </a:r>
            <a:r>
              <a:rPr lang="en-US" dirty="0" err="1"/>
              <a:t>mean_concavity</a:t>
            </a:r>
            <a:r>
              <a:rPr lang="en-US" dirty="0"/>
              <a:t> + </a:t>
            </a:r>
            <a:r>
              <a:rPr lang="en-US" dirty="0" err="1"/>
              <a:t>mean_concave_points</a:t>
            </a:r>
            <a:r>
              <a:rPr lang="en-US" dirty="0"/>
              <a:t> + </a:t>
            </a:r>
            <a:r>
              <a:rPr lang="en-US" dirty="0" err="1"/>
              <a:t>mean_symmetry</a:t>
            </a:r>
            <a:r>
              <a:rPr lang="en-US" dirty="0"/>
              <a:t> + </a:t>
            </a:r>
            <a:r>
              <a:rPr lang="en-US" dirty="0" err="1"/>
              <a:t>mean_fractal_dimension</a:t>
            </a:r>
            <a:endParaRPr lang="en-US" dirty="0"/>
          </a:p>
        </p:txBody>
      </p:sp>
      <p:sp>
        <p:nvSpPr>
          <p:cNvPr id="4" name="Slide Number Placeholder 3">
            <a:extLst>
              <a:ext uri="{FF2B5EF4-FFF2-40B4-BE49-F238E27FC236}">
                <a16:creationId xmlns:a16="http://schemas.microsoft.com/office/drawing/2014/main" id="{F7901228-24E0-492A-9772-129CEBAC8167}"/>
              </a:ext>
            </a:extLst>
          </p:cNvPr>
          <p:cNvSpPr>
            <a:spLocks noGrp="1"/>
          </p:cNvSpPr>
          <p:nvPr>
            <p:ph type="sldNum" sz="quarter" idx="12"/>
          </p:nvPr>
        </p:nvSpPr>
        <p:spPr/>
        <p:txBody>
          <a:bodyPr/>
          <a:lstStyle/>
          <a:p>
            <a:fld id="{6B97D948-30E8-43F7-AE10-F6E2D9F2BBB1}" type="slidenum">
              <a:rPr lang="en-US" smtClean="0"/>
              <a:t>784</a:t>
            </a:fld>
            <a:endParaRPr lang="en-US"/>
          </a:p>
        </p:txBody>
      </p:sp>
    </p:spTree>
    <p:extLst>
      <p:ext uri="{BB962C8B-B14F-4D97-AF65-F5344CB8AC3E}">
        <p14:creationId xmlns:p14="http://schemas.microsoft.com/office/powerpoint/2010/main" val="2157495665"/>
      </p:ext>
    </p:extLst>
  </p:cSld>
  <p:clrMapOvr>
    <a:masterClrMapping/>
  </p:clrMapOvr>
</p:sld>
</file>

<file path=ppt/slides/slide7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1E36E9-1D6E-4224-BB0F-980EB4C7F980}"/>
              </a:ext>
            </a:extLst>
          </p:cNvPr>
          <p:cNvSpPr>
            <a:spLocks noGrp="1"/>
          </p:cNvSpPr>
          <p:nvPr>
            <p:ph idx="1"/>
          </p:nvPr>
        </p:nvSpPr>
        <p:spPr>
          <a:xfrm>
            <a:off x="923278" y="404665"/>
            <a:ext cx="10591060" cy="5721499"/>
          </a:xfrm>
        </p:spPr>
        <p:txBody>
          <a:bodyPr/>
          <a:lstStyle/>
          <a:p>
            <a:r>
              <a:rPr lang="en-US" dirty="0" err="1">
                <a:solidFill>
                  <a:srgbClr val="FF0000"/>
                </a:solidFill>
              </a:rPr>
              <a:t>trainingdata</a:t>
            </a:r>
            <a:r>
              <a:rPr lang="en-US" dirty="0">
                <a:solidFill>
                  <a:srgbClr val="FF0000"/>
                </a:solidFill>
              </a:rPr>
              <a:t> = </a:t>
            </a:r>
            <a:r>
              <a:rPr lang="en-US" dirty="0" err="1">
                <a:solidFill>
                  <a:srgbClr val="FF0000"/>
                </a:solidFill>
              </a:rPr>
              <a:t>pd.concat</a:t>
            </a:r>
            <a:r>
              <a:rPr lang="en-US" dirty="0">
                <a:solidFill>
                  <a:srgbClr val="FF0000"/>
                </a:solidFill>
              </a:rPr>
              <a:t>([</a:t>
            </a:r>
            <a:r>
              <a:rPr lang="en-US" dirty="0" err="1">
                <a:solidFill>
                  <a:srgbClr val="FF0000"/>
                </a:solidFill>
              </a:rPr>
              <a:t>x_train,y_train</a:t>
            </a:r>
            <a:r>
              <a:rPr lang="en-US" dirty="0">
                <a:solidFill>
                  <a:srgbClr val="FF0000"/>
                </a:solidFill>
              </a:rPr>
              <a:t>], axis = 1)</a:t>
            </a:r>
          </a:p>
          <a:p>
            <a:r>
              <a:rPr lang="en-US" dirty="0"/>
              <a:t># Build the model</a:t>
            </a:r>
          </a:p>
          <a:p>
            <a:pPr algn="just"/>
            <a:r>
              <a:rPr lang="en-US" dirty="0" err="1">
                <a:solidFill>
                  <a:srgbClr val="FF0000"/>
                </a:solidFill>
              </a:rPr>
              <a:t>log_reg</a:t>
            </a:r>
            <a:r>
              <a:rPr lang="en-US" dirty="0">
                <a:solidFill>
                  <a:srgbClr val="FF0000"/>
                </a:solidFill>
              </a:rPr>
              <a:t> = </a:t>
            </a:r>
            <a:r>
              <a:rPr lang="en-US" dirty="0" err="1">
                <a:solidFill>
                  <a:srgbClr val="FF0000"/>
                </a:solidFill>
              </a:rPr>
              <a:t>smf.logit</a:t>
            </a:r>
            <a:r>
              <a:rPr lang="en-US" dirty="0">
                <a:solidFill>
                  <a:srgbClr val="FF0000"/>
                </a:solidFill>
              </a:rPr>
              <a:t>(formula, data = </a:t>
            </a:r>
            <a:r>
              <a:rPr lang="en-US" dirty="0" err="1">
                <a:solidFill>
                  <a:srgbClr val="FF0000"/>
                </a:solidFill>
              </a:rPr>
              <a:t>trainingdata</a:t>
            </a:r>
            <a:r>
              <a:rPr lang="en-US" dirty="0">
                <a:solidFill>
                  <a:srgbClr val="FF0000"/>
                </a:solidFill>
              </a:rPr>
              <a:t>).fit()</a:t>
            </a:r>
          </a:p>
          <a:p>
            <a:pPr algn="just"/>
            <a:r>
              <a:rPr lang="en-US" dirty="0" err="1">
                <a:solidFill>
                  <a:srgbClr val="FF0000"/>
                </a:solidFill>
              </a:rPr>
              <a:t>log_reg.summary</a:t>
            </a:r>
            <a:r>
              <a:rPr lang="en-US" dirty="0">
                <a:solidFill>
                  <a:srgbClr val="FF0000"/>
                </a:solidFill>
              </a:rPr>
              <a:t>()</a:t>
            </a:r>
          </a:p>
        </p:txBody>
      </p:sp>
      <p:sp>
        <p:nvSpPr>
          <p:cNvPr id="4" name="Slide Number Placeholder 3">
            <a:extLst>
              <a:ext uri="{FF2B5EF4-FFF2-40B4-BE49-F238E27FC236}">
                <a16:creationId xmlns:a16="http://schemas.microsoft.com/office/drawing/2014/main" id="{227ABFF7-B47A-432E-B441-57226D44E2FB}"/>
              </a:ext>
            </a:extLst>
          </p:cNvPr>
          <p:cNvSpPr>
            <a:spLocks noGrp="1"/>
          </p:cNvSpPr>
          <p:nvPr>
            <p:ph type="sldNum" sz="quarter" idx="12"/>
          </p:nvPr>
        </p:nvSpPr>
        <p:spPr/>
        <p:txBody>
          <a:bodyPr/>
          <a:lstStyle/>
          <a:p>
            <a:fld id="{6B97D948-30E8-43F7-AE10-F6E2D9F2BBB1}" type="slidenum">
              <a:rPr lang="en-US" smtClean="0"/>
              <a:t>785</a:t>
            </a:fld>
            <a:endParaRPr lang="en-US"/>
          </a:p>
        </p:txBody>
      </p:sp>
    </p:spTree>
    <p:extLst>
      <p:ext uri="{BB962C8B-B14F-4D97-AF65-F5344CB8AC3E}">
        <p14:creationId xmlns:p14="http://schemas.microsoft.com/office/powerpoint/2010/main" val="1688013006"/>
      </p:ext>
    </p:extLst>
  </p:cSld>
  <p:clrMapOvr>
    <a:masterClrMapping/>
  </p:clrMapOvr>
</p:sld>
</file>

<file path=ppt/slides/slide7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2CE47A-0188-4CE6-BD5C-11521E336FA1}"/>
              </a:ext>
            </a:extLst>
          </p:cNvPr>
          <p:cNvSpPr>
            <a:spLocks noGrp="1"/>
          </p:cNvSpPr>
          <p:nvPr>
            <p:ph idx="1"/>
          </p:nvPr>
        </p:nvSpPr>
        <p:spPr>
          <a:xfrm>
            <a:off x="683581" y="404665"/>
            <a:ext cx="10724225" cy="5721499"/>
          </a:xfrm>
        </p:spPr>
        <p:txBody>
          <a:bodyPr/>
          <a:lstStyle/>
          <a:p>
            <a:pPr algn="just"/>
            <a:r>
              <a:rPr lang="en-US" dirty="0"/>
              <a:t>Now we can test our model on the testing data using the predict() method. </a:t>
            </a:r>
          </a:p>
          <a:p>
            <a:pPr algn="just"/>
            <a:r>
              <a:rPr lang="en-US" dirty="0"/>
              <a:t>We can also determine the accuracy of the model by looking at the accuracy score and confusion matrix from the </a:t>
            </a:r>
            <a:r>
              <a:rPr lang="en-US" dirty="0" err="1"/>
              <a:t>sklearn.metric</a:t>
            </a:r>
            <a:r>
              <a:rPr lang="en-US" dirty="0"/>
              <a:t> package.</a:t>
            </a:r>
          </a:p>
          <a:p>
            <a:pPr algn="just"/>
            <a:r>
              <a:rPr lang="en-US" dirty="0">
                <a:solidFill>
                  <a:srgbClr val="FF0000"/>
                </a:solidFill>
              </a:rPr>
              <a:t>from </a:t>
            </a:r>
            <a:r>
              <a:rPr lang="en-US" dirty="0" err="1">
                <a:solidFill>
                  <a:srgbClr val="FF0000"/>
                </a:solidFill>
              </a:rPr>
              <a:t>sklearn.metrics</a:t>
            </a:r>
            <a:r>
              <a:rPr lang="en-US" dirty="0">
                <a:solidFill>
                  <a:srgbClr val="FF0000"/>
                </a:solidFill>
              </a:rPr>
              <a:t> import </a:t>
            </a:r>
            <a:r>
              <a:rPr lang="en-US" dirty="0" err="1">
                <a:solidFill>
                  <a:srgbClr val="FF0000"/>
                </a:solidFill>
              </a:rPr>
              <a:t>confusion_matrix</a:t>
            </a:r>
            <a:r>
              <a:rPr lang="en-US" dirty="0">
                <a:solidFill>
                  <a:srgbClr val="FF0000"/>
                </a:solidFill>
              </a:rPr>
              <a:t>, </a:t>
            </a:r>
            <a:r>
              <a:rPr lang="en-US" dirty="0" err="1">
                <a:solidFill>
                  <a:srgbClr val="FF0000"/>
                </a:solidFill>
              </a:rPr>
              <a:t>accuracy_score</a:t>
            </a:r>
            <a:endParaRPr lang="en-US" dirty="0">
              <a:solidFill>
                <a:srgbClr val="FF0000"/>
              </a:solidFill>
            </a:endParaRPr>
          </a:p>
        </p:txBody>
      </p:sp>
      <p:sp>
        <p:nvSpPr>
          <p:cNvPr id="4" name="Slide Number Placeholder 3">
            <a:extLst>
              <a:ext uri="{FF2B5EF4-FFF2-40B4-BE49-F238E27FC236}">
                <a16:creationId xmlns:a16="http://schemas.microsoft.com/office/drawing/2014/main" id="{74D795A0-048A-4C77-8397-2151BEB2D14C}"/>
              </a:ext>
            </a:extLst>
          </p:cNvPr>
          <p:cNvSpPr>
            <a:spLocks noGrp="1"/>
          </p:cNvSpPr>
          <p:nvPr>
            <p:ph type="sldNum" sz="quarter" idx="12"/>
          </p:nvPr>
        </p:nvSpPr>
        <p:spPr/>
        <p:txBody>
          <a:bodyPr/>
          <a:lstStyle/>
          <a:p>
            <a:fld id="{6B97D948-30E8-43F7-AE10-F6E2D9F2BBB1}" type="slidenum">
              <a:rPr lang="en-US" smtClean="0"/>
              <a:t>786</a:t>
            </a:fld>
            <a:endParaRPr lang="en-US"/>
          </a:p>
        </p:txBody>
      </p:sp>
    </p:spTree>
    <p:extLst>
      <p:ext uri="{BB962C8B-B14F-4D97-AF65-F5344CB8AC3E}">
        <p14:creationId xmlns:p14="http://schemas.microsoft.com/office/powerpoint/2010/main" val="2648713381"/>
      </p:ext>
    </p:extLst>
  </p:cSld>
  <p:clrMapOvr>
    <a:masterClrMapping/>
  </p:clrMapOvr>
</p:sld>
</file>

<file path=ppt/slides/slide7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4A9D75-C6C6-494D-9E6B-2CACA758D610}"/>
              </a:ext>
            </a:extLst>
          </p:cNvPr>
          <p:cNvSpPr>
            <a:spLocks noGrp="1"/>
          </p:cNvSpPr>
          <p:nvPr>
            <p:ph idx="1"/>
          </p:nvPr>
        </p:nvSpPr>
        <p:spPr>
          <a:xfrm>
            <a:off x="692457" y="548681"/>
            <a:ext cx="10679837" cy="5577483"/>
          </a:xfrm>
        </p:spPr>
        <p:txBody>
          <a:bodyPr>
            <a:normAutofit/>
          </a:bodyPr>
          <a:lstStyle/>
          <a:p>
            <a:r>
              <a:rPr lang="en-US" dirty="0"/>
              <a:t> # Predict responses </a:t>
            </a:r>
          </a:p>
          <a:p>
            <a:r>
              <a:rPr lang="en-US" dirty="0">
                <a:solidFill>
                  <a:srgbClr val="FF0000"/>
                </a:solidFill>
              </a:rPr>
              <a:t>prediction = </a:t>
            </a:r>
            <a:r>
              <a:rPr lang="en-US" dirty="0" err="1">
                <a:solidFill>
                  <a:srgbClr val="FF0000"/>
                </a:solidFill>
              </a:rPr>
              <a:t>log_reg.predict</a:t>
            </a:r>
            <a:r>
              <a:rPr lang="en-US" dirty="0">
                <a:solidFill>
                  <a:srgbClr val="FF0000"/>
                </a:solidFill>
              </a:rPr>
              <a:t>(</a:t>
            </a:r>
            <a:r>
              <a:rPr lang="en-US" dirty="0" err="1">
                <a:solidFill>
                  <a:srgbClr val="FF0000"/>
                </a:solidFill>
              </a:rPr>
              <a:t>x_test</a:t>
            </a:r>
            <a:r>
              <a:rPr lang="en-US" dirty="0">
                <a:solidFill>
                  <a:srgbClr val="FF0000"/>
                </a:solidFill>
              </a:rPr>
              <a:t>)</a:t>
            </a:r>
          </a:p>
          <a:p>
            <a:r>
              <a:rPr lang="en-US" dirty="0"/>
              <a:t> #round() rounds to nearest integer;</a:t>
            </a:r>
          </a:p>
          <a:p>
            <a:r>
              <a:rPr lang="en-US" dirty="0"/>
              <a:t> # 0.5 rounds to 0; 0.501 rounds to 1</a:t>
            </a:r>
          </a:p>
          <a:p>
            <a:r>
              <a:rPr lang="en-US" dirty="0"/>
              <a:t> </a:t>
            </a:r>
            <a:r>
              <a:rPr lang="en-US" dirty="0">
                <a:solidFill>
                  <a:srgbClr val="FF0000"/>
                </a:solidFill>
              </a:rPr>
              <a:t>prediction = list(map(round, prediction))</a:t>
            </a:r>
          </a:p>
          <a:p>
            <a:r>
              <a:rPr lang="en-US" dirty="0"/>
              <a:t> # Accuracy score</a:t>
            </a:r>
          </a:p>
          <a:p>
            <a:r>
              <a:rPr lang="en-US" dirty="0">
                <a:solidFill>
                  <a:srgbClr val="FF0000"/>
                </a:solidFill>
              </a:rPr>
              <a:t>print('\</a:t>
            </a:r>
            <a:r>
              <a:rPr lang="en-US" dirty="0" err="1">
                <a:solidFill>
                  <a:srgbClr val="FF0000"/>
                </a:solidFill>
              </a:rPr>
              <a:t>nTest</a:t>
            </a:r>
            <a:r>
              <a:rPr lang="en-US" dirty="0">
                <a:solidFill>
                  <a:srgbClr val="FF0000"/>
                </a:solidFill>
              </a:rPr>
              <a:t> accuracy = ', </a:t>
            </a:r>
            <a:r>
              <a:rPr lang="en-US" dirty="0" err="1">
                <a:solidFill>
                  <a:srgbClr val="FF0000"/>
                </a:solidFill>
              </a:rPr>
              <a:t>accuracy_score</a:t>
            </a:r>
            <a:r>
              <a:rPr lang="en-US" dirty="0">
                <a:solidFill>
                  <a:srgbClr val="FF0000"/>
                </a:solidFill>
              </a:rPr>
              <a:t>(</a:t>
            </a:r>
            <a:r>
              <a:rPr lang="en-US" dirty="0" err="1">
                <a:solidFill>
                  <a:srgbClr val="FF0000"/>
                </a:solidFill>
              </a:rPr>
              <a:t>y_test</a:t>
            </a:r>
            <a:r>
              <a:rPr lang="en-US" dirty="0">
                <a:solidFill>
                  <a:srgbClr val="FF0000"/>
                </a:solidFill>
              </a:rPr>
              <a:t>, prediction))</a:t>
            </a:r>
          </a:p>
          <a:p>
            <a:endParaRPr lang="en-US" dirty="0"/>
          </a:p>
          <a:p>
            <a:r>
              <a:rPr lang="en-US" dirty="0"/>
              <a:t>Test accuracy =  0.958041958041958</a:t>
            </a:r>
          </a:p>
        </p:txBody>
      </p:sp>
      <p:sp>
        <p:nvSpPr>
          <p:cNvPr id="4" name="Slide Number Placeholder 3">
            <a:extLst>
              <a:ext uri="{FF2B5EF4-FFF2-40B4-BE49-F238E27FC236}">
                <a16:creationId xmlns:a16="http://schemas.microsoft.com/office/drawing/2014/main" id="{0B1D9FE2-9AA0-4307-BD3D-04234CF5A134}"/>
              </a:ext>
            </a:extLst>
          </p:cNvPr>
          <p:cNvSpPr>
            <a:spLocks noGrp="1"/>
          </p:cNvSpPr>
          <p:nvPr>
            <p:ph type="sldNum" sz="quarter" idx="12"/>
          </p:nvPr>
        </p:nvSpPr>
        <p:spPr/>
        <p:txBody>
          <a:bodyPr/>
          <a:lstStyle/>
          <a:p>
            <a:fld id="{6B97D948-30E8-43F7-AE10-F6E2D9F2BBB1}" type="slidenum">
              <a:rPr lang="en-US" smtClean="0"/>
              <a:t>787</a:t>
            </a:fld>
            <a:endParaRPr lang="en-US"/>
          </a:p>
        </p:txBody>
      </p:sp>
    </p:spTree>
    <p:extLst>
      <p:ext uri="{BB962C8B-B14F-4D97-AF65-F5344CB8AC3E}">
        <p14:creationId xmlns:p14="http://schemas.microsoft.com/office/powerpoint/2010/main" val="2335095204"/>
      </p:ext>
    </p:extLst>
  </p:cSld>
  <p:clrMapOvr>
    <a:masterClrMapping/>
  </p:clrMapOvr>
</p:sld>
</file>

<file path=ppt/slides/slide7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7C3417-C2C0-4258-AC7D-11D2CCB63E72}"/>
              </a:ext>
            </a:extLst>
          </p:cNvPr>
          <p:cNvSpPr>
            <a:spLocks noGrp="1"/>
          </p:cNvSpPr>
          <p:nvPr>
            <p:ph idx="1"/>
          </p:nvPr>
        </p:nvSpPr>
        <p:spPr>
          <a:xfrm>
            <a:off x="790113" y="548681"/>
            <a:ext cx="10555549" cy="5577483"/>
          </a:xfrm>
        </p:spPr>
        <p:txBody>
          <a:bodyPr/>
          <a:lstStyle/>
          <a:p>
            <a:r>
              <a:rPr lang="fr-FR" dirty="0">
                <a:solidFill>
                  <a:srgbClr val="FF0000"/>
                </a:solidFill>
              </a:rPr>
              <a:t>cm = </a:t>
            </a:r>
            <a:r>
              <a:rPr lang="fr-FR" dirty="0" err="1">
                <a:solidFill>
                  <a:srgbClr val="FF0000"/>
                </a:solidFill>
              </a:rPr>
              <a:t>confusion_matrix</a:t>
            </a:r>
            <a:r>
              <a:rPr lang="fr-FR" dirty="0">
                <a:solidFill>
                  <a:srgbClr val="FF0000"/>
                </a:solidFill>
              </a:rPr>
              <a:t>(</a:t>
            </a:r>
            <a:r>
              <a:rPr lang="fr-FR" dirty="0" err="1">
                <a:solidFill>
                  <a:srgbClr val="FF0000"/>
                </a:solidFill>
              </a:rPr>
              <a:t>y_test</a:t>
            </a:r>
            <a:r>
              <a:rPr lang="fr-FR" dirty="0">
                <a:solidFill>
                  <a:srgbClr val="FF0000"/>
                </a:solidFill>
              </a:rPr>
              <a:t>, </a:t>
            </a:r>
            <a:r>
              <a:rPr lang="fr-FR" dirty="0" err="1">
                <a:solidFill>
                  <a:srgbClr val="FF0000"/>
                </a:solidFill>
              </a:rPr>
              <a:t>prediction</a:t>
            </a:r>
            <a:r>
              <a:rPr lang="fr-FR" dirty="0">
                <a:solidFill>
                  <a:srgbClr val="FF0000"/>
                </a:solidFill>
              </a:rPr>
              <a:t>)</a:t>
            </a:r>
          </a:p>
          <a:p>
            <a:endParaRPr lang="fr-FR" dirty="0">
              <a:solidFill>
                <a:srgbClr val="FF0000"/>
              </a:solidFill>
            </a:endParaRPr>
          </a:p>
          <a:p>
            <a:r>
              <a:rPr lang="fr-FR" dirty="0" err="1">
                <a:solidFill>
                  <a:srgbClr val="FF0000"/>
                </a:solidFill>
              </a:rPr>
              <a:t>print</a:t>
            </a:r>
            <a:r>
              <a:rPr lang="fr-FR" dirty="0">
                <a:solidFill>
                  <a:srgbClr val="FF0000"/>
                </a:solidFill>
              </a:rPr>
              <a:t> ("\</a:t>
            </a:r>
            <a:r>
              <a:rPr lang="fr-FR" dirty="0" err="1">
                <a:solidFill>
                  <a:srgbClr val="FF0000"/>
                </a:solidFill>
              </a:rPr>
              <a:t>nConfusion</a:t>
            </a:r>
            <a:r>
              <a:rPr lang="fr-FR" dirty="0">
                <a:solidFill>
                  <a:srgbClr val="FF0000"/>
                </a:solidFill>
              </a:rPr>
              <a:t> Matrix : \n", cm)</a:t>
            </a:r>
          </a:p>
          <a:p>
            <a:endParaRPr lang="fr-FR" dirty="0">
              <a:solidFill>
                <a:srgbClr val="FF0000"/>
              </a:solidFill>
            </a:endParaRPr>
          </a:p>
          <a:p>
            <a:r>
              <a:rPr lang="fr-FR" dirty="0"/>
              <a:t>Confusion Matrix :</a:t>
            </a:r>
          </a:p>
          <a:p>
            <a:r>
              <a:rPr lang="fr-FR" dirty="0"/>
              <a:t> [[49  5]</a:t>
            </a:r>
          </a:p>
          <a:p>
            <a:r>
              <a:rPr lang="fr-FR" dirty="0"/>
              <a:t> [ 1 88]]</a:t>
            </a:r>
          </a:p>
          <a:p>
            <a:endParaRPr lang="en-US" dirty="0"/>
          </a:p>
        </p:txBody>
      </p:sp>
      <p:sp>
        <p:nvSpPr>
          <p:cNvPr id="4" name="Slide Number Placeholder 3">
            <a:extLst>
              <a:ext uri="{FF2B5EF4-FFF2-40B4-BE49-F238E27FC236}">
                <a16:creationId xmlns:a16="http://schemas.microsoft.com/office/drawing/2014/main" id="{2C96EAD1-01BB-484B-8127-A0E225F04C29}"/>
              </a:ext>
            </a:extLst>
          </p:cNvPr>
          <p:cNvSpPr>
            <a:spLocks noGrp="1"/>
          </p:cNvSpPr>
          <p:nvPr>
            <p:ph type="sldNum" sz="quarter" idx="12"/>
          </p:nvPr>
        </p:nvSpPr>
        <p:spPr/>
        <p:txBody>
          <a:bodyPr/>
          <a:lstStyle/>
          <a:p>
            <a:fld id="{6B97D948-30E8-43F7-AE10-F6E2D9F2BBB1}" type="slidenum">
              <a:rPr lang="en-US" smtClean="0"/>
              <a:t>788</a:t>
            </a:fld>
            <a:endParaRPr lang="en-US"/>
          </a:p>
        </p:txBody>
      </p:sp>
    </p:spTree>
    <p:extLst>
      <p:ext uri="{BB962C8B-B14F-4D97-AF65-F5344CB8AC3E}">
        <p14:creationId xmlns:p14="http://schemas.microsoft.com/office/powerpoint/2010/main" val="2313256122"/>
      </p:ext>
    </p:extLst>
  </p:cSld>
  <p:clrMapOvr>
    <a:masterClrMapping/>
  </p:clrMapOvr>
</p:sld>
</file>

<file path=ppt/slides/slide7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4C01A-904E-4A29-B9BF-6443FED4BF5C}"/>
              </a:ext>
            </a:extLst>
          </p:cNvPr>
          <p:cNvSpPr>
            <a:spLocks noGrp="1"/>
          </p:cNvSpPr>
          <p:nvPr>
            <p:ph type="title"/>
          </p:nvPr>
        </p:nvSpPr>
        <p:spPr>
          <a:xfrm>
            <a:off x="1981200" y="274639"/>
            <a:ext cx="8229600" cy="457199"/>
          </a:xfrm>
        </p:spPr>
        <p:txBody>
          <a:bodyPr>
            <a:normAutofit/>
          </a:bodyPr>
          <a:lstStyle/>
          <a:p>
            <a:r>
              <a:rPr lang="en-US" sz="2400" dirty="0"/>
              <a:t>Quick Summary of the Logistic Regression Process</a:t>
            </a:r>
          </a:p>
        </p:txBody>
      </p:sp>
      <p:sp>
        <p:nvSpPr>
          <p:cNvPr id="3" name="Content Placeholder 2">
            <a:extLst>
              <a:ext uri="{FF2B5EF4-FFF2-40B4-BE49-F238E27FC236}">
                <a16:creationId xmlns:a16="http://schemas.microsoft.com/office/drawing/2014/main" id="{4745359F-299A-45A5-B931-3C753607D1D3}"/>
              </a:ext>
            </a:extLst>
          </p:cNvPr>
          <p:cNvSpPr>
            <a:spLocks noGrp="1"/>
          </p:cNvSpPr>
          <p:nvPr>
            <p:ph idx="1"/>
          </p:nvPr>
        </p:nvSpPr>
        <p:spPr>
          <a:xfrm>
            <a:off x="594803" y="980729"/>
            <a:ext cx="11221375" cy="5145435"/>
          </a:xfrm>
        </p:spPr>
        <p:txBody>
          <a:bodyPr>
            <a:normAutofit fontScale="70000" lnSpcReduction="20000"/>
          </a:bodyPr>
          <a:lstStyle/>
          <a:p>
            <a:pPr algn="just"/>
            <a:r>
              <a:rPr lang="en-US" dirty="0"/>
              <a:t>We worked through four ways to carry out a logistic regression with Python. </a:t>
            </a:r>
          </a:p>
          <a:p>
            <a:pPr algn="just"/>
            <a:r>
              <a:rPr lang="en-US" dirty="0"/>
              <a:t>While these methods were all done with different packages, they all followed the same general steps:</a:t>
            </a:r>
          </a:p>
          <a:p>
            <a:pPr algn="just"/>
            <a:endParaRPr lang="en-US" dirty="0"/>
          </a:p>
          <a:p>
            <a:pPr algn="just"/>
            <a:r>
              <a:rPr lang="en-US" dirty="0"/>
              <a:t>    Organize the dataset such that it contains both predictors and responses (input-output pairs)</a:t>
            </a:r>
          </a:p>
          <a:p>
            <a:pPr algn="just"/>
            <a:endParaRPr lang="en-US" dirty="0"/>
          </a:p>
          <a:p>
            <a:pPr algn="just"/>
            <a:r>
              <a:rPr lang="en-US" dirty="0"/>
              <a:t>    Split the dataset into training and testing datasets</a:t>
            </a:r>
          </a:p>
          <a:p>
            <a:pPr algn="just"/>
            <a:endParaRPr lang="en-US" dirty="0"/>
          </a:p>
          <a:p>
            <a:pPr algn="just"/>
            <a:r>
              <a:rPr lang="en-US" dirty="0"/>
              <a:t>    Fit the logistic regression model to the training dataset</a:t>
            </a:r>
          </a:p>
          <a:p>
            <a:pPr algn="just"/>
            <a:endParaRPr lang="en-US" dirty="0"/>
          </a:p>
          <a:p>
            <a:pPr algn="just"/>
            <a:r>
              <a:rPr lang="en-US" dirty="0"/>
              <a:t>    Use the testing dataset with the model to predict testing dataset outcomes</a:t>
            </a:r>
          </a:p>
          <a:p>
            <a:pPr algn="just"/>
            <a:endParaRPr lang="en-US" dirty="0"/>
          </a:p>
          <a:p>
            <a:pPr algn="just"/>
            <a:r>
              <a:rPr lang="en-US" dirty="0"/>
              <a:t>    Determine the accuracy of the model from these predictions</a:t>
            </a:r>
          </a:p>
          <a:p>
            <a:pPr algn="just"/>
            <a:endParaRPr lang="en-US" dirty="0"/>
          </a:p>
          <a:p>
            <a:pPr algn="just"/>
            <a:r>
              <a:rPr lang="en-US" dirty="0"/>
              <a:t>Again, it’s not always necessary to split your data into training and test sets, but it can be an effective way to compare the performance of different models</a:t>
            </a:r>
          </a:p>
        </p:txBody>
      </p:sp>
      <p:sp>
        <p:nvSpPr>
          <p:cNvPr id="5" name="Slide Number Placeholder 4">
            <a:extLst>
              <a:ext uri="{FF2B5EF4-FFF2-40B4-BE49-F238E27FC236}">
                <a16:creationId xmlns:a16="http://schemas.microsoft.com/office/drawing/2014/main" id="{439FAA4B-ADA9-416D-8509-7C613D32E234}"/>
              </a:ext>
            </a:extLst>
          </p:cNvPr>
          <p:cNvSpPr>
            <a:spLocks noGrp="1"/>
          </p:cNvSpPr>
          <p:nvPr>
            <p:ph type="sldNum" sz="quarter" idx="12"/>
          </p:nvPr>
        </p:nvSpPr>
        <p:spPr/>
        <p:txBody>
          <a:bodyPr/>
          <a:lstStyle/>
          <a:p>
            <a:fld id="{6B97D948-30E8-43F7-AE10-F6E2D9F2BBB1}" type="slidenum">
              <a:rPr lang="en-US" smtClean="0"/>
              <a:t>789</a:t>
            </a:fld>
            <a:endParaRPr lang="en-US"/>
          </a:p>
        </p:txBody>
      </p:sp>
    </p:spTree>
    <p:extLst>
      <p:ext uri="{BB962C8B-B14F-4D97-AF65-F5344CB8AC3E}">
        <p14:creationId xmlns:p14="http://schemas.microsoft.com/office/powerpoint/2010/main" val="3476817481"/>
      </p:ext>
    </p:extLst>
  </p:cSld>
  <p:clrMapOvr>
    <a:masterClrMapping/>
  </p:clrMapOvr>
</p:sld>
</file>

<file path=ppt/slides/slide7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09911-D0E9-46A4-9422-EDE92FCC8D21}"/>
              </a:ext>
            </a:extLst>
          </p:cNvPr>
          <p:cNvSpPr>
            <a:spLocks noGrp="1"/>
          </p:cNvSpPr>
          <p:nvPr>
            <p:ph type="title"/>
          </p:nvPr>
        </p:nvSpPr>
        <p:spPr>
          <a:xfrm>
            <a:off x="838200" y="365125"/>
            <a:ext cx="10515600" cy="538389"/>
          </a:xfrm>
        </p:spPr>
        <p:txBody>
          <a:bodyPr>
            <a:normAutofit fontScale="90000"/>
          </a:bodyPr>
          <a:lstStyle/>
          <a:p>
            <a:r>
              <a:rPr lang="en-US" dirty="0"/>
              <a:t>Regularization</a:t>
            </a:r>
          </a:p>
        </p:txBody>
      </p:sp>
      <p:sp>
        <p:nvSpPr>
          <p:cNvPr id="3" name="Content Placeholder 2">
            <a:extLst>
              <a:ext uri="{FF2B5EF4-FFF2-40B4-BE49-F238E27FC236}">
                <a16:creationId xmlns:a16="http://schemas.microsoft.com/office/drawing/2014/main" id="{9939B9DE-1111-4883-9BE9-FF74A9368F74}"/>
              </a:ext>
            </a:extLst>
          </p:cNvPr>
          <p:cNvSpPr>
            <a:spLocks noGrp="1"/>
          </p:cNvSpPr>
          <p:nvPr>
            <p:ph idx="1"/>
          </p:nvPr>
        </p:nvSpPr>
        <p:spPr>
          <a:xfrm>
            <a:off x="838200" y="903514"/>
            <a:ext cx="10515600" cy="5273449"/>
          </a:xfrm>
        </p:spPr>
        <p:txBody>
          <a:bodyPr>
            <a:normAutofit lnSpcReduction="10000"/>
          </a:bodyPr>
          <a:lstStyle/>
          <a:p>
            <a:pPr algn="just"/>
            <a:r>
              <a:rPr lang="en-US" dirty="0"/>
              <a:t>We’ve now addressed the first of our two goals in modeling: </a:t>
            </a:r>
          </a:p>
          <a:p>
            <a:pPr algn="just"/>
            <a:endParaRPr lang="en-US" dirty="0"/>
          </a:p>
          <a:p>
            <a:pPr marL="0" indent="0" algn="ctr">
              <a:buNone/>
            </a:pPr>
            <a:r>
              <a:rPr lang="en-US" dirty="0"/>
              <a:t>	</a:t>
            </a:r>
            <a:r>
              <a:rPr lang="en-US" dirty="0">
                <a:solidFill>
                  <a:srgbClr val="FF0000"/>
                </a:solidFill>
              </a:rPr>
              <a:t>Creating a framework to assess model performance on unseen data. </a:t>
            </a:r>
          </a:p>
          <a:p>
            <a:pPr marL="0" indent="0" algn="ctr">
              <a:buNone/>
            </a:pPr>
            <a:endParaRPr lang="en-US" dirty="0"/>
          </a:p>
          <a:p>
            <a:pPr algn="just"/>
            <a:r>
              <a:rPr lang="en-US" dirty="0"/>
              <a:t>Now, let’s discuss our second objective: </a:t>
            </a:r>
          </a:p>
          <a:p>
            <a:pPr algn="just"/>
            <a:endParaRPr lang="en-US" dirty="0"/>
          </a:p>
          <a:p>
            <a:pPr marL="0" indent="0" algn="ctr">
              <a:buNone/>
            </a:pPr>
            <a:r>
              <a:rPr lang="en-US" dirty="0">
                <a:solidFill>
                  <a:srgbClr val="FF0000"/>
                </a:solidFill>
              </a:rPr>
              <a:t>developing a technique to adjust model complexity. </a:t>
            </a:r>
          </a:p>
          <a:p>
            <a:pPr marL="0" indent="0" algn="ctr">
              <a:buNone/>
            </a:pPr>
            <a:endParaRPr lang="en-US" dirty="0"/>
          </a:p>
          <a:p>
            <a:pPr algn="just"/>
            <a:r>
              <a:rPr lang="en-US" dirty="0"/>
              <a:t>This will allow us to directly tackle the issues of under- and overfitting.</a:t>
            </a:r>
          </a:p>
          <a:p>
            <a:pPr algn="just"/>
            <a:endParaRPr lang="en-US" dirty="0"/>
          </a:p>
        </p:txBody>
      </p:sp>
      <p:sp>
        <p:nvSpPr>
          <p:cNvPr id="5" name="Slide Number Placeholder 4">
            <a:extLst>
              <a:ext uri="{FF2B5EF4-FFF2-40B4-BE49-F238E27FC236}">
                <a16:creationId xmlns:a16="http://schemas.microsoft.com/office/drawing/2014/main" id="{505DA73B-D2FD-4AA4-B397-E845AB1AD1FF}"/>
              </a:ext>
            </a:extLst>
          </p:cNvPr>
          <p:cNvSpPr>
            <a:spLocks noGrp="1"/>
          </p:cNvSpPr>
          <p:nvPr>
            <p:ph type="sldNum" sz="quarter" idx="12"/>
          </p:nvPr>
        </p:nvSpPr>
        <p:spPr/>
        <p:txBody>
          <a:bodyPr/>
          <a:lstStyle/>
          <a:p>
            <a:fld id="{6B97D948-30E8-43F7-AE10-F6E2D9F2BBB1}" type="slidenum">
              <a:rPr lang="en-US" smtClean="0"/>
              <a:t>790</a:t>
            </a:fld>
            <a:endParaRPr lang="en-US"/>
          </a:p>
        </p:txBody>
      </p:sp>
    </p:spTree>
    <p:extLst>
      <p:ext uri="{BB962C8B-B14F-4D97-AF65-F5344CB8AC3E}">
        <p14:creationId xmlns:p14="http://schemas.microsoft.com/office/powerpoint/2010/main" val="1982894064"/>
      </p:ext>
    </p:extLst>
  </p:cSld>
  <p:clrMapOvr>
    <a:masterClrMapping/>
  </p:clrMapOvr>
</p:sld>
</file>

<file path=ppt/slides/slide7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E04D81-BA0D-474F-AAED-DEB6DD3C56D1}"/>
              </a:ext>
            </a:extLst>
          </p:cNvPr>
          <p:cNvSpPr>
            <a:spLocks noGrp="1"/>
          </p:cNvSpPr>
          <p:nvPr>
            <p:ph idx="1"/>
          </p:nvPr>
        </p:nvSpPr>
        <p:spPr>
          <a:xfrm>
            <a:off x="838200" y="533400"/>
            <a:ext cx="10515600" cy="5643563"/>
          </a:xfrm>
        </p:spPr>
        <p:txBody>
          <a:bodyPr/>
          <a:lstStyle/>
          <a:p>
            <a:pPr algn="just"/>
            <a:r>
              <a:rPr lang="en-US" dirty="0"/>
              <a:t>We’ve seen the complexity of the model increases such that the training error reduces but the testing error doesn’t.</a:t>
            </a:r>
          </a:p>
          <a:p>
            <a:pPr algn="just"/>
            <a:endParaRPr lang="en-US" dirty="0"/>
          </a:p>
          <a:p>
            <a:pPr algn="just"/>
            <a:r>
              <a:rPr lang="en-US" dirty="0"/>
              <a:t>We can restrict model complexity by limiting the total number of features present in the model. </a:t>
            </a:r>
          </a:p>
          <a:p>
            <a:pPr algn="just"/>
            <a:endParaRPr lang="en-US" dirty="0"/>
          </a:p>
          <a:p>
            <a:pPr algn="just"/>
            <a:r>
              <a:rPr lang="en-US" dirty="0"/>
              <a:t>We only include a limited number of polynomial features at a time; all other polynomials were excluded from the model.</a:t>
            </a:r>
          </a:p>
          <a:p>
            <a:pPr algn="just"/>
            <a:endParaRPr lang="en-US" dirty="0"/>
          </a:p>
          <a:p>
            <a:pPr algn="just"/>
            <a:endParaRPr lang="en-US" dirty="0"/>
          </a:p>
          <a:p>
            <a:pPr algn="just"/>
            <a:r>
              <a:rPr lang="en-US" dirty="0"/>
              <a:t>This is the process of regularization. </a:t>
            </a:r>
          </a:p>
        </p:txBody>
      </p:sp>
      <p:sp>
        <p:nvSpPr>
          <p:cNvPr id="5" name="Slide Number Placeholder 4">
            <a:extLst>
              <a:ext uri="{FF2B5EF4-FFF2-40B4-BE49-F238E27FC236}">
                <a16:creationId xmlns:a16="http://schemas.microsoft.com/office/drawing/2014/main" id="{F59E46E5-2681-4CEB-A422-607DBA1A3385}"/>
              </a:ext>
            </a:extLst>
          </p:cNvPr>
          <p:cNvSpPr>
            <a:spLocks noGrp="1"/>
          </p:cNvSpPr>
          <p:nvPr>
            <p:ph type="sldNum" sz="quarter" idx="12"/>
          </p:nvPr>
        </p:nvSpPr>
        <p:spPr/>
        <p:txBody>
          <a:bodyPr/>
          <a:lstStyle/>
          <a:p>
            <a:fld id="{6B97D948-30E8-43F7-AE10-F6E2D9F2BBB1}" type="slidenum">
              <a:rPr lang="en-US" smtClean="0"/>
              <a:t>791</a:t>
            </a:fld>
            <a:endParaRPr lang="en-US"/>
          </a:p>
        </p:txBody>
      </p:sp>
    </p:spTree>
    <p:extLst>
      <p:ext uri="{BB962C8B-B14F-4D97-AF65-F5344CB8AC3E}">
        <p14:creationId xmlns:p14="http://schemas.microsoft.com/office/powerpoint/2010/main" val="2978363970"/>
      </p:ext>
    </p:extLst>
  </p:cSld>
  <p:clrMapOvr>
    <a:masterClrMapping/>
  </p:clrMapOvr>
</p:sld>
</file>

<file path=ppt/slides/slide7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E765F-B1E9-45E6-B31D-B1E40BC78E6C}"/>
              </a:ext>
            </a:extLst>
          </p:cNvPr>
          <p:cNvSpPr>
            <a:spLocks noGrp="1"/>
          </p:cNvSpPr>
          <p:nvPr>
            <p:ph type="title"/>
          </p:nvPr>
        </p:nvSpPr>
        <p:spPr>
          <a:xfrm>
            <a:off x="838200" y="365125"/>
            <a:ext cx="10515600" cy="655955"/>
          </a:xfrm>
        </p:spPr>
        <p:txBody>
          <a:bodyPr>
            <a:normAutofit fontScale="90000"/>
          </a:bodyPr>
          <a:lstStyle/>
          <a:p>
            <a:r>
              <a:rPr lang="en-US" dirty="0"/>
              <a:t>Regularization defined</a:t>
            </a:r>
          </a:p>
        </p:txBody>
      </p:sp>
      <p:sp>
        <p:nvSpPr>
          <p:cNvPr id="3" name="Content Placeholder 2">
            <a:extLst>
              <a:ext uri="{FF2B5EF4-FFF2-40B4-BE49-F238E27FC236}">
                <a16:creationId xmlns:a16="http://schemas.microsoft.com/office/drawing/2014/main" id="{AAC39A63-62C2-42B1-A1E7-9D32316C3337}"/>
              </a:ext>
            </a:extLst>
          </p:cNvPr>
          <p:cNvSpPr>
            <a:spLocks noGrp="1"/>
          </p:cNvSpPr>
          <p:nvPr>
            <p:ph idx="1"/>
          </p:nvPr>
        </p:nvSpPr>
        <p:spPr>
          <a:xfrm>
            <a:off x="838200" y="1021080"/>
            <a:ext cx="10515600" cy="5155883"/>
          </a:xfrm>
        </p:spPr>
        <p:txBody>
          <a:bodyPr/>
          <a:lstStyle/>
          <a:p>
            <a:pPr algn="just"/>
            <a:endParaRPr lang="en-US" dirty="0"/>
          </a:p>
          <a:p>
            <a:pPr algn="just"/>
            <a:endParaRPr lang="en-US" dirty="0"/>
          </a:p>
          <a:p>
            <a:pPr algn="just"/>
            <a:r>
              <a:rPr lang="en-US" sz="3600" i="1" dirty="0">
                <a:solidFill>
                  <a:srgbClr val="0070C0"/>
                </a:solidFill>
              </a:rPr>
              <a:t>Regularization is a technique which makes slight modifications to the learning algorithm such that the model generalizes better. </a:t>
            </a:r>
          </a:p>
          <a:p>
            <a:pPr algn="just"/>
            <a:endParaRPr lang="en-US" dirty="0"/>
          </a:p>
          <a:p>
            <a:pPr algn="just"/>
            <a:r>
              <a:rPr lang="en-US" dirty="0"/>
              <a:t>This in turn improves the model’s performance on the unseen data as well.</a:t>
            </a:r>
          </a:p>
        </p:txBody>
      </p:sp>
      <p:sp>
        <p:nvSpPr>
          <p:cNvPr id="7" name="Slide Number Placeholder 6">
            <a:extLst>
              <a:ext uri="{FF2B5EF4-FFF2-40B4-BE49-F238E27FC236}">
                <a16:creationId xmlns:a16="http://schemas.microsoft.com/office/drawing/2014/main" id="{07CE2D6B-614D-477D-A716-A8E7921CAF3E}"/>
              </a:ext>
            </a:extLst>
          </p:cNvPr>
          <p:cNvSpPr>
            <a:spLocks noGrp="1"/>
          </p:cNvSpPr>
          <p:nvPr>
            <p:ph type="sldNum" sz="quarter" idx="12"/>
          </p:nvPr>
        </p:nvSpPr>
        <p:spPr/>
        <p:txBody>
          <a:bodyPr/>
          <a:lstStyle/>
          <a:p>
            <a:fld id="{6B97D948-30E8-43F7-AE10-F6E2D9F2BBB1}" type="slidenum">
              <a:rPr lang="en-US" smtClean="0"/>
              <a:t>792</a:t>
            </a:fld>
            <a:endParaRPr lang="en-US"/>
          </a:p>
        </p:txBody>
      </p:sp>
    </p:spTree>
    <p:extLst>
      <p:ext uri="{BB962C8B-B14F-4D97-AF65-F5344CB8AC3E}">
        <p14:creationId xmlns:p14="http://schemas.microsoft.com/office/powerpoint/2010/main" val="112150544"/>
      </p:ext>
    </p:extLst>
  </p:cSld>
  <p:clrMapOvr>
    <a:masterClrMapping/>
  </p:clrMapOvr>
</p:sld>
</file>

<file path=ppt/slides/slide7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98FF1-9F80-44C1-83F2-F1C2717EF3A1}"/>
              </a:ext>
            </a:extLst>
          </p:cNvPr>
          <p:cNvSpPr>
            <a:spLocks noGrp="1"/>
          </p:cNvSpPr>
          <p:nvPr>
            <p:ph type="title"/>
          </p:nvPr>
        </p:nvSpPr>
        <p:spPr>
          <a:xfrm>
            <a:off x="838200" y="365125"/>
            <a:ext cx="10515600" cy="671195"/>
          </a:xfrm>
        </p:spPr>
        <p:txBody>
          <a:bodyPr>
            <a:normAutofit fontScale="90000"/>
          </a:bodyPr>
          <a:lstStyle/>
          <a:p>
            <a:r>
              <a:rPr lang="en-US" dirty="0"/>
              <a:t>Approach</a:t>
            </a:r>
          </a:p>
        </p:txBody>
      </p:sp>
      <p:sp>
        <p:nvSpPr>
          <p:cNvPr id="3" name="Content Placeholder 2">
            <a:extLst>
              <a:ext uri="{FF2B5EF4-FFF2-40B4-BE49-F238E27FC236}">
                <a16:creationId xmlns:a16="http://schemas.microsoft.com/office/drawing/2014/main" id="{0FC0D27D-73E2-4B43-97AC-97E629273F78}"/>
              </a:ext>
            </a:extLst>
          </p:cNvPr>
          <p:cNvSpPr>
            <a:spLocks noGrp="1"/>
          </p:cNvSpPr>
          <p:nvPr>
            <p:ph idx="1"/>
          </p:nvPr>
        </p:nvSpPr>
        <p:spPr>
          <a:xfrm>
            <a:off x="838200" y="1036320"/>
            <a:ext cx="10515600" cy="5140643"/>
          </a:xfrm>
        </p:spPr>
        <p:txBody>
          <a:bodyPr>
            <a:normAutofit/>
          </a:bodyPr>
          <a:lstStyle/>
          <a:p>
            <a:pPr algn="just"/>
            <a:r>
              <a:rPr lang="en-US" dirty="0"/>
              <a:t>Instead of fully removing particular features, we will all features and used each one only a “little bit”.</a:t>
            </a:r>
          </a:p>
          <a:p>
            <a:pPr algn="just"/>
            <a:endParaRPr lang="en-US" dirty="0"/>
          </a:p>
          <a:p>
            <a:pPr algn="just"/>
            <a:r>
              <a:rPr lang="en-US" dirty="0"/>
              <a:t>If we put a limit on how much each feature can contribute to the predictions, we can still control the model’s complexity without the need to manually determine how many features should be removed.</a:t>
            </a:r>
          </a:p>
          <a:p>
            <a:endParaRPr lang="en-US" dirty="0"/>
          </a:p>
          <a:p>
            <a:r>
              <a:rPr lang="en-US" dirty="0"/>
              <a:t>But what do we mean by a “little bit”? </a:t>
            </a:r>
          </a:p>
        </p:txBody>
      </p:sp>
      <p:sp>
        <p:nvSpPr>
          <p:cNvPr id="5" name="Slide Number Placeholder 4">
            <a:extLst>
              <a:ext uri="{FF2B5EF4-FFF2-40B4-BE49-F238E27FC236}">
                <a16:creationId xmlns:a16="http://schemas.microsoft.com/office/drawing/2014/main" id="{F77FC4E4-94C7-45F5-ABDC-3793E38223D0}"/>
              </a:ext>
            </a:extLst>
          </p:cNvPr>
          <p:cNvSpPr>
            <a:spLocks noGrp="1"/>
          </p:cNvSpPr>
          <p:nvPr>
            <p:ph type="sldNum" sz="quarter" idx="12"/>
          </p:nvPr>
        </p:nvSpPr>
        <p:spPr/>
        <p:txBody>
          <a:bodyPr/>
          <a:lstStyle/>
          <a:p>
            <a:fld id="{6B97D948-30E8-43F7-AE10-F6E2D9F2BBB1}" type="slidenum">
              <a:rPr lang="en-US" smtClean="0"/>
              <a:t>793</a:t>
            </a:fld>
            <a:endParaRPr lang="en-US"/>
          </a:p>
        </p:txBody>
      </p:sp>
    </p:spTree>
    <p:extLst>
      <p:ext uri="{BB962C8B-B14F-4D97-AF65-F5344CB8AC3E}">
        <p14:creationId xmlns:p14="http://schemas.microsoft.com/office/powerpoint/2010/main" val="1279550699"/>
      </p:ext>
    </p:extLst>
  </p:cSld>
  <p:clrMapOvr>
    <a:masterClrMapping/>
  </p:clrMapOvr>
</p:sld>
</file>

<file path=ppt/slides/slide7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ECC7F9-8726-4987-BA35-EEFFAAF8F612}"/>
                  </a:ext>
                </a:extLst>
              </p:cNvPr>
              <p:cNvSpPr>
                <a:spLocks noGrp="1"/>
              </p:cNvSpPr>
              <p:nvPr>
                <p:ph idx="1"/>
              </p:nvPr>
            </p:nvSpPr>
            <p:spPr>
              <a:xfrm>
                <a:off x="838200" y="457200"/>
                <a:ext cx="10515600" cy="5719763"/>
              </a:xfrm>
            </p:spPr>
            <p:txBody>
              <a:bodyPr/>
              <a:lstStyle/>
              <a:p>
                <a:pPr algn="just"/>
                <a:r>
                  <a:rPr lang="en-US" dirty="0"/>
                  <a:t>Consider the case where some parameter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Sub>
                  </m:oMath>
                </a14:m>
                <a:r>
                  <a:rPr lang="en-US" dirty="0"/>
                  <a:t> is close to or equal to 0. </a:t>
                </a:r>
              </a:p>
              <a:p>
                <a:pPr algn="just"/>
                <a:endParaRPr lang="en-US" dirty="0"/>
              </a:p>
              <a:p>
                <a:pPr algn="just"/>
                <a:r>
                  <a:rPr lang="en-US" dirty="0"/>
                  <a:t>Then, feature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𝑖</m:t>
                        </m:r>
                      </m:sub>
                    </m:sSub>
                  </m:oMath>
                </a14:m>
                <a:r>
                  <a:rPr lang="en-US" dirty="0"/>
                  <a:t> barely impacts the prediction – the feature is weighted by such a small value that its presence doesn’t significantly change the value of </a:t>
                </a:r>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𝕐</m:t>
                        </m:r>
                      </m:e>
                    </m:acc>
                  </m:oMath>
                </a14:m>
                <a:r>
                  <a:rPr lang="en-US" dirty="0"/>
                  <a:t>.</a:t>
                </a:r>
              </a:p>
              <a:p>
                <a:pPr algn="just"/>
                <a:endParaRPr lang="en-US" dirty="0"/>
              </a:p>
              <a:p>
                <a:pPr algn="just"/>
                <a:r>
                  <a:rPr lang="en-US" dirty="0"/>
                  <a:t>If we restrict how large each parameter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Sub>
                    <m:r>
                      <a:rPr lang="en-US" b="0" i="1" smtClean="0">
                        <a:latin typeface="Cambria Math" panose="02040503050406030204" pitchFamily="18" charset="0"/>
                      </a:rPr>
                      <m:t> </m:t>
                    </m:r>
                  </m:oMath>
                </a14:m>
                <a:r>
                  <a:rPr lang="en-US" dirty="0"/>
                  <a:t>can be, we restrict how much feature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𝑖</m:t>
                        </m:r>
                      </m:sub>
                    </m:sSub>
                    <m:r>
                      <a:rPr lang="en-US" i="1">
                        <a:latin typeface="Cambria Math" panose="02040503050406030204" pitchFamily="18" charset="0"/>
                      </a:rPr>
                      <m:t> </m:t>
                    </m:r>
                  </m:oMath>
                </a14:m>
                <a:r>
                  <a:rPr lang="en-US" dirty="0"/>
                  <a:t>contributes to the model. </a:t>
                </a:r>
              </a:p>
              <a:p>
                <a:pPr algn="just"/>
                <a:endParaRPr lang="en-US" dirty="0"/>
              </a:p>
              <a:p>
                <a:pPr algn="just"/>
                <a:r>
                  <a:rPr lang="en-US" dirty="0"/>
                  <a:t>This has the effect of reducing model complexity.</a:t>
                </a:r>
              </a:p>
              <a:p>
                <a:pPr algn="just"/>
                <a:endParaRPr lang="en-US" dirty="0"/>
              </a:p>
            </p:txBody>
          </p:sp>
        </mc:Choice>
        <mc:Fallback xmlns="">
          <p:sp>
            <p:nvSpPr>
              <p:cNvPr id="3" name="Content Placeholder 2">
                <a:extLst>
                  <a:ext uri="{FF2B5EF4-FFF2-40B4-BE49-F238E27FC236}">
                    <a16:creationId xmlns:a16="http://schemas.microsoft.com/office/drawing/2014/main" id="{14ECC7F9-8726-4987-BA35-EEFFAAF8F612}"/>
                  </a:ext>
                </a:extLst>
              </p:cNvPr>
              <p:cNvSpPr>
                <a:spLocks noGrp="1" noRot="1" noChangeAspect="1" noMove="1" noResize="1" noEditPoints="1" noAdjustHandles="1" noChangeArrowheads="1" noChangeShapeType="1" noTextEdit="1"/>
              </p:cNvSpPr>
              <p:nvPr>
                <p:ph idx="1"/>
              </p:nvPr>
            </p:nvSpPr>
            <p:spPr>
              <a:xfrm>
                <a:off x="838200" y="457200"/>
                <a:ext cx="10515600" cy="5719763"/>
              </a:xfrm>
              <a:blipFill>
                <a:blip r:embed="rId2"/>
                <a:stretch>
                  <a:fillRect l="-1043" t="-1706"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3F717151-62E9-4323-ADDB-A97D84AB5AB1}"/>
              </a:ext>
            </a:extLst>
          </p:cNvPr>
          <p:cNvSpPr>
            <a:spLocks noGrp="1"/>
          </p:cNvSpPr>
          <p:nvPr>
            <p:ph type="sldNum" sz="quarter" idx="12"/>
          </p:nvPr>
        </p:nvSpPr>
        <p:spPr/>
        <p:txBody>
          <a:bodyPr/>
          <a:lstStyle/>
          <a:p>
            <a:fld id="{6B97D948-30E8-43F7-AE10-F6E2D9F2BBB1}" type="slidenum">
              <a:rPr lang="en-US" smtClean="0"/>
              <a:t>794</a:t>
            </a:fld>
            <a:endParaRPr lang="en-US"/>
          </a:p>
        </p:txBody>
      </p:sp>
    </p:spTree>
    <p:extLst>
      <p:ext uri="{BB962C8B-B14F-4D97-AF65-F5344CB8AC3E}">
        <p14:creationId xmlns:p14="http://schemas.microsoft.com/office/powerpoint/2010/main" val="2115680713"/>
      </p:ext>
    </p:extLst>
  </p:cSld>
  <p:clrMapOvr>
    <a:masterClrMapping/>
  </p:clrMapOvr>
</p:sld>
</file>

<file path=ppt/slides/slide7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83A64-9924-4A43-83C0-0B72C6270B91}"/>
              </a:ext>
            </a:extLst>
          </p:cNvPr>
          <p:cNvSpPr>
            <a:spLocks noGrp="1"/>
          </p:cNvSpPr>
          <p:nvPr>
            <p:ph type="title"/>
          </p:nvPr>
        </p:nvSpPr>
        <p:spPr>
          <a:xfrm>
            <a:off x="838200" y="365125"/>
            <a:ext cx="10515600" cy="793115"/>
          </a:xfrm>
        </p:spPr>
        <p:txBody>
          <a:bodyPr/>
          <a:lstStyle/>
          <a:p>
            <a:r>
              <a:rPr lang="en-US" dirty="0"/>
              <a:t>Underfitting and Overfitting (Again)</a:t>
            </a:r>
          </a:p>
        </p:txBody>
      </p:sp>
      <p:sp>
        <p:nvSpPr>
          <p:cNvPr id="3" name="Content Placeholder 2">
            <a:extLst>
              <a:ext uri="{FF2B5EF4-FFF2-40B4-BE49-F238E27FC236}">
                <a16:creationId xmlns:a16="http://schemas.microsoft.com/office/drawing/2014/main" id="{D2610B09-EA8D-4644-AF7B-4BD34E964170}"/>
              </a:ext>
            </a:extLst>
          </p:cNvPr>
          <p:cNvSpPr>
            <a:spLocks noGrp="1"/>
          </p:cNvSpPr>
          <p:nvPr>
            <p:ph idx="1"/>
          </p:nvPr>
        </p:nvSpPr>
        <p:spPr>
          <a:xfrm>
            <a:off x="838200" y="1158240"/>
            <a:ext cx="10515600" cy="5018723"/>
          </a:xfrm>
        </p:spPr>
        <p:txBody>
          <a:bodyPr>
            <a:normAutofit/>
          </a:bodyPr>
          <a:lstStyle/>
          <a:p>
            <a:pPr algn="just"/>
            <a:r>
              <a:rPr lang="en-US" dirty="0"/>
              <a:t>Before diving further let’s revise this terms again.</a:t>
            </a:r>
          </a:p>
          <a:p>
            <a:pPr algn="just"/>
            <a:endParaRPr lang="en-US" dirty="0"/>
          </a:p>
          <a:p>
            <a:pPr algn="just"/>
            <a:r>
              <a:rPr lang="en-US" dirty="0">
                <a:solidFill>
                  <a:srgbClr val="FF0000"/>
                </a:solidFill>
              </a:rPr>
              <a:t>Bias</a:t>
            </a:r>
            <a:r>
              <a:rPr lang="en-US" dirty="0"/>
              <a:t> – Assumptions made by a model to make a function easier to learn.</a:t>
            </a:r>
          </a:p>
          <a:p>
            <a:pPr algn="just"/>
            <a:endParaRPr lang="en-US" dirty="0"/>
          </a:p>
          <a:p>
            <a:pPr algn="just"/>
            <a:r>
              <a:rPr lang="en-US" dirty="0">
                <a:solidFill>
                  <a:srgbClr val="FF0000"/>
                </a:solidFill>
              </a:rPr>
              <a:t>Variance</a:t>
            </a:r>
            <a:r>
              <a:rPr lang="en-US" dirty="0"/>
              <a:t> – If you train your data on training data and obtain a very low error, upon changing the data and then training the same previous model you experience high error, this is variance.</a:t>
            </a:r>
          </a:p>
          <a:p>
            <a:pPr algn="just"/>
            <a:endParaRPr lang="en-US" dirty="0"/>
          </a:p>
        </p:txBody>
      </p:sp>
      <p:sp>
        <p:nvSpPr>
          <p:cNvPr id="5" name="Slide Number Placeholder 4">
            <a:extLst>
              <a:ext uri="{FF2B5EF4-FFF2-40B4-BE49-F238E27FC236}">
                <a16:creationId xmlns:a16="http://schemas.microsoft.com/office/drawing/2014/main" id="{935350E5-1511-46EC-8749-14C1C9E61C57}"/>
              </a:ext>
            </a:extLst>
          </p:cNvPr>
          <p:cNvSpPr>
            <a:spLocks noGrp="1"/>
          </p:cNvSpPr>
          <p:nvPr>
            <p:ph type="sldNum" sz="quarter" idx="12"/>
          </p:nvPr>
        </p:nvSpPr>
        <p:spPr/>
        <p:txBody>
          <a:bodyPr/>
          <a:lstStyle/>
          <a:p>
            <a:fld id="{6B97D948-30E8-43F7-AE10-F6E2D9F2BBB1}" type="slidenum">
              <a:rPr lang="en-US" smtClean="0"/>
              <a:t>795</a:t>
            </a:fld>
            <a:endParaRPr lang="en-US"/>
          </a:p>
        </p:txBody>
      </p:sp>
    </p:spTree>
    <p:extLst>
      <p:ext uri="{BB962C8B-B14F-4D97-AF65-F5344CB8AC3E}">
        <p14:creationId xmlns:p14="http://schemas.microsoft.com/office/powerpoint/2010/main" val="151798748"/>
      </p:ext>
    </p:extLst>
  </p:cSld>
  <p:clrMapOvr>
    <a:masterClrMapping/>
  </p:clrMapOvr>
</p:sld>
</file>

<file path=ppt/slides/slide7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AFFD-55E8-47C4-BEB3-F56C65F12D03}"/>
              </a:ext>
            </a:extLst>
          </p:cNvPr>
          <p:cNvSpPr>
            <a:spLocks noGrp="1"/>
          </p:cNvSpPr>
          <p:nvPr>
            <p:ph type="title"/>
          </p:nvPr>
        </p:nvSpPr>
        <p:spPr>
          <a:xfrm>
            <a:off x="838200" y="365125"/>
            <a:ext cx="10515600" cy="610235"/>
          </a:xfrm>
        </p:spPr>
        <p:txBody>
          <a:bodyPr>
            <a:normAutofit fontScale="90000"/>
          </a:bodyPr>
          <a:lstStyle/>
          <a:p>
            <a:r>
              <a:rPr lang="en-US" dirty="0"/>
              <a:t>Underfitting</a:t>
            </a:r>
          </a:p>
        </p:txBody>
      </p:sp>
      <p:sp>
        <p:nvSpPr>
          <p:cNvPr id="3" name="Content Placeholder 2">
            <a:extLst>
              <a:ext uri="{FF2B5EF4-FFF2-40B4-BE49-F238E27FC236}">
                <a16:creationId xmlns:a16="http://schemas.microsoft.com/office/drawing/2014/main" id="{B39DB178-6B67-4899-B178-75A41CF1D127}"/>
              </a:ext>
            </a:extLst>
          </p:cNvPr>
          <p:cNvSpPr>
            <a:spLocks noGrp="1"/>
          </p:cNvSpPr>
          <p:nvPr>
            <p:ph idx="1"/>
          </p:nvPr>
        </p:nvSpPr>
        <p:spPr>
          <a:xfrm>
            <a:off x="838200" y="975360"/>
            <a:ext cx="10515600" cy="5201603"/>
          </a:xfrm>
        </p:spPr>
        <p:txBody>
          <a:bodyPr>
            <a:normAutofit fontScale="92500" lnSpcReduction="20000"/>
          </a:bodyPr>
          <a:lstStyle/>
          <a:p>
            <a:pPr algn="just"/>
            <a:r>
              <a:rPr lang="en-US" dirty="0"/>
              <a:t>A data science or statistical model is said to have underfitting when it cannot capture the underlying trend of the data. </a:t>
            </a:r>
          </a:p>
          <a:p>
            <a:pPr algn="just"/>
            <a:endParaRPr lang="en-US" dirty="0"/>
          </a:p>
          <a:p>
            <a:pPr algn="just"/>
            <a:r>
              <a:rPr lang="en-US" dirty="0"/>
              <a:t>Underfitting destroys the accuracy of our model. </a:t>
            </a:r>
          </a:p>
          <a:p>
            <a:pPr algn="just"/>
            <a:endParaRPr lang="en-US" dirty="0"/>
          </a:p>
          <a:p>
            <a:pPr algn="just"/>
            <a:r>
              <a:rPr lang="en-US" dirty="0"/>
              <a:t>Its occurrence simply means that our model or the algorithm does not fit the data well enough. </a:t>
            </a:r>
          </a:p>
          <a:p>
            <a:pPr algn="just"/>
            <a:endParaRPr lang="en-US" dirty="0"/>
          </a:p>
          <a:p>
            <a:pPr algn="just"/>
            <a:r>
              <a:rPr lang="en-US" dirty="0"/>
              <a:t>It usually happens when we have less data to build an accurate model and also when we try to build a linear model with a non-linear data. </a:t>
            </a:r>
          </a:p>
          <a:p>
            <a:pPr algn="just"/>
            <a:endParaRPr lang="en-US" dirty="0"/>
          </a:p>
          <a:p>
            <a:pPr algn="just"/>
            <a:r>
              <a:rPr lang="en-US" dirty="0"/>
              <a:t>Underfitting can be avoided by using more data and also reducing the features by feature selection.</a:t>
            </a:r>
          </a:p>
        </p:txBody>
      </p:sp>
      <p:sp>
        <p:nvSpPr>
          <p:cNvPr id="5" name="Slide Number Placeholder 4">
            <a:extLst>
              <a:ext uri="{FF2B5EF4-FFF2-40B4-BE49-F238E27FC236}">
                <a16:creationId xmlns:a16="http://schemas.microsoft.com/office/drawing/2014/main" id="{2D936289-1C16-4706-9E97-91CF9E8D115F}"/>
              </a:ext>
            </a:extLst>
          </p:cNvPr>
          <p:cNvSpPr>
            <a:spLocks noGrp="1"/>
          </p:cNvSpPr>
          <p:nvPr>
            <p:ph type="sldNum" sz="quarter" idx="12"/>
          </p:nvPr>
        </p:nvSpPr>
        <p:spPr/>
        <p:txBody>
          <a:bodyPr/>
          <a:lstStyle/>
          <a:p>
            <a:fld id="{6B97D948-30E8-43F7-AE10-F6E2D9F2BBB1}" type="slidenum">
              <a:rPr lang="en-US" smtClean="0"/>
              <a:t>796</a:t>
            </a:fld>
            <a:endParaRPr lang="en-US"/>
          </a:p>
        </p:txBody>
      </p:sp>
    </p:spTree>
    <p:extLst>
      <p:ext uri="{BB962C8B-B14F-4D97-AF65-F5344CB8AC3E}">
        <p14:creationId xmlns:p14="http://schemas.microsoft.com/office/powerpoint/2010/main" val="1231567152"/>
      </p:ext>
    </p:extLst>
  </p:cSld>
  <p:clrMapOvr>
    <a:masterClrMapping/>
  </p:clrMapOvr>
</p:sld>
</file>

<file path=ppt/slides/slide7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4229B-AB17-4C8B-B562-06EEBDA6A85F}"/>
              </a:ext>
            </a:extLst>
          </p:cNvPr>
          <p:cNvSpPr>
            <a:spLocks noGrp="1"/>
          </p:cNvSpPr>
          <p:nvPr>
            <p:ph type="title"/>
          </p:nvPr>
        </p:nvSpPr>
        <p:spPr>
          <a:xfrm>
            <a:off x="838200" y="365125"/>
            <a:ext cx="10515600" cy="655955"/>
          </a:xfrm>
        </p:spPr>
        <p:txBody>
          <a:bodyPr>
            <a:normAutofit fontScale="90000"/>
          </a:bodyPr>
          <a:lstStyle/>
          <a:p>
            <a:r>
              <a:rPr lang="en-US" dirty="0"/>
              <a:t>Summary . . . underfitting</a:t>
            </a:r>
          </a:p>
        </p:txBody>
      </p:sp>
      <p:sp>
        <p:nvSpPr>
          <p:cNvPr id="3" name="Content Placeholder 2">
            <a:extLst>
              <a:ext uri="{FF2B5EF4-FFF2-40B4-BE49-F238E27FC236}">
                <a16:creationId xmlns:a16="http://schemas.microsoft.com/office/drawing/2014/main" id="{A3E3499A-A402-42AF-B893-3F72849A0197}"/>
              </a:ext>
            </a:extLst>
          </p:cNvPr>
          <p:cNvSpPr>
            <a:spLocks noGrp="1"/>
          </p:cNvSpPr>
          <p:nvPr>
            <p:ph idx="1"/>
          </p:nvPr>
        </p:nvSpPr>
        <p:spPr>
          <a:xfrm>
            <a:off x="838200" y="1021080"/>
            <a:ext cx="10515600" cy="5155883"/>
          </a:xfrm>
        </p:spPr>
        <p:txBody>
          <a:bodyPr>
            <a:normAutofit/>
          </a:bodyPr>
          <a:lstStyle/>
          <a:p>
            <a:r>
              <a:rPr lang="en-US" dirty="0"/>
              <a:t>Underfitting – High bias and low variance</a:t>
            </a:r>
          </a:p>
          <a:p>
            <a:endParaRPr lang="en-US" dirty="0"/>
          </a:p>
          <a:p>
            <a:r>
              <a:rPr lang="en-US" dirty="0"/>
              <a:t>Techniques to reduce underfitting :</a:t>
            </a:r>
          </a:p>
          <a:p>
            <a:endParaRPr lang="en-US" dirty="0"/>
          </a:p>
          <a:p>
            <a:r>
              <a:rPr lang="en-US" dirty="0"/>
              <a:t>    Increase model complexity</a:t>
            </a:r>
          </a:p>
          <a:p>
            <a:r>
              <a:rPr lang="en-US" dirty="0"/>
              <a:t>    Increase number of features, performing feature engineering</a:t>
            </a:r>
          </a:p>
          <a:p>
            <a:r>
              <a:rPr lang="en-US" dirty="0"/>
              <a:t>    Remove noise from the data.</a:t>
            </a:r>
          </a:p>
          <a:p>
            <a:r>
              <a:rPr lang="en-US" dirty="0"/>
              <a:t>    Increase the number of epochs or increase the duration of training to get better results.</a:t>
            </a:r>
          </a:p>
          <a:p>
            <a:endParaRPr lang="en-US" dirty="0"/>
          </a:p>
        </p:txBody>
      </p:sp>
      <p:sp>
        <p:nvSpPr>
          <p:cNvPr id="5" name="Slide Number Placeholder 4">
            <a:extLst>
              <a:ext uri="{FF2B5EF4-FFF2-40B4-BE49-F238E27FC236}">
                <a16:creationId xmlns:a16="http://schemas.microsoft.com/office/drawing/2014/main" id="{3AB05EFD-D334-4514-8711-07D067A5BEF0}"/>
              </a:ext>
            </a:extLst>
          </p:cNvPr>
          <p:cNvSpPr>
            <a:spLocks noGrp="1"/>
          </p:cNvSpPr>
          <p:nvPr>
            <p:ph type="sldNum" sz="quarter" idx="12"/>
          </p:nvPr>
        </p:nvSpPr>
        <p:spPr/>
        <p:txBody>
          <a:bodyPr/>
          <a:lstStyle/>
          <a:p>
            <a:fld id="{6B97D948-30E8-43F7-AE10-F6E2D9F2BBB1}" type="slidenum">
              <a:rPr lang="en-US" smtClean="0"/>
              <a:t>797</a:t>
            </a:fld>
            <a:endParaRPr lang="en-US"/>
          </a:p>
        </p:txBody>
      </p:sp>
    </p:spTree>
    <p:extLst>
      <p:ext uri="{BB962C8B-B14F-4D97-AF65-F5344CB8AC3E}">
        <p14:creationId xmlns:p14="http://schemas.microsoft.com/office/powerpoint/2010/main" val="472923741"/>
      </p:ext>
    </p:extLst>
  </p:cSld>
  <p:clrMapOvr>
    <a:masterClrMapping/>
  </p:clrMapOvr>
</p:sld>
</file>

<file path=ppt/slides/slide7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E12BA-6D05-4444-97DA-DB77DADCCE96}"/>
              </a:ext>
            </a:extLst>
          </p:cNvPr>
          <p:cNvSpPr>
            <a:spLocks noGrp="1"/>
          </p:cNvSpPr>
          <p:nvPr>
            <p:ph type="title"/>
          </p:nvPr>
        </p:nvSpPr>
        <p:spPr>
          <a:xfrm>
            <a:off x="838200" y="365125"/>
            <a:ext cx="10515600" cy="625475"/>
          </a:xfrm>
        </p:spPr>
        <p:txBody>
          <a:bodyPr>
            <a:normAutofit fontScale="90000"/>
          </a:bodyPr>
          <a:lstStyle/>
          <a:p>
            <a:r>
              <a:rPr lang="en-US" dirty="0"/>
              <a:t>Overfitting</a:t>
            </a:r>
          </a:p>
        </p:txBody>
      </p:sp>
      <p:sp>
        <p:nvSpPr>
          <p:cNvPr id="3" name="Content Placeholder 2">
            <a:extLst>
              <a:ext uri="{FF2B5EF4-FFF2-40B4-BE49-F238E27FC236}">
                <a16:creationId xmlns:a16="http://schemas.microsoft.com/office/drawing/2014/main" id="{275E435A-0187-419F-AD01-5D9D360E088F}"/>
              </a:ext>
            </a:extLst>
          </p:cNvPr>
          <p:cNvSpPr>
            <a:spLocks noGrp="1"/>
          </p:cNvSpPr>
          <p:nvPr>
            <p:ph idx="1"/>
          </p:nvPr>
        </p:nvSpPr>
        <p:spPr>
          <a:xfrm>
            <a:off x="838200" y="990600"/>
            <a:ext cx="10515600" cy="5186363"/>
          </a:xfrm>
        </p:spPr>
        <p:txBody>
          <a:bodyPr>
            <a:normAutofit/>
          </a:bodyPr>
          <a:lstStyle/>
          <a:p>
            <a:pPr algn="just"/>
            <a:r>
              <a:rPr lang="en-US" dirty="0"/>
              <a:t>A data science model is said to be overfitted, when we train it with a lot of data. </a:t>
            </a:r>
          </a:p>
          <a:p>
            <a:pPr algn="just"/>
            <a:r>
              <a:rPr lang="en-US" dirty="0"/>
              <a:t>When a model gets trained with so much of data, it starts learning from the noise and inaccurate data entries in our data set. </a:t>
            </a:r>
          </a:p>
          <a:p>
            <a:pPr algn="just"/>
            <a:endParaRPr lang="en-US" dirty="0"/>
          </a:p>
          <a:p>
            <a:pPr algn="just"/>
            <a:r>
              <a:rPr lang="en-US" dirty="0"/>
              <a:t>Then the model does not categorize the data correctly, because of too many details and noise. </a:t>
            </a:r>
          </a:p>
          <a:p>
            <a:pPr algn="just"/>
            <a:endParaRPr lang="en-US" dirty="0"/>
          </a:p>
          <a:p>
            <a:pPr algn="just"/>
            <a:r>
              <a:rPr lang="en-US" dirty="0"/>
              <a:t>A solution to avoid overfitting is using a linear algorithm if we have linear data or using the parameters like the maximal depth if we are using decision trees.</a:t>
            </a:r>
          </a:p>
        </p:txBody>
      </p:sp>
      <p:sp>
        <p:nvSpPr>
          <p:cNvPr id="5" name="Slide Number Placeholder 4">
            <a:extLst>
              <a:ext uri="{FF2B5EF4-FFF2-40B4-BE49-F238E27FC236}">
                <a16:creationId xmlns:a16="http://schemas.microsoft.com/office/drawing/2014/main" id="{E2570AED-1B95-4F6A-A7A5-BF74BC2F89FD}"/>
              </a:ext>
            </a:extLst>
          </p:cNvPr>
          <p:cNvSpPr>
            <a:spLocks noGrp="1"/>
          </p:cNvSpPr>
          <p:nvPr>
            <p:ph type="sldNum" sz="quarter" idx="12"/>
          </p:nvPr>
        </p:nvSpPr>
        <p:spPr/>
        <p:txBody>
          <a:bodyPr/>
          <a:lstStyle/>
          <a:p>
            <a:fld id="{6B97D948-30E8-43F7-AE10-F6E2D9F2BBB1}" type="slidenum">
              <a:rPr lang="en-US" smtClean="0"/>
              <a:t>798</a:t>
            </a:fld>
            <a:endParaRPr lang="en-US"/>
          </a:p>
        </p:txBody>
      </p:sp>
    </p:spTree>
    <p:extLst>
      <p:ext uri="{BB962C8B-B14F-4D97-AF65-F5344CB8AC3E}">
        <p14:creationId xmlns:p14="http://schemas.microsoft.com/office/powerpoint/2010/main" val="2918549298"/>
      </p:ext>
    </p:extLst>
  </p:cSld>
  <p:clrMapOvr>
    <a:masterClrMapping/>
  </p:clrMapOvr>
</p:sld>
</file>

<file path=ppt/slides/slide7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3B0B4-1900-4CE5-8FFB-536379665F32}"/>
              </a:ext>
            </a:extLst>
          </p:cNvPr>
          <p:cNvSpPr>
            <a:spLocks noGrp="1"/>
          </p:cNvSpPr>
          <p:nvPr>
            <p:ph type="title"/>
          </p:nvPr>
        </p:nvSpPr>
        <p:spPr>
          <a:xfrm>
            <a:off x="838200" y="365125"/>
            <a:ext cx="10515600" cy="625475"/>
          </a:xfrm>
        </p:spPr>
        <p:txBody>
          <a:bodyPr>
            <a:normAutofit fontScale="90000"/>
          </a:bodyPr>
          <a:lstStyle/>
          <a:p>
            <a:r>
              <a:rPr lang="en-US" dirty="0"/>
              <a:t>Summary. . .overfitting</a:t>
            </a:r>
          </a:p>
        </p:txBody>
      </p:sp>
      <p:sp>
        <p:nvSpPr>
          <p:cNvPr id="3" name="Content Placeholder 2">
            <a:extLst>
              <a:ext uri="{FF2B5EF4-FFF2-40B4-BE49-F238E27FC236}">
                <a16:creationId xmlns:a16="http://schemas.microsoft.com/office/drawing/2014/main" id="{8475B75C-F518-4D54-A6C7-63E634A5082B}"/>
              </a:ext>
            </a:extLst>
          </p:cNvPr>
          <p:cNvSpPr>
            <a:spLocks noGrp="1"/>
          </p:cNvSpPr>
          <p:nvPr>
            <p:ph idx="1"/>
          </p:nvPr>
        </p:nvSpPr>
        <p:spPr>
          <a:xfrm>
            <a:off x="838200" y="990600"/>
            <a:ext cx="10515600" cy="5186363"/>
          </a:xfrm>
        </p:spPr>
        <p:txBody>
          <a:bodyPr>
            <a:normAutofit/>
          </a:bodyPr>
          <a:lstStyle/>
          <a:p>
            <a:r>
              <a:rPr lang="en-US" dirty="0"/>
              <a:t>Overfitting – High variance and low bias</a:t>
            </a:r>
          </a:p>
          <a:p>
            <a:endParaRPr lang="en-US" dirty="0"/>
          </a:p>
          <a:p>
            <a:r>
              <a:rPr lang="en-US" dirty="0"/>
              <a:t>Techniques to reduce overfitting :</a:t>
            </a:r>
          </a:p>
          <a:p>
            <a:endParaRPr lang="en-US" dirty="0"/>
          </a:p>
          <a:p>
            <a:r>
              <a:rPr lang="en-US" dirty="0"/>
              <a:t>    Increase training data.</a:t>
            </a:r>
          </a:p>
          <a:p>
            <a:r>
              <a:rPr lang="en-US" dirty="0"/>
              <a:t>    Reduce model complexity.</a:t>
            </a:r>
          </a:p>
          <a:p>
            <a:r>
              <a:rPr lang="en-US" dirty="0"/>
              <a:t>    Early stopping during the training phase (as soon as loss begins to increase stop training).</a:t>
            </a:r>
          </a:p>
          <a:p>
            <a:r>
              <a:rPr lang="en-US" dirty="0"/>
              <a:t>    Ridge Regularization and Lasso Regularization</a:t>
            </a:r>
          </a:p>
          <a:p>
            <a:r>
              <a:rPr lang="en-US" dirty="0"/>
              <a:t>    Use dropout for neural networks to tackle overfitting.</a:t>
            </a:r>
          </a:p>
          <a:p>
            <a:endParaRPr lang="en-US" dirty="0"/>
          </a:p>
        </p:txBody>
      </p:sp>
      <p:sp>
        <p:nvSpPr>
          <p:cNvPr id="5" name="Slide Number Placeholder 4">
            <a:extLst>
              <a:ext uri="{FF2B5EF4-FFF2-40B4-BE49-F238E27FC236}">
                <a16:creationId xmlns:a16="http://schemas.microsoft.com/office/drawing/2014/main" id="{DD7DDC99-77AB-4DC7-A601-ED4A38450025}"/>
              </a:ext>
            </a:extLst>
          </p:cNvPr>
          <p:cNvSpPr>
            <a:spLocks noGrp="1"/>
          </p:cNvSpPr>
          <p:nvPr>
            <p:ph type="sldNum" sz="quarter" idx="12"/>
          </p:nvPr>
        </p:nvSpPr>
        <p:spPr/>
        <p:txBody>
          <a:bodyPr/>
          <a:lstStyle/>
          <a:p>
            <a:fld id="{6B97D948-30E8-43F7-AE10-F6E2D9F2BBB1}" type="slidenum">
              <a:rPr lang="en-US" smtClean="0"/>
              <a:t>799</a:t>
            </a:fld>
            <a:endParaRPr lang="en-US"/>
          </a:p>
        </p:txBody>
      </p:sp>
    </p:spTree>
    <p:extLst>
      <p:ext uri="{BB962C8B-B14F-4D97-AF65-F5344CB8AC3E}">
        <p14:creationId xmlns:p14="http://schemas.microsoft.com/office/powerpoint/2010/main" val="2557439156"/>
      </p:ext>
    </p:extLst>
  </p:cSld>
  <p:clrMapOvr>
    <a:masterClrMapping/>
  </p:clrMapOvr>
</p:sld>
</file>

<file path=ppt/slides/slide8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D82FF-2DE1-4593-9C26-876F30401411}"/>
              </a:ext>
            </a:extLst>
          </p:cNvPr>
          <p:cNvSpPr>
            <a:spLocks noGrp="1"/>
          </p:cNvSpPr>
          <p:nvPr>
            <p:ph type="title"/>
          </p:nvPr>
        </p:nvSpPr>
        <p:spPr>
          <a:xfrm>
            <a:off x="838200" y="365125"/>
            <a:ext cx="10515600" cy="793115"/>
          </a:xfrm>
        </p:spPr>
        <p:txBody>
          <a:bodyPr/>
          <a:lstStyle/>
          <a:p>
            <a:r>
              <a:rPr lang="en-US" dirty="0"/>
              <a:t>(small) Math. . .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AB5A0D-3F80-4770-80FB-7BFD87EBDF96}"/>
                  </a:ext>
                </a:extLst>
              </p:cNvPr>
              <p:cNvSpPr>
                <a:spLocks noGrp="1"/>
              </p:cNvSpPr>
              <p:nvPr>
                <p:ph idx="1"/>
              </p:nvPr>
            </p:nvSpPr>
            <p:spPr>
              <a:xfrm>
                <a:off x="838200" y="1158240"/>
                <a:ext cx="10515600" cy="5018723"/>
              </a:xfrm>
            </p:spPr>
            <p:txBody>
              <a:bodyPr/>
              <a:lstStyle/>
              <a:p>
                <a:pPr algn="just"/>
                <a:r>
                  <a:rPr lang="en-US" dirty="0"/>
                  <a:t>Suppose we specify that the sum of all absolute parameter values can be no greater than some number </a:t>
                </a:r>
                <a14:m>
                  <m:oMath xmlns:m="http://schemas.openxmlformats.org/officeDocument/2006/math">
                    <m:r>
                      <a:rPr lang="en-US" i="1">
                        <a:latin typeface="Cambria Math" panose="02040503050406030204" pitchFamily="18" charset="0"/>
                        <a:ea typeface="Cambria Math" panose="02040503050406030204" pitchFamily="18" charset="0"/>
                      </a:rPr>
                      <m:t>ℚ</m:t>
                    </m:r>
                  </m:oMath>
                </a14:m>
                <a:r>
                  <a:rPr lang="en-US" dirty="0"/>
                  <a:t>. </a:t>
                </a:r>
              </a:p>
              <a:p>
                <a:pPr algn="just"/>
                <a:endParaRPr lang="en-US" dirty="0"/>
              </a:p>
              <a:p>
                <a:pPr algn="just"/>
                <a:r>
                  <a:rPr lang="en-US" dirty="0"/>
                  <a:t>In other words:</a:t>
                </a:r>
              </a:p>
              <a:p>
                <a:pPr marL="0" indent="0" algn="ctr">
                  <a:buNone/>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𝑝</m:t>
                          </m:r>
                        </m:sup>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Sub>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ℚ</m:t>
                          </m:r>
                        </m:e>
                      </m:nary>
                    </m:oMath>
                  </m:oMathPara>
                </a14:m>
                <a:endParaRPr lang="en-US" dirty="0"/>
              </a:p>
              <a:p>
                <a:pPr algn="just"/>
                <a:r>
                  <a:rPr lang="en-US" dirty="0"/>
                  <a:t>Where </a:t>
                </a:r>
                <a14:m>
                  <m:oMath xmlns:m="http://schemas.openxmlformats.org/officeDocument/2006/math">
                    <m:r>
                      <a:rPr lang="en-US" b="0" i="1" smtClean="0">
                        <a:latin typeface="Cambria Math" panose="02040503050406030204" pitchFamily="18" charset="0"/>
                      </a:rPr>
                      <m:t>𝑝</m:t>
                    </m:r>
                  </m:oMath>
                </a14:m>
                <a:r>
                  <a:rPr lang="en-US" dirty="0"/>
                  <a:t> is the total number of parameters in the model. </a:t>
                </a:r>
              </a:p>
              <a:p>
                <a:pPr algn="just"/>
                <a:endParaRPr lang="en-US" dirty="0"/>
              </a:p>
              <a:p>
                <a:pPr algn="just"/>
                <a:r>
                  <a:rPr lang="en-US" dirty="0"/>
                  <a:t>You can think of this as us giving our model a “budget” for how it distributes the magnitudes of each parameter.</a:t>
                </a:r>
              </a:p>
            </p:txBody>
          </p:sp>
        </mc:Choice>
        <mc:Fallback xmlns="">
          <p:sp>
            <p:nvSpPr>
              <p:cNvPr id="3" name="Content Placeholder 2">
                <a:extLst>
                  <a:ext uri="{FF2B5EF4-FFF2-40B4-BE49-F238E27FC236}">
                    <a16:creationId xmlns:a16="http://schemas.microsoft.com/office/drawing/2014/main" id="{20AB5A0D-3F80-4770-80FB-7BFD87EBDF96}"/>
                  </a:ext>
                </a:extLst>
              </p:cNvPr>
              <p:cNvSpPr>
                <a:spLocks noGrp="1" noRot="1" noChangeAspect="1" noMove="1" noResize="1" noEditPoints="1" noAdjustHandles="1" noChangeArrowheads="1" noChangeShapeType="1" noTextEdit="1"/>
              </p:cNvSpPr>
              <p:nvPr>
                <p:ph idx="1"/>
              </p:nvPr>
            </p:nvSpPr>
            <p:spPr>
              <a:xfrm>
                <a:off x="838200" y="1158240"/>
                <a:ext cx="10515600" cy="5018723"/>
              </a:xfrm>
              <a:blipFill>
                <a:blip r:embed="rId2"/>
                <a:stretch>
                  <a:fillRect l="-1043" t="-1944" r="-1159" b="-12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35007030-9AFD-44A6-8828-CF952E3EF12B}"/>
              </a:ext>
            </a:extLst>
          </p:cNvPr>
          <p:cNvSpPr>
            <a:spLocks noGrp="1"/>
          </p:cNvSpPr>
          <p:nvPr>
            <p:ph type="sldNum" sz="quarter" idx="12"/>
          </p:nvPr>
        </p:nvSpPr>
        <p:spPr/>
        <p:txBody>
          <a:bodyPr/>
          <a:lstStyle/>
          <a:p>
            <a:fld id="{6B97D948-30E8-43F7-AE10-F6E2D9F2BBB1}" type="slidenum">
              <a:rPr lang="en-US" smtClean="0"/>
              <a:t>800</a:t>
            </a:fld>
            <a:endParaRPr lang="en-US"/>
          </a:p>
        </p:txBody>
      </p:sp>
    </p:spTree>
    <p:extLst>
      <p:ext uri="{BB962C8B-B14F-4D97-AF65-F5344CB8AC3E}">
        <p14:creationId xmlns:p14="http://schemas.microsoft.com/office/powerpoint/2010/main" val="2212598560"/>
      </p:ext>
    </p:extLst>
  </p:cSld>
  <p:clrMapOvr>
    <a:masterClrMapping/>
  </p:clrMapOvr>
</p:sld>
</file>

<file path=ppt/slides/slide8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6842A7-9A33-4CF9-A0AD-5CC3B08C8157}"/>
                  </a:ext>
                </a:extLst>
              </p:cNvPr>
              <p:cNvSpPr>
                <a:spLocks noGrp="1"/>
              </p:cNvSpPr>
              <p:nvPr>
                <p:ph idx="1"/>
              </p:nvPr>
            </p:nvSpPr>
            <p:spPr>
              <a:xfrm>
                <a:off x="838200" y="365760"/>
                <a:ext cx="10515600" cy="5811203"/>
              </a:xfrm>
            </p:spPr>
            <p:txBody>
              <a:bodyPr>
                <a:normAutofit/>
              </a:bodyPr>
              <a:lstStyle/>
              <a:p>
                <a:pPr algn="just"/>
                <a:r>
                  <a:rPr lang="en-US" dirty="0"/>
                  <a:t>If the model assigns a large value to some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Sub>
                  </m:oMath>
                </a14:m>
                <a:r>
                  <a:rPr lang="en-US" dirty="0"/>
                  <a:t>, it may have to assign a small value to some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𝑘</m:t>
                        </m:r>
                      </m:sub>
                    </m:sSub>
                  </m:oMath>
                </a14:m>
                <a:r>
                  <a:rPr lang="en-US" dirty="0"/>
                  <a:t>. </a:t>
                </a:r>
              </a:p>
              <a:p>
                <a:pPr algn="just"/>
                <a:endParaRPr lang="en-US" dirty="0"/>
              </a:p>
              <a:p>
                <a:pPr algn="just"/>
                <a:r>
                  <a:rPr lang="en-US" dirty="0"/>
                  <a:t>This has the effect of increasing feature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𝑖</m:t>
                        </m:r>
                      </m:sub>
                    </m:sSub>
                  </m:oMath>
                </a14:m>
                <a:r>
                  <a:rPr lang="en-US" dirty="0"/>
                  <a:t>’s influence on the predictions, while decreasing the influence of feature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ea typeface="Cambria Math" panose="02040503050406030204" pitchFamily="18" charset="0"/>
                          </a:rPr>
                          <m:t>𝑘</m:t>
                        </m:r>
                      </m:sub>
                    </m:sSub>
                  </m:oMath>
                </a14:m>
                <a:r>
                  <a:rPr lang="en-US" dirty="0"/>
                  <a:t>. </a:t>
                </a:r>
              </a:p>
              <a:p>
                <a:pPr algn="just"/>
                <a:endParaRPr lang="en-US" dirty="0"/>
              </a:p>
              <a:p>
                <a:pPr algn="just"/>
                <a:r>
                  <a:rPr lang="en-US" dirty="0"/>
                  <a:t>The model will need to be strategic about how the parameter weights are distributed – ideally, more “important” features will receive greater weighting.</a:t>
                </a:r>
              </a:p>
              <a:p>
                <a:endParaRPr lang="en-US" dirty="0"/>
              </a:p>
              <a:p>
                <a:r>
                  <a:rPr lang="en-US" dirty="0"/>
                  <a:t>Notice that the intercept term,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0</m:t>
                        </m:r>
                      </m:sub>
                    </m:sSub>
                  </m:oMath>
                </a14:m>
                <a:r>
                  <a:rPr lang="en-US" dirty="0"/>
                  <a:t>, is excluded from this constraint. </a:t>
                </a:r>
              </a:p>
              <a:p>
                <a:r>
                  <a:rPr lang="en-US" dirty="0"/>
                  <a:t>We typically do not regularize the intercept term.</a:t>
                </a:r>
              </a:p>
            </p:txBody>
          </p:sp>
        </mc:Choice>
        <mc:Fallback xmlns="">
          <p:sp>
            <p:nvSpPr>
              <p:cNvPr id="3" name="Content Placeholder 2">
                <a:extLst>
                  <a:ext uri="{FF2B5EF4-FFF2-40B4-BE49-F238E27FC236}">
                    <a16:creationId xmlns:a16="http://schemas.microsoft.com/office/drawing/2014/main" id="{D36842A7-9A33-4CF9-A0AD-5CC3B08C8157}"/>
                  </a:ext>
                </a:extLst>
              </p:cNvPr>
              <p:cNvSpPr>
                <a:spLocks noGrp="1" noRot="1" noChangeAspect="1" noMove="1" noResize="1" noEditPoints="1" noAdjustHandles="1" noChangeArrowheads="1" noChangeShapeType="1" noTextEdit="1"/>
              </p:cNvSpPr>
              <p:nvPr>
                <p:ph idx="1"/>
              </p:nvPr>
            </p:nvSpPr>
            <p:spPr>
              <a:xfrm>
                <a:off x="838200" y="365760"/>
                <a:ext cx="10515600" cy="5811203"/>
              </a:xfrm>
              <a:blipFill>
                <a:blip r:embed="rId2"/>
                <a:stretch>
                  <a:fillRect l="-1043" t="-1679"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52623A6-BFA8-4D06-8420-3A0CA37E5B7A}"/>
              </a:ext>
            </a:extLst>
          </p:cNvPr>
          <p:cNvSpPr>
            <a:spLocks noGrp="1"/>
          </p:cNvSpPr>
          <p:nvPr>
            <p:ph type="sldNum" sz="quarter" idx="12"/>
          </p:nvPr>
        </p:nvSpPr>
        <p:spPr/>
        <p:txBody>
          <a:bodyPr/>
          <a:lstStyle/>
          <a:p>
            <a:fld id="{6B97D948-30E8-43F7-AE10-F6E2D9F2BBB1}" type="slidenum">
              <a:rPr lang="en-US" smtClean="0"/>
              <a:t>801</a:t>
            </a:fld>
            <a:endParaRPr lang="en-US"/>
          </a:p>
        </p:txBody>
      </p:sp>
    </p:spTree>
    <p:extLst>
      <p:ext uri="{BB962C8B-B14F-4D97-AF65-F5344CB8AC3E}">
        <p14:creationId xmlns:p14="http://schemas.microsoft.com/office/powerpoint/2010/main" val="2687284711"/>
      </p:ext>
    </p:extLst>
  </p:cSld>
  <p:clrMapOvr>
    <a:masterClrMapping/>
  </p:clrMapOvr>
</p:sld>
</file>

<file path=ppt/slides/slide8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DF044-AE41-43EB-AFF0-A471F23FAC40}"/>
              </a:ext>
            </a:extLst>
          </p:cNvPr>
          <p:cNvSpPr>
            <a:spLocks noGrp="1"/>
          </p:cNvSpPr>
          <p:nvPr>
            <p:ph type="title"/>
          </p:nvPr>
        </p:nvSpPr>
        <p:spPr/>
        <p:txBody>
          <a:bodyPr/>
          <a:lstStyle/>
          <a:p>
            <a:r>
              <a:rPr lang="en-US" dirty="0"/>
              <a:t>Summary</a:t>
            </a:r>
          </a:p>
        </p:txBody>
      </p:sp>
      <p:pic>
        <p:nvPicPr>
          <p:cNvPr id="4" name="Content Placeholder 3">
            <a:extLst>
              <a:ext uri="{FF2B5EF4-FFF2-40B4-BE49-F238E27FC236}">
                <a16:creationId xmlns:a16="http://schemas.microsoft.com/office/drawing/2014/main" id="{990CFEF3-5FC4-4A0D-AF3A-299CCC1C94E6}"/>
              </a:ext>
            </a:extLst>
          </p:cNvPr>
          <p:cNvPicPr>
            <a:picLocks noGrp="1" noChangeAspect="1"/>
          </p:cNvPicPr>
          <p:nvPr>
            <p:ph idx="1"/>
          </p:nvPr>
        </p:nvPicPr>
        <p:blipFill>
          <a:blip r:embed="rId2"/>
          <a:stretch>
            <a:fillRect/>
          </a:stretch>
        </p:blipFill>
        <p:spPr>
          <a:xfrm>
            <a:off x="838200" y="2069474"/>
            <a:ext cx="10515600" cy="3863639"/>
          </a:xfrm>
          <a:prstGeom prst="rect">
            <a:avLst/>
          </a:prstGeom>
        </p:spPr>
      </p:pic>
      <p:sp>
        <p:nvSpPr>
          <p:cNvPr id="6" name="Slide Number Placeholder 5">
            <a:extLst>
              <a:ext uri="{FF2B5EF4-FFF2-40B4-BE49-F238E27FC236}">
                <a16:creationId xmlns:a16="http://schemas.microsoft.com/office/drawing/2014/main" id="{C609D279-1A9B-493B-877A-C1ACD08B9B02}"/>
              </a:ext>
            </a:extLst>
          </p:cNvPr>
          <p:cNvSpPr>
            <a:spLocks noGrp="1"/>
          </p:cNvSpPr>
          <p:nvPr>
            <p:ph type="sldNum" sz="quarter" idx="12"/>
          </p:nvPr>
        </p:nvSpPr>
        <p:spPr/>
        <p:txBody>
          <a:bodyPr/>
          <a:lstStyle/>
          <a:p>
            <a:fld id="{6B97D948-30E8-43F7-AE10-F6E2D9F2BBB1}" type="slidenum">
              <a:rPr lang="en-US" smtClean="0"/>
              <a:t>802</a:t>
            </a:fld>
            <a:endParaRPr lang="en-US"/>
          </a:p>
        </p:txBody>
      </p:sp>
    </p:spTree>
    <p:extLst>
      <p:ext uri="{BB962C8B-B14F-4D97-AF65-F5344CB8AC3E}">
        <p14:creationId xmlns:p14="http://schemas.microsoft.com/office/powerpoint/2010/main" val="310614837"/>
      </p:ext>
    </p:extLst>
  </p:cSld>
  <p:clrMapOvr>
    <a:masterClrMapping/>
  </p:clrMapOvr>
</p:sld>
</file>

<file path=ppt/slides/slide8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1566B-7298-4C00-B044-4BC4F0D4BEE2}"/>
              </a:ext>
            </a:extLst>
          </p:cNvPr>
          <p:cNvSpPr>
            <a:spLocks noGrp="1"/>
          </p:cNvSpPr>
          <p:nvPr>
            <p:ph type="title"/>
          </p:nvPr>
        </p:nvSpPr>
        <p:spPr>
          <a:xfrm>
            <a:off x="838200" y="365125"/>
            <a:ext cx="10515600" cy="762635"/>
          </a:xfrm>
        </p:spPr>
        <p:txBody>
          <a:bodyPr/>
          <a:lstStyle/>
          <a:p>
            <a:r>
              <a:rPr lang="en-US" dirty="0"/>
              <a:t>L1 (Lasso) Regularization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F7944B-581D-40BC-B991-F655EC2FEF7E}"/>
                  </a:ext>
                </a:extLst>
              </p:cNvPr>
              <p:cNvSpPr>
                <a:spLocks noGrp="1"/>
              </p:cNvSpPr>
              <p:nvPr>
                <p:ph idx="1"/>
              </p:nvPr>
            </p:nvSpPr>
            <p:spPr>
              <a:xfrm>
                <a:off x="838200" y="1127760"/>
                <a:ext cx="10515600" cy="5049203"/>
              </a:xfrm>
            </p:spPr>
            <p:txBody>
              <a:bodyPr/>
              <a:lstStyle/>
              <a:p>
                <a:r>
                  <a:rPr lang="en-US" dirty="0"/>
                  <a:t>How do we actually apply our constraint:</a:t>
                </a:r>
              </a:p>
              <a:p>
                <a:pPr marL="0" indent="0" algn="ctr">
                  <a:buNone/>
                </a:pP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𝑝</m:t>
                        </m:r>
                      </m:sup>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Sub>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ℚ</m:t>
                        </m:r>
                      </m:e>
                    </m:nary>
                  </m:oMath>
                </a14:m>
                <a:r>
                  <a:rPr lang="en-US" dirty="0"/>
                  <a:t>?</a:t>
                </a:r>
              </a:p>
              <a:p>
                <a:endParaRPr lang="en-US" dirty="0"/>
              </a:p>
              <a:p>
                <a:pPr algn="just"/>
                <a:r>
                  <a:rPr lang="en-US" dirty="0"/>
                  <a:t>We will do so by modifying the </a:t>
                </a:r>
                <a:r>
                  <a:rPr lang="en-US" dirty="0">
                    <a:solidFill>
                      <a:srgbClr val="FF0000"/>
                    </a:solidFill>
                  </a:rPr>
                  <a:t>objective function </a:t>
                </a:r>
                <a:r>
                  <a:rPr lang="en-US" dirty="0"/>
                  <a:t>that we seek to minimize when fitting a model.</a:t>
                </a:r>
              </a:p>
              <a:p>
                <a:pPr algn="just"/>
                <a:endParaRPr lang="en-US" dirty="0"/>
              </a:p>
              <a:p>
                <a:pPr algn="just"/>
                <a:r>
                  <a:rPr lang="en-US" dirty="0"/>
                  <a:t>Recall our ordinary least squares objective function: our goal was to find parameters that minimize the model’s mean squared error.</a:t>
                </a:r>
              </a:p>
              <a:p>
                <a:pPr marL="0" indent="0" algn="ctr">
                  <a:buNone/>
                </a:pP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e>
                    </m:nary>
                    <m:r>
                      <a:rPr lang="en-US" b="0" i="1" smtClean="0">
                        <a:latin typeface="Cambria Math" panose="02040503050406030204" pitchFamily="18" charset="0"/>
                      </a:rPr>
                      <m:t> </m:t>
                    </m:r>
                  </m:oMath>
                </a14:m>
                <a:r>
                  <a:rPr lang="en-US" dirty="0"/>
                  <a:t>such that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𝑖</m:t>
                                </m:r>
                              </m:sub>
                            </m:sSub>
                          </m:e>
                        </m:d>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ℚ</m:t>
                        </m:r>
                      </m:e>
                    </m:nary>
                  </m:oMath>
                </a14:m>
                <a:r>
                  <a:rPr lang="en-US" dirty="0"/>
                  <a:t>.</a:t>
                </a:r>
              </a:p>
            </p:txBody>
          </p:sp>
        </mc:Choice>
        <mc:Fallback xmlns="">
          <p:sp>
            <p:nvSpPr>
              <p:cNvPr id="3" name="Content Placeholder 2">
                <a:extLst>
                  <a:ext uri="{FF2B5EF4-FFF2-40B4-BE49-F238E27FC236}">
                    <a16:creationId xmlns:a16="http://schemas.microsoft.com/office/drawing/2014/main" id="{AEF7944B-581D-40BC-B991-F655EC2FEF7E}"/>
                  </a:ext>
                </a:extLst>
              </p:cNvPr>
              <p:cNvSpPr>
                <a:spLocks noGrp="1" noRot="1" noChangeAspect="1" noMove="1" noResize="1" noEditPoints="1" noAdjustHandles="1" noChangeArrowheads="1" noChangeShapeType="1" noTextEdit="1"/>
              </p:cNvSpPr>
              <p:nvPr>
                <p:ph idx="1"/>
              </p:nvPr>
            </p:nvSpPr>
            <p:spPr>
              <a:xfrm>
                <a:off x="838200" y="1127760"/>
                <a:ext cx="10515600" cy="5049203"/>
              </a:xfrm>
              <a:blipFill>
                <a:blip r:embed="rId2"/>
                <a:stretch>
                  <a:fillRect l="-1043" t="-1932"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9A01D218-DC6F-4C65-B65D-2DAC6CA9C478}"/>
              </a:ext>
            </a:extLst>
          </p:cNvPr>
          <p:cNvSpPr>
            <a:spLocks noGrp="1"/>
          </p:cNvSpPr>
          <p:nvPr>
            <p:ph type="sldNum" sz="quarter" idx="12"/>
          </p:nvPr>
        </p:nvSpPr>
        <p:spPr/>
        <p:txBody>
          <a:bodyPr/>
          <a:lstStyle/>
          <a:p>
            <a:fld id="{6B97D948-30E8-43F7-AE10-F6E2D9F2BBB1}" type="slidenum">
              <a:rPr lang="en-US" smtClean="0"/>
              <a:t>803</a:t>
            </a:fld>
            <a:endParaRPr lang="en-US"/>
          </a:p>
        </p:txBody>
      </p:sp>
    </p:spTree>
    <p:extLst>
      <p:ext uri="{BB962C8B-B14F-4D97-AF65-F5344CB8AC3E}">
        <p14:creationId xmlns:p14="http://schemas.microsoft.com/office/powerpoint/2010/main" val="2972908887"/>
      </p:ext>
    </p:extLst>
  </p:cSld>
  <p:clrMapOvr>
    <a:masterClrMapping/>
  </p:clrMapOvr>
</p:sld>
</file>

<file path=ppt/slides/slide8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A5CEE5-BA28-4618-AFBF-19E6DCEEC6FB}"/>
                  </a:ext>
                </a:extLst>
              </p:cNvPr>
              <p:cNvSpPr>
                <a:spLocks noGrp="1"/>
              </p:cNvSpPr>
              <p:nvPr>
                <p:ph idx="1"/>
              </p:nvPr>
            </p:nvSpPr>
            <p:spPr>
              <a:xfrm>
                <a:off x="838200" y="548640"/>
                <a:ext cx="10515600" cy="5628323"/>
              </a:xfrm>
            </p:spPr>
            <p:txBody>
              <a:bodyPr/>
              <a:lstStyle/>
              <a:p>
                <a:pPr algn="just"/>
                <a:r>
                  <a:rPr lang="en-US" dirty="0"/>
                  <a:t>To cut a long story short, we would minimize the following augmented objective function is equivalent to our minimization goal above.</a:t>
                </a:r>
              </a:p>
              <a:p>
                <a:pPr marL="0" indent="0" algn="just">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e>
                      </m:nary>
                      <m:r>
                        <a:rPr lang="en-US" b="0" i="0"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𝑖</m:t>
                                  </m:r>
                                </m:sub>
                              </m:sSub>
                            </m:e>
                          </m:d>
                        </m:e>
                      </m:nary>
                    </m:oMath>
                  </m:oMathPara>
                </a14:m>
                <a:endParaRPr lang="en-US" dirty="0"/>
              </a:p>
              <a:p>
                <a:pPr algn="just"/>
                <a:r>
                  <a:rPr lang="en-US" dirty="0"/>
                  <a:t>We call </a:t>
                </a:r>
                <a14:m>
                  <m:oMath xmlns:m="http://schemas.openxmlformats.org/officeDocument/2006/math">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 </m:t>
                    </m:r>
                  </m:oMath>
                </a14:m>
                <a:r>
                  <a:rPr lang="en-US" dirty="0"/>
                  <a:t>the regularization penalty hyperparameter. We select its value via cross-validation.</a:t>
                </a:r>
              </a:p>
              <a:p>
                <a:pPr algn="just"/>
                <a:r>
                  <a:rPr lang="en-US" dirty="0"/>
                  <a:t>The process of finding the optimal </a:t>
                </a:r>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𝜃</m:t>
                        </m:r>
                      </m:e>
                    </m:acc>
                  </m:oMath>
                </a14:m>
                <a:r>
                  <a:rPr lang="en-US" dirty="0"/>
                  <a:t> to minimize our new objective function is called </a:t>
                </a:r>
                <a:r>
                  <a:rPr lang="en-US" dirty="0">
                    <a:solidFill>
                      <a:srgbClr val="FF0000"/>
                    </a:solidFill>
                  </a:rPr>
                  <a:t>L1 regularization</a:t>
                </a:r>
                <a:r>
                  <a:rPr lang="en-US" dirty="0"/>
                  <a:t>. </a:t>
                </a:r>
              </a:p>
              <a:p>
                <a:pPr algn="just"/>
                <a:endParaRPr lang="en-US" dirty="0"/>
              </a:p>
              <a:p>
                <a:pPr algn="just"/>
                <a:r>
                  <a:rPr lang="en-US" dirty="0"/>
                  <a:t>It is also sometimes known by the acronym “</a:t>
                </a:r>
                <a:r>
                  <a:rPr lang="en-US" dirty="0">
                    <a:solidFill>
                      <a:srgbClr val="FF0000"/>
                    </a:solidFill>
                  </a:rPr>
                  <a:t>LASSO</a:t>
                </a:r>
                <a:r>
                  <a:rPr lang="en-US" dirty="0"/>
                  <a:t>”, which stands for “</a:t>
                </a:r>
                <a:r>
                  <a:rPr lang="en-US" dirty="0">
                    <a:solidFill>
                      <a:srgbClr val="FF0000"/>
                    </a:solidFill>
                  </a:rPr>
                  <a:t>least absolute shrinkage and selection operator.</a:t>
                </a:r>
                <a:r>
                  <a:rPr lang="en-US" dirty="0"/>
                  <a:t>”</a:t>
                </a:r>
              </a:p>
              <a:p>
                <a:pPr algn="just"/>
                <a:endParaRPr lang="en-US" dirty="0"/>
              </a:p>
            </p:txBody>
          </p:sp>
        </mc:Choice>
        <mc:Fallback xmlns="">
          <p:sp>
            <p:nvSpPr>
              <p:cNvPr id="3" name="Content Placeholder 2">
                <a:extLst>
                  <a:ext uri="{FF2B5EF4-FFF2-40B4-BE49-F238E27FC236}">
                    <a16:creationId xmlns:a16="http://schemas.microsoft.com/office/drawing/2014/main" id="{4FA5CEE5-BA28-4618-AFBF-19E6DCEEC6FB}"/>
                  </a:ext>
                </a:extLst>
              </p:cNvPr>
              <p:cNvSpPr>
                <a:spLocks noGrp="1" noRot="1" noChangeAspect="1" noMove="1" noResize="1" noEditPoints="1" noAdjustHandles="1" noChangeArrowheads="1" noChangeShapeType="1" noTextEdit="1"/>
              </p:cNvSpPr>
              <p:nvPr>
                <p:ph idx="1"/>
              </p:nvPr>
            </p:nvSpPr>
            <p:spPr>
              <a:xfrm>
                <a:off x="838200" y="548640"/>
                <a:ext cx="10515600" cy="5628323"/>
              </a:xfrm>
              <a:blipFill>
                <a:blip r:embed="rId2"/>
                <a:stretch>
                  <a:fillRect l="-1043" t="-1733" r="-1159" b="-97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CDE9BA20-9233-435D-8625-711F7C82FBEF}"/>
              </a:ext>
            </a:extLst>
          </p:cNvPr>
          <p:cNvSpPr>
            <a:spLocks noGrp="1"/>
          </p:cNvSpPr>
          <p:nvPr>
            <p:ph type="sldNum" sz="quarter" idx="12"/>
          </p:nvPr>
        </p:nvSpPr>
        <p:spPr/>
        <p:txBody>
          <a:bodyPr/>
          <a:lstStyle/>
          <a:p>
            <a:fld id="{6B97D948-30E8-43F7-AE10-F6E2D9F2BBB1}" type="slidenum">
              <a:rPr lang="en-US" smtClean="0"/>
              <a:t>804</a:t>
            </a:fld>
            <a:endParaRPr lang="en-US"/>
          </a:p>
        </p:txBody>
      </p:sp>
    </p:spTree>
    <p:extLst>
      <p:ext uri="{BB962C8B-B14F-4D97-AF65-F5344CB8AC3E}">
        <p14:creationId xmlns:p14="http://schemas.microsoft.com/office/powerpoint/2010/main" val="2614957675"/>
      </p:ext>
    </p:extLst>
  </p:cSld>
  <p:clrMapOvr>
    <a:masterClrMapping/>
  </p:clrMapOvr>
</p:sld>
</file>

<file path=ppt/slides/slide8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495A7-E1F9-494F-B7F7-5CD846F92E5D}"/>
              </a:ext>
            </a:extLst>
          </p:cNvPr>
          <p:cNvSpPr>
            <a:spLocks noGrp="1"/>
          </p:cNvSpPr>
          <p:nvPr>
            <p:ph type="title"/>
          </p:nvPr>
        </p:nvSpPr>
        <p:spPr>
          <a:xfrm>
            <a:off x="838200" y="365125"/>
            <a:ext cx="10515600" cy="625475"/>
          </a:xfrm>
        </p:spPr>
        <p:txBody>
          <a:bodyPr>
            <a:normAutofit fontScale="90000"/>
          </a:bodyPr>
          <a:lstStyle/>
          <a:p>
            <a:r>
              <a:rPr lang="en-US" dirty="0"/>
              <a:t>Code</a:t>
            </a:r>
          </a:p>
        </p:txBody>
      </p:sp>
      <p:sp>
        <p:nvSpPr>
          <p:cNvPr id="3" name="Content Placeholder 2">
            <a:extLst>
              <a:ext uri="{FF2B5EF4-FFF2-40B4-BE49-F238E27FC236}">
                <a16:creationId xmlns:a16="http://schemas.microsoft.com/office/drawing/2014/main" id="{2886DE2F-8064-4344-97BC-4D96B66D1286}"/>
              </a:ext>
            </a:extLst>
          </p:cNvPr>
          <p:cNvSpPr>
            <a:spLocks noGrp="1"/>
          </p:cNvSpPr>
          <p:nvPr>
            <p:ph idx="1"/>
          </p:nvPr>
        </p:nvSpPr>
        <p:spPr>
          <a:xfrm>
            <a:off x="838200" y="990600"/>
            <a:ext cx="10515600" cy="5186363"/>
          </a:xfrm>
        </p:spPr>
        <p:txBody>
          <a:bodyPr>
            <a:normAutofit fontScale="92500"/>
          </a:bodyPr>
          <a:lstStyle/>
          <a:p>
            <a:r>
              <a:rPr lang="en-US" dirty="0"/>
              <a:t>We </a:t>
            </a:r>
            <a:r>
              <a:rPr lang="en-US" dirty="0" err="1"/>
              <a:t>revist</a:t>
            </a:r>
            <a:r>
              <a:rPr lang="en-US" dirty="0"/>
              <a:t> our previous problem to do with hp </a:t>
            </a:r>
            <a:r>
              <a:rPr lang="en-US" dirty="0" err="1"/>
              <a:t>vrs</a:t>
            </a:r>
            <a:r>
              <a:rPr lang="en-US" dirty="0"/>
              <a:t> mpg. . . </a:t>
            </a:r>
          </a:p>
          <a:p>
            <a:r>
              <a:rPr lang="en-US" dirty="0">
                <a:solidFill>
                  <a:srgbClr val="FF0000"/>
                </a:solidFill>
              </a:rPr>
              <a:t>import pandas as pd</a:t>
            </a:r>
          </a:p>
          <a:p>
            <a:r>
              <a:rPr lang="en-US" dirty="0">
                <a:solidFill>
                  <a:srgbClr val="FF0000"/>
                </a:solidFill>
              </a:rPr>
              <a:t>import </a:t>
            </a:r>
            <a:r>
              <a:rPr lang="en-US" dirty="0" err="1">
                <a:solidFill>
                  <a:srgbClr val="FF0000"/>
                </a:solidFill>
              </a:rPr>
              <a:t>numpy</a:t>
            </a:r>
            <a:r>
              <a:rPr lang="en-US" dirty="0">
                <a:solidFill>
                  <a:srgbClr val="FF0000"/>
                </a:solidFill>
              </a:rPr>
              <a:t> as np</a:t>
            </a:r>
          </a:p>
          <a:p>
            <a:r>
              <a:rPr lang="en-US" dirty="0">
                <a:solidFill>
                  <a:srgbClr val="FF0000"/>
                </a:solidFill>
              </a:rPr>
              <a:t>import seaborn as </a:t>
            </a:r>
            <a:r>
              <a:rPr lang="en-US" dirty="0" err="1">
                <a:solidFill>
                  <a:srgbClr val="FF0000"/>
                </a:solidFill>
              </a:rPr>
              <a:t>sns</a:t>
            </a:r>
            <a:endParaRPr lang="en-US" dirty="0">
              <a:solidFill>
                <a:srgbClr val="FF0000"/>
              </a:solidFill>
            </a:endParaRPr>
          </a:p>
          <a:p>
            <a:r>
              <a:rPr lang="en-US" dirty="0">
                <a:solidFill>
                  <a:srgbClr val="FF0000"/>
                </a:solidFill>
              </a:rPr>
              <a:t>vehicles = </a:t>
            </a:r>
            <a:r>
              <a:rPr lang="en-US" dirty="0" err="1">
                <a:solidFill>
                  <a:srgbClr val="FF0000"/>
                </a:solidFill>
              </a:rPr>
              <a:t>sns.load_dataset</a:t>
            </a:r>
            <a:r>
              <a:rPr lang="en-US" dirty="0">
                <a:solidFill>
                  <a:srgbClr val="FF0000"/>
                </a:solidFill>
              </a:rPr>
              <a:t>("mpg").rename(columns={"</a:t>
            </a:r>
            <a:r>
              <a:rPr lang="en-US" dirty="0" err="1">
                <a:solidFill>
                  <a:srgbClr val="FF0000"/>
                </a:solidFill>
              </a:rPr>
              <a:t>horsepower":"hp</a:t>
            </a:r>
            <a:r>
              <a:rPr lang="en-US" dirty="0">
                <a:solidFill>
                  <a:srgbClr val="FF0000"/>
                </a:solidFill>
              </a:rPr>
              <a:t>"}).</a:t>
            </a:r>
            <a:r>
              <a:rPr lang="en-US" dirty="0" err="1">
                <a:solidFill>
                  <a:srgbClr val="FF0000"/>
                </a:solidFill>
              </a:rPr>
              <a:t>dropna</a:t>
            </a:r>
            <a:r>
              <a:rPr lang="en-US" dirty="0">
                <a:solidFill>
                  <a:srgbClr val="FF0000"/>
                </a:solidFill>
              </a:rPr>
              <a:t>()</a:t>
            </a:r>
          </a:p>
          <a:p>
            <a:r>
              <a:rPr lang="en-US" dirty="0">
                <a:solidFill>
                  <a:srgbClr val="FF0000"/>
                </a:solidFill>
              </a:rPr>
              <a:t> X = vehicles[["hp"]]</a:t>
            </a:r>
          </a:p>
          <a:p>
            <a:r>
              <a:rPr lang="en-US" dirty="0">
                <a:solidFill>
                  <a:srgbClr val="FF0000"/>
                </a:solidFill>
              </a:rPr>
              <a:t> X["hp^2"] = vehicles["hp"]**2</a:t>
            </a:r>
          </a:p>
          <a:p>
            <a:r>
              <a:rPr lang="en-US" dirty="0">
                <a:solidFill>
                  <a:srgbClr val="FF0000"/>
                </a:solidFill>
              </a:rPr>
              <a:t> X["hp^3"] = vehicles["hp"]**3</a:t>
            </a:r>
          </a:p>
          <a:p>
            <a:r>
              <a:rPr lang="en-US" dirty="0">
                <a:solidFill>
                  <a:srgbClr val="FF0000"/>
                </a:solidFill>
              </a:rPr>
              <a:t> X["hp^4"] = vehicles["hp"]**4</a:t>
            </a:r>
          </a:p>
          <a:p>
            <a:r>
              <a:rPr lang="en-US" dirty="0">
                <a:solidFill>
                  <a:srgbClr val="FF0000"/>
                </a:solidFill>
              </a:rPr>
              <a:t> Y = vehicles["mpg"]</a:t>
            </a:r>
          </a:p>
        </p:txBody>
      </p:sp>
      <p:sp>
        <p:nvSpPr>
          <p:cNvPr id="5" name="Slide Number Placeholder 4">
            <a:extLst>
              <a:ext uri="{FF2B5EF4-FFF2-40B4-BE49-F238E27FC236}">
                <a16:creationId xmlns:a16="http://schemas.microsoft.com/office/drawing/2014/main" id="{1939412A-370A-4D2C-9FB6-D8193242B172}"/>
              </a:ext>
            </a:extLst>
          </p:cNvPr>
          <p:cNvSpPr>
            <a:spLocks noGrp="1"/>
          </p:cNvSpPr>
          <p:nvPr>
            <p:ph type="sldNum" sz="quarter" idx="12"/>
          </p:nvPr>
        </p:nvSpPr>
        <p:spPr/>
        <p:txBody>
          <a:bodyPr/>
          <a:lstStyle/>
          <a:p>
            <a:fld id="{6B97D948-30E8-43F7-AE10-F6E2D9F2BBB1}" type="slidenum">
              <a:rPr lang="en-US" smtClean="0"/>
              <a:t>805</a:t>
            </a:fld>
            <a:endParaRPr lang="en-US"/>
          </a:p>
        </p:txBody>
      </p:sp>
    </p:spTree>
    <p:extLst>
      <p:ext uri="{BB962C8B-B14F-4D97-AF65-F5344CB8AC3E}">
        <p14:creationId xmlns:p14="http://schemas.microsoft.com/office/powerpoint/2010/main" val="117451964"/>
      </p:ext>
    </p:extLst>
  </p:cSld>
  <p:clrMapOvr>
    <a:masterClrMapping/>
  </p:clrMapOvr>
</p:sld>
</file>

<file path=ppt/slides/slide8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F21456-2275-4816-853F-D9893D3A8B1F}"/>
              </a:ext>
            </a:extLst>
          </p:cNvPr>
          <p:cNvSpPr>
            <a:spLocks noGrp="1"/>
          </p:cNvSpPr>
          <p:nvPr>
            <p:ph idx="1"/>
          </p:nvPr>
        </p:nvSpPr>
        <p:spPr>
          <a:xfrm>
            <a:off x="838200" y="441960"/>
            <a:ext cx="10515600" cy="5735003"/>
          </a:xfrm>
        </p:spPr>
        <p:txBody>
          <a:bodyPr>
            <a:normAutofit/>
          </a:bodyPr>
          <a:lstStyle/>
          <a:p>
            <a:r>
              <a:rPr lang="en-US" dirty="0">
                <a:solidFill>
                  <a:srgbClr val="FF0000"/>
                </a:solidFill>
              </a:rPr>
              <a:t>from </a:t>
            </a:r>
            <a:r>
              <a:rPr lang="en-US" dirty="0" err="1">
                <a:solidFill>
                  <a:srgbClr val="FF0000"/>
                </a:solidFill>
              </a:rPr>
              <a:t>sklearn.model_selection</a:t>
            </a:r>
            <a:r>
              <a:rPr lang="en-US" dirty="0">
                <a:solidFill>
                  <a:srgbClr val="FF0000"/>
                </a:solidFill>
              </a:rPr>
              <a:t> import </a:t>
            </a:r>
            <a:r>
              <a:rPr lang="en-US" dirty="0" err="1">
                <a:solidFill>
                  <a:srgbClr val="FF0000"/>
                </a:solidFill>
              </a:rPr>
              <a:t>train_test_split</a:t>
            </a:r>
            <a:endParaRPr lang="en-US" dirty="0">
              <a:solidFill>
                <a:srgbClr val="FF0000"/>
              </a:solidFill>
            </a:endParaRPr>
          </a:p>
          <a:p>
            <a:r>
              <a:rPr lang="en-US" dirty="0" err="1">
                <a:solidFill>
                  <a:srgbClr val="FF0000"/>
                </a:solidFill>
              </a:rPr>
              <a:t>X_train</a:t>
            </a:r>
            <a:r>
              <a:rPr lang="en-US" dirty="0">
                <a:solidFill>
                  <a:srgbClr val="FF0000"/>
                </a:solidFill>
              </a:rPr>
              <a:t>, </a:t>
            </a:r>
            <a:r>
              <a:rPr lang="en-US" dirty="0" err="1">
                <a:solidFill>
                  <a:srgbClr val="FF0000"/>
                </a:solidFill>
              </a:rPr>
              <a:t>X_test</a:t>
            </a:r>
            <a:r>
              <a:rPr lang="en-US" dirty="0">
                <a:solidFill>
                  <a:srgbClr val="FF0000"/>
                </a:solidFill>
              </a:rPr>
              <a:t>, </a:t>
            </a:r>
            <a:r>
              <a:rPr lang="en-US" dirty="0" err="1">
                <a:solidFill>
                  <a:srgbClr val="FF0000"/>
                </a:solidFill>
              </a:rPr>
              <a:t>Y_train</a:t>
            </a:r>
            <a:r>
              <a:rPr lang="en-US" dirty="0">
                <a:solidFill>
                  <a:srgbClr val="FF0000"/>
                </a:solidFill>
              </a:rPr>
              <a:t>, </a:t>
            </a:r>
            <a:r>
              <a:rPr lang="en-US" dirty="0" err="1">
                <a:solidFill>
                  <a:srgbClr val="FF0000"/>
                </a:solidFill>
              </a:rPr>
              <a:t>Y_test</a:t>
            </a:r>
            <a:r>
              <a:rPr lang="en-US" dirty="0">
                <a:solidFill>
                  <a:srgbClr val="FF0000"/>
                </a:solidFill>
              </a:rPr>
              <a:t> = </a:t>
            </a:r>
            <a:r>
              <a:rPr lang="en-US" dirty="0" err="1">
                <a:solidFill>
                  <a:srgbClr val="FF0000"/>
                </a:solidFill>
              </a:rPr>
              <a:t>train_test_split</a:t>
            </a:r>
            <a:r>
              <a:rPr lang="en-US" dirty="0">
                <a:solidFill>
                  <a:srgbClr val="FF0000"/>
                </a:solidFill>
              </a:rPr>
              <a:t>(X, y, </a:t>
            </a:r>
            <a:r>
              <a:rPr lang="en-US" dirty="0" err="1">
                <a:solidFill>
                  <a:srgbClr val="FF0000"/>
                </a:solidFill>
              </a:rPr>
              <a:t>test_size</a:t>
            </a:r>
            <a:r>
              <a:rPr lang="en-US" dirty="0">
                <a:solidFill>
                  <a:srgbClr val="FF0000"/>
                </a:solidFill>
              </a:rPr>
              <a:t>=0.2, </a:t>
            </a:r>
            <a:r>
              <a:rPr lang="en-US" dirty="0" err="1">
                <a:solidFill>
                  <a:srgbClr val="FF0000"/>
                </a:solidFill>
              </a:rPr>
              <a:t>random_state</a:t>
            </a:r>
            <a:r>
              <a:rPr lang="en-US" dirty="0">
                <a:solidFill>
                  <a:srgbClr val="FF0000"/>
                </a:solidFill>
              </a:rPr>
              <a:t>=220)</a:t>
            </a:r>
          </a:p>
          <a:p>
            <a:r>
              <a:rPr lang="en-US" dirty="0">
                <a:solidFill>
                  <a:srgbClr val="FF0000"/>
                </a:solidFill>
              </a:rPr>
              <a:t>print(</a:t>
            </a:r>
            <a:r>
              <a:rPr lang="en-US" dirty="0" err="1">
                <a:solidFill>
                  <a:srgbClr val="FF0000"/>
                </a:solidFill>
              </a:rPr>
              <a:t>f"Size</a:t>
            </a:r>
            <a:r>
              <a:rPr lang="en-US" dirty="0">
                <a:solidFill>
                  <a:srgbClr val="FF0000"/>
                </a:solidFill>
              </a:rPr>
              <a:t> of full dataset: {</a:t>
            </a:r>
            <a:r>
              <a:rPr lang="en-US" dirty="0" err="1">
                <a:solidFill>
                  <a:srgbClr val="FF0000"/>
                </a:solidFill>
              </a:rPr>
              <a:t>X.shape</a:t>
            </a:r>
            <a:r>
              <a:rPr lang="en-US" dirty="0">
                <a:solidFill>
                  <a:srgbClr val="FF0000"/>
                </a:solidFill>
              </a:rPr>
              <a:t>[0]} points")</a:t>
            </a:r>
          </a:p>
          <a:p>
            <a:r>
              <a:rPr lang="en-US" dirty="0">
                <a:solidFill>
                  <a:srgbClr val="FF0000"/>
                </a:solidFill>
              </a:rPr>
              <a:t>print(</a:t>
            </a:r>
            <a:r>
              <a:rPr lang="en-US" dirty="0" err="1">
                <a:solidFill>
                  <a:srgbClr val="FF0000"/>
                </a:solidFill>
              </a:rPr>
              <a:t>f"Size</a:t>
            </a:r>
            <a:r>
              <a:rPr lang="en-US" dirty="0">
                <a:solidFill>
                  <a:srgbClr val="FF0000"/>
                </a:solidFill>
              </a:rPr>
              <a:t> of training set: {</a:t>
            </a:r>
            <a:r>
              <a:rPr lang="en-US" dirty="0" err="1">
                <a:solidFill>
                  <a:srgbClr val="FF0000"/>
                </a:solidFill>
              </a:rPr>
              <a:t>X_train.shape</a:t>
            </a:r>
            <a:r>
              <a:rPr lang="en-US" dirty="0">
                <a:solidFill>
                  <a:srgbClr val="FF0000"/>
                </a:solidFill>
              </a:rPr>
              <a:t>[0]} points")</a:t>
            </a:r>
          </a:p>
          <a:p>
            <a:r>
              <a:rPr lang="en-US" dirty="0">
                <a:solidFill>
                  <a:srgbClr val="FF0000"/>
                </a:solidFill>
              </a:rPr>
              <a:t>print(</a:t>
            </a:r>
            <a:r>
              <a:rPr lang="en-US" dirty="0" err="1">
                <a:solidFill>
                  <a:srgbClr val="FF0000"/>
                </a:solidFill>
              </a:rPr>
              <a:t>f"Size</a:t>
            </a:r>
            <a:r>
              <a:rPr lang="en-US" dirty="0">
                <a:solidFill>
                  <a:srgbClr val="FF0000"/>
                </a:solidFill>
              </a:rPr>
              <a:t> of test set: {</a:t>
            </a:r>
            <a:r>
              <a:rPr lang="en-US" dirty="0" err="1">
                <a:solidFill>
                  <a:srgbClr val="FF0000"/>
                </a:solidFill>
              </a:rPr>
              <a:t>X_test.shape</a:t>
            </a:r>
            <a:r>
              <a:rPr lang="en-US" dirty="0">
                <a:solidFill>
                  <a:srgbClr val="FF0000"/>
                </a:solidFill>
              </a:rPr>
              <a:t>[0]} points")</a:t>
            </a:r>
          </a:p>
          <a:p>
            <a:endParaRPr lang="en-US" dirty="0"/>
          </a:p>
          <a:p>
            <a:r>
              <a:rPr lang="en-US" dirty="0"/>
              <a:t>Size of full dataset: 392 points</a:t>
            </a:r>
          </a:p>
          <a:p>
            <a:r>
              <a:rPr lang="en-US" dirty="0"/>
              <a:t>Size of training set: 313 points</a:t>
            </a:r>
          </a:p>
          <a:p>
            <a:r>
              <a:rPr lang="en-US" dirty="0"/>
              <a:t>Size of test set: 79 points</a:t>
            </a:r>
          </a:p>
        </p:txBody>
      </p:sp>
      <p:sp>
        <p:nvSpPr>
          <p:cNvPr id="5" name="Slide Number Placeholder 4">
            <a:extLst>
              <a:ext uri="{FF2B5EF4-FFF2-40B4-BE49-F238E27FC236}">
                <a16:creationId xmlns:a16="http://schemas.microsoft.com/office/drawing/2014/main" id="{F1146C72-918D-48D2-8B54-F838DEC5CC6A}"/>
              </a:ext>
            </a:extLst>
          </p:cNvPr>
          <p:cNvSpPr>
            <a:spLocks noGrp="1"/>
          </p:cNvSpPr>
          <p:nvPr>
            <p:ph type="sldNum" sz="quarter" idx="12"/>
          </p:nvPr>
        </p:nvSpPr>
        <p:spPr/>
        <p:txBody>
          <a:bodyPr/>
          <a:lstStyle/>
          <a:p>
            <a:fld id="{6B97D948-30E8-43F7-AE10-F6E2D9F2BBB1}" type="slidenum">
              <a:rPr lang="en-US" smtClean="0"/>
              <a:t>806</a:t>
            </a:fld>
            <a:endParaRPr lang="en-US"/>
          </a:p>
        </p:txBody>
      </p:sp>
    </p:spTree>
    <p:extLst>
      <p:ext uri="{BB962C8B-B14F-4D97-AF65-F5344CB8AC3E}">
        <p14:creationId xmlns:p14="http://schemas.microsoft.com/office/powerpoint/2010/main" val="779514879"/>
      </p:ext>
    </p:extLst>
  </p:cSld>
  <p:clrMapOvr>
    <a:masterClrMapping/>
  </p:clrMapOvr>
</p:sld>
</file>

<file path=ppt/slides/slide8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144314-C2EB-4970-88F8-1E20031D1B08}"/>
              </a:ext>
            </a:extLst>
          </p:cNvPr>
          <p:cNvSpPr>
            <a:spLocks noGrp="1"/>
          </p:cNvSpPr>
          <p:nvPr>
            <p:ph idx="1"/>
          </p:nvPr>
        </p:nvSpPr>
        <p:spPr>
          <a:xfrm>
            <a:off x="838200" y="548640"/>
            <a:ext cx="10515600" cy="5628323"/>
          </a:xfrm>
        </p:spPr>
        <p:txBody>
          <a:bodyPr/>
          <a:lstStyle/>
          <a:p>
            <a:r>
              <a:rPr lang="en-US" dirty="0"/>
              <a:t>After performing our train-test split, we fit a model to the training set and assess its performance on the test set.</a:t>
            </a:r>
          </a:p>
          <a:p>
            <a:endParaRPr lang="en-US" dirty="0"/>
          </a:p>
        </p:txBody>
      </p:sp>
      <p:sp>
        <p:nvSpPr>
          <p:cNvPr id="5" name="Slide Number Placeholder 4">
            <a:extLst>
              <a:ext uri="{FF2B5EF4-FFF2-40B4-BE49-F238E27FC236}">
                <a16:creationId xmlns:a16="http://schemas.microsoft.com/office/drawing/2014/main" id="{F2140467-53FF-4C3A-BF2E-F7864023CA37}"/>
              </a:ext>
            </a:extLst>
          </p:cNvPr>
          <p:cNvSpPr>
            <a:spLocks noGrp="1"/>
          </p:cNvSpPr>
          <p:nvPr>
            <p:ph type="sldNum" sz="quarter" idx="12"/>
          </p:nvPr>
        </p:nvSpPr>
        <p:spPr/>
        <p:txBody>
          <a:bodyPr/>
          <a:lstStyle/>
          <a:p>
            <a:fld id="{6B97D948-30E8-43F7-AE10-F6E2D9F2BBB1}" type="slidenum">
              <a:rPr lang="en-US" smtClean="0"/>
              <a:t>807</a:t>
            </a:fld>
            <a:endParaRPr lang="en-US"/>
          </a:p>
        </p:txBody>
      </p:sp>
    </p:spTree>
    <p:extLst>
      <p:ext uri="{BB962C8B-B14F-4D97-AF65-F5344CB8AC3E}">
        <p14:creationId xmlns:p14="http://schemas.microsoft.com/office/powerpoint/2010/main" val="3225469517"/>
      </p:ext>
    </p:extLst>
  </p:cSld>
  <p:clrMapOvr>
    <a:masterClrMapping/>
  </p:clrMapOvr>
</p:sld>
</file>

<file path=ppt/slides/slide8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1FF789-FF6E-43ED-B0DF-FE073A726B53}"/>
              </a:ext>
            </a:extLst>
          </p:cNvPr>
          <p:cNvSpPr>
            <a:spLocks noGrp="1"/>
          </p:cNvSpPr>
          <p:nvPr>
            <p:ph idx="1"/>
          </p:nvPr>
        </p:nvSpPr>
        <p:spPr>
          <a:xfrm>
            <a:off x="838200" y="472440"/>
            <a:ext cx="10515600" cy="5704523"/>
          </a:xfrm>
        </p:spPr>
        <p:txBody>
          <a:bodyPr>
            <a:normAutofit/>
          </a:bodyPr>
          <a:lstStyle/>
          <a:p>
            <a:r>
              <a:rPr lang="en-US" dirty="0">
                <a:solidFill>
                  <a:srgbClr val="FF0000"/>
                </a:solidFill>
              </a:rPr>
              <a:t>import </a:t>
            </a:r>
            <a:r>
              <a:rPr lang="en-US" dirty="0" err="1">
                <a:solidFill>
                  <a:srgbClr val="FF0000"/>
                </a:solidFill>
              </a:rPr>
              <a:t>sklearn.linear_model</a:t>
            </a:r>
            <a:r>
              <a:rPr lang="en-US" dirty="0">
                <a:solidFill>
                  <a:srgbClr val="FF0000"/>
                </a:solidFill>
              </a:rPr>
              <a:t> as </a:t>
            </a:r>
            <a:r>
              <a:rPr lang="en-US" dirty="0" err="1">
                <a:solidFill>
                  <a:srgbClr val="FF0000"/>
                </a:solidFill>
              </a:rPr>
              <a:t>lm</a:t>
            </a:r>
            <a:endParaRPr lang="en-US" dirty="0">
              <a:solidFill>
                <a:srgbClr val="FF0000"/>
              </a:solidFill>
            </a:endParaRPr>
          </a:p>
          <a:p>
            <a:r>
              <a:rPr lang="en-US" dirty="0">
                <a:solidFill>
                  <a:srgbClr val="FF0000"/>
                </a:solidFill>
              </a:rPr>
              <a:t>from </a:t>
            </a:r>
            <a:r>
              <a:rPr lang="en-US" dirty="0" err="1">
                <a:solidFill>
                  <a:srgbClr val="FF0000"/>
                </a:solidFill>
              </a:rPr>
              <a:t>sklearn.metrics</a:t>
            </a:r>
            <a:r>
              <a:rPr lang="en-US" dirty="0">
                <a:solidFill>
                  <a:srgbClr val="FF0000"/>
                </a:solidFill>
              </a:rPr>
              <a:t> import </a:t>
            </a:r>
            <a:r>
              <a:rPr lang="en-US" dirty="0" err="1">
                <a:solidFill>
                  <a:srgbClr val="FF0000"/>
                </a:solidFill>
              </a:rPr>
              <a:t>mean_squared_error</a:t>
            </a:r>
            <a:endParaRPr lang="en-US" dirty="0">
              <a:solidFill>
                <a:srgbClr val="FF0000"/>
              </a:solidFill>
            </a:endParaRPr>
          </a:p>
          <a:p>
            <a:r>
              <a:rPr lang="en-US" dirty="0">
                <a:solidFill>
                  <a:srgbClr val="FF0000"/>
                </a:solidFill>
              </a:rPr>
              <a:t>model = </a:t>
            </a:r>
            <a:r>
              <a:rPr lang="en-US" dirty="0" err="1">
                <a:solidFill>
                  <a:srgbClr val="FF0000"/>
                </a:solidFill>
              </a:rPr>
              <a:t>lm.LinearRegression</a:t>
            </a:r>
            <a:r>
              <a:rPr lang="en-US" dirty="0">
                <a:solidFill>
                  <a:srgbClr val="FF0000"/>
                </a:solidFill>
              </a:rPr>
              <a:t>()</a:t>
            </a:r>
          </a:p>
          <a:p>
            <a:r>
              <a:rPr lang="en-US" dirty="0" err="1">
                <a:solidFill>
                  <a:srgbClr val="FF0000"/>
                </a:solidFill>
              </a:rPr>
              <a:t>model.fit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r>
              <a:rPr lang="en-US" dirty="0" err="1">
                <a:solidFill>
                  <a:srgbClr val="FF0000"/>
                </a:solidFill>
              </a:rPr>
              <a:t>test_predictions</a:t>
            </a:r>
            <a:r>
              <a:rPr lang="en-US" dirty="0">
                <a:solidFill>
                  <a:srgbClr val="FF0000"/>
                </a:solidFill>
              </a:rPr>
              <a:t> = </a:t>
            </a:r>
            <a:r>
              <a:rPr lang="en-US" dirty="0" err="1">
                <a:solidFill>
                  <a:srgbClr val="FF0000"/>
                </a:solidFill>
              </a:rPr>
              <a:t>model.predict</a:t>
            </a:r>
            <a:r>
              <a:rPr lang="en-US" dirty="0">
                <a:solidFill>
                  <a:srgbClr val="FF0000"/>
                </a:solidFill>
              </a:rPr>
              <a:t>(</a:t>
            </a:r>
            <a:r>
              <a:rPr lang="en-US" dirty="0" err="1">
                <a:solidFill>
                  <a:srgbClr val="FF0000"/>
                </a:solidFill>
              </a:rPr>
              <a:t>X_test</a:t>
            </a:r>
            <a:r>
              <a:rPr lang="en-US" dirty="0">
                <a:solidFill>
                  <a:srgbClr val="FF0000"/>
                </a:solidFill>
              </a:rPr>
              <a:t>)</a:t>
            </a:r>
          </a:p>
          <a:p>
            <a:r>
              <a:rPr lang="en-US" dirty="0">
                <a:solidFill>
                  <a:srgbClr val="FF0000"/>
                </a:solidFill>
              </a:rPr>
              <a:t>print(</a:t>
            </a:r>
            <a:r>
              <a:rPr lang="en-US" dirty="0" err="1">
                <a:solidFill>
                  <a:srgbClr val="FF0000"/>
                </a:solidFill>
              </a:rPr>
              <a:t>f"Train</a:t>
            </a:r>
            <a:r>
              <a:rPr lang="en-US" dirty="0">
                <a:solidFill>
                  <a:srgbClr val="FF0000"/>
                </a:solidFill>
              </a:rPr>
              <a:t> MSE: {</a:t>
            </a:r>
            <a:r>
              <a:rPr lang="en-US" dirty="0" err="1">
                <a:solidFill>
                  <a:srgbClr val="FF0000"/>
                </a:solidFill>
              </a:rPr>
              <a:t>mean_squared_error</a:t>
            </a:r>
            <a:r>
              <a:rPr lang="en-US" dirty="0">
                <a:solidFill>
                  <a:srgbClr val="FF0000"/>
                </a:solidFill>
              </a:rPr>
              <a:t>(</a:t>
            </a:r>
            <a:r>
              <a:rPr lang="en-US" dirty="0" err="1">
                <a:solidFill>
                  <a:srgbClr val="FF0000"/>
                </a:solidFill>
              </a:rPr>
              <a:t>Y_train</a:t>
            </a:r>
            <a:r>
              <a:rPr lang="en-US" dirty="0">
                <a:solidFill>
                  <a:srgbClr val="FF0000"/>
                </a:solidFill>
              </a:rPr>
              <a:t>, </a:t>
            </a:r>
            <a:r>
              <a:rPr lang="en-US" dirty="0" err="1">
                <a:solidFill>
                  <a:srgbClr val="FF0000"/>
                </a:solidFill>
              </a:rPr>
              <a:t>model.predict</a:t>
            </a:r>
            <a:r>
              <a:rPr lang="en-US" dirty="0">
                <a:solidFill>
                  <a:srgbClr val="FF0000"/>
                </a:solidFill>
              </a:rPr>
              <a:t>(</a:t>
            </a:r>
            <a:r>
              <a:rPr lang="en-US" dirty="0" err="1">
                <a:solidFill>
                  <a:srgbClr val="FF0000"/>
                </a:solidFill>
              </a:rPr>
              <a:t>X_train</a:t>
            </a:r>
            <a:r>
              <a:rPr lang="en-US" dirty="0">
                <a:solidFill>
                  <a:srgbClr val="FF0000"/>
                </a:solidFill>
              </a:rPr>
              <a:t>))}")</a:t>
            </a:r>
          </a:p>
          <a:p>
            <a:r>
              <a:rPr lang="en-US" dirty="0">
                <a:solidFill>
                  <a:srgbClr val="FF0000"/>
                </a:solidFill>
              </a:rPr>
              <a:t>print(</a:t>
            </a:r>
            <a:r>
              <a:rPr lang="en-US" dirty="0" err="1">
                <a:solidFill>
                  <a:srgbClr val="FF0000"/>
                </a:solidFill>
              </a:rPr>
              <a:t>f"Test</a:t>
            </a:r>
            <a:r>
              <a:rPr lang="en-US" dirty="0">
                <a:solidFill>
                  <a:srgbClr val="FF0000"/>
                </a:solidFill>
              </a:rPr>
              <a:t> MSE: {</a:t>
            </a:r>
            <a:r>
              <a:rPr lang="en-US" dirty="0" err="1">
                <a:solidFill>
                  <a:srgbClr val="FF0000"/>
                </a:solidFill>
              </a:rPr>
              <a:t>mean_squared_error</a:t>
            </a:r>
            <a:r>
              <a:rPr lang="en-US" dirty="0">
                <a:solidFill>
                  <a:srgbClr val="FF0000"/>
                </a:solidFill>
              </a:rPr>
              <a:t>(</a:t>
            </a:r>
            <a:r>
              <a:rPr lang="en-US" dirty="0" err="1">
                <a:solidFill>
                  <a:srgbClr val="FF0000"/>
                </a:solidFill>
              </a:rPr>
              <a:t>Y_test</a:t>
            </a:r>
            <a:r>
              <a:rPr lang="en-US" dirty="0">
                <a:solidFill>
                  <a:srgbClr val="FF0000"/>
                </a:solidFill>
              </a:rPr>
              <a:t>, </a:t>
            </a:r>
            <a:r>
              <a:rPr lang="en-US" dirty="0" err="1">
                <a:solidFill>
                  <a:srgbClr val="FF0000"/>
                </a:solidFill>
              </a:rPr>
              <a:t>test_predictions</a:t>
            </a:r>
            <a:r>
              <a:rPr lang="en-US" dirty="0">
                <a:solidFill>
                  <a:srgbClr val="FF0000"/>
                </a:solidFill>
              </a:rPr>
              <a:t>)}")</a:t>
            </a:r>
          </a:p>
          <a:p>
            <a:endParaRPr lang="en-US" dirty="0"/>
          </a:p>
          <a:p>
            <a:r>
              <a:rPr lang="en-US" dirty="0"/>
              <a:t>Train MSE: 17.858516841012094</a:t>
            </a:r>
          </a:p>
          <a:p>
            <a:r>
              <a:rPr lang="en-US" dirty="0"/>
              <a:t>Test MSE: 23.192405628470613</a:t>
            </a:r>
          </a:p>
        </p:txBody>
      </p:sp>
      <p:sp>
        <p:nvSpPr>
          <p:cNvPr id="5" name="Slide Number Placeholder 4">
            <a:extLst>
              <a:ext uri="{FF2B5EF4-FFF2-40B4-BE49-F238E27FC236}">
                <a16:creationId xmlns:a16="http://schemas.microsoft.com/office/drawing/2014/main" id="{B09BA606-E84D-45BB-B471-EAA516471C41}"/>
              </a:ext>
            </a:extLst>
          </p:cNvPr>
          <p:cNvSpPr>
            <a:spLocks noGrp="1"/>
          </p:cNvSpPr>
          <p:nvPr>
            <p:ph type="sldNum" sz="quarter" idx="12"/>
          </p:nvPr>
        </p:nvSpPr>
        <p:spPr/>
        <p:txBody>
          <a:bodyPr/>
          <a:lstStyle/>
          <a:p>
            <a:fld id="{6B97D948-30E8-43F7-AE10-F6E2D9F2BBB1}" type="slidenum">
              <a:rPr lang="en-US" smtClean="0"/>
              <a:t>808</a:t>
            </a:fld>
            <a:endParaRPr lang="en-US"/>
          </a:p>
        </p:txBody>
      </p:sp>
    </p:spTree>
    <p:extLst>
      <p:ext uri="{BB962C8B-B14F-4D97-AF65-F5344CB8AC3E}">
        <p14:creationId xmlns:p14="http://schemas.microsoft.com/office/powerpoint/2010/main" val="3975003126"/>
      </p:ext>
    </p:extLst>
  </p:cSld>
  <p:clrMapOvr>
    <a:masterClrMapping/>
  </p:clrMapOvr>
</p:sld>
</file>

<file path=ppt/slides/slide8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94F2FC-BB66-4589-8DA0-AAB7C18B4997}"/>
              </a:ext>
            </a:extLst>
          </p:cNvPr>
          <p:cNvSpPr>
            <a:spLocks noGrp="1"/>
          </p:cNvSpPr>
          <p:nvPr>
            <p:ph idx="1"/>
          </p:nvPr>
        </p:nvSpPr>
        <p:spPr>
          <a:xfrm>
            <a:off x="838200" y="594360"/>
            <a:ext cx="10515600" cy="5582603"/>
          </a:xfrm>
        </p:spPr>
        <p:txBody>
          <a:bodyPr/>
          <a:lstStyle/>
          <a:p>
            <a:r>
              <a:rPr lang="en-US" dirty="0" err="1">
                <a:solidFill>
                  <a:srgbClr val="FF0000"/>
                </a:solidFill>
              </a:rPr>
              <a:t>model.coef</a:t>
            </a:r>
            <a:r>
              <a:rPr lang="en-US" dirty="0">
                <a:solidFill>
                  <a:srgbClr val="FF0000"/>
                </a:solidFill>
              </a:rPr>
              <a:t>_</a:t>
            </a:r>
          </a:p>
          <a:p>
            <a:r>
              <a:rPr lang="en-US" dirty="0"/>
              <a:t>Out[37]: array([ 5.96521442e-02, -6.43379725e-03,  4.44957013e-05, -8.84882455e-08])</a:t>
            </a:r>
          </a:p>
          <a:p>
            <a:endParaRPr lang="en-US" dirty="0"/>
          </a:p>
          <a:p>
            <a:r>
              <a:rPr lang="en-US" dirty="0" err="1">
                <a:solidFill>
                  <a:srgbClr val="FF0000"/>
                </a:solidFill>
              </a:rPr>
              <a:t>model.intercept</a:t>
            </a:r>
            <a:r>
              <a:rPr lang="en-US" dirty="0">
                <a:solidFill>
                  <a:srgbClr val="FF0000"/>
                </a:solidFill>
              </a:rPr>
              <a:t>_</a:t>
            </a:r>
          </a:p>
          <a:p>
            <a:r>
              <a:rPr lang="en-US" dirty="0"/>
              <a:t>Out[38]: 45.03003536863686</a:t>
            </a:r>
          </a:p>
        </p:txBody>
      </p:sp>
      <p:sp>
        <p:nvSpPr>
          <p:cNvPr id="5" name="Slide Number Placeholder 4">
            <a:extLst>
              <a:ext uri="{FF2B5EF4-FFF2-40B4-BE49-F238E27FC236}">
                <a16:creationId xmlns:a16="http://schemas.microsoft.com/office/drawing/2014/main" id="{3DC347D0-1E68-4EA4-9A03-C3C65909CE87}"/>
              </a:ext>
            </a:extLst>
          </p:cNvPr>
          <p:cNvSpPr>
            <a:spLocks noGrp="1"/>
          </p:cNvSpPr>
          <p:nvPr>
            <p:ph type="sldNum" sz="quarter" idx="12"/>
          </p:nvPr>
        </p:nvSpPr>
        <p:spPr/>
        <p:txBody>
          <a:bodyPr/>
          <a:lstStyle/>
          <a:p>
            <a:fld id="{6B97D948-30E8-43F7-AE10-F6E2D9F2BBB1}" type="slidenum">
              <a:rPr lang="en-US" smtClean="0"/>
              <a:t>809</a:t>
            </a:fld>
            <a:endParaRPr lang="en-US"/>
          </a:p>
        </p:txBody>
      </p:sp>
    </p:spTree>
    <p:extLst>
      <p:ext uri="{BB962C8B-B14F-4D97-AF65-F5344CB8AC3E}">
        <p14:creationId xmlns:p14="http://schemas.microsoft.com/office/powerpoint/2010/main" val="457552988"/>
      </p:ext>
    </p:extLst>
  </p:cSld>
  <p:clrMapOvr>
    <a:masterClrMapping/>
  </p:clrMapOvr>
</p:sld>
</file>

<file path=ppt/slides/slide8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41DE6-C0FE-42C8-99E8-DBDB8CCA5E20}"/>
              </a:ext>
            </a:extLst>
          </p:cNvPr>
          <p:cNvSpPr>
            <a:spLocks noGrp="1"/>
          </p:cNvSpPr>
          <p:nvPr>
            <p:ph type="title"/>
          </p:nvPr>
        </p:nvSpPr>
        <p:spPr>
          <a:xfrm>
            <a:off x="838200" y="365125"/>
            <a:ext cx="10515600" cy="747395"/>
          </a:xfrm>
        </p:spPr>
        <p:txBody>
          <a:bodyPr/>
          <a:lstStyle/>
          <a:p>
            <a:r>
              <a:rPr lang="en-US" dirty="0"/>
              <a:t>Lasso Model</a:t>
            </a:r>
          </a:p>
        </p:txBody>
      </p:sp>
      <p:sp>
        <p:nvSpPr>
          <p:cNvPr id="3" name="Content Placeholder 2">
            <a:extLst>
              <a:ext uri="{FF2B5EF4-FFF2-40B4-BE49-F238E27FC236}">
                <a16:creationId xmlns:a16="http://schemas.microsoft.com/office/drawing/2014/main" id="{71CB8D36-4239-4CB2-8314-C2C276B1D64E}"/>
              </a:ext>
            </a:extLst>
          </p:cNvPr>
          <p:cNvSpPr>
            <a:spLocks noGrp="1"/>
          </p:cNvSpPr>
          <p:nvPr>
            <p:ph idx="1"/>
          </p:nvPr>
        </p:nvSpPr>
        <p:spPr>
          <a:xfrm>
            <a:off x="838200" y="1112520"/>
            <a:ext cx="10515600" cy="5064443"/>
          </a:xfrm>
        </p:spPr>
        <p:txBody>
          <a:bodyPr/>
          <a:lstStyle/>
          <a:p>
            <a:r>
              <a:rPr lang="en-US" dirty="0"/>
              <a:t># The alpha parameter represents our lambda term</a:t>
            </a:r>
          </a:p>
          <a:p>
            <a:r>
              <a:rPr lang="en-US" dirty="0"/>
              <a:t> </a:t>
            </a:r>
            <a:r>
              <a:rPr lang="en-US" dirty="0" err="1">
                <a:solidFill>
                  <a:srgbClr val="FF0000"/>
                </a:solidFill>
              </a:rPr>
              <a:t>lasso_model</a:t>
            </a:r>
            <a:r>
              <a:rPr lang="en-US" dirty="0">
                <a:solidFill>
                  <a:srgbClr val="FF0000"/>
                </a:solidFill>
              </a:rPr>
              <a:t> = </a:t>
            </a:r>
            <a:r>
              <a:rPr lang="en-US" dirty="0" err="1">
                <a:solidFill>
                  <a:srgbClr val="FF0000"/>
                </a:solidFill>
              </a:rPr>
              <a:t>lm.Lasso</a:t>
            </a:r>
            <a:r>
              <a:rPr lang="en-US" dirty="0">
                <a:solidFill>
                  <a:srgbClr val="FF0000"/>
                </a:solidFill>
              </a:rPr>
              <a:t>(alpha=2)</a:t>
            </a:r>
          </a:p>
          <a:p>
            <a:r>
              <a:rPr lang="en-US" dirty="0">
                <a:solidFill>
                  <a:srgbClr val="FF0000"/>
                </a:solidFill>
              </a:rPr>
              <a:t> </a:t>
            </a:r>
            <a:r>
              <a:rPr lang="en-US" dirty="0" err="1">
                <a:solidFill>
                  <a:srgbClr val="FF0000"/>
                </a:solidFill>
              </a:rPr>
              <a:t>lasso_model.fit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r>
              <a:rPr lang="en-US" dirty="0">
                <a:solidFill>
                  <a:srgbClr val="FF0000"/>
                </a:solidFill>
              </a:rPr>
              <a:t> </a:t>
            </a:r>
          </a:p>
          <a:p>
            <a:r>
              <a:rPr lang="en-US" dirty="0" err="1">
                <a:solidFill>
                  <a:srgbClr val="FF0000"/>
                </a:solidFill>
              </a:rPr>
              <a:t>lasso_model.coef</a:t>
            </a:r>
            <a:r>
              <a:rPr lang="en-US" dirty="0">
                <a:solidFill>
                  <a:srgbClr val="FF0000"/>
                </a:solidFill>
              </a:rPr>
              <a:t>_</a:t>
            </a:r>
          </a:p>
          <a:p>
            <a:r>
              <a:rPr lang="en-US" dirty="0"/>
              <a:t>Out[39]: array([-2.54932056e-01, -9.48597165e-04,  8.91976284e-06, -1.22872290e-08])</a:t>
            </a:r>
          </a:p>
          <a:p>
            <a:endParaRPr lang="en-US" dirty="0"/>
          </a:p>
          <a:p>
            <a:r>
              <a:rPr lang="en-US" dirty="0" err="1">
                <a:solidFill>
                  <a:srgbClr val="FF0000"/>
                </a:solidFill>
              </a:rPr>
              <a:t>lasso_model.intercept</a:t>
            </a:r>
            <a:r>
              <a:rPr lang="en-US" dirty="0">
                <a:solidFill>
                  <a:srgbClr val="FF0000"/>
                </a:solidFill>
              </a:rPr>
              <a:t>_</a:t>
            </a:r>
          </a:p>
          <a:p>
            <a:r>
              <a:rPr lang="en-US" dirty="0"/>
              <a:t>Out[40]: 50.11697816706449</a:t>
            </a:r>
          </a:p>
        </p:txBody>
      </p:sp>
      <p:sp>
        <p:nvSpPr>
          <p:cNvPr id="5" name="Slide Number Placeholder 4">
            <a:extLst>
              <a:ext uri="{FF2B5EF4-FFF2-40B4-BE49-F238E27FC236}">
                <a16:creationId xmlns:a16="http://schemas.microsoft.com/office/drawing/2014/main" id="{9A4373F0-9B45-4E3A-AAEE-33A6F52036C0}"/>
              </a:ext>
            </a:extLst>
          </p:cNvPr>
          <p:cNvSpPr>
            <a:spLocks noGrp="1"/>
          </p:cNvSpPr>
          <p:nvPr>
            <p:ph type="sldNum" sz="quarter" idx="12"/>
          </p:nvPr>
        </p:nvSpPr>
        <p:spPr/>
        <p:txBody>
          <a:bodyPr/>
          <a:lstStyle/>
          <a:p>
            <a:fld id="{6B97D948-30E8-43F7-AE10-F6E2D9F2BBB1}" type="slidenum">
              <a:rPr lang="en-US" smtClean="0"/>
              <a:t>810</a:t>
            </a:fld>
            <a:endParaRPr lang="en-US"/>
          </a:p>
        </p:txBody>
      </p:sp>
    </p:spTree>
    <p:extLst>
      <p:ext uri="{BB962C8B-B14F-4D97-AF65-F5344CB8AC3E}">
        <p14:creationId xmlns:p14="http://schemas.microsoft.com/office/powerpoint/2010/main" val="3342170422"/>
      </p:ext>
    </p:extLst>
  </p:cSld>
  <p:clrMapOvr>
    <a:masterClrMapping/>
  </p:clrMapOvr>
</p:sld>
</file>

<file path=ppt/slides/slide8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512C-401F-4716-A909-9C15D9CC112B}"/>
              </a:ext>
            </a:extLst>
          </p:cNvPr>
          <p:cNvSpPr>
            <a:spLocks noGrp="1"/>
          </p:cNvSpPr>
          <p:nvPr>
            <p:ph type="title"/>
          </p:nvPr>
        </p:nvSpPr>
        <p:spPr>
          <a:xfrm>
            <a:off x="838200" y="365125"/>
            <a:ext cx="10515600" cy="503555"/>
          </a:xfrm>
        </p:spPr>
        <p:txBody>
          <a:bodyPr>
            <a:normAutofit fontScale="90000"/>
          </a:bodyPr>
          <a:lstStyle/>
          <a:p>
            <a:r>
              <a:rPr lang="en-US" dirty="0"/>
              <a:t>Note</a:t>
            </a:r>
          </a:p>
        </p:txBody>
      </p:sp>
      <p:sp>
        <p:nvSpPr>
          <p:cNvPr id="3" name="Content Placeholder 2">
            <a:extLst>
              <a:ext uri="{FF2B5EF4-FFF2-40B4-BE49-F238E27FC236}">
                <a16:creationId xmlns:a16="http://schemas.microsoft.com/office/drawing/2014/main" id="{AE7D814C-1B15-48F2-A99F-C1ABCFC1AD8A}"/>
              </a:ext>
            </a:extLst>
          </p:cNvPr>
          <p:cNvSpPr>
            <a:spLocks noGrp="1"/>
          </p:cNvSpPr>
          <p:nvPr>
            <p:ph idx="1"/>
          </p:nvPr>
        </p:nvSpPr>
        <p:spPr>
          <a:xfrm>
            <a:off x="838200" y="868680"/>
            <a:ext cx="10515600" cy="5308283"/>
          </a:xfrm>
        </p:spPr>
        <p:txBody>
          <a:bodyPr>
            <a:normAutofit/>
          </a:bodyPr>
          <a:lstStyle/>
          <a:p>
            <a:pPr algn="just"/>
            <a:r>
              <a:rPr lang="en-US" dirty="0"/>
              <a:t>All the model coefficients are </a:t>
            </a:r>
            <a:r>
              <a:rPr lang="en-US" dirty="0">
                <a:solidFill>
                  <a:srgbClr val="FF0000"/>
                </a:solidFill>
              </a:rPr>
              <a:t>very small in magnitude</a:t>
            </a:r>
            <a:r>
              <a:rPr lang="en-US" dirty="0"/>
              <a:t>. </a:t>
            </a:r>
          </a:p>
          <a:p>
            <a:pPr algn="just"/>
            <a:r>
              <a:rPr lang="en-US" dirty="0"/>
              <a:t>In fact, some of them are so small that they are essentially 0. </a:t>
            </a:r>
          </a:p>
          <a:p>
            <a:pPr algn="just"/>
            <a:r>
              <a:rPr lang="en-US" dirty="0"/>
              <a:t>An important characteristic of L1 regularization is that many model parameters are set to 0. </a:t>
            </a:r>
          </a:p>
          <a:p>
            <a:pPr algn="just"/>
            <a:r>
              <a:rPr lang="en-US" dirty="0"/>
              <a:t>When a model parameter is set to 0 or close to 0, its corresponding feature is essentially removed from the model. </a:t>
            </a:r>
          </a:p>
          <a:p>
            <a:pPr algn="just"/>
            <a:endParaRPr lang="en-US" dirty="0"/>
          </a:p>
          <a:p>
            <a:pPr algn="just"/>
            <a:r>
              <a:rPr lang="en-US" dirty="0"/>
              <a:t>We say that L1 regularization performs feature selection because, by setting the parameters of unimportant features to 0, LASSO “selects” which features are more useful for modeling.</a:t>
            </a:r>
          </a:p>
        </p:txBody>
      </p:sp>
      <p:sp>
        <p:nvSpPr>
          <p:cNvPr id="5" name="Slide Number Placeholder 4">
            <a:extLst>
              <a:ext uri="{FF2B5EF4-FFF2-40B4-BE49-F238E27FC236}">
                <a16:creationId xmlns:a16="http://schemas.microsoft.com/office/drawing/2014/main" id="{7FC68E60-76D7-464A-923F-8249EE4518BC}"/>
              </a:ext>
            </a:extLst>
          </p:cNvPr>
          <p:cNvSpPr>
            <a:spLocks noGrp="1"/>
          </p:cNvSpPr>
          <p:nvPr>
            <p:ph type="sldNum" sz="quarter" idx="12"/>
          </p:nvPr>
        </p:nvSpPr>
        <p:spPr/>
        <p:txBody>
          <a:bodyPr/>
          <a:lstStyle/>
          <a:p>
            <a:fld id="{6B97D948-30E8-43F7-AE10-F6E2D9F2BBB1}" type="slidenum">
              <a:rPr lang="en-US" smtClean="0"/>
              <a:t>811</a:t>
            </a:fld>
            <a:endParaRPr lang="en-US"/>
          </a:p>
        </p:txBody>
      </p:sp>
    </p:spTree>
    <p:extLst>
      <p:ext uri="{BB962C8B-B14F-4D97-AF65-F5344CB8AC3E}">
        <p14:creationId xmlns:p14="http://schemas.microsoft.com/office/powerpoint/2010/main" val="3703184723"/>
      </p:ext>
    </p:extLst>
  </p:cSld>
  <p:clrMapOvr>
    <a:masterClrMapping/>
  </p:clrMapOvr>
</p:sld>
</file>

<file path=ppt/slides/slide8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35E9A-610C-48CE-9D34-BA5E8962641F}"/>
              </a:ext>
            </a:extLst>
          </p:cNvPr>
          <p:cNvSpPr>
            <a:spLocks noGrp="1"/>
          </p:cNvSpPr>
          <p:nvPr>
            <p:ph type="title"/>
          </p:nvPr>
        </p:nvSpPr>
        <p:spPr>
          <a:xfrm>
            <a:off x="838200" y="365125"/>
            <a:ext cx="10515600" cy="671195"/>
          </a:xfrm>
        </p:spPr>
        <p:txBody>
          <a:bodyPr>
            <a:normAutofit fontScale="90000"/>
          </a:bodyPr>
          <a:lstStyle/>
          <a:p>
            <a:r>
              <a:rPr lang="en-US" dirty="0"/>
              <a:t>Scaling Features for Regularization</a:t>
            </a:r>
          </a:p>
        </p:txBody>
      </p:sp>
      <p:sp>
        <p:nvSpPr>
          <p:cNvPr id="3" name="Content Placeholder 2">
            <a:extLst>
              <a:ext uri="{FF2B5EF4-FFF2-40B4-BE49-F238E27FC236}">
                <a16:creationId xmlns:a16="http://schemas.microsoft.com/office/drawing/2014/main" id="{A94E8E05-9DCB-4616-93AD-88CE05A036E2}"/>
              </a:ext>
            </a:extLst>
          </p:cNvPr>
          <p:cNvSpPr>
            <a:spLocks noGrp="1"/>
          </p:cNvSpPr>
          <p:nvPr>
            <p:ph idx="1"/>
          </p:nvPr>
        </p:nvSpPr>
        <p:spPr>
          <a:xfrm>
            <a:off x="838200" y="1036320"/>
            <a:ext cx="10515600" cy="5140643"/>
          </a:xfrm>
        </p:spPr>
        <p:txBody>
          <a:bodyPr>
            <a:normAutofit fontScale="92500" lnSpcReduction="10000"/>
          </a:bodyPr>
          <a:lstStyle/>
          <a:p>
            <a:pPr algn="just"/>
            <a:r>
              <a:rPr lang="en-US" dirty="0"/>
              <a:t>The regularization procedure we just performed had one subtle issue. </a:t>
            </a:r>
          </a:p>
          <a:p>
            <a:pPr algn="just"/>
            <a:endParaRPr lang="en-US" dirty="0"/>
          </a:p>
          <a:p>
            <a:pPr algn="just"/>
            <a:r>
              <a:rPr lang="en-US" dirty="0"/>
              <a:t>To see what it is, let’s take a look at the design matrix for our </a:t>
            </a:r>
            <a:r>
              <a:rPr lang="en-US" dirty="0" err="1"/>
              <a:t>lasso_model</a:t>
            </a:r>
            <a:r>
              <a:rPr lang="en-US" dirty="0"/>
              <a:t>.</a:t>
            </a:r>
          </a:p>
          <a:p>
            <a:pPr algn="just"/>
            <a:r>
              <a:rPr lang="en-US" dirty="0">
                <a:solidFill>
                  <a:srgbClr val="FF0000"/>
                </a:solidFill>
              </a:rPr>
              <a:t> </a:t>
            </a:r>
            <a:r>
              <a:rPr lang="en-US" dirty="0" err="1">
                <a:solidFill>
                  <a:srgbClr val="FF0000"/>
                </a:solidFill>
              </a:rPr>
              <a:t>X_train.head</a:t>
            </a:r>
            <a:r>
              <a:rPr lang="en-US" dirty="0">
                <a:solidFill>
                  <a:srgbClr val="FF0000"/>
                </a:solidFill>
              </a:rPr>
              <a:t>()</a:t>
            </a:r>
          </a:p>
          <a:p>
            <a:pPr algn="just"/>
            <a:r>
              <a:rPr lang="en-US" dirty="0"/>
              <a:t>Out[41]:</a:t>
            </a:r>
          </a:p>
          <a:p>
            <a:pPr algn="just"/>
            <a:r>
              <a:rPr lang="en-US" dirty="0"/>
              <a:t>        hp     	hp^2       hp^3         hp^4</a:t>
            </a:r>
          </a:p>
          <a:p>
            <a:pPr algn="just"/>
            <a:r>
              <a:rPr lang="en-US" dirty="0"/>
              <a:t>259   85.0   7225.0   614125.0   52200625.0</a:t>
            </a:r>
          </a:p>
          <a:p>
            <a:pPr algn="just"/>
            <a:r>
              <a:rPr lang="en-US" dirty="0"/>
              <a:t>129   67.0   4489.0   300763.0   20151121.0</a:t>
            </a:r>
          </a:p>
          <a:p>
            <a:pPr algn="just"/>
            <a:r>
              <a:rPr lang="en-US" dirty="0"/>
              <a:t>207  102.0  10404.0  1061208.0  108243216.0</a:t>
            </a:r>
          </a:p>
          <a:p>
            <a:pPr algn="just"/>
            <a:r>
              <a:rPr lang="en-US" dirty="0"/>
              <a:t>302   70.0   4900.0   343000.0   24010000.0</a:t>
            </a:r>
          </a:p>
          <a:p>
            <a:pPr algn="just"/>
            <a:r>
              <a:rPr lang="en-US" dirty="0"/>
              <a:t>71    97.0   9409.0   912673.0   88529281.0</a:t>
            </a:r>
          </a:p>
        </p:txBody>
      </p:sp>
      <p:sp>
        <p:nvSpPr>
          <p:cNvPr id="5" name="Slide Number Placeholder 4">
            <a:extLst>
              <a:ext uri="{FF2B5EF4-FFF2-40B4-BE49-F238E27FC236}">
                <a16:creationId xmlns:a16="http://schemas.microsoft.com/office/drawing/2014/main" id="{C65BF3A3-0FFD-4763-8538-17478685C8D4}"/>
              </a:ext>
            </a:extLst>
          </p:cNvPr>
          <p:cNvSpPr>
            <a:spLocks noGrp="1"/>
          </p:cNvSpPr>
          <p:nvPr>
            <p:ph type="sldNum" sz="quarter" idx="12"/>
          </p:nvPr>
        </p:nvSpPr>
        <p:spPr/>
        <p:txBody>
          <a:bodyPr/>
          <a:lstStyle/>
          <a:p>
            <a:fld id="{6B97D948-30E8-43F7-AE10-F6E2D9F2BBB1}" type="slidenum">
              <a:rPr lang="en-US" smtClean="0"/>
              <a:t>812</a:t>
            </a:fld>
            <a:endParaRPr lang="en-US"/>
          </a:p>
        </p:txBody>
      </p:sp>
    </p:spTree>
    <p:extLst>
      <p:ext uri="{BB962C8B-B14F-4D97-AF65-F5344CB8AC3E}">
        <p14:creationId xmlns:p14="http://schemas.microsoft.com/office/powerpoint/2010/main" val="558182095"/>
      </p:ext>
    </p:extLst>
  </p:cSld>
  <p:clrMapOvr>
    <a:masterClrMapping/>
  </p:clrMapOvr>
</p:sld>
</file>

<file path=ppt/slides/slide8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4D942F-7076-4428-B1EA-8A3ACCC704F2}"/>
              </a:ext>
            </a:extLst>
          </p:cNvPr>
          <p:cNvSpPr>
            <a:spLocks noGrp="1"/>
          </p:cNvSpPr>
          <p:nvPr>
            <p:ph idx="1"/>
          </p:nvPr>
        </p:nvSpPr>
        <p:spPr>
          <a:xfrm>
            <a:off x="838200" y="441960"/>
            <a:ext cx="10515600" cy="5735003"/>
          </a:xfrm>
        </p:spPr>
        <p:txBody>
          <a:bodyPr>
            <a:normAutofit/>
          </a:bodyPr>
          <a:lstStyle/>
          <a:p>
            <a:pPr algn="just"/>
            <a:r>
              <a:rPr lang="en-US" dirty="0"/>
              <a:t>Our features – </a:t>
            </a:r>
            <a:r>
              <a:rPr lang="en-US" dirty="0">
                <a:solidFill>
                  <a:srgbClr val="FF0000"/>
                </a:solidFill>
              </a:rPr>
              <a:t>hp</a:t>
            </a:r>
            <a:r>
              <a:rPr lang="en-US" dirty="0"/>
              <a:t>, </a:t>
            </a:r>
            <a:r>
              <a:rPr lang="en-US" dirty="0">
                <a:solidFill>
                  <a:srgbClr val="FF0000"/>
                </a:solidFill>
              </a:rPr>
              <a:t>hp^2</a:t>
            </a:r>
            <a:r>
              <a:rPr lang="en-US" dirty="0"/>
              <a:t>, </a:t>
            </a:r>
            <a:r>
              <a:rPr lang="en-US" dirty="0">
                <a:solidFill>
                  <a:srgbClr val="FF0000"/>
                </a:solidFill>
              </a:rPr>
              <a:t>hp^3</a:t>
            </a:r>
            <a:r>
              <a:rPr lang="en-US" dirty="0"/>
              <a:t>, and </a:t>
            </a:r>
            <a:r>
              <a:rPr lang="en-US" dirty="0">
                <a:solidFill>
                  <a:srgbClr val="FF0000"/>
                </a:solidFill>
              </a:rPr>
              <a:t>hp^4</a:t>
            </a:r>
            <a:r>
              <a:rPr lang="en-US" dirty="0"/>
              <a:t> – are on drastically different numeric scales! </a:t>
            </a:r>
          </a:p>
          <a:p>
            <a:pPr algn="just"/>
            <a:r>
              <a:rPr lang="en-US" dirty="0"/>
              <a:t>The values contained in </a:t>
            </a:r>
            <a:r>
              <a:rPr lang="en-US" dirty="0">
                <a:solidFill>
                  <a:srgbClr val="FF0000"/>
                </a:solidFill>
              </a:rPr>
              <a:t>hp^4</a:t>
            </a:r>
            <a:r>
              <a:rPr lang="en-US" dirty="0"/>
              <a:t> are orders of magnitude larger than those contained in hp. </a:t>
            </a:r>
          </a:p>
          <a:p>
            <a:pPr algn="just"/>
            <a:r>
              <a:rPr lang="en-US" i="1" dirty="0"/>
              <a:t>This can be a problem because the value of </a:t>
            </a:r>
            <a:r>
              <a:rPr lang="en-US" i="1" dirty="0">
                <a:solidFill>
                  <a:srgbClr val="FF0000"/>
                </a:solidFill>
              </a:rPr>
              <a:t>hp^4</a:t>
            </a:r>
            <a:r>
              <a:rPr lang="en-US" i="1" dirty="0"/>
              <a:t> will naturally contribute more to each predicted </a:t>
            </a:r>
            <a:r>
              <a:rPr lang="en-US" dirty="0"/>
              <a:t>because it is so much greater than the values of the other features. </a:t>
            </a:r>
          </a:p>
          <a:p>
            <a:pPr algn="just"/>
            <a:r>
              <a:rPr lang="en-US" dirty="0"/>
              <a:t>For </a:t>
            </a:r>
            <a:r>
              <a:rPr lang="en-US" dirty="0">
                <a:solidFill>
                  <a:srgbClr val="FF0000"/>
                </a:solidFill>
              </a:rPr>
              <a:t>hp</a:t>
            </a:r>
            <a:r>
              <a:rPr lang="en-US" dirty="0"/>
              <a:t> to have much of an impact at all on the prediction, it must be scaled by a large model parameter.</a:t>
            </a:r>
          </a:p>
          <a:p>
            <a:pPr algn="just"/>
            <a:r>
              <a:rPr lang="en-US" dirty="0"/>
              <a:t>By inspecting the fitted parameters of our model, we see that this is the case – the parameter for hp is much larger in magnitude than the parameter for </a:t>
            </a:r>
            <a:r>
              <a:rPr lang="en-US" dirty="0">
                <a:solidFill>
                  <a:srgbClr val="FF0000"/>
                </a:solidFill>
              </a:rPr>
              <a:t>hp^4</a:t>
            </a:r>
            <a:r>
              <a:rPr lang="en-US" dirty="0"/>
              <a:t>.</a:t>
            </a:r>
          </a:p>
        </p:txBody>
      </p:sp>
      <p:sp>
        <p:nvSpPr>
          <p:cNvPr id="5" name="Slide Number Placeholder 4">
            <a:extLst>
              <a:ext uri="{FF2B5EF4-FFF2-40B4-BE49-F238E27FC236}">
                <a16:creationId xmlns:a16="http://schemas.microsoft.com/office/drawing/2014/main" id="{793D47E3-76AC-44CB-8EE2-9D6B3793BE56}"/>
              </a:ext>
            </a:extLst>
          </p:cNvPr>
          <p:cNvSpPr>
            <a:spLocks noGrp="1"/>
          </p:cNvSpPr>
          <p:nvPr>
            <p:ph type="sldNum" sz="quarter" idx="12"/>
          </p:nvPr>
        </p:nvSpPr>
        <p:spPr/>
        <p:txBody>
          <a:bodyPr/>
          <a:lstStyle/>
          <a:p>
            <a:fld id="{6B97D948-30E8-43F7-AE10-F6E2D9F2BBB1}" type="slidenum">
              <a:rPr lang="en-US" smtClean="0"/>
              <a:t>813</a:t>
            </a:fld>
            <a:endParaRPr lang="en-US"/>
          </a:p>
        </p:txBody>
      </p:sp>
    </p:spTree>
    <p:extLst>
      <p:ext uri="{BB962C8B-B14F-4D97-AF65-F5344CB8AC3E}">
        <p14:creationId xmlns:p14="http://schemas.microsoft.com/office/powerpoint/2010/main" val="2334411824"/>
      </p:ext>
    </p:extLst>
  </p:cSld>
  <p:clrMapOvr>
    <a:masterClrMapping/>
  </p:clrMapOvr>
</p:sld>
</file>

<file path=ppt/slides/slide8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C44FC-EECE-409C-9EF0-01DEBB9EABF6}"/>
              </a:ext>
            </a:extLst>
          </p:cNvPr>
          <p:cNvSpPr>
            <a:spLocks noGrp="1"/>
          </p:cNvSpPr>
          <p:nvPr>
            <p:ph idx="1"/>
          </p:nvPr>
        </p:nvSpPr>
        <p:spPr>
          <a:xfrm>
            <a:off x="838200" y="609600"/>
            <a:ext cx="10515600" cy="5567363"/>
          </a:xfrm>
        </p:spPr>
        <p:txBody>
          <a:bodyPr/>
          <a:lstStyle/>
          <a:p>
            <a:r>
              <a:rPr lang="en-US" dirty="0" err="1">
                <a:solidFill>
                  <a:srgbClr val="FF0000"/>
                </a:solidFill>
              </a:rPr>
              <a:t>pd.DataFrame</a:t>
            </a:r>
            <a:r>
              <a:rPr lang="en-US" dirty="0">
                <a:solidFill>
                  <a:srgbClr val="FF0000"/>
                </a:solidFill>
              </a:rPr>
              <a:t>({"Feature":</a:t>
            </a:r>
            <a:r>
              <a:rPr lang="en-US" dirty="0" err="1">
                <a:solidFill>
                  <a:srgbClr val="FF0000"/>
                </a:solidFill>
              </a:rPr>
              <a:t>X_train.columns</a:t>
            </a:r>
            <a:r>
              <a:rPr lang="en-US" dirty="0">
                <a:solidFill>
                  <a:srgbClr val="FF0000"/>
                </a:solidFill>
              </a:rPr>
              <a:t>, "Parameter": </a:t>
            </a:r>
            <a:r>
              <a:rPr lang="en-US" dirty="0" err="1">
                <a:solidFill>
                  <a:srgbClr val="FF0000"/>
                </a:solidFill>
              </a:rPr>
              <a:t>lasso_model.coef</a:t>
            </a:r>
            <a:r>
              <a:rPr lang="en-US" dirty="0">
                <a:solidFill>
                  <a:srgbClr val="FF0000"/>
                </a:solidFill>
              </a:rPr>
              <a:t>_})</a:t>
            </a:r>
          </a:p>
          <a:p>
            <a:r>
              <a:rPr lang="en-US" dirty="0"/>
              <a:t>Out[42]:</a:t>
            </a:r>
          </a:p>
          <a:p>
            <a:r>
              <a:rPr lang="en-US" dirty="0"/>
              <a:t>  Feature     Parameter</a:t>
            </a:r>
          </a:p>
          <a:p>
            <a:r>
              <a:rPr lang="en-US" dirty="0"/>
              <a:t>0      hp -2.549321e-01</a:t>
            </a:r>
          </a:p>
          <a:p>
            <a:r>
              <a:rPr lang="en-US" dirty="0"/>
              <a:t>1    hp^2 -9.485972e-04</a:t>
            </a:r>
          </a:p>
          <a:p>
            <a:r>
              <a:rPr lang="en-US" dirty="0"/>
              <a:t>2    hp^3  8.919763e-06</a:t>
            </a:r>
          </a:p>
          <a:p>
            <a:r>
              <a:rPr lang="en-US" dirty="0"/>
              <a:t>3    hp^4 -1.228723e-08</a:t>
            </a:r>
          </a:p>
        </p:txBody>
      </p:sp>
      <p:sp>
        <p:nvSpPr>
          <p:cNvPr id="5" name="Slide Number Placeholder 4">
            <a:extLst>
              <a:ext uri="{FF2B5EF4-FFF2-40B4-BE49-F238E27FC236}">
                <a16:creationId xmlns:a16="http://schemas.microsoft.com/office/drawing/2014/main" id="{0933F3E0-831F-4453-B579-F710DDB1E92E}"/>
              </a:ext>
            </a:extLst>
          </p:cNvPr>
          <p:cNvSpPr>
            <a:spLocks noGrp="1"/>
          </p:cNvSpPr>
          <p:nvPr>
            <p:ph type="sldNum" sz="quarter" idx="12"/>
          </p:nvPr>
        </p:nvSpPr>
        <p:spPr/>
        <p:txBody>
          <a:bodyPr/>
          <a:lstStyle/>
          <a:p>
            <a:fld id="{6B97D948-30E8-43F7-AE10-F6E2D9F2BBB1}" type="slidenum">
              <a:rPr lang="en-US" smtClean="0"/>
              <a:t>814</a:t>
            </a:fld>
            <a:endParaRPr lang="en-US"/>
          </a:p>
        </p:txBody>
      </p:sp>
    </p:spTree>
    <p:extLst>
      <p:ext uri="{BB962C8B-B14F-4D97-AF65-F5344CB8AC3E}">
        <p14:creationId xmlns:p14="http://schemas.microsoft.com/office/powerpoint/2010/main" val="3192458331"/>
      </p:ext>
    </p:extLst>
  </p:cSld>
  <p:clrMapOvr>
    <a:masterClrMapping/>
  </p:clrMapOvr>
</p:sld>
</file>

<file path=ppt/slides/slide8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A657D2-592A-453B-88FF-14688C2D4A68}"/>
              </a:ext>
            </a:extLst>
          </p:cNvPr>
          <p:cNvSpPr>
            <a:spLocks noGrp="1"/>
          </p:cNvSpPr>
          <p:nvPr>
            <p:ph idx="1"/>
          </p:nvPr>
        </p:nvSpPr>
        <p:spPr>
          <a:xfrm>
            <a:off x="838200" y="579120"/>
            <a:ext cx="10515600" cy="5597843"/>
          </a:xfrm>
        </p:spPr>
        <p:txBody>
          <a:bodyPr/>
          <a:lstStyle/>
          <a:p>
            <a:pPr algn="just"/>
            <a:r>
              <a:rPr lang="en-US" dirty="0"/>
              <a:t>Recall that by applying regularization, we give our a model a “budget” for how it can allocate the values of model parameters. </a:t>
            </a:r>
          </a:p>
          <a:p>
            <a:pPr algn="just"/>
            <a:endParaRPr lang="en-US" dirty="0"/>
          </a:p>
          <a:p>
            <a:pPr algn="just"/>
            <a:r>
              <a:rPr lang="en-US" dirty="0"/>
              <a:t>For </a:t>
            </a:r>
            <a:r>
              <a:rPr lang="en-US" dirty="0">
                <a:solidFill>
                  <a:srgbClr val="FF0000"/>
                </a:solidFill>
              </a:rPr>
              <a:t>hp</a:t>
            </a:r>
            <a:r>
              <a:rPr lang="en-US" dirty="0"/>
              <a:t> to have much of an impact on each prediction, LASSO is forced to “spend” more of this budget on the parameter for </a:t>
            </a:r>
            <a:r>
              <a:rPr lang="en-US" dirty="0">
                <a:solidFill>
                  <a:srgbClr val="FF0000"/>
                </a:solidFill>
              </a:rPr>
              <a:t>hp</a:t>
            </a:r>
            <a:r>
              <a:rPr lang="en-US" dirty="0"/>
              <a:t>.</a:t>
            </a:r>
          </a:p>
        </p:txBody>
      </p:sp>
      <p:sp>
        <p:nvSpPr>
          <p:cNvPr id="5" name="Slide Number Placeholder 4">
            <a:extLst>
              <a:ext uri="{FF2B5EF4-FFF2-40B4-BE49-F238E27FC236}">
                <a16:creationId xmlns:a16="http://schemas.microsoft.com/office/drawing/2014/main" id="{191FB587-E364-44BA-8B3A-9BE785F13E38}"/>
              </a:ext>
            </a:extLst>
          </p:cNvPr>
          <p:cNvSpPr>
            <a:spLocks noGrp="1"/>
          </p:cNvSpPr>
          <p:nvPr>
            <p:ph type="sldNum" sz="quarter" idx="12"/>
          </p:nvPr>
        </p:nvSpPr>
        <p:spPr/>
        <p:txBody>
          <a:bodyPr/>
          <a:lstStyle/>
          <a:p>
            <a:fld id="{6B97D948-30E8-43F7-AE10-F6E2D9F2BBB1}" type="slidenum">
              <a:rPr lang="en-US" smtClean="0"/>
              <a:t>815</a:t>
            </a:fld>
            <a:endParaRPr lang="en-US"/>
          </a:p>
        </p:txBody>
      </p:sp>
    </p:spTree>
    <p:extLst>
      <p:ext uri="{BB962C8B-B14F-4D97-AF65-F5344CB8AC3E}">
        <p14:creationId xmlns:p14="http://schemas.microsoft.com/office/powerpoint/2010/main" val="684948330"/>
      </p:ext>
    </p:extLst>
  </p:cSld>
  <p:clrMapOvr>
    <a:masterClrMapping/>
  </p:clrMapOvr>
</p:sld>
</file>

<file path=ppt/slides/slide8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AD035-0436-4AF7-B05A-5B8CFAAE5566}"/>
              </a:ext>
            </a:extLst>
          </p:cNvPr>
          <p:cNvSpPr>
            <a:spLocks noGrp="1"/>
          </p:cNvSpPr>
          <p:nvPr>
            <p:ph type="title"/>
          </p:nvPr>
        </p:nvSpPr>
        <p:spPr>
          <a:xfrm>
            <a:off x="838200" y="365125"/>
            <a:ext cx="10515600" cy="716915"/>
          </a:xfrm>
        </p:spPr>
        <p:txBody>
          <a:bodyPr/>
          <a:lstStyle/>
          <a:p>
            <a:r>
              <a:rPr lang="en-US" dirty="0"/>
              <a:t>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0A0313-E39E-4701-9091-39C5831BBDF8}"/>
                  </a:ext>
                </a:extLst>
              </p:cNvPr>
              <p:cNvSpPr>
                <a:spLocks noGrp="1"/>
              </p:cNvSpPr>
              <p:nvPr>
                <p:ph idx="1"/>
              </p:nvPr>
            </p:nvSpPr>
            <p:spPr>
              <a:xfrm>
                <a:off x="838200" y="1082040"/>
                <a:ext cx="10515600" cy="5094923"/>
              </a:xfrm>
            </p:spPr>
            <p:txBody>
              <a:bodyPr/>
              <a:lstStyle/>
              <a:p>
                <a:pPr algn="just"/>
                <a:r>
                  <a:rPr lang="en-US" dirty="0"/>
                  <a:t>We can avoid the above issue by scaling the data before regularizing. </a:t>
                </a:r>
              </a:p>
              <a:p>
                <a:pPr algn="just"/>
                <a:endParaRPr lang="en-US" dirty="0"/>
              </a:p>
              <a:p>
                <a:pPr algn="just"/>
                <a:r>
                  <a:rPr lang="en-US" dirty="0"/>
                  <a:t>This is a process where we convert all features to the same numeric scale. </a:t>
                </a:r>
              </a:p>
              <a:p>
                <a:pPr algn="just"/>
                <a:endParaRPr lang="en-US" dirty="0"/>
              </a:p>
              <a:p>
                <a:pPr algn="just"/>
                <a:r>
                  <a:rPr lang="en-US" dirty="0"/>
                  <a:t>A common way to scale data is to perform standardization such that all features have mean 0 and standard deviation 1.</a:t>
                </a:r>
              </a:p>
              <a:p>
                <a:pPr algn="just"/>
                <a:endParaRPr lang="en-US" dirty="0"/>
              </a:p>
              <a:p>
                <a:pPr marL="0" indent="0" algn="just">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𝑠𝑡𝑎𝑛𝑑𝑎𝑟𝑑𝑖𝑧𝑒𝑑</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𝑢𝑛𝑠𝑐𝑎𝑙𝑒𝑑</m:t>
                              </m:r>
                            </m:sub>
                          </m:sSub>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𝜎</m:t>
                          </m:r>
                        </m:den>
                      </m:f>
                    </m:oMath>
                  </m:oMathPara>
                </a14:m>
                <a:endParaRPr lang="en-US" dirty="0"/>
              </a:p>
            </p:txBody>
          </p:sp>
        </mc:Choice>
        <mc:Fallback xmlns="">
          <p:sp>
            <p:nvSpPr>
              <p:cNvPr id="3" name="Content Placeholder 2">
                <a:extLst>
                  <a:ext uri="{FF2B5EF4-FFF2-40B4-BE49-F238E27FC236}">
                    <a16:creationId xmlns:a16="http://schemas.microsoft.com/office/drawing/2014/main" id="{A70A0313-E39E-4701-9091-39C5831BBDF8}"/>
                  </a:ext>
                </a:extLst>
              </p:cNvPr>
              <p:cNvSpPr>
                <a:spLocks noGrp="1" noRot="1" noChangeAspect="1" noMove="1" noResize="1" noEditPoints="1" noAdjustHandles="1" noChangeArrowheads="1" noChangeShapeType="1" noTextEdit="1"/>
              </p:cNvSpPr>
              <p:nvPr>
                <p:ph idx="1"/>
              </p:nvPr>
            </p:nvSpPr>
            <p:spPr>
              <a:xfrm>
                <a:off x="838200" y="1082040"/>
                <a:ext cx="10515600" cy="5094923"/>
              </a:xfrm>
              <a:blipFill>
                <a:blip r:embed="rId2"/>
                <a:stretch>
                  <a:fillRect l="-1043" t="-2036"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85D9FC2-421F-4502-812A-5B5AC3E42F8C}"/>
              </a:ext>
            </a:extLst>
          </p:cNvPr>
          <p:cNvSpPr>
            <a:spLocks noGrp="1"/>
          </p:cNvSpPr>
          <p:nvPr>
            <p:ph type="sldNum" sz="quarter" idx="12"/>
          </p:nvPr>
        </p:nvSpPr>
        <p:spPr/>
        <p:txBody>
          <a:bodyPr/>
          <a:lstStyle/>
          <a:p>
            <a:fld id="{6B97D948-30E8-43F7-AE10-F6E2D9F2BBB1}" type="slidenum">
              <a:rPr lang="en-US" smtClean="0"/>
              <a:t>816</a:t>
            </a:fld>
            <a:endParaRPr lang="en-US"/>
          </a:p>
        </p:txBody>
      </p:sp>
    </p:spTree>
    <p:extLst>
      <p:ext uri="{BB962C8B-B14F-4D97-AF65-F5344CB8AC3E}">
        <p14:creationId xmlns:p14="http://schemas.microsoft.com/office/powerpoint/2010/main" val="3010213310"/>
      </p:ext>
    </p:extLst>
  </p:cSld>
  <p:clrMapOvr>
    <a:masterClrMapping/>
  </p:clrMapOvr>
</p:sld>
</file>

<file path=ppt/slides/slide8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ED843-F993-42C6-A61A-454EEAE298F1}"/>
              </a:ext>
            </a:extLst>
          </p:cNvPr>
          <p:cNvSpPr>
            <a:spLocks noGrp="1"/>
          </p:cNvSpPr>
          <p:nvPr>
            <p:ph type="title"/>
          </p:nvPr>
        </p:nvSpPr>
        <p:spPr>
          <a:xfrm>
            <a:off x="838200" y="365125"/>
            <a:ext cx="10515600" cy="640715"/>
          </a:xfrm>
        </p:spPr>
        <p:txBody>
          <a:bodyPr>
            <a:normAutofit fontScale="90000"/>
          </a:bodyPr>
          <a:lstStyle/>
          <a:p>
            <a:r>
              <a:rPr lang="en-US" dirty="0"/>
              <a:t>L2 (Ridge) Regularization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84255D-B473-4D5B-A815-20908BB4FB76}"/>
                  </a:ext>
                </a:extLst>
              </p:cNvPr>
              <p:cNvSpPr>
                <a:spLocks noGrp="1"/>
              </p:cNvSpPr>
              <p:nvPr>
                <p:ph idx="1"/>
              </p:nvPr>
            </p:nvSpPr>
            <p:spPr>
              <a:xfrm>
                <a:off x="838200" y="1005840"/>
                <a:ext cx="10515600" cy="5171123"/>
              </a:xfrm>
            </p:spPr>
            <p:txBody>
              <a:bodyPr>
                <a:normAutofit fontScale="92500" lnSpcReduction="10000"/>
              </a:bodyPr>
              <a:lstStyle/>
              <a:p>
                <a:pPr algn="just"/>
                <a:r>
                  <a:rPr lang="en-US" dirty="0"/>
                  <a:t>In all of our work on L1, we considered the constraint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𝑝</m:t>
                        </m:r>
                      </m:sup>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Sub>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ℚ</m:t>
                        </m:r>
                      </m:e>
                    </m:nary>
                    <m:r>
                      <a:rPr lang="en-US" b="0" i="1" smtClean="0">
                        <a:latin typeface="Cambria Math" panose="02040503050406030204" pitchFamily="18" charset="0"/>
                        <a:ea typeface="Cambria Math" panose="02040503050406030204" pitchFamily="18" charset="0"/>
                      </a:rPr>
                      <m:t> </m:t>
                    </m:r>
                  </m:oMath>
                </a14:m>
                <a:r>
                  <a:rPr lang="en-US" dirty="0"/>
                  <a:t>to limit the complexity of the model. </a:t>
                </a:r>
              </a:p>
              <a:p>
                <a:pPr algn="just"/>
                <a:endParaRPr lang="en-US" dirty="0"/>
              </a:p>
              <a:p>
                <a:pPr algn="just"/>
                <a:r>
                  <a:rPr lang="en-US" dirty="0"/>
                  <a:t>What if we had applied a different constraint?</a:t>
                </a:r>
              </a:p>
              <a:p>
                <a:pPr algn="just"/>
                <a:endParaRPr lang="en-US" dirty="0"/>
              </a:p>
              <a:p>
                <a:pPr algn="just"/>
                <a:r>
                  <a:rPr lang="en-US" dirty="0"/>
                  <a:t>In </a:t>
                </a:r>
                <a:r>
                  <a:rPr lang="en-US" b="1" dirty="0"/>
                  <a:t>L2 regularization</a:t>
                </a:r>
                <a:r>
                  <a:rPr lang="en-US" dirty="0"/>
                  <a:t>, also known as </a:t>
                </a:r>
                <a:r>
                  <a:rPr lang="en-US" b="1" dirty="0"/>
                  <a:t>ridge regression</a:t>
                </a:r>
                <a:r>
                  <a:rPr lang="en-US" dirty="0"/>
                  <a:t>, we constrain the model such that the sum of the squared parameters must be less than some number . </a:t>
                </a:r>
              </a:p>
              <a:p>
                <a:pPr algn="just"/>
                <a:r>
                  <a:rPr lang="en-US" dirty="0"/>
                  <a:t>This constraint takes the form:</a:t>
                </a:r>
              </a:p>
              <a:p>
                <a:pPr marL="0" indent="0" algn="just">
                  <a:buNone/>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ℚ</m:t>
                          </m:r>
                        </m:e>
                      </m:nary>
                    </m:oMath>
                  </m:oMathPara>
                </a14:m>
                <a:endParaRPr lang="en-US" dirty="0"/>
              </a:p>
              <a:p>
                <a:pPr algn="just"/>
                <a:r>
                  <a:rPr lang="en-US" dirty="0"/>
                  <a:t>As before, we typically do not regularize the intercept term.</a:t>
                </a:r>
              </a:p>
            </p:txBody>
          </p:sp>
        </mc:Choice>
        <mc:Fallback xmlns="">
          <p:sp>
            <p:nvSpPr>
              <p:cNvPr id="3" name="Content Placeholder 2">
                <a:extLst>
                  <a:ext uri="{FF2B5EF4-FFF2-40B4-BE49-F238E27FC236}">
                    <a16:creationId xmlns:a16="http://schemas.microsoft.com/office/drawing/2014/main" id="{0284255D-B473-4D5B-A815-20908BB4FB76}"/>
                  </a:ext>
                </a:extLst>
              </p:cNvPr>
              <p:cNvSpPr>
                <a:spLocks noGrp="1" noRot="1" noChangeAspect="1" noMove="1" noResize="1" noEditPoints="1" noAdjustHandles="1" noChangeArrowheads="1" noChangeShapeType="1" noTextEdit="1"/>
              </p:cNvSpPr>
              <p:nvPr>
                <p:ph idx="1"/>
              </p:nvPr>
            </p:nvSpPr>
            <p:spPr>
              <a:xfrm>
                <a:off x="838200" y="1005840"/>
                <a:ext cx="10515600" cy="5171123"/>
              </a:xfrm>
              <a:blipFill>
                <a:blip r:embed="rId2"/>
                <a:stretch>
                  <a:fillRect l="-928" t="-1769" r="-986" b="-590"/>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6B3B634-3A32-4D4D-B239-160A24210129}"/>
              </a:ext>
            </a:extLst>
          </p:cNvPr>
          <p:cNvSpPr>
            <a:spLocks noGrp="1"/>
          </p:cNvSpPr>
          <p:nvPr>
            <p:ph type="sldNum" sz="quarter" idx="12"/>
          </p:nvPr>
        </p:nvSpPr>
        <p:spPr/>
        <p:txBody>
          <a:bodyPr/>
          <a:lstStyle/>
          <a:p>
            <a:fld id="{6B97D948-30E8-43F7-AE10-F6E2D9F2BBB1}" type="slidenum">
              <a:rPr lang="en-US" smtClean="0"/>
              <a:t>817</a:t>
            </a:fld>
            <a:endParaRPr lang="en-US"/>
          </a:p>
        </p:txBody>
      </p:sp>
    </p:spTree>
    <p:extLst>
      <p:ext uri="{BB962C8B-B14F-4D97-AF65-F5344CB8AC3E}">
        <p14:creationId xmlns:p14="http://schemas.microsoft.com/office/powerpoint/2010/main" val="533856265"/>
      </p:ext>
    </p:extLst>
  </p:cSld>
  <p:clrMapOvr>
    <a:masterClrMapping/>
  </p:clrMapOvr>
</p:sld>
</file>

<file path=ppt/slides/slide8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DC68A5-8FA5-4133-9450-EF8A3287EF4B}"/>
                  </a:ext>
                </a:extLst>
              </p:cNvPr>
              <p:cNvSpPr>
                <a:spLocks noGrp="1"/>
              </p:cNvSpPr>
              <p:nvPr>
                <p:ph idx="1"/>
              </p:nvPr>
            </p:nvSpPr>
            <p:spPr>
              <a:xfrm>
                <a:off x="838200" y="472440"/>
                <a:ext cx="10515600" cy="5704523"/>
              </a:xfrm>
            </p:spPr>
            <p:txBody>
              <a:bodyPr>
                <a:normAutofit lnSpcReduction="10000"/>
              </a:bodyPr>
              <a:lstStyle/>
              <a:p>
                <a:pPr algn="just"/>
                <a:r>
                  <a:rPr lang="en-US" dirty="0"/>
                  <a:t>Here, our new goal is to minimize the function:</a:t>
                </a:r>
              </a:p>
              <a:p>
                <a:pPr marL="0" indent="0" algn="ctr">
                  <a:buNone/>
                </a:pP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e>
                    </m:nary>
                    <m:r>
                      <a:rPr lang="en-US" b="0" i="1" smtClean="0">
                        <a:latin typeface="Cambria Math" panose="02040503050406030204" pitchFamily="18" charset="0"/>
                      </a:rPr>
                      <m:t> </m:t>
                    </m:r>
                  </m:oMath>
                </a14:m>
                <a:r>
                  <a:rPr lang="en-US" dirty="0"/>
                  <a:t>such that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ℚ</m:t>
                        </m:r>
                      </m:e>
                    </m:nary>
                  </m:oMath>
                </a14:m>
                <a:r>
                  <a:rPr lang="en-US" dirty="0"/>
                  <a:t> </a:t>
                </a:r>
              </a:p>
              <a:p>
                <a:pPr marL="0" indent="0" algn="just">
                  <a:buNone/>
                </a:pPr>
                <a:r>
                  <a:rPr lang="en-US" dirty="0"/>
                  <a:t>which we rewrite as:</a:t>
                </a:r>
              </a:p>
              <a:p>
                <a:pPr marL="0" indent="0" algn="just">
                  <a:buNone/>
                </a:pPr>
                <a:endParaRPr lang="en-US" dirty="0"/>
              </a:p>
              <a:p>
                <a:pPr marL="0" indent="0" algn="ctr">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e>
                      </m:nary>
                      <m:r>
                        <a:rPr lang="en-US" b="0" i="0"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e>
                      </m:nary>
                    </m:oMath>
                  </m:oMathPara>
                </a14:m>
                <a:endParaRPr lang="en-US" dirty="0"/>
              </a:p>
              <a:p>
                <a:pPr algn="just"/>
                <a:r>
                  <a:rPr lang="en-US" dirty="0"/>
                  <a:t>When applying L2 regularization, our goal is to minimize this updated objective function.</a:t>
                </a:r>
              </a:p>
              <a:p>
                <a:pPr algn="just"/>
                <a:r>
                  <a:rPr lang="en-US" dirty="0"/>
                  <a:t>This solution to the above exists </a:t>
                </a:r>
                <a:r>
                  <a:rPr lang="en-US" i="1" dirty="0"/>
                  <a:t>even if there is linear dependence</a:t>
                </a:r>
                <a:r>
                  <a:rPr lang="en-US" dirty="0"/>
                  <a:t> in the columns of the design matrix. </a:t>
                </a:r>
              </a:p>
              <a:p>
                <a:pPr algn="just"/>
                <a:r>
                  <a:rPr lang="en-US" dirty="0"/>
                  <a:t>This is </a:t>
                </a:r>
                <a:r>
                  <a:rPr lang="en-US" i="1" dirty="0">
                    <a:solidFill>
                      <a:srgbClr val="FF0000"/>
                    </a:solidFill>
                  </a:rPr>
                  <a:t>a major reason why L2 regularization is often used</a:t>
                </a:r>
                <a:r>
                  <a:rPr lang="en-US" dirty="0"/>
                  <a:t> – it can produce a solution even when there is </a:t>
                </a:r>
                <a:r>
                  <a:rPr lang="en-US" dirty="0" err="1"/>
                  <a:t>colinearity</a:t>
                </a:r>
                <a:r>
                  <a:rPr lang="en-US" dirty="0"/>
                  <a:t> in the features. </a:t>
                </a:r>
              </a:p>
              <a:p>
                <a:pPr marL="0" indent="0" algn="ctr">
                  <a:buNone/>
                </a:pPr>
                <a:endParaRPr lang="en-US" dirty="0"/>
              </a:p>
            </p:txBody>
          </p:sp>
        </mc:Choice>
        <mc:Fallback xmlns="">
          <p:sp>
            <p:nvSpPr>
              <p:cNvPr id="3" name="Content Placeholder 2">
                <a:extLst>
                  <a:ext uri="{FF2B5EF4-FFF2-40B4-BE49-F238E27FC236}">
                    <a16:creationId xmlns:a16="http://schemas.microsoft.com/office/drawing/2014/main" id="{FCDC68A5-8FA5-4133-9450-EF8A3287EF4B}"/>
                  </a:ext>
                </a:extLst>
              </p:cNvPr>
              <p:cNvSpPr>
                <a:spLocks noGrp="1" noRot="1" noChangeAspect="1" noMove="1" noResize="1" noEditPoints="1" noAdjustHandles="1" noChangeArrowheads="1" noChangeShapeType="1" noTextEdit="1"/>
              </p:cNvSpPr>
              <p:nvPr>
                <p:ph idx="1"/>
              </p:nvPr>
            </p:nvSpPr>
            <p:spPr>
              <a:xfrm>
                <a:off x="838200" y="472440"/>
                <a:ext cx="10515600" cy="5704523"/>
              </a:xfrm>
              <a:blipFill>
                <a:blip r:embed="rId2"/>
                <a:stretch>
                  <a:fillRect l="-1217" t="-2460"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E7D57228-CA9B-424A-990A-324CF5C1F083}"/>
              </a:ext>
            </a:extLst>
          </p:cNvPr>
          <p:cNvSpPr>
            <a:spLocks noGrp="1"/>
          </p:cNvSpPr>
          <p:nvPr>
            <p:ph type="sldNum" sz="quarter" idx="12"/>
          </p:nvPr>
        </p:nvSpPr>
        <p:spPr/>
        <p:txBody>
          <a:bodyPr/>
          <a:lstStyle/>
          <a:p>
            <a:fld id="{6B97D948-30E8-43F7-AE10-F6E2D9F2BBB1}" type="slidenum">
              <a:rPr lang="en-US" smtClean="0"/>
              <a:t>818</a:t>
            </a:fld>
            <a:endParaRPr lang="en-US"/>
          </a:p>
        </p:txBody>
      </p:sp>
    </p:spTree>
    <p:extLst>
      <p:ext uri="{BB962C8B-B14F-4D97-AF65-F5344CB8AC3E}">
        <p14:creationId xmlns:p14="http://schemas.microsoft.com/office/powerpoint/2010/main" val="1202867169"/>
      </p:ext>
    </p:extLst>
  </p:cSld>
  <p:clrMapOvr>
    <a:masterClrMapping/>
  </p:clrMapOvr>
</p:sld>
</file>

<file path=ppt/slides/slide8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6C55B-D091-41E8-9E5A-1FA3F4DC4A37}"/>
              </a:ext>
            </a:extLst>
          </p:cNvPr>
          <p:cNvSpPr>
            <a:spLocks noGrp="1"/>
          </p:cNvSpPr>
          <p:nvPr>
            <p:ph type="title"/>
          </p:nvPr>
        </p:nvSpPr>
        <p:spPr>
          <a:xfrm>
            <a:off x="838200" y="365125"/>
            <a:ext cx="10515600" cy="671195"/>
          </a:xfrm>
        </p:spPr>
        <p:txBody>
          <a:bodyPr>
            <a:normAutofit fontScale="90000"/>
          </a:bodyPr>
          <a:lstStyle/>
          <a:p>
            <a:r>
              <a:rPr lang="en-US" dirty="0"/>
              <a:t>Code</a:t>
            </a:r>
          </a:p>
        </p:txBody>
      </p:sp>
      <p:sp>
        <p:nvSpPr>
          <p:cNvPr id="3" name="Content Placeholder 2">
            <a:extLst>
              <a:ext uri="{FF2B5EF4-FFF2-40B4-BE49-F238E27FC236}">
                <a16:creationId xmlns:a16="http://schemas.microsoft.com/office/drawing/2014/main" id="{58CAD1E2-410D-4124-A6CF-DCEF7E32B3E9}"/>
              </a:ext>
            </a:extLst>
          </p:cNvPr>
          <p:cNvSpPr>
            <a:spLocks noGrp="1"/>
          </p:cNvSpPr>
          <p:nvPr>
            <p:ph idx="1"/>
          </p:nvPr>
        </p:nvSpPr>
        <p:spPr>
          <a:xfrm>
            <a:off x="838200" y="1036320"/>
            <a:ext cx="10515600" cy="5140643"/>
          </a:xfrm>
        </p:spPr>
        <p:txBody>
          <a:bodyPr>
            <a:normAutofit/>
          </a:bodyPr>
          <a:lstStyle/>
          <a:p>
            <a:pPr algn="just"/>
            <a:r>
              <a:rPr lang="en-US" dirty="0"/>
              <a:t>In </a:t>
            </a:r>
            <a:r>
              <a:rPr lang="en-US" dirty="0" err="1"/>
              <a:t>sklearn</a:t>
            </a:r>
            <a:r>
              <a:rPr lang="en-US" dirty="0"/>
              <a:t>, we perform L2 regularization using the Ridge class. </a:t>
            </a:r>
          </a:p>
          <a:p>
            <a:pPr algn="just"/>
            <a:r>
              <a:rPr lang="en-US" dirty="0"/>
              <a:t>Let’s scale the data before regularizing.</a:t>
            </a:r>
          </a:p>
          <a:p>
            <a:pPr algn="just"/>
            <a:endParaRPr lang="en-US" dirty="0">
              <a:solidFill>
                <a:srgbClr val="FF0000"/>
              </a:solidFill>
            </a:endParaRPr>
          </a:p>
          <a:p>
            <a:pPr algn="just"/>
            <a:r>
              <a:rPr lang="en-US" dirty="0" err="1">
                <a:solidFill>
                  <a:srgbClr val="FF0000"/>
                </a:solidFill>
              </a:rPr>
              <a:t>X_train_scaled</a:t>
            </a:r>
            <a:r>
              <a:rPr lang="en-US" dirty="0">
                <a:solidFill>
                  <a:srgbClr val="FF0000"/>
                </a:solidFill>
              </a:rPr>
              <a:t> = (</a:t>
            </a:r>
            <a:r>
              <a:rPr lang="en-US" dirty="0" err="1">
                <a:solidFill>
                  <a:srgbClr val="FF0000"/>
                </a:solidFill>
              </a:rPr>
              <a:t>X_train</a:t>
            </a:r>
            <a:r>
              <a:rPr lang="en-US" dirty="0">
                <a:solidFill>
                  <a:srgbClr val="FF0000"/>
                </a:solidFill>
              </a:rPr>
              <a:t> - </a:t>
            </a:r>
            <a:r>
              <a:rPr lang="en-US" dirty="0" err="1">
                <a:solidFill>
                  <a:srgbClr val="FF0000"/>
                </a:solidFill>
              </a:rPr>
              <a:t>X_train.mean</a:t>
            </a:r>
            <a:r>
              <a:rPr lang="en-US" dirty="0">
                <a:solidFill>
                  <a:srgbClr val="FF0000"/>
                </a:solidFill>
              </a:rPr>
              <a:t>())/</a:t>
            </a:r>
            <a:r>
              <a:rPr lang="en-US" dirty="0" err="1">
                <a:solidFill>
                  <a:srgbClr val="FF0000"/>
                </a:solidFill>
              </a:rPr>
              <a:t>X_train.std</a:t>
            </a:r>
            <a:r>
              <a:rPr lang="en-US" dirty="0">
                <a:solidFill>
                  <a:srgbClr val="FF0000"/>
                </a:solidFill>
              </a:rPr>
              <a:t>()</a:t>
            </a:r>
          </a:p>
          <a:p>
            <a:pPr algn="just"/>
            <a:r>
              <a:rPr lang="en-US" dirty="0">
                <a:solidFill>
                  <a:srgbClr val="FF0000"/>
                </a:solidFill>
              </a:rPr>
              <a:t> </a:t>
            </a:r>
            <a:r>
              <a:rPr lang="en-US" dirty="0" err="1">
                <a:solidFill>
                  <a:srgbClr val="FF0000"/>
                </a:solidFill>
              </a:rPr>
              <a:t>ridge_model</a:t>
            </a:r>
            <a:r>
              <a:rPr lang="en-US" dirty="0">
                <a:solidFill>
                  <a:srgbClr val="FF0000"/>
                </a:solidFill>
              </a:rPr>
              <a:t> = </a:t>
            </a:r>
            <a:r>
              <a:rPr lang="en-US" dirty="0" err="1">
                <a:solidFill>
                  <a:srgbClr val="FF0000"/>
                </a:solidFill>
              </a:rPr>
              <a:t>lm.Ridge</a:t>
            </a:r>
            <a:r>
              <a:rPr lang="en-US" dirty="0">
                <a:solidFill>
                  <a:srgbClr val="FF0000"/>
                </a:solidFill>
              </a:rPr>
              <a:t>(alpha=2)</a:t>
            </a:r>
          </a:p>
          <a:p>
            <a:pPr algn="just"/>
            <a:r>
              <a:rPr lang="en-US" dirty="0">
                <a:solidFill>
                  <a:srgbClr val="FF0000"/>
                </a:solidFill>
              </a:rPr>
              <a:t> </a:t>
            </a:r>
            <a:r>
              <a:rPr lang="en-US" dirty="0" err="1">
                <a:solidFill>
                  <a:srgbClr val="FF0000"/>
                </a:solidFill>
              </a:rPr>
              <a:t>ridge_model.fit</a:t>
            </a:r>
            <a:r>
              <a:rPr lang="en-US" dirty="0">
                <a:solidFill>
                  <a:srgbClr val="FF0000"/>
                </a:solidFill>
              </a:rPr>
              <a:t>(</a:t>
            </a:r>
            <a:r>
              <a:rPr lang="en-US" dirty="0" err="1">
                <a:solidFill>
                  <a:srgbClr val="FF0000"/>
                </a:solidFill>
              </a:rPr>
              <a:t>X_train_scaled</a:t>
            </a:r>
            <a:r>
              <a:rPr lang="en-US" dirty="0">
                <a:solidFill>
                  <a:srgbClr val="FF0000"/>
                </a:solidFill>
              </a:rPr>
              <a:t>, </a:t>
            </a:r>
            <a:r>
              <a:rPr lang="en-US" dirty="0" err="1">
                <a:solidFill>
                  <a:srgbClr val="FF0000"/>
                </a:solidFill>
              </a:rPr>
              <a:t>Y_train</a:t>
            </a:r>
            <a:r>
              <a:rPr lang="en-US" dirty="0">
                <a:solidFill>
                  <a:srgbClr val="FF0000"/>
                </a:solidFill>
              </a:rPr>
              <a:t>)</a:t>
            </a:r>
          </a:p>
          <a:p>
            <a:pPr algn="just"/>
            <a:r>
              <a:rPr lang="en-US" dirty="0">
                <a:solidFill>
                  <a:srgbClr val="FF0000"/>
                </a:solidFill>
              </a:rPr>
              <a:t> </a:t>
            </a:r>
            <a:r>
              <a:rPr lang="en-US" dirty="0" err="1">
                <a:solidFill>
                  <a:srgbClr val="FF0000"/>
                </a:solidFill>
              </a:rPr>
              <a:t>ridge_model.coef</a:t>
            </a:r>
            <a:r>
              <a:rPr lang="en-US" dirty="0">
                <a:solidFill>
                  <a:srgbClr val="FF0000"/>
                </a:solidFill>
              </a:rPr>
              <a:t>_</a:t>
            </a:r>
          </a:p>
          <a:p>
            <a:pPr algn="just"/>
            <a:r>
              <a:rPr lang="en-US" dirty="0"/>
              <a:t>Out[43]: array([-10.2648041 ,  -0.74315078,   3.18273699,   2.28075222])</a:t>
            </a:r>
          </a:p>
        </p:txBody>
      </p:sp>
      <p:sp>
        <p:nvSpPr>
          <p:cNvPr id="5" name="Slide Number Placeholder 4">
            <a:extLst>
              <a:ext uri="{FF2B5EF4-FFF2-40B4-BE49-F238E27FC236}">
                <a16:creationId xmlns:a16="http://schemas.microsoft.com/office/drawing/2014/main" id="{4D469E46-3838-4EFA-A35E-E340BA9064C2}"/>
              </a:ext>
            </a:extLst>
          </p:cNvPr>
          <p:cNvSpPr>
            <a:spLocks noGrp="1"/>
          </p:cNvSpPr>
          <p:nvPr>
            <p:ph type="sldNum" sz="quarter" idx="12"/>
          </p:nvPr>
        </p:nvSpPr>
        <p:spPr/>
        <p:txBody>
          <a:bodyPr/>
          <a:lstStyle/>
          <a:p>
            <a:fld id="{6B97D948-30E8-43F7-AE10-F6E2D9F2BBB1}" type="slidenum">
              <a:rPr lang="en-US" smtClean="0"/>
              <a:t>819</a:t>
            </a:fld>
            <a:endParaRPr lang="en-US"/>
          </a:p>
        </p:txBody>
      </p:sp>
    </p:spTree>
    <p:extLst>
      <p:ext uri="{BB962C8B-B14F-4D97-AF65-F5344CB8AC3E}">
        <p14:creationId xmlns:p14="http://schemas.microsoft.com/office/powerpoint/2010/main" val="2941247033"/>
      </p:ext>
    </p:extLst>
  </p:cSld>
  <p:clrMapOvr>
    <a:masterClrMapping/>
  </p:clrMapOvr>
</p:sld>
</file>

<file path=ppt/slides/slide8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F5853-DFF0-446A-88F8-E10C33DEDE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E2C9DD-62EC-444A-9D0C-D129B248F563}"/>
              </a:ext>
            </a:extLst>
          </p:cNvPr>
          <p:cNvSpPr>
            <a:spLocks noGrp="1"/>
          </p:cNvSpPr>
          <p:nvPr>
            <p:ph idx="1"/>
          </p:nvPr>
        </p:nvSpPr>
        <p:spPr/>
        <p:txBody>
          <a:bodyPr/>
          <a:lstStyle/>
          <a:p>
            <a:endParaRPr lang="en-US"/>
          </a:p>
        </p:txBody>
      </p:sp>
      <p:sp>
        <p:nvSpPr>
          <p:cNvPr id="5" name="Slide Number Placeholder 4">
            <a:extLst>
              <a:ext uri="{FF2B5EF4-FFF2-40B4-BE49-F238E27FC236}">
                <a16:creationId xmlns:a16="http://schemas.microsoft.com/office/drawing/2014/main" id="{C9ED53B3-816A-454B-8FB7-5072B1D815EB}"/>
              </a:ext>
            </a:extLst>
          </p:cNvPr>
          <p:cNvSpPr>
            <a:spLocks noGrp="1"/>
          </p:cNvSpPr>
          <p:nvPr>
            <p:ph type="sldNum" sz="quarter" idx="12"/>
          </p:nvPr>
        </p:nvSpPr>
        <p:spPr/>
        <p:txBody>
          <a:bodyPr/>
          <a:lstStyle/>
          <a:p>
            <a:fld id="{6B97D948-30E8-43F7-AE10-F6E2D9F2BBB1}" type="slidenum">
              <a:rPr lang="en-US" smtClean="0"/>
              <a:t>820</a:t>
            </a:fld>
            <a:endParaRPr lang="en-US"/>
          </a:p>
        </p:txBody>
      </p:sp>
    </p:spTree>
    <p:extLst>
      <p:ext uri="{BB962C8B-B14F-4D97-AF65-F5344CB8AC3E}">
        <p14:creationId xmlns:p14="http://schemas.microsoft.com/office/powerpoint/2010/main" val="1144052122"/>
      </p:ext>
    </p:extLst>
  </p:cSld>
  <p:clrMapOvr>
    <a:masterClrMapping/>
  </p:clrMapOvr>
</p:sld>
</file>

<file path=ppt/slides/slide8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6D99-2C5C-4F77-AFB2-7F5F5D3DB7A7}"/>
              </a:ext>
            </a:extLst>
          </p:cNvPr>
          <p:cNvSpPr>
            <a:spLocks noGrp="1"/>
          </p:cNvSpPr>
          <p:nvPr>
            <p:ph type="title"/>
          </p:nvPr>
        </p:nvSpPr>
        <p:spPr>
          <a:xfrm>
            <a:off x="838200" y="365125"/>
            <a:ext cx="10515600" cy="671195"/>
          </a:xfrm>
        </p:spPr>
        <p:txBody>
          <a:bodyPr>
            <a:normAutofit fontScale="90000"/>
          </a:bodyPr>
          <a:lstStyle/>
          <a:p>
            <a:r>
              <a:rPr lang="en-US" dirty="0"/>
              <a:t>Extended Example</a:t>
            </a:r>
          </a:p>
        </p:txBody>
      </p:sp>
      <p:sp>
        <p:nvSpPr>
          <p:cNvPr id="3" name="Content Placeholder 2">
            <a:extLst>
              <a:ext uri="{FF2B5EF4-FFF2-40B4-BE49-F238E27FC236}">
                <a16:creationId xmlns:a16="http://schemas.microsoft.com/office/drawing/2014/main" id="{8FB8CCC6-32FA-458F-B285-5D0ADB08771C}"/>
              </a:ext>
            </a:extLst>
          </p:cNvPr>
          <p:cNvSpPr>
            <a:spLocks noGrp="1"/>
          </p:cNvSpPr>
          <p:nvPr>
            <p:ph idx="1"/>
          </p:nvPr>
        </p:nvSpPr>
        <p:spPr>
          <a:xfrm>
            <a:off x="838200" y="1036320"/>
            <a:ext cx="10515600" cy="5140643"/>
          </a:xfrm>
        </p:spPr>
        <p:txBody>
          <a:bodyPr>
            <a:normAutofit/>
          </a:bodyPr>
          <a:lstStyle/>
          <a:p>
            <a:r>
              <a:rPr lang="en-US" dirty="0">
                <a:solidFill>
                  <a:srgbClr val="FF0000"/>
                </a:solidFill>
              </a:rPr>
              <a:t>from </a:t>
            </a:r>
            <a:r>
              <a:rPr lang="en-US" dirty="0" err="1">
                <a:solidFill>
                  <a:srgbClr val="FF0000"/>
                </a:solidFill>
              </a:rPr>
              <a:t>sklearn</a:t>
            </a:r>
            <a:r>
              <a:rPr lang="en-US" dirty="0">
                <a:solidFill>
                  <a:srgbClr val="FF0000"/>
                </a:solidFill>
              </a:rPr>
              <a:t> import </a:t>
            </a:r>
            <a:r>
              <a:rPr lang="en-US" dirty="0" err="1">
                <a:solidFill>
                  <a:srgbClr val="FF0000"/>
                </a:solidFill>
              </a:rPr>
              <a:t>linear_model</a:t>
            </a:r>
            <a:endParaRPr lang="en-US" dirty="0">
              <a:solidFill>
                <a:srgbClr val="FF0000"/>
              </a:solidFill>
            </a:endParaRPr>
          </a:p>
          <a:p>
            <a:r>
              <a:rPr lang="en-US" dirty="0">
                <a:solidFill>
                  <a:srgbClr val="FF0000"/>
                </a:solidFill>
              </a:rPr>
              <a:t>from </a:t>
            </a:r>
            <a:r>
              <a:rPr lang="en-US" dirty="0" err="1">
                <a:solidFill>
                  <a:srgbClr val="FF0000"/>
                </a:solidFill>
              </a:rPr>
              <a:t>sklearn.model_selection</a:t>
            </a:r>
            <a:r>
              <a:rPr lang="en-US" dirty="0">
                <a:solidFill>
                  <a:srgbClr val="FF0000"/>
                </a:solidFill>
              </a:rPr>
              <a:t> import </a:t>
            </a:r>
            <a:r>
              <a:rPr lang="en-US" dirty="0" err="1">
                <a:solidFill>
                  <a:srgbClr val="FF0000"/>
                </a:solidFill>
              </a:rPr>
              <a:t>train_test_split</a:t>
            </a:r>
            <a:endParaRPr lang="en-US" dirty="0">
              <a:solidFill>
                <a:srgbClr val="FF0000"/>
              </a:solidFill>
            </a:endParaRPr>
          </a:p>
          <a:p>
            <a:r>
              <a:rPr lang="en-US" dirty="0">
                <a:solidFill>
                  <a:srgbClr val="FF0000"/>
                </a:solidFill>
              </a:rPr>
              <a:t>from </a:t>
            </a:r>
            <a:r>
              <a:rPr lang="en-US" dirty="0" err="1">
                <a:solidFill>
                  <a:srgbClr val="FF0000"/>
                </a:solidFill>
              </a:rPr>
              <a:t>sklearn.datasets</a:t>
            </a:r>
            <a:r>
              <a:rPr lang="en-US" dirty="0">
                <a:solidFill>
                  <a:srgbClr val="FF0000"/>
                </a:solidFill>
              </a:rPr>
              <a:t> import </a:t>
            </a:r>
            <a:r>
              <a:rPr lang="en-US" dirty="0" err="1">
                <a:solidFill>
                  <a:srgbClr val="FF0000"/>
                </a:solidFill>
              </a:rPr>
              <a:t>make_regression</a:t>
            </a:r>
            <a:endParaRPr lang="en-US" dirty="0">
              <a:solidFill>
                <a:srgbClr val="FF0000"/>
              </a:solidFill>
            </a:endParaRPr>
          </a:p>
          <a:p>
            <a:r>
              <a:rPr lang="en-US" dirty="0">
                <a:solidFill>
                  <a:srgbClr val="FF0000"/>
                </a:solidFill>
              </a:rPr>
              <a:t>from </a:t>
            </a:r>
            <a:r>
              <a:rPr lang="en-US" dirty="0" err="1">
                <a:solidFill>
                  <a:srgbClr val="FF0000"/>
                </a:solidFill>
              </a:rPr>
              <a:t>sklearn.metrics</a:t>
            </a:r>
            <a:r>
              <a:rPr lang="en-US" dirty="0">
                <a:solidFill>
                  <a:srgbClr val="FF0000"/>
                </a:solidFill>
              </a:rPr>
              <a:t> import </a:t>
            </a:r>
            <a:r>
              <a:rPr lang="en-US" dirty="0" err="1">
                <a:solidFill>
                  <a:srgbClr val="FF0000"/>
                </a:solidFill>
              </a:rPr>
              <a:t>mean_squared_error</a:t>
            </a:r>
            <a:endParaRPr lang="en-US" dirty="0">
              <a:solidFill>
                <a:srgbClr val="FF0000"/>
              </a:solidFill>
            </a:endParaRPr>
          </a:p>
          <a:p>
            <a:r>
              <a:rPr lang="en-US" dirty="0">
                <a:solidFill>
                  <a:srgbClr val="FF0000"/>
                </a:solidFill>
              </a:rPr>
              <a:t>from </a:t>
            </a:r>
            <a:r>
              <a:rPr lang="en-US" dirty="0" err="1">
                <a:solidFill>
                  <a:srgbClr val="FF0000"/>
                </a:solidFill>
              </a:rPr>
              <a:t>sklearn.preprocessing</a:t>
            </a:r>
            <a:r>
              <a:rPr lang="en-US" dirty="0">
                <a:solidFill>
                  <a:srgbClr val="FF0000"/>
                </a:solidFill>
              </a:rPr>
              <a:t> import </a:t>
            </a:r>
            <a:r>
              <a:rPr lang="en-US" dirty="0" err="1">
                <a:solidFill>
                  <a:srgbClr val="FF0000"/>
                </a:solidFill>
              </a:rPr>
              <a:t>StandardScaler</a:t>
            </a:r>
            <a:endParaRPr lang="en-US" dirty="0">
              <a:solidFill>
                <a:srgbClr val="FF0000"/>
              </a:solidFill>
            </a:endParaRPr>
          </a:p>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r>
              <a:rPr lang="en-US" dirty="0">
                <a:solidFill>
                  <a:srgbClr val="FF0000"/>
                </a:solidFill>
              </a:rPr>
              <a:t>import pandas as pd</a:t>
            </a:r>
          </a:p>
          <a:p>
            <a:r>
              <a:rPr lang="en-US" dirty="0">
                <a:solidFill>
                  <a:srgbClr val="FF0000"/>
                </a:solidFill>
              </a:rPr>
              <a:t>import </a:t>
            </a:r>
            <a:r>
              <a:rPr lang="en-US" dirty="0" err="1">
                <a:solidFill>
                  <a:srgbClr val="FF0000"/>
                </a:solidFill>
              </a:rPr>
              <a:t>numpy</a:t>
            </a:r>
            <a:r>
              <a:rPr lang="en-US" dirty="0">
                <a:solidFill>
                  <a:srgbClr val="FF0000"/>
                </a:solidFill>
              </a:rPr>
              <a:t> as np</a:t>
            </a:r>
          </a:p>
          <a:p>
            <a:r>
              <a:rPr lang="en-US" dirty="0">
                <a:solidFill>
                  <a:srgbClr val="FF0000"/>
                </a:solidFill>
              </a:rPr>
              <a:t>import folium</a:t>
            </a:r>
          </a:p>
        </p:txBody>
      </p:sp>
      <p:sp>
        <p:nvSpPr>
          <p:cNvPr id="5" name="Slide Number Placeholder 4">
            <a:extLst>
              <a:ext uri="{FF2B5EF4-FFF2-40B4-BE49-F238E27FC236}">
                <a16:creationId xmlns:a16="http://schemas.microsoft.com/office/drawing/2014/main" id="{830D3D20-05B6-4C73-9C09-61E463A48B4A}"/>
              </a:ext>
            </a:extLst>
          </p:cNvPr>
          <p:cNvSpPr>
            <a:spLocks noGrp="1"/>
          </p:cNvSpPr>
          <p:nvPr>
            <p:ph type="sldNum" sz="quarter" idx="12"/>
          </p:nvPr>
        </p:nvSpPr>
        <p:spPr/>
        <p:txBody>
          <a:bodyPr/>
          <a:lstStyle/>
          <a:p>
            <a:fld id="{6B97D948-30E8-43F7-AE10-F6E2D9F2BBB1}" type="slidenum">
              <a:rPr lang="en-US" smtClean="0"/>
              <a:t>821</a:t>
            </a:fld>
            <a:endParaRPr lang="en-US"/>
          </a:p>
        </p:txBody>
      </p:sp>
    </p:spTree>
    <p:extLst>
      <p:ext uri="{BB962C8B-B14F-4D97-AF65-F5344CB8AC3E}">
        <p14:creationId xmlns:p14="http://schemas.microsoft.com/office/powerpoint/2010/main" val="1609327067"/>
      </p:ext>
    </p:extLst>
  </p:cSld>
  <p:clrMapOvr>
    <a:masterClrMapping/>
  </p:clrMapOvr>
</p:sld>
</file>

<file path=ppt/slides/slide8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F38026-8982-4451-8E28-ECBFF7480A38}"/>
              </a:ext>
            </a:extLst>
          </p:cNvPr>
          <p:cNvSpPr>
            <a:spLocks noGrp="1"/>
          </p:cNvSpPr>
          <p:nvPr>
            <p:ph idx="1"/>
          </p:nvPr>
        </p:nvSpPr>
        <p:spPr>
          <a:xfrm>
            <a:off x="838200" y="563880"/>
            <a:ext cx="10515600" cy="5613083"/>
          </a:xfrm>
        </p:spPr>
        <p:txBody>
          <a:bodyPr>
            <a:normAutofit/>
          </a:bodyPr>
          <a:lstStyle/>
          <a:p>
            <a:r>
              <a:rPr lang="en-US" dirty="0" err="1">
                <a:solidFill>
                  <a:srgbClr val="FF0000"/>
                </a:solidFill>
              </a:rPr>
              <a:t>dwd</a:t>
            </a:r>
            <a:r>
              <a:rPr lang="en-US" dirty="0">
                <a:solidFill>
                  <a:srgbClr val="FF0000"/>
                </a:solidFill>
              </a:rPr>
              <a:t> = </a:t>
            </a:r>
            <a:r>
              <a:rPr lang="en-US" dirty="0" err="1">
                <a:solidFill>
                  <a:srgbClr val="FF0000"/>
                </a:solidFill>
              </a:rPr>
              <a:t>pd.read_table</a:t>
            </a:r>
            <a:r>
              <a:rPr lang="en-US" dirty="0">
                <a:solidFill>
                  <a:srgbClr val="FF0000"/>
                </a:solidFill>
              </a:rPr>
              <a:t>("</a:t>
            </a:r>
            <a:r>
              <a:rPr lang="en-US" dirty="0">
                <a:solidFill>
                  <a:srgbClr val="00B0F0"/>
                </a:solidFill>
              </a:rPr>
              <a:t>https://userpage.fu-berlin.de/</a:t>
            </a:r>
            <a:r>
              <a:rPr lang="en-US" dirty="0" err="1">
                <a:solidFill>
                  <a:srgbClr val="00B0F0"/>
                </a:solidFill>
              </a:rPr>
              <a:t>soga</a:t>
            </a:r>
            <a:r>
              <a:rPr lang="en-US" dirty="0">
                <a:solidFill>
                  <a:srgbClr val="00B0F0"/>
                </a:solidFill>
              </a:rPr>
              <a:t>/data/raw-data/DWD.csv</a:t>
            </a:r>
            <a:r>
              <a:rPr lang="en-US" dirty="0">
                <a:solidFill>
                  <a:srgbClr val="FF0000"/>
                </a:solidFill>
              </a:rPr>
              <a:t>",</a:t>
            </a:r>
            <a:r>
              <a:rPr lang="en-US" dirty="0" err="1">
                <a:solidFill>
                  <a:srgbClr val="FF0000"/>
                </a:solidFill>
              </a:rPr>
              <a:t>index_col</a:t>
            </a:r>
            <a:r>
              <a:rPr lang="en-US" dirty="0">
                <a:solidFill>
                  <a:srgbClr val="FF0000"/>
                </a:solidFill>
              </a:rPr>
              <a:t>=0, </a:t>
            </a:r>
            <a:r>
              <a:rPr lang="en-US" dirty="0" err="1">
                <a:solidFill>
                  <a:srgbClr val="FF0000"/>
                </a:solidFill>
              </a:rPr>
              <a:t>sep</a:t>
            </a:r>
            <a:r>
              <a:rPr lang="en-US" dirty="0">
                <a:solidFill>
                  <a:srgbClr val="FF0000"/>
                </a:solidFill>
              </a:rPr>
              <a:t>=',')</a:t>
            </a:r>
          </a:p>
          <a:p>
            <a:endParaRPr lang="en-US" dirty="0">
              <a:solidFill>
                <a:srgbClr val="FF0000"/>
              </a:solidFill>
            </a:endParaRPr>
          </a:p>
          <a:p>
            <a:r>
              <a:rPr lang="en-US" dirty="0" err="1">
                <a:solidFill>
                  <a:srgbClr val="FF0000"/>
                </a:solidFill>
              </a:rPr>
              <a:t>dwd.head</a:t>
            </a:r>
            <a:r>
              <a:rPr lang="en-US" dirty="0">
                <a:solidFill>
                  <a:srgbClr val="FF0000"/>
                </a:solidFill>
              </a:rPr>
              <a:t>()</a:t>
            </a:r>
          </a:p>
          <a:p>
            <a:endParaRPr lang="en-US" dirty="0">
              <a:solidFill>
                <a:srgbClr val="FF0000"/>
              </a:solidFill>
            </a:endParaRPr>
          </a:p>
          <a:p>
            <a:r>
              <a:rPr lang="en-US" dirty="0" err="1">
                <a:solidFill>
                  <a:srgbClr val="FF0000"/>
                </a:solidFill>
              </a:rPr>
              <a:t>dwd.columns</a:t>
            </a:r>
            <a:endParaRPr lang="en-US" dirty="0">
              <a:solidFill>
                <a:srgbClr val="FF0000"/>
              </a:solidFill>
            </a:endParaRPr>
          </a:p>
        </p:txBody>
      </p:sp>
      <p:sp>
        <p:nvSpPr>
          <p:cNvPr id="5" name="Slide Number Placeholder 4">
            <a:extLst>
              <a:ext uri="{FF2B5EF4-FFF2-40B4-BE49-F238E27FC236}">
                <a16:creationId xmlns:a16="http://schemas.microsoft.com/office/drawing/2014/main" id="{3405AE76-4573-41B4-B11A-820F63254834}"/>
              </a:ext>
            </a:extLst>
          </p:cNvPr>
          <p:cNvSpPr>
            <a:spLocks noGrp="1"/>
          </p:cNvSpPr>
          <p:nvPr>
            <p:ph type="sldNum" sz="quarter" idx="12"/>
          </p:nvPr>
        </p:nvSpPr>
        <p:spPr/>
        <p:txBody>
          <a:bodyPr/>
          <a:lstStyle/>
          <a:p>
            <a:fld id="{6B97D948-30E8-43F7-AE10-F6E2D9F2BBB1}" type="slidenum">
              <a:rPr lang="en-US" smtClean="0"/>
              <a:t>822</a:t>
            </a:fld>
            <a:endParaRPr lang="en-US"/>
          </a:p>
        </p:txBody>
      </p:sp>
    </p:spTree>
    <p:extLst>
      <p:ext uri="{BB962C8B-B14F-4D97-AF65-F5344CB8AC3E}">
        <p14:creationId xmlns:p14="http://schemas.microsoft.com/office/powerpoint/2010/main" val="1292980508"/>
      </p:ext>
    </p:extLst>
  </p:cSld>
  <p:clrMapOvr>
    <a:masterClrMapping/>
  </p:clrMapOvr>
</p:sld>
</file>

<file path=ppt/slides/slide8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806B10-E51E-450C-AB43-D05475DE55CE}"/>
              </a:ext>
            </a:extLst>
          </p:cNvPr>
          <p:cNvSpPr>
            <a:spLocks noGrp="1"/>
          </p:cNvSpPr>
          <p:nvPr>
            <p:ph idx="1"/>
          </p:nvPr>
        </p:nvSpPr>
        <p:spPr>
          <a:xfrm>
            <a:off x="838200" y="594360"/>
            <a:ext cx="10515600" cy="5582603"/>
          </a:xfrm>
        </p:spPr>
        <p:txBody>
          <a:bodyPr>
            <a:normAutofit/>
          </a:bodyPr>
          <a:lstStyle/>
          <a:p>
            <a:pPr algn="just"/>
            <a:r>
              <a:rPr lang="en-US" dirty="0">
                <a:solidFill>
                  <a:srgbClr val="FF0000"/>
                </a:solidFill>
              </a:rPr>
              <a:t>df = </a:t>
            </a:r>
            <a:r>
              <a:rPr lang="en-US" dirty="0" err="1">
                <a:solidFill>
                  <a:srgbClr val="FF0000"/>
                </a:solidFill>
              </a:rPr>
              <a:t>dwd.drop</a:t>
            </a:r>
            <a:r>
              <a:rPr lang="en-US" dirty="0">
                <a:solidFill>
                  <a:srgbClr val="FF0000"/>
                </a:solidFill>
              </a:rPr>
              <a:t>(['DWD_ID', 'RECORD_LENGTH', 'STATION_NAME', 'FEDERAL_STATE', 'PERIOD'], axis=1).</a:t>
            </a:r>
            <a:r>
              <a:rPr lang="en-US" dirty="0" err="1">
                <a:solidFill>
                  <a:srgbClr val="FF0000"/>
                </a:solidFill>
              </a:rPr>
              <a:t>dropna</a:t>
            </a:r>
            <a:r>
              <a:rPr lang="en-US" dirty="0">
                <a:solidFill>
                  <a:srgbClr val="FF0000"/>
                </a:solidFill>
              </a:rPr>
              <a:t>()</a:t>
            </a:r>
          </a:p>
          <a:p>
            <a:pPr algn="just"/>
            <a:endParaRPr lang="en-US" dirty="0">
              <a:solidFill>
                <a:srgbClr val="FF0000"/>
              </a:solidFill>
            </a:endParaRPr>
          </a:p>
          <a:p>
            <a:pPr algn="just"/>
            <a:r>
              <a:rPr lang="en-US" dirty="0" err="1">
                <a:solidFill>
                  <a:srgbClr val="FF0000"/>
                </a:solidFill>
              </a:rPr>
              <a:t>df.head</a:t>
            </a:r>
            <a:r>
              <a:rPr lang="en-US" dirty="0">
                <a:solidFill>
                  <a:srgbClr val="FF0000"/>
                </a:solidFill>
              </a:rPr>
              <a:t>()</a:t>
            </a:r>
          </a:p>
        </p:txBody>
      </p:sp>
      <p:sp>
        <p:nvSpPr>
          <p:cNvPr id="5" name="Slide Number Placeholder 4">
            <a:extLst>
              <a:ext uri="{FF2B5EF4-FFF2-40B4-BE49-F238E27FC236}">
                <a16:creationId xmlns:a16="http://schemas.microsoft.com/office/drawing/2014/main" id="{A1962340-8A22-46A2-98D7-63B566C4EB8E}"/>
              </a:ext>
            </a:extLst>
          </p:cNvPr>
          <p:cNvSpPr>
            <a:spLocks noGrp="1"/>
          </p:cNvSpPr>
          <p:nvPr>
            <p:ph type="sldNum" sz="quarter" idx="12"/>
          </p:nvPr>
        </p:nvSpPr>
        <p:spPr/>
        <p:txBody>
          <a:bodyPr/>
          <a:lstStyle/>
          <a:p>
            <a:fld id="{6B97D948-30E8-43F7-AE10-F6E2D9F2BBB1}" type="slidenum">
              <a:rPr lang="en-US" smtClean="0"/>
              <a:t>823</a:t>
            </a:fld>
            <a:endParaRPr lang="en-US"/>
          </a:p>
        </p:txBody>
      </p:sp>
    </p:spTree>
    <p:extLst>
      <p:ext uri="{BB962C8B-B14F-4D97-AF65-F5344CB8AC3E}">
        <p14:creationId xmlns:p14="http://schemas.microsoft.com/office/powerpoint/2010/main" val="2964687257"/>
      </p:ext>
    </p:extLst>
  </p:cSld>
  <p:clrMapOvr>
    <a:masterClrMapping/>
  </p:clrMapOvr>
</p:sld>
</file>

<file path=ppt/slides/slide8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781B-B818-4077-8EE5-1CBB40B88FD5}"/>
              </a:ext>
            </a:extLst>
          </p:cNvPr>
          <p:cNvSpPr>
            <a:spLocks noGrp="1"/>
          </p:cNvSpPr>
          <p:nvPr>
            <p:ph type="title"/>
          </p:nvPr>
        </p:nvSpPr>
        <p:spPr>
          <a:xfrm>
            <a:off x="838200" y="258445"/>
            <a:ext cx="10515600" cy="823595"/>
          </a:xfrm>
        </p:spPr>
        <p:txBody>
          <a:bodyPr>
            <a:normAutofit/>
          </a:bodyPr>
          <a:lstStyle/>
          <a:p>
            <a:r>
              <a:rPr lang="en-US" sz="4000" dirty="0"/>
              <a:t>Let’s get the features X and response y</a:t>
            </a:r>
          </a:p>
        </p:txBody>
      </p:sp>
      <p:sp>
        <p:nvSpPr>
          <p:cNvPr id="3" name="Content Placeholder 2">
            <a:extLst>
              <a:ext uri="{FF2B5EF4-FFF2-40B4-BE49-F238E27FC236}">
                <a16:creationId xmlns:a16="http://schemas.microsoft.com/office/drawing/2014/main" id="{92402D18-FE10-4307-8325-5C8178B0EAD3}"/>
              </a:ext>
            </a:extLst>
          </p:cNvPr>
          <p:cNvSpPr>
            <a:spLocks noGrp="1"/>
          </p:cNvSpPr>
          <p:nvPr>
            <p:ph idx="1"/>
          </p:nvPr>
        </p:nvSpPr>
        <p:spPr>
          <a:xfrm>
            <a:off x="838200" y="1082040"/>
            <a:ext cx="10515600" cy="5094923"/>
          </a:xfrm>
        </p:spPr>
        <p:txBody>
          <a:bodyPr>
            <a:normAutofit fontScale="92500" lnSpcReduction="20000"/>
          </a:bodyPr>
          <a:lstStyle/>
          <a:p>
            <a:r>
              <a:rPr lang="en-US" dirty="0">
                <a:solidFill>
                  <a:srgbClr val="FF0000"/>
                </a:solidFill>
              </a:rPr>
              <a:t>X = </a:t>
            </a:r>
            <a:r>
              <a:rPr lang="en-US" dirty="0" err="1">
                <a:solidFill>
                  <a:srgbClr val="FF0000"/>
                </a:solidFill>
              </a:rPr>
              <a:t>df.drop</a:t>
            </a:r>
            <a:r>
              <a:rPr lang="en-US" dirty="0">
                <a:solidFill>
                  <a:srgbClr val="FF0000"/>
                </a:solidFill>
              </a:rPr>
              <a:t>('MEAN_ANNUAL_RAINFALL', axis=1) </a:t>
            </a:r>
          </a:p>
          <a:p>
            <a:endParaRPr lang="en-US" dirty="0">
              <a:solidFill>
                <a:srgbClr val="FF0000"/>
              </a:solidFill>
            </a:endParaRPr>
          </a:p>
          <a:p>
            <a:r>
              <a:rPr lang="en-US" dirty="0">
                <a:solidFill>
                  <a:srgbClr val="FF0000"/>
                </a:solidFill>
              </a:rPr>
              <a:t>y = df['MEAN_ANNUAL_RAINFALL’]</a:t>
            </a:r>
          </a:p>
          <a:p>
            <a:endParaRPr lang="en-US" dirty="0">
              <a:solidFill>
                <a:srgbClr val="FF0000"/>
              </a:solidFill>
            </a:endParaRPr>
          </a:p>
          <a:p>
            <a:r>
              <a:rPr lang="en-US" dirty="0">
                <a:solidFill>
                  <a:srgbClr val="FF0000"/>
                </a:solidFill>
              </a:rPr>
              <a:t>scaler = </a:t>
            </a:r>
            <a:r>
              <a:rPr lang="en-US" dirty="0" err="1">
                <a:solidFill>
                  <a:srgbClr val="FF0000"/>
                </a:solidFill>
              </a:rPr>
              <a:t>StandardScaler</a:t>
            </a:r>
            <a:r>
              <a:rPr lang="en-US" dirty="0">
                <a:solidFill>
                  <a:srgbClr val="FF0000"/>
                </a:solidFill>
              </a:rPr>
              <a:t>()</a:t>
            </a:r>
          </a:p>
          <a:p>
            <a:endParaRPr lang="en-US" dirty="0">
              <a:solidFill>
                <a:srgbClr val="FF0000"/>
              </a:solidFill>
            </a:endParaRPr>
          </a:p>
          <a:p>
            <a:r>
              <a:rPr lang="en-US" dirty="0" err="1">
                <a:solidFill>
                  <a:srgbClr val="FF0000"/>
                </a:solidFill>
              </a:rPr>
              <a:t>X_train</a:t>
            </a:r>
            <a:r>
              <a:rPr lang="en-US" dirty="0">
                <a:solidFill>
                  <a:srgbClr val="FF0000"/>
                </a:solidFill>
              </a:rPr>
              <a:t>, </a:t>
            </a:r>
            <a:r>
              <a:rPr lang="en-US" dirty="0" err="1">
                <a:solidFill>
                  <a:srgbClr val="FF0000"/>
                </a:solidFill>
              </a:rPr>
              <a:t>X_test</a:t>
            </a:r>
            <a:r>
              <a:rPr lang="en-US" dirty="0">
                <a:solidFill>
                  <a:srgbClr val="FF0000"/>
                </a:solidFill>
              </a:rPr>
              <a:t>, </a:t>
            </a:r>
            <a:r>
              <a:rPr lang="en-US" dirty="0" err="1">
                <a:solidFill>
                  <a:srgbClr val="FF0000"/>
                </a:solidFill>
              </a:rPr>
              <a:t>y_train</a:t>
            </a:r>
            <a:r>
              <a:rPr lang="en-US" dirty="0">
                <a:solidFill>
                  <a:srgbClr val="FF0000"/>
                </a:solidFill>
              </a:rPr>
              <a:t>, </a:t>
            </a:r>
            <a:r>
              <a:rPr lang="en-US" dirty="0" err="1">
                <a:solidFill>
                  <a:srgbClr val="FF0000"/>
                </a:solidFill>
              </a:rPr>
              <a:t>y_test</a:t>
            </a:r>
            <a:r>
              <a:rPr lang="en-US" dirty="0">
                <a:solidFill>
                  <a:srgbClr val="FF0000"/>
                </a:solidFill>
              </a:rPr>
              <a:t> = </a:t>
            </a:r>
            <a:r>
              <a:rPr lang="en-US" dirty="0" err="1">
                <a:solidFill>
                  <a:srgbClr val="FF0000"/>
                </a:solidFill>
              </a:rPr>
              <a:t>train_test_split</a:t>
            </a:r>
            <a:r>
              <a:rPr lang="en-US" dirty="0">
                <a:solidFill>
                  <a:srgbClr val="FF0000"/>
                </a:solidFill>
              </a:rPr>
              <a:t>(X, y, </a:t>
            </a:r>
            <a:r>
              <a:rPr lang="en-US" dirty="0" err="1">
                <a:solidFill>
                  <a:srgbClr val="FF0000"/>
                </a:solidFill>
              </a:rPr>
              <a:t>test_size</a:t>
            </a:r>
            <a:r>
              <a:rPr lang="en-US" dirty="0">
                <a:solidFill>
                  <a:srgbClr val="FF0000"/>
                </a:solidFill>
              </a:rPr>
              <a:t>=0.2, </a:t>
            </a:r>
            <a:r>
              <a:rPr lang="en-US" dirty="0" err="1">
                <a:solidFill>
                  <a:srgbClr val="FF0000"/>
                </a:solidFill>
              </a:rPr>
              <a:t>random_state</a:t>
            </a:r>
            <a:r>
              <a:rPr lang="en-US" dirty="0">
                <a:solidFill>
                  <a:srgbClr val="FF0000"/>
                </a:solidFill>
              </a:rPr>
              <a:t>=42)</a:t>
            </a:r>
          </a:p>
          <a:p>
            <a:endParaRPr lang="en-US" dirty="0">
              <a:solidFill>
                <a:srgbClr val="FF0000"/>
              </a:solidFill>
            </a:endParaRPr>
          </a:p>
          <a:p>
            <a:r>
              <a:rPr lang="en-US" dirty="0" err="1">
                <a:solidFill>
                  <a:srgbClr val="FF0000"/>
                </a:solidFill>
              </a:rPr>
              <a:t>X_train</a:t>
            </a:r>
            <a:r>
              <a:rPr lang="en-US" dirty="0">
                <a:solidFill>
                  <a:srgbClr val="FF0000"/>
                </a:solidFill>
              </a:rPr>
              <a:t> = </a:t>
            </a:r>
            <a:r>
              <a:rPr lang="en-US" dirty="0" err="1">
                <a:solidFill>
                  <a:srgbClr val="FF0000"/>
                </a:solidFill>
              </a:rPr>
              <a:t>scaler.fit_transform</a:t>
            </a:r>
            <a:r>
              <a:rPr lang="en-US" dirty="0">
                <a:solidFill>
                  <a:srgbClr val="FF0000"/>
                </a:solidFill>
              </a:rPr>
              <a:t>(</a:t>
            </a:r>
            <a:r>
              <a:rPr lang="en-US" dirty="0" err="1">
                <a:solidFill>
                  <a:srgbClr val="FF0000"/>
                </a:solidFill>
              </a:rPr>
              <a:t>X_train</a:t>
            </a:r>
            <a:r>
              <a:rPr lang="en-US" dirty="0">
                <a:solidFill>
                  <a:srgbClr val="FF0000"/>
                </a:solidFill>
              </a:rPr>
              <a:t>) </a:t>
            </a:r>
          </a:p>
          <a:p>
            <a:endParaRPr lang="en-US" dirty="0">
              <a:solidFill>
                <a:srgbClr val="FF0000"/>
              </a:solidFill>
            </a:endParaRPr>
          </a:p>
          <a:p>
            <a:r>
              <a:rPr lang="en-US" dirty="0" err="1">
                <a:solidFill>
                  <a:srgbClr val="FF0000"/>
                </a:solidFill>
              </a:rPr>
              <a:t>X_test</a:t>
            </a:r>
            <a:r>
              <a:rPr lang="en-US" dirty="0">
                <a:solidFill>
                  <a:srgbClr val="FF0000"/>
                </a:solidFill>
              </a:rPr>
              <a:t> = </a:t>
            </a:r>
            <a:r>
              <a:rPr lang="en-US" dirty="0" err="1">
                <a:solidFill>
                  <a:srgbClr val="FF0000"/>
                </a:solidFill>
              </a:rPr>
              <a:t>scaler.transform</a:t>
            </a:r>
            <a:r>
              <a:rPr lang="en-US" dirty="0">
                <a:solidFill>
                  <a:srgbClr val="FF0000"/>
                </a:solidFill>
              </a:rPr>
              <a:t>(</a:t>
            </a:r>
            <a:r>
              <a:rPr lang="en-US" dirty="0" err="1">
                <a:solidFill>
                  <a:srgbClr val="FF0000"/>
                </a:solidFill>
              </a:rPr>
              <a:t>X_test</a:t>
            </a:r>
            <a:r>
              <a:rPr lang="en-US" dirty="0">
                <a:solidFill>
                  <a:srgbClr val="FF0000"/>
                </a:solidFill>
              </a:rPr>
              <a:t>)</a:t>
            </a:r>
          </a:p>
        </p:txBody>
      </p:sp>
      <p:sp>
        <p:nvSpPr>
          <p:cNvPr id="5" name="Slide Number Placeholder 4">
            <a:extLst>
              <a:ext uri="{FF2B5EF4-FFF2-40B4-BE49-F238E27FC236}">
                <a16:creationId xmlns:a16="http://schemas.microsoft.com/office/drawing/2014/main" id="{AC11BFC1-92F9-434E-88A0-25EF95CDBF0E}"/>
              </a:ext>
            </a:extLst>
          </p:cNvPr>
          <p:cNvSpPr>
            <a:spLocks noGrp="1"/>
          </p:cNvSpPr>
          <p:nvPr>
            <p:ph type="sldNum" sz="quarter" idx="12"/>
          </p:nvPr>
        </p:nvSpPr>
        <p:spPr/>
        <p:txBody>
          <a:bodyPr/>
          <a:lstStyle/>
          <a:p>
            <a:fld id="{6B97D948-30E8-43F7-AE10-F6E2D9F2BBB1}" type="slidenum">
              <a:rPr lang="en-US" smtClean="0"/>
              <a:t>824</a:t>
            </a:fld>
            <a:endParaRPr lang="en-US"/>
          </a:p>
        </p:txBody>
      </p:sp>
    </p:spTree>
    <p:extLst>
      <p:ext uri="{BB962C8B-B14F-4D97-AF65-F5344CB8AC3E}">
        <p14:creationId xmlns:p14="http://schemas.microsoft.com/office/powerpoint/2010/main" val="3541968398"/>
      </p:ext>
    </p:extLst>
  </p:cSld>
  <p:clrMapOvr>
    <a:masterClrMapping/>
  </p:clrMapOvr>
</p:sld>
</file>

<file path=ppt/slides/slide8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9A87A-389D-4A9D-B222-C8D8496D2F5E}"/>
              </a:ext>
            </a:extLst>
          </p:cNvPr>
          <p:cNvSpPr>
            <a:spLocks noGrp="1"/>
          </p:cNvSpPr>
          <p:nvPr>
            <p:ph type="title"/>
          </p:nvPr>
        </p:nvSpPr>
        <p:spPr>
          <a:xfrm>
            <a:off x="838200" y="365125"/>
            <a:ext cx="10515600" cy="610235"/>
          </a:xfrm>
        </p:spPr>
        <p:txBody>
          <a:bodyPr>
            <a:normAutofit fontScale="90000"/>
          </a:bodyPr>
          <a:lstStyle/>
          <a:p>
            <a:r>
              <a:rPr lang="en-US" dirty="0"/>
              <a:t>Ridge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06EA81-EF10-4C21-BEC7-790FC3AF109E}"/>
                  </a:ext>
                </a:extLst>
              </p:cNvPr>
              <p:cNvSpPr>
                <a:spLocks noGrp="1"/>
              </p:cNvSpPr>
              <p:nvPr>
                <p:ph idx="1"/>
              </p:nvPr>
            </p:nvSpPr>
            <p:spPr>
              <a:xfrm>
                <a:off x="838200" y="1097280"/>
                <a:ext cx="10515600" cy="5079683"/>
              </a:xfrm>
            </p:spPr>
            <p:txBody>
              <a:bodyPr/>
              <a:lstStyle/>
              <a:p>
                <a:pPr algn="just"/>
                <a:r>
                  <a:rPr lang="en-US" dirty="0"/>
                  <a:t>We calculate coefficients for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5</m:t>
                        </m:r>
                      </m:sup>
                    </m:sSup>
                    <m:r>
                      <a:rPr lang="en-US" b="0" i="1" smtClean="0">
                        <a:latin typeface="Cambria Math" panose="02040503050406030204" pitchFamily="18" charset="0"/>
                        <a:ea typeface="Cambria Math" panose="02040503050406030204" pitchFamily="18" charset="0"/>
                      </a:rPr>
                      <m:t>]</m:t>
                    </m:r>
                  </m:oMath>
                </a14:m>
                <a:r>
                  <a:rPr lang="en-US" dirty="0"/>
                  <a:t> with the ridge regression and plot the results.</a:t>
                </a:r>
              </a:p>
              <a:p>
                <a:pPr algn="just"/>
                <a:r>
                  <a:rPr lang="en-US" dirty="0" err="1">
                    <a:solidFill>
                      <a:srgbClr val="FF0000"/>
                    </a:solidFill>
                  </a:rPr>
                  <a:t>n_alphas</a:t>
                </a:r>
                <a:r>
                  <a:rPr lang="en-US" dirty="0">
                    <a:solidFill>
                      <a:srgbClr val="FF0000"/>
                    </a:solidFill>
                  </a:rPr>
                  <a:t> = 100</a:t>
                </a:r>
              </a:p>
              <a:p>
                <a:pPr algn="just"/>
                <a:r>
                  <a:rPr lang="en-US" dirty="0">
                    <a:solidFill>
                      <a:srgbClr val="FF0000"/>
                    </a:solidFill>
                  </a:rPr>
                  <a:t> alphas = </a:t>
                </a:r>
                <a:r>
                  <a:rPr lang="en-US" dirty="0" err="1">
                    <a:solidFill>
                      <a:srgbClr val="FF0000"/>
                    </a:solidFill>
                  </a:rPr>
                  <a:t>np.logspace</a:t>
                </a:r>
                <a:r>
                  <a:rPr lang="en-US" dirty="0">
                    <a:solidFill>
                      <a:srgbClr val="FF0000"/>
                    </a:solidFill>
                  </a:rPr>
                  <a:t>(-1, 5, </a:t>
                </a:r>
                <a:r>
                  <a:rPr lang="en-US" dirty="0" err="1">
                    <a:solidFill>
                      <a:srgbClr val="FF0000"/>
                    </a:solidFill>
                  </a:rPr>
                  <a:t>n_alphas</a:t>
                </a:r>
                <a:r>
                  <a:rPr lang="en-US" dirty="0">
                    <a:solidFill>
                      <a:srgbClr val="FF0000"/>
                    </a:solidFill>
                  </a:rPr>
                  <a:t>)</a:t>
                </a:r>
              </a:p>
              <a:p>
                <a:pPr algn="just"/>
                <a:r>
                  <a:rPr lang="en-US" dirty="0">
                    <a:solidFill>
                      <a:srgbClr val="FF0000"/>
                    </a:solidFill>
                  </a:rPr>
                  <a:t> </a:t>
                </a:r>
                <a:r>
                  <a:rPr lang="en-US" dirty="0" err="1">
                    <a:solidFill>
                      <a:srgbClr val="FF0000"/>
                    </a:solidFill>
                  </a:rPr>
                  <a:t>coefs</a:t>
                </a:r>
                <a:r>
                  <a:rPr lang="en-US" dirty="0">
                    <a:solidFill>
                      <a:srgbClr val="FF0000"/>
                    </a:solidFill>
                  </a:rPr>
                  <a:t> = []</a:t>
                </a:r>
              </a:p>
              <a:p>
                <a:pPr algn="just"/>
                <a:r>
                  <a:rPr lang="en-US" dirty="0">
                    <a:solidFill>
                      <a:srgbClr val="FF0000"/>
                    </a:solidFill>
                  </a:rPr>
                  <a:t> for a in alphas:</a:t>
                </a:r>
              </a:p>
              <a:p>
                <a:pPr algn="just"/>
                <a:r>
                  <a:rPr lang="en-US" dirty="0">
                    <a:solidFill>
                      <a:srgbClr val="FF0000"/>
                    </a:solidFill>
                  </a:rPr>
                  <a:t>      ridge = </a:t>
                </a:r>
                <a:r>
                  <a:rPr lang="en-US" dirty="0" err="1">
                    <a:solidFill>
                      <a:srgbClr val="FF0000"/>
                    </a:solidFill>
                  </a:rPr>
                  <a:t>linear_model.Ridge</a:t>
                </a:r>
                <a:r>
                  <a:rPr lang="en-US" dirty="0">
                    <a:solidFill>
                      <a:srgbClr val="FF0000"/>
                    </a:solidFill>
                  </a:rPr>
                  <a:t>(alpha=a)</a:t>
                </a:r>
              </a:p>
              <a:p>
                <a:pPr algn="just"/>
                <a:r>
                  <a:rPr lang="en-US" dirty="0">
                    <a:solidFill>
                      <a:srgbClr val="FF0000"/>
                    </a:solidFill>
                  </a:rPr>
                  <a:t>      results = </a:t>
                </a:r>
                <a:r>
                  <a:rPr lang="en-US" dirty="0" err="1">
                    <a:solidFill>
                      <a:srgbClr val="FF0000"/>
                    </a:solidFill>
                  </a:rPr>
                  <a:t>ridge.fit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pPr algn="just"/>
                <a:r>
                  <a:rPr lang="en-US" dirty="0">
                    <a:solidFill>
                      <a:srgbClr val="FF0000"/>
                    </a:solidFill>
                  </a:rPr>
                  <a:t>      </a:t>
                </a:r>
                <a:r>
                  <a:rPr lang="en-US" dirty="0" err="1">
                    <a:solidFill>
                      <a:srgbClr val="FF0000"/>
                    </a:solidFill>
                  </a:rPr>
                  <a:t>coefs.append</a:t>
                </a:r>
                <a:r>
                  <a:rPr lang="en-US" dirty="0">
                    <a:solidFill>
                      <a:srgbClr val="FF0000"/>
                    </a:solidFill>
                  </a:rPr>
                  <a:t>(</a:t>
                </a:r>
                <a:r>
                  <a:rPr lang="en-US" dirty="0" err="1">
                    <a:solidFill>
                      <a:srgbClr val="FF0000"/>
                    </a:solidFill>
                  </a:rPr>
                  <a:t>ridge.coef</a:t>
                </a:r>
                <a:r>
                  <a:rPr lang="en-US" dirty="0">
                    <a:solidFill>
                      <a:srgbClr val="FF0000"/>
                    </a:solidFill>
                  </a:rPr>
                  <a:t>_)</a:t>
                </a:r>
              </a:p>
            </p:txBody>
          </p:sp>
        </mc:Choice>
        <mc:Fallback xmlns="">
          <p:sp>
            <p:nvSpPr>
              <p:cNvPr id="3" name="Content Placeholder 2">
                <a:extLst>
                  <a:ext uri="{FF2B5EF4-FFF2-40B4-BE49-F238E27FC236}">
                    <a16:creationId xmlns:a16="http://schemas.microsoft.com/office/drawing/2014/main" id="{ED06EA81-EF10-4C21-BEC7-790FC3AF109E}"/>
                  </a:ext>
                </a:extLst>
              </p:cNvPr>
              <p:cNvSpPr>
                <a:spLocks noGrp="1" noRot="1" noChangeAspect="1" noMove="1" noResize="1" noEditPoints="1" noAdjustHandles="1" noChangeArrowheads="1" noChangeShapeType="1" noTextEdit="1"/>
              </p:cNvSpPr>
              <p:nvPr>
                <p:ph idx="1"/>
              </p:nvPr>
            </p:nvSpPr>
            <p:spPr>
              <a:xfrm>
                <a:off x="838200" y="1097280"/>
                <a:ext cx="10515600" cy="5079683"/>
              </a:xfrm>
              <a:blipFill>
                <a:blip r:embed="rId2"/>
                <a:stretch>
                  <a:fillRect l="-1043" t="-1801"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D6FF566-479B-4B98-A572-D5E836DE3A13}"/>
              </a:ext>
            </a:extLst>
          </p:cNvPr>
          <p:cNvSpPr>
            <a:spLocks noGrp="1"/>
          </p:cNvSpPr>
          <p:nvPr>
            <p:ph type="sldNum" sz="quarter" idx="12"/>
          </p:nvPr>
        </p:nvSpPr>
        <p:spPr/>
        <p:txBody>
          <a:bodyPr/>
          <a:lstStyle/>
          <a:p>
            <a:fld id="{6B97D948-30E8-43F7-AE10-F6E2D9F2BBB1}" type="slidenum">
              <a:rPr lang="en-US" smtClean="0"/>
              <a:t>825</a:t>
            </a:fld>
            <a:endParaRPr lang="en-US"/>
          </a:p>
        </p:txBody>
      </p:sp>
    </p:spTree>
    <p:extLst>
      <p:ext uri="{BB962C8B-B14F-4D97-AF65-F5344CB8AC3E}">
        <p14:creationId xmlns:p14="http://schemas.microsoft.com/office/powerpoint/2010/main" val="2334590450"/>
      </p:ext>
    </p:extLst>
  </p:cSld>
  <p:clrMapOvr>
    <a:masterClrMapping/>
  </p:clrMapOvr>
</p:sld>
</file>

<file path=ppt/slides/slide8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5044AE-0A20-41AE-962C-6FD5D2D090A7}"/>
              </a:ext>
            </a:extLst>
          </p:cNvPr>
          <p:cNvSpPr>
            <a:spLocks noGrp="1"/>
          </p:cNvSpPr>
          <p:nvPr>
            <p:ph idx="1"/>
          </p:nvPr>
        </p:nvSpPr>
        <p:spPr>
          <a:xfrm>
            <a:off x="838200" y="426720"/>
            <a:ext cx="10515600" cy="5750243"/>
          </a:xfrm>
        </p:spPr>
        <p:txBody>
          <a:bodyPr>
            <a:normAutofit/>
          </a:bodyPr>
          <a:lstStyle/>
          <a:p>
            <a:r>
              <a:rPr lang="en-US" dirty="0">
                <a:solidFill>
                  <a:srgbClr val="FF0000"/>
                </a:solidFill>
              </a:rPr>
              <a:t>ax = </a:t>
            </a:r>
            <a:r>
              <a:rPr lang="en-US" dirty="0" err="1">
                <a:solidFill>
                  <a:srgbClr val="FF0000"/>
                </a:solidFill>
              </a:rPr>
              <a:t>plt.gca</a:t>
            </a:r>
            <a:r>
              <a:rPr lang="en-US" dirty="0">
                <a:solidFill>
                  <a:srgbClr val="FF0000"/>
                </a:solidFill>
              </a:rPr>
              <a:t>()</a:t>
            </a:r>
          </a:p>
          <a:p>
            <a:r>
              <a:rPr lang="en-US" dirty="0" err="1">
                <a:solidFill>
                  <a:srgbClr val="FF0000"/>
                </a:solidFill>
              </a:rPr>
              <a:t>ax.plot</a:t>
            </a:r>
            <a:r>
              <a:rPr lang="en-US" dirty="0">
                <a:solidFill>
                  <a:srgbClr val="FF0000"/>
                </a:solidFill>
              </a:rPr>
              <a:t>(alphas, </a:t>
            </a:r>
            <a:r>
              <a:rPr lang="en-US" dirty="0" err="1">
                <a:solidFill>
                  <a:srgbClr val="FF0000"/>
                </a:solidFill>
              </a:rPr>
              <a:t>coefs</a:t>
            </a:r>
            <a:r>
              <a:rPr lang="en-US" dirty="0">
                <a:solidFill>
                  <a:srgbClr val="FF0000"/>
                </a:solidFill>
              </a:rPr>
              <a:t>)</a:t>
            </a:r>
          </a:p>
          <a:p>
            <a:r>
              <a:rPr lang="en-US" dirty="0" err="1">
                <a:solidFill>
                  <a:srgbClr val="FF0000"/>
                </a:solidFill>
              </a:rPr>
              <a:t>plt.xlabel</a:t>
            </a:r>
            <a:r>
              <a:rPr lang="en-US" dirty="0">
                <a:solidFill>
                  <a:srgbClr val="FF0000"/>
                </a:solidFill>
              </a:rPr>
              <a:t>("$\lambda$")</a:t>
            </a:r>
          </a:p>
          <a:p>
            <a:r>
              <a:rPr lang="en-US" dirty="0" err="1">
                <a:solidFill>
                  <a:srgbClr val="FF0000"/>
                </a:solidFill>
              </a:rPr>
              <a:t>ax.set_xscale</a:t>
            </a:r>
            <a:r>
              <a:rPr lang="en-US" dirty="0">
                <a:solidFill>
                  <a:srgbClr val="FF0000"/>
                </a:solidFill>
              </a:rPr>
              <a:t>("log")</a:t>
            </a:r>
          </a:p>
          <a:p>
            <a:r>
              <a:rPr lang="en-US" dirty="0" err="1">
                <a:solidFill>
                  <a:srgbClr val="FF0000"/>
                </a:solidFill>
              </a:rPr>
              <a:t>plt.ylabel</a:t>
            </a:r>
            <a:r>
              <a:rPr lang="en-US" dirty="0">
                <a:solidFill>
                  <a:srgbClr val="FF0000"/>
                </a:solidFill>
              </a:rPr>
              <a:t>("Coefficients")</a:t>
            </a:r>
          </a:p>
          <a:p>
            <a:r>
              <a:rPr lang="en-US" dirty="0" err="1">
                <a:solidFill>
                  <a:srgbClr val="FF0000"/>
                </a:solidFill>
              </a:rPr>
              <a:t>plt.title</a:t>
            </a:r>
            <a:r>
              <a:rPr lang="en-US" dirty="0">
                <a:solidFill>
                  <a:srgbClr val="FF0000"/>
                </a:solidFill>
              </a:rPr>
              <a:t>("Ridge coefficients as a function of the regularization")</a:t>
            </a:r>
          </a:p>
          <a:p>
            <a:r>
              <a:rPr lang="en-US" dirty="0" err="1">
                <a:solidFill>
                  <a:srgbClr val="FF0000"/>
                </a:solidFill>
              </a:rPr>
              <a:t>plt.axis</a:t>
            </a:r>
            <a:r>
              <a:rPr lang="en-US" dirty="0">
                <a:solidFill>
                  <a:srgbClr val="FF0000"/>
                </a:solidFill>
              </a:rPr>
              <a:t>("tight")</a:t>
            </a:r>
          </a:p>
          <a:p>
            <a:r>
              <a:rPr lang="en-US" dirty="0" err="1">
                <a:solidFill>
                  <a:srgbClr val="FF0000"/>
                </a:solidFill>
              </a:rPr>
              <a:t>plt.grid</a:t>
            </a:r>
            <a:r>
              <a:rPr lang="en-US" dirty="0">
                <a:solidFill>
                  <a:srgbClr val="FF0000"/>
                </a:solidFill>
              </a:rPr>
              <a:t>()</a:t>
            </a:r>
          </a:p>
        </p:txBody>
      </p:sp>
      <p:sp>
        <p:nvSpPr>
          <p:cNvPr id="5" name="Slide Number Placeholder 4">
            <a:extLst>
              <a:ext uri="{FF2B5EF4-FFF2-40B4-BE49-F238E27FC236}">
                <a16:creationId xmlns:a16="http://schemas.microsoft.com/office/drawing/2014/main" id="{1D2D1AA9-74B8-4499-B456-48790C88716B}"/>
              </a:ext>
            </a:extLst>
          </p:cNvPr>
          <p:cNvSpPr>
            <a:spLocks noGrp="1"/>
          </p:cNvSpPr>
          <p:nvPr>
            <p:ph type="sldNum" sz="quarter" idx="12"/>
          </p:nvPr>
        </p:nvSpPr>
        <p:spPr/>
        <p:txBody>
          <a:bodyPr/>
          <a:lstStyle/>
          <a:p>
            <a:fld id="{6B97D948-30E8-43F7-AE10-F6E2D9F2BBB1}" type="slidenum">
              <a:rPr lang="en-US" smtClean="0"/>
              <a:t>826</a:t>
            </a:fld>
            <a:endParaRPr lang="en-US"/>
          </a:p>
        </p:txBody>
      </p:sp>
    </p:spTree>
    <p:extLst>
      <p:ext uri="{BB962C8B-B14F-4D97-AF65-F5344CB8AC3E}">
        <p14:creationId xmlns:p14="http://schemas.microsoft.com/office/powerpoint/2010/main" val="3263219901"/>
      </p:ext>
    </p:extLst>
  </p:cSld>
  <p:clrMapOvr>
    <a:masterClrMapping/>
  </p:clrMapOvr>
</p:sld>
</file>

<file path=ppt/slides/slide8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1F2C30-7B25-45CF-885D-72537D2BDB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0700" y="685800"/>
            <a:ext cx="7321551" cy="5491163"/>
          </a:xfrm>
        </p:spPr>
      </p:pic>
      <p:sp>
        <p:nvSpPr>
          <p:cNvPr id="7" name="Slide Number Placeholder 6">
            <a:extLst>
              <a:ext uri="{FF2B5EF4-FFF2-40B4-BE49-F238E27FC236}">
                <a16:creationId xmlns:a16="http://schemas.microsoft.com/office/drawing/2014/main" id="{228AD3A5-B73D-4F8C-B9E5-8ED2FFBF32F4}"/>
              </a:ext>
            </a:extLst>
          </p:cNvPr>
          <p:cNvSpPr>
            <a:spLocks noGrp="1"/>
          </p:cNvSpPr>
          <p:nvPr>
            <p:ph type="sldNum" sz="quarter" idx="12"/>
          </p:nvPr>
        </p:nvSpPr>
        <p:spPr/>
        <p:txBody>
          <a:bodyPr/>
          <a:lstStyle/>
          <a:p>
            <a:fld id="{6B97D948-30E8-43F7-AE10-F6E2D9F2BBB1}" type="slidenum">
              <a:rPr lang="en-US" smtClean="0"/>
              <a:t>827</a:t>
            </a:fld>
            <a:endParaRPr lang="en-US"/>
          </a:p>
        </p:txBody>
      </p:sp>
    </p:spTree>
    <p:extLst>
      <p:ext uri="{BB962C8B-B14F-4D97-AF65-F5344CB8AC3E}">
        <p14:creationId xmlns:p14="http://schemas.microsoft.com/office/powerpoint/2010/main" val="3898038516"/>
      </p:ext>
    </p:extLst>
  </p:cSld>
  <p:clrMapOvr>
    <a:masterClrMapping/>
  </p:clrMapOvr>
</p:sld>
</file>

<file path=ppt/slides/slide8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90006-D677-4A6E-9A0B-D5FC81E757B8}"/>
              </a:ext>
            </a:extLst>
          </p:cNvPr>
          <p:cNvSpPr>
            <a:spLocks noGrp="1"/>
          </p:cNvSpPr>
          <p:nvPr>
            <p:ph type="title"/>
          </p:nvPr>
        </p:nvSpPr>
        <p:spPr>
          <a:xfrm>
            <a:off x="838200" y="365125"/>
            <a:ext cx="10515600" cy="701675"/>
          </a:xfrm>
        </p:spPr>
        <p:txBody>
          <a:bodyPr/>
          <a:lstStyle/>
          <a:p>
            <a:r>
              <a:rPr lang="en-US" dirty="0"/>
              <a:t>Notes on graph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07C9D6-4A79-4EFC-BF35-C22257598DE9}"/>
                  </a:ext>
                </a:extLst>
              </p:cNvPr>
              <p:cNvSpPr>
                <a:spLocks noGrp="1"/>
              </p:cNvSpPr>
              <p:nvPr>
                <p:ph idx="1"/>
              </p:nvPr>
            </p:nvSpPr>
            <p:spPr>
              <a:xfrm>
                <a:off x="838200" y="1066800"/>
                <a:ext cx="10515600" cy="5110163"/>
              </a:xfrm>
            </p:spPr>
            <p:txBody>
              <a:bodyPr>
                <a:normAutofit fontScale="92500" lnSpcReduction="20000"/>
              </a:bodyPr>
              <a:lstStyle/>
              <a:p>
                <a:pPr algn="just"/>
                <a:r>
                  <a:rPr lang="en-US" dirty="0"/>
                  <a:t>From the plot, as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𝛼</m:t>
                    </m:r>
                  </m:oMath>
                </a14:m>
                <a:r>
                  <a:rPr lang="en-US" dirty="0"/>
                  <a:t> increases the coefficients convert to smaller values of their original. </a:t>
                </a:r>
              </a:p>
              <a:p>
                <a:pPr algn="just"/>
                <a:endParaRPr lang="en-US" dirty="0"/>
              </a:p>
              <a:p>
                <a:pPr algn="just"/>
                <a:r>
                  <a:rPr lang="en-US" dirty="0"/>
                  <a:t>That is the power of ridge regression, making the coefficients smaller (techspeak: shrink) to limit the collinearity between predictors.</a:t>
                </a:r>
              </a:p>
              <a:p>
                <a:pPr algn="just"/>
                <a:r>
                  <a:rPr lang="en-US" dirty="0"/>
                  <a:t>Remember:</a:t>
                </a:r>
              </a:p>
              <a:p>
                <a:pPr algn="just"/>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e>
                    </m:nary>
                    <m:r>
                      <a:rPr lang="en-US" b="0" i="0"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𝛼</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e>
                    </m:nary>
                  </m:oMath>
                </a14:m>
                <a:endParaRPr lang="en-US" dirty="0"/>
              </a:p>
              <a:p>
                <a:pPr algn="just"/>
                <a:endParaRPr lang="en-US" dirty="0"/>
              </a:p>
              <a:p>
                <a:pPr algn="just"/>
                <a:r>
                  <a:rPr lang="en-US" dirty="0"/>
                  <a:t>From the above equation, we see:</a:t>
                </a:r>
              </a:p>
              <a:p>
                <a:pPr algn="just"/>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=0</m:t>
                    </m:r>
                  </m:oMath>
                </a14:m>
                <a:r>
                  <a:rPr lang="en-US" dirty="0"/>
                  <a:t>, the model default to the OLS regression.</a:t>
                </a:r>
              </a:p>
              <a:p>
                <a:pPr algn="just"/>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 increasing result in stronger regularization, shrinking coefficients more.</a:t>
                </a:r>
              </a:p>
              <a:p>
                <a:pPr algn="just"/>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𝑠𝑚𝑎𝑙𝑙</m:t>
                    </m:r>
                  </m:oMath>
                </a14:m>
                <a:r>
                  <a:rPr lang="en-US" dirty="0"/>
                  <a:t>, smaller values allow coefficients to vary more freely.</a:t>
                </a:r>
              </a:p>
              <a:p>
                <a:pPr algn="just"/>
                <a:endParaRPr lang="en-US" dirty="0"/>
              </a:p>
              <a:p>
                <a:pPr algn="just"/>
                <a:endParaRPr lang="en-US" dirty="0"/>
              </a:p>
            </p:txBody>
          </p:sp>
        </mc:Choice>
        <mc:Fallback xmlns="">
          <p:sp>
            <p:nvSpPr>
              <p:cNvPr id="3" name="Content Placeholder 2">
                <a:extLst>
                  <a:ext uri="{FF2B5EF4-FFF2-40B4-BE49-F238E27FC236}">
                    <a16:creationId xmlns:a16="http://schemas.microsoft.com/office/drawing/2014/main" id="{1607C9D6-4A79-4EFC-BF35-C22257598DE9}"/>
                  </a:ext>
                </a:extLst>
              </p:cNvPr>
              <p:cNvSpPr>
                <a:spLocks noGrp="1" noRot="1" noChangeAspect="1" noMove="1" noResize="1" noEditPoints="1" noAdjustHandles="1" noChangeArrowheads="1" noChangeShapeType="1" noTextEdit="1"/>
              </p:cNvSpPr>
              <p:nvPr>
                <p:ph idx="1"/>
              </p:nvPr>
            </p:nvSpPr>
            <p:spPr>
              <a:xfrm>
                <a:off x="838200" y="1066800"/>
                <a:ext cx="10515600" cy="5110163"/>
              </a:xfrm>
              <a:blipFill>
                <a:blip r:embed="rId2"/>
                <a:stretch>
                  <a:fillRect l="-928" t="-2983" r="-98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EA592B5C-76A3-436A-BC8E-66CDD69A1404}"/>
              </a:ext>
            </a:extLst>
          </p:cNvPr>
          <p:cNvSpPr>
            <a:spLocks noGrp="1"/>
          </p:cNvSpPr>
          <p:nvPr>
            <p:ph type="sldNum" sz="quarter" idx="12"/>
          </p:nvPr>
        </p:nvSpPr>
        <p:spPr/>
        <p:txBody>
          <a:bodyPr/>
          <a:lstStyle/>
          <a:p>
            <a:fld id="{6B97D948-30E8-43F7-AE10-F6E2D9F2BBB1}" type="slidenum">
              <a:rPr lang="en-US" smtClean="0"/>
              <a:t>828</a:t>
            </a:fld>
            <a:endParaRPr lang="en-US"/>
          </a:p>
        </p:txBody>
      </p:sp>
    </p:spTree>
    <p:extLst>
      <p:ext uri="{BB962C8B-B14F-4D97-AF65-F5344CB8AC3E}">
        <p14:creationId xmlns:p14="http://schemas.microsoft.com/office/powerpoint/2010/main" val="2333420061"/>
      </p:ext>
    </p:extLst>
  </p:cSld>
  <p:clrMapOvr>
    <a:masterClrMapping/>
  </p:clrMapOvr>
</p:sld>
</file>

<file path=ppt/slides/slide8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561F0-CCA7-4CE4-B62C-AE66083D6258}"/>
              </a:ext>
            </a:extLst>
          </p:cNvPr>
          <p:cNvSpPr>
            <a:spLocks noGrp="1"/>
          </p:cNvSpPr>
          <p:nvPr>
            <p:ph type="title"/>
          </p:nvPr>
        </p:nvSpPr>
        <p:spPr>
          <a:xfrm>
            <a:off x="838200" y="365125"/>
            <a:ext cx="10515600" cy="716915"/>
          </a:xfrm>
        </p:spPr>
        <p:txBody>
          <a:bodyPr/>
          <a:lstStyle/>
          <a:p>
            <a:r>
              <a:rPr lang="en-US" dirty="0"/>
              <a:t>Analysis. . . </a:t>
            </a:r>
          </a:p>
        </p:txBody>
      </p:sp>
      <p:sp>
        <p:nvSpPr>
          <p:cNvPr id="3" name="Content Placeholder 2">
            <a:extLst>
              <a:ext uri="{FF2B5EF4-FFF2-40B4-BE49-F238E27FC236}">
                <a16:creationId xmlns:a16="http://schemas.microsoft.com/office/drawing/2014/main" id="{9E2BBAF2-8571-4532-9C22-0ED40D06C5AE}"/>
              </a:ext>
            </a:extLst>
          </p:cNvPr>
          <p:cNvSpPr>
            <a:spLocks noGrp="1"/>
          </p:cNvSpPr>
          <p:nvPr>
            <p:ph idx="1"/>
          </p:nvPr>
        </p:nvSpPr>
        <p:spPr>
          <a:xfrm>
            <a:off x="838200" y="1082040"/>
            <a:ext cx="10515600" cy="5094923"/>
          </a:xfrm>
        </p:spPr>
        <p:txBody>
          <a:bodyPr/>
          <a:lstStyle/>
          <a:p>
            <a:pPr algn="just"/>
            <a:r>
              <a:rPr lang="en-US" dirty="0"/>
              <a:t>Let us have a look at the coefficient difference to the linear regressions for each parameter. </a:t>
            </a:r>
          </a:p>
          <a:p>
            <a:pPr algn="just"/>
            <a:endParaRPr lang="en-US" dirty="0"/>
          </a:p>
          <a:p>
            <a:pPr algn="just"/>
            <a:r>
              <a:rPr lang="en-US" dirty="0"/>
              <a:t>To this end, we calculate linear regression </a:t>
            </a:r>
            <a:r>
              <a:rPr lang="en-US" dirty="0" err="1"/>
              <a:t>reg_LL</a:t>
            </a:r>
            <a:r>
              <a:rPr lang="en-US" dirty="0"/>
              <a:t> and compute the mean squared error and plot it.</a:t>
            </a:r>
          </a:p>
          <a:p>
            <a:pPr algn="just"/>
            <a:endParaRPr lang="en-US" dirty="0"/>
          </a:p>
        </p:txBody>
      </p:sp>
      <p:sp>
        <p:nvSpPr>
          <p:cNvPr id="6" name="Slide Number Placeholder 5">
            <a:extLst>
              <a:ext uri="{FF2B5EF4-FFF2-40B4-BE49-F238E27FC236}">
                <a16:creationId xmlns:a16="http://schemas.microsoft.com/office/drawing/2014/main" id="{D34C918A-D025-4C99-8FE7-8FD624F2E0F4}"/>
              </a:ext>
            </a:extLst>
          </p:cNvPr>
          <p:cNvSpPr>
            <a:spLocks noGrp="1"/>
          </p:cNvSpPr>
          <p:nvPr>
            <p:ph type="sldNum" sz="quarter" idx="12"/>
          </p:nvPr>
        </p:nvSpPr>
        <p:spPr/>
        <p:txBody>
          <a:bodyPr/>
          <a:lstStyle/>
          <a:p>
            <a:fld id="{6B97D948-30E8-43F7-AE10-F6E2D9F2BBB1}" type="slidenum">
              <a:rPr lang="en-US" smtClean="0"/>
              <a:t>829</a:t>
            </a:fld>
            <a:endParaRPr lang="en-US"/>
          </a:p>
        </p:txBody>
      </p:sp>
    </p:spTree>
    <p:extLst>
      <p:ext uri="{BB962C8B-B14F-4D97-AF65-F5344CB8AC3E}">
        <p14:creationId xmlns:p14="http://schemas.microsoft.com/office/powerpoint/2010/main" val="2055223856"/>
      </p:ext>
    </p:extLst>
  </p:cSld>
  <p:clrMapOvr>
    <a:masterClrMapping/>
  </p:clrMapOvr>
</p:sld>
</file>

<file path=ppt/slides/slide8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3C3450-ABFB-4658-A089-7B644B37805C}"/>
              </a:ext>
            </a:extLst>
          </p:cNvPr>
          <p:cNvSpPr>
            <a:spLocks noGrp="1"/>
          </p:cNvSpPr>
          <p:nvPr>
            <p:ph idx="1"/>
          </p:nvPr>
        </p:nvSpPr>
        <p:spPr>
          <a:xfrm>
            <a:off x="838200" y="548640"/>
            <a:ext cx="10515600" cy="5628323"/>
          </a:xfrm>
        </p:spPr>
        <p:txBody>
          <a:bodyPr/>
          <a:lstStyle/>
          <a:p>
            <a:r>
              <a:rPr lang="en-US" dirty="0" err="1">
                <a:solidFill>
                  <a:srgbClr val="FF0000"/>
                </a:solidFill>
              </a:rPr>
              <a:t>reg_LL</a:t>
            </a:r>
            <a:r>
              <a:rPr lang="en-US" dirty="0">
                <a:solidFill>
                  <a:srgbClr val="FF0000"/>
                </a:solidFill>
              </a:rPr>
              <a:t> = </a:t>
            </a:r>
            <a:r>
              <a:rPr lang="en-US" dirty="0" err="1">
                <a:solidFill>
                  <a:srgbClr val="FF0000"/>
                </a:solidFill>
              </a:rPr>
              <a:t>linear_model.LinearRegression</a:t>
            </a:r>
            <a:r>
              <a:rPr lang="en-US" dirty="0">
                <a:solidFill>
                  <a:srgbClr val="FF0000"/>
                </a:solidFill>
              </a:rPr>
              <a:t>().fit(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endParaRPr lang="en-US" dirty="0">
              <a:solidFill>
                <a:srgbClr val="FF0000"/>
              </a:solidFill>
            </a:endParaRPr>
          </a:p>
          <a:p>
            <a:r>
              <a:rPr lang="en-US" dirty="0">
                <a:solidFill>
                  <a:srgbClr val="FF0000"/>
                </a:solidFill>
              </a:rPr>
              <a:t>errors = []</a:t>
            </a:r>
          </a:p>
          <a:p>
            <a:r>
              <a:rPr lang="en-US" dirty="0">
                <a:solidFill>
                  <a:srgbClr val="FF0000"/>
                </a:solidFill>
              </a:rPr>
              <a:t>for a in alphas:</a:t>
            </a:r>
          </a:p>
          <a:p>
            <a:r>
              <a:rPr lang="en-US" dirty="0">
                <a:solidFill>
                  <a:srgbClr val="FF0000"/>
                </a:solidFill>
              </a:rPr>
              <a:t>     ridge = </a:t>
            </a:r>
            <a:r>
              <a:rPr lang="en-US" dirty="0" err="1">
                <a:solidFill>
                  <a:srgbClr val="FF0000"/>
                </a:solidFill>
              </a:rPr>
              <a:t>linear_model.Ridge</a:t>
            </a:r>
            <a:r>
              <a:rPr lang="en-US" dirty="0">
                <a:solidFill>
                  <a:srgbClr val="FF0000"/>
                </a:solidFill>
              </a:rPr>
              <a:t>(alpha=a)</a:t>
            </a:r>
          </a:p>
          <a:p>
            <a:r>
              <a:rPr lang="en-US" dirty="0">
                <a:solidFill>
                  <a:srgbClr val="FF0000"/>
                </a:solidFill>
              </a:rPr>
              <a:t>     results = </a:t>
            </a:r>
            <a:r>
              <a:rPr lang="en-US" dirty="0" err="1">
                <a:solidFill>
                  <a:srgbClr val="FF0000"/>
                </a:solidFill>
              </a:rPr>
              <a:t>ridge.fit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r>
              <a:rPr lang="en-US" dirty="0">
                <a:solidFill>
                  <a:srgbClr val="FF0000"/>
                </a:solidFill>
              </a:rPr>
              <a:t>     </a:t>
            </a:r>
            <a:r>
              <a:rPr lang="en-US" dirty="0" err="1">
                <a:solidFill>
                  <a:srgbClr val="FF0000"/>
                </a:solidFill>
              </a:rPr>
              <a:t>errors.append</a:t>
            </a:r>
            <a:r>
              <a:rPr lang="en-US" dirty="0">
                <a:solidFill>
                  <a:srgbClr val="FF0000"/>
                </a:solidFill>
              </a:rPr>
              <a:t>(</a:t>
            </a:r>
            <a:r>
              <a:rPr lang="en-US" dirty="0" err="1">
                <a:solidFill>
                  <a:srgbClr val="FF0000"/>
                </a:solidFill>
              </a:rPr>
              <a:t>mean_squared_error</a:t>
            </a:r>
            <a:r>
              <a:rPr lang="en-US" dirty="0">
                <a:solidFill>
                  <a:srgbClr val="FF0000"/>
                </a:solidFill>
              </a:rPr>
              <a:t>(</a:t>
            </a:r>
            <a:r>
              <a:rPr lang="en-US" dirty="0" err="1">
                <a:solidFill>
                  <a:srgbClr val="FF0000"/>
                </a:solidFill>
              </a:rPr>
              <a:t>ridge.coef</a:t>
            </a:r>
            <a:r>
              <a:rPr lang="en-US" dirty="0">
                <a:solidFill>
                  <a:srgbClr val="FF0000"/>
                </a:solidFill>
              </a:rPr>
              <a:t>_, </a:t>
            </a:r>
            <a:r>
              <a:rPr lang="en-US" dirty="0" err="1">
                <a:solidFill>
                  <a:srgbClr val="FF0000"/>
                </a:solidFill>
              </a:rPr>
              <a:t>reg_LL.coef</a:t>
            </a:r>
            <a:r>
              <a:rPr lang="en-US" dirty="0">
                <a:solidFill>
                  <a:srgbClr val="FF0000"/>
                </a:solidFill>
              </a:rPr>
              <a:t>_))</a:t>
            </a:r>
          </a:p>
        </p:txBody>
      </p:sp>
      <p:sp>
        <p:nvSpPr>
          <p:cNvPr id="5" name="Slide Number Placeholder 4">
            <a:extLst>
              <a:ext uri="{FF2B5EF4-FFF2-40B4-BE49-F238E27FC236}">
                <a16:creationId xmlns:a16="http://schemas.microsoft.com/office/drawing/2014/main" id="{546C6B32-C6BA-4E8A-A5B0-B8839FBB4DAC}"/>
              </a:ext>
            </a:extLst>
          </p:cNvPr>
          <p:cNvSpPr>
            <a:spLocks noGrp="1"/>
          </p:cNvSpPr>
          <p:nvPr>
            <p:ph type="sldNum" sz="quarter" idx="12"/>
          </p:nvPr>
        </p:nvSpPr>
        <p:spPr/>
        <p:txBody>
          <a:bodyPr/>
          <a:lstStyle/>
          <a:p>
            <a:fld id="{6B97D948-30E8-43F7-AE10-F6E2D9F2BBB1}" type="slidenum">
              <a:rPr lang="en-US" smtClean="0"/>
              <a:t>830</a:t>
            </a:fld>
            <a:endParaRPr lang="en-US"/>
          </a:p>
        </p:txBody>
      </p:sp>
    </p:spTree>
    <p:extLst>
      <p:ext uri="{BB962C8B-B14F-4D97-AF65-F5344CB8AC3E}">
        <p14:creationId xmlns:p14="http://schemas.microsoft.com/office/powerpoint/2010/main" val="2586880111"/>
      </p:ext>
    </p:extLst>
  </p:cSld>
  <p:clrMapOvr>
    <a:masterClrMapping/>
  </p:clrMapOvr>
</p:sld>
</file>

<file path=ppt/slides/slide8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FBBE-9AE9-42D5-A629-2612965319FB}"/>
              </a:ext>
            </a:extLst>
          </p:cNvPr>
          <p:cNvSpPr>
            <a:spLocks noGrp="1"/>
          </p:cNvSpPr>
          <p:nvPr>
            <p:ph type="title"/>
          </p:nvPr>
        </p:nvSpPr>
        <p:spPr>
          <a:xfrm>
            <a:off x="838200" y="365125"/>
            <a:ext cx="10515600" cy="655955"/>
          </a:xfrm>
        </p:spPr>
        <p:txBody>
          <a:bodyPr>
            <a:normAutofit fontScale="90000"/>
          </a:bodyPr>
          <a:lstStyle/>
          <a:p>
            <a:r>
              <a:rPr lang="en-US" dirty="0"/>
              <a:t>Plot</a:t>
            </a:r>
          </a:p>
        </p:txBody>
      </p:sp>
      <p:sp>
        <p:nvSpPr>
          <p:cNvPr id="3" name="Content Placeholder 2">
            <a:extLst>
              <a:ext uri="{FF2B5EF4-FFF2-40B4-BE49-F238E27FC236}">
                <a16:creationId xmlns:a16="http://schemas.microsoft.com/office/drawing/2014/main" id="{DF4FFDBD-1619-494B-A45C-4BBF173CD22A}"/>
              </a:ext>
            </a:extLst>
          </p:cNvPr>
          <p:cNvSpPr>
            <a:spLocks noGrp="1"/>
          </p:cNvSpPr>
          <p:nvPr>
            <p:ph idx="1"/>
          </p:nvPr>
        </p:nvSpPr>
        <p:spPr>
          <a:xfrm>
            <a:off x="838200" y="1021080"/>
            <a:ext cx="10515600" cy="5155883"/>
          </a:xfrm>
        </p:spPr>
        <p:txBody>
          <a:bodyPr>
            <a:normAutofit/>
          </a:bodyPr>
          <a:lstStyle/>
          <a:p>
            <a:r>
              <a:rPr lang="en-US" dirty="0">
                <a:solidFill>
                  <a:srgbClr val="FF0000"/>
                </a:solidFill>
              </a:rPr>
              <a:t>ax = </a:t>
            </a:r>
            <a:r>
              <a:rPr lang="en-US" dirty="0" err="1">
                <a:solidFill>
                  <a:srgbClr val="FF0000"/>
                </a:solidFill>
              </a:rPr>
              <a:t>plt.gca</a:t>
            </a:r>
            <a:r>
              <a:rPr lang="en-US" dirty="0">
                <a:solidFill>
                  <a:srgbClr val="FF0000"/>
                </a:solidFill>
              </a:rPr>
              <a:t>()</a:t>
            </a:r>
          </a:p>
          <a:p>
            <a:r>
              <a:rPr lang="en-US" dirty="0" err="1">
                <a:solidFill>
                  <a:srgbClr val="FF0000"/>
                </a:solidFill>
              </a:rPr>
              <a:t>ax.plot</a:t>
            </a:r>
            <a:r>
              <a:rPr lang="en-US" dirty="0">
                <a:solidFill>
                  <a:srgbClr val="FF0000"/>
                </a:solidFill>
              </a:rPr>
              <a:t>(alphas, errors)</a:t>
            </a:r>
          </a:p>
          <a:p>
            <a:r>
              <a:rPr lang="en-US" dirty="0" err="1">
                <a:solidFill>
                  <a:srgbClr val="FF0000"/>
                </a:solidFill>
              </a:rPr>
              <a:t>ax.set_xscale</a:t>
            </a:r>
            <a:r>
              <a:rPr lang="en-US" dirty="0">
                <a:solidFill>
                  <a:srgbClr val="FF0000"/>
                </a:solidFill>
              </a:rPr>
              <a:t>("log")</a:t>
            </a:r>
          </a:p>
          <a:p>
            <a:r>
              <a:rPr lang="en-US" dirty="0" err="1">
                <a:solidFill>
                  <a:srgbClr val="FF0000"/>
                </a:solidFill>
              </a:rPr>
              <a:t>plt.xlabel</a:t>
            </a:r>
            <a:r>
              <a:rPr lang="en-US" dirty="0">
                <a:solidFill>
                  <a:srgbClr val="FF0000"/>
                </a:solidFill>
              </a:rPr>
              <a:t>("log($\lambda$)")</a:t>
            </a:r>
          </a:p>
          <a:p>
            <a:r>
              <a:rPr lang="en-US" dirty="0" err="1">
                <a:solidFill>
                  <a:srgbClr val="FF0000"/>
                </a:solidFill>
              </a:rPr>
              <a:t>plt.ylabel</a:t>
            </a:r>
            <a:r>
              <a:rPr lang="en-US" dirty="0">
                <a:solidFill>
                  <a:srgbClr val="FF0000"/>
                </a:solidFill>
              </a:rPr>
              <a:t>("error")</a:t>
            </a:r>
          </a:p>
          <a:p>
            <a:r>
              <a:rPr lang="en-US" dirty="0" err="1">
                <a:solidFill>
                  <a:srgbClr val="FF0000"/>
                </a:solidFill>
              </a:rPr>
              <a:t>plt.title</a:t>
            </a:r>
            <a:r>
              <a:rPr lang="en-US" dirty="0">
                <a:solidFill>
                  <a:srgbClr val="FF0000"/>
                </a:solidFill>
              </a:rPr>
              <a:t>("Coefficient deviation as a function of the regularization")</a:t>
            </a:r>
          </a:p>
          <a:p>
            <a:r>
              <a:rPr lang="en-US" dirty="0" err="1">
                <a:solidFill>
                  <a:srgbClr val="FF0000"/>
                </a:solidFill>
              </a:rPr>
              <a:t>plt.axis</a:t>
            </a:r>
            <a:r>
              <a:rPr lang="en-US" dirty="0">
                <a:solidFill>
                  <a:srgbClr val="FF0000"/>
                </a:solidFill>
              </a:rPr>
              <a:t>("tight")</a:t>
            </a:r>
          </a:p>
          <a:p>
            <a:r>
              <a:rPr lang="en-US" dirty="0" err="1">
                <a:solidFill>
                  <a:srgbClr val="FF0000"/>
                </a:solidFill>
              </a:rPr>
              <a:t>plt.grid</a:t>
            </a:r>
            <a:r>
              <a:rPr lang="en-US" dirty="0">
                <a:solidFill>
                  <a:srgbClr val="FF0000"/>
                </a:solidFill>
              </a:rPr>
              <a:t>()</a:t>
            </a:r>
          </a:p>
        </p:txBody>
      </p:sp>
      <p:sp>
        <p:nvSpPr>
          <p:cNvPr id="5" name="Slide Number Placeholder 4">
            <a:extLst>
              <a:ext uri="{FF2B5EF4-FFF2-40B4-BE49-F238E27FC236}">
                <a16:creationId xmlns:a16="http://schemas.microsoft.com/office/drawing/2014/main" id="{3BF4E4EB-E74E-4F65-8DCF-40C451F13958}"/>
              </a:ext>
            </a:extLst>
          </p:cNvPr>
          <p:cNvSpPr>
            <a:spLocks noGrp="1"/>
          </p:cNvSpPr>
          <p:nvPr>
            <p:ph type="sldNum" sz="quarter" idx="12"/>
          </p:nvPr>
        </p:nvSpPr>
        <p:spPr/>
        <p:txBody>
          <a:bodyPr/>
          <a:lstStyle/>
          <a:p>
            <a:fld id="{6B97D948-30E8-43F7-AE10-F6E2D9F2BBB1}" type="slidenum">
              <a:rPr lang="en-US" smtClean="0"/>
              <a:t>831</a:t>
            </a:fld>
            <a:endParaRPr lang="en-US"/>
          </a:p>
        </p:txBody>
      </p:sp>
    </p:spTree>
    <p:extLst>
      <p:ext uri="{BB962C8B-B14F-4D97-AF65-F5344CB8AC3E}">
        <p14:creationId xmlns:p14="http://schemas.microsoft.com/office/powerpoint/2010/main" val="2536291534"/>
      </p:ext>
    </p:extLst>
  </p:cSld>
  <p:clrMapOvr>
    <a:masterClrMapping/>
  </p:clrMapOvr>
</p:sld>
</file>

<file path=ppt/slides/slide8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28E09-CABB-4713-8F62-55F74C400CAD}"/>
              </a:ext>
            </a:extLst>
          </p:cNvPr>
          <p:cNvSpPr>
            <a:spLocks noGrp="1"/>
          </p:cNvSpPr>
          <p:nvPr>
            <p:ph type="title"/>
          </p:nvPr>
        </p:nvSpPr>
        <p:spPr>
          <a:xfrm>
            <a:off x="838200" y="365125"/>
            <a:ext cx="10515600" cy="747395"/>
          </a:xfrm>
        </p:spPr>
        <p:txBody>
          <a:bodyPr/>
          <a:lstStyle/>
          <a:p>
            <a:r>
              <a:rPr lang="en-US" dirty="0"/>
              <a:t>Plot</a:t>
            </a:r>
          </a:p>
        </p:txBody>
      </p:sp>
      <p:pic>
        <p:nvPicPr>
          <p:cNvPr id="5" name="Content Placeholder 4">
            <a:extLst>
              <a:ext uri="{FF2B5EF4-FFF2-40B4-BE49-F238E27FC236}">
                <a16:creationId xmlns:a16="http://schemas.microsoft.com/office/drawing/2014/main" id="{788A5577-6377-4770-823C-46B2186EF7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301" y="1112520"/>
            <a:ext cx="6752591" cy="5064443"/>
          </a:xfrm>
        </p:spPr>
      </p:pic>
      <p:sp>
        <p:nvSpPr>
          <p:cNvPr id="7" name="Slide Number Placeholder 6">
            <a:extLst>
              <a:ext uri="{FF2B5EF4-FFF2-40B4-BE49-F238E27FC236}">
                <a16:creationId xmlns:a16="http://schemas.microsoft.com/office/drawing/2014/main" id="{C27B4B8E-AB44-499E-9AC1-B71287524C98}"/>
              </a:ext>
            </a:extLst>
          </p:cNvPr>
          <p:cNvSpPr>
            <a:spLocks noGrp="1"/>
          </p:cNvSpPr>
          <p:nvPr>
            <p:ph type="sldNum" sz="quarter" idx="12"/>
          </p:nvPr>
        </p:nvSpPr>
        <p:spPr/>
        <p:txBody>
          <a:bodyPr/>
          <a:lstStyle/>
          <a:p>
            <a:fld id="{6B97D948-30E8-43F7-AE10-F6E2D9F2BBB1}" type="slidenum">
              <a:rPr lang="en-US" smtClean="0"/>
              <a:t>832</a:t>
            </a:fld>
            <a:endParaRPr lang="en-US"/>
          </a:p>
        </p:txBody>
      </p:sp>
    </p:spTree>
    <p:extLst>
      <p:ext uri="{BB962C8B-B14F-4D97-AF65-F5344CB8AC3E}">
        <p14:creationId xmlns:p14="http://schemas.microsoft.com/office/powerpoint/2010/main" val="1456854492"/>
      </p:ext>
    </p:extLst>
  </p:cSld>
  <p:clrMapOvr>
    <a:masterClrMapping/>
  </p:clrMapOvr>
</p:sld>
</file>

<file path=ppt/slides/slide8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630A8-5392-4ADC-9C30-7D83EF9887C9}"/>
              </a:ext>
            </a:extLst>
          </p:cNvPr>
          <p:cNvSpPr>
            <a:spLocks noGrp="1"/>
          </p:cNvSpPr>
          <p:nvPr>
            <p:ph type="title"/>
          </p:nvPr>
        </p:nvSpPr>
        <p:spPr>
          <a:xfrm>
            <a:off x="838200" y="365125"/>
            <a:ext cx="10515600" cy="762635"/>
          </a:xfrm>
        </p:spPr>
        <p:txBody>
          <a:bodyPr/>
          <a:lstStyle/>
          <a:p>
            <a:r>
              <a:rPr lang="en-US" dirty="0"/>
              <a:t>Interpretation of Graph</a:t>
            </a:r>
          </a:p>
        </p:txBody>
      </p:sp>
      <p:sp>
        <p:nvSpPr>
          <p:cNvPr id="3" name="Content Placeholder 2">
            <a:extLst>
              <a:ext uri="{FF2B5EF4-FFF2-40B4-BE49-F238E27FC236}">
                <a16:creationId xmlns:a16="http://schemas.microsoft.com/office/drawing/2014/main" id="{1C3F1B15-591E-424C-8D09-3F45AE6E59D6}"/>
              </a:ext>
            </a:extLst>
          </p:cNvPr>
          <p:cNvSpPr>
            <a:spLocks noGrp="1"/>
          </p:cNvSpPr>
          <p:nvPr>
            <p:ph idx="1"/>
          </p:nvPr>
        </p:nvSpPr>
        <p:spPr>
          <a:xfrm>
            <a:off x="838200" y="1127760"/>
            <a:ext cx="10515600" cy="5049203"/>
          </a:xfrm>
        </p:spPr>
        <p:txBody>
          <a:bodyPr/>
          <a:lstStyle/>
          <a:p>
            <a:pPr algn="just"/>
            <a:r>
              <a:rPr lang="en-US" dirty="0"/>
              <a:t>The plot shows for a sequence of values of </a:t>
            </a:r>
            <a:r>
              <a:rPr lang="en-US" dirty="0">
                <a:solidFill>
                  <a:srgbClr val="FF0000"/>
                </a:solidFill>
              </a:rPr>
              <a:t>α</a:t>
            </a:r>
            <a:r>
              <a:rPr lang="en-US" dirty="0"/>
              <a:t> the values for the Ridge model coefficients. </a:t>
            </a:r>
          </a:p>
          <a:p>
            <a:pPr algn="just"/>
            <a:endParaRPr lang="en-US" dirty="0"/>
          </a:p>
          <a:p>
            <a:pPr algn="just"/>
            <a:r>
              <a:rPr lang="en-US" dirty="0"/>
              <a:t>For large values of </a:t>
            </a:r>
            <a:r>
              <a:rPr lang="en-US" dirty="0">
                <a:solidFill>
                  <a:srgbClr val="FF0000"/>
                </a:solidFill>
              </a:rPr>
              <a:t>α</a:t>
            </a:r>
            <a:r>
              <a:rPr lang="en-US" dirty="0"/>
              <a:t> the coefficients correspond to the least square solution. </a:t>
            </a:r>
          </a:p>
          <a:p>
            <a:pPr algn="just"/>
            <a:endParaRPr lang="en-US" dirty="0"/>
          </a:p>
          <a:p>
            <a:pPr algn="just"/>
            <a:r>
              <a:rPr lang="en-US" dirty="0"/>
              <a:t>By decreasing </a:t>
            </a:r>
            <a:r>
              <a:rPr lang="en-US" dirty="0">
                <a:solidFill>
                  <a:srgbClr val="FF0000"/>
                </a:solidFill>
              </a:rPr>
              <a:t>α</a:t>
            </a:r>
            <a:r>
              <a:rPr lang="en-US" dirty="0"/>
              <a:t>, the coefficients are penalized and converge to 0.</a:t>
            </a:r>
          </a:p>
        </p:txBody>
      </p:sp>
      <p:sp>
        <p:nvSpPr>
          <p:cNvPr id="5" name="Slide Number Placeholder 4">
            <a:extLst>
              <a:ext uri="{FF2B5EF4-FFF2-40B4-BE49-F238E27FC236}">
                <a16:creationId xmlns:a16="http://schemas.microsoft.com/office/drawing/2014/main" id="{02205343-E24B-487A-A572-0BC31B8B022C}"/>
              </a:ext>
            </a:extLst>
          </p:cNvPr>
          <p:cNvSpPr>
            <a:spLocks noGrp="1"/>
          </p:cNvSpPr>
          <p:nvPr>
            <p:ph type="sldNum" sz="quarter" idx="12"/>
          </p:nvPr>
        </p:nvSpPr>
        <p:spPr/>
        <p:txBody>
          <a:bodyPr/>
          <a:lstStyle/>
          <a:p>
            <a:fld id="{6B97D948-30E8-43F7-AE10-F6E2D9F2BBB1}" type="slidenum">
              <a:rPr lang="en-US" smtClean="0"/>
              <a:t>833</a:t>
            </a:fld>
            <a:endParaRPr lang="en-US"/>
          </a:p>
        </p:txBody>
      </p:sp>
    </p:spTree>
    <p:extLst>
      <p:ext uri="{BB962C8B-B14F-4D97-AF65-F5344CB8AC3E}">
        <p14:creationId xmlns:p14="http://schemas.microsoft.com/office/powerpoint/2010/main" val="794649249"/>
      </p:ext>
    </p:extLst>
  </p:cSld>
  <p:clrMapOvr>
    <a:masterClrMapping/>
  </p:clrMapOvr>
</p:sld>
</file>

<file path=ppt/slides/slide8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6A9C4-8B28-41D6-8E93-6A6AE7810AEB}"/>
              </a:ext>
            </a:extLst>
          </p:cNvPr>
          <p:cNvSpPr>
            <a:spLocks noGrp="1"/>
          </p:cNvSpPr>
          <p:nvPr>
            <p:ph type="title"/>
          </p:nvPr>
        </p:nvSpPr>
        <p:spPr>
          <a:xfrm>
            <a:off x="838200" y="365125"/>
            <a:ext cx="10515600" cy="869315"/>
          </a:xfrm>
        </p:spPr>
        <p:txBody>
          <a:bodyPr/>
          <a:lstStyle/>
          <a:p>
            <a:r>
              <a:rPr lang="en-US" dirty="0"/>
              <a:t>Finding the minimum MSE</a:t>
            </a:r>
          </a:p>
        </p:txBody>
      </p:sp>
      <p:sp>
        <p:nvSpPr>
          <p:cNvPr id="3" name="Content Placeholder 2">
            <a:extLst>
              <a:ext uri="{FF2B5EF4-FFF2-40B4-BE49-F238E27FC236}">
                <a16:creationId xmlns:a16="http://schemas.microsoft.com/office/drawing/2014/main" id="{C9EE755F-BB6C-476F-B63C-3B82E441B483}"/>
              </a:ext>
            </a:extLst>
          </p:cNvPr>
          <p:cNvSpPr>
            <a:spLocks noGrp="1"/>
          </p:cNvSpPr>
          <p:nvPr>
            <p:ph idx="1"/>
          </p:nvPr>
        </p:nvSpPr>
        <p:spPr>
          <a:xfrm>
            <a:off x="838200" y="1234440"/>
            <a:ext cx="10515600" cy="4942523"/>
          </a:xfrm>
        </p:spPr>
        <p:txBody>
          <a:bodyPr>
            <a:normAutofit fontScale="92500" lnSpcReduction="20000"/>
          </a:bodyPr>
          <a:lstStyle/>
          <a:p>
            <a:pPr algn="just"/>
            <a:r>
              <a:rPr lang="en-US" dirty="0"/>
              <a:t>In the next step we want to find a model configuration, and thus the value of </a:t>
            </a:r>
            <a:r>
              <a:rPr lang="en-US" dirty="0">
                <a:solidFill>
                  <a:srgbClr val="FF0000"/>
                </a:solidFill>
              </a:rPr>
              <a:t>α</a:t>
            </a:r>
            <a:r>
              <a:rPr lang="en-US" dirty="0"/>
              <a:t> that minimizes the residuals (difference between observations and prediction). </a:t>
            </a:r>
          </a:p>
          <a:p>
            <a:pPr algn="just"/>
            <a:endParaRPr lang="en-US" dirty="0"/>
          </a:p>
          <a:p>
            <a:pPr algn="just"/>
            <a:r>
              <a:rPr lang="en-US" dirty="0"/>
              <a:t>We use cross-validation) function. </a:t>
            </a:r>
          </a:p>
          <a:p>
            <a:pPr algn="just"/>
            <a:r>
              <a:rPr lang="en-US" dirty="0"/>
              <a:t>The class </a:t>
            </a:r>
            <a:r>
              <a:rPr lang="en-US" dirty="0" err="1">
                <a:solidFill>
                  <a:srgbClr val="FF0000"/>
                </a:solidFill>
              </a:rPr>
              <a:t>RidgeCV</a:t>
            </a:r>
            <a:r>
              <a:rPr lang="en-US" dirty="0">
                <a:solidFill>
                  <a:srgbClr val="FF0000"/>
                </a:solidFill>
              </a:rPr>
              <a:t>() </a:t>
            </a:r>
            <a:r>
              <a:rPr lang="en-US" dirty="0"/>
              <a:t>performs a leave-one-out cross-validation on the data set and stores the MSE values in .</a:t>
            </a:r>
            <a:r>
              <a:rPr lang="en-US" dirty="0" err="1"/>
              <a:t>cv_values</a:t>
            </a:r>
            <a:r>
              <a:rPr lang="en-US" dirty="0"/>
              <a:t>_ if the argument </a:t>
            </a:r>
            <a:r>
              <a:rPr lang="en-US" dirty="0" err="1"/>
              <a:t>store_cv_values</a:t>
            </a:r>
            <a:r>
              <a:rPr lang="en-US" dirty="0"/>
              <a:t> is active. </a:t>
            </a:r>
          </a:p>
          <a:p>
            <a:pPr algn="just"/>
            <a:endParaRPr lang="en-US" dirty="0"/>
          </a:p>
          <a:p>
            <a:pPr algn="just"/>
            <a:r>
              <a:rPr lang="en-US" dirty="0"/>
              <a:t>We can evaluate the model performance by calculating the mean-squared error (MSE). </a:t>
            </a:r>
          </a:p>
          <a:p>
            <a:pPr algn="just"/>
            <a:endParaRPr lang="en-US" dirty="0"/>
          </a:p>
          <a:p>
            <a:pPr algn="just"/>
            <a:r>
              <a:rPr lang="en-US" dirty="0"/>
              <a:t>By visualizing, we can demonstrate the relation between MSE and α.</a:t>
            </a:r>
          </a:p>
        </p:txBody>
      </p:sp>
      <p:sp>
        <p:nvSpPr>
          <p:cNvPr id="6" name="Slide Number Placeholder 5">
            <a:extLst>
              <a:ext uri="{FF2B5EF4-FFF2-40B4-BE49-F238E27FC236}">
                <a16:creationId xmlns:a16="http://schemas.microsoft.com/office/drawing/2014/main" id="{272724E1-189D-476E-9EA7-321A99C83C1F}"/>
              </a:ext>
            </a:extLst>
          </p:cNvPr>
          <p:cNvSpPr>
            <a:spLocks noGrp="1"/>
          </p:cNvSpPr>
          <p:nvPr>
            <p:ph type="sldNum" sz="quarter" idx="12"/>
          </p:nvPr>
        </p:nvSpPr>
        <p:spPr/>
        <p:txBody>
          <a:bodyPr/>
          <a:lstStyle/>
          <a:p>
            <a:fld id="{6B97D948-30E8-43F7-AE10-F6E2D9F2BBB1}" type="slidenum">
              <a:rPr lang="en-US" smtClean="0"/>
              <a:t>834</a:t>
            </a:fld>
            <a:endParaRPr lang="en-US"/>
          </a:p>
        </p:txBody>
      </p:sp>
    </p:spTree>
    <p:extLst>
      <p:ext uri="{BB962C8B-B14F-4D97-AF65-F5344CB8AC3E}">
        <p14:creationId xmlns:p14="http://schemas.microsoft.com/office/powerpoint/2010/main" val="2963291553"/>
      </p:ext>
    </p:extLst>
  </p:cSld>
  <p:clrMapOvr>
    <a:masterClrMapping/>
  </p:clrMapOvr>
</p:sld>
</file>

<file path=ppt/slides/slide8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BB75F-280E-4C4E-B76F-09C0B518BB64}"/>
              </a:ext>
            </a:extLst>
          </p:cNvPr>
          <p:cNvSpPr>
            <a:spLocks noGrp="1"/>
          </p:cNvSpPr>
          <p:nvPr>
            <p:ph type="title"/>
          </p:nvPr>
        </p:nvSpPr>
        <p:spPr>
          <a:xfrm>
            <a:off x="838200" y="365125"/>
            <a:ext cx="10515600" cy="747395"/>
          </a:xfrm>
        </p:spPr>
        <p:txBody>
          <a:bodyPr/>
          <a:lstStyle/>
          <a:p>
            <a:r>
              <a:rPr lang="en-US" dirty="0"/>
              <a:t>Code</a:t>
            </a:r>
          </a:p>
        </p:txBody>
      </p:sp>
      <p:sp>
        <p:nvSpPr>
          <p:cNvPr id="3" name="Content Placeholder 2">
            <a:extLst>
              <a:ext uri="{FF2B5EF4-FFF2-40B4-BE49-F238E27FC236}">
                <a16:creationId xmlns:a16="http://schemas.microsoft.com/office/drawing/2014/main" id="{AA17FCCD-0447-4605-8EAD-15CAC5705203}"/>
              </a:ext>
            </a:extLst>
          </p:cNvPr>
          <p:cNvSpPr>
            <a:spLocks noGrp="1"/>
          </p:cNvSpPr>
          <p:nvPr>
            <p:ph idx="1"/>
          </p:nvPr>
        </p:nvSpPr>
        <p:spPr>
          <a:xfrm>
            <a:off x="838200" y="1112520"/>
            <a:ext cx="10515600" cy="5064443"/>
          </a:xfrm>
        </p:spPr>
        <p:txBody>
          <a:bodyPr>
            <a:normAutofit fontScale="92500" lnSpcReduction="10000"/>
          </a:bodyPr>
          <a:lstStyle/>
          <a:p>
            <a:r>
              <a:rPr lang="en-US" dirty="0">
                <a:solidFill>
                  <a:srgbClr val="FF0000"/>
                </a:solidFill>
              </a:rPr>
              <a:t>reg = </a:t>
            </a:r>
            <a:r>
              <a:rPr lang="en-US" dirty="0" err="1">
                <a:solidFill>
                  <a:srgbClr val="FF0000"/>
                </a:solidFill>
              </a:rPr>
              <a:t>linear_model.RidgeCV</a:t>
            </a:r>
            <a:r>
              <a:rPr lang="en-US" dirty="0">
                <a:solidFill>
                  <a:srgbClr val="FF0000"/>
                </a:solidFill>
              </a:rPr>
              <a:t>(alphas=alphas, </a:t>
            </a:r>
            <a:r>
              <a:rPr lang="en-US" dirty="0" err="1">
                <a:solidFill>
                  <a:srgbClr val="FF0000"/>
                </a:solidFill>
              </a:rPr>
              <a:t>store_cv_values</a:t>
            </a:r>
            <a:r>
              <a:rPr lang="en-US" dirty="0">
                <a:solidFill>
                  <a:srgbClr val="FF0000"/>
                </a:solidFill>
              </a:rPr>
              <a:t>=True)</a:t>
            </a:r>
          </a:p>
          <a:p>
            <a:r>
              <a:rPr lang="en-US" dirty="0">
                <a:solidFill>
                  <a:srgbClr val="FF0000"/>
                </a:solidFill>
              </a:rPr>
              <a:t>reg = </a:t>
            </a:r>
            <a:r>
              <a:rPr lang="en-US" dirty="0" err="1">
                <a:solidFill>
                  <a:srgbClr val="FF0000"/>
                </a:solidFill>
              </a:rPr>
              <a:t>reg.fit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endParaRPr lang="en-US" dirty="0">
              <a:solidFill>
                <a:srgbClr val="FF0000"/>
              </a:solidFill>
            </a:endParaRPr>
          </a:p>
          <a:p>
            <a:r>
              <a:rPr lang="en-US" dirty="0">
                <a:solidFill>
                  <a:srgbClr val="FF0000"/>
                </a:solidFill>
              </a:rPr>
              <a:t>ax = </a:t>
            </a:r>
            <a:r>
              <a:rPr lang="en-US" dirty="0" err="1">
                <a:solidFill>
                  <a:srgbClr val="FF0000"/>
                </a:solidFill>
              </a:rPr>
              <a:t>plt.gca</a:t>
            </a:r>
            <a:r>
              <a:rPr lang="en-US" dirty="0">
                <a:solidFill>
                  <a:srgbClr val="FF0000"/>
                </a:solidFill>
              </a:rPr>
              <a:t>()</a:t>
            </a:r>
          </a:p>
          <a:p>
            <a:r>
              <a:rPr lang="en-US" dirty="0" err="1">
                <a:solidFill>
                  <a:srgbClr val="FF0000"/>
                </a:solidFill>
              </a:rPr>
              <a:t>ax.plot</a:t>
            </a:r>
            <a:r>
              <a:rPr lang="en-US" dirty="0">
                <a:solidFill>
                  <a:srgbClr val="FF0000"/>
                </a:solidFill>
              </a:rPr>
              <a:t>(alphas, </a:t>
            </a:r>
            <a:r>
              <a:rPr lang="en-US" dirty="0" err="1">
                <a:solidFill>
                  <a:srgbClr val="FF0000"/>
                </a:solidFill>
              </a:rPr>
              <a:t>np.mean</a:t>
            </a:r>
            <a:r>
              <a:rPr lang="en-US" dirty="0">
                <a:solidFill>
                  <a:srgbClr val="FF0000"/>
                </a:solidFill>
              </a:rPr>
              <a:t>(</a:t>
            </a:r>
            <a:r>
              <a:rPr lang="en-US" dirty="0" err="1">
                <a:solidFill>
                  <a:srgbClr val="FF0000"/>
                </a:solidFill>
              </a:rPr>
              <a:t>reg.cv_values</a:t>
            </a:r>
            <a:r>
              <a:rPr lang="en-US" dirty="0">
                <a:solidFill>
                  <a:srgbClr val="FF0000"/>
                </a:solidFill>
              </a:rPr>
              <a:t>_, axis=0))</a:t>
            </a:r>
          </a:p>
          <a:p>
            <a:r>
              <a:rPr lang="en-US" dirty="0" err="1">
                <a:solidFill>
                  <a:srgbClr val="FF0000"/>
                </a:solidFill>
              </a:rPr>
              <a:t>ax.set_xscale</a:t>
            </a:r>
            <a:r>
              <a:rPr lang="en-US" dirty="0">
                <a:solidFill>
                  <a:srgbClr val="FF0000"/>
                </a:solidFill>
              </a:rPr>
              <a:t>("log")</a:t>
            </a:r>
          </a:p>
          <a:p>
            <a:r>
              <a:rPr lang="en-US" dirty="0" err="1">
                <a:solidFill>
                  <a:srgbClr val="FF0000"/>
                </a:solidFill>
              </a:rPr>
              <a:t>plt.xlabel</a:t>
            </a:r>
            <a:r>
              <a:rPr lang="en-US" dirty="0">
                <a:solidFill>
                  <a:srgbClr val="FF0000"/>
                </a:solidFill>
              </a:rPr>
              <a:t>("alpha")</a:t>
            </a:r>
          </a:p>
          <a:p>
            <a:r>
              <a:rPr lang="en-US" dirty="0" err="1">
                <a:solidFill>
                  <a:srgbClr val="FF0000"/>
                </a:solidFill>
              </a:rPr>
              <a:t>plt.ylabel</a:t>
            </a:r>
            <a:r>
              <a:rPr lang="en-US" dirty="0">
                <a:solidFill>
                  <a:srgbClr val="FF0000"/>
                </a:solidFill>
              </a:rPr>
              <a:t>("mean-squared error")</a:t>
            </a:r>
          </a:p>
          <a:p>
            <a:r>
              <a:rPr lang="en-US" dirty="0" err="1">
                <a:solidFill>
                  <a:srgbClr val="FF0000"/>
                </a:solidFill>
              </a:rPr>
              <a:t>plt.title</a:t>
            </a:r>
            <a:r>
              <a:rPr lang="en-US" dirty="0">
                <a:solidFill>
                  <a:srgbClr val="FF0000"/>
                </a:solidFill>
              </a:rPr>
              <a:t>("MSE as a function of the regularization")</a:t>
            </a:r>
          </a:p>
          <a:p>
            <a:r>
              <a:rPr lang="en-US" dirty="0" err="1">
                <a:solidFill>
                  <a:srgbClr val="FF0000"/>
                </a:solidFill>
              </a:rPr>
              <a:t>plt.axis</a:t>
            </a:r>
            <a:r>
              <a:rPr lang="en-US" dirty="0">
                <a:solidFill>
                  <a:srgbClr val="FF0000"/>
                </a:solidFill>
              </a:rPr>
              <a:t>("tight")</a:t>
            </a:r>
          </a:p>
          <a:p>
            <a:r>
              <a:rPr lang="en-US" dirty="0" err="1">
                <a:solidFill>
                  <a:srgbClr val="FF0000"/>
                </a:solidFill>
              </a:rPr>
              <a:t>plt.grid</a:t>
            </a:r>
            <a:r>
              <a:rPr lang="en-US" dirty="0">
                <a:solidFill>
                  <a:srgbClr val="FF0000"/>
                </a:solidFill>
              </a:rPr>
              <a:t>()</a:t>
            </a:r>
          </a:p>
        </p:txBody>
      </p:sp>
      <p:sp>
        <p:nvSpPr>
          <p:cNvPr id="5" name="Slide Number Placeholder 4">
            <a:extLst>
              <a:ext uri="{FF2B5EF4-FFF2-40B4-BE49-F238E27FC236}">
                <a16:creationId xmlns:a16="http://schemas.microsoft.com/office/drawing/2014/main" id="{474CA4A7-90C9-4EAD-A706-238B8DFCA621}"/>
              </a:ext>
            </a:extLst>
          </p:cNvPr>
          <p:cNvSpPr>
            <a:spLocks noGrp="1"/>
          </p:cNvSpPr>
          <p:nvPr>
            <p:ph type="sldNum" sz="quarter" idx="12"/>
          </p:nvPr>
        </p:nvSpPr>
        <p:spPr/>
        <p:txBody>
          <a:bodyPr/>
          <a:lstStyle/>
          <a:p>
            <a:fld id="{6B97D948-30E8-43F7-AE10-F6E2D9F2BBB1}" type="slidenum">
              <a:rPr lang="en-US" smtClean="0"/>
              <a:t>835</a:t>
            </a:fld>
            <a:endParaRPr lang="en-US"/>
          </a:p>
        </p:txBody>
      </p:sp>
    </p:spTree>
    <p:extLst>
      <p:ext uri="{BB962C8B-B14F-4D97-AF65-F5344CB8AC3E}">
        <p14:creationId xmlns:p14="http://schemas.microsoft.com/office/powerpoint/2010/main" val="992810234"/>
      </p:ext>
    </p:extLst>
  </p:cSld>
  <p:clrMapOvr>
    <a:masterClrMapping/>
  </p:clrMapOvr>
</p:sld>
</file>

<file path=ppt/slides/slide8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9811EE-CD2A-4C70-B4B8-12EA44BD58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0" y="465614"/>
            <a:ext cx="7838652" cy="5878989"/>
          </a:xfrm>
        </p:spPr>
      </p:pic>
      <p:sp>
        <p:nvSpPr>
          <p:cNvPr id="7" name="Slide Number Placeholder 6">
            <a:extLst>
              <a:ext uri="{FF2B5EF4-FFF2-40B4-BE49-F238E27FC236}">
                <a16:creationId xmlns:a16="http://schemas.microsoft.com/office/drawing/2014/main" id="{3E5C2B00-FBDA-482E-91BE-2252ADE3B0FD}"/>
              </a:ext>
            </a:extLst>
          </p:cNvPr>
          <p:cNvSpPr>
            <a:spLocks noGrp="1"/>
          </p:cNvSpPr>
          <p:nvPr>
            <p:ph type="sldNum" sz="quarter" idx="12"/>
          </p:nvPr>
        </p:nvSpPr>
        <p:spPr/>
        <p:txBody>
          <a:bodyPr/>
          <a:lstStyle/>
          <a:p>
            <a:fld id="{6B97D948-30E8-43F7-AE10-F6E2D9F2BBB1}" type="slidenum">
              <a:rPr lang="en-US" smtClean="0"/>
              <a:t>836</a:t>
            </a:fld>
            <a:endParaRPr lang="en-US"/>
          </a:p>
        </p:txBody>
      </p:sp>
    </p:spTree>
    <p:extLst>
      <p:ext uri="{BB962C8B-B14F-4D97-AF65-F5344CB8AC3E}">
        <p14:creationId xmlns:p14="http://schemas.microsoft.com/office/powerpoint/2010/main" val="1310612740"/>
      </p:ext>
    </p:extLst>
  </p:cSld>
  <p:clrMapOvr>
    <a:masterClrMapping/>
  </p:clrMapOvr>
</p:sld>
</file>

<file path=ppt/slides/slide8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5EB47D-E96A-439E-B844-63E4D832FD3F}"/>
              </a:ext>
            </a:extLst>
          </p:cNvPr>
          <p:cNvSpPr>
            <a:spLocks noGrp="1"/>
          </p:cNvSpPr>
          <p:nvPr>
            <p:ph idx="1"/>
          </p:nvPr>
        </p:nvSpPr>
        <p:spPr>
          <a:xfrm>
            <a:off x="838200" y="640080"/>
            <a:ext cx="10515600" cy="5536883"/>
          </a:xfrm>
        </p:spPr>
        <p:txBody>
          <a:bodyPr/>
          <a:lstStyle/>
          <a:p>
            <a:pPr algn="just"/>
            <a:r>
              <a:rPr lang="en-US" dirty="0"/>
              <a:t>The plot shows that the MSE increases with α. </a:t>
            </a:r>
          </a:p>
          <a:p>
            <a:pPr algn="just"/>
            <a:endParaRPr lang="en-US" dirty="0"/>
          </a:p>
          <a:p>
            <a:pPr algn="just"/>
            <a:r>
              <a:rPr lang="en-US" dirty="0"/>
              <a:t>We can assess these values of α by the object attributes .alpha_</a:t>
            </a:r>
          </a:p>
        </p:txBody>
      </p:sp>
      <p:sp>
        <p:nvSpPr>
          <p:cNvPr id="5" name="Slide Number Placeholder 4">
            <a:extLst>
              <a:ext uri="{FF2B5EF4-FFF2-40B4-BE49-F238E27FC236}">
                <a16:creationId xmlns:a16="http://schemas.microsoft.com/office/drawing/2014/main" id="{F9321BEE-5AD8-4707-8B6A-CFCCB8CB39E6}"/>
              </a:ext>
            </a:extLst>
          </p:cNvPr>
          <p:cNvSpPr>
            <a:spLocks noGrp="1"/>
          </p:cNvSpPr>
          <p:nvPr>
            <p:ph type="sldNum" sz="quarter" idx="12"/>
          </p:nvPr>
        </p:nvSpPr>
        <p:spPr/>
        <p:txBody>
          <a:bodyPr/>
          <a:lstStyle/>
          <a:p>
            <a:fld id="{6B97D948-30E8-43F7-AE10-F6E2D9F2BBB1}" type="slidenum">
              <a:rPr lang="en-US" smtClean="0"/>
              <a:t>837</a:t>
            </a:fld>
            <a:endParaRPr lang="en-US"/>
          </a:p>
        </p:txBody>
      </p:sp>
    </p:spTree>
    <p:extLst>
      <p:ext uri="{BB962C8B-B14F-4D97-AF65-F5344CB8AC3E}">
        <p14:creationId xmlns:p14="http://schemas.microsoft.com/office/powerpoint/2010/main" val="3950906121"/>
      </p:ext>
    </p:extLst>
  </p:cSld>
  <p:clrMapOvr>
    <a:masterClrMapping/>
  </p:clrMapOvr>
</p:sld>
</file>

<file path=ppt/slides/slide8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9AAA5-F2A3-4D1D-A2EB-E8A27FF286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AC1001-9DC2-43D0-A6C1-C2593ECC6C64}"/>
              </a:ext>
            </a:extLst>
          </p:cNvPr>
          <p:cNvSpPr>
            <a:spLocks noGrp="1"/>
          </p:cNvSpPr>
          <p:nvPr>
            <p:ph idx="1"/>
          </p:nvPr>
        </p:nvSpPr>
        <p:spPr/>
        <p:txBody>
          <a:bodyPr>
            <a:normAutofit lnSpcReduction="10000"/>
          </a:bodyPr>
          <a:lstStyle/>
          <a:p>
            <a:r>
              <a:rPr lang="en-US" dirty="0">
                <a:solidFill>
                  <a:srgbClr val="FF0000"/>
                </a:solidFill>
              </a:rPr>
              <a:t>print("Best score:", </a:t>
            </a:r>
            <a:r>
              <a:rPr lang="en-US" dirty="0" err="1">
                <a:solidFill>
                  <a:srgbClr val="FF0000"/>
                </a:solidFill>
              </a:rPr>
              <a:t>reg.best_score</a:t>
            </a:r>
            <a:r>
              <a:rPr lang="en-US" dirty="0">
                <a:solidFill>
                  <a:srgbClr val="FF0000"/>
                </a:solidFill>
              </a:rPr>
              <a:t>_)</a:t>
            </a:r>
          </a:p>
          <a:p>
            <a:r>
              <a:rPr lang="en-US" dirty="0">
                <a:solidFill>
                  <a:srgbClr val="FF0000"/>
                </a:solidFill>
              </a:rPr>
              <a:t>print("Estimated regularization parameter alpha:", </a:t>
            </a:r>
            <a:r>
              <a:rPr lang="en-US" dirty="0" err="1">
                <a:solidFill>
                  <a:srgbClr val="FF0000"/>
                </a:solidFill>
              </a:rPr>
              <a:t>reg.alpha</a:t>
            </a:r>
            <a:r>
              <a:rPr lang="en-US" dirty="0">
                <a:solidFill>
                  <a:srgbClr val="FF0000"/>
                </a:solidFill>
              </a:rPr>
              <a:t>_)</a:t>
            </a:r>
          </a:p>
          <a:p>
            <a:r>
              <a:rPr lang="en-US" dirty="0">
                <a:solidFill>
                  <a:srgbClr val="FF0000"/>
                </a:solidFill>
              </a:rPr>
              <a:t>print("Training score:", </a:t>
            </a:r>
            <a:r>
              <a:rPr lang="en-US" dirty="0" err="1">
                <a:solidFill>
                  <a:srgbClr val="FF0000"/>
                </a:solidFill>
              </a:rPr>
              <a:t>reg.score</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r>
              <a:rPr lang="en-US" dirty="0">
                <a:solidFill>
                  <a:srgbClr val="FF0000"/>
                </a:solidFill>
              </a:rPr>
              <a:t>print("Test score:", </a:t>
            </a:r>
            <a:r>
              <a:rPr lang="en-US" dirty="0" err="1">
                <a:solidFill>
                  <a:srgbClr val="FF0000"/>
                </a:solidFill>
              </a:rPr>
              <a:t>reg.score</a:t>
            </a:r>
            <a:r>
              <a:rPr lang="en-US" dirty="0">
                <a:solidFill>
                  <a:srgbClr val="FF0000"/>
                </a:solidFill>
              </a:rPr>
              <a:t>(</a:t>
            </a:r>
            <a:r>
              <a:rPr lang="en-US" dirty="0" err="1">
                <a:solidFill>
                  <a:srgbClr val="FF0000"/>
                </a:solidFill>
              </a:rPr>
              <a:t>X_test</a:t>
            </a:r>
            <a:r>
              <a:rPr lang="en-US" dirty="0">
                <a:solidFill>
                  <a:srgbClr val="FF0000"/>
                </a:solidFill>
              </a:rPr>
              <a:t>, </a:t>
            </a:r>
            <a:r>
              <a:rPr lang="en-US" dirty="0" err="1">
                <a:solidFill>
                  <a:srgbClr val="FF0000"/>
                </a:solidFill>
              </a:rPr>
              <a:t>y_test</a:t>
            </a:r>
            <a:r>
              <a:rPr lang="en-US" dirty="0">
                <a:solidFill>
                  <a:srgbClr val="FF0000"/>
                </a:solidFill>
              </a:rPr>
              <a:t>))</a:t>
            </a:r>
          </a:p>
          <a:p>
            <a:endParaRPr lang="en-US" dirty="0">
              <a:solidFill>
                <a:srgbClr val="FF0000"/>
              </a:solidFill>
            </a:endParaRPr>
          </a:p>
          <a:p>
            <a:r>
              <a:rPr lang="en-US" dirty="0"/>
              <a:t>Best score: -6440.03613499149</a:t>
            </a:r>
          </a:p>
          <a:p>
            <a:r>
              <a:rPr lang="en-US" dirty="0"/>
              <a:t>Estimated regularization parameter alpha: 1.6297508346206444</a:t>
            </a:r>
          </a:p>
          <a:p>
            <a:r>
              <a:rPr lang="en-US" dirty="0"/>
              <a:t>Training score: 0.9081942915442082</a:t>
            </a:r>
          </a:p>
          <a:p>
            <a:r>
              <a:rPr lang="en-US" dirty="0"/>
              <a:t>Test score: 0.862578849457066</a:t>
            </a:r>
          </a:p>
        </p:txBody>
      </p:sp>
      <p:sp>
        <p:nvSpPr>
          <p:cNvPr id="5" name="Slide Number Placeholder 4">
            <a:extLst>
              <a:ext uri="{FF2B5EF4-FFF2-40B4-BE49-F238E27FC236}">
                <a16:creationId xmlns:a16="http://schemas.microsoft.com/office/drawing/2014/main" id="{664A91C1-79F1-4251-8505-5C5C533052A2}"/>
              </a:ext>
            </a:extLst>
          </p:cNvPr>
          <p:cNvSpPr>
            <a:spLocks noGrp="1"/>
          </p:cNvSpPr>
          <p:nvPr>
            <p:ph type="sldNum" sz="quarter" idx="12"/>
          </p:nvPr>
        </p:nvSpPr>
        <p:spPr/>
        <p:txBody>
          <a:bodyPr/>
          <a:lstStyle/>
          <a:p>
            <a:fld id="{6B97D948-30E8-43F7-AE10-F6E2D9F2BBB1}" type="slidenum">
              <a:rPr lang="en-US" smtClean="0"/>
              <a:t>838</a:t>
            </a:fld>
            <a:endParaRPr lang="en-US"/>
          </a:p>
        </p:txBody>
      </p:sp>
    </p:spTree>
    <p:extLst>
      <p:ext uri="{BB962C8B-B14F-4D97-AF65-F5344CB8AC3E}">
        <p14:creationId xmlns:p14="http://schemas.microsoft.com/office/powerpoint/2010/main" val="456599713"/>
      </p:ext>
    </p:extLst>
  </p:cSld>
  <p:clrMapOvr>
    <a:masterClrMapping/>
  </p:clrMapOvr>
</p:sld>
</file>

<file path=ppt/slides/slide8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5A753F-CD39-4BE6-8C0A-2F073D4110B0}"/>
              </a:ext>
            </a:extLst>
          </p:cNvPr>
          <p:cNvSpPr>
            <a:spLocks noGrp="1"/>
          </p:cNvSpPr>
          <p:nvPr>
            <p:ph idx="1"/>
          </p:nvPr>
        </p:nvSpPr>
        <p:spPr>
          <a:xfrm>
            <a:off x="838200" y="472440"/>
            <a:ext cx="10515600" cy="5704523"/>
          </a:xfrm>
        </p:spPr>
        <p:txBody>
          <a:bodyPr/>
          <a:lstStyle/>
          <a:p>
            <a:pPr algn="just"/>
            <a:r>
              <a:rPr lang="en-US" dirty="0"/>
              <a:t>Finally we may use the best </a:t>
            </a:r>
            <a:r>
              <a:rPr lang="en-US" dirty="0">
                <a:solidFill>
                  <a:srgbClr val="FF0000"/>
                </a:solidFill>
              </a:rPr>
              <a:t>α</a:t>
            </a:r>
            <a:r>
              <a:rPr lang="en-US" dirty="0"/>
              <a:t> to predict the response vector </a:t>
            </a:r>
            <a:r>
              <a:rPr lang="en-US" dirty="0" err="1"/>
              <a:t>y_train</a:t>
            </a:r>
            <a:r>
              <a:rPr lang="en-US" dirty="0"/>
              <a:t> and </a:t>
            </a:r>
            <a:r>
              <a:rPr lang="en-US" dirty="0" err="1"/>
              <a:t>y_test</a:t>
            </a:r>
            <a:r>
              <a:rPr lang="en-US" dirty="0"/>
              <a:t>, respectively. </a:t>
            </a:r>
          </a:p>
          <a:p>
            <a:pPr algn="just"/>
            <a:endParaRPr lang="en-US" dirty="0"/>
          </a:p>
          <a:p>
            <a:pPr algn="just"/>
            <a:r>
              <a:rPr lang="en-US" dirty="0"/>
              <a:t>Once again we calculate the RMSE, for both the training data and the test data, and store the model together with the corresponding RMSE in our list object called </a:t>
            </a:r>
            <a:r>
              <a:rPr lang="en-US" dirty="0" err="1"/>
              <a:t>model_outcome</a:t>
            </a:r>
            <a:r>
              <a:rPr lang="en-US" dirty="0"/>
              <a:t>.</a:t>
            </a:r>
          </a:p>
        </p:txBody>
      </p:sp>
      <p:sp>
        <p:nvSpPr>
          <p:cNvPr id="5" name="Slide Number Placeholder 4">
            <a:extLst>
              <a:ext uri="{FF2B5EF4-FFF2-40B4-BE49-F238E27FC236}">
                <a16:creationId xmlns:a16="http://schemas.microsoft.com/office/drawing/2014/main" id="{0A74D95A-EA13-4EAF-9DD0-9699F50E46D4}"/>
              </a:ext>
            </a:extLst>
          </p:cNvPr>
          <p:cNvSpPr>
            <a:spLocks noGrp="1"/>
          </p:cNvSpPr>
          <p:nvPr>
            <p:ph type="sldNum" sz="quarter" idx="12"/>
          </p:nvPr>
        </p:nvSpPr>
        <p:spPr/>
        <p:txBody>
          <a:bodyPr/>
          <a:lstStyle/>
          <a:p>
            <a:fld id="{6B97D948-30E8-43F7-AE10-F6E2D9F2BBB1}" type="slidenum">
              <a:rPr lang="en-US" smtClean="0"/>
              <a:t>839</a:t>
            </a:fld>
            <a:endParaRPr lang="en-US"/>
          </a:p>
        </p:txBody>
      </p:sp>
    </p:spTree>
    <p:extLst>
      <p:ext uri="{BB962C8B-B14F-4D97-AF65-F5344CB8AC3E}">
        <p14:creationId xmlns:p14="http://schemas.microsoft.com/office/powerpoint/2010/main" val="1424554645"/>
      </p:ext>
    </p:extLst>
  </p:cSld>
  <p:clrMapOvr>
    <a:masterClrMapping/>
  </p:clrMapOvr>
</p:sld>
</file>

<file path=ppt/slides/slide8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42B82-40EF-41C6-A510-CDE15BD21028}"/>
              </a:ext>
            </a:extLst>
          </p:cNvPr>
          <p:cNvSpPr>
            <a:spLocks noGrp="1"/>
          </p:cNvSpPr>
          <p:nvPr>
            <p:ph type="title"/>
          </p:nvPr>
        </p:nvSpPr>
        <p:spPr>
          <a:xfrm>
            <a:off x="838200" y="365125"/>
            <a:ext cx="10515600" cy="655955"/>
          </a:xfrm>
        </p:spPr>
        <p:txBody>
          <a:bodyPr>
            <a:normAutofit fontScale="90000"/>
          </a:bodyPr>
          <a:lstStyle/>
          <a:p>
            <a:r>
              <a:rPr lang="en-US" dirty="0"/>
              <a:t>Training Model</a:t>
            </a:r>
          </a:p>
        </p:txBody>
      </p:sp>
      <p:sp>
        <p:nvSpPr>
          <p:cNvPr id="3" name="Content Placeholder 2">
            <a:extLst>
              <a:ext uri="{FF2B5EF4-FFF2-40B4-BE49-F238E27FC236}">
                <a16:creationId xmlns:a16="http://schemas.microsoft.com/office/drawing/2014/main" id="{31E82AC1-9DCA-4650-807F-3FE3E26B2B64}"/>
              </a:ext>
            </a:extLst>
          </p:cNvPr>
          <p:cNvSpPr>
            <a:spLocks noGrp="1"/>
          </p:cNvSpPr>
          <p:nvPr>
            <p:ph idx="1"/>
          </p:nvPr>
        </p:nvSpPr>
        <p:spPr>
          <a:xfrm>
            <a:off x="838200" y="1021080"/>
            <a:ext cx="10515600" cy="5155883"/>
          </a:xfrm>
        </p:spPr>
        <p:txBody>
          <a:bodyPr/>
          <a:lstStyle/>
          <a:p>
            <a:r>
              <a:rPr lang="en-US" dirty="0"/>
              <a:t># prediction for the training set</a:t>
            </a:r>
          </a:p>
          <a:p>
            <a:r>
              <a:rPr lang="en-US" dirty="0" err="1">
                <a:solidFill>
                  <a:srgbClr val="FF0000"/>
                </a:solidFill>
              </a:rPr>
              <a:t>m_ridge_cv_pred_train</a:t>
            </a:r>
            <a:r>
              <a:rPr lang="en-US" dirty="0">
                <a:solidFill>
                  <a:srgbClr val="FF0000"/>
                </a:solidFill>
              </a:rPr>
              <a:t> = </a:t>
            </a:r>
            <a:r>
              <a:rPr lang="en-US" dirty="0" err="1">
                <a:solidFill>
                  <a:srgbClr val="FF0000"/>
                </a:solidFill>
              </a:rPr>
              <a:t>reg.predict</a:t>
            </a:r>
            <a:r>
              <a:rPr lang="en-US" dirty="0">
                <a:solidFill>
                  <a:srgbClr val="FF0000"/>
                </a:solidFill>
              </a:rPr>
              <a:t>(</a:t>
            </a:r>
            <a:r>
              <a:rPr lang="en-US" dirty="0" err="1">
                <a:solidFill>
                  <a:srgbClr val="FF0000"/>
                </a:solidFill>
              </a:rPr>
              <a:t>X_train</a:t>
            </a:r>
            <a:r>
              <a:rPr lang="en-US" dirty="0">
                <a:solidFill>
                  <a:srgbClr val="FF0000"/>
                </a:solidFill>
              </a:rPr>
              <a:t>)</a:t>
            </a:r>
          </a:p>
          <a:p>
            <a:endParaRPr lang="en-US" dirty="0"/>
          </a:p>
          <a:p>
            <a:r>
              <a:rPr lang="en-US" dirty="0"/>
              <a:t> # calculate RMSE on training set</a:t>
            </a:r>
          </a:p>
          <a:p>
            <a:r>
              <a:rPr lang="en-US" dirty="0" err="1">
                <a:solidFill>
                  <a:srgbClr val="FF0000"/>
                </a:solidFill>
              </a:rPr>
              <a:t>rmse_test</a:t>
            </a:r>
            <a:r>
              <a:rPr lang="en-US" dirty="0">
                <a:solidFill>
                  <a:srgbClr val="FF0000"/>
                </a:solidFill>
              </a:rPr>
              <a:t> = </a:t>
            </a:r>
            <a:r>
              <a:rPr lang="en-US" dirty="0" err="1">
                <a:solidFill>
                  <a:srgbClr val="FF0000"/>
                </a:solidFill>
              </a:rPr>
              <a:t>mean_squared_error</a:t>
            </a:r>
            <a:r>
              <a:rPr lang="en-US" dirty="0">
                <a:solidFill>
                  <a:srgbClr val="FF0000"/>
                </a:solidFill>
              </a:rPr>
              <a:t>(</a:t>
            </a:r>
            <a:r>
              <a:rPr lang="en-US" dirty="0" err="1">
                <a:solidFill>
                  <a:srgbClr val="FF0000"/>
                </a:solidFill>
              </a:rPr>
              <a:t>m_ridge_cv_pred_train</a:t>
            </a:r>
            <a:r>
              <a:rPr lang="en-US" dirty="0">
                <a:solidFill>
                  <a:srgbClr val="FF0000"/>
                </a:solidFill>
              </a:rPr>
              <a:t>, </a:t>
            </a:r>
            <a:r>
              <a:rPr lang="en-US" dirty="0" err="1">
                <a:solidFill>
                  <a:srgbClr val="FF0000"/>
                </a:solidFill>
              </a:rPr>
              <a:t>y_train</a:t>
            </a:r>
            <a:r>
              <a:rPr lang="en-US" dirty="0">
                <a:solidFill>
                  <a:srgbClr val="FF0000"/>
                </a:solidFill>
              </a:rPr>
              <a:t>, squared=False)</a:t>
            </a:r>
          </a:p>
          <a:p>
            <a:r>
              <a:rPr lang="en-US" dirty="0">
                <a:solidFill>
                  <a:srgbClr val="FF0000"/>
                </a:solidFill>
              </a:rPr>
              <a:t>print("RMSE on training set:", </a:t>
            </a:r>
            <a:r>
              <a:rPr lang="en-US" dirty="0" err="1">
                <a:solidFill>
                  <a:srgbClr val="FF0000"/>
                </a:solidFill>
              </a:rPr>
              <a:t>rmse_test</a:t>
            </a:r>
            <a:r>
              <a:rPr lang="en-US" dirty="0">
                <a:solidFill>
                  <a:srgbClr val="FF0000"/>
                </a:solidFill>
              </a:rPr>
              <a:t>)</a:t>
            </a:r>
          </a:p>
          <a:p>
            <a:r>
              <a:rPr lang="en-US" dirty="0"/>
              <a:t>RMSE on training set: 71.84011342174763</a:t>
            </a:r>
          </a:p>
        </p:txBody>
      </p:sp>
      <p:sp>
        <p:nvSpPr>
          <p:cNvPr id="5" name="Slide Number Placeholder 4">
            <a:extLst>
              <a:ext uri="{FF2B5EF4-FFF2-40B4-BE49-F238E27FC236}">
                <a16:creationId xmlns:a16="http://schemas.microsoft.com/office/drawing/2014/main" id="{540F0103-26E4-4045-B0C7-012DE322F713}"/>
              </a:ext>
            </a:extLst>
          </p:cNvPr>
          <p:cNvSpPr>
            <a:spLocks noGrp="1"/>
          </p:cNvSpPr>
          <p:nvPr>
            <p:ph type="sldNum" sz="quarter" idx="12"/>
          </p:nvPr>
        </p:nvSpPr>
        <p:spPr/>
        <p:txBody>
          <a:bodyPr/>
          <a:lstStyle/>
          <a:p>
            <a:fld id="{6B97D948-30E8-43F7-AE10-F6E2D9F2BBB1}" type="slidenum">
              <a:rPr lang="en-US" smtClean="0"/>
              <a:t>840</a:t>
            </a:fld>
            <a:endParaRPr lang="en-US"/>
          </a:p>
        </p:txBody>
      </p:sp>
    </p:spTree>
    <p:extLst>
      <p:ext uri="{BB962C8B-B14F-4D97-AF65-F5344CB8AC3E}">
        <p14:creationId xmlns:p14="http://schemas.microsoft.com/office/powerpoint/2010/main" val="3791068727"/>
      </p:ext>
    </p:extLst>
  </p:cSld>
  <p:clrMapOvr>
    <a:masterClrMapping/>
  </p:clrMapOvr>
</p:sld>
</file>

<file path=ppt/slides/slide8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62CBC-0F69-4863-8216-486793A9C867}"/>
              </a:ext>
            </a:extLst>
          </p:cNvPr>
          <p:cNvSpPr>
            <a:spLocks noGrp="1"/>
          </p:cNvSpPr>
          <p:nvPr>
            <p:ph type="title"/>
          </p:nvPr>
        </p:nvSpPr>
        <p:spPr>
          <a:xfrm>
            <a:off x="838200" y="365125"/>
            <a:ext cx="10515600" cy="701675"/>
          </a:xfrm>
        </p:spPr>
        <p:txBody>
          <a:bodyPr/>
          <a:lstStyle/>
          <a:p>
            <a:r>
              <a:rPr lang="en-US" dirty="0"/>
              <a:t>Test</a:t>
            </a:r>
          </a:p>
        </p:txBody>
      </p:sp>
      <p:sp>
        <p:nvSpPr>
          <p:cNvPr id="3" name="Content Placeholder 2">
            <a:extLst>
              <a:ext uri="{FF2B5EF4-FFF2-40B4-BE49-F238E27FC236}">
                <a16:creationId xmlns:a16="http://schemas.microsoft.com/office/drawing/2014/main" id="{DE0E27AF-B409-4325-B7DD-6D59D478897D}"/>
              </a:ext>
            </a:extLst>
          </p:cNvPr>
          <p:cNvSpPr>
            <a:spLocks noGrp="1"/>
          </p:cNvSpPr>
          <p:nvPr>
            <p:ph idx="1"/>
          </p:nvPr>
        </p:nvSpPr>
        <p:spPr>
          <a:xfrm>
            <a:off x="838200" y="1066800"/>
            <a:ext cx="10515600" cy="5110163"/>
          </a:xfrm>
        </p:spPr>
        <p:txBody>
          <a:bodyPr>
            <a:normAutofit/>
          </a:bodyPr>
          <a:lstStyle/>
          <a:p>
            <a:r>
              <a:rPr lang="en-US" dirty="0"/>
              <a:t># prediction for the test set</a:t>
            </a:r>
          </a:p>
          <a:p>
            <a:r>
              <a:rPr lang="en-US" dirty="0" err="1">
                <a:solidFill>
                  <a:srgbClr val="FF0000"/>
                </a:solidFill>
              </a:rPr>
              <a:t>m_ridge_cv_pred_test</a:t>
            </a:r>
            <a:r>
              <a:rPr lang="en-US" dirty="0">
                <a:solidFill>
                  <a:srgbClr val="FF0000"/>
                </a:solidFill>
              </a:rPr>
              <a:t> = </a:t>
            </a:r>
            <a:r>
              <a:rPr lang="en-US" dirty="0" err="1">
                <a:solidFill>
                  <a:srgbClr val="FF0000"/>
                </a:solidFill>
              </a:rPr>
              <a:t>reg.predict</a:t>
            </a:r>
            <a:r>
              <a:rPr lang="en-US" dirty="0">
                <a:solidFill>
                  <a:srgbClr val="FF0000"/>
                </a:solidFill>
              </a:rPr>
              <a:t>(</a:t>
            </a:r>
            <a:r>
              <a:rPr lang="en-US" dirty="0" err="1">
                <a:solidFill>
                  <a:srgbClr val="FF0000"/>
                </a:solidFill>
              </a:rPr>
              <a:t>X_test</a:t>
            </a:r>
            <a:r>
              <a:rPr lang="en-US" dirty="0">
                <a:solidFill>
                  <a:srgbClr val="FF0000"/>
                </a:solidFill>
              </a:rPr>
              <a:t>)</a:t>
            </a:r>
          </a:p>
          <a:p>
            <a:endParaRPr lang="en-US" dirty="0"/>
          </a:p>
          <a:p>
            <a:r>
              <a:rPr lang="en-US" dirty="0"/>
              <a:t># calculate RMSE for the test data set</a:t>
            </a:r>
          </a:p>
          <a:p>
            <a:r>
              <a:rPr lang="en-US" dirty="0" err="1">
                <a:solidFill>
                  <a:srgbClr val="FF0000"/>
                </a:solidFill>
              </a:rPr>
              <a:t>rmse_train</a:t>
            </a:r>
            <a:r>
              <a:rPr lang="en-US" dirty="0">
                <a:solidFill>
                  <a:srgbClr val="FF0000"/>
                </a:solidFill>
              </a:rPr>
              <a:t> = </a:t>
            </a:r>
            <a:r>
              <a:rPr lang="en-US" dirty="0" err="1">
                <a:solidFill>
                  <a:srgbClr val="FF0000"/>
                </a:solidFill>
              </a:rPr>
              <a:t>mean_squared_error</a:t>
            </a:r>
            <a:r>
              <a:rPr lang="en-US" dirty="0">
                <a:solidFill>
                  <a:srgbClr val="FF0000"/>
                </a:solidFill>
              </a:rPr>
              <a:t>(</a:t>
            </a:r>
            <a:r>
              <a:rPr lang="en-US" dirty="0" err="1">
                <a:solidFill>
                  <a:srgbClr val="FF0000"/>
                </a:solidFill>
              </a:rPr>
              <a:t>m_ridge_cv_pred_test</a:t>
            </a:r>
            <a:r>
              <a:rPr lang="en-US" dirty="0">
                <a:solidFill>
                  <a:srgbClr val="FF0000"/>
                </a:solidFill>
              </a:rPr>
              <a:t>, </a:t>
            </a:r>
            <a:r>
              <a:rPr lang="en-US" dirty="0" err="1">
                <a:solidFill>
                  <a:srgbClr val="FF0000"/>
                </a:solidFill>
              </a:rPr>
              <a:t>y_test</a:t>
            </a:r>
            <a:r>
              <a:rPr lang="en-US" dirty="0">
                <a:solidFill>
                  <a:srgbClr val="FF0000"/>
                </a:solidFill>
              </a:rPr>
              <a:t>, squared=False)</a:t>
            </a:r>
          </a:p>
          <a:p>
            <a:r>
              <a:rPr lang="en-US" dirty="0">
                <a:solidFill>
                  <a:srgbClr val="FF0000"/>
                </a:solidFill>
              </a:rPr>
              <a:t>print("RMSE on training set:", </a:t>
            </a:r>
            <a:r>
              <a:rPr lang="en-US" dirty="0" err="1">
                <a:solidFill>
                  <a:srgbClr val="FF0000"/>
                </a:solidFill>
              </a:rPr>
              <a:t>rmse_train</a:t>
            </a:r>
            <a:r>
              <a:rPr lang="en-US" dirty="0">
                <a:solidFill>
                  <a:srgbClr val="FF0000"/>
                </a:solidFill>
              </a:rPr>
              <a:t>)</a:t>
            </a:r>
          </a:p>
          <a:p>
            <a:endParaRPr lang="en-US" dirty="0"/>
          </a:p>
          <a:p>
            <a:r>
              <a:rPr lang="en-US" dirty="0"/>
              <a:t>RMSE on training set: 77.40882425619203</a:t>
            </a:r>
          </a:p>
          <a:p>
            <a:endParaRPr lang="en-US" dirty="0"/>
          </a:p>
          <a:p>
            <a:endParaRPr lang="en-US" dirty="0"/>
          </a:p>
        </p:txBody>
      </p:sp>
      <p:sp>
        <p:nvSpPr>
          <p:cNvPr id="5" name="Slide Number Placeholder 4">
            <a:extLst>
              <a:ext uri="{FF2B5EF4-FFF2-40B4-BE49-F238E27FC236}">
                <a16:creationId xmlns:a16="http://schemas.microsoft.com/office/drawing/2014/main" id="{2E9765DA-77F6-4929-9C38-5477608BA034}"/>
              </a:ext>
            </a:extLst>
          </p:cNvPr>
          <p:cNvSpPr>
            <a:spLocks noGrp="1"/>
          </p:cNvSpPr>
          <p:nvPr>
            <p:ph type="sldNum" sz="quarter" idx="12"/>
          </p:nvPr>
        </p:nvSpPr>
        <p:spPr/>
        <p:txBody>
          <a:bodyPr/>
          <a:lstStyle/>
          <a:p>
            <a:fld id="{6B97D948-30E8-43F7-AE10-F6E2D9F2BBB1}" type="slidenum">
              <a:rPr lang="en-US" smtClean="0"/>
              <a:t>841</a:t>
            </a:fld>
            <a:endParaRPr lang="en-US"/>
          </a:p>
        </p:txBody>
      </p:sp>
    </p:spTree>
    <p:extLst>
      <p:ext uri="{BB962C8B-B14F-4D97-AF65-F5344CB8AC3E}">
        <p14:creationId xmlns:p14="http://schemas.microsoft.com/office/powerpoint/2010/main" val="3300351520"/>
      </p:ext>
    </p:extLst>
  </p:cSld>
  <p:clrMapOvr>
    <a:masterClrMapping/>
  </p:clrMapOvr>
</p:sld>
</file>

<file path=ppt/slides/slide8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BE1D-4C6A-42C8-86AA-4C9E4BA07526}"/>
              </a:ext>
            </a:extLst>
          </p:cNvPr>
          <p:cNvSpPr>
            <a:spLocks noGrp="1"/>
          </p:cNvSpPr>
          <p:nvPr>
            <p:ph type="title"/>
          </p:nvPr>
        </p:nvSpPr>
        <p:spPr>
          <a:xfrm>
            <a:off x="838200" y="365125"/>
            <a:ext cx="10515600" cy="732155"/>
          </a:xfrm>
        </p:spPr>
        <p:txBody>
          <a:bodyPr/>
          <a:lstStyle/>
          <a:p>
            <a:r>
              <a:rPr lang="en-US" dirty="0"/>
              <a:t>LASSO regression</a:t>
            </a:r>
          </a:p>
        </p:txBody>
      </p:sp>
      <p:sp>
        <p:nvSpPr>
          <p:cNvPr id="3" name="Content Placeholder 2">
            <a:extLst>
              <a:ext uri="{FF2B5EF4-FFF2-40B4-BE49-F238E27FC236}">
                <a16:creationId xmlns:a16="http://schemas.microsoft.com/office/drawing/2014/main" id="{32C68569-49CD-4983-9E2F-BCE3F415E809}"/>
              </a:ext>
            </a:extLst>
          </p:cNvPr>
          <p:cNvSpPr>
            <a:spLocks noGrp="1"/>
          </p:cNvSpPr>
          <p:nvPr>
            <p:ph idx="1"/>
          </p:nvPr>
        </p:nvSpPr>
        <p:spPr>
          <a:xfrm>
            <a:off x="838200" y="1097280"/>
            <a:ext cx="10515600" cy="5079683"/>
          </a:xfrm>
        </p:spPr>
        <p:txBody>
          <a:bodyPr/>
          <a:lstStyle/>
          <a:p>
            <a:r>
              <a:rPr lang="en-US" dirty="0"/>
              <a:t>The mechanics for the LASSO regression in Python are very similar to those for the ridge regression. </a:t>
            </a:r>
          </a:p>
          <a:p>
            <a:endParaRPr lang="en-US" dirty="0"/>
          </a:p>
          <a:p>
            <a:r>
              <a:rPr lang="en-US" dirty="0"/>
              <a:t>Let us build the model and plot it.</a:t>
            </a:r>
          </a:p>
          <a:p>
            <a:endParaRPr lang="en-US" dirty="0"/>
          </a:p>
        </p:txBody>
      </p:sp>
      <p:sp>
        <p:nvSpPr>
          <p:cNvPr id="5" name="Slide Number Placeholder 4">
            <a:extLst>
              <a:ext uri="{FF2B5EF4-FFF2-40B4-BE49-F238E27FC236}">
                <a16:creationId xmlns:a16="http://schemas.microsoft.com/office/drawing/2014/main" id="{5BD2D4D0-C5DB-4E29-9904-8EF50601C16D}"/>
              </a:ext>
            </a:extLst>
          </p:cNvPr>
          <p:cNvSpPr>
            <a:spLocks noGrp="1"/>
          </p:cNvSpPr>
          <p:nvPr>
            <p:ph type="sldNum" sz="quarter" idx="12"/>
          </p:nvPr>
        </p:nvSpPr>
        <p:spPr/>
        <p:txBody>
          <a:bodyPr/>
          <a:lstStyle/>
          <a:p>
            <a:fld id="{6B97D948-30E8-43F7-AE10-F6E2D9F2BBB1}" type="slidenum">
              <a:rPr lang="en-US" smtClean="0"/>
              <a:t>842</a:t>
            </a:fld>
            <a:endParaRPr lang="en-US"/>
          </a:p>
        </p:txBody>
      </p:sp>
    </p:spTree>
    <p:extLst>
      <p:ext uri="{BB962C8B-B14F-4D97-AF65-F5344CB8AC3E}">
        <p14:creationId xmlns:p14="http://schemas.microsoft.com/office/powerpoint/2010/main" val="2891190050"/>
      </p:ext>
    </p:extLst>
  </p:cSld>
  <p:clrMapOvr>
    <a:masterClrMapping/>
  </p:clrMapOvr>
</p:sld>
</file>

<file path=ppt/slides/slide8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0C6F6-2A35-4C06-B2D4-10BEEA0F68DA}"/>
              </a:ext>
            </a:extLst>
          </p:cNvPr>
          <p:cNvSpPr>
            <a:spLocks noGrp="1"/>
          </p:cNvSpPr>
          <p:nvPr>
            <p:ph type="title"/>
          </p:nvPr>
        </p:nvSpPr>
        <p:spPr>
          <a:xfrm>
            <a:off x="838200" y="365125"/>
            <a:ext cx="10515600" cy="823595"/>
          </a:xfrm>
        </p:spPr>
        <p:txBody>
          <a:bodyPr/>
          <a:lstStyle/>
          <a:p>
            <a:r>
              <a:rPr lang="en-US" b="1" dirty="0"/>
              <a:t>Data</a:t>
            </a:r>
            <a:endParaRPr lang="en-US" dirty="0"/>
          </a:p>
        </p:txBody>
      </p:sp>
      <p:sp>
        <p:nvSpPr>
          <p:cNvPr id="3" name="Content Placeholder 2">
            <a:extLst>
              <a:ext uri="{FF2B5EF4-FFF2-40B4-BE49-F238E27FC236}">
                <a16:creationId xmlns:a16="http://schemas.microsoft.com/office/drawing/2014/main" id="{ABC89619-3872-4EAD-99E9-6D5BF2A63A2B}"/>
              </a:ext>
            </a:extLst>
          </p:cNvPr>
          <p:cNvSpPr>
            <a:spLocks noGrp="1"/>
          </p:cNvSpPr>
          <p:nvPr>
            <p:ph idx="1"/>
          </p:nvPr>
        </p:nvSpPr>
        <p:spPr>
          <a:xfrm>
            <a:off x="838200" y="1082040"/>
            <a:ext cx="10515600" cy="5094923"/>
          </a:xfrm>
        </p:spPr>
        <p:txBody>
          <a:bodyPr>
            <a:normAutofit fontScale="92500" lnSpcReduction="10000"/>
          </a:bodyPr>
          <a:lstStyle/>
          <a:p>
            <a:pPr algn="just"/>
            <a:r>
              <a:rPr lang="en-US" dirty="0"/>
              <a:t>We illustrate the use of lasso regression on a data frame called “Hitters” with 20 variables and 322 observations of major league players.</a:t>
            </a:r>
          </a:p>
          <a:p>
            <a:pPr algn="just"/>
            <a:endParaRPr lang="en-US" dirty="0"/>
          </a:p>
          <a:p>
            <a:pPr algn="just"/>
            <a:r>
              <a:rPr lang="en-US" dirty="0"/>
              <a:t>We want to predict a baseball player’s salary on the basis of various statistics associated with performance in the previous year.</a:t>
            </a:r>
          </a:p>
          <a:p>
            <a:pPr algn="just"/>
            <a:endParaRPr lang="en-US" dirty="0"/>
          </a:p>
          <a:p>
            <a:pPr algn="just"/>
            <a:r>
              <a:rPr lang="en-US" dirty="0"/>
              <a:t>import pandas as pd</a:t>
            </a:r>
          </a:p>
          <a:p>
            <a:r>
              <a:rPr lang="en-US" dirty="0"/>
              <a:t>df = </a:t>
            </a:r>
            <a:r>
              <a:rPr lang="en-US" dirty="0" err="1"/>
              <a:t>pd.read_csv</a:t>
            </a:r>
            <a:r>
              <a:rPr lang="en-US" dirty="0"/>
              <a:t>("https://raw.githubusercontent.com/</a:t>
            </a:r>
            <a:r>
              <a:rPr lang="en-US" dirty="0" err="1"/>
              <a:t>kirenz</a:t>
            </a:r>
            <a:r>
              <a:rPr lang="en-US" dirty="0"/>
              <a:t>/datasets/master/Hitters.csv")</a:t>
            </a:r>
          </a:p>
          <a:p>
            <a:pPr algn="just"/>
            <a:endParaRPr lang="en-US" dirty="0"/>
          </a:p>
          <a:p>
            <a:pPr algn="just"/>
            <a:r>
              <a:rPr lang="en-US" dirty="0" err="1"/>
              <a:t>df.head</a:t>
            </a:r>
            <a:r>
              <a:rPr lang="en-US" dirty="0"/>
              <a:t>()</a:t>
            </a:r>
          </a:p>
        </p:txBody>
      </p:sp>
      <p:sp>
        <p:nvSpPr>
          <p:cNvPr id="5" name="Slide Number Placeholder 4">
            <a:extLst>
              <a:ext uri="{FF2B5EF4-FFF2-40B4-BE49-F238E27FC236}">
                <a16:creationId xmlns:a16="http://schemas.microsoft.com/office/drawing/2014/main" id="{593F051F-1B8A-4A41-9C66-22094A3B8603}"/>
              </a:ext>
            </a:extLst>
          </p:cNvPr>
          <p:cNvSpPr>
            <a:spLocks noGrp="1"/>
          </p:cNvSpPr>
          <p:nvPr>
            <p:ph type="sldNum" sz="quarter" idx="12"/>
          </p:nvPr>
        </p:nvSpPr>
        <p:spPr/>
        <p:txBody>
          <a:bodyPr/>
          <a:lstStyle/>
          <a:p>
            <a:fld id="{6B97D948-30E8-43F7-AE10-F6E2D9F2BBB1}" type="slidenum">
              <a:rPr lang="en-US" smtClean="0"/>
              <a:t>843</a:t>
            </a:fld>
            <a:endParaRPr lang="en-US"/>
          </a:p>
        </p:txBody>
      </p:sp>
    </p:spTree>
    <p:extLst>
      <p:ext uri="{BB962C8B-B14F-4D97-AF65-F5344CB8AC3E}">
        <p14:creationId xmlns:p14="http://schemas.microsoft.com/office/powerpoint/2010/main" val="1797815024"/>
      </p:ext>
    </p:extLst>
  </p:cSld>
  <p:clrMapOvr>
    <a:masterClrMapping/>
  </p:clrMapOvr>
</p:sld>
</file>

<file path=ppt/slides/slide8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290F9D-264B-49EF-A3F2-6B2E8CD95D02}"/>
              </a:ext>
            </a:extLst>
          </p:cNvPr>
          <p:cNvSpPr>
            <a:spLocks noGrp="1"/>
          </p:cNvSpPr>
          <p:nvPr>
            <p:ph idx="1"/>
          </p:nvPr>
        </p:nvSpPr>
        <p:spPr>
          <a:xfrm>
            <a:off x="838200" y="518160"/>
            <a:ext cx="10515600" cy="5658803"/>
          </a:xfrm>
        </p:spPr>
        <p:txBody>
          <a:bodyPr/>
          <a:lstStyle/>
          <a:p>
            <a:r>
              <a:rPr lang="en-US" dirty="0" err="1">
                <a:solidFill>
                  <a:srgbClr val="FF0000"/>
                </a:solidFill>
              </a:rPr>
              <a:t>df.columns</a:t>
            </a:r>
            <a:endParaRPr lang="en-US" dirty="0">
              <a:solidFill>
                <a:srgbClr val="FF0000"/>
              </a:solidFill>
            </a:endParaRPr>
          </a:p>
          <a:p>
            <a:r>
              <a:rPr lang="en-US" dirty="0"/>
              <a:t>Out[56]:</a:t>
            </a:r>
          </a:p>
          <a:p>
            <a:r>
              <a:rPr lang="en-US" dirty="0"/>
              <a:t>Index(['</a:t>
            </a:r>
            <a:r>
              <a:rPr lang="en-US" dirty="0" err="1"/>
              <a:t>AtBat</a:t>
            </a:r>
            <a:r>
              <a:rPr lang="en-US" dirty="0"/>
              <a:t>', 'Hits', '</a:t>
            </a:r>
            <a:r>
              <a:rPr lang="en-US" dirty="0" err="1"/>
              <a:t>HmRun</a:t>
            </a:r>
            <a:r>
              <a:rPr lang="en-US" dirty="0"/>
              <a:t>', 'Runs', 'RBI', 'Walks', 'Years', '</a:t>
            </a:r>
            <a:r>
              <a:rPr lang="en-US" dirty="0" err="1"/>
              <a:t>CAtBat</a:t>
            </a:r>
            <a:r>
              <a:rPr lang="en-US" dirty="0"/>
              <a:t>',</a:t>
            </a:r>
          </a:p>
          <a:p>
            <a:r>
              <a:rPr lang="en-US" dirty="0"/>
              <a:t>       '</a:t>
            </a:r>
            <a:r>
              <a:rPr lang="en-US" dirty="0" err="1"/>
              <a:t>CHits</a:t>
            </a:r>
            <a:r>
              <a:rPr lang="en-US" dirty="0"/>
              <a:t>', '</a:t>
            </a:r>
            <a:r>
              <a:rPr lang="en-US" dirty="0" err="1"/>
              <a:t>CHmRun</a:t>
            </a:r>
            <a:r>
              <a:rPr lang="en-US" dirty="0"/>
              <a:t>', '</a:t>
            </a:r>
            <a:r>
              <a:rPr lang="en-US" dirty="0" err="1"/>
              <a:t>CRuns</a:t>
            </a:r>
            <a:r>
              <a:rPr lang="en-US" dirty="0"/>
              <a:t>', 'CRBI', '</a:t>
            </a:r>
            <a:r>
              <a:rPr lang="en-US" dirty="0" err="1"/>
              <a:t>CWalks</a:t>
            </a:r>
            <a:r>
              <a:rPr lang="en-US" dirty="0"/>
              <a:t>', 'League', 'Division',</a:t>
            </a:r>
          </a:p>
          <a:p>
            <a:r>
              <a:rPr lang="en-US" dirty="0"/>
              <a:t>       '</a:t>
            </a:r>
            <a:r>
              <a:rPr lang="en-US" dirty="0" err="1"/>
              <a:t>PutOuts</a:t>
            </a:r>
            <a:r>
              <a:rPr lang="en-US" dirty="0"/>
              <a:t>', 'Assists', 'Errors', 'Salary', '</a:t>
            </a:r>
            <a:r>
              <a:rPr lang="en-US" dirty="0" err="1"/>
              <a:t>NewLeague</a:t>
            </a:r>
            <a:r>
              <a:rPr lang="en-US" dirty="0"/>
              <a:t>'],</a:t>
            </a:r>
          </a:p>
          <a:p>
            <a:r>
              <a:rPr lang="en-US" dirty="0"/>
              <a:t>      </a:t>
            </a:r>
            <a:r>
              <a:rPr lang="en-US" dirty="0" err="1"/>
              <a:t>dtype</a:t>
            </a:r>
            <a:r>
              <a:rPr lang="en-US" dirty="0"/>
              <a:t>='object’)</a:t>
            </a:r>
          </a:p>
          <a:p>
            <a:endParaRPr lang="en-US" dirty="0"/>
          </a:p>
          <a:p>
            <a:r>
              <a:rPr lang="en-US" dirty="0" err="1">
                <a:solidFill>
                  <a:srgbClr val="FF0000"/>
                </a:solidFill>
              </a:rPr>
              <a:t>df.columns</a:t>
            </a:r>
            <a:endParaRPr lang="en-US" dirty="0">
              <a:solidFill>
                <a:srgbClr val="FF0000"/>
              </a:solidFill>
            </a:endParaRPr>
          </a:p>
        </p:txBody>
      </p:sp>
      <p:sp>
        <p:nvSpPr>
          <p:cNvPr id="5" name="Slide Number Placeholder 4">
            <a:extLst>
              <a:ext uri="{FF2B5EF4-FFF2-40B4-BE49-F238E27FC236}">
                <a16:creationId xmlns:a16="http://schemas.microsoft.com/office/drawing/2014/main" id="{01C89F0B-DF21-423D-841A-CCB812033756}"/>
              </a:ext>
            </a:extLst>
          </p:cNvPr>
          <p:cNvSpPr>
            <a:spLocks noGrp="1"/>
          </p:cNvSpPr>
          <p:nvPr>
            <p:ph type="sldNum" sz="quarter" idx="12"/>
          </p:nvPr>
        </p:nvSpPr>
        <p:spPr/>
        <p:txBody>
          <a:bodyPr/>
          <a:lstStyle/>
          <a:p>
            <a:fld id="{6B97D948-30E8-43F7-AE10-F6E2D9F2BBB1}" type="slidenum">
              <a:rPr lang="en-US" smtClean="0"/>
              <a:t>844</a:t>
            </a:fld>
            <a:endParaRPr lang="en-US"/>
          </a:p>
        </p:txBody>
      </p:sp>
    </p:spTree>
    <p:extLst>
      <p:ext uri="{BB962C8B-B14F-4D97-AF65-F5344CB8AC3E}">
        <p14:creationId xmlns:p14="http://schemas.microsoft.com/office/powerpoint/2010/main" val="3836005220"/>
      </p:ext>
    </p:extLst>
  </p:cSld>
  <p:clrMapOvr>
    <a:masterClrMapping/>
  </p:clrMapOvr>
</p:sld>
</file>

<file path=ppt/slides/slide8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52416-871E-4D9E-9409-820A7A9C2C0C}"/>
              </a:ext>
            </a:extLst>
          </p:cNvPr>
          <p:cNvSpPr>
            <a:spLocks noGrp="1"/>
          </p:cNvSpPr>
          <p:nvPr>
            <p:ph type="title"/>
          </p:nvPr>
        </p:nvSpPr>
        <p:spPr>
          <a:xfrm>
            <a:off x="838200" y="365125"/>
            <a:ext cx="10515600" cy="732155"/>
          </a:xfrm>
        </p:spPr>
        <p:txBody>
          <a:bodyPr/>
          <a:lstStyle/>
          <a:p>
            <a:r>
              <a:rPr lang="en-US" dirty="0"/>
              <a:t>Missing values</a:t>
            </a:r>
          </a:p>
        </p:txBody>
      </p:sp>
      <p:sp>
        <p:nvSpPr>
          <p:cNvPr id="3" name="Content Placeholder 2">
            <a:extLst>
              <a:ext uri="{FF2B5EF4-FFF2-40B4-BE49-F238E27FC236}">
                <a16:creationId xmlns:a16="http://schemas.microsoft.com/office/drawing/2014/main" id="{918625BF-768C-49FD-8535-44EAE90079C4}"/>
              </a:ext>
            </a:extLst>
          </p:cNvPr>
          <p:cNvSpPr>
            <a:spLocks noGrp="1"/>
          </p:cNvSpPr>
          <p:nvPr>
            <p:ph idx="1"/>
          </p:nvPr>
        </p:nvSpPr>
        <p:spPr>
          <a:xfrm>
            <a:off x="838200" y="1097280"/>
            <a:ext cx="10515600" cy="5079683"/>
          </a:xfrm>
        </p:spPr>
        <p:txBody>
          <a:bodyPr/>
          <a:lstStyle/>
          <a:p>
            <a:r>
              <a:rPr lang="en-US" dirty="0"/>
              <a:t>Note that the salary is missing for some of the players:</a:t>
            </a:r>
          </a:p>
          <a:p>
            <a:r>
              <a:rPr lang="en-US" dirty="0">
                <a:solidFill>
                  <a:srgbClr val="FF0000"/>
                </a:solidFill>
              </a:rPr>
              <a:t>print(</a:t>
            </a:r>
            <a:r>
              <a:rPr lang="en-US" dirty="0" err="1">
                <a:solidFill>
                  <a:srgbClr val="FF0000"/>
                </a:solidFill>
              </a:rPr>
              <a:t>df.isnull</a:t>
            </a:r>
            <a:r>
              <a:rPr lang="en-US" dirty="0">
                <a:solidFill>
                  <a:srgbClr val="FF0000"/>
                </a:solidFill>
              </a:rPr>
              <a:t>().sum())</a:t>
            </a:r>
          </a:p>
          <a:p>
            <a:endParaRPr lang="en-US" dirty="0">
              <a:solidFill>
                <a:srgbClr val="FF0000"/>
              </a:solidFill>
            </a:endParaRPr>
          </a:p>
          <a:p>
            <a:r>
              <a:rPr lang="en-US" dirty="0"/>
              <a:t># drop missing cases</a:t>
            </a:r>
          </a:p>
          <a:p>
            <a:r>
              <a:rPr lang="en-US" dirty="0">
                <a:solidFill>
                  <a:srgbClr val="FF0000"/>
                </a:solidFill>
              </a:rPr>
              <a:t>df = </a:t>
            </a:r>
            <a:r>
              <a:rPr lang="en-US" dirty="0" err="1">
                <a:solidFill>
                  <a:srgbClr val="FF0000"/>
                </a:solidFill>
              </a:rPr>
              <a:t>df.dropna</a:t>
            </a:r>
            <a:r>
              <a:rPr lang="en-US" dirty="0">
                <a:solidFill>
                  <a:srgbClr val="FF0000"/>
                </a:solidFill>
              </a:rPr>
              <a:t>()</a:t>
            </a:r>
          </a:p>
          <a:p>
            <a:endParaRPr lang="en-US" dirty="0"/>
          </a:p>
        </p:txBody>
      </p:sp>
      <p:sp>
        <p:nvSpPr>
          <p:cNvPr id="5" name="Slide Number Placeholder 4">
            <a:extLst>
              <a:ext uri="{FF2B5EF4-FFF2-40B4-BE49-F238E27FC236}">
                <a16:creationId xmlns:a16="http://schemas.microsoft.com/office/drawing/2014/main" id="{4EDF00A1-006F-407D-8F72-E0717DF7BBF3}"/>
              </a:ext>
            </a:extLst>
          </p:cNvPr>
          <p:cNvSpPr>
            <a:spLocks noGrp="1"/>
          </p:cNvSpPr>
          <p:nvPr>
            <p:ph type="sldNum" sz="quarter" idx="12"/>
          </p:nvPr>
        </p:nvSpPr>
        <p:spPr/>
        <p:txBody>
          <a:bodyPr/>
          <a:lstStyle/>
          <a:p>
            <a:fld id="{6B97D948-30E8-43F7-AE10-F6E2D9F2BBB1}" type="slidenum">
              <a:rPr lang="en-US" smtClean="0"/>
              <a:t>845</a:t>
            </a:fld>
            <a:endParaRPr lang="en-US"/>
          </a:p>
        </p:txBody>
      </p:sp>
    </p:spTree>
    <p:extLst>
      <p:ext uri="{BB962C8B-B14F-4D97-AF65-F5344CB8AC3E}">
        <p14:creationId xmlns:p14="http://schemas.microsoft.com/office/powerpoint/2010/main" val="1647835439"/>
      </p:ext>
    </p:extLst>
  </p:cSld>
  <p:clrMapOvr>
    <a:masterClrMapping/>
  </p:clrMapOvr>
</p:sld>
</file>

<file path=ppt/slides/slide8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A0A3-85E1-440D-8D8C-60ACD04C9C2D}"/>
              </a:ext>
            </a:extLst>
          </p:cNvPr>
          <p:cNvSpPr>
            <a:spLocks noGrp="1"/>
          </p:cNvSpPr>
          <p:nvPr>
            <p:ph type="title"/>
          </p:nvPr>
        </p:nvSpPr>
        <p:spPr>
          <a:xfrm>
            <a:off x="838200" y="365125"/>
            <a:ext cx="10515600" cy="808355"/>
          </a:xfrm>
        </p:spPr>
        <p:txBody>
          <a:bodyPr/>
          <a:lstStyle/>
          <a:p>
            <a:r>
              <a:rPr lang="en-US" dirty="0"/>
              <a:t>Create labels and features</a:t>
            </a:r>
          </a:p>
        </p:txBody>
      </p:sp>
      <p:sp>
        <p:nvSpPr>
          <p:cNvPr id="3" name="Content Placeholder 2">
            <a:extLst>
              <a:ext uri="{FF2B5EF4-FFF2-40B4-BE49-F238E27FC236}">
                <a16:creationId xmlns:a16="http://schemas.microsoft.com/office/drawing/2014/main" id="{5E61DD8E-3B78-4040-A27E-AE05F82A3201}"/>
              </a:ext>
            </a:extLst>
          </p:cNvPr>
          <p:cNvSpPr>
            <a:spLocks noGrp="1"/>
          </p:cNvSpPr>
          <p:nvPr>
            <p:ph idx="1"/>
          </p:nvPr>
        </p:nvSpPr>
        <p:spPr>
          <a:xfrm>
            <a:off x="838200" y="1173480"/>
            <a:ext cx="10515600" cy="5003483"/>
          </a:xfrm>
        </p:spPr>
        <p:txBody>
          <a:bodyPr>
            <a:normAutofit fontScale="92500" lnSpcReduction="20000"/>
          </a:bodyPr>
          <a:lstStyle/>
          <a:p>
            <a:pPr algn="just"/>
            <a:r>
              <a:rPr lang="en-US" dirty="0"/>
              <a:t>We need to encode our categorical features as one-hot numeric features (dummy variables):</a:t>
            </a:r>
          </a:p>
          <a:p>
            <a:pPr algn="just"/>
            <a:r>
              <a:rPr lang="en-US" dirty="0">
                <a:solidFill>
                  <a:srgbClr val="FF0000"/>
                </a:solidFill>
              </a:rPr>
              <a:t>dummies = </a:t>
            </a:r>
            <a:r>
              <a:rPr lang="en-US" dirty="0" err="1">
                <a:solidFill>
                  <a:srgbClr val="FF0000"/>
                </a:solidFill>
              </a:rPr>
              <a:t>pd.get_dummies</a:t>
            </a:r>
            <a:r>
              <a:rPr lang="en-US" dirty="0">
                <a:solidFill>
                  <a:srgbClr val="FF0000"/>
                </a:solidFill>
              </a:rPr>
              <a:t>(df[['League', 'Division','</a:t>
            </a:r>
            <a:r>
              <a:rPr lang="en-US" dirty="0" err="1">
                <a:solidFill>
                  <a:srgbClr val="FF0000"/>
                </a:solidFill>
              </a:rPr>
              <a:t>NewLeague</a:t>
            </a:r>
            <a:r>
              <a:rPr lang="en-US" dirty="0">
                <a:solidFill>
                  <a:srgbClr val="FF0000"/>
                </a:solidFill>
              </a:rPr>
              <a:t>']])</a:t>
            </a:r>
          </a:p>
          <a:p>
            <a:pPr algn="just"/>
            <a:r>
              <a:rPr lang="en-US" dirty="0">
                <a:solidFill>
                  <a:srgbClr val="FF0000"/>
                </a:solidFill>
              </a:rPr>
              <a:t>dummies.info()</a:t>
            </a:r>
          </a:p>
          <a:p>
            <a:pPr algn="just"/>
            <a:r>
              <a:rPr lang="en-US" dirty="0"/>
              <a:t># Column       Non-Null Count  </a:t>
            </a:r>
            <a:r>
              <a:rPr lang="en-US" dirty="0" err="1"/>
              <a:t>Dtype</a:t>
            </a:r>
            <a:endParaRPr lang="en-US" dirty="0"/>
          </a:p>
          <a:p>
            <a:pPr algn="just"/>
            <a:r>
              <a:rPr lang="en-US" dirty="0"/>
              <a:t>---  ------       --------------  -----</a:t>
            </a:r>
          </a:p>
          <a:p>
            <a:pPr algn="just"/>
            <a:r>
              <a:rPr lang="en-US" dirty="0"/>
              <a:t> 0   </a:t>
            </a:r>
            <a:r>
              <a:rPr lang="en-US" dirty="0" err="1"/>
              <a:t>League_A</a:t>
            </a:r>
            <a:r>
              <a:rPr lang="en-US" dirty="0"/>
              <a:t>     263 non-null    bool</a:t>
            </a:r>
          </a:p>
          <a:p>
            <a:pPr algn="just"/>
            <a:r>
              <a:rPr lang="en-US" dirty="0"/>
              <a:t> 1   </a:t>
            </a:r>
            <a:r>
              <a:rPr lang="en-US" dirty="0" err="1"/>
              <a:t>League_N</a:t>
            </a:r>
            <a:r>
              <a:rPr lang="en-US" dirty="0"/>
              <a:t>     263 non-null    bool</a:t>
            </a:r>
          </a:p>
          <a:p>
            <a:pPr algn="just"/>
            <a:r>
              <a:rPr lang="en-US" dirty="0"/>
              <a:t> 2   </a:t>
            </a:r>
            <a:r>
              <a:rPr lang="en-US" dirty="0" err="1"/>
              <a:t>Division_E</a:t>
            </a:r>
            <a:r>
              <a:rPr lang="en-US" dirty="0"/>
              <a:t>   263 non-null    bool</a:t>
            </a:r>
          </a:p>
          <a:p>
            <a:pPr algn="just"/>
            <a:r>
              <a:rPr lang="en-US" dirty="0"/>
              <a:t> 3   </a:t>
            </a:r>
            <a:r>
              <a:rPr lang="en-US" dirty="0" err="1"/>
              <a:t>Division_W</a:t>
            </a:r>
            <a:r>
              <a:rPr lang="en-US" dirty="0"/>
              <a:t>   263 non-null    bool</a:t>
            </a:r>
          </a:p>
          <a:p>
            <a:pPr algn="just"/>
            <a:r>
              <a:rPr lang="en-US" dirty="0"/>
              <a:t> 4   </a:t>
            </a:r>
            <a:r>
              <a:rPr lang="en-US" dirty="0" err="1"/>
              <a:t>NewLeague_A</a:t>
            </a:r>
            <a:r>
              <a:rPr lang="en-US" dirty="0"/>
              <a:t>  263 non-null    bool</a:t>
            </a:r>
          </a:p>
          <a:p>
            <a:pPr algn="just"/>
            <a:r>
              <a:rPr lang="en-US" dirty="0"/>
              <a:t> 5   </a:t>
            </a:r>
            <a:r>
              <a:rPr lang="en-US" dirty="0" err="1"/>
              <a:t>NewLeague_N</a:t>
            </a:r>
            <a:r>
              <a:rPr lang="en-US" dirty="0"/>
              <a:t>  263 non-null    bool</a:t>
            </a:r>
          </a:p>
        </p:txBody>
      </p:sp>
      <p:sp>
        <p:nvSpPr>
          <p:cNvPr id="5" name="Slide Number Placeholder 4">
            <a:extLst>
              <a:ext uri="{FF2B5EF4-FFF2-40B4-BE49-F238E27FC236}">
                <a16:creationId xmlns:a16="http://schemas.microsoft.com/office/drawing/2014/main" id="{6F763833-79D8-4513-8FC9-B80A97AFA92A}"/>
              </a:ext>
            </a:extLst>
          </p:cNvPr>
          <p:cNvSpPr>
            <a:spLocks noGrp="1"/>
          </p:cNvSpPr>
          <p:nvPr>
            <p:ph type="sldNum" sz="quarter" idx="12"/>
          </p:nvPr>
        </p:nvSpPr>
        <p:spPr/>
        <p:txBody>
          <a:bodyPr/>
          <a:lstStyle/>
          <a:p>
            <a:fld id="{6B97D948-30E8-43F7-AE10-F6E2D9F2BBB1}" type="slidenum">
              <a:rPr lang="en-US" smtClean="0"/>
              <a:t>846</a:t>
            </a:fld>
            <a:endParaRPr lang="en-US"/>
          </a:p>
        </p:txBody>
      </p:sp>
    </p:spTree>
    <p:extLst>
      <p:ext uri="{BB962C8B-B14F-4D97-AF65-F5344CB8AC3E}">
        <p14:creationId xmlns:p14="http://schemas.microsoft.com/office/powerpoint/2010/main" val="345710669"/>
      </p:ext>
    </p:extLst>
  </p:cSld>
  <p:clrMapOvr>
    <a:masterClrMapping/>
  </p:clrMapOvr>
</p:sld>
</file>

<file path=ppt/slides/slide8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DC016-E3C9-47D4-8AE9-6994A97878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1E272C-1C67-46EE-873B-2334C024239E}"/>
              </a:ext>
            </a:extLst>
          </p:cNvPr>
          <p:cNvSpPr>
            <a:spLocks noGrp="1"/>
          </p:cNvSpPr>
          <p:nvPr>
            <p:ph idx="1"/>
          </p:nvPr>
        </p:nvSpPr>
        <p:spPr/>
        <p:txBody>
          <a:bodyPr/>
          <a:lstStyle/>
          <a:p>
            <a:r>
              <a:rPr lang="en-US" dirty="0"/>
              <a:t> print(</a:t>
            </a:r>
            <a:r>
              <a:rPr lang="en-US" dirty="0" err="1"/>
              <a:t>dummies.head</a:t>
            </a:r>
            <a:r>
              <a:rPr lang="en-US" dirty="0"/>
              <a:t>())</a:t>
            </a:r>
          </a:p>
          <a:p>
            <a:r>
              <a:rPr lang="en-US" dirty="0"/>
              <a:t>   </a:t>
            </a:r>
            <a:r>
              <a:rPr lang="en-US" dirty="0" err="1"/>
              <a:t>League_A</a:t>
            </a:r>
            <a:r>
              <a:rPr lang="en-US" dirty="0"/>
              <a:t>  </a:t>
            </a:r>
            <a:r>
              <a:rPr lang="en-US" dirty="0" err="1"/>
              <a:t>League_N</a:t>
            </a:r>
            <a:r>
              <a:rPr lang="en-US" dirty="0"/>
              <a:t>  </a:t>
            </a:r>
            <a:r>
              <a:rPr lang="en-US" dirty="0" err="1"/>
              <a:t>Division_E</a:t>
            </a:r>
            <a:r>
              <a:rPr lang="en-US" dirty="0"/>
              <a:t>  </a:t>
            </a:r>
            <a:r>
              <a:rPr lang="en-US" dirty="0" err="1"/>
              <a:t>Division_W</a:t>
            </a:r>
            <a:r>
              <a:rPr lang="en-US" dirty="0"/>
              <a:t>  </a:t>
            </a:r>
            <a:r>
              <a:rPr lang="en-US" dirty="0" err="1"/>
              <a:t>NewLeague_A</a:t>
            </a:r>
            <a:r>
              <a:rPr lang="en-US" dirty="0"/>
              <a:t>  </a:t>
            </a:r>
            <a:r>
              <a:rPr lang="en-US" dirty="0" err="1"/>
              <a:t>NewLeague_N</a:t>
            </a:r>
            <a:endParaRPr lang="en-US" dirty="0"/>
          </a:p>
          <a:p>
            <a:r>
              <a:rPr lang="en-US" dirty="0"/>
              <a:t>1     False      True       False        True        False         True</a:t>
            </a:r>
          </a:p>
          <a:p>
            <a:r>
              <a:rPr lang="en-US" dirty="0"/>
              <a:t>2      True     False       </a:t>
            </a:r>
            <a:r>
              <a:rPr lang="en-US" dirty="0" err="1"/>
              <a:t>False</a:t>
            </a:r>
            <a:r>
              <a:rPr lang="en-US" dirty="0"/>
              <a:t>        True         </a:t>
            </a:r>
            <a:r>
              <a:rPr lang="en-US" dirty="0" err="1"/>
              <a:t>True</a:t>
            </a:r>
            <a:r>
              <a:rPr lang="en-US" dirty="0"/>
              <a:t>        False</a:t>
            </a:r>
          </a:p>
          <a:p>
            <a:r>
              <a:rPr lang="en-US" dirty="0"/>
              <a:t>3     False      True        </a:t>
            </a:r>
            <a:r>
              <a:rPr lang="en-US" dirty="0" err="1"/>
              <a:t>True</a:t>
            </a:r>
            <a:r>
              <a:rPr lang="en-US" dirty="0"/>
              <a:t>       False        </a:t>
            </a:r>
            <a:r>
              <a:rPr lang="en-US" dirty="0" err="1"/>
              <a:t>False</a:t>
            </a:r>
            <a:r>
              <a:rPr lang="en-US" dirty="0"/>
              <a:t>         True</a:t>
            </a:r>
          </a:p>
          <a:p>
            <a:r>
              <a:rPr lang="en-US" dirty="0"/>
              <a:t>4     False      True        </a:t>
            </a:r>
            <a:r>
              <a:rPr lang="en-US" dirty="0" err="1"/>
              <a:t>True</a:t>
            </a:r>
            <a:r>
              <a:rPr lang="en-US" dirty="0"/>
              <a:t>       False        </a:t>
            </a:r>
            <a:r>
              <a:rPr lang="en-US" dirty="0" err="1"/>
              <a:t>False</a:t>
            </a:r>
            <a:r>
              <a:rPr lang="en-US" dirty="0"/>
              <a:t>         True</a:t>
            </a:r>
          </a:p>
          <a:p>
            <a:r>
              <a:rPr lang="en-US" dirty="0"/>
              <a:t>5      True     False       </a:t>
            </a:r>
            <a:r>
              <a:rPr lang="en-US" dirty="0" err="1"/>
              <a:t>False</a:t>
            </a:r>
            <a:r>
              <a:rPr lang="en-US" dirty="0"/>
              <a:t>        True         </a:t>
            </a:r>
            <a:r>
              <a:rPr lang="en-US" dirty="0" err="1"/>
              <a:t>True</a:t>
            </a:r>
            <a:r>
              <a:rPr lang="en-US" dirty="0"/>
              <a:t>        False</a:t>
            </a:r>
          </a:p>
        </p:txBody>
      </p:sp>
      <p:sp>
        <p:nvSpPr>
          <p:cNvPr id="5" name="Slide Number Placeholder 4">
            <a:extLst>
              <a:ext uri="{FF2B5EF4-FFF2-40B4-BE49-F238E27FC236}">
                <a16:creationId xmlns:a16="http://schemas.microsoft.com/office/drawing/2014/main" id="{AECCD777-9FE6-48A9-9BFB-CF2DA548E4E0}"/>
              </a:ext>
            </a:extLst>
          </p:cNvPr>
          <p:cNvSpPr>
            <a:spLocks noGrp="1"/>
          </p:cNvSpPr>
          <p:nvPr>
            <p:ph type="sldNum" sz="quarter" idx="12"/>
          </p:nvPr>
        </p:nvSpPr>
        <p:spPr/>
        <p:txBody>
          <a:bodyPr/>
          <a:lstStyle/>
          <a:p>
            <a:fld id="{6B97D948-30E8-43F7-AE10-F6E2D9F2BBB1}" type="slidenum">
              <a:rPr lang="en-US" smtClean="0"/>
              <a:t>847</a:t>
            </a:fld>
            <a:endParaRPr lang="en-US"/>
          </a:p>
        </p:txBody>
      </p:sp>
    </p:spTree>
    <p:extLst>
      <p:ext uri="{BB962C8B-B14F-4D97-AF65-F5344CB8AC3E}">
        <p14:creationId xmlns:p14="http://schemas.microsoft.com/office/powerpoint/2010/main" val="53600263"/>
      </p:ext>
    </p:extLst>
  </p:cSld>
  <p:clrMapOvr>
    <a:masterClrMapping/>
  </p:clrMapOvr>
</p:sld>
</file>

<file path=ppt/slides/slide8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003267-5293-47D1-94C6-A6D6B225D81D}"/>
              </a:ext>
            </a:extLst>
          </p:cNvPr>
          <p:cNvSpPr>
            <a:spLocks noGrp="1"/>
          </p:cNvSpPr>
          <p:nvPr>
            <p:ph idx="1"/>
          </p:nvPr>
        </p:nvSpPr>
        <p:spPr>
          <a:xfrm>
            <a:off x="838200" y="548640"/>
            <a:ext cx="10515600" cy="5628323"/>
          </a:xfrm>
        </p:spPr>
        <p:txBody>
          <a:bodyPr/>
          <a:lstStyle/>
          <a:p>
            <a:r>
              <a:rPr lang="en-US" dirty="0"/>
              <a:t>Next, we create our label y:</a:t>
            </a:r>
          </a:p>
          <a:p>
            <a:r>
              <a:rPr lang="en-US" dirty="0">
                <a:solidFill>
                  <a:srgbClr val="FF0000"/>
                </a:solidFill>
              </a:rPr>
              <a:t>y = df['Salary’]</a:t>
            </a:r>
          </a:p>
          <a:p>
            <a:endParaRPr lang="en-US" dirty="0"/>
          </a:p>
          <a:p>
            <a:pPr algn="just"/>
            <a:r>
              <a:rPr lang="en-US" dirty="0"/>
              <a:t>To get our design matrix, X, we drop the column with the outcome variable (Salary), and categorical columns for which we already created dummy variables:</a:t>
            </a:r>
          </a:p>
          <a:p>
            <a:r>
              <a:rPr lang="en-US" dirty="0" err="1">
                <a:solidFill>
                  <a:srgbClr val="FF0000"/>
                </a:solidFill>
              </a:rPr>
              <a:t>X_numerical</a:t>
            </a:r>
            <a:r>
              <a:rPr lang="en-US" dirty="0">
                <a:solidFill>
                  <a:srgbClr val="FF0000"/>
                </a:solidFill>
              </a:rPr>
              <a:t> = </a:t>
            </a:r>
            <a:r>
              <a:rPr lang="en-US" dirty="0" err="1">
                <a:solidFill>
                  <a:srgbClr val="FF0000"/>
                </a:solidFill>
              </a:rPr>
              <a:t>df.drop</a:t>
            </a:r>
            <a:r>
              <a:rPr lang="en-US" dirty="0">
                <a:solidFill>
                  <a:srgbClr val="FF0000"/>
                </a:solidFill>
              </a:rPr>
              <a:t>(['Salary', 'League', 'Division', '</a:t>
            </a:r>
            <a:r>
              <a:rPr lang="en-US" dirty="0" err="1">
                <a:solidFill>
                  <a:srgbClr val="FF0000"/>
                </a:solidFill>
              </a:rPr>
              <a:t>NewLeague</a:t>
            </a:r>
            <a:r>
              <a:rPr lang="en-US" dirty="0">
                <a:solidFill>
                  <a:srgbClr val="FF0000"/>
                </a:solidFill>
              </a:rPr>
              <a:t>'], axis=1).</a:t>
            </a:r>
            <a:r>
              <a:rPr lang="en-US" dirty="0" err="1">
                <a:solidFill>
                  <a:srgbClr val="FF0000"/>
                </a:solidFill>
              </a:rPr>
              <a:t>astype</a:t>
            </a:r>
            <a:r>
              <a:rPr lang="en-US" dirty="0">
                <a:solidFill>
                  <a:srgbClr val="FF0000"/>
                </a:solidFill>
              </a:rPr>
              <a:t>('float64’)</a:t>
            </a:r>
          </a:p>
          <a:p>
            <a:pPr algn="just"/>
            <a:endParaRPr lang="en-US" dirty="0"/>
          </a:p>
          <a:p>
            <a:pPr algn="just"/>
            <a:endParaRPr lang="en-US" dirty="0"/>
          </a:p>
        </p:txBody>
      </p:sp>
      <p:sp>
        <p:nvSpPr>
          <p:cNvPr id="5" name="Slide Number Placeholder 4">
            <a:extLst>
              <a:ext uri="{FF2B5EF4-FFF2-40B4-BE49-F238E27FC236}">
                <a16:creationId xmlns:a16="http://schemas.microsoft.com/office/drawing/2014/main" id="{3A318053-6870-4E82-95F9-BD099CB43A77}"/>
              </a:ext>
            </a:extLst>
          </p:cNvPr>
          <p:cNvSpPr>
            <a:spLocks noGrp="1"/>
          </p:cNvSpPr>
          <p:nvPr>
            <p:ph type="sldNum" sz="quarter" idx="12"/>
          </p:nvPr>
        </p:nvSpPr>
        <p:spPr/>
        <p:txBody>
          <a:bodyPr/>
          <a:lstStyle/>
          <a:p>
            <a:fld id="{6B97D948-30E8-43F7-AE10-F6E2D9F2BBB1}" type="slidenum">
              <a:rPr lang="en-US" smtClean="0"/>
              <a:t>848</a:t>
            </a:fld>
            <a:endParaRPr lang="en-US"/>
          </a:p>
        </p:txBody>
      </p:sp>
    </p:spTree>
    <p:extLst>
      <p:ext uri="{BB962C8B-B14F-4D97-AF65-F5344CB8AC3E}">
        <p14:creationId xmlns:p14="http://schemas.microsoft.com/office/powerpoint/2010/main" val="1097417452"/>
      </p:ext>
    </p:extLst>
  </p:cSld>
  <p:clrMapOvr>
    <a:masterClrMapping/>
  </p:clrMapOvr>
</p:sld>
</file>

<file path=ppt/slides/slide8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19AF42-BD04-43B1-8EA2-77997847AD52}"/>
              </a:ext>
            </a:extLst>
          </p:cNvPr>
          <p:cNvSpPr>
            <a:spLocks noGrp="1"/>
          </p:cNvSpPr>
          <p:nvPr>
            <p:ph idx="1"/>
          </p:nvPr>
        </p:nvSpPr>
        <p:spPr>
          <a:xfrm>
            <a:off x="838200" y="502920"/>
            <a:ext cx="10515600" cy="5674043"/>
          </a:xfrm>
        </p:spPr>
        <p:txBody>
          <a:bodyPr>
            <a:normAutofit/>
          </a:bodyPr>
          <a:lstStyle/>
          <a:p>
            <a:r>
              <a:rPr lang="en-US" dirty="0"/>
              <a:t>Make a list of all numerical features (we need them later):</a:t>
            </a:r>
          </a:p>
          <a:p>
            <a:endParaRPr lang="en-US" dirty="0"/>
          </a:p>
          <a:p>
            <a:r>
              <a:rPr lang="en-US" dirty="0" err="1">
                <a:solidFill>
                  <a:srgbClr val="FF0000"/>
                </a:solidFill>
              </a:rPr>
              <a:t>list_numerical</a:t>
            </a:r>
            <a:r>
              <a:rPr lang="en-US" dirty="0">
                <a:solidFill>
                  <a:srgbClr val="FF0000"/>
                </a:solidFill>
              </a:rPr>
              <a:t> = </a:t>
            </a:r>
            <a:r>
              <a:rPr lang="en-US" dirty="0" err="1">
                <a:solidFill>
                  <a:srgbClr val="FF0000"/>
                </a:solidFill>
              </a:rPr>
              <a:t>X_numerical.columns</a:t>
            </a:r>
            <a:endParaRPr lang="en-US" dirty="0">
              <a:solidFill>
                <a:srgbClr val="FF0000"/>
              </a:solidFill>
            </a:endParaRPr>
          </a:p>
          <a:p>
            <a:r>
              <a:rPr lang="en-US" dirty="0" err="1">
                <a:solidFill>
                  <a:srgbClr val="FF0000"/>
                </a:solidFill>
              </a:rPr>
              <a:t>list_numerical</a:t>
            </a:r>
            <a:endParaRPr lang="en-US" dirty="0">
              <a:solidFill>
                <a:srgbClr val="FF0000"/>
              </a:solidFill>
            </a:endParaRPr>
          </a:p>
          <a:p>
            <a:r>
              <a:rPr lang="en-US" dirty="0"/>
              <a:t>    ...:</a:t>
            </a:r>
          </a:p>
          <a:p>
            <a:r>
              <a:rPr lang="en-US" dirty="0"/>
              <a:t>Out[69]:</a:t>
            </a:r>
          </a:p>
          <a:p>
            <a:r>
              <a:rPr lang="en-US" dirty="0"/>
              <a:t>Index(['</a:t>
            </a:r>
            <a:r>
              <a:rPr lang="en-US" dirty="0" err="1"/>
              <a:t>AtBat</a:t>
            </a:r>
            <a:r>
              <a:rPr lang="en-US" dirty="0"/>
              <a:t>', 'Hits', '</a:t>
            </a:r>
            <a:r>
              <a:rPr lang="en-US" dirty="0" err="1"/>
              <a:t>HmRun</a:t>
            </a:r>
            <a:r>
              <a:rPr lang="en-US" dirty="0"/>
              <a:t>', 'Runs', 'RBI', 'Walks', 'Years', '</a:t>
            </a:r>
            <a:r>
              <a:rPr lang="en-US" dirty="0" err="1"/>
              <a:t>CAtBat</a:t>
            </a:r>
            <a:r>
              <a:rPr lang="en-US" dirty="0"/>
              <a:t>',</a:t>
            </a:r>
          </a:p>
          <a:p>
            <a:r>
              <a:rPr lang="en-US" dirty="0"/>
              <a:t>       '</a:t>
            </a:r>
            <a:r>
              <a:rPr lang="en-US" dirty="0" err="1"/>
              <a:t>CHits</a:t>
            </a:r>
            <a:r>
              <a:rPr lang="en-US" dirty="0"/>
              <a:t>', '</a:t>
            </a:r>
            <a:r>
              <a:rPr lang="en-US" dirty="0" err="1"/>
              <a:t>CHmRun</a:t>
            </a:r>
            <a:r>
              <a:rPr lang="en-US" dirty="0"/>
              <a:t>', '</a:t>
            </a:r>
            <a:r>
              <a:rPr lang="en-US" dirty="0" err="1"/>
              <a:t>CRuns</a:t>
            </a:r>
            <a:r>
              <a:rPr lang="en-US" dirty="0"/>
              <a:t>', 'CRBI', '</a:t>
            </a:r>
            <a:r>
              <a:rPr lang="en-US" dirty="0" err="1"/>
              <a:t>CWalks</a:t>
            </a:r>
            <a:r>
              <a:rPr lang="en-US" dirty="0"/>
              <a:t>', '</a:t>
            </a:r>
            <a:r>
              <a:rPr lang="en-US" dirty="0" err="1"/>
              <a:t>PutOuts</a:t>
            </a:r>
            <a:r>
              <a:rPr lang="en-US" dirty="0"/>
              <a:t>', 'Assists',</a:t>
            </a:r>
          </a:p>
          <a:p>
            <a:r>
              <a:rPr lang="en-US" dirty="0"/>
              <a:t>       'Errors'],</a:t>
            </a:r>
          </a:p>
          <a:p>
            <a:r>
              <a:rPr lang="en-US" dirty="0"/>
              <a:t>      </a:t>
            </a:r>
            <a:r>
              <a:rPr lang="en-US" dirty="0" err="1"/>
              <a:t>dtype</a:t>
            </a:r>
            <a:r>
              <a:rPr lang="en-US" dirty="0"/>
              <a:t>='object')</a:t>
            </a:r>
          </a:p>
        </p:txBody>
      </p:sp>
      <p:sp>
        <p:nvSpPr>
          <p:cNvPr id="5" name="Slide Number Placeholder 4">
            <a:extLst>
              <a:ext uri="{FF2B5EF4-FFF2-40B4-BE49-F238E27FC236}">
                <a16:creationId xmlns:a16="http://schemas.microsoft.com/office/drawing/2014/main" id="{13474BCB-7C73-4B2F-A546-F8816FAC269F}"/>
              </a:ext>
            </a:extLst>
          </p:cNvPr>
          <p:cNvSpPr>
            <a:spLocks noGrp="1"/>
          </p:cNvSpPr>
          <p:nvPr>
            <p:ph type="sldNum" sz="quarter" idx="12"/>
          </p:nvPr>
        </p:nvSpPr>
        <p:spPr/>
        <p:txBody>
          <a:bodyPr/>
          <a:lstStyle/>
          <a:p>
            <a:fld id="{6B97D948-30E8-43F7-AE10-F6E2D9F2BBB1}" type="slidenum">
              <a:rPr lang="en-US" smtClean="0"/>
              <a:t>849</a:t>
            </a:fld>
            <a:endParaRPr lang="en-US"/>
          </a:p>
        </p:txBody>
      </p:sp>
    </p:spTree>
    <p:extLst>
      <p:ext uri="{BB962C8B-B14F-4D97-AF65-F5344CB8AC3E}">
        <p14:creationId xmlns:p14="http://schemas.microsoft.com/office/powerpoint/2010/main" val="219729167"/>
      </p:ext>
    </p:extLst>
  </p:cSld>
  <p:clrMapOvr>
    <a:masterClrMapping/>
  </p:clrMapOvr>
</p:sld>
</file>

<file path=ppt/slides/slide8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FDB87D-CA52-4196-985C-38D453A94641}"/>
              </a:ext>
            </a:extLst>
          </p:cNvPr>
          <p:cNvSpPr>
            <a:spLocks noGrp="1"/>
          </p:cNvSpPr>
          <p:nvPr>
            <p:ph idx="1"/>
          </p:nvPr>
        </p:nvSpPr>
        <p:spPr>
          <a:xfrm>
            <a:off x="838200" y="640080"/>
            <a:ext cx="10515600" cy="5536883"/>
          </a:xfrm>
        </p:spPr>
        <p:txBody>
          <a:bodyPr/>
          <a:lstStyle/>
          <a:p>
            <a:r>
              <a:rPr lang="en-US" dirty="0"/>
              <a:t># Create all features</a:t>
            </a:r>
          </a:p>
          <a:p>
            <a:r>
              <a:rPr lang="en-US" dirty="0">
                <a:solidFill>
                  <a:srgbClr val="FF0000"/>
                </a:solidFill>
              </a:rPr>
              <a:t>X = </a:t>
            </a:r>
            <a:r>
              <a:rPr lang="en-US" dirty="0" err="1">
                <a:solidFill>
                  <a:srgbClr val="FF0000"/>
                </a:solidFill>
              </a:rPr>
              <a:t>pd.concat</a:t>
            </a:r>
            <a:r>
              <a:rPr lang="en-US" dirty="0">
                <a:solidFill>
                  <a:srgbClr val="FF0000"/>
                </a:solidFill>
              </a:rPr>
              <a:t>([</a:t>
            </a:r>
            <a:r>
              <a:rPr lang="en-US" dirty="0" err="1">
                <a:solidFill>
                  <a:srgbClr val="FF0000"/>
                </a:solidFill>
              </a:rPr>
              <a:t>X_numerical</a:t>
            </a:r>
            <a:r>
              <a:rPr lang="en-US" dirty="0">
                <a:solidFill>
                  <a:srgbClr val="FF0000"/>
                </a:solidFill>
              </a:rPr>
              <a:t>, dummies[['</a:t>
            </a:r>
            <a:r>
              <a:rPr lang="en-US" dirty="0" err="1">
                <a:solidFill>
                  <a:srgbClr val="FF0000"/>
                </a:solidFill>
              </a:rPr>
              <a:t>League_N</a:t>
            </a:r>
            <a:r>
              <a:rPr lang="en-US" dirty="0">
                <a:solidFill>
                  <a:srgbClr val="FF0000"/>
                </a:solidFill>
              </a:rPr>
              <a:t>', '</a:t>
            </a:r>
            <a:r>
              <a:rPr lang="en-US" dirty="0" err="1">
                <a:solidFill>
                  <a:srgbClr val="FF0000"/>
                </a:solidFill>
              </a:rPr>
              <a:t>Division_W</a:t>
            </a:r>
            <a:r>
              <a:rPr lang="en-US" dirty="0">
                <a:solidFill>
                  <a:srgbClr val="FF0000"/>
                </a:solidFill>
              </a:rPr>
              <a:t>', '</a:t>
            </a:r>
            <a:r>
              <a:rPr lang="en-US" dirty="0" err="1">
                <a:solidFill>
                  <a:srgbClr val="FF0000"/>
                </a:solidFill>
              </a:rPr>
              <a:t>NewLeague_N</a:t>
            </a:r>
            <a:r>
              <a:rPr lang="en-US" dirty="0">
                <a:solidFill>
                  <a:srgbClr val="FF0000"/>
                </a:solidFill>
              </a:rPr>
              <a:t>']]], axis=1)</a:t>
            </a:r>
          </a:p>
          <a:p>
            <a:r>
              <a:rPr lang="en-US" dirty="0">
                <a:solidFill>
                  <a:srgbClr val="FF0000"/>
                </a:solidFill>
              </a:rPr>
              <a:t>X.info()</a:t>
            </a:r>
          </a:p>
        </p:txBody>
      </p:sp>
      <p:sp>
        <p:nvSpPr>
          <p:cNvPr id="5" name="Slide Number Placeholder 4">
            <a:extLst>
              <a:ext uri="{FF2B5EF4-FFF2-40B4-BE49-F238E27FC236}">
                <a16:creationId xmlns:a16="http://schemas.microsoft.com/office/drawing/2014/main" id="{F360C7C9-302B-41FF-A8EC-C5B3A9F461AE}"/>
              </a:ext>
            </a:extLst>
          </p:cNvPr>
          <p:cNvSpPr>
            <a:spLocks noGrp="1"/>
          </p:cNvSpPr>
          <p:nvPr>
            <p:ph type="sldNum" sz="quarter" idx="12"/>
          </p:nvPr>
        </p:nvSpPr>
        <p:spPr/>
        <p:txBody>
          <a:bodyPr/>
          <a:lstStyle/>
          <a:p>
            <a:fld id="{6B97D948-30E8-43F7-AE10-F6E2D9F2BBB1}" type="slidenum">
              <a:rPr lang="en-US" smtClean="0"/>
              <a:t>850</a:t>
            </a:fld>
            <a:endParaRPr lang="en-US"/>
          </a:p>
        </p:txBody>
      </p:sp>
    </p:spTree>
    <p:extLst>
      <p:ext uri="{BB962C8B-B14F-4D97-AF65-F5344CB8AC3E}">
        <p14:creationId xmlns:p14="http://schemas.microsoft.com/office/powerpoint/2010/main" val="2513444698"/>
      </p:ext>
    </p:extLst>
  </p:cSld>
  <p:clrMapOvr>
    <a:masterClrMapping/>
  </p:clrMapOvr>
</p:sld>
</file>

<file path=ppt/slides/slide8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FC0FF-3A0B-41F6-9BEC-4DCEF62CBBAD}"/>
              </a:ext>
            </a:extLst>
          </p:cNvPr>
          <p:cNvSpPr>
            <a:spLocks noGrp="1"/>
          </p:cNvSpPr>
          <p:nvPr>
            <p:ph type="title"/>
          </p:nvPr>
        </p:nvSpPr>
        <p:spPr>
          <a:xfrm>
            <a:off x="838200" y="365125"/>
            <a:ext cx="10515600" cy="732155"/>
          </a:xfrm>
        </p:spPr>
        <p:txBody>
          <a:bodyPr/>
          <a:lstStyle/>
          <a:p>
            <a:r>
              <a:rPr lang="en-US" dirty="0"/>
              <a:t>Split data</a:t>
            </a:r>
          </a:p>
        </p:txBody>
      </p:sp>
      <p:sp>
        <p:nvSpPr>
          <p:cNvPr id="3" name="Content Placeholder 2">
            <a:extLst>
              <a:ext uri="{FF2B5EF4-FFF2-40B4-BE49-F238E27FC236}">
                <a16:creationId xmlns:a16="http://schemas.microsoft.com/office/drawing/2014/main" id="{C1D532DD-7ACC-468A-8C05-F93B973F68F1}"/>
              </a:ext>
            </a:extLst>
          </p:cNvPr>
          <p:cNvSpPr>
            <a:spLocks noGrp="1"/>
          </p:cNvSpPr>
          <p:nvPr>
            <p:ph idx="1"/>
          </p:nvPr>
        </p:nvSpPr>
        <p:spPr>
          <a:xfrm>
            <a:off x="838200" y="1097280"/>
            <a:ext cx="10515600" cy="5079683"/>
          </a:xfrm>
        </p:spPr>
        <p:txBody>
          <a:bodyPr/>
          <a:lstStyle/>
          <a:p>
            <a:pPr algn="just"/>
            <a:r>
              <a:rPr lang="en-US" dirty="0"/>
              <a:t>Split the data set into train and test set with the first 70% of the data for training and the remaining 30% for testing.</a:t>
            </a:r>
          </a:p>
          <a:p>
            <a:pPr algn="just"/>
            <a:endParaRPr lang="en-US" dirty="0"/>
          </a:p>
          <a:p>
            <a:pPr algn="just"/>
            <a:r>
              <a:rPr lang="en-US" dirty="0"/>
              <a:t>from </a:t>
            </a:r>
            <a:r>
              <a:rPr lang="en-US" dirty="0" err="1"/>
              <a:t>sklearn.model_selection</a:t>
            </a:r>
            <a:r>
              <a:rPr lang="en-US" dirty="0"/>
              <a:t> import </a:t>
            </a:r>
            <a:r>
              <a:rPr lang="en-US" dirty="0" err="1"/>
              <a:t>train_test_split</a:t>
            </a:r>
            <a:endParaRPr lang="en-US" dirty="0"/>
          </a:p>
          <a:p>
            <a:pPr algn="just"/>
            <a:endParaRPr lang="en-US" dirty="0"/>
          </a:p>
          <a:p>
            <a:pPr algn="just"/>
            <a:r>
              <a:rPr lang="en-US" dirty="0" err="1"/>
              <a:t>X_train</a:t>
            </a:r>
            <a:r>
              <a:rPr lang="en-US" dirty="0"/>
              <a:t>, </a:t>
            </a:r>
            <a:r>
              <a:rPr lang="en-US" dirty="0" err="1"/>
              <a:t>X_test</a:t>
            </a:r>
            <a:r>
              <a:rPr lang="en-US" dirty="0"/>
              <a:t>, </a:t>
            </a:r>
            <a:r>
              <a:rPr lang="en-US" dirty="0" err="1"/>
              <a:t>y_train</a:t>
            </a:r>
            <a:r>
              <a:rPr lang="en-US" dirty="0"/>
              <a:t>, </a:t>
            </a:r>
            <a:r>
              <a:rPr lang="en-US" dirty="0" err="1"/>
              <a:t>y_test</a:t>
            </a:r>
            <a:r>
              <a:rPr lang="en-US" dirty="0"/>
              <a:t> = </a:t>
            </a:r>
            <a:r>
              <a:rPr lang="en-US" dirty="0" err="1"/>
              <a:t>train_test_split</a:t>
            </a:r>
            <a:r>
              <a:rPr lang="en-US" dirty="0"/>
              <a:t>(X, y, </a:t>
            </a:r>
            <a:r>
              <a:rPr lang="en-US" dirty="0" err="1"/>
              <a:t>test_size</a:t>
            </a:r>
            <a:r>
              <a:rPr lang="en-US" dirty="0"/>
              <a:t>=0.3, </a:t>
            </a:r>
            <a:r>
              <a:rPr lang="en-US" dirty="0" err="1"/>
              <a:t>random_state</a:t>
            </a:r>
            <a:r>
              <a:rPr lang="en-US" dirty="0"/>
              <a:t>=10)</a:t>
            </a:r>
          </a:p>
        </p:txBody>
      </p:sp>
      <p:sp>
        <p:nvSpPr>
          <p:cNvPr id="5" name="Slide Number Placeholder 4">
            <a:extLst>
              <a:ext uri="{FF2B5EF4-FFF2-40B4-BE49-F238E27FC236}">
                <a16:creationId xmlns:a16="http://schemas.microsoft.com/office/drawing/2014/main" id="{AF1EE8B5-E409-4AAC-BF22-6DA67918AD67}"/>
              </a:ext>
            </a:extLst>
          </p:cNvPr>
          <p:cNvSpPr>
            <a:spLocks noGrp="1"/>
          </p:cNvSpPr>
          <p:nvPr>
            <p:ph type="sldNum" sz="quarter" idx="12"/>
          </p:nvPr>
        </p:nvSpPr>
        <p:spPr/>
        <p:txBody>
          <a:bodyPr/>
          <a:lstStyle/>
          <a:p>
            <a:fld id="{6B97D948-30E8-43F7-AE10-F6E2D9F2BBB1}" type="slidenum">
              <a:rPr lang="en-US" smtClean="0"/>
              <a:t>851</a:t>
            </a:fld>
            <a:endParaRPr lang="en-US"/>
          </a:p>
        </p:txBody>
      </p:sp>
    </p:spTree>
    <p:extLst>
      <p:ext uri="{BB962C8B-B14F-4D97-AF65-F5344CB8AC3E}">
        <p14:creationId xmlns:p14="http://schemas.microsoft.com/office/powerpoint/2010/main" val="4154147034"/>
      </p:ext>
    </p:extLst>
  </p:cSld>
  <p:clrMapOvr>
    <a:masterClrMapping/>
  </p:clrMapOvr>
</p:sld>
</file>

<file path=ppt/slides/slide8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BCEC0E-5782-4C2E-A7C6-DAA090BF3DA6}"/>
              </a:ext>
            </a:extLst>
          </p:cNvPr>
          <p:cNvSpPr>
            <a:spLocks noGrp="1"/>
          </p:cNvSpPr>
          <p:nvPr>
            <p:ph idx="1"/>
          </p:nvPr>
        </p:nvSpPr>
        <p:spPr>
          <a:xfrm>
            <a:off x="838200" y="502920"/>
            <a:ext cx="10515600" cy="5674043"/>
          </a:xfrm>
        </p:spPr>
        <p:txBody>
          <a:bodyPr>
            <a:normAutofit fontScale="92500" lnSpcReduction="10000"/>
          </a:bodyPr>
          <a:lstStyle/>
          <a:p>
            <a:r>
              <a:rPr lang="en-US" dirty="0" err="1">
                <a:solidFill>
                  <a:srgbClr val="FF0000"/>
                </a:solidFill>
              </a:rPr>
              <a:t>X_train.head</a:t>
            </a:r>
            <a:r>
              <a:rPr lang="en-US" dirty="0">
                <a:solidFill>
                  <a:srgbClr val="FF0000"/>
                </a:solidFill>
              </a:rPr>
              <a:t>()</a:t>
            </a:r>
          </a:p>
          <a:p>
            <a:r>
              <a:rPr lang="en-US" dirty="0"/>
              <a:t>Out[73]:</a:t>
            </a:r>
          </a:p>
          <a:p>
            <a:r>
              <a:rPr lang="en-US" dirty="0"/>
              <a:t>     </a:t>
            </a:r>
            <a:r>
              <a:rPr lang="en-US" dirty="0" err="1"/>
              <a:t>AtBat</a:t>
            </a:r>
            <a:r>
              <a:rPr lang="en-US" dirty="0"/>
              <a:t>   Hits  </a:t>
            </a:r>
            <a:r>
              <a:rPr lang="en-US" dirty="0" err="1"/>
              <a:t>HmRun</a:t>
            </a:r>
            <a:r>
              <a:rPr lang="en-US" dirty="0"/>
              <a:t>  Runs   RBI  Walks  Years  ...  </a:t>
            </a:r>
            <a:r>
              <a:rPr lang="en-US" dirty="0" err="1"/>
              <a:t>CWalks</a:t>
            </a:r>
            <a:r>
              <a:rPr lang="en-US" dirty="0"/>
              <a:t>  </a:t>
            </a:r>
            <a:r>
              <a:rPr lang="en-US" dirty="0" err="1"/>
              <a:t>PutOuts</a:t>
            </a:r>
            <a:r>
              <a:rPr lang="en-US" dirty="0"/>
              <a:t>  Assists  Errors  </a:t>
            </a:r>
            <a:r>
              <a:rPr lang="en-US" dirty="0" err="1"/>
              <a:t>League_N</a:t>
            </a:r>
            <a:r>
              <a:rPr lang="en-US" dirty="0"/>
              <a:t>  </a:t>
            </a:r>
            <a:r>
              <a:rPr lang="en-US" dirty="0" err="1"/>
              <a:t>Division_W</a:t>
            </a:r>
            <a:r>
              <a:rPr lang="en-US" dirty="0"/>
              <a:t>  </a:t>
            </a:r>
            <a:r>
              <a:rPr lang="en-US" dirty="0" err="1"/>
              <a:t>NewLeague_N</a:t>
            </a:r>
            <a:endParaRPr lang="en-US" dirty="0"/>
          </a:p>
          <a:p>
            <a:r>
              <a:rPr lang="en-US" dirty="0"/>
              <a:t>260  496.0  119.0    8.0  57.0  33.0   21.0    7.0  ...   165.0    155.0    371.0    29.0      True        </a:t>
            </a:r>
            <a:r>
              <a:rPr lang="en-US" dirty="0" err="1"/>
              <a:t>True</a:t>
            </a:r>
            <a:r>
              <a:rPr lang="en-US" dirty="0"/>
              <a:t>         </a:t>
            </a:r>
            <a:r>
              <a:rPr lang="en-US" dirty="0" err="1"/>
              <a:t>True</a:t>
            </a:r>
            <a:endParaRPr lang="en-US" dirty="0"/>
          </a:p>
          <a:p>
            <a:r>
              <a:rPr lang="en-US" dirty="0"/>
              <a:t>92   317.0   78.0    7.0  35.0  35.0   32.0    1.0  ...    32.0     45.0    122.0    26.0     False       </a:t>
            </a:r>
            <a:r>
              <a:rPr lang="en-US" dirty="0" err="1"/>
              <a:t>False</a:t>
            </a:r>
            <a:r>
              <a:rPr lang="en-US" dirty="0"/>
              <a:t>        </a:t>
            </a:r>
            <a:r>
              <a:rPr lang="en-US" dirty="0" err="1"/>
              <a:t>False</a:t>
            </a:r>
            <a:endParaRPr lang="en-US" dirty="0"/>
          </a:p>
          <a:p>
            <a:r>
              <a:rPr lang="en-US" dirty="0"/>
              <a:t>137  343.0  103.0    6.0  48.0  36.0   40.0   15.0  ...   325.0    211.0     56.0    13.0     False       </a:t>
            </a:r>
            <a:r>
              <a:rPr lang="en-US" dirty="0" err="1"/>
              <a:t>False</a:t>
            </a:r>
            <a:r>
              <a:rPr lang="en-US" dirty="0"/>
              <a:t>        </a:t>
            </a:r>
            <a:r>
              <a:rPr lang="en-US" dirty="0" err="1"/>
              <a:t>False</a:t>
            </a:r>
            <a:endParaRPr lang="en-US" dirty="0"/>
          </a:p>
          <a:p>
            <a:r>
              <a:rPr lang="en-US" dirty="0"/>
              <a:t>90   314.0   83.0   13.0  39.0  46.0   16.0    5.0  ...    76.0    533.0     40.0     4.0     False        True        False</a:t>
            </a:r>
          </a:p>
          <a:p>
            <a:r>
              <a:rPr lang="en-US" dirty="0"/>
              <a:t>100  495.0  151.0   17.0  61.0  84.0   78.0   10.0  ...   709.0   1045.0     88.0    13.0     False</a:t>
            </a:r>
          </a:p>
        </p:txBody>
      </p:sp>
      <p:sp>
        <p:nvSpPr>
          <p:cNvPr id="5" name="Slide Number Placeholder 4">
            <a:extLst>
              <a:ext uri="{FF2B5EF4-FFF2-40B4-BE49-F238E27FC236}">
                <a16:creationId xmlns:a16="http://schemas.microsoft.com/office/drawing/2014/main" id="{F7A71550-FC7F-4037-837F-17A9EAF41E48}"/>
              </a:ext>
            </a:extLst>
          </p:cNvPr>
          <p:cNvSpPr>
            <a:spLocks noGrp="1"/>
          </p:cNvSpPr>
          <p:nvPr>
            <p:ph type="sldNum" sz="quarter" idx="12"/>
          </p:nvPr>
        </p:nvSpPr>
        <p:spPr/>
        <p:txBody>
          <a:bodyPr/>
          <a:lstStyle/>
          <a:p>
            <a:fld id="{6B97D948-30E8-43F7-AE10-F6E2D9F2BBB1}" type="slidenum">
              <a:rPr lang="en-US" smtClean="0"/>
              <a:t>852</a:t>
            </a:fld>
            <a:endParaRPr lang="en-US"/>
          </a:p>
        </p:txBody>
      </p:sp>
    </p:spTree>
    <p:extLst>
      <p:ext uri="{BB962C8B-B14F-4D97-AF65-F5344CB8AC3E}">
        <p14:creationId xmlns:p14="http://schemas.microsoft.com/office/powerpoint/2010/main" val="2257885708"/>
      </p:ext>
    </p:extLst>
  </p:cSld>
  <p:clrMapOvr>
    <a:masterClrMapping/>
  </p:clrMapOvr>
</p:sld>
</file>

<file path=ppt/slides/slide8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9677-B1A4-4375-89C9-E3746F348D17}"/>
              </a:ext>
            </a:extLst>
          </p:cNvPr>
          <p:cNvSpPr>
            <a:spLocks noGrp="1"/>
          </p:cNvSpPr>
          <p:nvPr>
            <p:ph type="title"/>
          </p:nvPr>
        </p:nvSpPr>
        <p:spPr>
          <a:xfrm>
            <a:off x="838200" y="365125"/>
            <a:ext cx="10515600" cy="701675"/>
          </a:xfrm>
        </p:spPr>
        <p:txBody>
          <a:bodyPr/>
          <a:lstStyle/>
          <a:p>
            <a:r>
              <a:rPr lang="en-US" b="1" dirty="0"/>
              <a:t>Standardization</a:t>
            </a:r>
            <a:endParaRPr lang="en-US" dirty="0"/>
          </a:p>
        </p:txBody>
      </p:sp>
      <p:sp>
        <p:nvSpPr>
          <p:cNvPr id="3" name="Content Placeholder 2">
            <a:extLst>
              <a:ext uri="{FF2B5EF4-FFF2-40B4-BE49-F238E27FC236}">
                <a16:creationId xmlns:a16="http://schemas.microsoft.com/office/drawing/2014/main" id="{B3CE00B7-ED6C-46DF-8D5A-734F6046F01F}"/>
              </a:ext>
            </a:extLst>
          </p:cNvPr>
          <p:cNvSpPr>
            <a:spLocks noGrp="1"/>
          </p:cNvSpPr>
          <p:nvPr>
            <p:ph idx="1"/>
          </p:nvPr>
        </p:nvSpPr>
        <p:spPr>
          <a:xfrm>
            <a:off x="838200" y="1066800"/>
            <a:ext cx="10515600" cy="5110163"/>
          </a:xfrm>
        </p:spPr>
        <p:txBody>
          <a:bodyPr/>
          <a:lstStyle/>
          <a:p>
            <a:r>
              <a:rPr lang="en-US" dirty="0">
                <a:solidFill>
                  <a:srgbClr val="FF0000"/>
                </a:solidFill>
              </a:rPr>
              <a:t>from </a:t>
            </a:r>
            <a:r>
              <a:rPr lang="en-US" dirty="0" err="1">
                <a:solidFill>
                  <a:srgbClr val="FF0000"/>
                </a:solidFill>
              </a:rPr>
              <a:t>sklearn.preprocessing</a:t>
            </a:r>
            <a:r>
              <a:rPr lang="en-US" dirty="0">
                <a:solidFill>
                  <a:srgbClr val="FF0000"/>
                </a:solidFill>
              </a:rPr>
              <a:t> import </a:t>
            </a:r>
            <a:r>
              <a:rPr lang="en-US" dirty="0" err="1">
                <a:solidFill>
                  <a:srgbClr val="FF0000"/>
                </a:solidFill>
              </a:rPr>
              <a:t>StandardScaler</a:t>
            </a:r>
            <a:endParaRPr lang="en-US" dirty="0">
              <a:solidFill>
                <a:srgbClr val="FF0000"/>
              </a:solidFill>
            </a:endParaRPr>
          </a:p>
          <a:p>
            <a:endParaRPr lang="en-US" dirty="0">
              <a:solidFill>
                <a:srgbClr val="FF0000"/>
              </a:solidFill>
            </a:endParaRPr>
          </a:p>
          <a:p>
            <a:r>
              <a:rPr lang="en-US" dirty="0">
                <a:solidFill>
                  <a:srgbClr val="FF0000"/>
                </a:solidFill>
              </a:rPr>
              <a:t>scaler = </a:t>
            </a:r>
            <a:r>
              <a:rPr lang="en-US" dirty="0" err="1">
                <a:solidFill>
                  <a:srgbClr val="FF0000"/>
                </a:solidFill>
              </a:rPr>
              <a:t>StandardScaler</a:t>
            </a:r>
            <a:r>
              <a:rPr lang="en-US" dirty="0">
                <a:solidFill>
                  <a:srgbClr val="FF0000"/>
                </a:solidFill>
              </a:rPr>
              <a:t>().fit(</a:t>
            </a:r>
            <a:r>
              <a:rPr lang="en-US" dirty="0" err="1">
                <a:solidFill>
                  <a:srgbClr val="FF0000"/>
                </a:solidFill>
              </a:rPr>
              <a:t>X_train</a:t>
            </a:r>
            <a:r>
              <a:rPr lang="en-US" dirty="0">
                <a:solidFill>
                  <a:srgbClr val="FF0000"/>
                </a:solidFill>
              </a:rPr>
              <a:t>[</a:t>
            </a:r>
            <a:r>
              <a:rPr lang="en-US" dirty="0" err="1">
                <a:solidFill>
                  <a:srgbClr val="FF0000"/>
                </a:solidFill>
              </a:rPr>
              <a:t>list_numerical</a:t>
            </a:r>
            <a:r>
              <a:rPr lang="en-US" dirty="0">
                <a:solidFill>
                  <a:srgbClr val="FF0000"/>
                </a:solidFill>
              </a:rPr>
              <a:t>]) </a:t>
            </a:r>
          </a:p>
          <a:p>
            <a:endParaRPr lang="en-US" dirty="0">
              <a:solidFill>
                <a:srgbClr val="FF0000"/>
              </a:solidFill>
            </a:endParaRPr>
          </a:p>
          <a:p>
            <a:r>
              <a:rPr lang="en-US" dirty="0" err="1">
                <a:solidFill>
                  <a:srgbClr val="FF0000"/>
                </a:solidFill>
              </a:rPr>
              <a:t>X_train</a:t>
            </a:r>
            <a:r>
              <a:rPr lang="en-US" dirty="0">
                <a:solidFill>
                  <a:srgbClr val="FF0000"/>
                </a:solidFill>
              </a:rPr>
              <a:t>[</a:t>
            </a:r>
            <a:r>
              <a:rPr lang="en-US" dirty="0" err="1">
                <a:solidFill>
                  <a:srgbClr val="FF0000"/>
                </a:solidFill>
              </a:rPr>
              <a:t>list_numerical</a:t>
            </a:r>
            <a:r>
              <a:rPr lang="en-US" dirty="0">
                <a:solidFill>
                  <a:srgbClr val="FF0000"/>
                </a:solidFill>
              </a:rPr>
              <a:t>] = </a:t>
            </a:r>
            <a:r>
              <a:rPr lang="en-US" dirty="0" err="1">
                <a:solidFill>
                  <a:srgbClr val="FF0000"/>
                </a:solidFill>
              </a:rPr>
              <a:t>scaler.transform</a:t>
            </a:r>
            <a:r>
              <a:rPr lang="en-US" dirty="0">
                <a:solidFill>
                  <a:srgbClr val="FF0000"/>
                </a:solidFill>
              </a:rPr>
              <a:t>(</a:t>
            </a:r>
            <a:r>
              <a:rPr lang="en-US" dirty="0" err="1">
                <a:solidFill>
                  <a:srgbClr val="FF0000"/>
                </a:solidFill>
              </a:rPr>
              <a:t>X_train</a:t>
            </a:r>
            <a:r>
              <a:rPr lang="en-US" dirty="0">
                <a:solidFill>
                  <a:srgbClr val="FF0000"/>
                </a:solidFill>
              </a:rPr>
              <a:t>[</a:t>
            </a:r>
            <a:r>
              <a:rPr lang="en-US" dirty="0" err="1">
                <a:solidFill>
                  <a:srgbClr val="FF0000"/>
                </a:solidFill>
              </a:rPr>
              <a:t>list_numerical</a:t>
            </a:r>
            <a:r>
              <a:rPr lang="en-US" dirty="0">
                <a:solidFill>
                  <a:srgbClr val="FF0000"/>
                </a:solidFill>
              </a:rPr>
              <a:t>])</a:t>
            </a:r>
          </a:p>
          <a:p>
            <a:endParaRPr lang="en-US" dirty="0">
              <a:solidFill>
                <a:srgbClr val="FF0000"/>
              </a:solidFill>
            </a:endParaRPr>
          </a:p>
          <a:p>
            <a:r>
              <a:rPr lang="en-US" dirty="0" err="1">
                <a:solidFill>
                  <a:srgbClr val="FF0000"/>
                </a:solidFill>
              </a:rPr>
              <a:t>X_test</a:t>
            </a:r>
            <a:r>
              <a:rPr lang="en-US" dirty="0">
                <a:solidFill>
                  <a:srgbClr val="FF0000"/>
                </a:solidFill>
              </a:rPr>
              <a:t>[</a:t>
            </a:r>
            <a:r>
              <a:rPr lang="en-US" dirty="0" err="1">
                <a:solidFill>
                  <a:srgbClr val="FF0000"/>
                </a:solidFill>
              </a:rPr>
              <a:t>list_numerical</a:t>
            </a:r>
            <a:r>
              <a:rPr lang="en-US" dirty="0">
                <a:solidFill>
                  <a:srgbClr val="FF0000"/>
                </a:solidFill>
              </a:rPr>
              <a:t>] = </a:t>
            </a:r>
            <a:r>
              <a:rPr lang="en-US" dirty="0" err="1">
                <a:solidFill>
                  <a:srgbClr val="FF0000"/>
                </a:solidFill>
              </a:rPr>
              <a:t>scaler.transform</a:t>
            </a:r>
            <a:r>
              <a:rPr lang="en-US" dirty="0">
                <a:solidFill>
                  <a:srgbClr val="FF0000"/>
                </a:solidFill>
              </a:rPr>
              <a:t>(</a:t>
            </a:r>
            <a:r>
              <a:rPr lang="en-US" dirty="0" err="1">
                <a:solidFill>
                  <a:srgbClr val="FF0000"/>
                </a:solidFill>
              </a:rPr>
              <a:t>X_test</a:t>
            </a:r>
            <a:r>
              <a:rPr lang="en-US" dirty="0">
                <a:solidFill>
                  <a:srgbClr val="FF0000"/>
                </a:solidFill>
              </a:rPr>
              <a:t>[</a:t>
            </a:r>
            <a:r>
              <a:rPr lang="en-US" dirty="0" err="1">
                <a:solidFill>
                  <a:srgbClr val="FF0000"/>
                </a:solidFill>
              </a:rPr>
              <a:t>list_numerical</a:t>
            </a:r>
            <a:r>
              <a:rPr lang="en-US" dirty="0">
                <a:solidFill>
                  <a:srgbClr val="FF0000"/>
                </a:solidFill>
              </a:rPr>
              <a:t>])</a:t>
            </a:r>
          </a:p>
          <a:p>
            <a:endParaRPr lang="en-US" dirty="0">
              <a:solidFill>
                <a:srgbClr val="FF0000"/>
              </a:solidFill>
            </a:endParaRPr>
          </a:p>
          <a:p>
            <a:r>
              <a:rPr lang="en-US" dirty="0" err="1">
                <a:solidFill>
                  <a:srgbClr val="FF0000"/>
                </a:solidFill>
              </a:rPr>
              <a:t>X_train</a:t>
            </a:r>
            <a:endParaRPr lang="en-US" dirty="0">
              <a:solidFill>
                <a:srgbClr val="FF0000"/>
              </a:solidFill>
            </a:endParaRPr>
          </a:p>
        </p:txBody>
      </p:sp>
      <p:sp>
        <p:nvSpPr>
          <p:cNvPr id="6" name="Slide Number Placeholder 5">
            <a:extLst>
              <a:ext uri="{FF2B5EF4-FFF2-40B4-BE49-F238E27FC236}">
                <a16:creationId xmlns:a16="http://schemas.microsoft.com/office/drawing/2014/main" id="{2445025C-3E53-46E5-B5AA-E9DCB3AFC605}"/>
              </a:ext>
            </a:extLst>
          </p:cNvPr>
          <p:cNvSpPr>
            <a:spLocks noGrp="1"/>
          </p:cNvSpPr>
          <p:nvPr>
            <p:ph type="sldNum" sz="quarter" idx="12"/>
          </p:nvPr>
        </p:nvSpPr>
        <p:spPr/>
        <p:txBody>
          <a:bodyPr/>
          <a:lstStyle/>
          <a:p>
            <a:fld id="{6B97D948-30E8-43F7-AE10-F6E2D9F2BBB1}" type="slidenum">
              <a:rPr lang="en-US" smtClean="0"/>
              <a:t>853</a:t>
            </a:fld>
            <a:endParaRPr lang="en-US"/>
          </a:p>
        </p:txBody>
      </p:sp>
    </p:spTree>
    <p:extLst>
      <p:ext uri="{BB962C8B-B14F-4D97-AF65-F5344CB8AC3E}">
        <p14:creationId xmlns:p14="http://schemas.microsoft.com/office/powerpoint/2010/main" val="1449977471"/>
      </p:ext>
    </p:extLst>
  </p:cSld>
  <p:clrMapOvr>
    <a:masterClrMapping/>
  </p:clrMapOvr>
</p:sld>
</file>

<file path=ppt/slides/slide8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2EF98-C3B7-4512-90BC-565D6CEC78B9}"/>
              </a:ext>
            </a:extLst>
          </p:cNvPr>
          <p:cNvSpPr>
            <a:spLocks noGrp="1"/>
          </p:cNvSpPr>
          <p:nvPr>
            <p:ph type="title"/>
          </p:nvPr>
        </p:nvSpPr>
        <p:spPr>
          <a:xfrm>
            <a:off x="838200" y="365125"/>
            <a:ext cx="10515600" cy="716915"/>
          </a:xfrm>
        </p:spPr>
        <p:txBody>
          <a:bodyPr/>
          <a:lstStyle/>
          <a:p>
            <a:r>
              <a:rPr lang="en-US" dirty="0"/>
              <a:t>Lasso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16B8B1-E0EA-4223-A080-7ABAFAFAC859}"/>
                  </a:ext>
                </a:extLst>
              </p:cNvPr>
              <p:cNvSpPr>
                <a:spLocks noGrp="1"/>
              </p:cNvSpPr>
              <p:nvPr>
                <p:ph idx="1"/>
              </p:nvPr>
            </p:nvSpPr>
            <p:spPr>
              <a:xfrm>
                <a:off x="838200" y="1082040"/>
                <a:ext cx="10515600" cy="5094923"/>
              </a:xfrm>
            </p:spPr>
            <p:txBody>
              <a:bodyPr/>
              <a:lstStyle/>
              <a:p>
                <a:pPr algn="just"/>
                <a:r>
                  <a:rPr lang="en-US" dirty="0"/>
                  <a:t>First, we apply lasso regression on the training set with an arbitrarily regularization parameter </a:t>
                </a:r>
                <a14:m>
                  <m:oMath xmlns:m="http://schemas.openxmlformats.org/officeDocument/2006/math">
                    <m:r>
                      <a:rPr lang="en-US" b="1" i="1" smtClean="0">
                        <a:latin typeface="Cambria Math" panose="02040503050406030204" pitchFamily="18" charset="0"/>
                        <a:ea typeface="Cambria Math" panose="02040503050406030204" pitchFamily="18" charset="0"/>
                      </a:rPr>
                      <m:t>𝜶</m:t>
                    </m:r>
                  </m:oMath>
                </a14:m>
                <a:r>
                  <a:rPr lang="en-US" dirty="0"/>
                  <a:t> of 1.</a:t>
                </a:r>
              </a:p>
              <a:p>
                <a:pPr algn="just"/>
                <a:endParaRPr lang="en-US" dirty="0"/>
              </a:p>
              <a:p>
                <a:pPr algn="just"/>
                <a:r>
                  <a:rPr lang="en-US" dirty="0">
                    <a:solidFill>
                      <a:srgbClr val="FF0000"/>
                    </a:solidFill>
                  </a:rPr>
                  <a:t>from </a:t>
                </a:r>
                <a:r>
                  <a:rPr lang="en-US" dirty="0" err="1">
                    <a:solidFill>
                      <a:srgbClr val="FF0000"/>
                    </a:solidFill>
                  </a:rPr>
                  <a:t>sklearn.linear_model</a:t>
                </a:r>
                <a:r>
                  <a:rPr lang="en-US" dirty="0">
                    <a:solidFill>
                      <a:srgbClr val="FF0000"/>
                    </a:solidFill>
                  </a:rPr>
                  <a:t> import Lasso</a:t>
                </a:r>
              </a:p>
              <a:p>
                <a:pPr algn="just"/>
                <a:endParaRPr lang="en-US" dirty="0">
                  <a:solidFill>
                    <a:srgbClr val="FF0000"/>
                  </a:solidFill>
                </a:endParaRPr>
              </a:p>
              <a:p>
                <a:pPr algn="just"/>
                <a:r>
                  <a:rPr lang="en-US" dirty="0">
                    <a:solidFill>
                      <a:srgbClr val="FF0000"/>
                    </a:solidFill>
                  </a:rPr>
                  <a:t>reg = Lasso(alpha=1)</a:t>
                </a:r>
              </a:p>
              <a:p>
                <a:pPr algn="just"/>
                <a:r>
                  <a:rPr lang="en-US" dirty="0" err="1">
                    <a:solidFill>
                      <a:srgbClr val="FF0000"/>
                    </a:solidFill>
                  </a:rPr>
                  <a:t>reg.fit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p:txBody>
          </p:sp>
        </mc:Choice>
        <mc:Fallback xmlns="">
          <p:sp>
            <p:nvSpPr>
              <p:cNvPr id="3" name="Content Placeholder 2">
                <a:extLst>
                  <a:ext uri="{FF2B5EF4-FFF2-40B4-BE49-F238E27FC236}">
                    <a16:creationId xmlns:a16="http://schemas.microsoft.com/office/drawing/2014/main" id="{A216B8B1-E0EA-4223-A080-7ABAFAFAC859}"/>
                  </a:ext>
                </a:extLst>
              </p:cNvPr>
              <p:cNvSpPr>
                <a:spLocks noGrp="1" noRot="1" noChangeAspect="1" noMove="1" noResize="1" noEditPoints="1" noAdjustHandles="1" noChangeArrowheads="1" noChangeShapeType="1" noTextEdit="1"/>
              </p:cNvSpPr>
              <p:nvPr>
                <p:ph idx="1"/>
              </p:nvPr>
            </p:nvSpPr>
            <p:spPr>
              <a:xfrm>
                <a:off x="838200" y="1082040"/>
                <a:ext cx="10515600" cy="5094923"/>
              </a:xfrm>
              <a:blipFill>
                <a:blip r:embed="rId2"/>
                <a:stretch>
                  <a:fillRect l="-1043" t="-2036"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3B06BD1-72EC-4D3D-8A8A-97F059E0C901}"/>
              </a:ext>
            </a:extLst>
          </p:cNvPr>
          <p:cNvSpPr>
            <a:spLocks noGrp="1"/>
          </p:cNvSpPr>
          <p:nvPr>
            <p:ph type="sldNum" sz="quarter" idx="12"/>
          </p:nvPr>
        </p:nvSpPr>
        <p:spPr/>
        <p:txBody>
          <a:bodyPr/>
          <a:lstStyle/>
          <a:p>
            <a:fld id="{6B97D948-30E8-43F7-AE10-F6E2D9F2BBB1}" type="slidenum">
              <a:rPr lang="en-US" smtClean="0"/>
              <a:t>854</a:t>
            </a:fld>
            <a:endParaRPr lang="en-US"/>
          </a:p>
        </p:txBody>
      </p:sp>
    </p:spTree>
    <p:extLst>
      <p:ext uri="{BB962C8B-B14F-4D97-AF65-F5344CB8AC3E}">
        <p14:creationId xmlns:p14="http://schemas.microsoft.com/office/powerpoint/2010/main" val="4057944711"/>
      </p:ext>
    </p:extLst>
  </p:cSld>
  <p:clrMapOvr>
    <a:masterClrMapping/>
  </p:clrMapOvr>
</p:sld>
</file>

<file path=ppt/slides/slide8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C1A81-F605-48A0-84FC-D56A7AB88410}"/>
              </a:ext>
            </a:extLst>
          </p:cNvPr>
          <p:cNvSpPr>
            <a:spLocks noGrp="1"/>
          </p:cNvSpPr>
          <p:nvPr>
            <p:ph type="title"/>
          </p:nvPr>
        </p:nvSpPr>
        <p:spPr>
          <a:xfrm>
            <a:off x="838200" y="365125"/>
            <a:ext cx="10515600" cy="793115"/>
          </a:xfrm>
        </p:spPr>
        <p:txBody>
          <a:bodyPr/>
          <a:lstStyle/>
          <a:p>
            <a:r>
              <a:rPr lang="en-US" dirty="0"/>
              <a:t>Model evaluation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60CF8D-F8D9-4FE4-8676-592835BD8A7E}"/>
                  </a:ext>
                </a:extLst>
              </p:cNvPr>
              <p:cNvSpPr>
                <a:spLocks noGrp="1"/>
              </p:cNvSpPr>
              <p:nvPr>
                <p:ph idx="1"/>
              </p:nvPr>
            </p:nvSpPr>
            <p:spPr>
              <a:xfrm>
                <a:off x="838200" y="1158240"/>
                <a:ext cx="10515600" cy="5018723"/>
              </a:xfrm>
            </p:spPr>
            <p:txBody>
              <a:bodyPr/>
              <a:lstStyle/>
              <a:p>
                <a:pPr algn="just"/>
                <a:r>
                  <a:rPr lang="en-US" dirty="0"/>
                  <a:t>We print the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dirty="0"/>
                  <a:t>-score for the training and test set.</a:t>
                </a:r>
              </a:p>
              <a:p>
                <a:pPr algn="just"/>
                <a:endParaRPr lang="en-US" dirty="0"/>
              </a:p>
              <a:p>
                <a:pPr algn="just"/>
                <a:r>
                  <a:rPr lang="en-US" dirty="0">
                    <a:solidFill>
                      <a:srgbClr val="FF0000"/>
                    </a:solidFill>
                  </a:rPr>
                  <a:t>print('R squared training set', round(</a:t>
                </a:r>
                <a:r>
                  <a:rPr lang="en-US" dirty="0" err="1">
                    <a:solidFill>
                      <a:srgbClr val="FF0000"/>
                    </a:solidFill>
                  </a:rPr>
                  <a:t>reg.score</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)*100, 2))</a:t>
                </a:r>
              </a:p>
              <a:p>
                <a:pPr algn="just"/>
                <a:r>
                  <a:rPr lang="en-US" dirty="0">
                    <a:solidFill>
                      <a:srgbClr val="FF0000"/>
                    </a:solidFill>
                  </a:rPr>
                  <a:t>print('R squared test set', round(</a:t>
                </a:r>
                <a:r>
                  <a:rPr lang="en-US" dirty="0" err="1">
                    <a:solidFill>
                      <a:srgbClr val="FF0000"/>
                    </a:solidFill>
                  </a:rPr>
                  <a:t>reg.score</a:t>
                </a:r>
                <a:r>
                  <a:rPr lang="en-US" dirty="0">
                    <a:solidFill>
                      <a:srgbClr val="FF0000"/>
                    </a:solidFill>
                  </a:rPr>
                  <a:t>(</a:t>
                </a:r>
                <a:r>
                  <a:rPr lang="en-US" dirty="0" err="1">
                    <a:solidFill>
                      <a:srgbClr val="FF0000"/>
                    </a:solidFill>
                  </a:rPr>
                  <a:t>X_test</a:t>
                </a:r>
                <a:r>
                  <a:rPr lang="en-US" dirty="0">
                    <a:solidFill>
                      <a:srgbClr val="FF0000"/>
                    </a:solidFill>
                  </a:rPr>
                  <a:t>, </a:t>
                </a:r>
                <a:r>
                  <a:rPr lang="en-US" dirty="0" err="1">
                    <a:solidFill>
                      <a:srgbClr val="FF0000"/>
                    </a:solidFill>
                  </a:rPr>
                  <a:t>y_test</a:t>
                </a:r>
                <a:r>
                  <a:rPr lang="en-US" dirty="0">
                    <a:solidFill>
                      <a:srgbClr val="FF0000"/>
                    </a:solidFill>
                  </a:rPr>
                  <a:t>)*100, 2))</a:t>
                </a:r>
              </a:p>
              <a:p>
                <a:pPr algn="just"/>
                <a:endParaRPr lang="en-US" dirty="0"/>
              </a:p>
              <a:p>
                <a:pPr algn="just"/>
                <a:r>
                  <a:rPr lang="en-US" dirty="0"/>
                  <a:t>R squared training set 60.43</a:t>
                </a:r>
              </a:p>
              <a:p>
                <a:pPr algn="just"/>
                <a:r>
                  <a:rPr lang="en-US" dirty="0"/>
                  <a:t>R squared test set 33.01</a:t>
                </a:r>
              </a:p>
            </p:txBody>
          </p:sp>
        </mc:Choice>
        <mc:Fallback xmlns="">
          <p:sp>
            <p:nvSpPr>
              <p:cNvPr id="3" name="Content Placeholder 2">
                <a:extLst>
                  <a:ext uri="{FF2B5EF4-FFF2-40B4-BE49-F238E27FC236}">
                    <a16:creationId xmlns:a16="http://schemas.microsoft.com/office/drawing/2014/main" id="{2660CF8D-F8D9-4FE4-8676-592835BD8A7E}"/>
                  </a:ext>
                </a:extLst>
              </p:cNvPr>
              <p:cNvSpPr>
                <a:spLocks noGrp="1" noRot="1" noChangeAspect="1" noMove="1" noResize="1" noEditPoints="1" noAdjustHandles="1" noChangeArrowheads="1" noChangeShapeType="1" noTextEdit="1"/>
              </p:cNvSpPr>
              <p:nvPr>
                <p:ph idx="1"/>
              </p:nvPr>
            </p:nvSpPr>
            <p:spPr>
              <a:xfrm>
                <a:off x="838200" y="1158240"/>
                <a:ext cx="10515600" cy="5018723"/>
              </a:xfrm>
              <a:blipFill>
                <a:blip r:embed="rId2"/>
                <a:stretch>
                  <a:fillRect l="-1043" t="-1944"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81C2E2A-404D-4F08-8760-F237A669DDE1}"/>
              </a:ext>
            </a:extLst>
          </p:cNvPr>
          <p:cNvSpPr>
            <a:spLocks noGrp="1"/>
          </p:cNvSpPr>
          <p:nvPr>
            <p:ph type="sldNum" sz="quarter" idx="12"/>
          </p:nvPr>
        </p:nvSpPr>
        <p:spPr/>
        <p:txBody>
          <a:bodyPr/>
          <a:lstStyle/>
          <a:p>
            <a:fld id="{6B97D948-30E8-43F7-AE10-F6E2D9F2BBB1}" type="slidenum">
              <a:rPr lang="en-US" smtClean="0"/>
              <a:t>855</a:t>
            </a:fld>
            <a:endParaRPr lang="en-US"/>
          </a:p>
        </p:txBody>
      </p:sp>
    </p:spTree>
    <p:extLst>
      <p:ext uri="{BB962C8B-B14F-4D97-AF65-F5344CB8AC3E}">
        <p14:creationId xmlns:p14="http://schemas.microsoft.com/office/powerpoint/2010/main" val="3054432998"/>
      </p:ext>
    </p:extLst>
  </p:cSld>
  <p:clrMapOvr>
    <a:masterClrMapping/>
  </p:clrMapOvr>
</p:sld>
</file>

<file path=ppt/slides/slide8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6C7DF-766E-46C0-A318-09A2B8C235DA}"/>
              </a:ext>
            </a:extLst>
          </p:cNvPr>
          <p:cNvSpPr>
            <a:spLocks noGrp="1"/>
          </p:cNvSpPr>
          <p:nvPr>
            <p:ph type="title"/>
          </p:nvPr>
        </p:nvSpPr>
        <p:spPr>
          <a:xfrm>
            <a:off x="838200" y="365125"/>
            <a:ext cx="10515600" cy="716915"/>
          </a:xfrm>
        </p:spPr>
        <p:txBody>
          <a:bodyPr/>
          <a:lstStyle/>
          <a:p>
            <a:r>
              <a:rPr lang="en-US" dirty="0"/>
              <a:t>MSE for the training and test set</a:t>
            </a:r>
          </a:p>
        </p:txBody>
      </p:sp>
      <p:sp>
        <p:nvSpPr>
          <p:cNvPr id="3" name="Content Placeholder 2">
            <a:extLst>
              <a:ext uri="{FF2B5EF4-FFF2-40B4-BE49-F238E27FC236}">
                <a16:creationId xmlns:a16="http://schemas.microsoft.com/office/drawing/2014/main" id="{046055EE-A190-4A97-803E-5C6977AC6FE4}"/>
              </a:ext>
            </a:extLst>
          </p:cNvPr>
          <p:cNvSpPr>
            <a:spLocks noGrp="1"/>
          </p:cNvSpPr>
          <p:nvPr>
            <p:ph idx="1"/>
          </p:nvPr>
        </p:nvSpPr>
        <p:spPr>
          <a:xfrm>
            <a:off x="838200" y="1082040"/>
            <a:ext cx="10515600" cy="5094923"/>
          </a:xfrm>
        </p:spPr>
        <p:txBody>
          <a:bodyPr>
            <a:normAutofit/>
          </a:bodyPr>
          <a:lstStyle/>
          <a:p>
            <a:r>
              <a:rPr lang="en-US" dirty="0"/>
              <a:t>from </a:t>
            </a:r>
            <a:r>
              <a:rPr lang="en-US" dirty="0" err="1"/>
              <a:t>sklearn.metrics</a:t>
            </a:r>
            <a:r>
              <a:rPr lang="en-US" dirty="0"/>
              <a:t> import </a:t>
            </a:r>
            <a:r>
              <a:rPr lang="en-US" dirty="0" err="1"/>
              <a:t>mean_squared_error</a:t>
            </a:r>
            <a:endParaRPr lang="en-US" dirty="0"/>
          </a:p>
          <a:p>
            <a:r>
              <a:rPr lang="en-US" dirty="0"/>
              <a:t># Training data</a:t>
            </a:r>
          </a:p>
          <a:p>
            <a:r>
              <a:rPr lang="en-US" dirty="0" err="1"/>
              <a:t>pred_train</a:t>
            </a:r>
            <a:r>
              <a:rPr lang="en-US" dirty="0"/>
              <a:t> = </a:t>
            </a:r>
            <a:r>
              <a:rPr lang="en-US" dirty="0" err="1"/>
              <a:t>reg.predict</a:t>
            </a:r>
            <a:r>
              <a:rPr lang="en-US" dirty="0"/>
              <a:t>(</a:t>
            </a:r>
            <a:r>
              <a:rPr lang="en-US" dirty="0" err="1"/>
              <a:t>X_train</a:t>
            </a:r>
            <a:r>
              <a:rPr lang="en-US" dirty="0"/>
              <a:t>)</a:t>
            </a:r>
          </a:p>
          <a:p>
            <a:r>
              <a:rPr lang="en-US" dirty="0" err="1"/>
              <a:t>mse_train</a:t>
            </a:r>
            <a:r>
              <a:rPr lang="en-US" dirty="0"/>
              <a:t> = </a:t>
            </a:r>
            <a:r>
              <a:rPr lang="en-US" dirty="0" err="1"/>
              <a:t>mean_squared_error</a:t>
            </a:r>
            <a:r>
              <a:rPr lang="en-US" dirty="0"/>
              <a:t>(</a:t>
            </a:r>
            <a:r>
              <a:rPr lang="en-US" dirty="0" err="1"/>
              <a:t>y_train</a:t>
            </a:r>
            <a:r>
              <a:rPr lang="en-US" dirty="0"/>
              <a:t>, </a:t>
            </a:r>
            <a:r>
              <a:rPr lang="en-US" dirty="0" err="1"/>
              <a:t>pred_train</a:t>
            </a:r>
            <a:r>
              <a:rPr lang="en-US" dirty="0"/>
              <a:t>)</a:t>
            </a:r>
          </a:p>
          <a:p>
            <a:r>
              <a:rPr lang="en-US" dirty="0"/>
              <a:t>print('MSE training set', round(</a:t>
            </a:r>
            <a:r>
              <a:rPr lang="en-US" dirty="0" err="1"/>
              <a:t>mse_train</a:t>
            </a:r>
            <a:r>
              <a:rPr lang="en-US" dirty="0"/>
              <a:t>, 2))</a:t>
            </a:r>
          </a:p>
          <a:p>
            <a:endParaRPr lang="en-US" dirty="0"/>
          </a:p>
          <a:p>
            <a:r>
              <a:rPr lang="en-US" dirty="0"/>
              <a:t># Test data</a:t>
            </a:r>
          </a:p>
          <a:p>
            <a:r>
              <a:rPr lang="en-US" dirty="0"/>
              <a:t>pred = </a:t>
            </a:r>
            <a:r>
              <a:rPr lang="en-US" dirty="0" err="1"/>
              <a:t>reg.predict</a:t>
            </a:r>
            <a:r>
              <a:rPr lang="en-US" dirty="0"/>
              <a:t>(</a:t>
            </a:r>
            <a:r>
              <a:rPr lang="en-US" dirty="0" err="1"/>
              <a:t>X_test</a:t>
            </a:r>
            <a:r>
              <a:rPr lang="en-US" dirty="0"/>
              <a:t>)</a:t>
            </a:r>
          </a:p>
          <a:p>
            <a:r>
              <a:rPr lang="en-US" dirty="0" err="1"/>
              <a:t>mse_test</a:t>
            </a:r>
            <a:r>
              <a:rPr lang="en-US" dirty="0"/>
              <a:t> =</a:t>
            </a:r>
            <a:r>
              <a:rPr lang="en-US" dirty="0" err="1"/>
              <a:t>mean_squared_error</a:t>
            </a:r>
            <a:r>
              <a:rPr lang="en-US" dirty="0"/>
              <a:t>(</a:t>
            </a:r>
            <a:r>
              <a:rPr lang="en-US" dirty="0" err="1"/>
              <a:t>y_test</a:t>
            </a:r>
            <a:r>
              <a:rPr lang="en-US" dirty="0"/>
              <a:t>, pred)</a:t>
            </a:r>
          </a:p>
          <a:p>
            <a:r>
              <a:rPr lang="en-US" dirty="0"/>
              <a:t>print('MSE test set', round(</a:t>
            </a:r>
            <a:r>
              <a:rPr lang="en-US" dirty="0" err="1"/>
              <a:t>mse_test</a:t>
            </a:r>
            <a:r>
              <a:rPr lang="en-US" dirty="0"/>
              <a:t>, 2))</a:t>
            </a:r>
          </a:p>
        </p:txBody>
      </p:sp>
      <p:sp>
        <p:nvSpPr>
          <p:cNvPr id="5" name="Slide Number Placeholder 4">
            <a:extLst>
              <a:ext uri="{FF2B5EF4-FFF2-40B4-BE49-F238E27FC236}">
                <a16:creationId xmlns:a16="http://schemas.microsoft.com/office/drawing/2014/main" id="{AA1B8DDB-668D-4CB4-AD60-D07793700402}"/>
              </a:ext>
            </a:extLst>
          </p:cNvPr>
          <p:cNvSpPr>
            <a:spLocks noGrp="1"/>
          </p:cNvSpPr>
          <p:nvPr>
            <p:ph type="sldNum" sz="quarter" idx="12"/>
          </p:nvPr>
        </p:nvSpPr>
        <p:spPr/>
        <p:txBody>
          <a:bodyPr/>
          <a:lstStyle/>
          <a:p>
            <a:fld id="{6B97D948-30E8-43F7-AE10-F6E2D9F2BBB1}" type="slidenum">
              <a:rPr lang="en-US" smtClean="0"/>
              <a:t>856</a:t>
            </a:fld>
            <a:endParaRPr lang="en-US"/>
          </a:p>
        </p:txBody>
      </p:sp>
    </p:spTree>
    <p:extLst>
      <p:ext uri="{BB962C8B-B14F-4D97-AF65-F5344CB8AC3E}">
        <p14:creationId xmlns:p14="http://schemas.microsoft.com/office/powerpoint/2010/main" val="4141954201"/>
      </p:ext>
    </p:extLst>
  </p:cSld>
  <p:clrMapOvr>
    <a:masterClrMapping/>
  </p:clrMapOvr>
</p:sld>
</file>

<file path=ppt/slides/slide8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F3982-752F-4864-AA38-FD8404BADA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B88156-043B-4224-8388-C761347F1FAC}"/>
              </a:ext>
            </a:extLst>
          </p:cNvPr>
          <p:cNvSpPr>
            <a:spLocks noGrp="1"/>
          </p:cNvSpPr>
          <p:nvPr>
            <p:ph idx="1"/>
          </p:nvPr>
        </p:nvSpPr>
        <p:spPr/>
        <p:txBody>
          <a:bodyPr/>
          <a:lstStyle/>
          <a:p>
            <a:r>
              <a:rPr lang="en-US" dirty="0"/>
              <a:t>MSE training set 80571.73</a:t>
            </a:r>
          </a:p>
          <a:p>
            <a:r>
              <a:rPr lang="en-US" dirty="0"/>
              <a:t>MSE test set 134426.33</a:t>
            </a:r>
          </a:p>
        </p:txBody>
      </p:sp>
      <p:sp>
        <p:nvSpPr>
          <p:cNvPr id="5" name="Slide Number Placeholder 4">
            <a:extLst>
              <a:ext uri="{FF2B5EF4-FFF2-40B4-BE49-F238E27FC236}">
                <a16:creationId xmlns:a16="http://schemas.microsoft.com/office/drawing/2014/main" id="{BC0F83BA-E3FE-4780-B1B8-B32596E7A28F}"/>
              </a:ext>
            </a:extLst>
          </p:cNvPr>
          <p:cNvSpPr>
            <a:spLocks noGrp="1"/>
          </p:cNvSpPr>
          <p:nvPr>
            <p:ph type="sldNum" sz="quarter" idx="12"/>
          </p:nvPr>
        </p:nvSpPr>
        <p:spPr/>
        <p:txBody>
          <a:bodyPr/>
          <a:lstStyle/>
          <a:p>
            <a:fld id="{6B97D948-30E8-43F7-AE10-F6E2D9F2BBB1}" type="slidenum">
              <a:rPr lang="en-US" smtClean="0"/>
              <a:t>857</a:t>
            </a:fld>
            <a:endParaRPr lang="en-US"/>
          </a:p>
        </p:txBody>
      </p:sp>
    </p:spTree>
    <p:extLst>
      <p:ext uri="{BB962C8B-B14F-4D97-AF65-F5344CB8AC3E}">
        <p14:creationId xmlns:p14="http://schemas.microsoft.com/office/powerpoint/2010/main" val="976240315"/>
      </p:ext>
    </p:extLst>
  </p:cSld>
  <p:clrMapOvr>
    <a:masterClrMapping/>
  </p:clrMapOvr>
</p:sld>
</file>

<file path=ppt/slides/slide8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83C5D-0C83-4354-A127-0B5F7344255D}"/>
              </a:ext>
            </a:extLst>
          </p:cNvPr>
          <p:cNvSpPr>
            <a:spLocks noGrp="1"/>
          </p:cNvSpPr>
          <p:nvPr>
            <p:ph type="title"/>
          </p:nvPr>
        </p:nvSpPr>
        <p:spPr>
          <a:xfrm>
            <a:off x="838200" y="365125"/>
            <a:ext cx="10515600" cy="716915"/>
          </a:xfrm>
        </p:spPr>
        <p:txBody>
          <a:bodyPr/>
          <a:lstStyle/>
          <a:p>
            <a:r>
              <a:rPr lang="en-US" b="1" dirty="0"/>
              <a:t>Role of alpha</a:t>
            </a:r>
            <a:endParaRPr lang="en-US" dirty="0"/>
          </a:p>
        </p:txBody>
      </p:sp>
      <p:sp>
        <p:nvSpPr>
          <p:cNvPr id="3" name="Content Placeholder 2">
            <a:extLst>
              <a:ext uri="{FF2B5EF4-FFF2-40B4-BE49-F238E27FC236}">
                <a16:creationId xmlns:a16="http://schemas.microsoft.com/office/drawing/2014/main" id="{73284B85-DE7A-4B56-A4ED-15891F9B4BD9}"/>
              </a:ext>
            </a:extLst>
          </p:cNvPr>
          <p:cNvSpPr>
            <a:spLocks noGrp="1"/>
          </p:cNvSpPr>
          <p:nvPr>
            <p:ph idx="1"/>
          </p:nvPr>
        </p:nvSpPr>
        <p:spPr>
          <a:xfrm>
            <a:off x="838200" y="1082040"/>
            <a:ext cx="10515600" cy="5094923"/>
          </a:xfrm>
        </p:spPr>
        <p:txBody>
          <a:bodyPr/>
          <a:lstStyle/>
          <a:p>
            <a:pPr algn="just"/>
            <a:r>
              <a:rPr lang="en-US" dirty="0"/>
              <a:t>To better understand the role of alpha, we plot the lasso coefficients as a function of alpha (</a:t>
            </a:r>
            <a:r>
              <a:rPr lang="en-US" dirty="0" err="1"/>
              <a:t>max_iter</a:t>
            </a:r>
            <a:r>
              <a:rPr lang="en-US" dirty="0"/>
              <a:t> are the maximum number of iterations):</a:t>
            </a:r>
          </a:p>
        </p:txBody>
      </p:sp>
      <p:sp>
        <p:nvSpPr>
          <p:cNvPr id="5" name="Slide Number Placeholder 4">
            <a:extLst>
              <a:ext uri="{FF2B5EF4-FFF2-40B4-BE49-F238E27FC236}">
                <a16:creationId xmlns:a16="http://schemas.microsoft.com/office/drawing/2014/main" id="{84A63726-4344-416C-9550-5D2048A23A7F}"/>
              </a:ext>
            </a:extLst>
          </p:cNvPr>
          <p:cNvSpPr>
            <a:spLocks noGrp="1"/>
          </p:cNvSpPr>
          <p:nvPr>
            <p:ph type="sldNum" sz="quarter" idx="12"/>
          </p:nvPr>
        </p:nvSpPr>
        <p:spPr/>
        <p:txBody>
          <a:bodyPr/>
          <a:lstStyle/>
          <a:p>
            <a:fld id="{6B97D948-30E8-43F7-AE10-F6E2D9F2BBB1}" type="slidenum">
              <a:rPr lang="en-US" smtClean="0"/>
              <a:t>858</a:t>
            </a:fld>
            <a:endParaRPr lang="en-US"/>
          </a:p>
        </p:txBody>
      </p:sp>
    </p:spTree>
    <p:extLst>
      <p:ext uri="{BB962C8B-B14F-4D97-AF65-F5344CB8AC3E}">
        <p14:creationId xmlns:p14="http://schemas.microsoft.com/office/powerpoint/2010/main" val="292019348"/>
      </p:ext>
    </p:extLst>
  </p:cSld>
  <p:clrMapOvr>
    <a:masterClrMapping/>
  </p:clrMapOvr>
</p:sld>
</file>

<file path=ppt/slides/slide8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3B5304-6F0B-43FD-84BE-7CB6B0D2C563}"/>
              </a:ext>
            </a:extLst>
          </p:cNvPr>
          <p:cNvSpPr>
            <a:spLocks noGrp="1"/>
          </p:cNvSpPr>
          <p:nvPr>
            <p:ph idx="1"/>
          </p:nvPr>
        </p:nvSpPr>
        <p:spPr>
          <a:xfrm>
            <a:off x="838200" y="365760"/>
            <a:ext cx="10515600" cy="5811203"/>
          </a:xfrm>
        </p:spPr>
        <p:txBody>
          <a:bodyPr>
            <a:normAutofit/>
          </a:bodyPr>
          <a:lstStyle/>
          <a:p>
            <a:r>
              <a:rPr lang="en-US" dirty="0">
                <a:solidFill>
                  <a:srgbClr val="FF0000"/>
                </a:solidFill>
              </a:rPr>
              <a:t>import </a:t>
            </a:r>
            <a:r>
              <a:rPr lang="en-US" dirty="0" err="1">
                <a:solidFill>
                  <a:srgbClr val="FF0000"/>
                </a:solidFill>
              </a:rPr>
              <a:t>numpy</a:t>
            </a:r>
            <a:r>
              <a:rPr lang="en-US" dirty="0">
                <a:solidFill>
                  <a:srgbClr val="FF0000"/>
                </a:solidFill>
              </a:rPr>
              <a:t> as np</a:t>
            </a:r>
          </a:p>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endParaRPr lang="en-US" dirty="0">
              <a:solidFill>
                <a:srgbClr val="FF0000"/>
              </a:solidFill>
            </a:endParaRPr>
          </a:p>
          <a:p>
            <a:r>
              <a:rPr lang="en-US" dirty="0">
                <a:solidFill>
                  <a:srgbClr val="FF0000"/>
                </a:solidFill>
              </a:rPr>
              <a:t>alphas = </a:t>
            </a:r>
            <a:r>
              <a:rPr lang="en-US" dirty="0" err="1">
                <a:solidFill>
                  <a:srgbClr val="FF0000"/>
                </a:solidFill>
              </a:rPr>
              <a:t>np.linspace</a:t>
            </a:r>
            <a:r>
              <a:rPr lang="en-US" dirty="0">
                <a:solidFill>
                  <a:srgbClr val="FF0000"/>
                </a:solidFill>
              </a:rPr>
              <a:t>(0.01,500,100)</a:t>
            </a:r>
          </a:p>
          <a:p>
            <a:r>
              <a:rPr lang="en-US" dirty="0">
                <a:solidFill>
                  <a:srgbClr val="FF0000"/>
                </a:solidFill>
              </a:rPr>
              <a:t>lasso = Lasso(</a:t>
            </a:r>
            <a:r>
              <a:rPr lang="en-US" dirty="0" err="1">
                <a:solidFill>
                  <a:srgbClr val="FF0000"/>
                </a:solidFill>
              </a:rPr>
              <a:t>max_iter</a:t>
            </a:r>
            <a:r>
              <a:rPr lang="en-US" dirty="0">
                <a:solidFill>
                  <a:srgbClr val="FF0000"/>
                </a:solidFill>
              </a:rPr>
              <a:t>=10000)</a:t>
            </a:r>
          </a:p>
          <a:p>
            <a:r>
              <a:rPr lang="en-US" dirty="0" err="1">
                <a:solidFill>
                  <a:srgbClr val="FF0000"/>
                </a:solidFill>
              </a:rPr>
              <a:t>coefs</a:t>
            </a:r>
            <a:r>
              <a:rPr lang="en-US" dirty="0">
                <a:solidFill>
                  <a:srgbClr val="FF0000"/>
                </a:solidFill>
              </a:rPr>
              <a:t> = []</a:t>
            </a:r>
          </a:p>
          <a:p>
            <a:endParaRPr lang="en-US" dirty="0">
              <a:solidFill>
                <a:srgbClr val="FF0000"/>
              </a:solidFill>
            </a:endParaRPr>
          </a:p>
          <a:p>
            <a:r>
              <a:rPr lang="en-US" dirty="0">
                <a:solidFill>
                  <a:srgbClr val="FF0000"/>
                </a:solidFill>
              </a:rPr>
              <a:t>for a in alphas:</a:t>
            </a:r>
          </a:p>
          <a:p>
            <a:r>
              <a:rPr lang="en-US" dirty="0">
                <a:solidFill>
                  <a:srgbClr val="FF0000"/>
                </a:solidFill>
              </a:rPr>
              <a:t>    </a:t>
            </a:r>
            <a:r>
              <a:rPr lang="en-US" dirty="0" err="1">
                <a:solidFill>
                  <a:srgbClr val="FF0000"/>
                </a:solidFill>
              </a:rPr>
              <a:t>lasso.set_params</a:t>
            </a:r>
            <a:r>
              <a:rPr lang="en-US" dirty="0">
                <a:solidFill>
                  <a:srgbClr val="FF0000"/>
                </a:solidFill>
              </a:rPr>
              <a:t>(alpha=a)</a:t>
            </a:r>
          </a:p>
          <a:p>
            <a:r>
              <a:rPr lang="en-US" dirty="0">
                <a:solidFill>
                  <a:srgbClr val="FF0000"/>
                </a:solidFill>
              </a:rPr>
              <a:t>    </a:t>
            </a:r>
            <a:r>
              <a:rPr lang="en-US" dirty="0" err="1">
                <a:solidFill>
                  <a:srgbClr val="FF0000"/>
                </a:solidFill>
              </a:rPr>
              <a:t>lasso.fit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r>
              <a:rPr lang="en-US" dirty="0">
                <a:solidFill>
                  <a:srgbClr val="FF0000"/>
                </a:solidFill>
              </a:rPr>
              <a:t>    </a:t>
            </a:r>
            <a:r>
              <a:rPr lang="en-US" dirty="0" err="1">
                <a:solidFill>
                  <a:srgbClr val="FF0000"/>
                </a:solidFill>
              </a:rPr>
              <a:t>coefs.append</a:t>
            </a:r>
            <a:r>
              <a:rPr lang="en-US" dirty="0">
                <a:solidFill>
                  <a:srgbClr val="FF0000"/>
                </a:solidFill>
              </a:rPr>
              <a:t>(</a:t>
            </a:r>
            <a:r>
              <a:rPr lang="en-US" dirty="0" err="1">
                <a:solidFill>
                  <a:srgbClr val="FF0000"/>
                </a:solidFill>
              </a:rPr>
              <a:t>lasso.coef</a:t>
            </a:r>
            <a:r>
              <a:rPr lang="en-US" dirty="0">
                <a:solidFill>
                  <a:srgbClr val="FF0000"/>
                </a:solidFill>
              </a:rPr>
              <a:t>_)</a:t>
            </a:r>
          </a:p>
          <a:p>
            <a:endParaRPr lang="en-US" dirty="0">
              <a:solidFill>
                <a:srgbClr val="FF0000"/>
              </a:solidFill>
            </a:endParaRPr>
          </a:p>
          <a:p>
            <a:endParaRPr lang="en-US" dirty="0"/>
          </a:p>
        </p:txBody>
      </p:sp>
      <p:sp>
        <p:nvSpPr>
          <p:cNvPr id="5" name="Slide Number Placeholder 4">
            <a:extLst>
              <a:ext uri="{FF2B5EF4-FFF2-40B4-BE49-F238E27FC236}">
                <a16:creationId xmlns:a16="http://schemas.microsoft.com/office/drawing/2014/main" id="{3C675270-07E5-43EE-84A5-9C8940D5CCF1}"/>
              </a:ext>
            </a:extLst>
          </p:cNvPr>
          <p:cNvSpPr>
            <a:spLocks noGrp="1"/>
          </p:cNvSpPr>
          <p:nvPr>
            <p:ph type="sldNum" sz="quarter" idx="12"/>
          </p:nvPr>
        </p:nvSpPr>
        <p:spPr/>
        <p:txBody>
          <a:bodyPr/>
          <a:lstStyle/>
          <a:p>
            <a:fld id="{6B97D948-30E8-43F7-AE10-F6E2D9F2BBB1}" type="slidenum">
              <a:rPr lang="en-US" smtClean="0"/>
              <a:t>859</a:t>
            </a:fld>
            <a:endParaRPr lang="en-US"/>
          </a:p>
        </p:txBody>
      </p:sp>
    </p:spTree>
    <p:extLst>
      <p:ext uri="{BB962C8B-B14F-4D97-AF65-F5344CB8AC3E}">
        <p14:creationId xmlns:p14="http://schemas.microsoft.com/office/powerpoint/2010/main" val="879733457"/>
      </p:ext>
    </p:extLst>
  </p:cSld>
  <p:clrMapOvr>
    <a:masterClrMapping/>
  </p:clrMapOvr>
</p:sld>
</file>

<file path=ppt/slides/slide8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A04BF1-FAD8-406E-B722-FC297EE96EE4}"/>
              </a:ext>
            </a:extLst>
          </p:cNvPr>
          <p:cNvSpPr>
            <a:spLocks noGrp="1"/>
          </p:cNvSpPr>
          <p:nvPr>
            <p:ph idx="1"/>
          </p:nvPr>
        </p:nvSpPr>
        <p:spPr>
          <a:xfrm>
            <a:off x="838200" y="502920"/>
            <a:ext cx="10515600" cy="5674043"/>
          </a:xfrm>
        </p:spPr>
        <p:txBody>
          <a:bodyPr/>
          <a:lstStyle/>
          <a:p>
            <a:r>
              <a:rPr lang="en-US" dirty="0">
                <a:solidFill>
                  <a:srgbClr val="FF0000"/>
                </a:solidFill>
              </a:rPr>
              <a:t>ax = </a:t>
            </a:r>
            <a:r>
              <a:rPr lang="en-US" dirty="0" err="1">
                <a:solidFill>
                  <a:srgbClr val="FF0000"/>
                </a:solidFill>
              </a:rPr>
              <a:t>plt.gca</a:t>
            </a:r>
            <a:r>
              <a:rPr lang="en-US" dirty="0">
                <a:solidFill>
                  <a:srgbClr val="FF0000"/>
                </a:solidFill>
              </a:rPr>
              <a:t>()</a:t>
            </a:r>
          </a:p>
          <a:p>
            <a:endParaRPr lang="en-US" dirty="0">
              <a:solidFill>
                <a:srgbClr val="FF0000"/>
              </a:solidFill>
            </a:endParaRPr>
          </a:p>
          <a:p>
            <a:r>
              <a:rPr lang="en-US" dirty="0" err="1">
                <a:solidFill>
                  <a:srgbClr val="FF0000"/>
                </a:solidFill>
              </a:rPr>
              <a:t>ax.plot</a:t>
            </a:r>
            <a:r>
              <a:rPr lang="en-US" dirty="0">
                <a:solidFill>
                  <a:srgbClr val="FF0000"/>
                </a:solidFill>
              </a:rPr>
              <a:t>(alphas, </a:t>
            </a:r>
            <a:r>
              <a:rPr lang="en-US" dirty="0" err="1">
                <a:solidFill>
                  <a:srgbClr val="FF0000"/>
                </a:solidFill>
              </a:rPr>
              <a:t>coefs</a:t>
            </a:r>
            <a:r>
              <a:rPr lang="en-US" dirty="0">
                <a:solidFill>
                  <a:srgbClr val="FF0000"/>
                </a:solidFill>
              </a:rPr>
              <a:t>)</a:t>
            </a:r>
          </a:p>
          <a:p>
            <a:r>
              <a:rPr lang="en-US" dirty="0" err="1">
                <a:solidFill>
                  <a:srgbClr val="FF0000"/>
                </a:solidFill>
              </a:rPr>
              <a:t>ax.set_xscale</a:t>
            </a:r>
            <a:r>
              <a:rPr lang="en-US" dirty="0">
                <a:solidFill>
                  <a:srgbClr val="FF0000"/>
                </a:solidFill>
              </a:rPr>
              <a:t>('log')</a:t>
            </a:r>
          </a:p>
          <a:p>
            <a:r>
              <a:rPr lang="en-US" dirty="0" err="1">
                <a:solidFill>
                  <a:srgbClr val="FF0000"/>
                </a:solidFill>
              </a:rPr>
              <a:t>plt.axis</a:t>
            </a:r>
            <a:r>
              <a:rPr lang="en-US" dirty="0">
                <a:solidFill>
                  <a:srgbClr val="FF0000"/>
                </a:solidFill>
              </a:rPr>
              <a:t>('tight')</a:t>
            </a:r>
          </a:p>
          <a:p>
            <a:r>
              <a:rPr lang="en-US" dirty="0" err="1">
                <a:solidFill>
                  <a:srgbClr val="FF0000"/>
                </a:solidFill>
              </a:rPr>
              <a:t>plt.xlabel</a:t>
            </a:r>
            <a:r>
              <a:rPr lang="en-US" dirty="0">
                <a:solidFill>
                  <a:srgbClr val="FF0000"/>
                </a:solidFill>
              </a:rPr>
              <a:t>('alpha')</a:t>
            </a:r>
          </a:p>
          <a:p>
            <a:r>
              <a:rPr lang="en-US" dirty="0" err="1">
                <a:solidFill>
                  <a:srgbClr val="FF0000"/>
                </a:solidFill>
              </a:rPr>
              <a:t>plt.ylabel</a:t>
            </a:r>
            <a:r>
              <a:rPr lang="en-US" dirty="0">
                <a:solidFill>
                  <a:srgbClr val="FF0000"/>
                </a:solidFill>
              </a:rPr>
              <a:t>('Standardized Coefficients')</a:t>
            </a:r>
          </a:p>
          <a:p>
            <a:r>
              <a:rPr lang="en-US" dirty="0" err="1">
                <a:solidFill>
                  <a:srgbClr val="FF0000"/>
                </a:solidFill>
              </a:rPr>
              <a:t>plt.title</a:t>
            </a:r>
            <a:r>
              <a:rPr lang="en-US" dirty="0">
                <a:solidFill>
                  <a:srgbClr val="FF0000"/>
                </a:solidFill>
              </a:rPr>
              <a:t>('Lasso coefficients as a function of alpha');</a:t>
            </a:r>
          </a:p>
        </p:txBody>
      </p:sp>
      <p:sp>
        <p:nvSpPr>
          <p:cNvPr id="5" name="Slide Number Placeholder 4">
            <a:extLst>
              <a:ext uri="{FF2B5EF4-FFF2-40B4-BE49-F238E27FC236}">
                <a16:creationId xmlns:a16="http://schemas.microsoft.com/office/drawing/2014/main" id="{D5FD4A4E-EB31-4C80-BD60-F53BFEB02EF1}"/>
              </a:ext>
            </a:extLst>
          </p:cNvPr>
          <p:cNvSpPr>
            <a:spLocks noGrp="1"/>
          </p:cNvSpPr>
          <p:nvPr>
            <p:ph type="sldNum" sz="quarter" idx="12"/>
          </p:nvPr>
        </p:nvSpPr>
        <p:spPr/>
        <p:txBody>
          <a:bodyPr/>
          <a:lstStyle/>
          <a:p>
            <a:fld id="{6B97D948-30E8-43F7-AE10-F6E2D9F2BBB1}" type="slidenum">
              <a:rPr lang="en-US" smtClean="0"/>
              <a:t>860</a:t>
            </a:fld>
            <a:endParaRPr lang="en-US"/>
          </a:p>
        </p:txBody>
      </p:sp>
    </p:spTree>
    <p:extLst>
      <p:ext uri="{BB962C8B-B14F-4D97-AF65-F5344CB8AC3E}">
        <p14:creationId xmlns:p14="http://schemas.microsoft.com/office/powerpoint/2010/main" val="2692576092"/>
      </p:ext>
    </p:extLst>
  </p:cSld>
  <p:clrMapOvr>
    <a:masterClrMapping/>
  </p:clrMapOvr>
</p:sld>
</file>

<file path=ppt/slides/slide8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D4DE00B-0868-48DA-B0F6-6284784909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4560" y="640874"/>
            <a:ext cx="7381452" cy="5536089"/>
          </a:xfrm>
        </p:spPr>
      </p:pic>
      <p:sp>
        <p:nvSpPr>
          <p:cNvPr id="7" name="Slide Number Placeholder 6">
            <a:extLst>
              <a:ext uri="{FF2B5EF4-FFF2-40B4-BE49-F238E27FC236}">
                <a16:creationId xmlns:a16="http://schemas.microsoft.com/office/drawing/2014/main" id="{8A0D5548-A730-464B-BA3F-B95FB5CB2D1A}"/>
              </a:ext>
            </a:extLst>
          </p:cNvPr>
          <p:cNvSpPr>
            <a:spLocks noGrp="1"/>
          </p:cNvSpPr>
          <p:nvPr>
            <p:ph type="sldNum" sz="quarter" idx="12"/>
          </p:nvPr>
        </p:nvSpPr>
        <p:spPr/>
        <p:txBody>
          <a:bodyPr/>
          <a:lstStyle/>
          <a:p>
            <a:fld id="{6B97D948-30E8-43F7-AE10-F6E2D9F2BBB1}" type="slidenum">
              <a:rPr lang="en-US" smtClean="0"/>
              <a:t>861</a:t>
            </a:fld>
            <a:endParaRPr lang="en-US"/>
          </a:p>
        </p:txBody>
      </p:sp>
    </p:spTree>
    <p:extLst>
      <p:ext uri="{BB962C8B-B14F-4D97-AF65-F5344CB8AC3E}">
        <p14:creationId xmlns:p14="http://schemas.microsoft.com/office/powerpoint/2010/main" val="983261893"/>
      </p:ext>
    </p:extLst>
  </p:cSld>
  <p:clrMapOvr>
    <a:masterClrMapping/>
  </p:clrMapOvr>
</p:sld>
</file>

<file path=ppt/slides/slide8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2B4CE1-3E63-4671-84CF-66616D077F40}"/>
                  </a:ext>
                </a:extLst>
              </p:cNvPr>
              <p:cNvSpPr>
                <a:spLocks noGrp="1"/>
              </p:cNvSpPr>
              <p:nvPr>
                <p:ph idx="1"/>
              </p:nvPr>
            </p:nvSpPr>
            <p:spPr>
              <a:xfrm>
                <a:off x="838200" y="533400"/>
                <a:ext cx="10515600" cy="5643563"/>
              </a:xfrm>
            </p:spPr>
            <p:txBody>
              <a:bodyPr/>
              <a:lstStyle/>
              <a:p>
                <a:pPr algn="just"/>
                <a:r>
                  <a:rPr lang="en-US" dirty="0"/>
                  <a:t>Remember that if </a:t>
                </a:r>
                <a14:m>
                  <m:oMath xmlns:m="http://schemas.openxmlformats.org/officeDocument/2006/math">
                    <m:r>
                      <a:rPr lang="en-US" b="1" i="1" smtClean="0">
                        <a:latin typeface="Cambria Math" panose="02040503050406030204" pitchFamily="18" charset="0"/>
                        <a:ea typeface="Cambria Math" panose="02040503050406030204" pitchFamily="18" charset="0"/>
                      </a:rPr>
                      <m:t>𝜶</m:t>
                    </m:r>
                  </m:oMath>
                </a14:m>
                <a:r>
                  <a:rPr lang="en-US" dirty="0"/>
                  <a:t> = 0, then the lasso gives the least squares fit, and when </a:t>
                </a:r>
                <a14:m>
                  <m:oMath xmlns:m="http://schemas.openxmlformats.org/officeDocument/2006/math">
                    <m:r>
                      <a:rPr lang="en-US" b="1" i="1">
                        <a:latin typeface="Cambria Math" panose="02040503050406030204" pitchFamily="18" charset="0"/>
                        <a:ea typeface="Cambria Math" panose="02040503050406030204" pitchFamily="18" charset="0"/>
                      </a:rPr>
                      <m:t>𝜶</m:t>
                    </m:r>
                    <m:r>
                      <a:rPr lang="en-US" b="1" i="1">
                        <a:latin typeface="Cambria Math" panose="02040503050406030204" pitchFamily="18" charset="0"/>
                        <a:ea typeface="Cambria Math" panose="02040503050406030204" pitchFamily="18" charset="0"/>
                      </a:rPr>
                      <m:t> </m:t>
                    </m:r>
                  </m:oMath>
                </a14:m>
                <a:r>
                  <a:rPr lang="en-US" dirty="0"/>
                  <a:t>becomes very large, the lasso gives the null model in which </a:t>
                </a:r>
                <a:r>
                  <a:rPr lang="en-US" dirty="0">
                    <a:solidFill>
                      <a:srgbClr val="FF0000"/>
                    </a:solidFill>
                  </a:rPr>
                  <a:t>all coefficient estimates equal zero</a:t>
                </a:r>
                <a:r>
                  <a:rPr lang="en-US" dirty="0"/>
                  <a:t>.</a:t>
                </a:r>
              </a:p>
              <a:p>
                <a:pPr algn="just"/>
                <a:endParaRPr lang="en-US" dirty="0"/>
              </a:p>
              <a:p>
                <a:pPr algn="just"/>
                <a:r>
                  <a:rPr lang="en-US" dirty="0"/>
                  <a:t>Moving from left to right in our plot, we observe that at first the lasso models contains many predictors with high magnitudes of coefficient estimates. With increasing </a:t>
                </a:r>
                <a14:m>
                  <m:oMath xmlns:m="http://schemas.openxmlformats.org/officeDocument/2006/math">
                    <m:r>
                      <a:rPr lang="en-US" b="1" i="1" smtClean="0">
                        <a:latin typeface="Cambria Math" panose="02040503050406030204" pitchFamily="18" charset="0"/>
                        <a:ea typeface="Cambria Math" panose="02040503050406030204" pitchFamily="18" charset="0"/>
                      </a:rPr>
                      <m:t>𝜶</m:t>
                    </m:r>
                  </m:oMath>
                </a14:m>
                <a:r>
                  <a:rPr lang="en-US" dirty="0"/>
                  <a:t>, the coefficient estimates approximate towards zero.</a:t>
                </a:r>
              </a:p>
            </p:txBody>
          </p:sp>
        </mc:Choice>
        <mc:Fallback xmlns="">
          <p:sp>
            <p:nvSpPr>
              <p:cNvPr id="3" name="Content Placeholder 2">
                <a:extLst>
                  <a:ext uri="{FF2B5EF4-FFF2-40B4-BE49-F238E27FC236}">
                    <a16:creationId xmlns:a16="http://schemas.microsoft.com/office/drawing/2014/main" id="{D62B4CE1-3E63-4671-84CF-66616D077F40}"/>
                  </a:ext>
                </a:extLst>
              </p:cNvPr>
              <p:cNvSpPr>
                <a:spLocks noGrp="1" noRot="1" noChangeAspect="1" noMove="1" noResize="1" noEditPoints="1" noAdjustHandles="1" noChangeArrowheads="1" noChangeShapeType="1" noTextEdit="1"/>
              </p:cNvSpPr>
              <p:nvPr>
                <p:ph idx="1"/>
              </p:nvPr>
            </p:nvSpPr>
            <p:spPr>
              <a:xfrm>
                <a:off x="838200" y="533400"/>
                <a:ext cx="10515600" cy="5643563"/>
              </a:xfrm>
              <a:blipFill>
                <a:blip r:embed="rId2"/>
                <a:stretch>
                  <a:fillRect l="-1043" t="-1838"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FB5DD5B-C433-4B32-B61E-07BF75F7D00B}"/>
              </a:ext>
            </a:extLst>
          </p:cNvPr>
          <p:cNvSpPr>
            <a:spLocks noGrp="1"/>
          </p:cNvSpPr>
          <p:nvPr>
            <p:ph type="sldNum" sz="quarter" idx="12"/>
          </p:nvPr>
        </p:nvSpPr>
        <p:spPr/>
        <p:txBody>
          <a:bodyPr/>
          <a:lstStyle/>
          <a:p>
            <a:fld id="{6B97D948-30E8-43F7-AE10-F6E2D9F2BBB1}" type="slidenum">
              <a:rPr lang="en-US" smtClean="0"/>
              <a:t>862</a:t>
            </a:fld>
            <a:endParaRPr lang="en-US"/>
          </a:p>
        </p:txBody>
      </p:sp>
    </p:spTree>
    <p:extLst>
      <p:ext uri="{BB962C8B-B14F-4D97-AF65-F5344CB8AC3E}">
        <p14:creationId xmlns:p14="http://schemas.microsoft.com/office/powerpoint/2010/main" val="1484255212"/>
      </p:ext>
    </p:extLst>
  </p:cSld>
  <p:clrMapOvr>
    <a:masterClrMapping/>
  </p:clrMapOvr>
</p:sld>
</file>

<file path=ppt/slides/slide8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A248EDF-0007-4904-AD4F-8F41F474F21B}"/>
                  </a:ext>
                </a:extLst>
              </p:cNvPr>
              <p:cNvSpPr>
                <a:spLocks noGrp="1"/>
              </p:cNvSpPr>
              <p:nvPr>
                <p:ph type="title"/>
              </p:nvPr>
            </p:nvSpPr>
            <p:spPr>
              <a:xfrm>
                <a:off x="838200" y="365125"/>
                <a:ext cx="10515600" cy="777875"/>
              </a:xfrm>
            </p:spPr>
            <p:txBody>
              <a:bodyPr/>
              <a:lstStyle/>
              <a:p>
                <a:r>
                  <a:rPr lang="en-US" dirty="0"/>
                  <a:t>Lasso with optimal </a:t>
                </a:r>
                <a14:m>
                  <m:oMath xmlns:m="http://schemas.openxmlformats.org/officeDocument/2006/math">
                    <m:r>
                      <a:rPr lang="en-US" b="1" i="1" smtClean="0">
                        <a:latin typeface="Cambria Math" panose="02040503050406030204" pitchFamily="18" charset="0"/>
                        <a:ea typeface="Cambria Math" panose="02040503050406030204" pitchFamily="18" charset="0"/>
                      </a:rPr>
                      <m:t>𝜶</m:t>
                    </m:r>
                    <m:r>
                      <a:rPr lang="en-US" b="1" i="1" smtClean="0">
                        <a:latin typeface="Cambria Math" panose="02040503050406030204" pitchFamily="18" charset="0"/>
                        <a:ea typeface="Cambria Math" panose="02040503050406030204" pitchFamily="18" charset="0"/>
                      </a:rPr>
                      <m:t> </m:t>
                    </m:r>
                  </m:oMath>
                </a14:m>
                <a:endParaRPr lang="en-US" dirty="0"/>
              </a:p>
            </p:txBody>
          </p:sp>
        </mc:Choice>
        <mc:Fallback xmlns="">
          <p:sp>
            <p:nvSpPr>
              <p:cNvPr id="2" name="Title 1">
                <a:extLst>
                  <a:ext uri="{FF2B5EF4-FFF2-40B4-BE49-F238E27FC236}">
                    <a16:creationId xmlns:a16="http://schemas.microsoft.com/office/drawing/2014/main" id="{CA248EDF-0007-4904-AD4F-8F41F474F21B}"/>
                  </a:ext>
                </a:extLst>
              </p:cNvPr>
              <p:cNvSpPr>
                <a:spLocks noGrp="1" noRot="1" noChangeAspect="1" noMove="1" noResize="1" noEditPoints="1" noAdjustHandles="1" noChangeArrowheads="1" noChangeShapeType="1" noTextEdit="1"/>
              </p:cNvSpPr>
              <p:nvPr>
                <p:ph type="title"/>
              </p:nvPr>
            </p:nvSpPr>
            <p:spPr>
              <a:xfrm>
                <a:off x="838200" y="365125"/>
                <a:ext cx="10515600" cy="777875"/>
              </a:xfrm>
              <a:blipFill>
                <a:blip r:embed="rId2"/>
                <a:stretch>
                  <a:fillRect l="-2377" t="-19531" b="-320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BB0FA4-2D03-4766-B09E-1CA41B715A59}"/>
                  </a:ext>
                </a:extLst>
              </p:cNvPr>
              <p:cNvSpPr>
                <a:spLocks noGrp="1"/>
              </p:cNvSpPr>
              <p:nvPr>
                <p:ph idx="1"/>
              </p:nvPr>
            </p:nvSpPr>
            <p:spPr>
              <a:xfrm>
                <a:off x="838200" y="1143000"/>
                <a:ext cx="10515600" cy="5033963"/>
              </a:xfrm>
            </p:spPr>
            <p:txBody>
              <a:bodyPr/>
              <a:lstStyle/>
              <a:p>
                <a:pPr algn="just"/>
                <a:r>
                  <a:rPr lang="en-US" dirty="0"/>
                  <a:t>To find the optimal value of </a:t>
                </a:r>
                <a14:m>
                  <m:oMath xmlns:m="http://schemas.openxmlformats.org/officeDocument/2006/math">
                    <m:r>
                      <a:rPr lang="en-US" b="1" i="1" smtClean="0">
                        <a:latin typeface="Cambria Math" panose="02040503050406030204" pitchFamily="18" charset="0"/>
                        <a:ea typeface="Cambria Math" panose="02040503050406030204" pitchFamily="18" charset="0"/>
                      </a:rPr>
                      <m:t>𝜶</m:t>
                    </m:r>
                  </m:oMath>
                </a14:m>
                <a:r>
                  <a:rPr lang="en-US" dirty="0"/>
                  <a:t>, we use scikit learns lasso linear model with iterative fitting along a regularization path (</a:t>
                </a:r>
                <a:r>
                  <a:rPr lang="en-US" dirty="0" err="1">
                    <a:hlinkClick r:id="rId3"/>
                  </a:rPr>
                  <a:t>LassoCV</a:t>
                </a:r>
                <a:r>
                  <a:rPr lang="en-US" dirty="0"/>
                  <a:t>). </a:t>
                </a:r>
              </a:p>
              <a:p>
                <a:pPr algn="just"/>
                <a:endParaRPr lang="en-US" dirty="0"/>
              </a:p>
              <a:p>
                <a:pPr algn="just"/>
                <a:r>
                  <a:rPr lang="en-US" dirty="0"/>
                  <a:t>The best model is selected by cross-validation.</a:t>
                </a:r>
              </a:p>
            </p:txBody>
          </p:sp>
        </mc:Choice>
        <mc:Fallback xmlns="">
          <p:sp>
            <p:nvSpPr>
              <p:cNvPr id="3" name="Content Placeholder 2">
                <a:extLst>
                  <a:ext uri="{FF2B5EF4-FFF2-40B4-BE49-F238E27FC236}">
                    <a16:creationId xmlns:a16="http://schemas.microsoft.com/office/drawing/2014/main" id="{E6BB0FA4-2D03-4766-B09E-1CA41B715A59}"/>
                  </a:ext>
                </a:extLst>
              </p:cNvPr>
              <p:cNvSpPr>
                <a:spLocks noGrp="1" noRot="1" noChangeAspect="1" noMove="1" noResize="1" noEditPoints="1" noAdjustHandles="1" noChangeArrowheads="1" noChangeShapeType="1" noTextEdit="1"/>
              </p:cNvSpPr>
              <p:nvPr>
                <p:ph idx="1"/>
              </p:nvPr>
            </p:nvSpPr>
            <p:spPr>
              <a:xfrm>
                <a:off x="838200" y="1143000"/>
                <a:ext cx="10515600" cy="5033963"/>
              </a:xfrm>
              <a:blipFill>
                <a:blip r:embed="rId4"/>
                <a:stretch>
                  <a:fillRect l="-1043" t="-2061"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A830AA2-628B-42FB-B88F-257A6F32544E}"/>
              </a:ext>
            </a:extLst>
          </p:cNvPr>
          <p:cNvSpPr>
            <a:spLocks noGrp="1"/>
          </p:cNvSpPr>
          <p:nvPr>
            <p:ph type="sldNum" sz="quarter" idx="12"/>
          </p:nvPr>
        </p:nvSpPr>
        <p:spPr/>
        <p:txBody>
          <a:bodyPr/>
          <a:lstStyle/>
          <a:p>
            <a:fld id="{6B97D948-30E8-43F7-AE10-F6E2D9F2BBB1}" type="slidenum">
              <a:rPr lang="en-US" smtClean="0"/>
              <a:t>863</a:t>
            </a:fld>
            <a:endParaRPr lang="en-US"/>
          </a:p>
        </p:txBody>
      </p:sp>
    </p:spTree>
    <p:extLst>
      <p:ext uri="{BB962C8B-B14F-4D97-AF65-F5344CB8AC3E}">
        <p14:creationId xmlns:p14="http://schemas.microsoft.com/office/powerpoint/2010/main" val="4112290559"/>
      </p:ext>
    </p:extLst>
  </p:cSld>
  <p:clrMapOvr>
    <a:masterClrMapping/>
  </p:clrMapOvr>
</p:sld>
</file>

<file path=ppt/slides/slide8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4B2F4-1667-4047-A6DA-16E76A8C3F34}"/>
              </a:ext>
            </a:extLst>
          </p:cNvPr>
          <p:cNvSpPr>
            <a:spLocks noGrp="1"/>
          </p:cNvSpPr>
          <p:nvPr>
            <p:ph type="title"/>
          </p:nvPr>
        </p:nvSpPr>
        <p:spPr>
          <a:xfrm>
            <a:off x="838200" y="365125"/>
            <a:ext cx="10515600" cy="686435"/>
          </a:xfrm>
        </p:spPr>
        <p:txBody>
          <a:bodyPr>
            <a:normAutofit fontScale="90000"/>
          </a:bodyPr>
          <a:lstStyle/>
          <a:p>
            <a:r>
              <a:rPr lang="en-US" dirty="0"/>
              <a:t>k-fold CV</a:t>
            </a:r>
          </a:p>
        </p:txBody>
      </p:sp>
      <p:sp>
        <p:nvSpPr>
          <p:cNvPr id="3" name="Content Placeholder 2">
            <a:extLst>
              <a:ext uri="{FF2B5EF4-FFF2-40B4-BE49-F238E27FC236}">
                <a16:creationId xmlns:a16="http://schemas.microsoft.com/office/drawing/2014/main" id="{F23AA3E2-E488-4605-ADEC-A46DB9283317}"/>
              </a:ext>
            </a:extLst>
          </p:cNvPr>
          <p:cNvSpPr>
            <a:spLocks noGrp="1"/>
          </p:cNvSpPr>
          <p:nvPr>
            <p:ph idx="1"/>
          </p:nvPr>
        </p:nvSpPr>
        <p:spPr>
          <a:xfrm>
            <a:off x="838200" y="1051560"/>
            <a:ext cx="10515600" cy="5125403"/>
          </a:xfrm>
        </p:spPr>
        <p:txBody>
          <a:bodyPr/>
          <a:lstStyle/>
          <a:p>
            <a:r>
              <a:rPr lang="en-US" dirty="0">
                <a:solidFill>
                  <a:srgbClr val="FF0000"/>
                </a:solidFill>
              </a:rPr>
              <a:t>from </a:t>
            </a:r>
            <a:r>
              <a:rPr lang="en-US" dirty="0" err="1">
                <a:solidFill>
                  <a:srgbClr val="FF0000"/>
                </a:solidFill>
              </a:rPr>
              <a:t>sklearn.linear_model</a:t>
            </a:r>
            <a:r>
              <a:rPr lang="en-US" dirty="0">
                <a:solidFill>
                  <a:srgbClr val="FF0000"/>
                </a:solidFill>
              </a:rPr>
              <a:t> import </a:t>
            </a:r>
            <a:r>
              <a:rPr lang="en-US" dirty="0" err="1">
                <a:solidFill>
                  <a:srgbClr val="FF0000"/>
                </a:solidFill>
              </a:rPr>
              <a:t>LassoCV</a:t>
            </a:r>
            <a:endParaRPr lang="en-US" dirty="0">
              <a:solidFill>
                <a:srgbClr val="FF0000"/>
              </a:solidFill>
            </a:endParaRPr>
          </a:p>
          <a:p>
            <a:endParaRPr lang="en-US" dirty="0"/>
          </a:p>
          <a:p>
            <a:r>
              <a:rPr lang="en-US" dirty="0"/>
              <a:t># Lasso with 5 fold cross-validation</a:t>
            </a:r>
          </a:p>
          <a:p>
            <a:r>
              <a:rPr lang="en-US" dirty="0">
                <a:solidFill>
                  <a:srgbClr val="FF0000"/>
                </a:solidFill>
              </a:rPr>
              <a:t>model = </a:t>
            </a:r>
            <a:r>
              <a:rPr lang="en-US" dirty="0" err="1">
                <a:solidFill>
                  <a:srgbClr val="FF0000"/>
                </a:solidFill>
              </a:rPr>
              <a:t>LassoCV</a:t>
            </a:r>
            <a:r>
              <a:rPr lang="en-US" dirty="0">
                <a:solidFill>
                  <a:srgbClr val="FF0000"/>
                </a:solidFill>
              </a:rPr>
              <a:t>(cv=5, </a:t>
            </a:r>
            <a:r>
              <a:rPr lang="en-US" dirty="0" err="1">
                <a:solidFill>
                  <a:srgbClr val="FF0000"/>
                </a:solidFill>
              </a:rPr>
              <a:t>random_state</a:t>
            </a:r>
            <a:r>
              <a:rPr lang="en-US" dirty="0">
                <a:solidFill>
                  <a:srgbClr val="FF0000"/>
                </a:solidFill>
              </a:rPr>
              <a:t>=0, </a:t>
            </a:r>
            <a:r>
              <a:rPr lang="en-US" dirty="0" err="1">
                <a:solidFill>
                  <a:srgbClr val="FF0000"/>
                </a:solidFill>
              </a:rPr>
              <a:t>max_iter</a:t>
            </a:r>
            <a:r>
              <a:rPr lang="en-US" dirty="0">
                <a:solidFill>
                  <a:srgbClr val="FF0000"/>
                </a:solidFill>
              </a:rPr>
              <a:t>=10000)</a:t>
            </a:r>
          </a:p>
          <a:p>
            <a:endParaRPr lang="en-US" dirty="0"/>
          </a:p>
          <a:p>
            <a:r>
              <a:rPr lang="en-US" dirty="0"/>
              <a:t># Fit model</a:t>
            </a:r>
          </a:p>
          <a:p>
            <a:r>
              <a:rPr lang="en-US" dirty="0" err="1">
                <a:solidFill>
                  <a:srgbClr val="FF0000"/>
                </a:solidFill>
              </a:rPr>
              <a:t>model.fit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p:txBody>
      </p:sp>
      <p:sp>
        <p:nvSpPr>
          <p:cNvPr id="5" name="Slide Number Placeholder 4">
            <a:extLst>
              <a:ext uri="{FF2B5EF4-FFF2-40B4-BE49-F238E27FC236}">
                <a16:creationId xmlns:a16="http://schemas.microsoft.com/office/drawing/2014/main" id="{2EBBAD7D-0EA5-448D-92E1-EE992956A4E5}"/>
              </a:ext>
            </a:extLst>
          </p:cNvPr>
          <p:cNvSpPr>
            <a:spLocks noGrp="1"/>
          </p:cNvSpPr>
          <p:nvPr>
            <p:ph type="sldNum" sz="quarter" idx="12"/>
          </p:nvPr>
        </p:nvSpPr>
        <p:spPr/>
        <p:txBody>
          <a:bodyPr/>
          <a:lstStyle/>
          <a:p>
            <a:fld id="{6B97D948-30E8-43F7-AE10-F6E2D9F2BBB1}" type="slidenum">
              <a:rPr lang="en-US" smtClean="0"/>
              <a:t>864</a:t>
            </a:fld>
            <a:endParaRPr lang="en-US"/>
          </a:p>
        </p:txBody>
      </p:sp>
    </p:spTree>
    <p:extLst>
      <p:ext uri="{BB962C8B-B14F-4D97-AF65-F5344CB8AC3E}">
        <p14:creationId xmlns:p14="http://schemas.microsoft.com/office/powerpoint/2010/main" val="4132648436"/>
      </p:ext>
    </p:extLst>
  </p:cSld>
  <p:clrMapOvr>
    <a:masterClrMapping/>
  </p:clrMapOvr>
</p:sld>
</file>

<file path=ppt/slides/slide8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D371DB-571B-425D-9886-1A48F62EDBF9}"/>
              </a:ext>
            </a:extLst>
          </p:cNvPr>
          <p:cNvSpPr>
            <a:spLocks noGrp="1"/>
          </p:cNvSpPr>
          <p:nvPr>
            <p:ph idx="1"/>
          </p:nvPr>
        </p:nvSpPr>
        <p:spPr>
          <a:xfrm>
            <a:off x="838200" y="944880"/>
            <a:ext cx="10515600" cy="5232083"/>
          </a:xfrm>
        </p:spPr>
        <p:txBody>
          <a:bodyPr/>
          <a:lstStyle/>
          <a:p>
            <a:r>
              <a:rPr lang="en-US" dirty="0"/>
              <a:t>Show best value of penalization chosen by cross validation:</a:t>
            </a:r>
          </a:p>
          <a:p>
            <a:endParaRPr lang="en-US" dirty="0"/>
          </a:p>
          <a:p>
            <a:r>
              <a:rPr lang="en-US" dirty="0" err="1">
                <a:solidFill>
                  <a:srgbClr val="FF0000"/>
                </a:solidFill>
              </a:rPr>
              <a:t>model.alpha</a:t>
            </a:r>
            <a:r>
              <a:rPr lang="en-US" dirty="0">
                <a:solidFill>
                  <a:srgbClr val="FF0000"/>
                </a:solidFill>
              </a:rPr>
              <a:t>_</a:t>
            </a:r>
          </a:p>
          <a:p>
            <a:endParaRPr lang="en-US" dirty="0"/>
          </a:p>
          <a:p>
            <a:r>
              <a:rPr lang="en-US" dirty="0"/>
              <a:t>2.3441244939374593</a:t>
            </a:r>
          </a:p>
        </p:txBody>
      </p:sp>
      <p:sp>
        <p:nvSpPr>
          <p:cNvPr id="5" name="Slide Number Placeholder 4">
            <a:extLst>
              <a:ext uri="{FF2B5EF4-FFF2-40B4-BE49-F238E27FC236}">
                <a16:creationId xmlns:a16="http://schemas.microsoft.com/office/drawing/2014/main" id="{E9385578-0E8D-4D92-9F57-A2C9EB44BA05}"/>
              </a:ext>
            </a:extLst>
          </p:cNvPr>
          <p:cNvSpPr>
            <a:spLocks noGrp="1"/>
          </p:cNvSpPr>
          <p:nvPr>
            <p:ph type="sldNum" sz="quarter" idx="12"/>
          </p:nvPr>
        </p:nvSpPr>
        <p:spPr/>
        <p:txBody>
          <a:bodyPr/>
          <a:lstStyle/>
          <a:p>
            <a:fld id="{6B97D948-30E8-43F7-AE10-F6E2D9F2BBB1}" type="slidenum">
              <a:rPr lang="en-US" smtClean="0"/>
              <a:t>865</a:t>
            </a:fld>
            <a:endParaRPr lang="en-US"/>
          </a:p>
        </p:txBody>
      </p:sp>
    </p:spTree>
    <p:extLst>
      <p:ext uri="{BB962C8B-B14F-4D97-AF65-F5344CB8AC3E}">
        <p14:creationId xmlns:p14="http://schemas.microsoft.com/office/powerpoint/2010/main" val="2231373509"/>
      </p:ext>
    </p:extLst>
  </p:cSld>
  <p:clrMapOvr>
    <a:masterClrMapping/>
  </p:clrMapOvr>
</p:sld>
</file>

<file path=ppt/slides/slide8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E6130-C733-4877-AC09-44836BB8E5B4}"/>
              </a:ext>
            </a:extLst>
          </p:cNvPr>
          <p:cNvSpPr>
            <a:spLocks noGrp="1"/>
          </p:cNvSpPr>
          <p:nvPr>
            <p:ph type="title"/>
          </p:nvPr>
        </p:nvSpPr>
        <p:spPr>
          <a:xfrm>
            <a:off x="838200" y="365125"/>
            <a:ext cx="10515600" cy="777875"/>
          </a:xfrm>
        </p:spPr>
        <p:txBody>
          <a:bodyPr/>
          <a:lstStyle/>
          <a:p>
            <a:r>
              <a:rPr lang="en-US" dirty="0"/>
              <a:t>Best model</a:t>
            </a:r>
          </a:p>
        </p:txBody>
      </p:sp>
      <p:sp>
        <p:nvSpPr>
          <p:cNvPr id="3" name="Content Placeholder 2">
            <a:extLst>
              <a:ext uri="{FF2B5EF4-FFF2-40B4-BE49-F238E27FC236}">
                <a16:creationId xmlns:a16="http://schemas.microsoft.com/office/drawing/2014/main" id="{D1335A99-932B-4B14-83C4-AA90D38DF151}"/>
              </a:ext>
            </a:extLst>
          </p:cNvPr>
          <p:cNvSpPr>
            <a:spLocks noGrp="1"/>
          </p:cNvSpPr>
          <p:nvPr>
            <p:ph idx="1"/>
          </p:nvPr>
        </p:nvSpPr>
        <p:spPr>
          <a:xfrm>
            <a:off x="838200" y="1143000"/>
            <a:ext cx="10515600" cy="5033963"/>
          </a:xfrm>
        </p:spPr>
        <p:txBody>
          <a:bodyPr>
            <a:normAutofit lnSpcReduction="10000"/>
          </a:bodyPr>
          <a:lstStyle/>
          <a:p>
            <a:r>
              <a:rPr lang="en-US" dirty="0"/>
              <a:t>Use best value for our final model:</a:t>
            </a:r>
          </a:p>
          <a:p>
            <a:endParaRPr lang="en-US" dirty="0"/>
          </a:p>
          <a:p>
            <a:r>
              <a:rPr lang="en-US" dirty="0"/>
              <a:t> # Set best alpha</a:t>
            </a:r>
          </a:p>
          <a:p>
            <a:r>
              <a:rPr lang="en-US" dirty="0" err="1">
                <a:solidFill>
                  <a:srgbClr val="FF0000"/>
                </a:solidFill>
              </a:rPr>
              <a:t>lasso_best</a:t>
            </a:r>
            <a:r>
              <a:rPr lang="en-US" dirty="0">
                <a:solidFill>
                  <a:srgbClr val="FF0000"/>
                </a:solidFill>
              </a:rPr>
              <a:t> = Lasso(alpha=</a:t>
            </a:r>
            <a:r>
              <a:rPr lang="en-US" dirty="0" err="1">
                <a:solidFill>
                  <a:srgbClr val="FF0000"/>
                </a:solidFill>
              </a:rPr>
              <a:t>model.alpha</a:t>
            </a:r>
            <a:r>
              <a:rPr lang="en-US" dirty="0">
                <a:solidFill>
                  <a:srgbClr val="FF0000"/>
                </a:solidFill>
              </a:rPr>
              <a:t>_)</a:t>
            </a:r>
          </a:p>
          <a:p>
            <a:r>
              <a:rPr lang="en-US" dirty="0" err="1">
                <a:solidFill>
                  <a:srgbClr val="FF0000"/>
                </a:solidFill>
              </a:rPr>
              <a:t>lasso_best.fit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r>
              <a:rPr lang="en-US" dirty="0"/>
              <a:t>Out[82]: Lasso(alpha=2.3441244939374593)</a:t>
            </a:r>
          </a:p>
          <a:p>
            <a:endParaRPr lang="en-US" dirty="0"/>
          </a:p>
          <a:p>
            <a:r>
              <a:rPr lang="en-US" dirty="0"/>
              <a:t>Show model coefficients and names:</a:t>
            </a:r>
          </a:p>
          <a:p>
            <a:endParaRPr lang="en-US" dirty="0"/>
          </a:p>
          <a:p>
            <a:r>
              <a:rPr lang="en-US" dirty="0">
                <a:solidFill>
                  <a:srgbClr val="FF0000"/>
                </a:solidFill>
              </a:rPr>
              <a:t>print(list(zip(</a:t>
            </a:r>
            <a:r>
              <a:rPr lang="en-US" dirty="0" err="1">
                <a:solidFill>
                  <a:srgbClr val="FF0000"/>
                </a:solidFill>
              </a:rPr>
              <a:t>lasso_best.coef</a:t>
            </a:r>
            <a:r>
              <a:rPr lang="en-US" dirty="0">
                <a:solidFill>
                  <a:srgbClr val="FF0000"/>
                </a:solidFill>
              </a:rPr>
              <a:t>_, X)))</a:t>
            </a:r>
          </a:p>
        </p:txBody>
      </p:sp>
      <p:sp>
        <p:nvSpPr>
          <p:cNvPr id="5" name="Slide Number Placeholder 4">
            <a:extLst>
              <a:ext uri="{FF2B5EF4-FFF2-40B4-BE49-F238E27FC236}">
                <a16:creationId xmlns:a16="http://schemas.microsoft.com/office/drawing/2014/main" id="{EA505D12-718D-48AD-85E2-8605AF44F37D}"/>
              </a:ext>
            </a:extLst>
          </p:cNvPr>
          <p:cNvSpPr>
            <a:spLocks noGrp="1"/>
          </p:cNvSpPr>
          <p:nvPr>
            <p:ph type="sldNum" sz="quarter" idx="12"/>
          </p:nvPr>
        </p:nvSpPr>
        <p:spPr/>
        <p:txBody>
          <a:bodyPr/>
          <a:lstStyle/>
          <a:p>
            <a:fld id="{6B97D948-30E8-43F7-AE10-F6E2D9F2BBB1}" type="slidenum">
              <a:rPr lang="en-US" smtClean="0"/>
              <a:t>866</a:t>
            </a:fld>
            <a:endParaRPr lang="en-US"/>
          </a:p>
        </p:txBody>
      </p:sp>
    </p:spTree>
    <p:extLst>
      <p:ext uri="{BB962C8B-B14F-4D97-AF65-F5344CB8AC3E}">
        <p14:creationId xmlns:p14="http://schemas.microsoft.com/office/powerpoint/2010/main" val="3503909448"/>
      </p:ext>
    </p:extLst>
  </p:cSld>
  <p:clrMapOvr>
    <a:masterClrMapping/>
  </p:clrMapOvr>
</p:sld>
</file>

<file path=ppt/slides/slide8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F7CB2-1C86-4E73-A288-82006D569BCA}"/>
              </a:ext>
            </a:extLst>
          </p:cNvPr>
          <p:cNvSpPr>
            <a:spLocks noGrp="1"/>
          </p:cNvSpPr>
          <p:nvPr>
            <p:ph type="title"/>
          </p:nvPr>
        </p:nvSpPr>
        <p:spPr>
          <a:xfrm>
            <a:off x="838200" y="365125"/>
            <a:ext cx="10515600" cy="747395"/>
          </a:xfrm>
        </p:spPr>
        <p:txBody>
          <a:bodyPr/>
          <a:lstStyle/>
          <a:p>
            <a:r>
              <a:rPr lang="en-US" b="1" dirty="0"/>
              <a:t>Model evaluation</a:t>
            </a:r>
            <a:endParaRPr lang="en-US" dirty="0"/>
          </a:p>
        </p:txBody>
      </p:sp>
      <p:sp>
        <p:nvSpPr>
          <p:cNvPr id="3" name="Content Placeholder 2">
            <a:extLst>
              <a:ext uri="{FF2B5EF4-FFF2-40B4-BE49-F238E27FC236}">
                <a16:creationId xmlns:a16="http://schemas.microsoft.com/office/drawing/2014/main" id="{7D2FC3C6-1780-4412-B4F0-FC670A52CC9D}"/>
              </a:ext>
            </a:extLst>
          </p:cNvPr>
          <p:cNvSpPr>
            <a:spLocks noGrp="1"/>
          </p:cNvSpPr>
          <p:nvPr>
            <p:ph idx="1"/>
          </p:nvPr>
        </p:nvSpPr>
        <p:spPr>
          <a:xfrm>
            <a:off x="838200" y="1112520"/>
            <a:ext cx="10515600" cy="5064443"/>
          </a:xfrm>
        </p:spPr>
        <p:txBody>
          <a:bodyPr/>
          <a:lstStyle/>
          <a:p>
            <a:r>
              <a:rPr lang="en-US" dirty="0">
                <a:solidFill>
                  <a:srgbClr val="FF0000"/>
                </a:solidFill>
              </a:rPr>
              <a:t>print('R squared training set', round(</a:t>
            </a:r>
            <a:r>
              <a:rPr lang="en-US" dirty="0" err="1">
                <a:solidFill>
                  <a:srgbClr val="FF0000"/>
                </a:solidFill>
              </a:rPr>
              <a:t>lasso_best.score</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)*100, 2))</a:t>
            </a:r>
          </a:p>
          <a:p>
            <a:r>
              <a:rPr lang="en-US" dirty="0">
                <a:solidFill>
                  <a:srgbClr val="FF0000"/>
                </a:solidFill>
              </a:rPr>
              <a:t>print('R squared test set', round(</a:t>
            </a:r>
            <a:r>
              <a:rPr lang="en-US" dirty="0" err="1">
                <a:solidFill>
                  <a:srgbClr val="FF0000"/>
                </a:solidFill>
              </a:rPr>
              <a:t>lasso_best.score</a:t>
            </a:r>
            <a:r>
              <a:rPr lang="en-US" dirty="0">
                <a:solidFill>
                  <a:srgbClr val="FF0000"/>
                </a:solidFill>
              </a:rPr>
              <a:t>(</a:t>
            </a:r>
            <a:r>
              <a:rPr lang="en-US" dirty="0" err="1">
                <a:solidFill>
                  <a:srgbClr val="FF0000"/>
                </a:solidFill>
              </a:rPr>
              <a:t>X_test</a:t>
            </a:r>
            <a:r>
              <a:rPr lang="en-US" dirty="0">
                <a:solidFill>
                  <a:srgbClr val="FF0000"/>
                </a:solidFill>
              </a:rPr>
              <a:t>, </a:t>
            </a:r>
            <a:r>
              <a:rPr lang="en-US" dirty="0" err="1">
                <a:solidFill>
                  <a:srgbClr val="FF0000"/>
                </a:solidFill>
              </a:rPr>
              <a:t>y_test</a:t>
            </a:r>
            <a:r>
              <a:rPr lang="en-US" dirty="0">
                <a:solidFill>
                  <a:srgbClr val="FF0000"/>
                </a:solidFill>
              </a:rPr>
              <a:t>)*100, 2))</a:t>
            </a:r>
          </a:p>
          <a:p>
            <a:endParaRPr lang="en-US" dirty="0">
              <a:solidFill>
                <a:srgbClr val="FF0000"/>
              </a:solidFill>
            </a:endParaRPr>
          </a:p>
          <a:p>
            <a:endParaRPr lang="en-US" dirty="0">
              <a:solidFill>
                <a:srgbClr val="FF0000"/>
              </a:solidFill>
            </a:endParaRPr>
          </a:p>
          <a:p>
            <a:r>
              <a:rPr lang="en-US" dirty="0" err="1">
                <a:solidFill>
                  <a:srgbClr val="FF0000"/>
                </a:solidFill>
              </a:rPr>
              <a:t>mean_squared_error</a:t>
            </a:r>
            <a:r>
              <a:rPr lang="en-US" dirty="0">
                <a:solidFill>
                  <a:srgbClr val="FF0000"/>
                </a:solidFill>
              </a:rPr>
              <a:t>(</a:t>
            </a:r>
            <a:r>
              <a:rPr lang="en-US" dirty="0" err="1">
                <a:solidFill>
                  <a:srgbClr val="FF0000"/>
                </a:solidFill>
              </a:rPr>
              <a:t>y_test</a:t>
            </a:r>
            <a:r>
              <a:rPr lang="en-US" dirty="0">
                <a:solidFill>
                  <a:srgbClr val="FF0000"/>
                </a:solidFill>
              </a:rPr>
              <a:t>, </a:t>
            </a:r>
            <a:r>
              <a:rPr lang="en-US" dirty="0" err="1">
                <a:solidFill>
                  <a:srgbClr val="FF0000"/>
                </a:solidFill>
              </a:rPr>
              <a:t>lasso_best.predict</a:t>
            </a:r>
            <a:r>
              <a:rPr lang="en-US" dirty="0">
                <a:solidFill>
                  <a:srgbClr val="FF0000"/>
                </a:solidFill>
              </a:rPr>
              <a:t>(</a:t>
            </a:r>
            <a:r>
              <a:rPr lang="en-US" dirty="0" err="1">
                <a:solidFill>
                  <a:srgbClr val="FF0000"/>
                </a:solidFill>
              </a:rPr>
              <a:t>X_test</a:t>
            </a:r>
            <a:r>
              <a:rPr lang="en-US" dirty="0">
                <a:solidFill>
                  <a:srgbClr val="FF0000"/>
                </a:solidFill>
              </a:rPr>
              <a:t>))</a:t>
            </a:r>
          </a:p>
          <a:p>
            <a:r>
              <a:rPr lang="en-US" dirty="0"/>
              <a:t>Out[84]: 129468.59746480997</a:t>
            </a:r>
          </a:p>
        </p:txBody>
      </p:sp>
      <p:sp>
        <p:nvSpPr>
          <p:cNvPr id="5" name="Slide Number Placeholder 4">
            <a:extLst>
              <a:ext uri="{FF2B5EF4-FFF2-40B4-BE49-F238E27FC236}">
                <a16:creationId xmlns:a16="http://schemas.microsoft.com/office/drawing/2014/main" id="{64180964-0146-409A-89F7-B15F7122F787}"/>
              </a:ext>
            </a:extLst>
          </p:cNvPr>
          <p:cNvSpPr>
            <a:spLocks noGrp="1"/>
          </p:cNvSpPr>
          <p:nvPr>
            <p:ph type="sldNum" sz="quarter" idx="12"/>
          </p:nvPr>
        </p:nvSpPr>
        <p:spPr/>
        <p:txBody>
          <a:bodyPr/>
          <a:lstStyle/>
          <a:p>
            <a:fld id="{6B97D948-30E8-43F7-AE10-F6E2D9F2BBB1}" type="slidenum">
              <a:rPr lang="en-US" smtClean="0"/>
              <a:t>867</a:t>
            </a:fld>
            <a:endParaRPr lang="en-US"/>
          </a:p>
        </p:txBody>
      </p:sp>
    </p:spTree>
    <p:extLst>
      <p:ext uri="{BB962C8B-B14F-4D97-AF65-F5344CB8AC3E}">
        <p14:creationId xmlns:p14="http://schemas.microsoft.com/office/powerpoint/2010/main" val="401096552"/>
      </p:ext>
    </p:extLst>
  </p:cSld>
  <p:clrMapOvr>
    <a:masterClrMapping/>
  </p:clrMapOvr>
</p:sld>
</file>

<file path=ppt/slides/slide8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15050D-3F57-405C-B4BD-6E82BFFDA148}"/>
              </a:ext>
            </a:extLst>
          </p:cNvPr>
          <p:cNvSpPr>
            <a:spLocks noGrp="1"/>
          </p:cNvSpPr>
          <p:nvPr>
            <p:ph idx="1"/>
          </p:nvPr>
        </p:nvSpPr>
        <p:spPr>
          <a:xfrm>
            <a:off x="838200" y="518160"/>
            <a:ext cx="10515600" cy="5658803"/>
          </a:xfrm>
        </p:spPr>
        <p:txBody>
          <a:bodyPr/>
          <a:lstStyle/>
          <a:p>
            <a:pPr algn="just"/>
            <a:r>
              <a:rPr lang="en-US" dirty="0"/>
              <a:t>Lasso path: plot results of cross-validation with mean squared errors (for more information about the plot visit the scikit-learn documentation)</a:t>
            </a:r>
          </a:p>
        </p:txBody>
      </p:sp>
      <p:sp>
        <p:nvSpPr>
          <p:cNvPr id="5" name="Slide Number Placeholder 4">
            <a:extLst>
              <a:ext uri="{FF2B5EF4-FFF2-40B4-BE49-F238E27FC236}">
                <a16:creationId xmlns:a16="http://schemas.microsoft.com/office/drawing/2014/main" id="{9201C972-3C19-4A52-9304-FC2D68230861}"/>
              </a:ext>
            </a:extLst>
          </p:cNvPr>
          <p:cNvSpPr>
            <a:spLocks noGrp="1"/>
          </p:cNvSpPr>
          <p:nvPr>
            <p:ph type="sldNum" sz="quarter" idx="12"/>
          </p:nvPr>
        </p:nvSpPr>
        <p:spPr/>
        <p:txBody>
          <a:bodyPr/>
          <a:lstStyle/>
          <a:p>
            <a:fld id="{6B97D948-30E8-43F7-AE10-F6E2D9F2BBB1}" type="slidenum">
              <a:rPr lang="en-US" smtClean="0"/>
              <a:t>868</a:t>
            </a:fld>
            <a:endParaRPr lang="en-US"/>
          </a:p>
        </p:txBody>
      </p:sp>
    </p:spTree>
    <p:extLst>
      <p:ext uri="{BB962C8B-B14F-4D97-AF65-F5344CB8AC3E}">
        <p14:creationId xmlns:p14="http://schemas.microsoft.com/office/powerpoint/2010/main" val="127070313"/>
      </p:ext>
    </p:extLst>
  </p:cSld>
  <p:clrMapOvr>
    <a:masterClrMapping/>
  </p:clrMapOvr>
</p:sld>
</file>

<file path=ppt/slides/slide8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E48FB1-CD07-4E62-83CC-93384FB1B253}"/>
              </a:ext>
            </a:extLst>
          </p:cNvPr>
          <p:cNvSpPr>
            <a:spLocks noGrp="1"/>
          </p:cNvSpPr>
          <p:nvPr>
            <p:ph idx="1"/>
          </p:nvPr>
        </p:nvSpPr>
        <p:spPr>
          <a:xfrm>
            <a:off x="838200" y="487680"/>
            <a:ext cx="10515600" cy="5689283"/>
          </a:xfrm>
        </p:spPr>
        <p:txBody>
          <a:bodyPr>
            <a:normAutofit fontScale="92500" lnSpcReduction="20000"/>
          </a:bodyPr>
          <a:lstStyle/>
          <a:p>
            <a:r>
              <a:rPr lang="en-US" dirty="0" err="1">
                <a:solidFill>
                  <a:srgbClr val="FF0000"/>
                </a:solidFill>
              </a:rPr>
              <a:t>plt.semilogx</a:t>
            </a:r>
            <a:r>
              <a:rPr lang="en-US" dirty="0">
                <a:solidFill>
                  <a:srgbClr val="FF0000"/>
                </a:solidFill>
              </a:rPr>
              <a:t>(</a:t>
            </a:r>
            <a:r>
              <a:rPr lang="en-US" dirty="0" err="1">
                <a:solidFill>
                  <a:srgbClr val="FF0000"/>
                </a:solidFill>
              </a:rPr>
              <a:t>model.alphas</a:t>
            </a:r>
            <a:r>
              <a:rPr lang="en-US" dirty="0">
                <a:solidFill>
                  <a:srgbClr val="FF0000"/>
                </a:solidFill>
              </a:rPr>
              <a:t>_, </a:t>
            </a:r>
            <a:r>
              <a:rPr lang="en-US" dirty="0" err="1">
                <a:solidFill>
                  <a:srgbClr val="FF0000"/>
                </a:solidFill>
              </a:rPr>
              <a:t>model.mse_path</a:t>
            </a:r>
            <a:r>
              <a:rPr lang="en-US" dirty="0">
                <a:solidFill>
                  <a:srgbClr val="FF0000"/>
                </a:solidFill>
              </a:rPr>
              <a:t>_, ":")</a:t>
            </a:r>
          </a:p>
          <a:p>
            <a:r>
              <a:rPr lang="en-US" dirty="0" err="1">
                <a:solidFill>
                  <a:srgbClr val="FF0000"/>
                </a:solidFill>
              </a:rPr>
              <a:t>plt.plot</a:t>
            </a:r>
            <a:r>
              <a:rPr lang="en-US" dirty="0">
                <a:solidFill>
                  <a:srgbClr val="FF0000"/>
                </a:solidFill>
              </a:rPr>
              <a:t>( </a:t>
            </a:r>
            <a:r>
              <a:rPr lang="en-US" dirty="0" err="1">
                <a:solidFill>
                  <a:srgbClr val="FF0000"/>
                </a:solidFill>
              </a:rPr>
              <a:t>model.alphas</a:t>
            </a:r>
            <a:r>
              <a:rPr lang="en-US" dirty="0">
                <a:solidFill>
                  <a:srgbClr val="FF0000"/>
                </a:solidFill>
              </a:rPr>
              <a:t>_ ,  </a:t>
            </a:r>
            <a:r>
              <a:rPr lang="en-US" dirty="0" err="1">
                <a:solidFill>
                  <a:srgbClr val="FF0000"/>
                </a:solidFill>
              </a:rPr>
              <a:t>model.mse_path_.mean</a:t>
            </a:r>
            <a:r>
              <a:rPr lang="en-US" dirty="0">
                <a:solidFill>
                  <a:srgbClr val="FF0000"/>
                </a:solidFill>
              </a:rPr>
              <a:t>(axis=-1), "k", label="Average across the folds", linewidth = 2 )</a:t>
            </a:r>
          </a:p>
          <a:p>
            <a:pPr algn="just"/>
            <a:r>
              <a:rPr lang="en-US" dirty="0" err="1">
                <a:solidFill>
                  <a:srgbClr val="FF0000"/>
                </a:solidFill>
              </a:rPr>
              <a:t>plt.axvline</a:t>
            </a:r>
            <a:r>
              <a:rPr lang="en-US" dirty="0">
                <a:solidFill>
                  <a:srgbClr val="FF0000"/>
                </a:solidFill>
              </a:rPr>
              <a:t>(</a:t>
            </a:r>
            <a:r>
              <a:rPr lang="en-US" dirty="0" err="1">
                <a:solidFill>
                  <a:srgbClr val="FF0000"/>
                </a:solidFill>
              </a:rPr>
              <a:t>model.alpha</a:t>
            </a:r>
            <a:r>
              <a:rPr lang="en-US" dirty="0">
                <a:solidFill>
                  <a:srgbClr val="FF0000"/>
                </a:solidFill>
              </a:rPr>
              <a:t>_, </a:t>
            </a:r>
            <a:r>
              <a:rPr lang="en-US" dirty="0" err="1">
                <a:solidFill>
                  <a:srgbClr val="FF0000"/>
                </a:solidFill>
              </a:rPr>
              <a:t>linestyle</a:t>
            </a:r>
            <a:r>
              <a:rPr lang="en-US" dirty="0">
                <a:solidFill>
                  <a:srgbClr val="FF0000"/>
                </a:solidFill>
              </a:rPr>
              <a:t>="--", color="k", label="alpha: CV estimate")</a:t>
            </a:r>
          </a:p>
          <a:p>
            <a:endParaRPr lang="en-US" dirty="0">
              <a:solidFill>
                <a:srgbClr val="FF0000"/>
              </a:solidFill>
            </a:endParaRPr>
          </a:p>
          <a:p>
            <a:r>
              <a:rPr lang="en-US" dirty="0" err="1">
                <a:solidFill>
                  <a:srgbClr val="FF0000"/>
                </a:solidFill>
              </a:rPr>
              <a:t>plt.legend</a:t>
            </a:r>
            <a:r>
              <a:rPr lang="en-US" dirty="0">
                <a:solidFill>
                  <a:srgbClr val="FF0000"/>
                </a:solidFill>
              </a:rPr>
              <a:t>()</a:t>
            </a:r>
          </a:p>
          <a:p>
            <a:r>
              <a:rPr lang="en-US" dirty="0" err="1">
                <a:solidFill>
                  <a:srgbClr val="FF0000"/>
                </a:solidFill>
              </a:rPr>
              <a:t>plt.xlabel</a:t>
            </a:r>
            <a:r>
              <a:rPr lang="en-US" dirty="0">
                <a:solidFill>
                  <a:srgbClr val="FF0000"/>
                </a:solidFill>
              </a:rPr>
              <a:t>("alphas")</a:t>
            </a:r>
          </a:p>
          <a:p>
            <a:r>
              <a:rPr lang="en-US" dirty="0" err="1">
                <a:solidFill>
                  <a:srgbClr val="FF0000"/>
                </a:solidFill>
              </a:rPr>
              <a:t>plt.ylabel</a:t>
            </a:r>
            <a:r>
              <a:rPr lang="en-US" dirty="0">
                <a:solidFill>
                  <a:srgbClr val="FF0000"/>
                </a:solidFill>
              </a:rPr>
              <a:t>("Mean square error")</a:t>
            </a:r>
          </a:p>
          <a:p>
            <a:r>
              <a:rPr lang="en-US" dirty="0" err="1">
                <a:solidFill>
                  <a:srgbClr val="FF0000"/>
                </a:solidFill>
              </a:rPr>
              <a:t>plt.title</a:t>
            </a:r>
            <a:r>
              <a:rPr lang="en-US" dirty="0">
                <a:solidFill>
                  <a:srgbClr val="FF0000"/>
                </a:solidFill>
              </a:rPr>
              <a:t>("Mean square error on each fold")</a:t>
            </a:r>
          </a:p>
          <a:p>
            <a:r>
              <a:rPr lang="en-US" dirty="0" err="1">
                <a:solidFill>
                  <a:srgbClr val="FF0000"/>
                </a:solidFill>
              </a:rPr>
              <a:t>plt.axis</a:t>
            </a:r>
            <a:r>
              <a:rPr lang="en-US" dirty="0">
                <a:solidFill>
                  <a:srgbClr val="FF0000"/>
                </a:solidFill>
              </a:rPr>
              <a:t>("tight")</a:t>
            </a:r>
          </a:p>
          <a:p>
            <a:endParaRPr lang="en-US" dirty="0">
              <a:solidFill>
                <a:srgbClr val="FF0000"/>
              </a:solidFill>
            </a:endParaRPr>
          </a:p>
          <a:p>
            <a:r>
              <a:rPr lang="en-US" dirty="0" err="1">
                <a:solidFill>
                  <a:srgbClr val="FF0000"/>
                </a:solidFill>
              </a:rPr>
              <a:t>ymin</a:t>
            </a:r>
            <a:r>
              <a:rPr lang="en-US" dirty="0">
                <a:solidFill>
                  <a:srgbClr val="FF0000"/>
                </a:solidFill>
              </a:rPr>
              <a:t>, </a:t>
            </a:r>
            <a:r>
              <a:rPr lang="en-US" dirty="0" err="1">
                <a:solidFill>
                  <a:srgbClr val="FF0000"/>
                </a:solidFill>
              </a:rPr>
              <a:t>ymax</a:t>
            </a:r>
            <a:r>
              <a:rPr lang="en-US" dirty="0">
                <a:solidFill>
                  <a:srgbClr val="FF0000"/>
                </a:solidFill>
              </a:rPr>
              <a:t> = 50000, 250000</a:t>
            </a:r>
          </a:p>
          <a:p>
            <a:r>
              <a:rPr lang="en-US" dirty="0" err="1">
                <a:solidFill>
                  <a:srgbClr val="FF0000"/>
                </a:solidFill>
              </a:rPr>
              <a:t>plt.ylim</a:t>
            </a:r>
            <a:r>
              <a:rPr lang="en-US" dirty="0">
                <a:solidFill>
                  <a:srgbClr val="FF0000"/>
                </a:solidFill>
              </a:rPr>
              <a:t>(</a:t>
            </a:r>
            <a:r>
              <a:rPr lang="en-US" dirty="0" err="1">
                <a:solidFill>
                  <a:srgbClr val="FF0000"/>
                </a:solidFill>
              </a:rPr>
              <a:t>ymin</a:t>
            </a:r>
            <a:r>
              <a:rPr lang="en-US" dirty="0">
                <a:solidFill>
                  <a:srgbClr val="FF0000"/>
                </a:solidFill>
              </a:rPr>
              <a:t>, </a:t>
            </a:r>
            <a:r>
              <a:rPr lang="en-US" dirty="0" err="1">
                <a:solidFill>
                  <a:srgbClr val="FF0000"/>
                </a:solidFill>
              </a:rPr>
              <a:t>ymax</a:t>
            </a:r>
            <a:r>
              <a:rPr lang="en-US" dirty="0">
                <a:solidFill>
                  <a:srgbClr val="FF0000"/>
                </a:solidFill>
              </a:rPr>
              <a:t>);</a:t>
            </a:r>
          </a:p>
        </p:txBody>
      </p:sp>
      <p:sp>
        <p:nvSpPr>
          <p:cNvPr id="5" name="Slide Number Placeholder 4">
            <a:extLst>
              <a:ext uri="{FF2B5EF4-FFF2-40B4-BE49-F238E27FC236}">
                <a16:creationId xmlns:a16="http://schemas.microsoft.com/office/drawing/2014/main" id="{574B92ED-E2F5-415C-A3E2-EF407E423B8D}"/>
              </a:ext>
            </a:extLst>
          </p:cNvPr>
          <p:cNvSpPr>
            <a:spLocks noGrp="1"/>
          </p:cNvSpPr>
          <p:nvPr>
            <p:ph type="sldNum" sz="quarter" idx="12"/>
          </p:nvPr>
        </p:nvSpPr>
        <p:spPr/>
        <p:txBody>
          <a:bodyPr/>
          <a:lstStyle/>
          <a:p>
            <a:fld id="{6B97D948-30E8-43F7-AE10-F6E2D9F2BBB1}" type="slidenum">
              <a:rPr lang="en-US" smtClean="0"/>
              <a:t>869</a:t>
            </a:fld>
            <a:endParaRPr lang="en-US"/>
          </a:p>
        </p:txBody>
      </p:sp>
    </p:spTree>
    <p:extLst>
      <p:ext uri="{BB962C8B-B14F-4D97-AF65-F5344CB8AC3E}">
        <p14:creationId xmlns:p14="http://schemas.microsoft.com/office/powerpoint/2010/main" val="1222375892"/>
      </p:ext>
    </p:extLst>
  </p:cSld>
  <p:clrMapOvr>
    <a:masterClrMapping/>
  </p:clrMapOvr>
</p:sld>
</file>

<file path=ppt/slides/slide8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69ACE61-93AF-4007-B335-A160C978C3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5960" y="903764"/>
            <a:ext cx="7030932" cy="5273199"/>
          </a:xfrm>
        </p:spPr>
      </p:pic>
      <p:sp>
        <p:nvSpPr>
          <p:cNvPr id="7" name="Slide Number Placeholder 6">
            <a:extLst>
              <a:ext uri="{FF2B5EF4-FFF2-40B4-BE49-F238E27FC236}">
                <a16:creationId xmlns:a16="http://schemas.microsoft.com/office/drawing/2014/main" id="{FE65F7E4-7496-4BB3-B607-A3A00E8177AB}"/>
              </a:ext>
            </a:extLst>
          </p:cNvPr>
          <p:cNvSpPr>
            <a:spLocks noGrp="1"/>
          </p:cNvSpPr>
          <p:nvPr>
            <p:ph type="sldNum" sz="quarter" idx="12"/>
          </p:nvPr>
        </p:nvSpPr>
        <p:spPr/>
        <p:txBody>
          <a:bodyPr/>
          <a:lstStyle/>
          <a:p>
            <a:fld id="{6B97D948-30E8-43F7-AE10-F6E2D9F2BBB1}" type="slidenum">
              <a:rPr lang="en-US" smtClean="0"/>
              <a:t>870</a:t>
            </a:fld>
            <a:endParaRPr lang="en-US"/>
          </a:p>
        </p:txBody>
      </p:sp>
    </p:spTree>
    <p:extLst>
      <p:ext uri="{BB962C8B-B14F-4D97-AF65-F5344CB8AC3E}">
        <p14:creationId xmlns:p14="http://schemas.microsoft.com/office/powerpoint/2010/main" val="699749136"/>
      </p:ext>
    </p:extLst>
  </p:cSld>
  <p:clrMapOvr>
    <a:masterClrMapping/>
  </p:clrMapOvr>
</p:sld>
</file>

<file path=ppt/slides/slide8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73A8A-BFCC-4C3F-B94A-D2490F96760A}"/>
              </a:ext>
            </a:extLst>
          </p:cNvPr>
          <p:cNvSpPr>
            <a:spLocks noGrp="1"/>
          </p:cNvSpPr>
          <p:nvPr>
            <p:ph type="title"/>
          </p:nvPr>
        </p:nvSpPr>
        <p:spPr>
          <a:xfrm>
            <a:off x="838200" y="365126"/>
            <a:ext cx="10515600" cy="615950"/>
          </a:xfrm>
        </p:spPr>
        <p:txBody>
          <a:bodyPr>
            <a:normAutofit fontScale="90000"/>
          </a:bodyPr>
          <a:lstStyle/>
          <a:p>
            <a:r>
              <a:rPr lang="en-US" b="1" dirty="0"/>
              <a:t>Multi-class Classification</a:t>
            </a:r>
            <a:endParaRPr lang="en-US" dirty="0"/>
          </a:p>
        </p:txBody>
      </p:sp>
      <p:sp>
        <p:nvSpPr>
          <p:cNvPr id="3" name="Content Placeholder 2">
            <a:extLst>
              <a:ext uri="{FF2B5EF4-FFF2-40B4-BE49-F238E27FC236}">
                <a16:creationId xmlns:a16="http://schemas.microsoft.com/office/drawing/2014/main" id="{A0F65EE9-1025-465F-B5D2-396D5CD87E80}"/>
              </a:ext>
            </a:extLst>
          </p:cNvPr>
          <p:cNvSpPr>
            <a:spLocks noGrp="1"/>
          </p:cNvSpPr>
          <p:nvPr>
            <p:ph idx="1"/>
          </p:nvPr>
        </p:nvSpPr>
        <p:spPr>
          <a:xfrm>
            <a:off x="838200" y="981076"/>
            <a:ext cx="10515600" cy="5195887"/>
          </a:xfrm>
        </p:spPr>
        <p:txBody>
          <a:bodyPr>
            <a:normAutofit fontScale="92500" lnSpcReduction="10000"/>
          </a:bodyPr>
          <a:lstStyle/>
          <a:p>
            <a:pPr algn="just"/>
            <a:r>
              <a:rPr lang="en-US" dirty="0"/>
              <a:t>In our lecture on logistic regression, we mainly focused on the task of “binary classification” where we try to distinguish between two classes of labels (e.g., “spam” or “ham”). </a:t>
            </a:r>
          </a:p>
          <a:p>
            <a:pPr algn="just"/>
            <a:endParaRPr lang="en-US" dirty="0"/>
          </a:p>
          <a:p>
            <a:pPr algn="just"/>
            <a:r>
              <a:rPr lang="en-US" dirty="0"/>
              <a:t>In real life though, we often have multi-class labels.</a:t>
            </a:r>
          </a:p>
          <a:p>
            <a:pPr algn="just"/>
            <a:endParaRPr lang="en-US" dirty="0"/>
          </a:p>
          <a:p>
            <a:pPr algn="just"/>
            <a:r>
              <a:rPr lang="en-US" dirty="0"/>
              <a:t>Such multi-class classification models turn out to be (arguably) better models.</a:t>
            </a:r>
          </a:p>
          <a:p>
            <a:pPr algn="just"/>
            <a:endParaRPr lang="en-US" dirty="0"/>
          </a:p>
          <a:p>
            <a:pPr algn="just"/>
            <a:r>
              <a:rPr lang="en-US" dirty="0"/>
              <a:t>Let’s delve further into the territory of non-linear models. </a:t>
            </a:r>
          </a:p>
          <a:p>
            <a:pPr algn="just"/>
            <a:endParaRPr lang="en-US" dirty="0"/>
          </a:p>
          <a:p>
            <a:pPr algn="just"/>
            <a:r>
              <a:rPr lang="en-US" dirty="0"/>
              <a:t>There are many non-linear models, decision tree is one of them.</a:t>
            </a:r>
          </a:p>
        </p:txBody>
      </p:sp>
      <p:sp>
        <p:nvSpPr>
          <p:cNvPr id="5" name="Slide Number Placeholder 4">
            <a:extLst>
              <a:ext uri="{FF2B5EF4-FFF2-40B4-BE49-F238E27FC236}">
                <a16:creationId xmlns:a16="http://schemas.microsoft.com/office/drawing/2014/main" id="{A1834F47-A17C-4EDC-ABE1-747A50724641}"/>
              </a:ext>
            </a:extLst>
          </p:cNvPr>
          <p:cNvSpPr>
            <a:spLocks noGrp="1"/>
          </p:cNvSpPr>
          <p:nvPr>
            <p:ph type="sldNum" sz="quarter" idx="12"/>
          </p:nvPr>
        </p:nvSpPr>
        <p:spPr/>
        <p:txBody>
          <a:bodyPr/>
          <a:lstStyle/>
          <a:p>
            <a:fld id="{6B97D948-30E8-43F7-AE10-F6E2D9F2BBB1}" type="slidenum">
              <a:rPr lang="en-US" smtClean="0"/>
              <a:t>871</a:t>
            </a:fld>
            <a:endParaRPr lang="en-US"/>
          </a:p>
        </p:txBody>
      </p:sp>
    </p:spTree>
    <p:extLst>
      <p:ext uri="{BB962C8B-B14F-4D97-AF65-F5344CB8AC3E}">
        <p14:creationId xmlns:p14="http://schemas.microsoft.com/office/powerpoint/2010/main" val="2682837034"/>
      </p:ext>
    </p:extLst>
  </p:cSld>
  <p:clrMapOvr>
    <a:masterClrMapping/>
  </p:clrMapOvr>
</p:sld>
</file>

<file path=ppt/slides/slide8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A4A78-AA97-4223-9EBB-1C2C59D122D6}"/>
              </a:ext>
            </a:extLst>
          </p:cNvPr>
          <p:cNvSpPr>
            <a:spLocks noGrp="1"/>
          </p:cNvSpPr>
          <p:nvPr>
            <p:ph type="title"/>
          </p:nvPr>
        </p:nvSpPr>
        <p:spPr>
          <a:xfrm>
            <a:off x="838200" y="365126"/>
            <a:ext cx="10515600" cy="615950"/>
          </a:xfrm>
        </p:spPr>
        <p:txBody>
          <a:bodyPr>
            <a:normAutofit fontScale="90000"/>
          </a:bodyPr>
          <a:lstStyle/>
          <a:p>
            <a:r>
              <a:rPr lang="en-US" dirty="0"/>
              <a:t>Decision Trees</a:t>
            </a:r>
          </a:p>
        </p:txBody>
      </p:sp>
      <p:sp>
        <p:nvSpPr>
          <p:cNvPr id="3" name="Content Placeholder 2">
            <a:extLst>
              <a:ext uri="{FF2B5EF4-FFF2-40B4-BE49-F238E27FC236}">
                <a16:creationId xmlns:a16="http://schemas.microsoft.com/office/drawing/2014/main" id="{004E6688-7E90-4D4A-9C96-B913CE85E026}"/>
              </a:ext>
            </a:extLst>
          </p:cNvPr>
          <p:cNvSpPr>
            <a:spLocks noGrp="1"/>
          </p:cNvSpPr>
          <p:nvPr>
            <p:ph idx="1"/>
          </p:nvPr>
        </p:nvSpPr>
        <p:spPr>
          <a:xfrm>
            <a:off x="838200" y="981076"/>
            <a:ext cx="10515600" cy="5195887"/>
          </a:xfrm>
        </p:spPr>
        <p:txBody>
          <a:bodyPr/>
          <a:lstStyle/>
          <a:p>
            <a:pPr algn="just"/>
            <a:r>
              <a:rPr lang="en-US" dirty="0"/>
              <a:t>A </a:t>
            </a:r>
            <a:r>
              <a:rPr lang="en-US" i="1" dirty="0">
                <a:solidFill>
                  <a:srgbClr val="FF0000"/>
                </a:solidFill>
              </a:rPr>
              <a:t>decision tree is simply a tree of questions that must be answered in a sequence to yield a predicted classification</a:t>
            </a:r>
            <a:r>
              <a:rPr lang="en-US" dirty="0"/>
              <a:t>. </a:t>
            </a:r>
          </a:p>
          <a:p>
            <a:endParaRPr lang="en-US" dirty="0"/>
          </a:p>
          <a:p>
            <a:pPr algn="just"/>
            <a:r>
              <a:rPr lang="en-US" dirty="0"/>
              <a:t>For example, below is a classifier for animals. </a:t>
            </a:r>
          </a:p>
          <a:p>
            <a:pPr algn="just"/>
            <a:endParaRPr lang="en-US" dirty="0"/>
          </a:p>
          <a:p>
            <a:pPr algn="just"/>
            <a:endParaRPr lang="en-US" dirty="0"/>
          </a:p>
          <a:p>
            <a:pPr algn="just"/>
            <a:r>
              <a:rPr lang="en-US" dirty="0"/>
              <a:t>It starts by asking how many legs the animal has.</a:t>
            </a:r>
          </a:p>
        </p:txBody>
      </p:sp>
      <p:sp>
        <p:nvSpPr>
          <p:cNvPr id="5" name="Slide Number Placeholder 4">
            <a:extLst>
              <a:ext uri="{FF2B5EF4-FFF2-40B4-BE49-F238E27FC236}">
                <a16:creationId xmlns:a16="http://schemas.microsoft.com/office/drawing/2014/main" id="{A6D48C7D-F733-4847-ACBC-13267D8085B9}"/>
              </a:ext>
            </a:extLst>
          </p:cNvPr>
          <p:cNvSpPr>
            <a:spLocks noGrp="1"/>
          </p:cNvSpPr>
          <p:nvPr>
            <p:ph type="sldNum" sz="quarter" idx="12"/>
          </p:nvPr>
        </p:nvSpPr>
        <p:spPr/>
        <p:txBody>
          <a:bodyPr/>
          <a:lstStyle/>
          <a:p>
            <a:fld id="{6B97D948-30E8-43F7-AE10-F6E2D9F2BBB1}" type="slidenum">
              <a:rPr lang="en-US" smtClean="0"/>
              <a:t>872</a:t>
            </a:fld>
            <a:endParaRPr lang="en-US"/>
          </a:p>
        </p:txBody>
      </p:sp>
    </p:spTree>
    <p:extLst>
      <p:ext uri="{BB962C8B-B14F-4D97-AF65-F5344CB8AC3E}">
        <p14:creationId xmlns:p14="http://schemas.microsoft.com/office/powerpoint/2010/main" val="2422233316"/>
      </p:ext>
    </p:extLst>
  </p:cSld>
  <p:clrMapOvr>
    <a:masterClrMapping/>
  </p:clrMapOvr>
</p:sld>
</file>

<file path=ppt/slides/slide8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4303451-3073-46C5-97E9-E70AA269E48C}"/>
              </a:ext>
            </a:extLst>
          </p:cNvPr>
          <p:cNvPicPr>
            <a:picLocks noGrp="1" noChangeAspect="1"/>
          </p:cNvPicPr>
          <p:nvPr>
            <p:ph idx="1"/>
          </p:nvPr>
        </p:nvPicPr>
        <p:blipFill>
          <a:blip r:embed="rId2"/>
          <a:stretch>
            <a:fillRect/>
          </a:stretch>
        </p:blipFill>
        <p:spPr>
          <a:xfrm>
            <a:off x="838200" y="911283"/>
            <a:ext cx="10515600" cy="3944821"/>
          </a:xfrm>
          <a:prstGeom prst="rect">
            <a:avLst/>
          </a:prstGeom>
        </p:spPr>
      </p:pic>
      <p:sp>
        <p:nvSpPr>
          <p:cNvPr id="6" name="Slide Number Placeholder 5">
            <a:extLst>
              <a:ext uri="{FF2B5EF4-FFF2-40B4-BE49-F238E27FC236}">
                <a16:creationId xmlns:a16="http://schemas.microsoft.com/office/drawing/2014/main" id="{564118C0-1744-480C-BD75-EF8C756C9DEF}"/>
              </a:ext>
            </a:extLst>
          </p:cNvPr>
          <p:cNvSpPr>
            <a:spLocks noGrp="1"/>
          </p:cNvSpPr>
          <p:nvPr>
            <p:ph type="sldNum" sz="quarter" idx="12"/>
          </p:nvPr>
        </p:nvSpPr>
        <p:spPr/>
        <p:txBody>
          <a:bodyPr/>
          <a:lstStyle/>
          <a:p>
            <a:fld id="{6B97D948-30E8-43F7-AE10-F6E2D9F2BBB1}" type="slidenum">
              <a:rPr lang="en-US" smtClean="0"/>
              <a:t>873</a:t>
            </a:fld>
            <a:endParaRPr lang="en-US"/>
          </a:p>
        </p:txBody>
      </p:sp>
    </p:spTree>
    <p:extLst>
      <p:ext uri="{BB962C8B-B14F-4D97-AF65-F5344CB8AC3E}">
        <p14:creationId xmlns:p14="http://schemas.microsoft.com/office/powerpoint/2010/main" val="313483751"/>
      </p:ext>
    </p:extLst>
  </p:cSld>
  <p:clrMapOvr>
    <a:masterClrMapping/>
  </p:clrMapOvr>
</p:sld>
</file>

<file path=ppt/slides/slide8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AAEA49-D405-4DC0-8CED-5F549FB015BD}"/>
              </a:ext>
            </a:extLst>
          </p:cNvPr>
          <p:cNvSpPr>
            <a:spLocks noGrp="1"/>
          </p:cNvSpPr>
          <p:nvPr>
            <p:ph idx="1"/>
          </p:nvPr>
        </p:nvSpPr>
        <p:spPr>
          <a:xfrm>
            <a:off x="838200" y="431800"/>
            <a:ext cx="10515600" cy="5745163"/>
          </a:xfrm>
        </p:spPr>
        <p:txBody>
          <a:bodyPr>
            <a:normAutofit fontScale="85000" lnSpcReduction="20000"/>
          </a:bodyPr>
          <a:lstStyle/>
          <a:p>
            <a:pPr algn="just"/>
            <a:r>
              <a:rPr lang="en-US" dirty="0"/>
              <a:t>If the answer is </a:t>
            </a:r>
            <a:r>
              <a:rPr lang="en-US" dirty="0">
                <a:solidFill>
                  <a:srgbClr val="FF0000"/>
                </a:solidFill>
              </a:rPr>
              <a:t>no</a:t>
            </a:r>
            <a:r>
              <a:rPr lang="en-US" dirty="0"/>
              <a:t>, we immediately say </a:t>
            </a:r>
            <a:r>
              <a:rPr lang="en-US" dirty="0">
                <a:solidFill>
                  <a:srgbClr val="FF0000"/>
                </a:solidFill>
              </a:rPr>
              <a:t>snake</a:t>
            </a:r>
            <a:r>
              <a:rPr lang="en-US" dirty="0"/>
              <a:t>. </a:t>
            </a:r>
          </a:p>
          <a:p>
            <a:pPr algn="just"/>
            <a:endParaRPr lang="en-US" dirty="0"/>
          </a:p>
          <a:p>
            <a:pPr algn="just"/>
            <a:r>
              <a:rPr lang="en-US" dirty="0"/>
              <a:t>If the answer is </a:t>
            </a:r>
            <a:r>
              <a:rPr lang="en-US" dirty="0">
                <a:solidFill>
                  <a:srgbClr val="FF0000"/>
                </a:solidFill>
              </a:rPr>
              <a:t>four</a:t>
            </a:r>
            <a:r>
              <a:rPr lang="en-US" dirty="0"/>
              <a:t>, the </a:t>
            </a:r>
            <a:r>
              <a:rPr lang="en-US" dirty="0">
                <a:solidFill>
                  <a:srgbClr val="FF0000"/>
                </a:solidFill>
              </a:rPr>
              <a:t>model is not quite sure</a:t>
            </a:r>
            <a:r>
              <a:rPr lang="en-US" dirty="0"/>
              <a:t>, so we must ask an additional question: does it purr? </a:t>
            </a:r>
          </a:p>
          <a:p>
            <a:pPr algn="just"/>
            <a:endParaRPr lang="en-US" dirty="0"/>
          </a:p>
          <a:p>
            <a:pPr algn="just"/>
            <a:r>
              <a:rPr lang="en-US" dirty="0"/>
              <a:t>If the answer is yes, the animal is a </a:t>
            </a:r>
            <a:r>
              <a:rPr lang="en-US" dirty="0">
                <a:solidFill>
                  <a:srgbClr val="FF0000"/>
                </a:solidFill>
              </a:rPr>
              <a:t>cat</a:t>
            </a:r>
            <a:r>
              <a:rPr lang="en-US" dirty="0"/>
              <a:t>; and if the answer is no, the animal is a </a:t>
            </a:r>
            <a:r>
              <a:rPr lang="en-US" dirty="0">
                <a:solidFill>
                  <a:srgbClr val="FF0000"/>
                </a:solidFill>
              </a:rPr>
              <a:t>dog</a:t>
            </a:r>
            <a:r>
              <a:rPr lang="en-US" dirty="0"/>
              <a:t>. </a:t>
            </a:r>
          </a:p>
          <a:p>
            <a:pPr algn="just"/>
            <a:endParaRPr lang="en-US" dirty="0"/>
          </a:p>
          <a:p>
            <a:pPr algn="just"/>
            <a:r>
              <a:rPr lang="en-US" dirty="0"/>
              <a:t>The other possibility is that the number of legs was two, in that case we have up to two additional questions we may need to ask before eventually deciding if it is a kangaroo, human, or parrot. </a:t>
            </a:r>
          </a:p>
          <a:p>
            <a:pPr algn="just"/>
            <a:endParaRPr lang="en-US" dirty="0"/>
          </a:p>
          <a:p>
            <a:pPr algn="just"/>
            <a:r>
              <a:rPr lang="en-US" dirty="0"/>
              <a:t>Obviously this decision tree does not cover all animals. </a:t>
            </a:r>
          </a:p>
          <a:p>
            <a:pPr algn="just"/>
            <a:endParaRPr lang="en-US" dirty="0"/>
          </a:p>
          <a:p>
            <a:pPr algn="just"/>
            <a:r>
              <a:rPr lang="en-US" dirty="0"/>
              <a:t>In principle, with the right sequence of questions, we could build a giant decision tree that could differentiate a vast number of animals.</a:t>
            </a:r>
          </a:p>
        </p:txBody>
      </p:sp>
      <p:sp>
        <p:nvSpPr>
          <p:cNvPr id="5" name="Slide Number Placeholder 4">
            <a:extLst>
              <a:ext uri="{FF2B5EF4-FFF2-40B4-BE49-F238E27FC236}">
                <a16:creationId xmlns:a16="http://schemas.microsoft.com/office/drawing/2014/main" id="{5EEA2BF5-6D66-4238-ADED-945F195F5A1D}"/>
              </a:ext>
            </a:extLst>
          </p:cNvPr>
          <p:cNvSpPr>
            <a:spLocks noGrp="1"/>
          </p:cNvSpPr>
          <p:nvPr>
            <p:ph type="sldNum" sz="quarter" idx="12"/>
          </p:nvPr>
        </p:nvSpPr>
        <p:spPr/>
        <p:txBody>
          <a:bodyPr/>
          <a:lstStyle/>
          <a:p>
            <a:fld id="{6B97D948-30E8-43F7-AE10-F6E2D9F2BBB1}" type="slidenum">
              <a:rPr lang="en-US" smtClean="0"/>
              <a:t>874</a:t>
            </a:fld>
            <a:endParaRPr lang="en-US"/>
          </a:p>
        </p:txBody>
      </p:sp>
    </p:spTree>
    <p:extLst>
      <p:ext uri="{BB962C8B-B14F-4D97-AF65-F5344CB8AC3E}">
        <p14:creationId xmlns:p14="http://schemas.microsoft.com/office/powerpoint/2010/main" val="2416112821"/>
      </p:ext>
    </p:extLst>
  </p:cSld>
  <p:clrMapOvr>
    <a:masterClrMapping/>
  </p:clrMapOvr>
</p:sld>
</file>

<file path=ppt/slides/slide8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00B6C-4BD1-4218-8E35-55147CBD9C21}"/>
              </a:ext>
            </a:extLst>
          </p:cNvPr>
          <p:cNvSpPr>
            <a:spLocks noGrp="1"/>
          </p:cNvSpPr>
          <p:nvPr>
            <p:ph type="title"/>
          </p:nvPr>
        </p:nvSpPr>
        <p:spPr>
          <a:xfrm>
            <a:off x="838200" y="365125"/>
            <a:ext cx="10515600" cy="727075"/>
          </a:xfrm>
        </p:spPr>
        <p:txBody>
          <a:bodyPr/>
          <a:lstStyle/>
          <a:p>
            <a:r>
              <a:rPr lang="en-US" dirty="0"/>
              <a:t>Formally. . . </a:t>
            </a:r>
          </a:p>
        </p:txBody>
      </p:sp>
      <p:sp>
        <p:nvSpPr>
          <p:cNvPr id="3" name="Content Placeholder 2">
            <a:extLst>
              <a:ext uri="{FF2B5EF4-FFF2-40B4-BE49-F238E27FC236}">
                <a16:creationId xmlns:a16="http://schemas.microsoft.com/office/drawing/2014/main" id="{DA13287D-63EB-4F1F-8CCF-9D20C5B22275}"/>
              </a:ext>
            </a:extLst>
          </p:cNvPr>
          <p:cNvSpPr>
            <a:spLocks noGrp="1"/>
          </p:cNvSpPr>
          <p:nvPr>
            <p:ph idx="1"/>
          </p:nvPr>
        </p:nvSpPr>
        <p:spPr>
          <a:xfrm>
            <a:off x="838200" y="1092200"/>
            <a:ext cx="10515600" cy="5084763"/>
          </a:xfrm>
        </p:spPr>
        <p:txBody>
          <a:bodyPr/>
          <a:lstStyle/>
          <a:p>
            <a:pPr algn="just"/>
            <a:r>
              <a:rPr lang="en-US" dirty="0"/>
              <a:t>A decision tree is a </a:t>
            </a:r>
            <a:r>
              <a:rPr lang="en-US" i="1" dirty="0"/>
              <a:t>non-parametric supervised learning algorithm</a:t>
            </a:r>
            <a:r>
              <a:rPr lang="en-US" dirty="0"/>
              <a:t>, which is utilized for both classification and regression tasks. </a:t>
            </a:r>
          </a:p>
          <a:p>
            <a:pPr algn="just"/>
            <a:endParaRPr lang="en-US" dirty="0"/>
          </a:p>
          <a:p>
            <a:pPr algn="just"/>
            <a:r>
              <a:rPr lang="en-US" dirty="0"/>
              <a:t>It has a hierarchical, tree structure, which consists of a </a:t>
            </a:r>
            <a:r>
              <a:rPr lang="en-US" dirty="0">
                <a:solidFill>
                  <a:srgbClr val="FF0000"/>
                </a:solidFill>
              </a:rPr>
              <a:t>root node</a:t>
            </a:r>
            <a:r>
              <a:rPr lang="en-US" dirty="0"/>
              <a:t>, </a:t>
            </a:r>
            <a:r>
              <a:rPr lang="en-US" dirty="0">
                <a:solidFill>
                  <a:srgbClr val="FF0000"/>
                </a:solidFill>
              </a:rPr>
              <a:t>branches</a:t>
            </a:r>
            <a:r>
              <a:rPr lang="en-US" dirty="0"/>
              <a:t>, </a:t>
            </a:r>
            <a:r>
              <a:rPr lang="en-US" dirty="0">
                <a:solidFill>
                  <a:srgbClr val="FF0000"/>
                </a:solidFill>
              </a:rPr>
              <a:t>internal</a:t>
            </a:r>
            <a:r>
              <a:rPr lang="en-US" dirty="0"/>
              <a:t> </a:t>
            </a:r>
            <a:r>
              <a:rPr lang="en-US" dirty="0">
                <a:solidFill>
                  <a:srgbClr val="FF0000"/>
                </a:solidFill>
              </a:rPr>
              <a:t>nodes</a:t>
            </a:r>
            <a:r>
              <a:rPr lang="en-US" dirty="0"/>
              <a:t> and </a:t>
            </a:r>
            <a:r>
              <a:rPr lang="en-US" dirty="0">
                <a:solidFill>
                  <a:srgbClr val="FF0000"/>
                </a:solidFill>
              </a:rPr>
              <a:t>leaf</a:t>
            </a:r>
            <a:r>
              <a:rPr lang="en-US" dirty="0"/>
              <a:t> </a:t>
            </a:r>
            <a:r>
              <a:rPr lang="en-US" dirty="0">
                <a:solidFill>
                  <a:srgbClr val="FF0000"/>
                </a:solidFill>
              </a:rPr>
              <a:t>nodes</a:t>
            </a:r>
            <a:r>
              <a:rPr lang="en-US" dirty="0"/>
              <a:t>.</a:t>
            </a:r>
          </a:p>
        </p:txBody>
      </p:sp>
      <p:sp>
        <p:nvSpPr>
          <p:cNvPr id="5" name="Slide Number Placeholder 4">
            <a:extLst>
              <a:ext uri="{FF2B5EF4-FFF2-40B4-BE49-F238E27FC236}">
                <a16:creationId xmlns:a16="http://schemas.microsoft.com/office/drawing/2014/main" id="{826C073F-257A-4683-970A-86C07E8036A4}"/>
              </a:ext>
            </a:extLst>
          </p:cNvPr>
          <p:cNvSpPr>
            <a:spLocks noGrp="1"/>
          </p:cNvSpPr>
          <p:nvPr>
            <p:ph type="sldNum" sz="quarter" idx="12"/>
          </p:nvPr>
        </p:nvSpPr>
        <p:spPr/>
        <p:txBody>
          <a:bodyPr/>
          <a:lstStyle/>
          <a:p>
            <a:fld id="{6B97D948-30E8-43F7-AE10-F6E2D9F2BBB1}" type="slidenum">
              <a:rPr lang="en-US" smtClean="0"/>
              <a:t>875</a:t>
            </a:fld>
            <a:endParaRPr lang="en-US"/>
          </a:p>
        </p:txBody>
      </p:sp>
    </p:spTree>
    <p:extLst>
      <p:ext uri="{BB962C8B-B14F-4D97-AF65-F5344CB8AC3E}">
        <p14:creationId xmlns:p14="http://schemas.microsoft.com/office/powerpoint/2010/main" val="998005411"/>
      </p:ext>
    </p:extLst>
  </p:cSld>
  <p:clrMapOvr>
    <a:masterClrMapping/>
  </p:clrMapOvr>
</p:sld>
</file>

<file path=ppt/slides/slide8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88C2D-D94A-4A6B-9267-E053B8B61065}"/>
              </a:ext>
            </a:extLst>
          </p:cNvPr>
          <p:cNvSpPr>
            <a:spLocks noGrp="1"/>
          </p:cNvSpPr>
          <p:nvPr>
            <p:ph type="title"/>
          </p:nvPr>
        </p:nvSpPr>
        <p:spPr/>
        <p:txBody>
          <a:bodyPr/>
          <a:lstStyle/>
          <a:p>
            <a:r>
              <a:rPr lang="en-US" dirty="0"/>
              <a:t>Structure</a:t>
            </a:r>
          </a:p>
        </p:txBody>
      </p:sp>
      <p:pic>
        <p:nvPicPr>
          <p:cNvPr id="4" name="Content Placeholder 3">
            <a:extLst>
              <a:ext uri="{FF2B5EF4-FFF2-40B4-BE49-F238E27FC236}">
                <a16:creationId xmlns:a16="http://schemas.microsoft.com/office/drawing/2014/main" id="{5DAFE526-D8C7-49D7-A184-FFFA607AAABA}"/>
              </a:ext>
            </a:extLst>
          </p:cNvPr>
          <p:cNvPicPr>
            <a:picLocks noGrp="1" noChangeAspect="1"/>
          </p:cNvPicPr>
          <p:nvPr>
            <p:ph idx="1"/>
          </p:nvPr>
        </p:nvPicPr>
        <p:blipFill>
          <a:blip r:embed="rId2"/>
          <a:stretch>
            <a:fillRect/>
          </a:stretch>
        </p:blipFill>
        <p:spPr>
          <a:xfrm>
            <a:off x="2234274" y="1825625"/>
            <a:ext cx="7723452" cy="4351338"/>
          </a:xfrm>
          <a:prstGeom prst="rect">
            <a:avLst/>
          </a:prstGeom>
        </p:spPr>
      </p:pic>
      <p:sp>
        <p:nvSpPr>
          <p:cNvPr id="6" name="Slide Number Placeholder 5">
            <a:extLst>
              <a:ext uri="{FF2B5EF4-FFF2-40B4-BE49-F238E27FC236}">
                <a16:creationId xmlns:a16="http://schemas.microsoft.com/office/drawing/2014/main" id="{5C552090-C2F1-4D67-8BC3-039D2D1E8835}"/>
              </a:ext>
            </a:extLst>
          </p:cNvPr>
          <p:cNvSpPr>
            <a:spLocks noGrp="1"/>
          </p:cNvSpPr>
          <p:nvPr>
            <p:ph type="sldNum" sz="quarter" idx="12"/>
          </p:nvPr>
        </p:nvSpPr>
        <p:spPr/>
        <p:txBody>
          <a:bodyPr/>
          <a:lstStyle/>
          <a:p>
            <a:fld id="{6B97D948-30E8-43F7-AE10-F6E2D9F2BBB1}" type="slidenum">
              <a:rPr lang="en-US" smtClean="0"/>
              <a:t>876</a:t>
            </a:fld>
            <a:endParaRPr lang="en-US"/>
          </a:p>
        </p:txBody>
      </p:sp>
    </p:spTree>
    <p:extLst>
      <p:ext uri="{BB962C8B-B14F-4D97-AF65-F5344CB8AC3E}">
        <p14:creationId xmlns:p14="http://schemas.microsoft.com/office/powerpoint/2010/main" val="3532013490"/>
      </p:ext>
    </p:extLst>
  </p:cSld>
  <p:clrMapOvr>
    <a:masterClrMapping/>
  </p:clrMapOvr>
</p:sld>
</file>

<file path=ppt/slides/slide8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9B127-1B77-4EFD-B5AA-1F8425AFB99E}"/>
              </a:ext>
            </a:extLst>
          </p:cNvPr>
          <p:cNvSpPr>
            <a:spLocks noGrp="1"/>
          </p:cNvSpPr>
          <p:nvPr>
            <p:ph type="title"/>
          </p:nvPr>
        </p:nvSpPr>
        <p:spPr>
          <a:xfrm>
            <a:off x="838200" y="365125"/>
            <a:ext cx="10515600" cy="701675"/>
          </a:xfrm>
        </p:spPr>
        <p:txBody>
          <a:bodyPr/>
          <a:lstStyle/>
          <a:p>
            <a:r>
              <a:rPr lang="en-US" dirty="0"/>
              <a:t>How it works. . . </a:t>
            </a:r>
          </a:p>
        </p:txBody>
      </p:sp>
      <p:sp>
        <p:nvSpPr>
          <p:cNvPr id="3" name="Content Placeholder 2">
            <a:extLst>
              <a:ext uri="{FF2B5EF4-FFF2-40B4-BE49-F238E27FC236}">
                <a16:creationId xmlns:a16="http://schemas.microsoft.com/office/drawing/2014/main" id="{3935B230-FD49-4F96-8672-FCEAA4A799CE}"/>
              </a:ext>
            </a:extLst>
          </p:cNvPr>
          <p:cNvSpPr>
            <a:spLocks noGrp="1"/>
          </p:cNvSpPr>
          <p:nvPr>
            <p:ph idx="1"/>
          </p:nvPr>
        </p:nvSpPr>
        <p:spPr>
          <a:xfrm>
            <a:off x="838200" y="1066800"/>
            <a:ext cx="10515600" cy="5110163"/>
          </a:xfrm>
        </p:spPr>
        <p:txBody>
          <a:bodyPr>
            <a:normAutofit fontScale="92500" lnSpcReduction="10000"/>
          </a:bodyPr>
          <a:lstStyle/>
          <a:p>
            <a:pPr algn="just"/>
            <a:r>
              <a:rPr lang="en-US" dirty="0"/>
              <a:t>Decision tree learning employs a </a:t>
            </a:r>
            <a:r>
              <a:rPr lang="en-US" dirty="0">
                <a:solidFill>
                  <a:srgbClr val="FF0000"/>
                </a:solidFill>
              </a:rPr>
              <a:t>divide and conquer strategy </a:t>
            </a:r>
            <a:r>
              <a:rPr lang="en-US" dirty="0"/>
              <a:t>by conducting a greedy search to identify the optimal split points within a tree. </a:t>
            </a:r>
          </a:p>
          <a:p>
            <a:pPr algn="just"/>
            <a:r>
              <a:rPr lang="en-US" dirty="0"/>
              <a:t>This process of splitting is then repeated in a top-down, recursive manner until all, or the majority of records have been classified under specific class labels. </a:t>
            </a:r>
          </a:p>
          <a:p>
            <a:pPr algn="just"/>
            <a:endParaRPr lang="en-US" dirty="0"/>
          </a:p>
          <a:p>
            <a:pPr algn="just"/>
            <a:r>
              <a:rPr lang="en-US" dirty="0"/>
              <a:t>Each internal node denotes a test on an attribute, each branch denotes the outcome of a test, and each leaf node holds a class label. The topmost node in the tree is the root node.</a:t>
            </a:r>
          </a:p>
          <a:p>
            <a:pPr algn="just"/>
            <a:endParaRPr lang="en-US" dirty="0"/>
          </a:p>
          <a:p>
            <a:pPr algn="just"/>
            <a:r>
              <a:rPr lang="en-US" dirty="0"/>
              <a:t>Whether or not all data points are classified as homogenous sets is largely dependent on the complexity of the decision tree. </a:t>
            </a:r>
          </a:p>
          <a:p>
            <a:pPr algn="just"/>
            <a:endParaRPr lang="en-US" dirty="0"/>
          </a:p>
        </p:txBody>
      </p:sp>
      <p:sp>
        <p:nvSpPr>
          <p:cNvPr id="5" name="Slide Number Placeholder 4">
            <a:extLst>
              <a:ext uri="{FF2B5EF4-FFF2-40B4-BE49-F238E27FC236}">
                <a16:creationId xmlns:a16="http://schemas.microsoft.com/office/drawing/2014/main" id="{403CD4AF-A99B-4D90-97FE-DFDE0C122B5C}"/>
              </a:ext>
            </a:extLst>
          </p:cNvPr>
          <p:cNvSpPr>
            <a:spLocks noGrp="1"/>
          </p:cNvSpPr>
          <p:nvPr>
            <p:ph type="sldNum" sz="quarter" idx="12"/>
          </p:nvPr>
        </p:nvSpPr>
        <p:spPr/>
        <p:txBody>
          <a:bodyPr/>
          <a:lstStyle/>
          <a:p>
            <a:fld id="{6B97D948-30E8-43F7-AE10-F6E2D9F2BBB1}" type="slidenum">
              <a:rPr lang="en-US" smtClean="0"/>
              <a:t>877</a:t>
            </a:fld>
            <a:endParaRPr lang="en-US"/>
          </a:p>
        </p:txBody>
      </p:sp>
    </p:spTree>
    <p:extLst>
      <p:ext uri="{BB962C8B-B14F-4D97-AF65-F5344CB8AC3E}">
        <p14:creationId xmlns:p14="http://schemas.microsoft.com/office/powerpoint/2010/main" val="350282939"/>
      </p:ext>
    </p:extLst>
  </p:cSld>
  <p:clrMapOvr>
    <a:masterClrMapping/>
  </p:clrMapOvr>
</p:sld>
</file>

<file path=ppt/slides/slide8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84FF3-274B-4C1C-A12F-23444EE147BF}"/>
              </a:ext>
            </a:extLst>
          </p:cNvPr>
          <p:cNvSpPr>
            <a:spLocks noGrp="1"/>
          </p:cNvSpPr>
          <p:nvPr>
            <p:ph idx="1"/>
          </p:nvPr>
        </p:nvSpPr>
        <p:spPr>
          <a:xfrm>
            <a:off x="838200" y="558800"/>
            <a:ext cx="10515600" cy="5618163"/>
          </a:xfrm>
        </p:spPr>
        <p:txBody>
          <a:bodyPr/>
          <a:lstStyle/>
          <a:p>
            <a:r>
              <a:rPr lang="en-US" dirty="0"/>
              <a:t>Smaller trees are more easily able to attain pure leaf nodes—i.e. data points in a single class. </a:t>
            </a:r>
          </a:p>
          <a:p>
            <a:endParaRPr lang="en-US" dirty="0"/>
          </a:p>
          <a:p>
            <a:r>
              <a:rPr lang="en-US" dirty="0"/>
              <a:t>However, as a tree grows in size, it becomes increasingly difficult to maintain this purity, and it usually results in too little data falling within a given subtree. </a:t>
            </a:r>
          </a:p>
          <a:p>
            <a:endParaRPr lang="en-US" dirty="0"/>
          </a:p>
          <a:p>
            <a:r>
              <a:rPr lang="en-US" dirty="0"/>
              <a:t>When this occurs, it is known as data fragmentation, and it can often lead to overfitting.</a:t>
            </a:r>
          </a:p>
          <a:p>
            <a:endParaRPr lang="en-US" dirty="0"/>
          </a:p>
        </p:txBody>
      </p:sp>
      <p:sp>
        <p:nvSpPr>
          <p:cNvPr id="5" name="Slide Number Placeholder 4">
            <a:extLst>
              <a:ext uri="{FF2B5EF4-FFF2-40B4-BE49-F238E27FC236}">
                <a16:creationId xmlns:a16="http://schemas.microsoft.com/office/drawing/2014/main" id="{FB95AAE0-498A-43AD-81D8-999842EB44EE}"/>
              </a:ext>
            </a:extLst>
          </p:cNvPr>
          <p:cNvSpPr>
            <a:spLocks noGrp="1"/>
          </p:cNvSpPr>
          <p:nvPr>
            <p:ph type="sldNum" sz="quarter" idx="12"/>
          </p:nvPr>
        </p:nvSpPr>
        <p:spPr/>
        <p:txBody>
          <a:bodyPr/>
          <a:lstStyle/>
          <a:p>
            <a:fld id="{6B97D948-30E8-43F7-AE10-F6E2D9F2BBB1}" type="slidenum">
              <a:rPr lang="en-US" smtClean="0"/>
              <a:t>878</a:t>
            </a:fld>
            <a:endParaRPr lang="en-US"/>
          </a:p>
        </p:txBody>
      </p:sp>
    </p:spTree>
    <p:extLst>
      <p:ext uri="{BB962C8B-B14F-4D97-AF65-F5344CB8AC3E}">
        <p14:creationId xmlns:p14="http://schemas.microsoft.com/office/powerpoint/2010/main" val="4042260816"/>
      </p:ext>
    </p:extLst>
  </p:cSld>
  <p:clrMapOvr>
    <a:masterClrMapping/>
  </p:clrMapOvr>
</p:sld>
</file>

<file path=ppt/slides/slide8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4B32-7A53-4EA6-BCC4-43E975A11EA6}"/>
              </a:ext>
            </a:extLst>
          </p:cNvPr>
          <p:cNvSpPr>
            <a:spLocks noGrp="1"/>
          </p:cNvSpPr>
          <p:nvPr>
            <p:ph type="title"/>
          </p:nvPr>
        </p:nvSpPr>
        <p:spPr>
          <a:xfrm>
            <a:off x="838200" y="365125"/>
            <a:ext cx="10515600" cy="828675"/>
          </a:xfrm>
        </p:spPr>
        <p:txBody>
          <a:bodyPr/>
          <a:lstStyle/>
          <a:p>
            <a:r>
              <a:rPr lang="en-US" dirty="0"/>
              <a:t>Types of Decision Trees </a:t>
            </a:r>
          </a:p>
        </p:txBody>
      </p:sp>
      <p:sp>
        <p:nvSpPr>
          <p:cNvPr id="3" name="Content Placeholder 2">
            <a:extLst>
              <a:ext uri="{FF2B5EF4-FFF2-40B4-BE49-F238E27FC236}">
                <a16:creationId xmlns:a16="http://schemas.microsoft.com/office/drawing/2014/main" id="{44394CA6-2D7C-45A1-95ED-3128E8CE2AC6}"/>
              </a:ext>
            </a:extLst>
          </p:cNvPr>
          <p:cNvSpPr>
            <a:spLocks noGrp="1"/>
          </p:cNvSpPr>
          <p:nvPr>
            <p:ph idx="1"/>
          </p:nvPr>
        </p:nvSpPr>
        <p:spPr>
          <a:xfrm>
            <a:off x="838200" y="1193800"/>
            <a:ext cx="10515600" cy="4983163"/>
          </a:xfrm>
        </p:spPr>
        <p:txBody>
          <a:bodyPr/>
          <a:lstStyle/>
          <a:p>
            <a:pPr algn="just"/>
            <a:r>
              <a:rPr lang="en-US" dirty="0"/>
              <a:t> ID3: Ross Quinlan is credited within the development of ID3, which is shorthand for “Iterative </a:t>
            </a:r>
            <a:r>
              <a:rPr lang="en-US" dirty="0" err="1"/>
              <a:t>Dichotomiser</a:t>
            </a:r>
            <a:r>
              <a:rPr lang="en-US" dirty="0"/>
              <a:t> 3.” </a:t>
            </a:r>
          </a:p>
          <a:p>
            <a:pPr algn="just"/>
            <a:r>
              <a:rPr lang="en-US" dirty="0"/>
              <a:t>This algorithm leverages </a:t>
            </a:r>
            <a:r>
              <a:rPr lang="en-US" dirty="0">
                <a:solidFill>
                  <a:srgbClr val="FF0000"/>
                </a:solidFill>
              </a:rPr>
              <a:t>entropy</a:t>
            </a:r>
            <a:r>
              <a:rPr lang="en-US" dirty="0"/>
              <a:t> and </a:t>
            </a:r>
            <a:r>
              <a:rPr lang="en-US" dirty="0">
                <a:solidFill>
                  <a:srgbClr val="FF0000"/>
                </a:solidFill>
              </a:rPr>
              <a:t>information gain </a:t>
            </a:r>
            <a:r>
              <a:rPr lang="en-US" dirty="0"/>
              <a:t>as metrics to evaluate candidate splits.</a:t>
            </a:r>
          </a:p>
        </p:txBody>
      </p:sp>
      <p:sp>
        <p:nvSpPr>
          <p:cNvPr id="5" name="Slide Number Placeholder 4">
            <a:extLst>
              <a:ext uri="{FF2B5EF4-FFF2-40B4-BE49-F238E27FC236}">
                <a16:creationId xmlns:a16="http://schemas.microsoft.com/office/drawing/2014/main" id="{C94B703F-381A-44A2-A001-D8A2187C18F7}"/>
              </a:ext>
            </a:extLst>
          </p:cNvPr>
          <p:cNvSpPr>
            <a:spLocks noGrp="1"/>
          </p:cNvSpPr>
          <p:nvPr>
            <p:ph type="sldNum" sz="quarter" idx="12"/>
          </p:nvPr>
        </p:nvSpPr>
        <p:spPr/>
        <p:txBody>
          <a:bodyPr/>
          <a:lstStyle/>
          <a:p>
            <a:fld id="{6B97D948-30E8-43F7-AE10-F6E2D9F2BBB1}" type="slidenum">
              <a:rPr lang="en-US" smtClean="0"/>
              <a:t>879</a:t>
            </a:fld>
            <a:endParaRPr lang="en-US"/>
          </a:p>
        </p:txBody>
      </p:sp>
    </p:spTree>
    <p:extLst>
      <p:ext uri="{BB962C8B-B14F-4D97-AF65-F5344CB8AC3E}">
        <p14:creationId xmlns:p14="http://schemas.microsoft.com/office/powerpoint/2010/main" val="3493024408"/>
      </p:ext>
    </p:extLst>
  </p:cSld>
  <p:clrMapOvr>
    <a:masterClrMapping/>
  </p:clrMapOvr>
</p:sld>
</file>

<file path=ppt/slides/slide8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8602F4-61C5-4048-A27D-0C497853AAFD}"/>
              </a:ext>
            </a:extLst>
          </p:cNvPr>
          <p:cNvSpPr>
            <a:spLocks noGrp="1"/>
          </p:cNvSpPr>
          <p:nvPr>
            <p:ph idx="1"/>
          </p:nvPr>
        </p:nvSpPr>
        <p:spPr>
          <a:xfrm>
            <a:off x="838200" y="533400"/>
            <a:ext cx="10515600" cy="5643563"/>
          </a:xfrm>
        </p:spPr>
        <p:txBody>
          <a:bodyPr/>
          <a:lstStyle/>
          <a:p>
            <a:pPr algn="just"/>
            <a:r>
              <a:rPr lang="en-US" dirty="0">
                <a:solidFill>
                  <a:srgbClr val="FF0000"/>
                </a:solidFill>
              </a:rPr>
              <a:t>C4.5</a:t>
            </a:r>
            <a:r>
              <a:rPr lang="en-US" dirty="0"/>
              <a:t>: This algorithm is considered a later iteration of ID3, which was also developed by Quinlan. </a:t>
            </a:r>
          </a:p>
          <a:p>
            <a:pPr algn="just"/>
            <a:endParaRPr lang="en-US" dirty="0"/>
          </a:p>
          <a:p>
            <a:pPr algn="just"/>
            <a:r>
              <a:rPr lang="en-US" dirty="0"/>
              <a:t>It can use information gain or gain ratios to evaluate split points within the decision trees.</a:t>
            </a:r>
          </a:p>
        </p:txBody>
      </p:sp>
      <p:sp>
        <p:nvSpPr>
          <p:cNvPr id="5" name="Slide Number Placeholder 4">
            <a:extLst>
              <a:ext uri="{FF2B5EF4-FFF2-40B4-BE49-F238E27FC236}">
                <a16:creationId xmlns:a16="http://schemas.microsoft.com/office/drawing/2014/main" id="{E242E257-DC67-483F-9931-5C10EA1BBA3A}"/>
              </a:ext>
            </a:extLst>
          </p:cNvPr>
          <p:cNvSpPr>
            <a:spLocks noGrp="1"/>
          </p:cNvSpPr>
          <p:nvPr>
            <p:ph type="sldNum" sz="quarter" idx="12"/>
          </p:nvPr>
        </p:nvSpPr>
        <p:spPr/>
        <p:txBody>
          <a:bodyPr/>
          <a:lstStyle/>
          <a:p>
            <a:fld id="{6B97D948-30E8-43F7-AE10-F6E2D9F2BBB1}" type="slidenum">
              <a:rPr lang="en-US" smtClean="0"/>
              <a:t>880</a:t>
            </a:fld>
            <a:endParaRPr lang="en-US"/>
          </a:p>
        </p:txBody>
      </p:sp>
    </p:spTree>
    <p:extLst>
      <p:ext uri="{BB962C8B-B14F-4D97-AF65-F5344CB8AC3E}">
        <p14:creationId xmlns:p14="http://schemas.microsoft.com/office/powerpoint/2010/main" val="3201821211"/>
      </p:ext>
    </p:extLst>
  </p:cSld>
  <p:clrMapOvr>
    <a:masterClrMapping/>
  </p:clrMapOvr>
</p:sld>
</file>

<file path=ppt/slides/slide8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A8E5BD-126E-4DA3-B51D-2647312CE475}"/>
              </a:ext>
            </a:extLst>
          </p:cNvPr>
          <p:cNvSpPr>
            <a:spLocks noGrp="1"/>
          </p:cNvSpPr>
          <p:nvPr>
            <p:ph idx="1"/>
          </p:nvPr>
        </p:nvSpPr>
        <p:spPr>
          <a:xfrm>
            <a:off x="838200" y="622300"/>
            <a:ext cx="10515600" cy="5554663"/>
          </a:xfrm>
        </p:spPr>
        <p:txBody>
          <a:bodyPr/>
          <a:lstStyle/>
          <a:p>
            <a:pPr algn="just"/>
            <a:r>
              <a:rPr lang="en-US" dirty="0"/>
              <a:t> </a:t>
            </a:r>
            <a:r>
              <a:rPr lang="en-US" dirty="0">
                <a:solidFill>
                  <a:srgbClr val="FF0000"/>
                </a:solidFill>
              </a:rPr>
              <a:t>CART</a:t>
            </a:r>
            <a:r>
              <a:rPr lang="en-US" dirty="0"/>
              <a:t>: The term, CART, is an abbreviation for “classification and regression trees” and was introduced by Leo </a:t>
            </a:r>
            <a:r>
              <a:rPr lang="en-US" dirty="0" err="1"/>
              <a:t>Breiman</a:t>
            </a:r>
            <a:r>
              <a:rPr lang="en-US" dirty="0"/>
              <a:t>. </a:t>
            </a:r>
          </a:p>
          <a:p>
            <a:pPr algn="just"/>
            <a:endParaRPr lang="en-US" dirty="0"/>
          </a:p>
          <a:p>
            <a:pPr algn="just"/>
            <a:r>
              <a:rPr lang="en-US" dirty="0"/>
              <a:t>This algorithm typically utilizes </a:t>
            </a:r>
            <a:r>
              <a:rPr lang="en-US" dirty="0">
                <a:solidFill>
                  <a:srgbClr val="FF0000"/>
                </a:solidFill>
              </a:rPr>
              <a:t>Gini impurity</a:t>
            </a:r>
            <a:r>
              <a:rPr lang="en-US" dirty="0"/>
              <a:t> to identify the ideal attribute to split on. </a:t>
            </a:r>
          </a:p>
          <a:p>
            <a:pPr algn="just"/>
            <a:endParaRPr lang="en-US" dirty="0"/>
          </a:p>
          <a:p>
            <a:pPr algn="just"/>
            <a:r>
              <a:rPr lang="en-US" dirty="0">
                <a:solidFill>
                  <a:srgbClr val="FF0000"/>
                </a:solidFill>
              </a:rPr>
              <a:t>Gini impurity </a:t>
            </a:r>
            <a:r>
              <a:rPr lang="en-US" dirty="0"/>
              <a:t>measures how often a randomly chosen attribute is misclassified. When evaluating using Gini impurity, a lower value is more ideal. </a:t>
            </a:r>
          </a:p>
        </p:txBody>
      </p:sp>
      <p:sp>
        <p:nvSpPr>
          <p:cNvPr id="5" name="Slide Number Placeholder 4">
            <a:extLst>
              <a:ext uri="{FF2B5EF4-FFF2-40B4-BE49-F238E27FC236}">
                <a16:creationId xmlns:a16="http://schemas.microsoft.com/office/drawing/2014/main" id="{9986BC1F-09D7-4DDF-96E2-56C2EEA0E03F}"/>
              </a:ext>
            </a:extLst>
          </p:cNvPr>
          <p:cNvSpPr>
            <a:spLocks noGrp="1"/>
          </p:cNvSpPr>
          <p:nvPr>
            <p:ph type="sldNum" sz="quarter" idx="12"/>
          </p:nvPr>
        </p:nvSpPr>
        <p:spPr/>
        <p:txBody>
          <a:bodyPr/>
          <a:lstStyle/>
          <a:p>
            <a:fld id="{6B97D948-30E8-43F7-AE10-F6E2D9F2BBB1}" type="slidenum">
              <a:rPr lang="en-US" smtClean="0"/>
              <a:t>881</a:t>
            </a:fld>
            <a:endParaRPr lang="en-US"/>
          </a:p>
        </p:txBody>
      </p:sp>
    </p:spTree>
    <p:extLst>
      <p:ext uri="{BB962C8B-B14F-4D97-AF65-F5344CB8AC3E}">
        <p14:creationId xmlns:p14="http://schemas.microsoft.com/office/powerpoint/2010/main" val="1957619914"/>
      </p:ext>
    </p:extLst>
  </p:cSld>
  <p:clrMapOvr>
    <a:masterClrMapping/>
  </p:clrMapOvr>
</p:sld>
</file>

<file path=ppt/slides/slide8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3A518-937E-495C-8C52-54BB2CEC54C4}"/>
              </a:ext>
            </a:extLst>
          </p:cNvPr>
          <p:cNvSpPr>
            <a:spLocks noGrp="1"/>
          </p:cNvSpPr>
          <p:nvPr>
            <p:ph type="title"/>
          </p:nvPr>
        </p:nvSpPr>
        <p:spPr>
          <a:xfrm>
            <a:off x="838200" y="365125"/>
            <a:ext cx="10515600" cy="600075"/>
          </a:xfrm>
        </p:spPr>
        <p:txBody>
          <a:bodyPr>
            <a:normAutofit fontScale="90000"/>
          </a:bodyPr>
          <a:lstStyle/>
          <a:p>
            <a:r>
              <a:rPr lang="en-US" dirty="0"/>
              <a:t>Assumptions for Classification</a:t>
            </a:r>
          </a:p>
        </p:txBody>
      </p:sp>
      <p:sp>
        <p:nvSpPr>
          <p:cNvPr id="3" name="Content Placeholder 2">
            <a:extLst>
              <a:ext uri="{FF2B5EF4-FFF2-40B4-BE49-F238E27FC236}">
                <a16:creationId xmlns:a16="http://schemas.microsoft.com/office/drawing/2014/main" id="{CE49EBB3-CDF2-474D-A4D6-F4A8576CA20E}"/>
              </a:ext>
            </a:extLst>
          </p:cNvPr>
          <p:cNvSpPr>
            <a:spLocks noGrp="1"/>
          </p:cNvSpPr>
          <p:nvPr>
            <p:ph idx="1"/>
          </p:nvPr>
        </p:nvSpPr>
        <p:spPr>
          <a:xfrm>
            <a:off x="838200" y="1193800"/>
            <a:ext cx="10515600" cy="4983163"/>
          </a:xfrm>
        </p:spPr>
        <p:txBody>
          <a:bodyPr/>
          <a:lstStyle/>
          <a:p>
            <a:pPr algn="just"/>
            <a:r>
              <a:rPr lang="en-US" dirty="0"/>
              <a:t>We make the following assumptions while implementing the Decision-Tree algorithm. </a:t>
            </a:r>
          </a:p>
          <a:p>
            <a:pPr algn="just"/>
            <a:r>
              <a:rPr lang="en-US" dirty="0"/>
              <a:t>These are listed as:</a:t>
            </a:r>
          </a:p>
          <a:p>
            <a:pPr algn="just">
              <a:buFont typeface="+mj-lt"/>
              <a:buAutoNum type="arabicPeriod"/>
            </a:pPr>
            <a:r>
              <a:rPr lang="en-US" dirty="0"/>
              <a:t> At the beginning, the whole training set is considered as the root.</a:t>
            </a:r>
          </a:p>
          <a:p>
            <a:pPr algn="just">
              <a:buFont typeface="+mj-lt"/>
              <a:buAutoNum type="arabicPeriod"/>
            </a:pPr>
            <a:r>
              <a:rPr lang="en-US" dirty="0"/>
              <a:t> Feature values need to be categorical. If the values are continuous then they are discretized prior to building the model.</a:t>
            </a:r>
          </a:p>
          <a:p>
            <a:pPr algn="just">
              <a:buFont typeface="+mj-lt"/>
              <a:buAutoNum type="arabicPeriod"/>
            </a:pPr>
            <a:r>
              <a:rPr lang="en-US" dirty="0"/>
              <a:t> Records are distributed recursively on the basis of attribute values.</a:t>
            </a:r>
          </a:p>
          <a:p>
            <a:pPr algn="just">
              <a:buFont typeface="+mj-lt"/>
              <a:buAutoNum type="arabicPeriod"/>
            </a:pPr>
            <a:r>
              <a:rPr lang="en-US" dirty="0"/>
              <a:t> Order to placing attributes as root or internal node of the tree is done by using some statistical approach.</a:t>
            </a:r>
          </a:p>
          <a:p>
            <a:endParaRPr lang="en-US" dirty="0"/>
          </a:p>
        </p:txBody>
      </p:sp>
      <p:sp>
        <p:nvSpPr>
          <p:cNvPr id="5" name="Slide Number Placeholder 4">
            <a:extLst>
              <a:ext uri="{FF2B5EF4-FFF2-40B4-BE49-F238E27FC236}">
                <a16:creationId xmlns:a16="http://schemas.microsoft.com/office/drawing/2014/main" id="{430EDE3B-E3B9-4FDE-93DD-9721A5BFE549}"/>
              </a:ext>
            </a:extLst>
          </p:cNvPr>
          <p:cNvSpPr>
            <a:spLocks noGrp="1"/>
          </p:cNvSpPr>
          <p:nvPr>
            <p:ph type="sldNum" sz="quarter" idx="12"/>
          </p:nvPr>
        </p:nvSpPr>
        <p:spPr/>
        <p:txBody>
          <a:bodyPr/>
          <a:lstStyle/>
          <a:p>
            <a:fld id="{6B97D948-30E8-43F7-AE10-F6E2D9F2BBB1}" type="slidenum">
              <a:rPr lang="en-US" smtClean="0"/>
              <a:t>882</a:t>
            </a:fld>
            <a:endParaRPr lang="en-US"/>
          </a:p>
        </p:txBody>
      </p:sp>
    </p:spTree>
    <p:extLst>
      <p:ext uri="{BB962C8B-B14F-4D97-AF65-F5344CB8AC3E}">
        <p14:creationId xmlns:p14="http://schemas.microsoft.com/office/powerpoint/2010/main" val="728320635"/>
      </p:ext>
    </p:extLst>
  </p:cSld>
  <p:clrMapOvr>
    <a:masterClrMapping/>
  </p:clrMapOvr>
</p:sld>
</file>

<file path=ppt/slides/slide8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85D38-08B0-4F59-8F1D-24C401BF82E2}"/>
              </a:ext>
            </a:extLst>
          </p:cNvPr>
          <p:cNvSpPr>
            <a:spLocks noGrp="1"/>
          </p:cNvSpPr>
          <p:nvPr>
            <p:ph type="title"/>
          </p:nvPr>
        </p:nvSpPr>
        <p:spPr>
          <a:xfrm>
            <a:off x="838200" y="365125"/>
            <a:ext cx="10515600" cy="765175"/>
          </a:xfrm>
        </p:spPr>
        <p:txBody>
          <a:bodyPr/>
          <a:lstStyle/>
          <a:p>
            <a:r>
              <a:rPr lang="en-US" dirty="0"/>
              <a:t>Attribute selection measures </a:t>
            </a:r>
          </a:p>
        </p:txBody>
      </p:sp>
      <p:sp>
        <p:nvSpPr>
          <p:cNvPr id="3" name="Content Placeholder 2">
            <a:extLst>
              <a:ext uri="{FF2B5EF4-FFF2-40B4-BE49-F238E27FC236}">
                <a16:creationId xmlns:a16="http://schemas.microsoft.com/office/drawing/2014/main" id="{E7B2C692-B5DD-4B1C-80F4-0AC58C0A7ABA}"/>
              </a:ext>
            </a:extLst>
          </p:cNvPr>
          <p:cNvSpPr>
            <a:spLocks noGrp="1"/>
          </p:cNvSpPr>
          <p:nvPr>
            <p:ph idx="1"/>
          </p:nvPr>
        </p:nvSpPr>
        <p:spPr>
          <a:xfrm>
            <a:off x="838200" y="1130300"/>
            <a:ext cx="10515600" cy="5046663"/>
          </a:xfrm>
        </p:spPr>
        <p:txBody>
          <a:bodyPr/>
          <a:lstStyle/>
          <a:p>
            <a:pPr algn="just"/>
            <a:r>
              <a:rPr lang="en-US" dirty="0"/>
              <a:t>The primary challenge in the Decision Tree implementation is to identify the </a:t>
            </a:r>
            <a:r>
              <a:rPr lang="en-US" dirty="0">
                <a:solidFill>
                  <a:srgbClr val="FF0000"/>
                </a:solidFill>
              </a:rPr>
              <a:t>attributes</a:t>
            </a:r>
            <a:r>
              <a:rPr lang="en-US" dirty="0"/>
              <a:t> which we consider as the root node and each level. </a:t>
            </a:r>
          </a:p>
          <a:p>
            <a:pPr algn="just"/>
            <a:endParaRPr lang="en-US" dirty="0"/>
          </a:p>
          <a:p>
            <a:pPr algn="just"/>
            <a:r>
              <a:rPr lang="en-US" dirty="0"/>
              <a:t>This process is known as the </a:t>
            </a:r>
            <a:r>
              <a:rPr lang="en-US" dirty="0">
                <a:solidFill>
                  <a:srgbClr val="FF0000"/>
                </a:solidFill>
              </a:rPr>
              <a:t>attributes selection</a:t>
            </a:r>
            <a:r>
              <a:rPr lang="en-US" dirty="0"/>
              <a:t>. </a:t>
            </a:r>
          </a:p>
          <a:p>
            <a:pPr algn="just"/>
            <a:endParaRPr lang="en-US" dirty="0"/>
          </a:p>
          <a:p>
            <a:pPr algn="just"/>
            <a:r>
              <a:rPr lang="en-US" dirty="0"/>
              <a:t>There are different attributes selection measure to identify the attribute which can be considered as the root node at each level.</a:t>
            </a:r>
          </a:p>
        </p:txBody>
      </p:sp>
      <p:sp>
        <p:nvSpPr>
          <p:cNvPr id="5" name="Slide Number Placeholder 4">
            <a:extLst>
              <a:ext uri="{FF2B5EF4-FFF2-40B4-BE49-F238E27FC236}">
                <a16:creationId xmlns:a16="http://schemas.microsoft.com/office/drawing/2014/main" id="{778E00AC-D8B0-403C-95BD-C1814B30FD0D}"/>
              </a:ext>
            </a:extLst>
          </p:cNvPr>
          <p:cNvSpPr>
            <a:spLocks noGrp="1"/>
          </p:cNvSpPr>
          <p:nvPr>
            <p:ph type="sldNum" sz="quarter" idx="12"/>
          </p:nvPr>
        </p:nvSpPr>
        <p:spPr/>
        <p:txBody>
          <a:bodyPr/>
          <a:lstStyle/>
          <a:p>
            <a:fld id="{6B97D948-30E8-43F7-AE10-F6E2D9F2BBB1}" type="slidenum">
              <a:rPr lang="en-US" smtClean="0"/>
              <a:t>883</a:t>
            </a:fld>
            <a:endParaRPr lang="en-US"/>
          </a:p>
        </p:txBody>
      </p:sp>
    </p:spTree>
    <p:extLst>
      <p:ext uri="{BB962C8B-B14F-4D97-AF65-F5344CB8AC3E}">
        <p14:creationId xmlns:p14="http://schemas.microsoft.com/office/powerpoint/2010/main" val="1843704244"/>
      </p:ext>
    </p:extLst>
  </p:cSld>
  <p:clrMapOvr>
    <a:masterClrMapping/>
  </p:clrMapOvr>
</p:sld>
</file>

<file path=ppt/slides/slide8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23C2CA-D5AE-460F-A12B-D79FF3524C6E}"/>
              </a:ext>
            </a:extLst>
          </p:cNvPr>
          <p:cNvSpPr>
            <a:spLocks noGrp="1"/>
          </p:cNvSpPr>
          <p:nvPr>
            <p:ph idx="1"/>
          </p:nvPr>
        </p:nvSpPr>
        <p:spPr>
          <a:xfrm>
            <a:off x="838200" y="558800"/>
            <a:ext cx="10515600" cy="5618163"/>
          </a:xfrm>
        </p:spPr>
        <p:txBody>
          <a:bodyPr>
            <a:normAutofit/>
          </a:bodyPr>
          <a:lstStyle/>
          <a:p>
            <a:pPr algn="just"/>
            <a:r>
              <a:rPr lang="en-US" dirty="0"/>
              <a:t>There are 2 popular attribute selection measures. </a:t>
            </a:r>
          </a:p>
          <a:p>
            <a:pPr algn="just"/>
            <a:endParaRPr lang="en-US" dirty="0"/>
          </a:p>
          <a:p>
            <a:pPr algn="just"/>
            <a:r>
              <a:rPr lang="en-US" dirty="0"/>
              <a:t>They are as follows:-</a:t>
            </a:r>
          </a:p>
          <a:p>
            <a:pPr algn="just"/>
            <a:endParaRPr lang="en-US" dirty="0"/>
          </a:p>
          <a:p>
            <a:pPr algn="just"/>
            <a:r>
              <a:rPr lang="en-US" dirty="0"/>
              <a:t>    </a:t>
            </a:r>
            <a:r>
              <a:rPr lang="en-US" dirty="0">
                <a:solidFill>
                  <a:srgbClr val="FF0000"/>
                </a:solidFill>
              </a:rPr>
              <a:t>Information gain</a:t>
            </a:r>
          </a:p>
          <a:p>
            <a:pPr algn="just"/>
            <a:endParaRPr lang="en-US" dirty="0"/>
          </a:p>
          <a:p>
            <a:pPr algn="just"/>
            <a:r>
              <a:rPr lang="en-US" dirty="0"/>
              <a:t>    </a:t>
            </a:r>
            <a:r>
              <a:rPr lang="en-US" dirty="0">
                <a:solidFill>
                  <a:srgbClr val="FF0000"/>
                </a:solidFill>
              </a:rPr>
              <a:t>Gini index</a:t>
            </a:r>
          </a:p>
          <a:p>
            <a:pPr algn="just"/>
            <a:r>
              <a:rPr lang="en-US" dirty="0"/>
              <a:t>While using </a:t>
            </a:r>
            <a:r>
              <a:rPr lang="en-US" dirty="0">
                <a:solidFill>
                  <a:srgbClr val="00B050"/>
                </a:solidFill>
              </a:rPr>
              <a:t>Information gain </a:t>
            </a:r>
            <a:r>
              <a:rPr lang="en-US" dirty="0"/>
              <a:t>as a criterion, we assume attributes to be </a:t>
            </a:r>
            <a:r>
              <a:rPr lang="en-US" dirty="0">
                <a:solidFill>
                  <a:srgbClr val="00B050"/>
                </a:solidFill>
              </a:rPr>
              <a:t>categorical</a:t>
            </a:r>
            <a:r>
              <a:rPr lang="en-US" dirty="0"/>
              <a:t> and for </a:t>
            </a:r>
            <a:r>
              <a:rPr lang="en-US" dirty="0">
                <a:solidFill>
                  <a:srgbClr val="002060"/>
                </a:solidFill>
              </a:rPr>
              <a:t>Gini index </a:t>
            </a:r>
            <a:r>
              <a:rPr lang="en-US" dirty="0"/>
              <a:t>attributes are assumed to be </a:t>
            </a:r>
            <a:r>
              <a:rPr lang="en-US" dirty="0">
                <a:solidFill>
                  <a:srgbClr val="002060"/>
                </a:solidFill>
              </a:rPr>
              <a:t>continuous</a:t>
            </a:r>
            <a:r>
              <a:rPr lang="en-US" dirty="0"/>
              <a:t>. </a:t>
            </a:r>
          </a:p>
          <a:p>
            <a:pPr algn="just"/>
            <a:endParaRPr lang="en-US" dirty="0"/>
          </a:p>
        </p:txBody>
      </p:sp>
      <p:sp>
        <p:nvSpPr>
          <p:cNvPr id="5" name="Slide Number Placeholder 4">
            <a:extLst>
              <a:ext uri="{FF2B5EF4-FFF2-40B4-BE49-F238E27FC236}">
                <a16:creationId xmlns:a16="http://schemas.microsoft.com/office/drawing/2014/main" id="{D8ED7E98-C542-4625-AD7D-E13C1631C74B}"/>
              </a:ext>
            </a:extLst>
          </p:cNvPr>
          <p:cNvSpPr>
            <a:spLocks noGrp="1"/>
          </p:cNvSpPr>
          <p:nvPr>
            <p:ph type="sldNum" sz="quarter" idx="12"/>
          </p:nvPr>
        </p:nvSpPr>
        <p:spPr/>
        <p:txBody>
          <a:bodyPr/>
          <a:lstStyle/>
          <a:p>
            <a:fld id="{6B97D948-30E8-43F7-AE10-F6E2D9F2BBB1}" type="slidenum">
              <a:rPr lang="en-US" smtClean="0"/>
              <a:t>884</a:t>
            </a:fld>
            <a:endParaRPr lang="en-US"/>
          </a:p>
        </p:txBody>
      </p:sp>
    </p:spTree>
    <p:extLst>
      <p:ext uri="{BB962C8B-B14F-4D97-AF65-F5344CB8AC3E}">
        <p14:creationId xmlns:p14="http://schemas.microsoft.com/office/powerpoint/2010/main" val="3731493738"/>
      </p:ext>
    </p:extLst>
  </p:cSld>
  <p:clrMapOvr>
    <a:masterClrMapping/>
  </p:clrMapOvr>
</p:sld>
</file>

<file path=ppt/slides/slide8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9B56-AF66-434A-B445-C2F4E674C944}"/>
              </a:ext>
            </a:extLst>
          </p:cNvPr>
          <p:cNvSpPr>
            <a:spLocks noGrp="1"/>
          </p:cNvSpPr>
          <p:nvPr>
            <p:ph type="title"/>
          </p:nvPr>
        </p:nvSpPr>
        <p:spPr>
          <a:xfrm>
            <a:off x="838200" y="365125"/>
            <a:ext cx="10515600" cy="727075"/>
          </a:xfrm>
        </p:spPr>
        <p:txBody>
          <a:bodyPr/>
          <a:lstStyle/>
          <a:p>
            <a:r>
              <a:rPr lang="en-US" dirty="0"/>
              <a:t> Information gain</a:t>
            </a:r>
          </a:p>
        </p:txBody>
      </p:sp>
      <p:sp>
        <p:nvSpPr>
          <p:cNvPr id="3" name="Content Placeholder 2">
            <a:extLst>
              <a:ext uri="{FF2B5EF4-FFF2-40B4-BE49-F238E27FC236}">
                <a16:creationId xmlns:a16="http://schemas.microsoft.com/office/drawing/2014/main" id="{2B08BA6C-335C-4827-9FF6-909111C98EDB}"/>
              </a:ext>
            </a:extLst>
          </p:cNvPr>
          <p:cNvSpPr>
            <a:spLocks noGrp="1"/>
          </p:cNvSpPr>
          <p:nvPr>
            <p:ph idx="1"/>
          </p:nvPr>
        </p:nvSpPr>
        <p:spPr>
          <a:xfrm>
            <a:off x="838200" y="1092200"/>
            <a:ext cx="10515600" cy="5084763"/>
          </a:xfrm>
        </p:spPr>
        <p:txBody>
          <a:bodyPr/>
          <a:lstStyle/>
          <a:p>
            <a:pPr algn="just"/>
            <a:r>
              <a:rPr lang="en-US" dirty="0"/>
              <a:t>Using information gain as a criterion, we try to estimate the information contained by each attribute. </a:t>
            </a:r>
          </a:p>
          <a:p>
            <a:pPr algn="just"/>
            <a:endParaRPr lang="en-US" dirty="0"/>
          </a:p>
          <a:p>
            <a:pPr algn="just"/>
            <a:r>
              <a:rPr lang="en-US" dirty="0"/>
              <a:t>To understand the concept of </a:t>
            </a:r>
            <a:r>
              <a:rPr lang="en-US" dirty="0">
                <a:solidFill>
                  <a:srgbClr val="FF0000"/>
                </a:solidFill>
              </a:rPr>
              <a:t>information gain</a:t>
            </a:r>
            <a:r>
              <a:rPr lang="en-US" dirty="0"/>
              <a:t>, we need to know another concept called </a:t>
            </a:r>
            <a:r>
              <a:rPr lang="en-US" dirty="0">
                <a:solidFill>
                  <a:srgbClr val="FF0000"/>
                </a:solidFill>
              </a:rPr>
              <a:t>entropy</a:t>
            </a:r>
            <a:r>
              <a:rPr lang="en-US" dirty="0"/>
              <a:t>.</a:t>
            </a:r>
          </a:p>
        </p:txBody>
      </p:sp>
      <p:sp>
        <p:nvSpPr>
          <p:cNvPr id="5" name="Slide Number Placeholder 4">
            <a:extLst>
              <a:ext uri="{FF2B5EF4-FFF2-40B4-BE49-F238E27FC236}">
                <a16:creationId xmlns:a16="http://schemas.microsoft.com/office/drawing/2014/main" id="{7B58A15A-E273-4016-890B-A411C8B4E7D0}"/>
              </a:ext>
            </a:extLst>
          </p:cNvPr>
          <p:cNvSpPr>
            <a:spLocks noGrp="1"/>
          </p:cNvSpPr>
          <p:nvPr>
            <p:ph type="sldNum" sz="quarter" idx="12"/>
          </p:nvPr>
        </p:nvSpPr>
        <p:spPr/>
        <p:txBody>
          <a:bodyPr/>
          <a:lstStyle/>
          <a:p>
            <a:fld id="{6B97D948-30E8-43F7-AE10-F6E2D9F2BBB1}" type="slidenum">
              <a:rPr lang="en-US" smtClean="0"/>
              <a:t>885</a:t>
            </a:fld>
            <a:endParaRPr lang="en-US"/>
          </a:p>
        </p:txBody>
      </p:sp>
    </p:spTree>
    <p:extLst>
      <p:ext uri="{BB962C8B-B14F-4D97-AF65-F5344CB8AC3E}">
        <p14:creationId xmlns:p14="http://schemas.microsoft.com/office/powerpoint/2010/main" val="1104242813"/>
      </p:ext>
    </p:extLst>
  </p:cSld>
  <p:clrMapOvr>
    <a:masterClrMapping/>
  </p:clrMapOvr>
</p:sld>
</file>

<file path=ppt/slides/slide8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F9712-B528-4637-B084-4877982478D6}"/>
              </a:ext>
            </a:extLst>
          </p:cNvPr>
          <p:cNvSpPr>
            <a:spLocks noGrp="1"/>
          </p:cNvSpPr>
          <p:nvPr>
            <p:ph type="title"/>
          </p:nvPr>
        </p:nvSpPr>
        <p:spPr>
          <a:xfrm>
            <a:off x="838200" y="365125"/>
            <a:ext cx="10515600" cy="650875"/>
          </a:xfrm>
        </p:spPr>
        <p:txBody>
          <a:bodyPr>
            <a:normAutofit fontScale="90000"/>
          </a:bodyPr>
          <a:lstStyle/>
          <a:p>
            <a:r>
              <a:rPr lang="en-US" dirty="0"/>
              <a:t>Entropy</a:t>
            </a:r>
          </a:p>
        </p:txBody>
      </p:sp>
      <p:sp>
        <p:nvSpPr>
          <p:cNvPr id="3" name="Content Placeholder 2">
            <a:extLst>
              <a:ext uri="{FF2B5EF4-FFF2-40B4-BE49-F238E27FC236}">
                <a16:creationId xmlns:a16="http://schemas.microsoft.com/office/drawing/2014/main" id="{8622BDFA-D066-4218-9D19-77112DF20353}"/>
              </a:ext>
            </a:extLst>
          </p:cNvPr>
          <p:cNvSpPr>
            <a:spLocks noGrp="1"/>
          </p:cNvSpPr>
          <p:nvPr>
            <p:ph idx="1"/>
          </p:nvPr>
        </p:nvSpPr>
        <p:spPr>
          <a:xfrm>
            <a:off x="838200" y="1016000"/>
            <a:ext cx="10515600" cy="5160963"/>
          </a:xfrm>
        </p:spPr>
        <p:txBody>
          <a:bodyPr>
            <a:normAutofit fontScale="92500" lnSpcReduction="10000"/>
          </a:bodyPr>
          <a:lstStyle/>
          <a:p>
            <a:pPr algn="just"/>
            <a:r>
              <a:rPr lang="en-US" i="1" dirty="0"/>
              <a:t>Entropy measures the impurity in the given dataset</a:t>
            </a:r>
            <a:r>
              <a:rPr lang="en-US" dirty="0"/>
              <a:t>. </a:t>
            </a:r>
          </a:p>
          <a:p>
            <a:pPr algn="just"/>
            <a:endParaRPr lang="en-US" dirty="0"/>
          </a:p>
          <a:p>
            <a:pPr algn="just"/>
            <a:r>
              <a:rPr lang="en-US" dirty="0"/>
              <a:t>In the physical sciences, entropy is referred to as the randomness or uncertainty of a random variable X. </a:t>
            </a:r>
          </a:p>
          <a:p>
            <a:pPr algn="just"/>
            <a:endParaRPr lang="en-US" dirty="0"/>
          </a:p>
          <a:p>
            <a:pPr algn="just"/>
            <a:r>
              <a:rPr lang="en-US" dirty="0"/>
              <a:t>This is called the </a:t>
            </a:r>
            <a:r>
              <a:rPr lang="en-US" dirty="0">
                <a:solidFill>
                  <a:srgbClr val="FF0000"/>
                </a:solidFill>
              </a:rPr>
              <a:t>impurity</a:t>
            </a:r>
            <a:r>
              <a:rPr lang="en-US" dirty="0"/>
              <a:t> in a group of examples. </a:t>
            </a:r>
          </a:p>
          <a:p>
            <a:pPr algn="just"/>
            <a:endParaRPr lang="en-US" dirty="0"/>
          </a:p>
          <a:p>
            <a:pPr algn="just"/>
            <a:r>
              <a:rPr lang="en-US" dirty="0"/>
              <a:t>Information gain is the decrease in entropy. </a:t>
            </a:r>
          </a:p>
          <a:p>
            <a:pPr algn="just"/>
            <a:endParaRPr lang="en-US" dirty="0"/>
          </a:p>
          <a:p>
            <a:pPr algn="just"/>
            <a:r>
              <a:rPr lang="en-US" dirty="0"/>
              <a:t>Information gain computes the difference between entropy before split and average entropy after split of the dataset based on given attribute values.</a:t>
            </a:r>
          </a:p>
          <a:p>
            <a:endParaRPr lang="en-US" dirty="0"/>
          </a:p>
        </p:txBody>
      </p:sp>
      <p:sp>
        <p:nvSpPr>
          <p:cNvPr id="5" name="Slide Number Placeholder 4">
            <a:extLst>
              <a:ext uri="{FF2B5EF4-FFF2-40B4-BE49-F238E27FC236}">
                <a16:creationId xmlns:a16="http://schemas.microsoft.com/office/drawing/2014/main" id="{3FFD956E-AE92-4F6C-BDC6-0C1986E9BA6E}"/>
              </a:ext>
            </a:extLst>
          </p:cNvPr>
          <p:cNvSpPr>
            <a:spLocks noGrp="1"/>
          </p:cNvSpPr>
          <p:nvPr>
            <p:ph type="sldNum" sz="quarter" idx="12"/>
          </p:nvPr>
        </p:nvSpPr>
        <p:spPr/>
        <p:txBody>
          <a:bodyPr/>
          <a:lstStyle/>
          <a:p>
            <a:fld id="{6B97D948-30E8-43F7-AE10-F6E2D9F2BBB1}" type="slidenum">
              <a:rPr lang="en-US" smtClean="0"/>
              <a:t>886</a:t>
            </a:fld>
            <a:endParaRPr lang="en-US"/>
          </a:p>
        </p:txBody>
      </p:sp>
    </p:spTree>
    <p:extLst>
      <p:ext uri="{BB962C8B-B14F-4D97-AF65-F5344CB8AC3E}">
        <p14:creationId xmlns:p14="http://schemas.microsoft.com/office/powerpoint/2010/main" val="2935910691"/>
      </p:ext>
    </p:extLst>
  </p:cSld>
  <p:clrMapOvr>
    <a:masterClrMapping/>
  </p:clrMapOvr>
</p:sld>
</file>

<file path=ppt/slides/slide8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2A6B5D-1DEA-4326-BA39-9E18C4C270C2}"/>
                  </a:ext>
                </a:extLst>
              </p:cNvPr>
              <p:cNvSpPr>
                <a:spLocks noGrp="1"/>
              </p:cNvSpPr>
              <p:nvPr>
                <p:ph idx="1"/>
              </p:nvPr>
            </p:nvSpPr>
            <p:spPr>
              <a:xfrm>
                <a:off x="838200" y="546100"/>
                <a:ext cx="10515600" cy="5630863"/>
              </a:xfrm>
            </p:spPr>
            <p:txBody>
              <a:bodyPr>
                <a:normAutofit lnSpcReduction="10000"/>
              </a:bodyPr>
              <a:lstStyle/>
              <a:p>
                <a:r>
                  <a:rPr lang="en-US" dirty="0"/>
                  <a:t>Entropy is represented by the following formula:</a:t>
                </a:r>
              </a:p>
              <a:p>
                <a:endParaRPr lang="en-US" dirty="0"/>
              </a:p>
              <a:p>
                <a14:m>
                  <m:oMath xmlns:m="http://schemas.openxmlformats.org/officeDocument/2006/math">
                    <m:r>
                      <a:rPr lang="en-US" b="0" i="1" smtClean="0">
                        <a:latin typeface="Cambria Math" panose="02040503050406030204" pitchFamily="18" charset="0"/>
                      </a:rPr>
                      <m:t>𝐸𝑛𝑡𝑟𝑜𝑝𝑦</m:t>
                    </m:r>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𝐶</m:t>
                        </m:r>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𝑙𝑜𝑔</m:t>
                            </m:r>
                          </m:e>
                          <m:sub>
                            <m:r>
                              <a:rPr lang="en-US" b="0" i="1" smtClean="0">
                                <a:latin typeface="Cambria Math" panose="02040503050406030204" pitchFamily="18" charset="0"/>
                              </a:rPr>
                              <m:t>2</m:t>
                            </m:r>
                          </m:sub>
                        </m:sSub>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e>
                    </m:nary>
                    <m:r>
                      <a:rPr lang="en-US" b="0" i="1" smtClean="0">
                        <a:latin typeface="Cambria Math" panose="02040503050406030204" pitchFamily="18" charset="0"/>
                      </a:rPr>
                      <m:t> </m:t>
                    </m:r>
                  </m:oMath>
                </a14:m>
                <a:r>
                  <a:rPr lang="en-US" dirty="0"/>
                  <a:t>where C is the number of classes and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oMath>
                </a14:m>
                <a:r>
                  <a:rPr lang="en-US" dirty="0"/>
                  <a:t> is the probability associated with the </a:t>
                </a:r>
                <a14:m>
                  <m:oMath xmlns:m="http://schemas.openxmlformats.org/officeDocument/2006/math">
                    <m:r>
                      <a:rPr lang="en-US" b="0" i="1" smtClean="0">
                        <a:latin typeface="Cambria Math" panose="02040503050406030204" pitchFamily="18" charset="0"/>
                      </a:rPr>
                      <m:t>𝑖</m:t>
                    </m:r>
                  </m:oMath>
                </a14:m>
                <a:r>
                  <a:rPr lang="en-US" dirty="0" err="1"/>
                  <a:t>th</a:t>
                </a:r>
                <a:r>
                  <a:rPr lang="en-US" dirty="0"/>
                  <a:t> class.</a:t>
                </a:r>
              </a:p>
              <a:p>
                <a:endParaRPr lang="en-US" dirty="0"/>
              </a:p>
              <a:p>
                <a:pPr algn="just"/>
                <a:r>
                  <a:rPr lang="en-US" dirty="0"/>
                  <a:t>The ID3 (Iterative </a:t>
                </a:r>
                <a:r>
                  <a:rPr lang="en-US" dirty="0" err="1"/>
                  <a:t>Dichotomiser</a:t>
                </a:r>
                <a:r>
                  <a:rPr lang="en-US" dirty="0"/>
                  <a:t>) Decision Tree algorithm uses entropy to calculate information gain. </a:t>
                </a:r>
              </a:p>
              <a:p>
                <a:pPr algn="just"/>
                <a:endParaRPr lang="en-US" dirty="0"/>
              </a:p>
              <a:p>
                <a:pPr algn="just"/>
                <a:r>
                  <a:rPr lang="en-US" dirty="0"/>
                  <a:t>So, by calculating decrease in entropy measure of each attribute we can calculate their information gain. </a:t>
                </a:r>
              </a:p>
              <a:p>
                <a:pPr algn="just"/>
                <a:endParaRPr lang="en-US" dirty="0"/>
              </a:p>
              <a:p>
                <a:pPr algn="just"/>
                <a:r>
                  <a:rPr lang="en-US" dirty="0"/>
                  <a:t>The attribute with the highest information gain is chosen as the splitting attribute at the node.</a:t>
                </a:r>
              </a:p>
              <a:p>
                <a:endParaRPr lang="en-US" dirty="0"/>
              </a:p>
            </p:txBody>
          </p:sp>
        </mc:Choice>
        <mc:Fallback xmlns="">
          <p:sp>
            <p:nvSpPr>
              <p:cNvPr id="3" name="Content Placeholder 2">
                <a:extLst>
                  <a:ext uri="{FF2B5EF4-FFF2-40B4-BE49-F238E27FC236}">
                    <a16:creationId xmlns:a16="http://schemas.microsoft.com/office/drawing/2014/main" id="{AF2A6B5D-1DEA-4326-BA39-9E18C4C270C2}"/>
                  </a:ext>
                </a:extLst>
              </p:cNvPr>
              <p:cNvSpPr>
                <a:spLocks noGrp="1" noRot="1" noChangeAspect="1" noMove="1" noResize="1" noEditPoints="1" noAdjustHandles="1" noChangeArrowheads="1" noChangeShapeType="1" noTextEdit="1"/>
              </p:cNvSpPr>
              <p:nvPr>
                <p:ph idx="1"/>
              </p:nvPr>
            </p:nvSpPr>
            <p:spPr>
              <a:xfrm>
                <a:off x="838200" y="546100"/>
                <a:ext cx="10515600" cy="5630863"/>
              </a:xfrm>
              <a:blipFill>
                <a:blip r:embed="rId2"/>
                <a:stretch>
                  <a:fillRect l="-1043" t="-2492" r="-1159" b="-2167"/>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9C015C40-B951-43C1-95C6-6562F91FD3B5}"/>
              </a:ext>
            </a:extLst>
          </p:cNvPr>
          <p:cNvSpPr>
            <a:spLocks noGrp="1"/>
          </p:cNvSpPr>
          <p:nvPr>
            <p:ph type="sldNum" sz="quarter" idx="12"/>
          </p:nvPr>
        </p:nvSpPr>
        <p:spPr/>
        <p:txBody>
          <a:bodyPr/>
          <a:lstStyle/>
          <a:p>
            <a:fld id="{6B97D948-30E8-43F7-AE10-F6E2D9F2BBB1}" type="slidenum">
              <a:rPr lang="en-US" smtClean="0"/>
              <a:t>887</a:t>
            </a:fld>
            <a:endParaRPr lang="en-US"/>
          </a:p>
        </p:txBody>
      </p:sp>
    </p:spTree>
    <p:extLst>
      <p:ext uri="{BB962C8B-B14F-4D97-AF65-F5344CB8AC3E}">
        <p14:creationId xmlns:p14="http://schemas.microsoft.com/office/powerpoint/2010/main" val="1736798919"/>
      </p:ext>
    </p:extLst>
  </p:cSld>
  <p:clrMapOvr>
    <a:masterClrMapping/>
  </p:clrMapOvr>
</p:sld>
</file>

<file path=ppt/slides/slide8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B453-2B39-4F6C-A837-6F768C4258AB}"/>
              </a:ext>
            </a:extLst>
          </p:cNvPr>
          <p:cNvSpPr>
            <a:spLocks noGrp="1"/>
          </p:cNvSpPr>
          <p:nvPr>
            <p:ph type="title"/>
          </p:nvPr>
        </p:nvSpPr>
        <p:spPr>
          <a:xfrm>
            <a:off x="838200" y="365125"/>
            <a:ext cx="10515600" cy="625475"/>
          </a:xfrm>
        </p:spPr>
        <p:txBody>
          <a:bodyPr>
            <a:normAutofit fontScale="90000"/>
          </a:bodyPr>
          <a:lstStyle/>
          <a:p>
            <a:r>
              <a:rPr lang="en-US" dirty="0"/>
              <a:t>Gini index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D978FC-6F23-4656-A523-EF5723AA3483}"/>
                  </a:ext>
                </a:extLst>
              </p:cNvPr>
              <p:cNvSpPr>
                <a:spLocks noGrp="1"/>
              </p:cNvSpPr>
              <p:nvPr>
                <p:ph idx="1"/>
              </p:nvPr>
            </p:nvSpPr>
            <p:spPr>
              <a:xfrm>
                <a:off x="838200" y="1130300"/>
                <a:ext cx="10515600" cy="5046663"/>
              </a:xfrm>
            </p:spPr>
            <p:txBody>
              <a:bodyPr/>
              <a:lstStyle/>
              <a:p>
                <a:pPr algn="just"/>
                <a:r>
                  <a:rPr lang="en-US" dirty="0"/>
                  <a:t>Another attribute selection measure that CART (Categorical and Regression Trees) uses is the Gini index. </a:t>
                </a:r>
              </a:p>
              <a:p>
                <a:pPr algn="just"/>
                <a:endParaRPr lang="en-US" dirty="0"/>
              </a:p>
              <a:p>
                <a:pPr algn="just"/>
                <a:r>
                  <a:rPr lang="en-US" dirty="0"/>
                  <a:t>It uses the Gini method to create split points.</a:t>
                </a:r>
              </a:p>
              <a:p>
                <a:endParaRPr lang="en-US" dirty="0"/>
              </a:p>
              <a:p>
                <a:r>
                  <a:rPr lang="en-US" dirty="0"/>
                  <a:t>Gini index is given by:</a:t>
                </a:r>
              </a:p>
              <a:p>
                <a:endParaRPr lang="en-US" dirty="0"/>
              </a:p>
              <a:p>
                <a14:m>
                  <m:oMath xmlns:m="http://schemas.openxmlformats.org/officeDocument/2006/math">
                    <m:r>
                      <a:rPr lang="en-US" b="0" i="1" smtClean="0">
                        <a:latin typeface="Cambria Math" panose="02040503050406030204" pitchFamily="18" charset="0"/>
                      </a:rPr>
                      <m:t>𝐺𝑖𝑛𝑖</m:t>
                    </m:r>
                    <m:r>
                      <a:rPr lang="en-US" b="0" i="1" smtClean="0">
                        <a:latin typeface="Cambria Math" panose="02040503050406030204" pitchFamily="18" charset="0"/>
                      </a:rPr>
                      <m:t> </m:t>
                    </m:r>
                    <m:r>
                      <a:rPr lang="en-US" b="0" i="1" smtClean="0">
                        <a:latin typeface="Cambria Math" panose="02040503050406030204" pitchFamily="18" charset="0"/>
                      </a:rPr>
                      <m:t>𝑖𝑛𝑑𝑒𝑥</m:t>
                    </m:r>
                    <m:r>
                      <a:rPr lang="en-US" b="0" i="1" smtClean="0">
                        <a:latin typeface="Cambria Math" panose="02040503050406030204" pitchFamily="18" charset="0"/>
                      </a:rPr>
                      <m:t>=1 −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𝐶</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e>
                          <m:sup>
                            <m:r>
                              <a:rPr lang="en-US" b="0" i="1" smtClean="0">
                                <a:latin typeface="Cambria Math" panose="02040503050406030204" pitchFamily="18" charset="0"/>
                              </a:rPr>
                              <m:t>2</m:t>
                            </m:r>
                          </m:sup>
                        </m:sSup>
                      </m:e>
                    </m:nary>
                  </m:oMath>
                </a14:m>
                <a:endParaRPr lang="en-US" dirty="0"/>
              </a:p>
            </p:txBody>
          </p:sp>
        </mc:Choice>
        <mc:Fallback xmlns="">
          <p:sp>
            <p:nvSpPr>
              <p:cNvPr id="3" name="Content Placeholder 2">
                <a:extLst>
                  <a:ext uri="{FF2B5EF4-FFF2-40B4-BE49-F238E27FC236}">
                    <a16:creationId xmlns:a16="http://schemas.microsoft.com/office/drawing/2014/main" id="{13D978FC-6F23-4656-A523-EF5723AA3483}"/>
                  </a:ext>
                </a:extLst>
              </p:cNvPr>
              <p:cNvSpPr>
                <a:spLocks noGrp="1" noRot="1" noChangeAspect="1" noMove="1" noResize="1" noEditPoints="1" noAdjustHandles="1" noChangeArrowheads="1" noChangeShapeType="1" noTextEdit="1"/>
              </p:cNvSpPr>
              <p:nvPr>
                <p:ph idx="1"/>
              </p:nvPr>
            </p:nvSpPr>
            <p:spPr>
              <a:xfrm>
                <a:off x="838200" y="1130300"/>
                <a:ext cx="10515600" cy="5046663"/>
              </a:xfrm>
              <a:blipFill>
                <a:blip r:embed="rId2"/>
                <a:stretch>
                  <a:fillRect l="-1043" t="-1932" r="-115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7EB2990B-4A66-4FB8-B387-DFEC9BDBE1EB}"/>
              </a:ext>
            </a:extLst>
          </p:cNvPr>
          <p:cNvSpPr>
            <a:spLocks noGrp="1"/>
          </p:cNvSpPr>
          <p:nvPr>
            <p:ph type="sldNum" sz="quarter" idx="12"/>
          </p:nvPr>
        </p:nvSpPr>
        <p:spPr/>
        <p:txBody>
          <a:bodyPr/>
          <a:lstStyle/>
          <a:p>
            <a:fld id="{6B97D948-30E8-43F7-AE10-F6E2D9F2BBB1}" type="slidenum">
              <a:rPr lang="en-US" smtClean="0"/>
              <a:t>888</a:t>
            </a:fld>
            <a:endParaRPr lang="en-US"/>
          </a:p>
        </p:txBody>
      </p:sp>
    </p:spTree>
    <p:extLst>
      <p:ext uri="{BB962C8B-B14F-4D97-AF65-F5344CB8AC3E}">
        <p14:creationId xmlns:p14="http://schemas.microsoft.com/office/powerpoint/2010/main" val="2044603987"/>
      </p:ext>
    </p:extLst>
  </p:cSld>
  <p:clrMapOvr>
    <a:masterClrMapping/>
  </p:clrMapOvr>
</p:sld>
</file>

<file path=ppt/slides/slide8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21806-F4B0-4052-A99B-723B8A9C2C52}"/>
              </a:ext>
            </a:extLst>
          </p:cNvPr>
          <p:cNvSpPr>
            <a:spLocks noGrp="1"/>
          </p:cNvSpPr>
          <p:nvPr>
            <p:ph type="title"/>
          </p:nvPr>
        </p:nvSpPr>
        <p:spPr>
          <a:xfrm>
            <a:off x="838200" y="365125"/>
            <a:ext cx="10515600" cy="777875"/>
          </a:xfrm>
        </p:spPr>
        <p:txBody>
          <a:bodyPr/>
          <a:lstStyle/>
          <a:p>
            <a:r>
              <a:rPr lang="en-US" dirty="0"/>
              <a:t>Overfitting in Decision Tree algorithm </a:t>
            </a:r>
          </a:p>
        </p:txBody>
      </p:sp>
      <p:sp>
        <p:nvSpPr>
          <p:cNvPr id="3" name="Content Placeholder 2">
            <a:extLst>
              <a:ext uri="{FF2B5EF4-FFF2-40B4-BE49-F238E27FC236}">
                <a16:creationId xmlns:a16="http://schemas.microsoft.com/office/drawing/2014/main" id="{4FB821B9-E2E8-4114-A925-38ED8F18391B}"/>
              </a:ext>
            </a:extLst>
          </p:cNvPr>
          <p:cNvSpPr>
            <a:spLocks noGrp="1"/>
          </p:cNvSpPr>
          <p:nvPr>
            <p:ph idx="1"/>
          </p:nvPr>
        </p:nvSpPr>
        <p:spPr>
          <a:xfrm>
            <a:off x="838200" y="1143000"/>
            <a:ext cx="10515600" cy="5033963"/>
          </a:xfrm>
        </p:spPr>
        <p:txBody>
          <a:bodyPr>
            <a:normAutofit lnSpcReduction="10000"/>
          </a:bodyPr>
          <a:lstStyle/>
          <a:p>
            <a:pPr algn="just"/>
            <a:r>
              <a:rPr lang="en-US" dirty="0"/>
              <a:t>Overfitting is a practical problem while building a decision-tree model. </a:t>
            </a:r>
          </a:p>
          <a:p>
            <a:pPr algn="just"/>
            <a:endParaRPr lang="en-US" dirty="0"/>
          </a:p>
          <a:p>
            <a:pPr algn="just"/>
            <a:r>
              <a:rPr lang="en-US" dirty="0"/>
              <a:t>The problem of overfitting is considered when the algorithm continues to go deeper and deeper to reduce the training-set error but results with an increased test-set error. </a:t>
            </a:r>
          </a:p>
          <a:p>
            <a:pPr algn="just"/>
            <a:endParaRPr lang="en-US" dirty="0"/>
          </a:p>
          <a:p>
            <a:pPr algn="just"/>
            <a:r>
              <a:rPr lang="en-US" dirty="0"/>
              <a:t>So, accuracy of prediction for our model goes down. </a:t>
            </a:r>
          </a:p>
          <a:p>
            <a:pPr algn="just"/>
            <a:endParaRPr lang="en-US" dirty="0"/>
          </a:p>
          <a:p>
            <a:pPr algn="just"/>
            <a:r>
              <a:rPr lang="en-US" dirty="0"/>
              <a:t>It generally happens when we build many branches due to outliers and irregularities in data.</a:t>
            </a:r>
          </a:p>
        </p:txBody>
      </p:sp>
      <p:sp>
        <p:nvSpPr>
          <p:cNvPr id="5" name="Slide Number Placeholder 4">
            <a:extLst>
              <a:ext uri="{FF2B5EF4-FFF2-40B4-BE49-F238E27FC236}">
                <a16:creationId xmlns:a16="http://schemas.microsoft.com/office/drawing/2014/main" id="{F7CD27D4-D8A2-4581-B034-FBE8951F1F07}"/>
              </a:ext>
            </a:extLst>
          </p:cNvPr>
          <p:cNvSpPr>
            <a:spLocks noGrp="1"/>
          </p:cNvSpPr>
          <p:nvPr>
            <p:ph type="sldNum" sz="quarter" idx="12"/>
          </p:nvPr>
        </p:nvSpPr>
        <p:spPr/>
        <p:txBody>
          <a:bodyPr/>
          <a:lstStyle/>
          <a:p>
            <a:fld id="{6B97D948-30E8-43F7-AE10-F6E2D9F2BBB1}" type="slidenum">
              <a:rPr lang="en-US" smtClean="0"/>
              <a:t>889</a:t>
            </a:fld>
            <a:endParaRPr lang="en-US"/>
          </a:p>
        </p:txBody>
      </p:sp>
    </p:spTree>
    <p:extLst>
      <p:ext uri="{BB962C8B-B14F-4D97-AF65-F5344CB8AC3E}">
        <p14:creationId xmlns:p14="http://schemas.microsoft.com/office/powerpoint/2010/main" val="3829222205"/>
      </p:ext>
    </p:extLst>
  </p:cSld>
  <p:clrMapOvr>
    <a:masterClrMapping/>
  </p:clrMapOvr>
</p:sld>
</file>

<file path=ppt/slides/slide8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2A85F-4A44-4670-BCB9-D80BD01D38FA}"/>
              </a:ext>
            </a:extLst>
          </p:cNvPr>
          <p:cNvSpPr>
            <a:spLocks noGrp="1"/>
          </p:cNvSpPr>
          <p:nvPr>
            <p:ph type="title"/>
          </p:nvPr>
        </p:nvSpPr>
        <p:spPr>
          <a:xfrm>
            <a:off x="838200" y="365125"/>
            <a:ext cx="10515600" cy="574675"/>
          </a:xfrm>
        </p:spPr>
        <p:txBody>
          <a:bodyPr>
            <a:normAutofit fontScale="90000"/>
          </a:bodyPr>
          <a:lstStyle/>
          <a:p>
            <a:r>
              <a:rPr lang="en-US" dirty="0"/>
              <a:t>Avoiding overfitting</a:t>
            </a:r>
          </a:p>
        </p:txBody>
      </p:sp>
      <p:sp>
        <p:nvSpPr>
          <p:cNvPr id="3" name="Content Placeholder 2">
            <a:extLst>
              <a:ext uri="{FF2B5EF4-FFF2-40B4-BE49-F238E27FC236}">
                <a16:creationId xmlns:a16="http://schemas.microsoft.com/office/drawing/2014/main" id="{913D4DC3-658D-4439-BB85-6A2DEB6732A3}"/>
              </a:ext>
            </a:extLst>
          </p:cNvPr>
          <p:cNvSpPr>
            <a:spLocks noGrp="1"/>
          </p:cNvSpPr>
          <p:nvPr>
            <p:ph idx="1"/>
          </p:nvPr>
        </p:nvSpPr>
        <p:spPr>
          <a:xfrm>
            <a:off x="838200" y="1104900"/>
            <a:ext cx="10515600" cy="5072063"/>
          </a:xfrm>
        </p:spPr>
        <p:txBody>
          <a:bodyPr>
            <a:normAutofit fontScale="92500" lnSpcReduction="20000"/>
          </a:bodyPr>
          <a:lstStyle/>
          <a:p>
            <a:r>
              <a:rPr lang="en-US" dirty="0"/>
              <a:t>There are two approaches to avoiding overfitting:</a:t>
            </a:r>
          </a:p>
          <a:p>
            <a:r>
              <a:rPr lang="en-US" dirty="0">
                <a:solidFill>
                  <a:srgbClr val="FF0000"/>
                </a:solidFill>
              </a:rPr>
              <a:t>Pre-Pruning</a:t>
            </a:r>
          </a:p>
          <a:p>
            <a:pPr algn="just"/>
            <a:r>
              <a:rPr lang="en-US" dirty="0"/>
              <a:t>Pre-pruning involves stopping the tree construction a bit early. </a:t>
            </a:r>
          </a:p>
          <a:p>
            <a:pPr algn="just"/>
            <a:r>
              <a:rPr lang="en-US" dirty="0"/>
              <a:t>We prefer not to split a node if its goodness measure is below a threshold value. </a:t>
            </a:r>
          </a:p>
          <a:p>
            <a:pPr algn="just"/>
            <a:r>
              <a:rPr lang="en-US" dirty="0"/>
              <a:t>But it is difficult to choose an appropriate stopping point.</a:t>
            </a:r>
          </a:p>
          <a:p>
            <a:r>
              <a:rPr lang="en-US" dirty="0"/>
              <a:t>    </a:t>
            </a:r>
            <a:r>
              <a:rPr lang="en-US" dirty="0">
                <a:solidFill>
                  <a:srgbClr val="FF0000"/>
                </a:solidFill>
              </a:rPr>
              <a:t>Post-Pruning</a:t>
            </a:r>
          </a:p>
          <a:p>
            <a:pPr algn="just"/>
            <a:r>
              <a:rPr lang="en-US" dirty="0"/>
              <a:t>Post-pruning involves the construction of a complete tree. </a:t>
            </a:r>
          </a:p>
          <a:p>
            <a:pPr algn="just"/>
            <a:r>
              <a:rPr lang="en-US" dirty="0"/>
              <a:t>If the tree shows the overfitting problem then pruning is done as a post-pruning step. </a:t>
            </a:r>
          </a:p>
          <a:p>
            <a:pPr algn="just"/>
            <a:r>
              <a:rPr lang="en-US" dirty="0"/>
              <a:t>We use the cross-validation data to check the effect of our pruning. </a:t>
            </a:r>
          </a:p>
          <a:p>
            <a:pPr algn="just"/>
            <a:r>
              <a:rPr lang="en-US" dirty="0"/>
              <a:t>Using cross-validation data, we test whether expanding a node will result in improve or not.</a:t>
            </a:r>
          </a:p>
          <a:p>
            <a:endParaRPr lang="en-US" dirty="0"/>
          </a:p>
        </p:txBody>
      </p:sp>
      <p:sp>
        <p:nvSpPr>
          <p:cNvPr id="5" name="Slide Number Placeholder 4">
            <a:extLst>
              <a:ext uri="{FF2B5EF4-FFF2-40B4-BE49-F238E27FC236}">
                <a16:creationId xmlns:a16="http://schemas.microsoft.com/office/drawing/2014/main" id="{8D9FC84A-6C19-4DB1-B1AE-98CAAC0853D6}"/>
              </a:ext>
            </a:extLst>
          </p:cNvPr>
          <p:cNvSpPr>
            <a:spLocks noGrp="1"/>
          </p:cNvSpPr>
          <p:nvPr>
            <p:ph type="sldNum" sz="quarter" idx="12"/>
          </p:nvPr>
        </p:nvSpPr>
        <p:spPr/>
        <p:txBody>
          <a:bodyPr/>
          <a:lstStyle/>
          <a:p>
            <a:fld id="{6B97D948-30E8-43F7-AE10-F6E2D9F2BBB1}" type="slidenum">
              <a:rPr lang="en-US" smtClean="0"/>
              <a:t>890</a:t>
            </a:fld>
            <a:endParaRPr lang="en-US"/>
          </a:p>
        </p:txBody>
      </p:sp>
    </p:spTree>
    <p:extLst>
      <p:ext uri="{BB962C8B-B14F-4D97-AF65-F5344CB8AC3E}">
        <p14:creationId xmlns:p14="http://schemas.microsoft.com/office/powerpoint/2010/main" val="1555585593"/>
      </p:ext>
    </p:extLst>
  </p:cSld>
  <p:clrMapOvr>
    <a:masterClrMapping/>
  </p:clrMapOvr>
</p:sld>
</file>

<file path=ppt/slides/slide8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D4538-305E-4390-B830-6B9881C4D210}"/>
              </a:ext>
            </a:extLst>
          </p:cNvPr>
          <p:cNvSpPr>
            <a:spLocks noGrp="1"/>
          </p:cNvSpPr>
          <p:nvPr>
            <p:ph type="title"/>
          </p:nvPr>
        </p:nvSpPr>
        <p:spPr>
          <a:xfrm>
            <a:off x="838200" y="365125"/>
            <a:ext cx="10515600" cy="727075"/>
          </a:xfrm>
        </p:spPr>
        <p:txBody>
          <a:bodyPr/>
          <a:lstStyle/>
          <a:p>
            <a:r>
              <a:rPr lang="en-US" dirty="0"/>
              <a:t>Code</a:t>
            </a:r>
          </a:p>
        </p:txBody>
      </p:sp>
      <p:sp>
        <p:nvSpPr>
          <p:cNvPr id="3" name="Content Placeholder 2">
            <a:extLst>
              <a:ext uri="{FF2B5EF4-FFF2-40B4-BE49-F238E27FC236}">
                <a16:creationId xmlns:a16="http://schemas.microsoft.com/office/drawing/2014/main" id="{F35EFDAB-1675-4B55-ADAB-C390069C1D55}"/>
              </a:ext>
            </a:extLst>
          </p:cNvPr>
          <p:cNvSpPr>
            <a:spLocks noGrp="1"/>
          </p:cNvSpPr>
          <p:nvPr>
            <p:ph idx="1"/>
          </p:nvPr>
        </p:nvSpPr>
        <p:spPr>
          <a:xfrm>
            <a:off x="838200" y="1092200"/>
            <a:ext cx="10515600" cy="5084763"/>
          </a:xfrm>
        </p:spPr>
        <p:txBody>
          <a:bodyPr/>
          <a:lstStyle/>
          <a:p>
            <a:r>
              <a:rPr lang="en-US" dirty="0">
                <a:solidFill>
                  <a:srgbClr val="FF0000"/>
                </a:solidFill>
              </a:rPr>
              <a:t>import </a:t>
            </a:r>
            <a:r>
              <a:rPr lang="en-US" dirty="0" err="1">
                <a:solidFill>
                  <a:srgbClr val="FF0000"/>
                </a:solidFill>
              </a:rPr>
              <a:t>numpy</a:t>
            </a:r>
            <a:r>
              <a:rPr lang="en-US" dirty="0">
                <a:solidFill>
                  <a:srgbClr val="FF0000"/>
                </a:solidFill>
              </a:rPr>
              <a:t> as np</a:t>
            </a:r>
          </a:p>
          <a:p>
            <a:endParaRPr lang="en-US" dirty="0">
              <a:solidFill>
                <a:srgbClr val="FF0000"/>
              </a:solidFill>
            </a:endParaRPr>
          </a:p>
          <a:p>
            <a:r>
              <a:rPr lang="en-US" dirty="0">
                <a:solidFill>
                  <a:srgbClr val="FF0000"/>
                </a:solidFill>
              </a:rPr>
              <a:t>import pandas as pd</a:t>
            </a:r>
          </a:p>
          <a:p>
            <a:endParaRPr lang="en-US" dirty="0">
              <a:solidFill>
                <a:srgbClr val="FF0000"/>
              </a:solidFill>
            </a:endParaRPr>
          </a:p>
          <a:p>
            <a:r>
              <a:rPr lang="en-US" dirty="0">
                <a:solidFill>
                  <a:srgbClr val="FF0000"/>
                </a:solidFill>
              </a:rPr>
              <a:t>import </a:t>
            </a:r>
            <a:r>
              <a:rPr lang="en-US" dirty="0" err="1">
                <a:solidFill>
                  <a:srgbClr val="FF0000"/>
                </a:solidFill>
              </a:rPr>
              <a:t>matplotlib.pyplot</a:t>
            </a:r>
            <a:r>
              <a:rPr lang="en-US" dirty="0">
                <a:solidFill>
                  <a:srgbClr val="FF0000"/>
                </a:solidFill>
              </a:rPr>
              <a:t> as </a:t>
            </a:r>
            <a:r>
              <a:rPr lang="en-US" dirty="0" err="1">
                <a:solidFill>
                  <a:srgbClr val="FF0000"/>
                </a:solidFill>
              </a:rPr>
              <a:t>plt</a:t>
            </a:r>
            <a:endParaRPr lang="en-US" dirty="0">
              <a:solidFill>
                <a:srgbClr val="FF0000"/>
              </a:solidFill>
            </a:endParaRPr>
          </a:p>
          <a:p>
            <a:endParaRPr lang="en-US" dirty="0">
              <a:solidFill>
                <a:srgbClr val="FF0000"/>
              </a:solidFill>
            </a:endParaRPr>
          </a:p>
          <a:p>
            <a:r>
              <a:rPr lang="en-US" dirty="0">
                <a:solidFill>
                  <a:srgbClr val="FF0000"/>
                </a:solidFill>
              </a:rPr>
              <a:t>import seaborn as </a:t>
            </a:r>
            <a:r>
              <a:rPr lang="en-US" dirty="0" err="1">
                <a:solidFill>
                  <a:srgbClr val="FF0000"/>
                </a:solidFill>
              </a:rPr>
              <a:t>sns</a:t>
            </a:r>
            <a:endParaRPr lang="en-US" dirty="0">
              <a:solidFill>
                <a:srgbClr val="FF0000"/>
              </a:solidFill>
            </a:endParaRPr>
          </a:p>
        </p:txBody>
      </p:sp>
      <p:sp>
        <p:nvSpPr>
          <p:cNvPr id="5" name="Slide Number Placeholder 4">
            <a:extLst>
              <a:ext uri="{FF2B5EF4-FFF2-40B4-BE49-F238E27FC236}">
                <a16:creationId xmlns:a16="http://schemas.microsoft.com/office/drawing/2014/main" id="{5012403D-96A3-4E08-8801-B8E7FB8D097C}"/>
              </a:ext>
            </a:extLst>
          </p:cNvPr>
          <p:cNvSpPr>
            <a:spLocks noGrp="1"/>
          </p:cNvSpPr>
          <p:nvPr>
            <p:ph type="sldNum" sz="quarter" idx="12"/>
          </p:nvPr>
        </p:nvSpPr>
        <p:spPr/>
        <p:txBody>
          <a:bodyPr/>
          <a:lstStyle/>
          <a:p>
            <a:fld id="{6B97D948-30E8-43F7-AE10-F6E2D9F2BBB1}" type="slidenum">
              <a:rPr lang="en-US" smtClean="0"/>
              <a:t>891</a:t>
            </a:fld>
            <a:endParaRPr lang="en-US"/>
          </a:p>
        </p:txBody>
      </p:sp>
    </p:spTree>
    <p:extLst>
      <p:ext uri="{BB962C8B-B14F-4D97-AF65-F5344CB8AC3E}">
        <p14:creationId xmlns:p14="http://schemas.microsoft.com/office/powerpoint/2010/main" val="3514427963"/>
      </p:ext>
    </p:extLst>
  </p:cSld>
  <p:clrMapOvr>
    <a:masterClrMapping/>
  </p:clrMapOvr>
</p:sld>
</file>

<file path=ppt/slides/slide8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847EA1-9415-44C5-9F97-6F97AC11E2F3}"/>
              </a:ext>
            </a:extLst>
          </p:cNvPr>
          <p:cNvSpPr>
            <a:spLocks noGrp="1"/>
          </p:cNvSpPr>
          <p:nvPr>
            <p:ph idx="1"/>
          </p:nvPr>
        </p:nvSpPr>
        <p:spPr>
          <a:xfrm>
            <a:off x="838200" y="571500"/>
            <a:ext cx="10515600" cy="5605463"/>
          </a:xfrm>
        </p:spPr>
        <p:txBody>
          <a:bodyPr>
            <a:normAutofit fontScale="77500" lnSpcReduction="20000"/>
          </a:bodyPr>
          <a:lstStyle/>
          <a:p>
            <a:r>
              <a:rPr lang="en-US" dirty="0">
                <a:solidFill>
                  <a:srgbClr val="FF0000"/>
                </a:solidFill>
              </a:rPr>
              <a:t>import </a:t>
            </a:r>
            <a:r>
              <a:rPr lang="en-US" dirty="0" err="1">
                <a:solidFill>
                  <a:srgbClr val="FF0000"/>
                </a:solidFill>
              </a:rPr>
              <a:t>os</a:t>
            </a:r>
            <a:endParaRPr lang="en-US" dirty="0">
              <a:solidFill>
                <a:srgbClr val="FF0000"/>
              </a:solidFill>
            </a:endParaRPr>
          </a:p>
          <a:p>
            <a:endParaRPr lang="en-US" dirty="0">
              <a:solidFill>
                <a:srgbClr val="FF0000"/>
              </a:solidFill>
            </a:endParaRPr>
          </a:p>
          <a:p>
            <a:r>
              <a:rPr lang="en-US" dirty="0" err="1">
                <a:solidFill>
                  <a:srgbClr val="FF0000"/>
                </a:solidFill>
              </a:rPr>
              <a:t>os.chdir</a:t>
            </a:r>
            <a:r>
              <a:rPr lang="en-US" dirty="0">
                <a:solidFill>
                  <a:srgbClr val="FF0000"/>
                </a:solidFill>
              </a:rPr>
              <a:t>('C:/</a:t>
            </a:r>
            <a:r>
              <a:rPr lang="en-US" dirty="0" err="1">
                <a:solidFill>
                  <a:srgbClr val="FF0000"/>
                </a:solidFill>
              </a:rPr>
              <a:t>PythonProjects</a:t>
            </a:r>
            <a:r>
              <a:rPr lang="en-US" dirty="0">
                <a:solidFill>
                  <a:srgbClr val="FF0000"/>
                </a:solidFill>
              </a:rPr>
              <a:t>')</a:t>
            </a:r>
          </a:p>
          <a:p>
            <a:endParaRPr lang="en-US" dirty="0">
              <a:solidFill>
                <a:srgbClr val="FF0000"/>
              </a:solidFill>
            </a:endParaRPr>
          </a:p>
          <a:p>
            <a:r>
              <a:rPr lang="en-US" dirty="0">
                <a:solidFill>
                  <a:srgbClr val="FF0000"/>
                </a:solidFill>
              </a:rPr>
              <a:t>df = </a:t>
            </a:r>
            <a:r>
              <a:rPr lang="en-US" dirty="0" err="1">
                <a:solidFill>
                  <a:srgbClr val="FF0000"/>
                </a:solidFill>
              </a:rPr>
              <a:t>pd.read_csv</a:t>
            </a:r>
            <a:r>
              <a:rPr lang="en-US" dirty="0">
                <a:solidFill>
                  <a:srgbClr val="FF0000"/>
                </a:solidFill>
              </a:rPr>
              <a:t>('car_evaluation.csv', header = None)</a:t>
            </a:r>
          </a:p>
          <a:p>
            <a:endParaRPr lang="en-US" dirty="0">
              <a:solidFill>
                <a:srgbClr val="FF0000"/>
              </a:solidFill>
            </a:endParaRPr>
          </a:p>
          <a:p>
            <a:r>
              <a:rPr lang="en-US" dirty="0" err="1">
                <a:solidFill>
                  <a:srgbClr val="FF0000"/>
                </a:solidFill>
              </a:rPr>
              <a:t>df.head</a:t>
            </a:r>
            <a:r>
              <a:rPr lang="en-US" dirty="0">
                <a:solidFill>
                  <a:srgbClr val="FF0000"/>
                </a:solidFill>
              </a:rPr>
              <a:t>(3)</a:t>
            </a:r>
          </a:p>
          <a:p>
            <a:r>
              <a:rPr lang="en-US" dirty="0"/>
              <a:t>Out[9]:</a:t>
            </a:r>
          </a:p>
          <a:p>
            <a:r>
              <a:rPr lang="en-US" dirty="0"/>
              <a:t>       0      1  2  3      4     5      6</a:t>
            </a:r>
          </a:p>
          <a:p>
            <a:r>
              <a:rPr lang="en-US" dirty="0"/>
              <a:t>0  </a:t>
            </a:r>
            <a:r>
              <a:rPr lang="en-US" dirty="0" err="1"/>
              <a:t>vhigh</a:t>
            </a:r>
            <a:r>
              <a:rPr lang="en-US" dirty="0"/>
              <a:t>  </a:t>
            </a:r>
            <a:r>
              <a:rPr lang="en-US" dirty="0" err="1"/>
              <a:t>vhigh</a:t>
            </a:r>
            <a:r>
              <a:rPr lang="en-US" dirty="0"/>
              <a:t>  2  2  small   low  </a:t>
            </a:r>
            <a:r>
              <a:rPr lang="en-US" dirty="0" err="1"/>
              <a:t>unacc</a:t>
            </a:r>
            <a:endParaRPr lang="en-US" dirty="0"/>
          </a:p>
          <a:p>
            <a:r>
              <a:rPr lang="en-US" dirty="0"/>
              <a:t>1  </a:t>
            </a:r>
            <a:r>
              <a:rPr lang="en-US" dirty="0" err="1"/>
              <a:t>vhigh</a:t>
            </a:r>
            <a:r>
              <a:rPr lang="en-US" dirty="0"/>
              <a:t>  </a:t>
            </a:r>
            <a:r>
              <a:rPr lang="en-US" dirty="0" err="1"/>
              <a:t>vhigh</a:t>
            </a:r>
            <a:r>
              <a:rPr lang="en-US" dirty="0"/>
              <a:t>  2  2  small   med  </a:t>
            </a:r>
            <a:r>
              <a:rPr lang="en-US" dirty="0" err="1"/>
              <a:t>unacc</a:t>
            </a:r>
            <a:endParaRPr lang="en-US" dirty="0"/>
          </a:p>
          <a:p>
            <a:r>
              <a:rPr lang="en-US" dirty="0"/>
              <a:t>2  </a:t>
            </a:r>
            <a:r>
              <a:rPr lang="en-US" dirty="0" err="1"/>
              <a:t>vhigh</a:t>
            </a:r>
            <a:r>
              <a:rPr lang="en-US" dirty="0"/>
              <a:t>  </a:t>
            </a:r>
            <a:r>
              <a:rPr lang="en-US" dirty="0" err="1"/>
              <a:t>vhigh</a:t>
            </a:r>
            <a:r>
              <a:rPr lang="en-US" dirty="0"/>
              <a:t>  2  2  small  high  </a:t>
            </a:r>
            <a:r>
              <a:rPr lang="en-US" dirty="0" err="1"/>
              <a:t>unacc</a:t>
            </a:r>
            <a:endParaRPr lang="en-US" dirty="0"/>
          </a:p>
          <a:p>
            <a:endParaRPr lang="en-US" dirty="0"/>
          </a:p>
          <a:p>
            <a:r>
              <a:rPr lang="en-US" dirty="0" err="1"/>
              <a:t>df.shape</a:t>
            </a:r>
            <a:endParaRPr lang="en-US" dirty="0"/>
          </a:p>
          <a:p>
            <a:r>
              <a:rPr lang="en-US" dirty="0"/>
              <a:t>Out[10]: (1728, 7)</a:t>
            </a:r>
          </a:p>
          <a:p>
            <a:endParaRPr lang="en-US" dirty="0"/>
          </a:p>
          <a:p>
            <a:endParaRPr lang="en-US" dirty="0"/>
          </a:p>
        </p:txBody>
      </p:sp>
      <p:sp>
        <p:nvSpPr>
          <p:cNvPr id="5" name="Slide Number Placeholder 4">
            <a:extLst>
              <a:ext uri="{FF2B5EF4-FFF2-40B4-BE49-F238E27FC236}">
                <a16:creationId xmlns:a16="http://schemas.microsoft.com/office/drawing/2014/main" id="{58545C08-D000-4F15-86C2-2586E44A298A}"/>
              </a:ext>
            </a:extLst>
          </p:cNvPr>
          <p:cNvSpPr>
            <a:spLocks noGrp="1"/>
          </p:cNvSpPr>
          <p:nvPr>
            <p:ph type="sldNum" sz="quarter" idx="12"/>
          </p:nvPr>
        </p:nvSpPr>
        <p:spPr/>
        <p:txBody>
          <a:bodyPr/>
          <a:lstStyle/>
          <a:p>
            <a:fld id="{6B97D948-30E8-43F7-AE10-F6E2D9F2BBB1}" type="slidenum">
              <a:rPr lang="en-US" smtClean="0"/>
              <a:t>892</a:t>
            </a:fld>
            <a:endParaRPr lang="en-US"/>
          </a:p>
        </p:txBody>
      </p:sp>
    </p:spTree>
    <p:extLst>
      <p:ext uri="{BB962C8B-B14F-4D97-AF65-F5344CB8AC3E}">
        <p14:creationId xmlns:p14="http://schemas.microsoft.com/office/powerpoint/2010/main" val="2824695187"/>
      </p:ext>
    </p:extLst>
  </p:cSld>
  <p:clrMapOvr>
    <a:masterClrMapping/>
  </p:clrMapOvr>
</p:sld>
</file>

<file path=ppt/slides/slide8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0DF85-26F4-4AD2-9CAF-1F9AF0FDF999}"/>
              </a:ext>
            </a:extLst>
          </p:cNvPr>
          <p:cNvSpPr>
            <a:spLocks noGrp="1"/>
          </p:cNvSpPr>
          <p:nvPr>
            <p:ph type="title"/>
          </p:nvPr>
        </p:nvSpPr>
        <p:spPr>
          <a:xfrm>
            <a:off x="838200" y="365125"/>
            <a:ext cx="10515600" cy="676275"/>
          </a:xfrm>
        </p:spPr>
        <p:txBody>
          <a:bodyPr>
            <a:normAutofit fontScale="90000"/>
          </a:bodyPr>
          <a:lstStyle/>
          <a:p>
            <a:r>
              <a:rPr lang="en-US" dirty="0"/>
              <a:t>Rename column names</a:t>
            </a:r>
          </a:p>
        </p:txBody>
      </p:sp>
      <p:sp>
        <p:nvSpPr>
          <p:cNvPr id="3" name="Content Placeholder 2">
            <a:extLst>
              <a:ext uri="{FF2B5EF4-FFF2-40B4-BE49-F238E27FC236}">
                <a16:creationId xmlns:a16="http://schemas.microsoft.com/office/drawing/2014/main" id="{1C5D55EC-6D71-4464-AB0A-84F9B6E3E1A3}"/>
              </a:ext>
            </a:extLst>
          </p:cNvPr>
          <p:cNvSpPr>
            <a:spLocks noGrp="1"/>
          </p:cNvSpPr>
          <p:nvPr>
            <p:ph idx="1"/>
          </p:nvPr>
        </p:nvSpPr>
        <p:spPr>
          <a:xfrm>
            <a:off x="838200" y="1422400"/>
            <a:ext cx="10515600" cy="4754563"/>
          </a:xfrm>
        </p:spPr>
        <p:txBody>
          <a:bodyPr/>
          <a:lstStyle/>
          <a:p>
            <a:pPr algn="just"/>
            <a:r>
              <a:rPr lang="en-US" dirty="0"/>
              <a:t>We can see that the dataset does not have proper column names. </a:t>
            </a:r>
          </a:p>
          <a:p>
            <a:pPr algn="just"/>
            <a:endParaRPr lang="en-US" dirty="0"/>
          </a:p>
          <a:p>
            <a:pPr algn="just"/>
            <a:r>
              <a:rPr lang="en-US" dirty="0"/>
              <a:t>The columns are merely labelled as 0,1,2.... and so on. </a:t>
            </a:r>
          </a:p>
          <a:p>
            <a:pPr algn="just"/>
            <a:endParaRPr lang="en-US" dirty="0"/>
          </a:p>
          <a:p>
            <a:pPr algn="just"/>
            <a:r>
              <a:rPr lang="en-US" dirty="0"/>
              <a:t>We should give proper names to the columns.</a:t>
            </a:r>
          </a:p>
        </p:txBody>
      </p:sp>
      <p:sp>
        <p:nvSpPr>
          <p:cNvPr id="5" name="Slide Number Placeholder 4">
            <a:extLst>
              <a:ext uri="{FF2B5EF4-FFF2-40B4-BE49-F238E27FC236}">
                <a16:creationId xmlns:a16="http://schemas.microsoft.com/office/drawing/2014/main" id="{64E289F6-5BD1-4266-9E98-BE13F89C953B}"/>
              </a:ext>
            </a:extLst>
          </p:cNvPr>
          <p:cNvSpPr>
            <a:spLocks noGrp="1"/>
          </p:cNvSpPr>
          <p:nvPr>
            <p:ph type="sldNum" sz="quarter" idx="12"/>
          </p:nvPr>
        </p:nvSpPr>
        <p:spPr/>
        <p:txBody>
          <a:bodyPr/>
          <a:lstStyle/>
          <a:p>
            <a:fld id="{6B97D948-30E8-43F7-AE10-F6E2D9F2BBB1}" type="slidenum">
              <a:rPr lang="en-US" smtClean="0"/>
              <a:t>893</a:t>
            </a:fld>
            <a:endParaRPr lang="en-US"/>
          </a:p>
        </p:txBody>
      </p:sp>
    </p:spTree>
    <p:extLst>
      <p:ext uri="{BB962C8B-B14F-4D97-AF65-F5344CB8AC3E}">
        <p14:creationId xmlns:p14="http://schemas.microsoft.com/office/powerpoint/2010/main" val="2185628858"/>
      </p:ext>
    </p:extLst>
  </p:cSld>
  <p:clrMapOvr>
    <a:masterClrMapping/>
  </p:clrMapOvr>
</p:sld>
</file>

<file path=ppt/slides/slide8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6AB160-7756-453C-814C-9EFF6C82A4BF}"/>
              </a:ext>
            </a:extLst>
          </p:cNvPr>
          <p:cNvSpPr>
            <a:spLocks noGrp="1"/>
          </p:cNvSpPr>
          <p:nvPr>
            <p:ph idx="1"/>
          </p:nvPr>
        </p:nvSpPr>
        <p:spPr>
          <a:xfrm>
            <a:off x="838200" y="482600"/>
            <a:ext cx="10515600" cy="5694363"/>
          </a:xfrm>
        </p:spPr>
        <p:txBody>
          <a:bodyPr/>
          <a:lstStyle/>
          <a:p>
            <a:r>
              <a:rPr lang="en-US" dirty="0"/>
              <a:t> </a:t>
            </a:r>
            <a:r>
              <a:rPr lang="en-US" dirty="0" err="1">
                <a:solidFill>
                  <a:srgbClr val="FF0000"/>
                </a:solidFill>
              </a:rPr>
              <a:t>col_names</a:t>
            </a:r>
            <a:r>
              <a:rPr lang="en-US" dirty="0">
                <a:solidFill>
                  <a:srgbClr val="FF0000"/>
                </a:solidFill>
              </a:rPr>
              <a:t> = ['buying', '</a:t>
            </a:r>
            <a:r>
              <a:rPr lang="en-US" dirty="0" err="1">
                <a:solidFill>
                  <a:srgbClr val="FF0000"/>
                </a:solidFill>
              </a:rPr>
              <a:t>maint</a:t>
            </a:r>
            <a:r>
              <a:rPr lang="en-US" dirty="0">
                <a:solidFill>
                  <a:srgbClr val="FF0000"/>
                </a:solidFill>
              </a:rPr>
              <a:t>', 'doors', 'persons', '</a:t>
            </a:r>
            <a:r>
              <a:rPr lang="en-US" dirty="0" err="1">
                <a:solidFill>
                  <a:srgbClr val="FF0000"/>
                </a:solidFill>
              </a:rPr>
              <a:t>lug_boot</a:t>
            </a:r>
            <a:r>
              <a:rPr lang="en-US" dirty="0">
                <a:solidFill>
                  <a:srgbClr val="FF0000"/>
                </a:solidFill>
              </a:rPr>
              <a:t>', 'safety', 'class']</a:t>
            </a:r>
          </a:p>
          <a:p>
            <a:r>
              <a:rPr lang="en-US" dirty="0" err="1">
                <a:solidFill>
                  <a:srgbClr val="FF0000"/>
                </a:solidFill>
              </a:rPr>
              <a:t>df.columns</a:t>
            </a:r>
            <a:r>
              <a:rPr lang="en-US" dirty="0">
                <a:solidFill>
                  <a:srgbClr val="FF0000"/>
                </a:solidFill>
              </a:rPr>
              <a:t> = </a:t>
            </a:r>
            <a:r>
              <a:rPr lang="en-US" dirty="0" err="1">
                <a:solidFill>
                  <a:srgbClr val="FF0000"/>
                </a:solidFill>
              </a:rPr>
              <a:t>col_names</a:t>
            </a:r>
            <a:endParaRPr lang="en-US" dirty="0">
              <a:solidFill>
                <a:srgbClr val="FF0000"/>
              </a:solidFill>
            </a:endParaRPr>
          </a:p>
          <a:p>
            <a:endParaRPr lang="en-US" dirty="0">
              <a:solidFill>
                <a:srgbClr val="FF0000"/>
              </a:solidFill>
            </a:endParaRPr>
          </a:p>
          <a:p>
            <a:r>
              <a:rPr lang="en-US" dirty="0" err="1">
                <a:solidFill>
                  <a:srgbClr val="FF0000"/>
                </a:solidFill>
              </a:rPr>
              <a:t>col_names</a:t>
            </a:r>
            <a:endParaRPr lang="en-US" dirty="0">
              <a:solidFill>
                <a:srgbClr val="FF0000"/>
              </a:solidFill>
            </a:endParaRPr>
          </a:p>
          <a:p>
            <a:r>
              <a:rPr lang="en-US" dirty="0"/>
              <a:t>Out[11]: ['buying', '</a:t>
            </a:r>
            <a:r>
              <a:rPr lang="en-US" dirty="0" err="1"/>
              <a:t>maint</a:t>
            </a:r>
            <a:r>
              <a:rPr lang="en-US" dirty="0"/>
              <a:t>', 'doors', 'persons', '</a:t>
            </a:r>
            <a:r>
              <a:rPr lang="en-US" dirty="0" err="1"/>
              <a:t>lug_boot</a:t>
            </a:r>
            <a:r>
              <a:rPr lang="en-US" dirty="0"/>
              <a:t>', 'safety', 'class']</a:t>
            </a:r>
          </a:p>
        </p:txBody>
      </p:sp>
      <p:sp>
        <p:nvSpPr>
          <p:cNvPr id="5" name="Slide Number Placeholder 4">
            <a:extLst>
              <a:ext uri="{FF2B5EF4-FFF2-40B4-BE49-F238E27FC236}">
                <a16:creationId xmlns:a16="http://schemas.microsoft.com/office/drawing/2014/main" id="{AEFC3360-1421-4167-A3AB-FC2EA8E266F1}"/>
              </a:ext>
            </a:extLst>
          </p:cNvPr>
          <p:cNvSpPr>
            <a:spLocks noGrp="1"/>
          </p:cNvSpPr>
          <p:nvPr>
            <p:ph type="sldNum" sz="quarter" idx="12"/>
          </p:nvPr>
        </p:nvSpPr>
        <p:spPr/>
        <p:txBody>
          <a:bodyPr/>
          <a:lstStyle/>
          <a:p>
            <a:fld id="{6B97D948-30E8-43F7-AE10-F6E2D9F2BBB1}" type="slidenum">
              <a:rPr lang="en-US" smtClean="0"/>
              <a:t>894</a:t>
            </a:fld>
            <a:endParaRPr lang="en-US"/>
          </a:p>
        </p:txBody>
      </p:sp>
    </p:spTree>
    <p:extLst>
      <p:ext uri="{BB962C8B-B14F-4D97-AF65-F5344CB8AC3E}">
        <p14:creationId xmlns:p14="http://schemas.microsoft.com/office/powerpoint/2010/main" val="3783152151"/>
      </p:ext>
    </p:extLst>
  </p:cSld>
  <p:clrMapOvr>
    <a:masterClrMapping/>
  </p:clrMapOvr>
</p:sld>
</file>

<file path=ppt/slides/slide8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DC00B3-E6E9-4DCF-82A7-B0161647F9AB}"/>
              </a:ext>
            </a:extLst>
          </p:cNvPr>
          <p:cNvSpPr>
            <a:spLocks noGrp="1"/>
          </p:cNvSpPr>
          <p:nvPr>
            <p:ph idx="1"/>
          </p:nvPr>
        </p:nvSpPr>
        <p:spPr>
          <a:xfrm>
            <a:off x="838200" y="444500"/>
            <a:ext cx="10515600" cy="5732463"/>
          </a:xfrm>
        </p:spPr>
        <p:txBody>
          <a:bodyPr/>
          <a:lstStyle/>
          <a:p>
            <a:r>
              <a:rPr lang="en-US" dirty="0">
                <a:solidFill>
                  <a:srgbClr val="FF0000"/>
                </a:solidFill>
              </a:rPr>
              <a:t> </a:t>
            </a:r>
            <a:r>
              <a:rPr lang="en-US" dirty="0" err="1">
                <a:solidFill>
                  <a:srgbClr val="FF0000"/>
                </a:solidFill>
              </a:rPr>
              <a:t>df.head</a:t>
            </a:r>
            <a:r>
              <a:rPr lang="en-US" dirty="0">
                <a:solidFill>
                  <a:srgbClr val="FF0000"/>
                </a:solidFill>
              </a:rPr>
              <a:t>()</a:t>
            </a:r>
          </a:p>
          <a:p>
            <a:r>
              <a:rPr lang="en-US" dirty="0"/>
              <a:t>Out[12]:</a:t>
            </a:r>
          </a:p>
          <a:p>
            <a:r>
              <a:rPr lang="en-US" dirty="0"/>
              <a:t>  buying  </a:t>
            </a:r>
            <a:r>
              <a:rPr lang="en-US" dirty="0" err="1"/>
              <a:t>maint</a:t>
            </a:r>
            <a:r>
              <a:rPr lang="en-US" dirty="0"/>
              <a:t> doors persons </a:t>
            </a:r>
            <a:r>
              <a:rPr lang="en-US" dirty="0" err="1"/>
              <a:t>lug_boot</a:t>
            </a:r>
            <a:r>
              <a:rPr lang="en-US" dirty="0"/>
              <a:t> safety  class</a:t>
            </a:r>
          </a:p>
          <a:p>
            <a:r>
              <a:rPr lang="en-US" dirty="0"/>
              <a:t>0  </a:t>
            </a:r>
            <a:r>
              <a:rPr lang="en-US" dirty="0" err="1"/>
              <a:t>vhigh</a:t>
            </a:r>
            <a:r>
              <a:rPr lang="en-US" dirty="0"/>
              <a:t>  </a:t>
            </a:r>
            <a:r>
              <a:rPr lang="en-US" dirty="0" err="1"/>
              <a:t>vhigh</a:t>
            </a:r>
            <a:r>
              <a:rPr lang="en-US" dirty="0"/>
              <a:t>     2       2    small    low  </a:t>
            </a:r>
            <a:r>
              <a:rPr lang="en-US" dirty="0" err="1"/>
              <a:t>unacc</a:t>
            </a:r>
            <a:endParaRPr lang="en-US" dirty="0"/>
          </a:p>
          <a:p>
            <a:r>
              <a:rPr lang="en-US" dirty="0"/>
              <a:t>1  </a:t>
            </a:r>
            <a:r>
              <a:rPr lang="en-US" dirty="0" err="1"/>
              <a:t>vhigh</a:t>
            </a:r>
            <a:r>
              <a:rPr lang="en-US" dirty="0"/>
              <a:t>  </a:t>
            </a:r>
            <a:r>
              <a:rPr lang="en-US" dirty="0" err="1"/>
              <a:t>vhigh</a:t>
            </a:r>
            <a:r>
              <a:rPr lang="en-US" dirty="0"/>
              <a:t>     2       2    small    med  </a:t>
            </a:r>
            <a:r>
              <a:rPr lang="en-US" dirty="0" err="1"/>
              <a:t>unacc</a:t>
            </a:r>
            <a:endParaRPr lang="en-US" dirty="0"/>
          </a:p>
          <a:p>
            <a:r>
              <a:rPr lang="en-US" dirty="0"/>
              <a:t>2  </a:t>
            </a:r>
            <a:r>
              <a:rPr lang="en-US" dirty="0" err="1"/>
              <a:t>vhigh</a:t>
            </a:r>
            <a:r>
              <a:rPr lang="en-US" dirty="0"/>
              <a:t>  </a:t>
            </a:r>
            <a:r>
              <a:rPr lang="en-US" dirty="0" err="1"/>
              <a:t>vhigh</a:t>
            </a:r>
            <a:r>
              <a:rPr lang="en-US" dirty="0"/>
              <a:t>     2       2    small   high  </a:t>
            </a:r>
            <a:r>
              <a:rPr lang="en-US" dirty="0" err="1"/>
              <a:t>unacc</a:t>
            </a:r>
            <a:endParaRPr lang="en-US" dirty="0"/>
          </a:p>
          <a:p>
            <a:r>
              <a:rPr lang="en-US" dirty="0"/>
              <a:t>3  </a:t>
            </a:r>
            <a:r>
              <a:rPr lang="en-US" dirty="0" err="1"/>
              <a:t>vhigh</a:t>
            </a:r>
            <a:r>
              <a:rPr lang="en-US" dirty="0"/>
              <a:t>  </a:t>
            </a:r>
            <a:r>
              <a:rPr lang="en-US" dirty="0" err="1"/>
              <a:t>vhigh</a:t>
            </a:r>
            <a:r>
              <a:rPr lang="en-US" dirty="0"/>
              <a:t>     2       2      med    low  </a:t>
            </a:r>
            <a:r>
              <a:rPr lang="en-US" dirty="0" err="1"/>
              <a:t>unacc</a:t>
            </a:r>
            <a:endParaRPr lang="en-US" dirty="0"/>
          </a:p>
          <a:p>
            <a:r>
              <a:rPr lang="en-US" dirty="0"/>
              <a:t>4  </a:t>
            </a:r>
            <a:r>
              <a:rPr lang="en-US" dirty="0" err="1"/>
              <a:t>vhigh</a:t>
            </a:r>
            <a:r>
              <a:rPr lang="en-US" dirty="0"/>
              <a:t>  </a:t>
            </a:r>
            <a:r>
              <a:rPr lang="en-US" dirty="0" err="1"/>
              <a:t>vhigh</a:t>
            </a:r>
            <a:r>
              <a:rPr lang="en-US" dirty="0"/>
              <a:t>     2       2      med    </a:t>
            </a:r>
            <a:r>
              <a:rPr lang="en-US" dirty="0" err="1"/>
              <a:t>med</a:t>
            </a:r>
            <a:r>
              <a:rPr lang="en-US" dirty="0"/>
              <a:t>  </a:t>
            </a:r>
            <a:r>
              <a:rPr lang="en-US" dirty="0" err="1"/>
              <a:t>unacc</a:t>
            </a:r>
            <a:endParaRPr lang="en-US" dirty="0"/>
          </a:p>
        </p:txBody>
      </p:sp>
      <p:sp>
        <p:nvSpPr>
          <p:cNvPr id="5" name="Slide Number Placeholder 4">
            <a:extLst>
              <a:ext uri="{FF2B5EF4-FFF2-40B4-BE49-F238E27FC236}">
                <a16:creationId xmlns:a16="http://schemas.microsoft.com/office/drawing/2014/main" id="{D482515B-DF61-41B6-8E89-844DB0F07BB9}"/>
              </a:ext>
            </a:extLst>
          </p:cNvPr>
          <p:cNvSpPr>
            <a:spLocks noGrp="1"/>
          </p:cNvSpPr>
          <p:nvPr>
            <p:ph type="sldNum" sz="quarter" idx="12"/>
          </p:nvPr>
        </p:nvSpPr>
        <p:spPr/>
        <p:txBody>
          <a:bodyPr/>
          <a:lstStyle/>
          <a:p>
            <a:fld id="{6B97D948-30E8-43F7-AE10-F6E2D9F2BBB1}" type="slidenum">
              <a:rPr lang="en-US" smtClean="0"/>
              <a:t>895</a:t>
            </a:fld>
            <a:endParaRPr lang="en-US"/>
          </a:p>
        </p:txBody>
      </p:sp>
    </p:spTree>
    <p:extLst>
      <p:ext uri="{BB962C8B-B14F-4D97-AF65-F5344CB8AC3E}">
        <p14:creationId xmlns:p14="http://schemas.microsoft.com/office/powerpoint/2010/main" val="1048976284"/>
      </p:ext>
    </p:extLst>
  </p:cSld>
  <p:clrMapOvr>
    <a:masterClrMapping/>
  </p:clrMapOvr>
</p:sld>
</file>

<file path=ppt/slides/slide8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831E2D-D86A-4080-A002-2F7C7775DADF}"/>
              </a:ext>
            </a:extLst>
          </p:cNvPr>
          <p:cNvSpPr>
            <a:spLocks noGrp="1"/>
          </p:cNvSpPr>
          <p:nvPr>
            <p:ph idx="1"/>
          </p:nvPr>
        </p:nvSpPr>
        <p:spPr>
          <a:xfrm>
            <a:off x="838200" y="520700"/>
            <a:ext cx="10515600" cy="5656263"/>
          </a:xfrm>
        </p:spPr>
        <p:txBody>
          <a:bodyPr>
            <a:normAutofit/>
          </a:bodyPr>
          <a:lstStyle/>
          <a:p>
            <a:r>
              <a:rPr lang="en-US" dirty="0"/>
              <a:t> </a:t>
            </a:r>
            <a:r>
              <a:rPr lang="en-US" dirty="0">
                <a:solidFill>
                  <a:srgbClr val="FF0000"/>
                </a:solidFill>
              </a:rPr>
              <a:t>df.info()</a:t>
            </a:r>
          </a:p>
          <a:p>
            <a:r>
              <a:rPr lang="en-US" dirty="0"/>
              <a:t>---  ------    --------------  -----</a:t>
            </a:r>
          </a:p>
          <a:p>
            <a:r>
              <a:rPr lang="en-US" dirty="0"/>
              <a:t> 0   buying    1728 non-null   object</a:t>
            </a:r>
          </a:p>
          <a:p>
            <a:r>
              <a:rPr lang="en-US" dirty="0"/>
              <a:t> 1   </a:t>
            </a:r>
            <a:r>
              <a:rPr lang="en-US" dirty="0" err="1"/>
              <a:t>maint</a:t>
            </a:r>
            <a:r>
              <a:rPr lang="en-US" dirty="0"/>
              <a:t>     1728 non-null   object</a:t>
            </a:r>
          </a:p>
          <a:p>
            <a:r>
              <a:rPr lang="en-US" dirty="0"/>
              <a:t> 2   doors     1728 non-null   object</a:t>
            </a:r>
          </a:p>
          <a:p>
            <a:r>
              <a:rPr lang="en-US" dirty="0"/>
              <a:t> 3   persons   1728 non-null   object</a:t>
            </a:r>
          </a:p>
          <a:p>
            <a:r>
              <a:rPr lang="en-US" dirty="0"/>
              <a:t> 4   </a:t>
            </a:r>
            <a:r>
              <a:rPr lang="en-US" dirty="0" err="1"/>
              <a:t>lug_boot</a:t>
            </a:r>
            <a:r>
              <a:rPr lang="en-US" dirty="0"/>
              <a:t>  1728 non-null   object</a:t>
            </a:r>
          </a:p>
          <a:p>
            <a:r>
              <a:rPr lang="en-US" dirty="0"/>
              <a:t> 5   safety    1728 non-null   object</a:t>
            </a:r>
          </a:p>
          <a:p>
            <a:r>
              <a:rPr lang="en-US" dirty="0"/>
              <a:t> 6   class     1728 non-null   object</a:t>
            </a:r>
          </a:p>
        </p:txBody>
      </p:sp>
      <p:sp>
        <p:nvSpPr>
          <p:cNvPr id="5" name="Slide Number Placeholder 4">
            <a:extLst>
              <a:ext uri="{FF2B5EF4-FFF2-40B4-BE49-F238E27FC236}">
                <a16:creationId xmlns:a16="http://schemas.microsoft.com/office/drawing/2014/main" id="{6308B55F-CAB6-4E40-AFEC-E597B5CDC8BF}"/>
              </a:ext>
            </a:extLst>
          </p:cNvPr>
          <p:cNvSpPr>
            <a:spLocks noGrp="1"/>
          </p:cNvSpPr>
          <p:nvPr>
            <p:ph type="sldNum" sz="quarter" idx="12"/>
          </p:nvPr>
        </p:nvSpPr>
        <p:spPr/>
        <p:txBody>
          <a:bodyPr/>
          <a:lstStyle/>
          <a:p>
            <a:fld id="{6B97D948-30E8-43F7-AE10-F6E2D9F2BBB1}" type="slidenum">
              <a:rPr lang="en-US" smtClean="0"/>
              <a:t>896</a:t>
            </a:fld>
            <a:endParaRPr lang="en-US"/>
          </a:p>
        </p:txBody>
      </p:sp>
    </p:spTree>
    <p:extLst>
      <p:ext uri="{BB962C8B-B14F-4D97-AF65-F5344CB8AC3E}">
        <p14:creationId xmlns:p14="http://schemas.microsoft.com/office/powerpoint/2010/main" val="3190510140"/>
      </p:ext>
    </p:extLst>
  </p:cSld>
  <p:clrMapOvr>
    <a:masterClrMapping/>
  </p:clrMapOvr>
</p:sld>
</file>

<file path=ppt/slides/slide8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EF082-B328-4D96-9E12-096825C2F94F}"/>
              </a:ext>
            </a:extLst>
          </p:cNvPr>
          <p:cNvSpPr>
            <a:spLocks noGrp="1"/>
          </p:cNvSpPr>
          <p:nvPr>
            <p:ph type="title"/>
          </p:nvPr>
        </p:nvSpPr>
        <p:spPr>
          <a:xfrm>
            <a:off x="838200" y="365125"/>
            <a:ext cx="10515600" cy="739775"/>
          </a:xfrm>
        </p:spPr>
        <p:txBody>
          <a:bodyPr/>
          <a:lstStyle/>
          <a:p>
            <a:r>
              <a:rPr lang="en-US" dirty="0"/>
              <a:t>Summary of variables</a:t>
            </a:r>
          </a:p>
        </p:txBody>
      </p:sp>
      <p:sp>
        <p:nvSpPr>
          <p:cNvPr id="3" name="Content Placeholder 2">
            <a:extLst>
              <a:ext uri="{FF2B5EF4-FFF2-40B4-BE49-F238E27FC236}">
                <a16:creationId xmlns:a16="http://schemas.microsoft.com/office/drawing/2014/main" id="{69A8D65E-C72A-4D7C-979B-437CDF51BD0E}"/>
              </a:ext>
            </a:extLst>
          </p:cNvPr>
          <p:cNvSpPr>
            <a:spLocks noGrp="1"/>
          </p:cNvSpPr>
          <p:nvPr>
            <p:ph idx="1"/>
          </p:nvPr>
        </p:nvSpPr>
        <p:spPr>
          <a:xfrm>
            <a:off x="838200" y="1104900"/>
            <a:ext cx="10515600" cy="5072063"/>
          </a:xfrm>
        </p:spPr>
        <p:txBody>
          <a:bodyPr>
            <a:normAutofit/>
          </a:bodyPr>
          <a:lstStyle/>
          <a:p>
            <a:pPr algn="just"/>
            <a:r>
              <a:rPr lang="en-US" dirty="0"/>
              <a:t>There are 7 variables in the dataset. All the variables are of categorical data type.</a:t>
            </a:r>
          </a:p>
          <a:p>
            <a:pPr algn="just"/>
            <a:endParaRPr lang="en-US" dirty="0"/>
          </a:p>
          <a:p>
            <a:pPr algn="just"/>
            <a:r>
              <a:rPr lang="en-US" dirty="0"/>
              <a:t>These are given by buying, </a:t>
            </a:r>
            <a:r>
              <a:rPr lang="en-US" dirty="0" err="1"/>
              <a:t>maint</a:t>
            </a:r>
            <a:r>
              <a:rPr lang="en-US" dirty="0"/>
              <a:t>, doors, persons, </a:t>
            </a:r>
            <a:r>
              <a:rPr lang="en-US" dirty="0" err="1"/>
              <a:t>lug_boot</a:t>
            </a:r>
            <a:r>
              <a:rPr lang="en-US" dirty="0"/>
              <a:t>, safety and class.</a:t>
            </a:r>
          </a:p>
          <a:p>
            <a:pPr algn="just"/>
            <a:endParaRPr lang="en-US" dirty="0"/>
          </a:p>
          <a:p>
            <a:pPr algn="just"/>
            <a:r>
              <a:rPr lang="en-US" dirty="0"/>
              <a:t>class is the target variable.</a:t>
            </a:r>
          </a:p>
          <a:p>
            <a:pPr algn="just"/>
            <a:endParaRPr lang="en-US" dirty="0"/>
          </a:p>
          <a:p>
            <a:pPr algn="just"/>
            <a:endParaRPr lang="en-US" dirty="0"/>
          </a:p>
        </p:txBody>
      </p:sp>
      <p:sp>
        <p:nvSpPr>
          <p:cNvPr id="5" name="Slide Number Placeholder 4">
            <a:extLst>
              <a:ext uri="{FF2B5EF4-FFF2-40B4-BE49-F238E27FC236}">
                <a16:creationId xmlns:a16="http://schemas.microsoft.com/office/drawing/2014/main" id="{35AFF703-2065-4579-A9A2-20DE6906A6E8}"/>
              </a:ext>
            </a:extLst>
          </p:cNvPr>
          <p:cNvSpPr>
            <a:spLocks noGrp="1"/>
          </p:cNvSpPr>
          <p:nvPr>
            <p:ph type="sldNum" sz="quarter" idx="12"/>
          </p:nvPr>
        </p:nvSpPr>
        <p:spPr/>
        <p:txBody>
          <a:bodyPr/>
          <a:lstStyle/>
          <a:p>
            <a:fld id="{6B97D948-30E8-43F7-AE10-F6E2D9F2BBB1}" type="slidenum">
              <a:rPr lang="en-US" smtClean="0"/>
              <a:t>897</a:t>
            </a:fld>
            <a:endParaRPr lang="en-US"/>
          </a:p>
        </p:txBody>
      </p:sp>
    </p:spTree>
    <p:extLst>
      <p:ext uri="{BB962C8B-B14F-4D97-AF65-F5344CB8AC3E}">
        <p14:creationId xmlns:p14="http://schemas.microsoft.com/office/powerpoint/2010/main" val="3988244001"/>
      </p:ext>
    </p:extLst>
  </p:cSld>
  <p:clrMapOvr>
    <a:masterClrMapping/>
  </p:clrMapOvr>
</p:sld>
</file>

<file path=ppt/slides/slide8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C463-DE23-4165-BC05-5A6B2A7AB3E7}"/>
              </a:ext>
            </a:extLst>
          </p:cNvPr>
          <p:cNvSpPr>
            <a:spLocks noGrp="1"/>
          </p:cNvSpPr>
          <p:nvPr>
            <p:ph type="title"/>
          </p:nvPr>
        </p:nvSpPr>
        <p:spPr>
          <a:xfrm>
            <a:off x="838200" y="365125"/>
            <a:ext cx="10515600" cy="815975"/>
          </a:xfrm>
        </p:spPr>
        <p:txBody>
          <a:bodyPr/>
          <a:lstStyle/>
          <a:p>
            <a:r>
              <a:rPr lang="en-US" dirty="0"/>
              <a:t>Explore class variable</a:t>
            </a:r>
          </a:p>
        </p:txBody>
      </p:sp>
      <p:sp>
        <p:nvSpPr>
          <p:cNvPr id="3" name="Content Placeholder 2">
            <a:extLst>
              <a:ext uri="{FF2B5EF4-FFF2-40B4-BE49-F238E27FC236}">
                <a16:creationId xmlns:a16="http://schemas.microsoft.com/office/drawing/2014/main" id="{781AE4F7-27C9-464E-93B4-54FB2079A091}"/>
              </a:ext>
            </a:extLst>
          </p:cNvPr>
          <p:cNvSpPr>
            <a:spLocks noGrp="1"/>
          </p:cNvSpPr>
          <p:nvPr>
            <p:ph idx="1"/>
          </p:nvPr>
        </p:nvSpPr>
        <p:spPr>
          <a:xfrm>
            <a:off x="838200" y="1181100"/>
            <a:ext cx="10515600" cy="4995863"/>
          </a:xfrm>
        </p:spPr>
        <p:txBody>
          <a:bodyPr/>
          <a:lstStyle/>
          <a:p>
            <a:pPr algn="just"/>
            <a:r>
              <a:rPr lang="en-US" dirty="0">
                <a:solidFill>
                  <a:srgbClr val="FF0000"/>
                </a:solidFill>
              </a:rPr>
              <a:t> df['class'].</a:t>
            </a:r>
            <a:r>
              <a:rPr lang="en-US" dirty="0" err="1">
                <a:solidFill>
                  <a:srgbClr val="FF0000"/>
                </a:solidFill>
              </a:rPr>
              <a:t>value_counts</a:t>
            </a:r>
            <a:r>
              <a:rPr lang="en-US" dirty="0">
                <a:solidFill>
                  <a:srgbClr val="FF0000"/>
                </a:solidFill>
              </a:rPr>
              <a:t>()</a:t>
            </a:r>
          </a:p>
          <a:p>
            <a:pPr algn="just"/>
            <a:r>
              <a:rPr lang="en-US" dirty="0"/>
              <a:t>Out[18]:</a:t>
            </a:r>
          </a:p>
          <a:p>
            <a:pPr algn="just"/>
            <a:r>
              <a:rPr lang="en-US" dirty="0"/>
              <a:t>class</a:t>
            </a:r>
          </a:p>
          <a:p>
            <a:pPr algn="just"/>
            <a:r>
              <a:rPr lang="en-US" dirty="0" err="1"/>
              <a:t>unacc</a:t>
            </a:r>
            <a:r>
              <a:rPr lang="en-US" dirty="0"/>
              <a:t>    1210</a:t>
            </a:r>
          </a:p>
          <a:p>
            <a:pPr algn="just"/>
            <a:r>
              <a:rPr lang="en-US" dirty="0"/>
              <a:t>acc       384</a:t>
            </a:r>
          </a:p>
          <a:p>
            <a:pPr algn="just"/>
            <a:r>
              <a:rPr lang="en-US" dirty="0"/>
              <a:t>good       69</a:t>
            </a:r>
          </a:p>
          <a:p>
            <a:pPr algn="just"/>
            <a:r>
              <a:rPr lang="en-US" dirty="0" err="1"/>
              <a:t>vgood</a:t>
            </a:r>
            <a:r>
              <a:rPr lang="en-US" dirty="0"/>
              <a:t>      65</a:t>
            </a:r>
          </a:p>
          <a:p>
            <a:pPr algn="just"/>
            <a:endParaRPr lang="en-US" dirty="0"/>
          </a:p>
          <a:p>
            <a:pPr algn="just"/>
            <a:r>
              <a:rPr lang="en-US" dirty="0"/>
              <a:t>The class target variable is ordinal in nature.</a:t>
            </a:r>
          </a:p>
        </p:txBody>
      </p:sp>
      <p:sp>
        <p:nvSpPr>
          <p:cNvPr id="6" name="Slide Number Placeholder 5">
            <a:extLst>
              <a:ext uri="{FF2B5EF4-FFF2-40B4-BE49-F238E27FC236}">
                <a16:creationId xmlns:a16="http://schemas.microsoft.com/office/drawing/2014/main" id="{25C2F112-E960-4AEA-BCB9-4D5A74D3C784}"/>
              </a:ext>
            </a:extLst>
          </p:cNvPr>
          <p:cNvSpPr>
            <a:spLocks noGrp="1"/>
          </p:cNvSpPr>
          <p:nvPr>
            <p:ph type="sldNum" sz="quarter" idx="12"/>
          </p:nvPr>
        </p:nvSpPr>
        <p:spPr/>
        <p:txBody>
          <a:bodyPr/>
          <a:lstStyle/>
          <a:p>
            <a:fld id="{6B97D948-30E8-43F7-AE10-F6E2D9F2BBB1}" type="slidenum">
              <a:rPr lang="en-US" smtClean="0"/>
              <a:t>898</a:t>
            </a:fld>
            <a:endParaRPr lang="en-US"/>
          </a:p>
        </p:txBody>
      </p:sp>
    </p:spTree>
    <p:extLst>
      <p:ext uri="{BB962C8B-B14F-4D97-AF65-F5344CB8AC3E}">
        <p14:creationId xmlns:p14="http://schemas.microsoft.com/office/powerpoint/2010/main" val="912704232"/>
      </p:ext>
    </p:extLst>
  </p:cSld>
  <p:clrMapOvr>
    <a:masterClrMapping/>
  </p:clrMapOvr>
</p:sld>
</file>

<file path=ppt/slides/slide8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FF77-49FE-475C-9123-491F3C698529}"/>
              </a:ext>
            </a:extLst>
          </p:cNvPr>
          <p:cNvSpPr>
            <a:spLocks noGrp="1"/>
          </p:cNvSpPr>
          <p:nvPr>
            <p:ph type="title"/>
          </p:nvPr>
        </p:nvSpPr>
        <p:spPr>
          <a:xfrm>
            <a:off x="838200" y="365125"/>
            <a:ext cx="10515600" cy="714375"/>
          </a:xfrm>
        </p:spPr>
        <p:txBody>
          <a:bodyPr/>
          <a:lstStyle/>
          <a:p>
            <a:r>
              <a:rPr lang="en-US" dirty="0"/>
              <a:t>Missing values</a:t>
            </a:r>
          </a:p>
        </p:txBody>
      </p:sp>
      <p:sp>
        <p:nvSpPr>
          <p:cNvPr id="3" name="Content Placeholder 2">
            <a:extLst>
              <a:ext uri="{FF2B5EF4-FFF2-40B4-BE49-F238E27FC236}">
                <a16:creationId xmlns:a16="http://schemas.microsoft.com/office/drawing/2014/main" id="{5E9BB63A-90F2-46A6-AFE9-F66FD5EE85D4}"/>
              </a:ext>
            </a:extLst>
          </p:cNvPr>
          <p:cNvSpPr>
            <a:spLocks noGrp="1"/>
          </p:cNvSpPr>
          <p:nvPr>
            <p:ph idx="1"/>
          </p:nvPr>
        </p:nvSpPr>
        <p:spPr>
          <a:xfrm>
            <a:off x="838200" y="1181100"/>
            <a:ext cx="10515600" cy="4995863"/>
          </a:xfrm>
        </p:spPr>
        <p:txBody>
          <a:bodyPr>
            <a:normAutofit/>
          </a:bodyPr>
          <a:lstStyle/>
          <a:p>
            <a:r>
              <a:rPr lang="en-US" dirty="0" err="1">
                <a:solidFill>
                  <a:srgbClr val="FF0000"/>
                </a:solidFill>
              </a:rPr>
              <a:t>df.isnull</a:t>
            </a:r>
            <a:r>
              <a:rPr lang="en-US" dirty="0">
                <a:solidFill>
                  <a:srgbClr val="FF0000"/>
                </a:solidFill>
              </a:rPr>
              <a:t>().sum()</a:t>
            </a:r>
          </a:p>
          <a:p>
            <a:r>
              <a:rPr lang="en-US" dirty="0"/>
              <a:t>Out[19]:</a:t>
            </a:r>
          </a:p>
          <a:p>
            <a:r>
              <a:rPr lang="en-US" dirty="0"/>
              <a:t>buying      0</a:t>
            </a:r>
          </a:p>
          <a:p>
            <a:r>
              <a:rPr lang="en-US" dirty="0" err="1"/>
              <a:t>maint</a:t>
            </a:r>
            <a:r>
              <a:rPr lang="en-US" dirty="0"/>
              <a:t>       0</a:t>
            </a:r>
          </a:p>
          <a:p>
            <a:r>
              <a:rPr lang="en-US" dirty="0"/>
              <a:t>doors       0</a:t>
            </a:r>
          </a:p>
          <a:p>
            <a:r>
              <a:rPr lang="en-US" dirty="0"/>
              <a:t>persons     0</a:t>
            </a:r>
          </a:p>
          <a:p>
            <a:r>
              <a:rPr lang="en-US" dirty="0" err="1"/>
              <a:t>lug_boot</a:t>
            </a:r>
            <a:r>
              <a:rPr lang="en-US" dirty="0"/>
              <a:t>    0</a:t>
            </a:r>
          </a:p>
          <a:p>
            <a:r>
              <a:rPr lang="en-US" dirty="0"/>
              <a:t>safety      0</a:t>
            </a:r>
          </a:p>
          <a:p>
            <a:r>
              <a:rPr lang="en-US" dirty="0"/>
              <a:t>class       0</a:t>
            </a:r>
          </a:p>
        </p:txBody>
      </p:sp>
      <p:sp>
        <p:nvSpPr>
          <p:cNvPr id="5" name="Slide Number Placeholder 4">
            <a:extLst>
              <a:ext uri="{FF2B5EF4-FFF2-40B4-BE49-F238E27FC236}">
                <a16:creationId xmlns:a16="http://schemas.microsoft.com/office/drawing/2014/main" id="{BDA198BC-DACD-4BB1-8634-C3902B44FE06}"/>
              </a:ext>
            </a:extLst>
          </p:cNvPr>
          <p:cNvSpPr>
            <a:spLocks noGrp="1"/>
          </p:cNvSpPr>
          <p:nvPr>
            <p:ph type="sldNum" sz="quarter" idx="12"/>
          </p:nvPr>
        </p:nvSpPr>
        <p:spPr/>
        <p:txBody>
          <a:bodyPr/>
          <a:lstStyle/>
          <a:p>
            <a:fld id="{6B97D948-30E8-43F7-AE10-F6E2D9F2BBB1}" type="slidenum">
              <a:rPr lang="en-US" smtClean="0"/>
              <a:t>899</a:t>
            </a:fld>
            <a:endParaRPr lang="en-US"/>
          </a:p>
        </p:txBody>
      </p:sp>
    </p:spTree>
    <p:extLst>
      <p:ext uri="{BB962C8B-B14F-4D97-AF65-F5344CB8AC3E}">
        <p14:creationId xmlns:p14="http://schemas.microsoft.com/office/powerpoint/2010/main" val="3151928287"/>
      </p:ext>
    </p:extLst>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48ADC-97F6-4671-B296-FD61057A23BB}"/>
              </a:ext>
            </a:extLst>
          </p:cNvPr>
          <p:cNvSpPr>
            <a:spLocks noGrp="1"/>
          </p:cNvSpPr>
          <p:nvPr>
            <p:ph type="title"/>
          </p:nvPr>
        </p:nvSpPr>
        <p:spPr>
          <a:xfrm>
            <a:off x="838200" y="365125"/>
            <a:ext cx="10515600" cy="663575"/>
          </a:xfrm>
        </p:spPr>
        <p:txBody>
          <a:bodyPr>
            <a:normAutofit fontScale="90000"/>
          </a:bodyPr>
          <a:lstStyle/>
          <a:p>
            <a:r>
              <a:rPr lang="en-US" dirty="0"/>
              <a:t>Feature vector and target variable</a:t>
            </a:r>
          </a:p>
        </p:txBody>
      </p:sp>
      <p:sp>
        <p:nvSpPr>
          <p:cNvPr id="3" name="Content Placeholder 2">
            <a:extLst>
              <a:ext uri="{FF2B5EF4-FFF2-40B4-BE49-F238E27FC236}">
                <a16:creationId xmlns:a16="http://schemas.microsoft.com/office/drawing/2014/main" id="{2EAFEE39-3A26-44DA-A9C8-C0563D91E1E0}"/>
              </a:ext>
            </a:extLst>
          </p:cNvPr>
          <p:cNvSpPr>
            <a:spLocks noGrp="1"/>
          </p:cNvSpPr>
          <p:nvPr>
            <p:ph idx="1"/>
          </p:nvPr>
        </p:nvSpPr>
        <p:spPr>
          <a:xfrm>
            <a:off x="838200" y="1028700"/>
            <a:ext cx="10515600" cy="5148263"/>
          </a:xfrm>
        </p:spPr>
        <p:txBody>
          <a:bodyPr/>
          <a:lstStyle/>
          <a:p>
            <a:r>
              <a:rPr lang="en-US" dirty="0">
                <a:solidFill>
                  <a:srgbClr val="FF0000"/>
                </a:solidFill>
              </a:rPr>
              <a:t>X = </a:t>
            </a:r>
            <a:r>
              <a:rPr lang="en-US" dirty="0" err="1">
                <a:solidFill>
                  <a:srgbClr val="FF0000"/>
                </a:solidFill>
              </a:rPr>
              <a:t>df.drop</a:t>
            </a:r>
            <a:r>
              <a:rPr lang="en-US" dirty="0">
                <a:solidFill>
                  <a:srgbClr val="FF0000"/>
                </a:solidFill>
              </a:rPr>
              <a:t>(['class'], axis = 1)</a:t>
            </a:r>
          </a:p>
          <a:p>
            <a:endParaRPr lang="en-US" dirty="0">
              <a:solidFill>
                <a:srgbClr val="FF0000"/>
              </a:solidFill>
            </a:endParaRPr>
          </a:p>
          <a:p>
            <a:r>
              <a:rPr lang="en-US" dirty="0">
                <a:solidFill>
                  <a:srgbClr val="FF0000"/>
                </a:solidFill>
              </a:rPr>
              <a:t>y = df['class’]</a:t>
            </a:r>
          </a:p>
          <a:p>
            <a:endParaRPr lang="en-US" dirty="0">
              <a:solidFill>
                <a:srgbClr val="FF0000"/>
              </a:solidFill>
            </a:endParaRPr>
          </a:p>
          <a:p>
            <a:r>
              <a:rPr lang="en-US" dirty="0" err="1">
                <a:solidFill>
                  <a:srgbClr val="FF0000"/>
                </a:solidFill>
              </a:rPr>
              <a:t>y.head</a:t>
            </a:r>
            <a:r>
              <a:rPr lang="en-US" dirty="0">
                <a:solidFill>
                  <a:srgbClr val="FF0000"/>
                </a:solidFill>
              </a:rPr>
              <a:t>()</a:t>
            </a:r>
          </a:p>
          <a:p>
            <a:endParaRPr lang="en-US" dirty="0">
              <a:solidFill>
                <a:srgbClr val="FF0000"/>
              </a:solidFill>
            </a:endParaRPr>
          </a:p>
          <a:p>
            <a:r>
              <a:rPr lang="en-US" dirty="0" err="1">
                <a:solidFill>
                  <a:srgbClr val="FF0000"/>
                </a:solidFill>
              </a:rPr>
              <a:t>X.head</a:t>
            </a:r>
            <a:r>
              <a:rPr lang="en-US" dirty="0">
                <a:solidFill>
                  <a:srgbClr val="FF0000"/>
                </a:solidFill>
              </a:rPr>
              <a:t>()</a:t>
            </a:r>
          </a:p>
        </p:txBody>
      </p:sp>
      <p:sp>
        <p:nvSpPr>
          <p:cNvPr id="5" name="Slide Number Placeholder 4">
            <a:extLst>
              <a:ext uri="{FF2B5EF4-FFF2-40B4-BE49-F238E27FC236}">
                <a16:creationId xmlns:a16="http://schemas.microsoft.com/office/drawing/2014/main" id="{245FAC77-3C8A-46C7-AF32-E3D61D71A072}"/>
              </a:ext>
            </a:extLst>
          </p:cNvPr>
          <p:cNvSpPr>
            <a:spLocks noGrp="1"/>
          </p:cNvSpPr>
          <p:nvPr>
            <p:ph type="sldNum" sz="quarter" idx="12"/>
          </p:nvPr>
        </p:nvSpPr>
        <p:spPr/>
        <p:txBody>
          <a:bodyPr/>
          <a:lstStyle/>
          <a:p>
            <a:fld id="{6B97D948-30E8-43F7-AE10-F6E2D9F2BBB1}" type="slidenum">
              <a:rPr lang="en-US" smtClean="0"/>
              <a:t>900</a:t>
            </a:fld>
            <a:endParaRPr lang="en-US"/>
          </a:p>
        </p:txBody>
      </p:sp>
    </p:spTree>
    <p:extLst>
      <p:ext uri="{BB962C8B-B14F-4D97-AF65-F5344CB8AC3E}">
        <p14:creationId xmlns:p14="http://schemas.microsoft.com/office/powerpoint/2010/main" val="1953894090"/>
      </p:ext>
    </p:extLst>
  </p:cSld>
  <p:clrMapOvr>
    <a:masterClrMapping/>
  </p:clrMapOvr>
</p:sld>
</file>

<file path=ppt/slides/slide9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7559C-3087-4794-A7A6-62B107782209}"/>
              </a:ext>
            </a:extLst>
          </p:cNvPr>
          <p:cNvSpPr>
            <a:spLocks noGrp="1"/>
          </p:cNvSpPr>
          <p:nvPr>
            <p:ph type="title"/>
          </p:nvPr>
        </p:nvSpPr>
        <p:spPr>
          <a:xfrm>
            <a:off x="838200" y="365125"/>
            <a:ext cx="10515600" cy="739775"/>
          </a:xfrm>
        </p:spPr>
        <p:txBody>
          <a:bodyPr/>
          <a:lstStyle/>
          <a:p>
            <a:r>
              <a:rPr lang="en-US" dirty="0"/>
              <a:t>Split data</a:t>
            </a:r>
          </a:p>
        </p:txBody>
      </p:sp>
      <p:sp>
        <p:nvSpPr>
          <p:cNvPr id="3" name="Content Placeholder 2">
            <a:extLst>
              <a:ext uri="{FF2B5EF4-FFF2-40B4-BE49-F238E27FC236}">
                <a16:creationId xmlns:a16="http://schemas.microsoft.com/office/drawing/2014/main" id="{267C913E-A70F-4788-9579-8F8D7F632267}"/>
              </a:ext>
            </a:extLst>
          </p:cNvPr>
          <p:cNvSpPr>
            <a:spLocks noGrp="1"/>
          </p:cNvSpPr>
          <p:nvPr>
            <p:ph idx="1"/>
          </p:nvPr>
        </p:nvSpPr>
        <p:spPr>
          <a:xfrm>
            <a:off x="838200" y="1016000"/>
            <a:ext cx="10515600" cy="5160963"/>
          </a:xfrm>
        </p:spPr>
        <p:txBody>
          <a:bodyPr/>
          <a:lstStyle/>
          <a:p>
            <a:r>
              <a:rPr lang="en-US" dirty="0">
                <a:solidFill>
                  <a:srgbClr val="FF0000"/>
                </a:solidFill>
              </a:rPr>
              <a:t>from </a:t>
            </a:r>
            <a:r>
              <a:rPr lang="en-US" dirty="0" err="1">
                <a:solidFill>
                  <a:srgbClr val="FF0000"/>
                </a:solidFill>
              </a:rPr>
              <a:t>sklearn.model_selection</a:t>
            </a:r>
            <a:r>
              <a:rPr lang="en-US" dirty="0">
                <a:solidFill>
                  <a:srgbClr val="FF0000"/>
                </a:solidFill>
              </a:rPr>
              <a:t> import </a:t>
            </a:r>
            <a:r>
              <a:rPr lang="en-US" dirty="0" err="1">
                <a:solidFill>
                  <a:srgbClr val="FF0000"/>
                </a:solidFill>
              </a:rPr>
              <a:t>train_test_split</a:t>
            </a:r>
            <a:endParaRPr lang="en-US" dirty="0">
              <a:solidFill>
                <a:srgbClr val="FF0000"/>
              </a:solidFill>
            </a:endParaRPr>
          </a:p>
          <a:p>
            <a:pPr marL="0" indent="0">
              <a:buNone/>
            </a:pPr>
            <a:endParaRPr lang="en-US" dirty="0">
              <a:solidFill>
                <a:srgbClr val="FF0000"/>
              </a:solidFill>
            </a:endParaRPr>
          </a:p>
          <a:p>
            <a:r>
              <a:rPr lang="en-US" dirty="0" err="1">
                <a:solidFill>
                  <a:srgbClr val="FF0000"/>
                </a:solidFill>
              </a:rPr>
              <a:t>X_train</a:t>
            </a:r>
            <a:r>
              <a:rPr lang="en-US" dirty="0">
                <a:solidFill>
                  <a:srgbClr val="FF0000"/>
                </a:solidFill>
              </a:rPr>
              <a:t>, </a:t>
            </a:r>
            <a:r>
              <a:rPr lang="en-US" dirty="0" err="1">
                <a:solidFill>
                  <a:srgbClr val="FF0000"/>
                </a:solidFill>
              </a:rPr>
              <a:t>X_test</a:t>
            </a:r>
            <a:r>
              <a:rPr lang="en-US" dirty="0">
                <a:solidFill>
                  <a:srgbClr val="FF0000"/>
                </a:solidFill>
              </a:rPr>
              <a:t>, </a:t>
            </a:r>
            <a:r>
              <a:rPr lang="en-US" dirty="0" err="1">
                <a:solidFill>
                  <a:srgbClr val="FF0000"/>
                </a:solidFill>
              </a:rPr>
              <a:t>y_train</a:t>
            </a:r>
            <a:r>
              <a:rPr lang="en-US" dirty="0">
                <a:solidFill>
                  <a:srgbClr val="FF0000"/>
                </a:solidFill>
              </a:rPr>
              <a:t>, </a:t>
            </a:r>
            <a:r>
              <a:rPr lang="en-US" dirty="0" err="1">
                <a:solidFill>
                  <a:srgbClr val="FF0000"/>
                </a:solidFill>
              </a:rPr>
              <a:t>y_test</a:t>
            </a:r>
            <a:r>
              <a:rPr lang="en-US" dirty="0">
                <a:solidFill>
                  <a:srgbClr val="FF0000"/>
                </a:solidFill>
              </a:rPr>
              <a:t> = </a:t>
            </a:r>
            <a:r>
              <a:rPr lang="en-US" dirty="0" err="1">
                <a:solidFill>
                  <a:srgbClr val="FF0000"/>
                </a:solidFill>
              </a:rPr>
              <a:t>train_test_split</a:t>
            </a:r>
            <a:r>
              <a:rPr lang="en-US" dirty="0">
                <a:solidFill>
                  <a:srgbClr val="FF0000"/>
                </a:solidFill>
              </a:rPr>
              <a:t>(X, y, </a:t>
            </a:r>
            <a:r>
              <a:rPr lang="en-US" dirty="0" err="1">
                <a:solidFill>
                  <a:srgbClr val="FF0000"/>
                </a:solidFill>
              </a:rPr>
              <a:t>test_size</a:t>
            </a:r>
            <a:r>
              <a:rPr lang="en-US" dirty="0">
                <a:solidFill>
                  <a:srgbClr val="FF0000"/>
                </a:solidFill>
              </a:rPr>
              <a:t> = 0.33, </a:t>
            </a:r>
            <a:r>
              <a:rPr lang="en-US" dirty="0" err="1">
                <a:solidFill>
                  <a:srgbClr val="FF0000"/>
                </a:solidFill>
              </a:rPr>
              <a:t>random_state</a:t>
            </a:r>
            <a:r>
              <a:rPr lang="en-US" dirty="0">
                <a:solidFill>
                  <a:srgbClr val="FF0000"/>
                </a:solidFill>
              </a:rPr>
              <a:t> = 42)</a:t>
            </a:r>
          </a:p>
          <a:p>
            <a:endParaRPr lang="en-US" dirty="0"/>
          </a:p>
        </p:txBody>
      </p:sp>
      <p:sp>
        <p:nvSpPr>
          <p:cNvPr id="5" name="Slide Number Placeholder 4">
            <a:extLst>
              <a:ext uri="{FF2B5EF4-FFF2-40B4-BE49-F238E27FC236}">
                <a16:creationId xmlns:a16="http://schemas.microsoft.com/office/drawing/2014/main" id="{E2516BAE-9485-41A4-A15F-0E00A50E4168}"/>
              </a:ext>
            </a:extLst>
          </p:cNvPr>
          <p:cNvSpPr>
            <a:spLocks noGrp="1"/>
          </p:cNvSpPr>
          <p:nvPr>
            <p:ph type="sldNum" sz="quarter" idx="12"/>
          </p:nvPr>
        </p:nvSpPr>
        <p:spPr/>
        <p:txBody>
          <a:bodyPr/>
          <a:lstStyle/>
          <a:p>
            <a:fld id="{6B97D948-30E8-43F7-AE10-F6E2D9F2BBB1}" type="slidenum">
              <a:rPr lang="en-US" smtClean="0"/>
              <a:t>901</a:t>
            </a:fld>
            <a:endParaRPr lang="en-US"/>
          </a:p>
        </p:txBody>
      </p:sp>
    </p:spTree>
    <p:extLst>
      <p:ext uri="{BB962C8B-B14F-4D97-AF65-F5344CB8AC3E}">
        <p14:creationId xmlns:p14="http://schemas.microsoft.com/office/powerpoint/2010/main" val="3781182958"/>
      </p:ext>
    </p:extLst>
  </p:cSld>
  <p:clrMapOvr>
    <a:masterClrMapping/>
  </p:clrMapOvr>
</p:sld>
</file>

<file path=ppt/slides/slide9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C65D5-9167-48D9-9E71-A8255C4A965D}"/>
              </a:ext>
            </a:extLst>
          </p:cNvPr>
          <p:cNvSpPr>
            <a:spLocks noGrp="1"/>
          </p:cNvSpPr>
          <p:nvPr>
            <p:ph type="title"/>
          </p:nvPr>
        </p:nvSpPr>
        <p:spPr>
          <a:xfrm>
            <a:off x="838200" y="365125"/>
            <a:ext cx="10515600" cy="688975"/>
          </a:xfrm>
        </p:spPr>
        <p:txBody>
          <a:bodyPr>
            <a:normAutofit fontScale="90000"/>
          </a:bodyPr>
          <a:lstStyle/>
          <a:p>
            <a:r>
              <a:rPr lang="en-US" dirty="0"/>
              <a:t>Feature Engineering</a:t>
            </a:r>
          </a:p>
        </p:txBody>
      </p:sp>
      <p:sp>
        <p:nvSpPr>
          <p:cNvPr id="3" name="Content Placeholder 2">
            <a:extLst>
              <a:ext uri="{FF2B5EF4-FFF2-40B4-BE49-F238E27FC236}">
                <a16:creationId xmlns:a16="http://schemas.microsoft.com/office/drawing/2014/main" id="{24391F47-7502-4455-B5E0-7E80B23E533D}"/>
              </a:ext>
            </a:extLst>
          </p:cNvPr>
          <p:cNvSpPr>
            <a:spLocks noGrp="1"/>
          </p:cNvSpPr>
          <p:nvPr>
            <p:ph idx="1"/>
          </p:nvPr>
        </p:nvSpPr>
        <p:spPr>
          <a:xfrm>
            <a:off x="838200" y="1054100"/>
            <a:ext cx="10515600" cy="5122863"/>
          </a:xfrm>
        </p:spPr>
        <p:txBody>
          <a:bodyPr>
            <a:normAutofit fontScale="92500" lnSpcReduction="20000"/>
          </a:bodyPr>
          <a:lstStyle/>
          <a:p>
            <a:r>
              <a:rPr lang="en-US" dirty="0"/>
              <a:t>Let’s look at the types of variables. . . </a:t>
            </a:r>
          </a:p>
          <a:p>
            <a:endParaRPr lang="en-US" dirty="0"/>
          </a:p>
          <a:p>
            <a:r>
              <a:rPr lang="en-US" dirty="0"/>
              <a:t>import </a:t>
            </a:r>
            <a:r>
              <a:rPr lang="en-US" dirty="0" err="1"/>
              <a:t>category_encoders</a:t>
            </a:r>
            <a:r>
              <a:rPr lang="en-US" dirty="0"/>
              <a:t> as </a:t>
            </a:r>
            <a:r>
              <a:rPr lang="en-US" dirty="0" err="1"/>
              <a:t>ce</a:t>
            </a:r>
            <a:endParaRPr lang="en-US" dirty="0"/>
          </a:p>
          <a:p>
            <a:endParaRPr lang="en-US" dirty="0"/>
          </a:p>
          <a:p>
            <a:r>
              <a:rPr lang="en-US" dirty="0"/>
              <a:t># encode variables with ordinal encoding</a:t>
            </a:r>
          </a:p>
          <a:p>
            <a:endParaRPr lang="en-US" dirty="0"/>
          </a:p>
          <a:p>
            <a:r>
              <a:rPr lang="en-US" dirty="0">
                <a:solidFill>
                  <a:srgbClr val="FF0000"/>
                </a:solidFill>
              </a:rPr>
              <a:t>encoder = </a:t>
            </a:r>
            <a:r>
              <a:rPr lang="en-US" dirty="0" err="1">
                <a:solidFill>
                  <a:srgbClr val="FF0000"/>
                </a:solidFill>
              </a:rPr>
              <a:t>ce.OrdinalEncoder</a:t>
            </a:r>
            <a:r>
              <a:rPr lang="en-US" dirty="0">
                <a:solidFill>
                  <a:srgbClr val="FF0000"/>
                </a:solidFill>
              </a:rPr>
              <a:t>(cols=['buying', '</a:t>
            </a:r>
            <a:r>
              <a:rPr lang="en-US" dirty="0" err="1">
                <a:solidFill>
                  <a:srgbClr val="FF0000"/>
                </a:solidFill>
              </a:rPr>
              <a:t>maint</a:t>
            </a:r>
            <a:r>
              <a:rPr lang="en-US" dirty="0">
                <a:solidFill>
                  <a:srgbClr val="FF0000"/>
                </a:solidFill>
              </a:rPr>
              <a:t>', 'doors', 'persons', '</a:t>
            </a:r>
            <a:r>
              <a:rPr lang="en-US" dirty="0" err="1">
                <a:solidFill>
                  <a:srgbClr val="FF0000"/>
                </a:solidFill>
              </a:rPr>
              <a:t>lug_boot</a:t>
            </a:r>
            <a:r>
              <a:rPr lang="en-US" dirty="0">
                <a:solidFill>
                  <a:srgbClr val="FF0000"/>
                </a:solidFill>
              </a:rPr>
              <a:t>', 'safety'])</a:t>
            </a:r>
          </a:p>
          <a:p>
            <a:endParaRPr lang="en-US" dirty="0">
              <a:solidFill>
                <a:srgbClr val="FF0000"/>
              </a:solidFill>
            </a:endParaRPr>
          </a:p>
          <a:p>
            <a:endParaRPr lang="en-US" dirty="0">
              <a:solidFill>
                <a:srgbClr val="FF0000"/>
              </a:solidFill>
            </a:endParaRPr>
          </a:p>
          <a:p>
            <a:r>
              <a:rPr lang="en-US" dirty="0" err="1">
                <a:solidFill>
                  <a:srgbClr val="FF0000"/>
                </a:solidFill>
              </a:rPr>
              <a:t>X_train</a:t>
            </a:r>
            <a:r>
              <a:rPr lang="en-US" dirty="0">
                <a:solidFill>
                  <a:srgbClr val="FF0000"/>
                </a:solidFill>
              </a:rPr>
              <a:t> = </a:t>
            </a:r>
            <a:r>
              <a:rPr lang="en-US" dirty="0" err="1">
                <a:solidFill>
                  <a:srgbClr val="FF0000"/>
                </a:solidFill>
              </a:rPr>
              <a:t>encoder.fit_transform</a:t>
            </a:r>
            <a:r>
              <a:rPr lang="en-US" dirty="0">
                <a:solidFill>
                  <a:srgbClr val="FF0000"/>
                </a:solidFill>
              </a:rPr>
              <a:t>(</a:t>
            </a:r>
            <a:r>
              <a:rPr lang="en-US" dirty="0" err="1">
                <a:solidFill>
                  <a:srgbClr val="FF0000"/>
                </a:solidFill>
              </a:rPr>
              <a:t>X_train</a:t>
            </a:r>
            <a:r>
              <a:rPr lang="en-US" dirty="0">
                <a:solidFill>
                  <a:srgbClr val="FF0000"/>
                </a:solidFill>
              </a:rPr>
              <a:t>)</a:t>
            </a:r>
          </a:p>
          <a:p>
            <a:endParaRPr lang="en-US" dirty="0">
              <a:solidFill>
                <a:srgbClr val="FF0000"/>
              </a:solidFill>
            </a:endParaRPr>
          </a:p>
          <a:p>
            <a:r>
              <a:rPr lang="en-US" dirty="0" err="1">
                <a:solidFill>
                  <a:srgbClr val="FF0000"/>
                </a:solidFill>
              </a:rPr>
              <a:t>X_test</a:t>
            </a:r>
            <a:r>
              <a:rPr lang="en-US" dirty="0">
                <a:solidFill>
                  <a:srgbClr val="FF0000"/>
                </a:solidFill>
              </a:rPr>
              <a:t> = </a:t>
            </a:r>
            <a:r>
              <a:rPr lang="en-US" dirty="0" err="1">
                <a:solidFill>
                  <a:srgbClr val="FF0000"/>
                </a:solidFill>
              </a:rPr>
              <a:t>encoder.transform</a:t>
            </a:r>
            <a:r>
              <a:rPr lang="en-US" dirty="0">
                <a:solidFill>
                  <a:srgbClr val="FF0000"/>
                </a:solidFill>
              </a:rPr>
              <a:t>(</a:t>
            </a:r>
            <a:r>
              <a:rPr lang="en-US" dirty="0" err="1">
                <a:solidFill>
                  <a:srgbClr val="FF0000"/>
                </a:solidFill>
              </a:rPr>
              <a:t>X_test</a:t>
            </a:r>
            <a:r>
              <a:rPr lang="en-US" dirty="0">
                <a:solidFill>
                  <a:srgbClr val="FF0000"/>
                </a:solidFill>
              </a:rPr>
              <a:t>)</a:t>
            </a:r>
          </a:p>
        </p:txBody>
      </p:sp>
      <p:sp>
        <p:nvSpPr>
          <p:cNvPr id="8" name="Slide Number Placeholder 7">
            <a:extLst>
              <a:ext uri="{FF2B5EF4-FFF2-40B4-BE49-F238E27FC236}">
                <a16:creationId xmlns:a16="http://schemas.microsoft.com/office/drawing/2014/main" id="{4F7CA086-341F-42E6-AD9C-AB5348B18C31}"/>
              </a:ext>
            </a:extLst>
          </p:cNvPr>
          <p:cNvSpPr>
            <a:spLocks noGrp="1"/>
          </p:cNvSpPr>
          <p:nvPr>
            <p:ph type="sldNum" sz="quarter" idx="12"/>
          </p:nvPr>
        </p:nvSpPr>
        <p:spPr/>
        <p:txBody>
          <a:bodyPr/>
          <a:lstStyle/>
          <a:p>
            <a:fld id="{6B97D948-30E8-43F7-AE10-F6E2D9F2BBB1}" type="slidenum">
              <a:rPr lang="en-US" smtClean="0"/>
              <a:t>902</a:t>
            </a:fld>
            <a:endParaRPr lang="en-US"/>
          </a:p>
        </p:txBody>
      </p:sp>
    </p:spTree>
    <p:extLst>
      <p:ext uri="{BB962C8B-B14F-4D97-AF65-F5344CB8AC3E}">
        <p14:creationId xmlns:p14="http://schemas.microsoft.com/office/powerpoint/2010/main" val="598374170"/>
      </p:ext>
    </p:extLst>
  </p:cSld>
  <p:clrMapOvr>
    <a:masterClrMapping/>
  </p:clrMapOvr>
</p:sld>
</file>

<file path=ppt/slides/slide9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1F6D2-8548-4A5C-A337-7576A39F54B3}"/>
              </a:ext>
            </a:extLst>
          </p:cNvPr>
          <p:cNvSpPr>
            <a:spLocks noGrp="1"/>
          </p:cNvSpPr>
          <p:nvPr>
            <p:ph idx="1"/>
          </p:nvPr>
        </p:nvSpPr>
        <p:spPr>
          <a:xfrm>
            <a:off x="838200" y="609600"/>
            <a:ext cx="10515600" cy="5567363"/>
          </a:xfrm>
        </p:spPr>
        <p:txBody>
          <a:bodyPr>
            <a:normAutofit/>
          </a:bodyPr>
          <a:lstStyle/>
          <a:p>
            <a:r>
              <a:rPr lang="en-US" dirty="0" err="1">
                <a:solidFill>
                  <a:srgbClr val="FF0000"/>
                </a:solidFill>
              </a:rPr>
              <a:t>X_train.head</a:t>
            </a:r>
            <a:r>
              <a:rPr lang="en-US" dirty="0">
                <a:solidFill>
                  <a:srgbClr val="FF0000"/>
                </a:solidFill>
              </a:rPr>
              <a:t>()</a:t>
            </a:r>
          </a:p>
          <a:p>
            <a:r>
              <a:rPr lang="en-US" dirty="0"/>
              <a:t>Out[21]:</a:t>
            </a:r>
          </a:p>
          <a:p>
            <a:r>
              <a:rPr lang="en-US" dirty="0"/>
              <a:t>      buying  </a:t>
            </a:r>
            <a:r>
              <a:rPr lang="en-US" dirty="0" err="1"/>
              <a:t>maint</a:t>
            </a:r>
            <a:r>
              <a:rPr lang="en-US" dirty="0"/>
              <a:t>  doors  persons  </a:t>
            </a:r>
            <a:r>
              <a:rPr lang="en-US" dirty="0" err="1"/>
              <a:t>lug_boot</a:t>
            </a:r>
            <a:r>
              <a:rPr lang="en-US" dirty="0"/>
              <a:t>  safety</a:t>
            </a:r>
          </a:p>
          <a:p>
            <a:r>
              <a:rPr lang="en-US" dirty="0"/>
              <a:t>48         1      1      1        1         1       1</a:t>
            </a:r>
          </a:p>
          <a:p>
            <a:r>
              <a:rPr lang="en-US" dirty="0"/>
              <a:t>468        2      1      1        2         2       1</a:t>
            </a:r>
          </a:p>
          <a:p>
            <a:r>
              <a:rPr lang="en-US" dirty="0"/>
              <a:t>155        1      2      1        1         2       2</a:t>
            </a:r>
          </a:p>
          <a:p>
            <a:r>
              <a:rPr lang="en-US" dirty="0"/>
              <a:t>1721       3      3      2        1         2       2</a:t>
            </a:r>
          </a:p>
          <a:p>
            <a:r>
              <a:rPr lang="en-US" dirty="0"/>
              <a:t>1208       4      3      3        1         2       2</a:t>
            </a:r>
          </a:p>
          <a:p>
            <a:endParaRPr lang="en-US" dirty="0"/>
          </a:p>
          <a:p>
            <a:r>
              <a:rPr lang="en-US" dirty="0"/>
              <a:t>In [22]: </a:t>
            </a:r>
            <a:r>
              <a:rPr lang="en-US" dirty="0" err="1"/>
              <a:t>X_test.head</a:t>
            </a:r>
            <a:r>
              <a:rPr lang="en-US" dirty="0"/>
              <a:t>()</a:t>
            </a:r>
          </a:p>
        </p:txBody>
      </p:sp>
      <p:sp>
        <p:nvSpPr>
          <p:cNvPr id="5" name="Slide Number Placeholder 4">
            <a:extLst>
              <a:ext uri="{FF2B5EF4-FFF2-40B4-BE49-F238E27FC236}">
                <a16:creationId xmlns:a16="http://schemas.microsoft.com/office/drawing/2014/main" id="{C54DEB43-BCFF-45F5-BD9D-2438C1363B49}"/>
              </a:ext>
            </a:extLst>
          </p:cNvPr>
          <p:cNvSpPr>
            <a:spLocks noGrp="1"/>
          </p:cNvSpPr>
          <p:nvPr>
            <p:ph type="sldNum" sz="quarter" idx="12"/>
          </p:nvPr>
        </p:nvSpPr>
        <p:spPr/>
        <p:txBody>
          <a:bodyPr/>
          <a:lstStyle/>
          <a:p>
            <a:fld id="{6B97D948-30E8-43F7-AE10-F6E2D9F2BBB1}" type="slidenum">
              <a:rPr lang="en-US" smtClean="0"/>
              <a:t>903</a:t>
            </a:fld>
            <a:endParaRPr lang="en-US"/>
          </a:p>
        </p:txBody>
      </p:sp>
    </p:spTree>
    <p:extLst>
      <p:ext uri="{BB962C8B-B14F-4D97-AF65-F5344CB8AC3E}">
        <p14:creationId xmlns:p14="http://schemas.microsoft.com/office/powerpoint/2010/main" val="3899045675"/>
      </p:ext>
    </p:extLst>
  </p:cSld>
  <p:clrMapOvr>
    <a:masterClrMapping/>
  </p:clrMapOvr>
</p:sld>
</file>

<file path=ppt/slides/slide9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EED87F-F627-465A-9C60-BB96F0AE3022}"/>
              </a:ext>
            </a:extLst>
          </p:cNvPr>
          <p:cNvSpPr>
            <a:spLocks noGrp="1"/>
          </p:cNvSpPr>
          <p:nvPr>
            <p:ph idx="1"/>
          </p:nvPr>
        </p:nvSpPr>
        <p:spPr>
          <a:xfrm>
            <a:off x="838200" y="642257"/>
            <a:ext cx="10515600" cy="5534706"/>
          </a:xfrm>
        </p:spPr>
        <p:txBody>
          <a:bodyPr/>
          <a:lstStyle/>
          <a:p>
            <a:r>
              <a:rPr lang="en-US" dirty="0" err="1"/>
              <a:t>X_test.head</a:t>
            </a:r>
            <a:r>
              <a:rPr lang="en-US" dirty="0"/>
              <a:t>()</a:t>
            </a:r>
          </a:p>
          <a:p>
            <a:r>
              <a:rPr lang="en-US" dirty="0"/>
              <a:t>Out[22]:</a:t>
            </a:r>
          </a:p>
          <a:p>
            <a:r>
              <a:rPr lang="en-US" dirty="0"/>
              <a:t>      buying  </a:t>
            </a:r>
            <a:r>
              <a:rPr lang="en-US" dirty="0" err="1"/>
              <a:t>maint</a:t>
            </a:r>
            <a:r>
              <a:rPr lang="en-US" dirty="0"/>
              <a:t>  doors  persons  </a:t>
            </a:r>
            <a:r>
              <a:rPr lang="en-US" dirty="0" err="1"/>
              <a:t>lug_boot</a:t>
            </a:r>
            <a:r>
              <a:rPr lang="en-US" dirty="0"/>
              <a:t>  safety</a:t>
            </a:r>
          </a:p>
          <a:p>
            <a:r>
              <a:rPr lang="en-US" dirty="0"/>
              <a:t>599        2      2      4        3         1       2</a:t>
            </a:r>
          </a:p>
          <a:p>
            <a:r>
              <a:rPr lang="en-US" dirty="0"/>
              <a:t>1201       4      3      3        2         1       3</a:t>
            </a:r>
          </a:p>
          <a:p>
            <a:r>
              <a:rPr lang="en-US" dirty="0"/>
              <a:t>628        2      2      2        3         3       3</a:t>
            </a:r>
          </a:p>
          <a:p>
            <a:r>
              <a:rPr lang="en-US" dirty="0"/>
              <a:t>1498       3      2      2        2         1       3</a:t>
            </a:r>
          </a:p>
          <a:p>
            <a:r>
              <a:rPr lang="en-US" dirty="0"/>
              <a:t>1263       4      3      4        1         1       1</a:t>
            </a:r>
          </a:p>
        </p:txBody>
      </p:sp>
      <p:sp>
        <p:nvSpPr>
          <p:cNvPr id="5" name="Slide Number Placeholder 4">
            <a:extLst>
              <a:ext uri="{FF2B5EF4-FFF2-40B4-BE49-F238E27FC236}">
                <a16:creationId xmlns:a16="http://schemas.microsoft.com/office/drawing/2014/main" id="{D79F1620-64E8-451B-B3DA-13CC38F96025}"/>
              </a:ext>
            </a:extLst>
          </p:cNvPr>
          <p:cNvSpPr>
            <a:spLocks noGrp="1"/>
          </p:cNvSpPr>
          <p:nvPr>
            <p:ph type="sldNum" sz="quarter" idx="12"/>
          </p:nvPr>
        </p:nvSpPr>
        <p:spPr/>
        <p:txBody>
          <a:bodyPr/>
          <a:lstStyle/>
          <a:p>
            <a:fld id="{6B97D948-30E8-43F7-AE10-F6E2D9F2BBB1}" type="slidenum">
              <a:rPr lang="en-US" smtClean="0"/>
              <a:t>904</a:t>
            </a:fld>
            <a:endParaRPr lang="en-US"/>
          </a:p>
        </p:txBody>
      </p:sp>
    </p:spTree>
    <p:extLst>
      <p:ext uri="{BB962C8B-B14F-4D97-AF65-F5344CB8AC3E}">
        <p14:creationId xmlns:p14="http://schemas.microsoft.com/office/powerpoint/2010/main" val="2283099562"/>
      </p:ext>
    </p:extLst>
  </p:cSld>
  <p:clrMapOvr>
    <a:masterClrMapping/>
  </p:clrMapOvr>
</p:sld>
</file>

<file path=ppt/slides/slide9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71315-68AE-4176-8C3A-A039AFC72E3F}"/>
              </a:ext>
            </a:extLst>
          </p:cNvPr>
          <p:cNvSpPr>
            <a:spLocks noGrp="1"/>
          </p:cNvSpPr>
          <p:nvPr>
            <p:ph type="title"/>
          </p:nvPr>
        </p:nvSpPr>
        <p:spPr>
          <a:xfrm>
            <a:off x="838200" y="365126"/>
            <a:ext cx="10515600" cy="603704"/>
          </a:xfrm>
        </p:spPr>
        <p:txBody>
          <a:bodyPr>
            <a:normAutofit fontScale="90000"/>
          </a:bodyPr>
          <a:lstStyle/>
          <a:p>
            <a:r>
              <a:rPr lang="en-US" dirty="0"/>
              <a:t>Import Decision Tree Classifier (</a:t>
            </a:r>
            <a:r>
              <a:rPr lang="en-US" dirty="0" err="1"/>
              <a:t>gini</a:t>
            </a:r>
            <a:r>
              <a:rPr lang="en-US" dirty="0"/>
              <a:t> index) </a:t>
            </a:r>
          </a:p>
        </p:txBody>
      </p:sp>
      <p:sp>
        <p:nvSpPr>
          <p:cNvPr id="3" name="Content Placeholder 2">
            <a:extLst>
              <a:ext uri="{FF2B5EF4-FFF2-40B4-BE49-F238E27FC236}">
                <a16:creationId xmlns:a16="http://schemas.microsoft.com/office/drawing/2014/main" id="{951FC7C8-1640-42B4-B721-3E9A6739F5F4}"/>
              </a:ext>
            </a:extLst>
          </p:cNvPr>
          <p:cNvSpPr>
            <a:spLocks noGrp="1"/>
          </p:cNvSpPr>
          <p:nvPr>
            <p:ph idx="1"/>
          </p:nvPr>
        </p:nvSpPr>
        <p:spPr>
          <a:xfrm>
            <a:off x="838200" y="968830"/>
            <a:ext cx="10515600" cy="5208133"/>
          </a:xfrm>
        </p:spPr>
        <p:txBody>
          <a:bodyPr/>
          <a:lstStyle/>
          <a:p>
            <a:r>
              <a:rPr lang="en-US" dirty="0">
                <a:solidFill>
                  <a:srgbClr val="FF0000"/>
                </a:solidFill>
              </a:rPr>
              <a:t>from </a:t>
            </a:r>
            <a:r>
              <a:rPr lang="en-US" dirty="0" err="1">
                <a:solidFill>
                  <a:srgbClr val="FF0000"/>
                </a:solidFill>
              </a:rPr>
              <a:t>sklearn.tree</a:t>
            </a:r>
            <a:r>
              <a:rPr lang="en-US" dirty="0">
                <a:solidFill>
                  <a:srgbClr val="FF0000"/>
                </a:solidFill>
              </a:rPr>
              <a:t> import </a:t>
            </a:r>
            <a:r>
              <a:rPr lang="en-US" dirty="0" err="1">
                <a:solidFill>
                  <a:srgbClr val="FF0000"/>
                </a:solidFill>
              </a:rPr>
              <a:t>DecisionTreeClassifier</a:t>
            </a:r>
            <a:endParaRPr lang="en-US" dirty="0">
              <a:solidFill>
                <a:srgbClr val="FF0000"/>
              </a:solidFill>
            </a:endParaRPr>
          </a:p>
          <a:p>
            <a:endParaRPr lang="en-US" dirty="0">
              <a:solidFill>
                <a:srgbClr val="FF0000"/>
              </a:solidFill>
            </a:endParaRPr>
          </a:p>
          <a:p>
            <a:r>
              <a:rPr lang="en-US" dirty="0" err="1">
                <a:solidFill>
                  <a:srgbClr val="FF0000"/>
                </a:solidFill>
              </a:rPr>
              <a:t>clf_gini</a:t>
            </a:r>
            <a:r>
              <a:rPr lang="en-US" dirty="0">
                <a:solidFill>
                  <a:srgbClr val="FF0000"/>
                </a:solidFill>
              </a:rPr>
              <a:t> = </a:t>
            </a:r>
            <a:r>
              <a:rPr lang="en-US" dirty="0" err="1">
                <a:solidFill>
                  <a:srgbClr val="FF0000"/>
                </a:solidFill>
              </a:rPr>
              <a:t>DecisionTreeClassifier</a:t>
            </a:r>
            <a:r>
              <a:rPr lang="en-US" dirty="0">
                <a:solidFill>
                  <a:srgbClr val="FF0000"/>
                </a:solidFill>
              </a:rPr>
              <a:t>(criterion='</a:t>
            </a:r>
            <a:r>
              <a:rPr lang="en-US" dirty="0" err="1">
                <a:solidFill>
                  <a:srgbClr val="FF0000"/>
                </a:solidFill>
              </a:rPr>
              <a:t>gini</a:t>
            </a:r>
            <a:r>
              <a:rPr lang="en-US" dirty="0">
                <a:solidFill>
                  <a:srgbClr val="FF0000"/>
                </a:solidFill>
              </a:rPr>
              <a:t>', </a:t>
            </a:r>
            <a:r>
              <a:rPr lang="en-US" dirty="0" err="1">
                <a:solidFill>
                  <a:srgbClr val="FF0000"/>
                </a:solidFill>
              </a:rPr>
              <a:t>max_depth</a:t>
            </a:r>
            <a:r>
              <a:rPr lang="en-US" dirty="0">
                <a:solidFill>
                  <a:srgbClr val="FF0000"/>
                </a:solidFill>
              </a:rPr>
              <a:t>=3, </a:t>
            </a:r>
            <a:r>
              <a:rPr lang="en-US" dirty="0" err="1">
                <a:solidFill>
                  <a:srgbClr val="FF0000"/>
                </a:solidFill>
              </a:rPr>
              <a:t>random_state</a:t>
            </a:r>
            <a:r>
              <a:rPr lang="en-US" dirty="0">
                <a:solidFill>
                  <a:srgbClr val="FF0000"/>
                </a:solidFill>
              </a:rPr>
              <a:t> = 0)</a:t>
            </a:r>
          </a:p>
          <a:p>
            <a:endParaRPr lang="en-US" dirty="0"/>
          </a:p>
          <a:p>
            <a:r>
              <a:rPr lang="en-US" dirty="0"/>
              <a:t># fit the model</a:t>
            </a:r>
          </a:p>
          <a:p>
            <a:r>
              <a:rPr lang="en-US" dirty="0" err="1">
                <a:solidFill>
                  <a:srgbClr val="FF0000"/>
                </a:solidFill>
              </a:rPr>
              <a:t>clf_gini.fit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r>
              <a:rPr lang="en-US" dirty="0"/>
              <a:t>Out[25]: </a:t>
            </a:r>
            <a:r>
              <a:rPr lang="en-US" dirty="0" err="1"/>
              <a:t>DecisionTreeClassifier</a:t>
            </a:r>
            <a:r>
              <a:rPr lang="en-US" dirty="0"/>
              <a:t>(</a:t>
            </a:r>
            <a:r>
              <a:rPr lang="en-US" dirty="0" err="1"/>
              <a:t>max_depth</a:t>
            </a:r>
            <a:r>
              <a:rPr lang="en-US" dirty="0"/>
              <a:t>=3, </a:t>
            </a:r>
            <a:r>
              <a:rPr lang="en-US" dirty="0" err="1"/>
              <a:t>random_state</a:t>
            </a:r>
            <a:r>
              <a:rPr lang="en-US" dirty="0"/>
              <a:t>=0)</a:t>
            </a:r>
          </a:p>
        </p:txBody>
      </p:sp>
      <p:sp>
        <p:nvSpPr>
          <p:cNvPr id="6" name="Slide Number Placeholder 5">
            <a:extLst>
              <a:ext uri="{FF2B5EF4-FFF2-40B4-BE49-F238E27FC236}">
                <a16:creationId xmlns:a16="http://schemas.microsoft.com/office/drawing/2014/main" id="{EE451E8F-AFD8-40DD-827A-990A56573E84}"/>
              </a:ext>
            </a:extLst>
          </p:cNvPr>
          <p:cNvSpPr>
            <a:spLocks noGrp="1"/>
          </p:cNvSpPr>
          <p:nvPr>
            <p:ph type="sldNum" sz="quarter" idx="12"/>
          </p:nvPr>
        </p:nvSpPr>
        <p:spPr/>
        <p:txBody>
          <a:bodyPr/>
          <a:lstStyle/>
          <a:p>
            <a:fld id="{6B97D948-30E8-43F7-AE10-F6E2D9F2BBB1}" type="slidenum">
              <a:rPr lang="en-US" smtClean="0"/>
              <a:t>905</a:t>
            </a:fld>
            <a:endParaRPr lang="en-US"/>
          </a:p>
        </p:txBody>
      </p:sp>
    </p:spTree>
    <p:extLst>
      <p:ext uri="{BB962C8B-B14F-4D97-AF65-F5344CB8AC3E}">
        <p14:creationId xmlns:p14="http://schemas.microsoft.com/office/powerpoint/2010/main" val="1172327252"/>
      </p:ext>
    </p:extLst>
  </p:cSld>
  <p:clrMapOvr>
    <a:masterClrMapping/>
  </p:clrMapOvr>
</p:sld>
</file>

<file path=ppt/slides/slide9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71315-68AE-4176-8C3A-A039AFC72E3F}"/>
              </a:ext>
            </a:extLst>
          </p:cNvPr>
          <p:cNvSpPr>
            <a:spLocks noGrp="1"/>
          </p:cNvSpPr>
          <p:nvPr>
            <p:ph type="title"/>
          </p:nvPr>
        </p:nvSpPr>
        <p:spPr>
          <a:xfrm>
            <a:off x="838200" y="365126"/>
            <a:ext cx="10515600" cy="603704"/>
          </a:xfrm>
        </p:spPr>
        <p:txBody>
          <a:bodyPr>
            <a:normAutofit fontScale="90000"/>
          </a:bodyPr>
          <a:lstStyle/>
          <a:p>
            <a:r>
              <a:rPr lang="en-US" dirty="0"/>
              <a:t>Import Decision Tree Classifier (</a:t>
            </a:r>
            <a:r>
              <a:rPr lang="en-US" dirty="0" err="1"/>
              <a:t>gini</a:t>
            </a:r>
            <a:r>
              <a:rPr lang="en-US" dirty="0"/>
              <a:t> index) </a:t>
            </a:r>
          </a:p>
        </p:txBody>
      </p:sp>
      <p:sp>
        <p:nvSpPr>
          <p:cNvPr id="3" name="Content Placeholder 2">
            <a:extLst>
              <a:ext uri="{FF2B5EF4-FFF2-40B4-BE49-F238E27FC236}">
                <a16:creationId xmlns:a16="http://schemas.microsoft.com/office/drawing/2014/main" id="{951FC7C8-1640-42B4-B721-3E9A6739F5F4}"/>
              </a:ext>
            </a:extLst>
          </p:cNvPr>
          <p:cNvSpPr>
            <a:spLocks noGrp="1"/>
          </p:cNvSpPr>
          <p:nvPr>
            <p:ph idx="1"/>
          </p:nvPr>
        </p:nvSpPr>
        <p:spPr>
          <a:xfrm>
            <a:off x="838200" y="968830"/>
            <a:ext cx="10515600" cy="5208133"/>
          </a:xfrm>
        </p:spPr>
        <p:txBody>
          <a:bodyPr/>
          <a:lstStyle/>
          <a:p>
            <a:r>
              <a:rPr lang="en-US" dirty="0">
                <a:solidFill>
                  <a:srgbClr val="FF0000"/>
                </a:solidFill>
              </a:rPr>
              <a:t>from </a:t>
            </a:r>
            <a:r>
              <a:rPr lang="en-US" dirty="0" err="1">
                <a:solidFill>
                  <a:srgbClr val="FF0000"/>
                </a:solidFill>
              </a:rPr>
              <a:t>sklearn.tree</a:t>
            </a:r>
            <a:r>
              <a:rPr lang="en-US" dirty="0">
                <a:solidFill>
                  <a:srgbClr val="FF0000"/>
                </a:solidFill>
              </a:rPr>
              <a:t> import </a:t>
            </a:r>
            <a:r>
              <a:rPr lang="en-US" dirty="0" err="1">
                <a:solidFill>
                  <a:srgbClr val="FF0000"/>
                </a:solidFill>
              </a:rPr>
              <a:t>DecisionTreeClassifier</a:t>
            </a:r>
            <a:endParaRPr lang="en-US" dirty="0">
              <a:solidFill>
                <a:srgbClr val="FF0000"/>
              </a:solidFill>
            </a:endParaRPr>
          </a:p>
          <a:p>
            <a:endParaRPr lang="en-US" dirty="0">
              <a:solidFill>
                <a:srgbClr val="FF0000"/>
              </a:solidFill>
            </a:endParaRPr>
          </a:p>
          <a:p>
            <a:r>
              <a:rPr lang="en-US" dirty="0" err="1">
                <a:solidFill>
                  <a:srgbClr val="FF0000"/>
                </a:solidFill>
              </a:rPr>
              <a:t>clf_gini</a:t>
            </a:r>
            <a:r>
              <a:rPr lang="en-US" dirty="0">
                <a:solidFill>
                  <a:srgbClr val="FF0000"/>
                </a:solidFill>
              </a:rPr>
              <a:t> = </a:t>
            </a:r>
            <a:r>
              <a:rPr lang="en-US" dirty="0" err="1">
                <a:solidFill>
                  <a:srgbClr val="FF0000"/>
                </a:solidFill>
              </a:rPr>
              <a:t>DecisionTreeClassifier</a:t>
            </a:r>
            <a:r>
              <a:rPr lang="en-US" dirty="0">
                <a:solidFill>
                  <a:srgbClr val="FF0000"/>
                </a:solidFill>
              </a:rPr>
              <a:t>(criterion='</a:t>
            </a:r>
            <a:r>
              <a:rPr lang="en-US" dirty="0" err="1">
                <a:solidFill>
                  <a:srgbClr val="FF0000"/>
                </a:solidFill>
              </a:rPr>
              <a:t>gini</a:t>
            </a:r>
            <a:r>
              <a:rPr lang="en-US" dirty="0">
                <a:solidFill>
                  <a:srgbClr val="FF0000"/>
                </a:solidFill>
              </a:rPr>
              <a:t>', </a:t>
            </a:r>
            <a:r>
              <a:rPr lang="en-US" dirty="0" err="1">
                <a:solidFill>
                  <a:srgbClr val="FF0000"/>
                </a:solidFill>
              </a:rPr>
              <a:t>max_depth</a:t>
            </a:r>
            <a:r>
              <a:rPr lang="en-US" dirty="0">
                <a:solidFill>
                  <a:srgbClr val="FF0000"/>
                </a:solidFill>
              </a:rPr>
              <a:t>=3, </a:t>
            </a:r>
            <a:r>
              <a:rPr lang="en-US" dirty="0" err="1">
                <a:solidFill>
                  <a:srgbClr val="FF0000"/>
                </a:solidFill>
              </a:rPr>
              <a:t>random_state</a:t>
            </a:r>
            <a:r>
              <a:rPr lang="en-US" dirty="0">
                <a:solidFill>
                  <a:srgbClr val="FF0000"/>
                </a:solidFill>
              </a:rPr>
              <a:t> = 0)</a:t>
            </a:r>
          </a:p>
          <a:p>
            <a:endParaRPr lang="en-US" dirty="0"/>
          </a:p>
          <a:p>
            <a:r>
              <a:rPr lang="en-US" dirty="0"/>
              <a:t># fit the model</a:t>
            </a:r>
          </a:p>
          <a:p>
            <a:r>
              <a:rPr lang="en-US" dirty="0" err="1">
                <a:solidFill>
                  <a:srgbClr val="FF0000"/>
                </a:solidFill>
              </a:rPr>
              <a:t>clf_gini.fit</a:t>
            </a:r>
            <a:r>
              <a:rPr lang="en-US" dirty="0">
                <a:solidFill>
                  <a:srgbClr val="FF0000"/>
                </a:solidFill>
              </a:rPr>
              <a:t>(</a:t>
            </a:r>
            <a:r>
              <a:rPr lang="en-US" dirty="0" err="1">
                <a:solidFill>
                  <a:srgbClr val="FF0000"/>
                </a:solidFill>
              </a:rPr>
              <a:t>X_train</a:t>
            </a:r>
            <a:r>
              <a:rPr lang="en-US" dirty="0">
                <a:solidFill>
                  <a:srgbClr val="FF0000"/>
                </a:solidFill>
              </a:rPr>
              <a:t>, </a:t>
            </a:r>
            <a:r>
              <a:rPr lang="en-US" dirty="0" err="1">
                <a:solidFill>
                  <a:srgbClr val="FF0000"/>
                </a:solidFill>
              </a:rPr>
              <a:t>y_train</a:t>
            </a:r>
            <a:r>
              <a:rPr lang="en-US" dirty="0">
                <a:solidFill>
                  <a:srgbClr val="FF0000"/>
                </a:solidFill>
              </a:rPr>
              <a:t>)</a:t>
            </a:r>
          </a:p>
          <a:p>
            <a:r>
              <a:rPr lang="en-US" dirty="0"/>
              <a:t>Out[25]: </a:t>
            </a:r>
            <a:r>
              <a:rPr lang="en-US" dirty="0" err="1"/>
              <a:t>DecisionTreeClassifier</a:t>
            </a:r>
            <a:r>
              <a:rPr lang="en-US" dirty="0"/>
              <a:t>(</a:t>
            </a:r>
            <a:r>
              <a:rPr lang="en-US" dirty="0" err="1"/>
              <a:t>max_depth</a:t>
            </a:r>
            <a:r>
              <a:rPr lang="en-US" dirty="0"/>
              <a:t>=3, </a:t>
            </a:r>
            <a:r>
              <a:rPr lang="en-US" dirty="0" err="1"/>
              <a:t>random_state</a:t>
            </a:r>
            <a:r>
              <a:rPr lang="en-US" dirty="0"/>
              <a:t>=0)</a:t>
            </a:r>
          </a:p>
        </p:txBody>
      </p:sp>
      <p:sp>
        <p:nvSpPr>
          <p:cNvPr id="5" name="Slide Number Placeholder 4">
            <a:extLst>
              <a:ext uri="{FF2B5EF4-FFF2-40B4-BE49-F238E27FC236}">
                <a16:creationId xmlns:a16="http://schemas.microsoft.com/office/drawing/2014/main" id="{CE3DF068-3F73-4E7F-9259-1CEDF7EEB6DA}"/>
              </a:ext>
            </a:extLst>
          </p:cNvPr>
          <p:cNvSpPr>
            <a:spLocks noGrp="1"/>
          </p:cNvSpPr>
          <p:nvPr>
            <p:ph type="sldNum" sz="quarter" idx="12"/>
          </p:nvPr>
        </p:nvSpPr>
        <p:spPr/>
        <p:txBody>
          <a:bodyPr/>
          <a:lstStyle/>
          <a:p>
            <a:fld id="{6B97D948-30E8-43F7-AE10-F6E2D9F2BBB1}" type="slidenum">
              <a:rPr lang="en-US" smtClean="0"/>
              <a:t>906</a:t>
            </a:fld>
            <a:endParaRPr lang="en-US"/>
          </a:p>
        </p:txBody>
      </p:sp>
    </p:spTree>
    <p:extLst>
      <p:ext uri="{BB962C8B-B14F-4D97-AF65-F5344CB8AC3E}">
        <p14:creationId xmlns:p14="http://schemas.microsoft.com/office/powerpoint/2010/main" val="1627005756"/>
      </p:ext>
    </p:extLst>
  </p:cSld>
  <p:clrMapOvr>
    <a:masterClrMapping/>
  </p:clrMapOvr>
</p:sld>
</file>

<file path=ppt/slides/slide9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82D5-848A-49F3-8240-AD9D75EEB4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7D48A1-F941-4396-97EC-B9EF0DA9C5AF}"/>
              </a:ext>
            </a:extLst>
          </p:cNvPr>
          <p:cNvSpPr>
            <a:spLocks noGrp="1"/>
          </p:cNvSpPr>
          <p:nvPr>
            <p:ph idx="1"/>
          </p:nvPr>
        </p:nvSpPr>
        <p:spPr/>
        <p:txBody>
          <a:bodyPr/>
          <a:lstStyle/>
          <a:p>
            <a:r>
              <a:rPr lang="en-US" dirty="0"/>
              <a:t>Predict the Test set results with criterion </a:t>
            </a:r>
            <a:r>
              <a:rPr lang="en-US" dirty="0" err="1"/>
              <a:t>gini</a:t>
            </a:r>
            <a:r>
              <a:rPr lang="en-US" dirty="0"/>
              <a:t> index</a:t>
            </a:r>
          </a:p>
          <a:p>
            <a:r>
              <a:rPr lang="en-US" dirty="0"/>
              <a:t> </a:t>
            </a:r>
            <a:r>
              <a:rPr lang="en-US" dirty="0" err="1">
                <a:solidFill>
                  <a:srgbClr val="FF0000"/>
                </a:solidFill>
              </a:rPr>
              <a:t>y_pred_gini</a:t>
            </a:r>
            <a:r>
              <a:rPr lang="en-US" dirty="0">
                <a:solidFill>
                  <a:srgbClr val="FF0000"/>
                </a:solidFill>
              </a:rPr>
              <a:t> = </a:t>
            </a:r>
            <a:r>
              <a:rPr lang="en-US" dirty="0" err="1">
                <a:solidFill>
                  <a:srgbClr val="FF0000"/>
                </a:solidFill>
              </a:rPr>
              <a:t>clf_gini.predict</a:t>
            </a:r>
            <a:r>
              <a:rPr lang="en-US" dirty="0">
                <a:solidFill>
                  <a:srgbClr val="FF0000"/>
                </a:solidFill>
              </a:rPr>
              <a:t>(</a:t>
            </a:r>
            <a:r>
              <a:rPr lang="en-US" dirty="0" err="1">
                <a:solidFill>
                  <a:srgbClr val="FF0000"/>
                </a:solidFill>
              </a:rPr>
              <a:t>X_test</a:t>
            </a:r>
            <a:r>
              <a:rPr lang="en-US" dirty="0">
                <a:solidFill>
                  <a:srgbClr val="FF0000"/>
                </a:solidFill>
              </a:rPr>
              <a:t>)</a:t>
            </a:r>
          </a:p>
        </p:txBody>
      </p:sp>
      <p:sp>
        <p:nvSpPr>
          <p:cNvPr id="5" name="Slide Number Placeholder 4">
            <a:extLst>
              <a:ext uri="{FF2B5EF4-FFF2-40B4-BE49-F238E27FC236}">
                <a16:creationId xmlns:a16="http://schemas.microsoft.com/office/drawing/2014/main" id="{668350F8-BC85-4522-A784-B496183BD5F0}"/>
              </a:ext>
            </a:extLst>
          </p:cNvPr>
          <p:cNvSpPr>
            <a:spLocks noGrp="1"/>
          </p:cNvSpPr>
          <p:nvPr>
            <p:ph type="sldNum" sz="quarter" idx="12"/>
          </p:nvPr>
        </p:nvSpPr>
        <p:spPr/>
        <p:txBody>
          <a:bodyPr/>
          <a:lstStyle/>
          <a:p>
            <a:fld id="{6B97D948-30E8-43F7-AE10-F6E2D9F2BBB1}" type="slidenum">
              <a:rPr lang="en-US" smtClean="0"/>
              <a:t>907</a:t>
            </a:fld>
            <a:endParaRPr lang="en-US"/>
          </a:p>
        </p:txBody>
      </p:sp>
    </p:spTree>
    <p:extLst>
      <p:ext uri="{BB962C8B-B14F-4D97-AF65-F5344CB8AC3E}">
        <p14:creationId xmlns:p14="http://schemas.microsoft.com/office/powerpoint/2010/main" val="2749152560"/>
      </p:ext>
    </p:extLst>
  </p:cSld>
  <p:clrMapOvr>
    <a:masterClrMapping/>
  </p:clrMapOvr>
</p:sld>
</file>

<file path=ppt/slides/slide9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3380-CD00-4DF1-B48E-25F86669E8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C940FB-27DB-479B-AF7E-A41804D4AEC7}"/>
              </a:ext>
            </a:extLst>
          </p:cNvPr>
          <p:cNvSpPr>
            <a:spLocks noGrp="1"/>
          </p:cNvSpPr>
          <p:nvPr>
            <p:ph idx="1"/>
          </p:nvPr>
        </p:nvSpPr>
        <p:spPr/>
        <p:txBody>
          <a:bodyPr/>
          <a:lstStyle/>
          <a:p>
            <a:endParaRPr lang="en-US"/>
          </a:p>
        </p:txBody>
      </p:sp>
      <p:sp>
        <p:nvSpPr>
          <p:cNvPr id="5" name="Slide Number Placeholder 4">
            <a:extLst>
              <a:ext uri="{FF2B5EF4-FFF2-40B4-BE49-F238E27FC236}">
                <a16:creationId xmlns:a16="http://schemas.microsoft.com/office/drawing/2014/main" id="{BA680567-4445-4DD2-83D8-2892C7432735}"/>
              </a:ext>
            </a:extLst>
          </p:cNvPr>
          <p:cNvSpPr>
            <a:spLocks noGrp="1"/>
          </p:cNvSpPr>
          <p:nvPr>
            <p:ph type="sldNum" sz="quarter" idx="12"/>
          </p:nvPr>
        </p:nvSpPr>
        <p:spPr/>
        <p:txBody>
          <a:bodyPr/>
          <a:lstStyle/>
          <a:p>
            <a:fld id="{6B97D948-30E8-43F7-AE10-F6E2D9F2BBB1}" type="slidenum">
              <a:rPr lang="en-US" smtClean="0"/>
              <a:t>908</a:t>
            </a:fld>
            <a:endParaRPr lang="en-US"/>
          </a:p>
        </p:txBody>
      </p:sp>
    </p:spTree>
    <p:extLst>
      <p:ext uri="{BB962C8B-B14F-4D97-AF65-F5344CB8AC3E}">
        <p14:creationId xmlns:p14="http://schemas.microsoft.com/office/powerpoint/2010/main" val="2159349331"/>
      </p:ext>
    </p:extLst>
  </p:cSld>
  <p:clrMapOvr>
    <a:masterClrMapping/>
  </p:clrMapOvr>
</p:sld>
</file>

<file path=ppt/slides/slide9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A4C32-2DF0-423F-86F3-655D71F9ED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8D4F21-68A0-4094-A23C-121BC55AFCDF}"/>
              </a:ext>
            </a:extLst>
          </p:cNvPr>
          <p:cNvSpPr>
            <a:spLocks noGrp="1"/>
          </p:cNvSpPr>
          <p:nvPr>
            <p:ph idx="1"/>
          </p:nvPr>
        </p:nvSpPr>
        <p:spPr/>
        <p:txBody>
          <a:bodyPr/>
          <a:lstStyle/>
          <a:p>
            <a:endParaRPr lang="en-US"/>
          </a:p>
        </p:txBody>
      </p:sp>
      <p:sp>
        <p:nvSpPr>
          <p:cNvPr id="5" name="Slide Number Placeholder 4">
            <a:extLst>
              <a:ext uri="{FF2B5EF4-FFF2-40B4-BE49-F238E27FC236}">
                <a16:creationId xmlns:a16="http://schemas.microsoft.com/office/drawing/2014/main" id="{D84C1F85-A113-4050-91D2-BA279306052E}"/>
              </a:ext>
            </a:extLst>
          </p:cNvPr>
          <p:cNvSpPr>
            <a:spLocks noGrp="1"/>
          </p:cNvSpPr>
          <p:nvPr>
            <p:ph type="sldNum" sz="quarter" idx="12"/>
          </p:nvPr>
        </p:nvSpPr>
        <p:spPr/>
        <p:txBody>
          <a:bodyPr/>
          <a:lstStyle/>
          <a:p>
            <a:fld id="{6B97D948-30E8-43F7-AE10-F6E2D9F2BBB1}" type="slidenum">
              <a:rPr lang="en-US" smtClean="0"/>
              <a:t>909</a:t>
            </a:fld>
            <a:endParaRPr lang="en-US"/>
          </a:p>
        </p:txBody>
      </p:sp>
    </p:spTree>
    <p:extLst>
      <p:ext uri="{BB962C8B-B14F-4D97-AF65-F5344CB8AC3E}">
        <p14:creationId xmlns:p14="http://schemas.microsoft.com/office/powerpoint/2010/main" val="623194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69119</TotalTime>
  <Words>54995</Words>
  <Application>Microsoft Office PowerPoint</Application>
  <PresentationFormat>Widescreen</PresentationFormat>
  <Paragraphs>6768</Paragraphs>
  <Slides>909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909</vt:i4>
      </vt:variant>
    </vt:vector>
  </HeadingPairs>
  <TitlesOfParts>
    <vt:vector size="914" baseType="lpstr">
      <vt:lpstr>Arial</vt:lpstr>
      <vt:lpstr>Calibri</vt:lpstr>
      <vt:lpstr>Calibri Light</vt:lpstr>
      <vt:lpstr>Cambria Math</vt:lpstr>
      <vt:lpstr>Office Theme</vt:lpstr>
      <vt:lpstr>Introduction to Data Science</vt:lpstr>
      <vt:lpstr>Introducing Data Science</vt:lpstr>
      <vt:lpstr>What is Data Science?</vt:lpstr>
      <vt:lpstr>What Skills do Data Scientists Need?</vt:lpstr>
      <vt:lpstr>PowerPoint Presentation</vt:lpstr>
      <vt:lpstr>PowerPoint Presentation</vt:lpstr>
      <vt:lpstr>Tools for Data Science</vt:lpstr>
      <vt:lpstr>Computing</vt:lpstr>
      <vt:lpstr>Nature of Programming</vt:lpstr>
      <vt:lpstr>Defining Data </vt:lpstr>
      <vt:lpstr>Sources of Data</vt:lpstr>
      <vt:lpstr>Data Science formally. . . </vt:lpstr>
      <vt:lpstr>Data Science Pipeline</vt:lpstr>
      <vt:lpstr>Challenges in Data Science</vt:lpstr>
      <vt:lpstr>Statistical Techniques</vt:lpstr>
      <vt:lpstr>Why Data Science?</vt:lpstr>
      <vt:lpstr>Data Science Terminology</vt:lpstr>
      <vt:lpstr>Technical Tools for Data Science</vt:lpstr>
      <vt:lpstr>PowerPoint Presentation</vt:lpstr>
      <vt:lpstr>Data Science Processes</vt:lpstr>
      <vt:lpstr>Data Science Skills</vt:lpstr>
      <vt:lpstr>Applications of Data Science</vt:lpstr>
      <vt:lpstr>Doing Data Science Ethically</vt:lpstr>
      <vt:lpstr>PowerPoint Presentation</vt:lpstr>
      <vt:lpstr>Going into data science. . . </vt:lpstr>
      <vt:lpstr>Data Forms</vt:lpstr>
      <vt:lpstr>Structured Data</vt:lpstr>
      <vt:lpstr>Unstructured Data</vt:lpstr>
      <vt:lpstr>Semi-structured</vt:lpstr>
      <vt:lpstr>Variables</vt:lpstr>
      <vt:lpstr>Quantitative Data</vt:lpstr>
      <vt:lpstr>Qualitative Data</vt:lpstr>
      <vt:lpstr>Type of Data</vt:lpstr>
      <vt:lpstr>PowerPoint Presentation</vt:lpstr>
      <vt:lpstr>Interval data</vt:lpstr>
      <vt:lpstr>PowerPoint Presentation</vt:lpstr>
      <vt:lpstr>Valid Operations on Data</vt:lpstr>
      <vt:lpstr>A Dive into Python</vt:lpstr>
      <vt:lpstr>Student Object</vt:lpstr>
      <vt:lpstr>Class  Objects</vt:lpstr>
      <vt:lpstr>Hello World!</vt:lpstr>
      <vt:lpstr>PowerPoint Presentation</vt:lpstr>
      <vt:lpstr>PowerPoint Presentation</vt:lpstr>
      <vt:lpstr>The road ahead </vt:lpstr>
      <vt:lpstr>When you open something, close it immediately!</vt:lpstr>
      <vt:lpstr>Arithmetic Operators</vt:lpstr>
      <vt:lpstr>Variables in Python</vt:lpstr>
      <vt:lpstr>PowerPoint Presentation</vt:lpstr>
      <vt:lpstr>But. . . </vt:lpstr>
      <vt:lpstr>Rules for variable names</vt:lpstr>
      <vt:lpstr>Examples</vt:lpstr>
      <vt:lpstr>Invalid variable names</vt:lpstr>
      <vt:lpstr>PowerPoint Presentation</vt:lpstr>
      <vt:lpstr>Built-in data types</vt:lpstr>
      <vt:lpstr>PowerPoint Presentation</vt:lpstr>
      <vt:lpstr>PowerPoint Presentation</vt:lpstr>
      <vt:lpstr>PowerPoint Presentation</vt:lpstr>
      <vt:lpstr>PowerPoint Presentation</vt:lpstr>
      <vt:lpstr>Built-in modules and functions</vt:lpstr>
      <vt:lpstr>Examples</vt:lpstr>
      <vt:lpstr>PowerPoint Presentation</vt:lpstr>
      <vt:lpstr>PowerPoint Presentation</vt:lpstr>
      <vt:lpstr>Importing libraries</vt:lpstr>
      <vt:lpstr>PowerPoint Presentation</vt:lpstr>
      <vt:lpstr>PowerPoint Presentation</vt:lpstr>
      <vt:lpstr>PowerPoint Presentation</vt:lpstr>
      <vt:lpstr>Package Use</vt:lpstr>
      <vt:lpstr>PowerPoint Presentation</vt:lpstr>
      <vt:lpstr>Example. . . </vt:lpstr>
      <vt:lpstr>Different ways to import</vt:lpstr>
      <vt:lpstr>Installing a package</vt:lpstr>
      <vt:lpstr>PowerPoint Presentation</vt:lpstr>
      <vt:lpstr>PowerPoint Presentation</vt:lpstr>
      <vt:lpstr>Control Flow</vt:lpstr>
      <vt:lpstr>Branching with if, else and elif</vt:lpstr>
      <vt:lpstr>Boolean Expressions</vt:lpstr>
      <vt:lpstr>Relational operators</vt:lpstr>
      <vt:lpstr>The if statement</vt:lpstr>
      <vt:lpstr>PowerPoint Presentation</vt:lpstr>
      <vt:lpstr>Indentation</vt:lpstr>
      <vt:lpstr>PowerPoint Presentation</vt:lpstr>
      <vt:lpstr>The else statement</vt:lpstr>
      <vt:lpstr>PowerPoint Presentation</vt:lpstr>
      <vt:lpstr>The elif statement</vt:lpstr>
      <vt:lpstr>PowerPoint Presentation</vt:lpstr>
      <vt:lpstr>Using if, elif, and else together</vt:lpstr>
      <vt:lpstr>score = float(input(‘Enter exam score:’))</vt:lpstr>
      <vt:lpstr>PowerPoint Presentation</vt:lpstr>
      <vt:lpstr>PowerPoint Presentation</vt:lpstr>
      <vt:lpstr>Non-Boolean Conditions</vt:lpstr>
      <vt:lpstr>PowerPoint Presentation</vt:lpstr>
      <vt:lpstr>PowerPoint Presentation</vt:lpstr>
      <vt:lpstr>PowerPoint Presentation</vt:lpstr>
      <vt:lpstr>PowerPoint Presentation</vt:lpstr>
      <vt:lpstr>PowerPoint Presentation</vt:lpstr>
      <vt:lpstr>Nested conditional statements</vt:lpstr>
      <vt:lpstr>PowerPoint Presentation</vt:lpstr>
      <vt:lpstr>Shorthand if conditional expression</vt:lpstr>
      <vt:lpstr>PowerPoint Presentation</vt:lpstr>
      <vt:lpstr>PowerPoint Presentation</vt:lpstr>
      <vt:lpstr>The pass statement</vt:lpstr>
      <vt:lpstr>Iteration with while loops</vt:lpstr>
      <vt:lpstr>PowerPoint Presentation</vt:lpstr>
      <vt:lpstr>Code</vt:lpstr>
      <vt:lpstr>Infinite Loops</vt:lpstr>
      <vt:lpstr>**Don’t run this code</vt:lpstr>
      <vt:lpstr>**Don’t run this code</vt:lpstr>
      <vt:lpstr>break and continue statements</vt:lpstr>
      <vt:lpstr>PowerPoint Presentation</vt:lpstr>
      <vt:lpstr>PowerPoint Presentation</vt:lpstr>
      <vt:lpstr>Example - break</vt:lpstr>
      <vt:lpstr>Example - continue</vt:lpstr>
      <vt:lpstr>Exercise</vt:lpstr>
      <vt:lpstr>Exercise</vt:lpstr>
      <vt:lpstr>Iteration with for loops</vt:lpstr>
      <vt:lpstr>PowerPoint Presentation</vt:lpstr>
      <vt:lpstr>PowerPoint Presentation</vt:lpstr>
      <vt:lpstr>PowerPoint Presentation</vt:lpstr>
      <vt:lpstr>Iterating using range and enumerate</vt:lpstr>
      <vt:lpstr>Let’s try it out</vt:lpstr>
      <vt:lpstr>PowerPoint Presentation</vt:lpstr>
      <vt:lpstr>PowerPoint Presentation</vt:lpstr>
      <vt:lpstr>Pandas</vt:lpstr>
      <vt:lpstr>Tabular Data</vt:lpstr>
      <vt:lpstr>PowerPoint Presentation</vt:lpstr>
      <vt:lpstr>PowerPoint Presentation</vt:lpstr>
      <vt:lpstr>Code</vt:lpstr>
      <vt:lpstr>Election Data</vt:lpstr>
      <vt:lpstr>DataFrames, Series, and Indices</vt:lpstr>
      <vt:lpstr>PowerPoint Presentation</vt:lpstr>
      <vt:lpstr>PowerPoint Presentation</vt:lpstr>
      <vt:lpstr>Series</vt:lpstr>
      <vt:lpstr>PowerPoint Presentation</vt:lpstr>
      <vt:lpstr>Selection in Series</vt:lpstr>
      <vt:lpstr>PowerPoint Presentation</vt:lpstr>
      <vt:lpstr>PowerPoint Presentation</vt:lpstr>
      <vt:lpstr>DataFrames</vt:lpstr>
      <vt:lpstr>PowerPoint Presentation</vt:lpstr>
      <vt:lpstr>Creating a DataFrame</vt:lpstr>
      <vt:lpstr>Using a List and Column Names</vt:lpstr>
      <vt:lpstr>PowerPoint Presentation</vt:lpstr>
      <vt:lpstr>From a Dictionary</vt:lpstr>
      <vt:lpstr>From a Series</vt:lpstr>
      <vt:lpstr>PowerPoint Presentation</vt:lpstr>
      <vt:lpstr>Indices</vt:lpstr>
      <vt:lpstr>PowerPoint Presentation</vt:lpstr>
      <vt:lpstr>Slicing in DataFrames</vt:lpstr>
      <vt:lpstr>PowerPoint Presentation</vt:lpstr>
      <vt:lpstr>Extracting data with .head and .tail</vt:lpstr>
      <vt:lpstr>PowerPoint Presentation</vt:lpstr>
      <vt:lpstr>PowerPoint Presentation</vt:lpstr>
      <vt:lpstr>Indexing with .loc</vt:lpstr>
      <vt:lpstr>PowerPoint Presentation</vt:lpstr>
      <vt:lpstr>PowerPoint Presentation</vt:lpstr>
      <vt:lpstr>PowerPoint Presentation</vt:lpstr>
      <vt:lpstr>Note carefully</vt:lpstr>
      <vt:lpstr>PowerPoint Presentation</vt:lpstr>
      <vt:lpstr>PowerPoint Presentation</vt:lpstr>
      <vt:lpstr>Indexing with .iloc</vt:lpstr>
      <vt:lpstr>PowerPoint Presentation</vt:lpstr>
      <vt:lpstr>PowerPoint Presentation</vt:lpstr>
      <vt:lpstr>PowerPoint Presentation</vt:lpstr>
      <vt:lpstr>Indexing with []</vt:lpstr>
      <vt:lpstr>A slice of row numbers</vt:lpstr>
      <vt:lpstr>A list of column labels</vt:lpstr>
      <vt:lpstr>A single column label</vt:lpstr>
      <vt:lpstr>Pandas II</vt:lpstr>
      <vt:lpstr>Loading the data </vt:lpstr>
      <vt:lpstr>PowerPoint Presentation</vt:lpstr>
      <vt:lpstr>Conditional Selection</vt:lpstr>
      <vt:lpstr>PowerPoint Presentation</vt:lpstr>
      <vt:lpstr>PowerPoint Presentation</vt:lpstr>
      <vt:lpstr>PowerPoint Presentation</vt:lpstr>
      <vt:lpstr>PowerPoint Presentation</vt:lpstr>
      <vt:lpstr>PowerPoint Presentation</vt:lpstr>
      <vt:lpstr>PowerPoint Presentation</vt:lpstr>
      <vt:lpstr>Combining Bools</vt:lpstr>
      <vt:lpstr>Syntax</vt:lpstr>
      <vt:lpstr>PowerPoint Presentation</vt:lpstr>
      <vt:lpstr>PowerPoint Presentation</vt:lpstr>
      <vt:lpstr>PowerPoint Presentation</vt:lpstr>
      <vt:lpstr>Adding, Removing, and Modifying Columns</vt:lpstr>
      <vt:lpstr>PowerPoint Presentation</vt:lpstr>
      <vt:lpstr>PowerPoint Presentation</vt:lpstr>
      <vt:lpstr>Renaming a columns</vt:lpstr>
      <vt:lpstr>Removing a column</vt:lpstr>
      <vt:lpstr>PowerPoint Presentation</vt:lpstr>
      <vt:lpstr>PowerPoint Presentation</vt:lpstr>
      <vt:lpstr>Handy Utility Functions</vt:lpstr>
      <vt:lpstr>PowerPoint Presentation</vt:lpstr>
      <vt:lpstr>Working with Tabular Data</vt:lpstr>
      <vt:lpstr>PowerPoint Presentation</vt:lpstr>
      <vt:lpstr>PowerPoint Presentation</vt:lpstr>
      <vt:lpstr>Effectively working with tabular data</vt:lpstr>
      <vt:lpstr>Reading Data Structured in Tabular Form</vt:lpstr>
      <vt:lpstr>PowerPoint Presentation</vt:lpstr>
      <vt:lpstr>Describe / summarize your data</vt:lpstr>
      <vt:lpstr>Querying the data</vt:lpstr>
      <vt:lpstr>Plotting the data</vt:lpstr>
      <vt:lpstr>PowerPoint Presentation</vt:lpstr>
      <vt:lpstr>Deeper with Tabular Data using DataFrames</vt:lpstr>
      <vt:lpstr>Format of DataFrames</vt:lpstr>
      <vt:lpstr>PowerPoint Presentation</vt:lpstr>
      <vt:lpstr>Writing DataFrames by hand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Subsetting a DataFrame</vt:lpstr>
      <vt:lpstr>PowerPoint Presentation</vt:lpstr>
      <vt:lpstr>PowerPoint Presentation</vt:lpstr>
      <vt:lpstr>PowerPoint Presentation</vt:lpstr>
      <vt:lpstr>PowerPoint Presentation</vt:lpstr>
      <vt:lpstr>PowerPoint Presentation</vt:lpstr>
      <vt:lpstr>Logical Tests on DataFrames</vt:lpstr>
      <vt:lpstr>PowerPoint Presentation</vt:lpstr>
      <vt:lpstr>PowerPoint Presentation</vt:lpstr>
      <vt:lpstr>[] Square brackets</vt:lpstr>
      <vt:lpstr>PowerPoint Presentation</vt:lpstr>
      <vt:lpstr>PowerPoint Presentation</vt:lpstr>
      <vt:lpstr>PowerPoint Presentation</vt:lpstr>
      <vt:lpstr>Note</vt:lpstr>
      <vt:lpstr>Data Wrangling</vt:lpstr>
      <vt:lpstr>Identifying Data Problems</vt:lpstr>
      <vt:lpstr>Some facts . . . </vt:lpstr>
      <vt:lpstr>Exercise</vt:lpstr>
      <vt:lpstr>Code</vt:lpstr>
      <vt:lpstr>PowerPoint Presentation</vt:lpstr>
      <vt:lpstr>Introspection Methods</vt:lpstr>
      <vt:lpstr>PowerPoint Presentation</vt:lpstr>
      <vt:lpstr>PowerPoint Presentation</vt:lpstr>
      <vt:lpstr>Cleaning Data Types</vt:lpstr>
      <vt:lpstr>Visualization</vt:lpstr>
      <vt:lpstr>Plotting Best Practices</vt:lpstr>
      <vt:lpstr>Principles of Visualization</vt:lpstr>
      <vt:lpstr>PowerPoint Presentation</vt:lpstr>
      <vt:lpstr>PowerPoint Presentation</vt:lpstr>
      <vt:lpstr>Plotting with matplotlib</vt:lpstr>
      <vt:lpstr>Basic Plotting</vt:lpstr>
      <vt:lpstr>PowerPoint Presentation</vt:lpstr>
      <vt:lpstr>Example</vt:lpstr>
      <vt:lpstr>PowerPoint Presentation</vt:lpstr>
      <vt:lpstr>Customization of matplotlib</vt:lpstr>
      <vt:lpstr>PowerPoint Presentation</vt:lpstr>
      <vt:lpstr>Some Code</vt:lpstr>
      <vt:lpstr>PowerPoint Presentation</vt:lpstr>
      <vt:lpstr>Figures and axes</vt:lpstr>
      <vt:lpstr>PowerPoint Presentation</vt:lpstr>
      <vt:lpstr>PowerPoint Presentation</vt:lpstr>
      <vt:lpstr>Line and scatter plots</vt:lpstr>
      <vt:lpstr>PowerPoint Presentation</vt:lpstr>
      <vt:lpstr>Axis labels</vt:lpstr>
      <vt:lpstr>PowerPoint Presentation</vt:lpstr>
      <vt:lpstr>Ticks and tick labels</vt:lpstr>
      <vt:lpstr>PowerPoint Presentation</vt:lpstr>
      <vt:lpstr>PowerPoint Presentation</vt:lpstr>
      <vt:lpstr>Axis limits</vt:lpstr>
      <vt:lpstr>PowerPoint Presentation</vt:lpstr>
      <vt:lpstr>PowerPoint Presentation</vt:lpstr>
      <vt:lpstr>Grid lines</vt:lpstr>
      <vt:lpstr>PowerPoint Presentation</vt:lpstr>
      <vt:lpstr>PowerPoint Presentation</vt:lpstr>
      <vt:lpstr>Legend</vt:lpstr>
      <vt:lpstr>PowerPoint Presentation</vt:lpstr>
      <vt:lpstr>PowerPoint Presentation</vt:lpstr>
      <vt:lpstr>Title</vt:lpstr>
      <vt:lpstr>PowerPoint Presentation</vt:lpstr>
      <vt:lpstr>Spines</vt:lpstr>
      <vt:lpstr>PowerPoint Presentation</vt:lpstr>
      <vt:lpstr>Another way to set properties</vt:lpstr>
      <vt:lpstr>PowerPoint Presentation</vt:lpstr>
      <vt:lpstr>PowerPoint Presentation</vt:lpstr>
      <vt:lpstr>Data Visualization with Seaborn</vt:lpstr>
      <vt:lpstr>PowerPoint Presentation</vt:lpstr>
      <vt:lpstr>Datasets in Seaborn</vt:lpstr>
      <vt:lpstr>PowerPoint Presentation</vt:lpstr>
      <vt:lpstr>PowerPoint Presentation</vt:lpstr>
      <vt:lpstr>Specifying a plot and mapping data</vt:lpstr>
      <vt:lpstr>PowerPoint Presentation</vt:lpstr>
      <vt:lpstr>PowerPoint Presentation</vt:lpstr>
      <vt:lpstr>PowerPoint Presentation</vt:lpstr>
      <vt:lpstr>Setting properties</vt:lpstr>
      <vt:lpstr>PowerPoint Presentation</vt:lpstr>
      <vt:lpstr>Mapping properties</vt:lpstr>
      <vt:lpstr>PowerPoint Presentation</vt:lpstr>
      <vt:lpstr>Defining groups</vt:lpstr>
      <vt:lpstr>PowerPoint Presentation</vt:lpstr>
      <vt:lpstr>PowerPoint Presentation</vt:lpstr>
      <vt:lpstr>Statistical Transformation</vt:lpstr>
      <vt:lpstr>PowerPoint Presentation</vt:lpstr>
      <vt:lpstr>PowerPoint Presentation</vt:lpstr>
      <vt:lpstr>PowerPoint Presentation</vt:lpstr>
      <vt:lpstr>PowerPoint Presentation</vt:lpstr>
      <vt:lpstr>Adding Multiple Layers</vt:lpstr>
      <vt:lpstr>PowerPoint Presentation</vt:lpstr>
      <vt:lpstr>PowerPoint Presentation</vt:lpstr>
      <vt:lpstr>PowerPoint Presentation</vt:lpstr>
      <vt:lpstr>PowerPoint Presentation</vt:lpstr>
      <vt:lpstr>PowerPoint Presentation</vt:lpstr>
      <vt:lpstr>Package information</vt:lpstr>
      <vt:lpstr>Data Value Problems</vt:lpstr>
      <vt:lpstr>PowerPoint Presentation</vt:lpstr>
      <vt:lpstr>Code</vt:lpstr>
      <vt:lpstr>PowerPoint Presentation</vt:lpstr>
      <vt:lpstr>PowerPoint Presentation</vt:lpstr>
      <vt:lpstr>PowerPoint Presentation</vt:lpstr>
      <vt:lpstr>.replace() with Dictionaries</vt:lpstr>
      <vt:lpstr>PowerPoint Presentation</vt:lpstr>
      <vt:lpstr>The .str. String Methods</vt:lpstr>
      <vt:lpstr>PowerPoint Presentation</vt:lpstr>
      <vt:lpstr>PowerPoint Presentation</vt:lpstr>
      <vt:lpstr>PowerPoint Presentation</vt:lpstr>
      <vt:lpstr>Cleaning Data Types</vt:lpstr>
      <vt:lpstr>PowerPoint Presentation</vt:lpstr>
      <vt:lpstr>PowerPoint Presentation</vt:lpstr>
      <vt:lpstr>PowerPoint Presentation</vt:lpstr>
      <vt:lpstr>PowerPoint Presentation</vt:lpstr>
      <vt:lpstr>PowerPoint Presentation</vt:lpstr>
      <vt:lpstr>PowerPoint Presentation</vt:lpstr>
      <vt:lpstr>A stress-free way. . . </vt:lpstr>
      <vt:lpstr>PowerPoint Presentation</vt:lpstr>
      <vt:lpstr>PowerPoint Presentation</vt:lpstr>
      <vt:lpstr>Deliberate Non-Numerics</vt:lpstr>
      <vt:lpstr>PowerPoint Presentation</vt:lpstr>
      <vt:lpstr>PowerPoint Presentation</vt:lpstr>
      <vt:lpstr>Combining data</vt:lpstr>
      <vt:lpstr>Concatenate</vt:lpstr>
      <vt:lpstr>Merge</vt:lpstr>
      <vt:lpstr>Grouping data</vt:lpstr>
      <vt:lpstr>Querying data</vt:lpstr>
      <vt:lpstr>Examples</vt:lpstr>
      <vt:lpstr>Combining datasets: concatenating</vt:lpstr>
      <vt:lpstr>PowerPoint Presentation</vt:lpstr>
      <vt:lpstr>PowerPoint Presentation</vt:lpstr>
      <vt:lpstr>PowerPoint Presentation</vt:lpstr>
      <vt:lpstr>PowerPoint Presentation</vt:lpstr>
      <vt:lpstr>PowerPoint Presentation</vt:lpstr>
      <vt:lpstr>Reindexing</vt:lpstr>
      <vt:lpstr>PowerPoint Presentation</vt:lpstr>
      <vt:lpstr>PowerPoint Presentation</vt:lpstr>
      <vt:lpstr>Concatenating along different axes</vt:lpstr>
      <vt:lpstr>PowerPoint Presentation</vt:lpstr>
      <vt:lpstr>PowerPoint Presentation</vt:lpstr>
      <vt:lpstr>PowerPoint Presentation</vt:lpstr>
      <vt:lpstr>PowerPoint Presentation</vt:lpstr>
      <vt:lpstr>Concatenating with mismatched datasets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Warning</vt:lpstr>
      <vt:lpstr>Combining datasets: joins</vt:lpstr>
      <vt:lpstr>PowerPoint Presentation</vt:lpstr>
      <vt:lpstr>PowerPoint Presentation</vt:lpstr>
      <vt:lpstr>Addressing the questions. . . </vt:lpstr>
      <vt:lpstr>PowerPoint Presentation</vt:lpstr>
      <vt:lpstr>PowerPoint Presentation</vt:lpstr>
      <vt:lpstr>PowerPoint Presentation</vt:lpstr>
      <vt:lpstr>Noteworthy</vt:lpstr>
      <vt:lpstr> One-to-one</vt:lpstr>
      <vt:lpstr> One-to-many</vt:lpstr>
      <vt:lpstr>Many-to-many</vt:lpstr>
      <vt:lpstr>PowerPoint Presentation</vt:lpstr>
      <vt:lpstr>PowerPoint Presentation</vt:lpstr>
      <vt:lpstr>PowerPoint Presentation</vt:lpstr>
      <vt:lpstr>PowerPoint Presentation</vt:lpstr>
      <vt:lpstr>PowerPoint Presentation</vt:lpstr>
      <vt:lpstr>Next the one-to-many</vt:lpstr>
      <vt:lpstr>PowerPoint Presentation</vt:lpstr>
      <vt:lpstr>And finally, the many-to-many</vt:lpstr>
      <vt:lpstr>PowerPoint Presentation</vt:lpstr>
      <vt:lpstr>Combining datasets: merging</vt:lpstr>
      <vt:lpstr>PowerPoint Presentation</vt:lpstr>
      <vt:lpstr>Order of parameters. .. </vt:lpstr>
      <vt:lpstr>PowerPoint Presentation</vt:lpstr>
      <vt:lpstr>Examples</vt:lpstr>
      <vt:lpstr>PowerPoint Presentation</vt:lpstr>
      <vt:lpstr>PowerPoint Presentation</vt:lpstr>
      <vt:lpstr>PowerPoint Presentation</vt:lpstr>
      <vt:lpstr>PowerPoint Presentation</vt:lpstr>
      <vt:lpstr>PowerPoint Presentation</vt:lpstr>
      <vt:lpstr>Grouping datasets</vt:lpstr>
      <vt:lpstr>PowerPoint Presentation</vt:lpstr>
      <vt:lpstr>Questions</vt:lpstr>
      <vt:lpstr>PowerPoint Presentation</vt:lpstr>
      <vt:lpstr>Groupby</vt:lpstr>
      <vt:lpstr>PowerPoint Presentation</vt:lpstr>
      <vt:lpstr>PowerPoint Presentation</vt:lpstr>
      <vt:lpstr>PowerPoint Presentation</vt:lpstr>
      <vt:lpstr>PowerPoint Presentation</vt:lpstr>
      <vt:lpstr>PowerPoint Presentation</vt:lpstr>
      <vt:lpstr>Asking data questions</vt:lpstr>
      <vt:lpstr>PowerPoint Presentation</vt:lpstr>
      <vt:lpstr>Nature of queries</vt:lpstr>
      <vt:lpstr>PowerPoint Presentation</vt:lpstr>
      <vt:lpstr>PowerPoint Presentation</vt:lpstr>
      <vt:lpstr>PowerPoint Presentation</vt:lpstr>
      <vt:lpstr>PowerPoint Presentation</vt:lpstr>
      <vt:lpstr>PowerPoint Presentation</vt:lpstr>
      <vt:lpstr>PowerPoint Presentation</vt:lpstr>
      <vt:lpstr>Another way. . . </vt:lpstr>
      <vt:lpstr>PowerPoint Presentation</vt:lpstr>
      <vt:lpstr>PowerPoint Presentation</vt:lpstr>
      <vt:lpstr>Computation with columns</vt:lpstr>
      <vt:lpstr>PowerPoint Presentation</vt:lpstr>
      <vt:lpstr>PowerPoint Presentation</vt:lpstr>
      <vt:lpstr>PowerPoint Presentation</vt:lpstr>
      <vt:lpstr>PowerPoint Presentation</vt:lpstr>
      <vt:lpstr>PowerPoint Presentation</vt:lpstr>
      <vt:lpstr>Models</vt:lpstr>
      <vt:lpstr>Linear Regression using Python</vt:lpstr>
      <vt:lpstr>Example</vt:lpstr>
      <vt:lpstr>Assumptions</vt:lpstr>
      <vt:lpstr>Linearity</vt:lpstr>
      <vt:lpstr>Normality</vt:lpstr>
      <vt:lpstr>Multicollinearity</vt:lpstr>
      <vt:lpstr>Autocorrelation</vt:lpstr>
      <vt:lpstr>Homoscedasticity</vt:lpstr>
      <vt:lpstr>Code</vt:lpstr>
      <vt:lpstr>PowerPoint Presentation</vt:lpstr>
      <vt:lpstr>PowerPoint Presentation</vt:lpstr>
      <vt:lpstr>Load advert data</vt:lpstr>
      <vt:lpstr>PowerPoint Presentation</vt:lpstr>
      <vt:lpstr>Descriptive Analysis (EDA)</vt:lpstr>
      <vt:lpstr>PowerPoint Presentation</vt:lpstr>
      <vt:lpstr>Building Regression Model</vt:lpstr>
      <vt:lpstr>Ordinary Least Squares Methods</vt:lpstr>
      <vt:lpstr>Illustration</vt:lpstr>
      <vt:lpstr>Some Math</vt:lpstr>
      <vt:lpstr>PowerPoint Presentation</vt:lpstr>
      <vt:lpstr>PowerPoint Presentation</vt:lpstr>
      <vt:lpstr>PowerPoint Presentation</vt:lpstr>
      <vt:lpstr>Model Validation</vt:lpstr>
      <vt:lpstr>PowerPoint Presentation</vt:lpstr>
      <vt:lpstr>PowerPoint Presentation</vt:lpstr>
      <vt:lpstr>PowerPoint Presentation</vt:lpstr>
      <vt:lpstr>PowerPoint Presentation</vt:lpstr>
      <vt:lpstr>Coefficient of Determination (R^2)</vt:lpstr>
      <vt:lpstr>F-test (ANOVA)</vt:lpstr>
      <vt:lpstr>The p-value</vt:lpstr>
      <vt:lpstr>PowerPoint Presentation</vt:lpstr>
      <vt:lpstr>PowerPoint Presentation</vt:lpstr>
      <vt:lpstr>Back to the results. . . </vt:lpstr>
      <vt:lpstr>T-test</vt:lpstr>
      <vt:lpstr>PowerPoint Presentation</vt:lpstr>
      <vt:lpstr>95%</vt:lpstr>
      <vt:lpstr>Testing of Assumptions</vt:lpstr>
      <vt:lpstr>Linearity</vt:lpstr>
      <vt:lpstr>PowerPoint Presentation</vt:lpstr>
      <vt:lpstr>Normality</vt:lpstr>
      <vt:lpstr>Plot the histogram</vt:lpstr>
      <vt:lpstr>PowerPoint Presentation</vt:lpstr>
      <vt:lpstr>Multicollinearity</vt:lpstr>
      <vt:lpstr>Heatmap</vt:lpstr>
      <vt:lpstr>Autocorrelation</vt:lpstr>
      <vt:lpstr>Decision</vt:lpstr>
      <vt:lpstr>PowerPoint Presentation</vt:lpstr>
      <vt:lpstr>Homoscedasticity</vt:lpstr>
      <vt:lpstr>PowerPoint Presentation</vt:lpstr>
      <vt:lpstr>PowerPoint Presentation</vt:lpstr>
      <vt:lpstr>PowerPoint Presentation</vt:lpstr>
      <vt:lpstr>NumPy</vt:lpstr>
      <vt:lpstr>.shape and .size</vt:lpstr>
      <vt:lpstr>PowerPoint Presentation</vt:lpstr>
      <vt:lpstr>.describe()</vt:lpstr>
      <vt:lpstr>.sample()</vt:lpstr>
      <vt:lpstr>.value_counts()</vt:lpstr>
      <vt:lpstr>.unique()</vt:lpstr>
      <vt:lpstr>.sort_values()</vt:lpstr>
      <vt:lpstr>Goals of Visualization</vt:lpstr>
      <vt:lpstr>In short. . . </vt:lpstr>
      <vt:lpstr>Distributions</vt:lpstr>
      <vt:lpstr>Example</vt:lpstr>
      <vt:lpstr>Variable Types</vt:lpstr>
      <vt:lpstr>PowerPoint Presentation</vt:lpstr>
      <vt:lpstr>PowerPoint Presentation</vt:lpstr>
      <vt:lpstr>PowerPoint Presentation</vt:lpstr>
      <vt:lpstr>Examples</vt:lpstr>
      <vt:lpstr>PowerPoint Presentation</vt:lpstr>
      <vt:lpstr>Plotting in Matplotlib</vt:lpstr>
      <vt:lpstr>In pseudocode. .. </vt:lpstr>
      <vt:lpstr>PowerPoint Presentation</vt:lpstr>
      <vt:lpstr>PowerPoint Presentation</vt:lpstr>
      <vt:lpstr>PowerPoint Presentation</vt:lpstr>
      <vt:lpstr>Plotting in Seaborn</vt:lpstr>
      <vt:lpstr>Pseudocode</vt:lpstr>
      <vt:lpstr>PowerPoint Presentation</vt:lpstr>
      <vt:lpstr>PowerPoint Presentation</vt:lpstr>
      <vt:lpstr>PowerPoint Presentation</vt:lpstr>
      <vt:lpstr>Visualize quantitative variables</vt:lpstr>
      <vt:lpstr>PowerPoint Presentation</vt:lpstr>
      <vt:lpstr>PowerPoint Presentation</vt:lpstr>
      <vt:lpstr>PowerPoint Presentation</vt:lpstr>
      <vt:lpstr>Box Plots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Violin Plots</vt:lpstr>
      <vt:lpstr>PowerPoint Presentation</vt:lpstr>
      <vt:lpstr>PowerPoint Presentation</vt:lpstr>
      <vt:lpstr>PowerPoint Presentation</vt:lpstr>
      <vt:lpstr>Histograms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Overlay histograms</vt:lpstr>
      <vt:lpstr>PowerPoint Presentation</vt:lpstr>
      <vt:lpstr>PowerPoint Presentation</vt:lpstr>
      <vt:lpstr>Interpreting Histograms</vt:lpstr>
      <vt:lpstr>PowerPoint Presentation</vt:lpstr>
      <vt:lpstr>PowerPoint Presentation</vt:lpstr>
      <vt:lpstr>PowerPoint Presentation</vt:lpstr>
      <vt:lpstr>PowerPoint Presentation</vt:lpstr>
      <vt:lpstr>PowerPoint Presentation</vt:lpstr>
      <vt:lpstr>PowerPoint Presentation</vt:lpstr>
      <vt:lpstr>Kernel Density Estimation</vt:lpstr>
      <vt:lpstr>PowerPoint Presentation</vt:lpstr>
      <vt:lpstr>PowerPoint Presentation</vt:lpstr>
      <vt:lpstr>Visualizing Relationships</vt:lpstr>
      <vt:lpstr>PowerPoint Presentation</vt:lpstr>
      <vt:lpstr>PowerPoint Presentation</vt:lpstr>
      <vt:lpstr>PowerPoint Presentation</vt:lpstr>
      <vt:lpstr>PowerPoint Presentation</vt:lpstr>
      <vt:lpstr>PowerPoint Presentation</vt:lpstr>
      <vt:lpstr>Overplotting</vt:lpstr>
      <vt:lpstr>Remedy</vt:lpstr>
      <vt:lpstr>Code</vt:lpstr>
      <vt:lpstr>PowerPoint Presentation</vt:lpstr>
      <vt:lpstr>PowerPoint Presentation</vt:lpstr>
      <vt:lpstr>lmplot and jointplot</vt:lpstr>
      <vt:lpstr>PowerPoint Presentation</vt:lpstr>
      <vt:lpstr>PowerPoint Presentation</vt:lpstr>
      <vt:lpstr>PowerPoint Presentation</vt:lpstr>
      <vt:lpstr>PowerPoint Presentation</vt:lpstr>
      <vt:lpstr>Transformations</vt:lpstr>
      <vt:lpstr>Consider the following plot of adult literacy rates against gross national income.</vt:lpstr>
      <vt:lpstr>PowerPoint Presentation</vt:lpstr>
      <vt:lpstr>PowerPoint Presentation</vt:lpstr>
      <vt:lpstr>PowerPoint Presentation</vt:lpstr>
      <vt:lpstr>PowerPoint Presentation</vt:lpstr>
      <vt:lpstr>PowerPoint Presentation</vt:lpstr>
      <vt:lpstr>Applying Transformations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Modeling</vt:lpstr>
      <vt:lpstr>What is a Model?</vt:lpstr>
      <vt:lpstr>Example</vt:lpstr>
      <vt:lpstr>Reasons for building models</vt:lpstr>
      <vt:lpstr>Goal</vt:lpstr>
      <vt:lpstr>Common Types of Models</vt:lpstr>
      <vt:lpstr>Simple Linear Regression</vt:lpstr>
      <vt:lpstr>PowerPoint Presentation</vt:lpstr>
      <vt:lpstr>PowerPoint Presentation</vt:lpstr>
      <vt:lpstr>Notations and Definitions</vt:lpstr>
      <vt:lpstr>Standard Units</vt:lpstr>
      <vt:lpstr>Correlation</vt:lpstr>
      <vt:lpstr>Properties of Correlation</vt:lpstr>
      <vt:lpstr>PowerPoint Presentation</vt:lpstr>
      <vt:lpstr>PowerPoint Presentation</vt:lpstr>
      <vt:lpstr>PowerPoint Presentation</vt:lpstr>
      <vt:lpstr>PowerPoint Presentation</vt:lpstr>
      <vt:lpstr>Tukey-Mosteller Bulge Diagram</vt:lpstr>
      <vt:lpstr>Diagram</vt:lpstr>
      <vt:lpstr>PowerPoint Presentation</vt:lpstr>
      <vt:lpstr>Summary of Tukey-Mosteller</vt:lpstr>
      <vt:lpstr>PowerPoint Presentation</vt:lpstr>
      <vt:lpstr>The Modeling Process</vt:lpstr>
      <vt:lpstr>PowerPoint Presentation</vt:lpstr>
      <vt:lpstr>PowerPoint Presentation</vt:lpstr>
      <vt:lpstr>Examples of Models</vt:lpstr>
      <vt:lpstr>Note</vt:lpstr>
      <vt:lpstr>Modeling Process</vt:lpstr>
      <vt:lpstr>Choosing a Loss Function</vt:lpstr>
      <vt:lpstr>PowerPoint Presentation</vt:lpstr>
      <vt:lpstr>PowerPoint Presentation</vt:lpstr>
      <vt:lpstr>PowerPoint Presentation</vt:lpstr>
      <vt:lpstr>PowerPoint Presentation</vt:lpstr>
      <vt:lpstr>PowerPoint Presentation</vt:lpstr>
      <vt:lpstr>Evaluating Performance</vt:lpstr>
      <vt:lpstr>PowerPoint Presentation</vt:lpstr>
      <vt:lpstr>PowerPoint Presentation</vt:lpstr>
      <vt:lpstr>PowerPoint Presentation</vt:lpstr>
      <vt:lpstr>Ordinary Least Squares</vt:lpstr>
      <vt:lpstr>PowerPoint Presentation</vt:lpstr>
      <vt:lpstr>PowerPoint Presentation</vt:lpstr>
      <vt:lpstr>PowerPoint Presentation</vt:lpstr>
      <vt:lpstr>Linearity</vt:lpstr>
      <vt:lpstr>Multiple Linear Regression</vt:lpstr>
      <vt:lpstr>PowerPoint Presentation</vt:lpstr>
      <vt:lpstr>PowerPoint Presentation</vt:lpstr>
      <vt:lpstr>PowerPoint Presentation</vt:lpstr>
      <vt:lpstr>Linear Algebra Approach</vt:lpstr>
      <vt:lpstr>PowerPoint Presentation</vt:lpstr>
      <vt:lpstr>PowerPoint Presentation</vt:lpstr>
      <vt:lpstr>PowerPoint Presentation</vt:lpstr>
      <vt:lpstr>PowerPoint Presentation</vt:lpstr>
      <vt:lpstr>PowerPoint Presentation</vt:lpstr>
      <vt:lpstr>Formally. . . </vt:lpstr>
      <vt:lpstr>Loss Function of MLE</vt:lpstr>
      <vt:lpstr>PowerPoint Presentation</vt:lpstr>
      <vt:lpstr>PowerPoint Presentation</vt:lpstr>
      <vt:lpstr>PowerPoint Presentation</vt:lpstr>
      <vt:lpstr>Evaluating Model Performance</vt:lpstr>
      <vt:lpstr>PowerPoint Presentation</vt:lpstr>
      <vt:lpstr>Multiple R^2</vt:lpstr>
      <vt:lpstr>Extended Example</vt:lpstr>
      <vt:lpstr>PowerPoint Presentation</vt:lpstr>
      <vt:lpstr>PowerPoint Presentation</vt:lpstr>
      <vt:lpstr>PowerPoint Presentation</vt:lpstr>
      <vt:lpstr>PowerPoint Presentation</vt:lpstr>
      <vt:lpstr>PowerPoint Presentation</vt:lpstr>
      <vt:lpstr>PowerPoint Presentation</vt:lpstr>
      <vt:lpstr>Fit Model</vt:lpstr>
      <vt:lpstr>Results</vt:lpstr>
      <vt:lpstr>PowerPoint Presentation</vt:lpstr>
      <vt:lpstr>Use of sklearn</vt:lpstr>
      <vt:lpstr>PowerPoint Presentation</vt:lpstr>
      <vt:lpstr>Code</vt:lpstr>
      <vt:lpstr>PowerPoint Presentation</vt:lpstr>
      <vt:lpstr>Import sklearn</vt:lpstr>
      <vt:lpstr>Note</vt:lpstr>
      <vt:lpstr>PowerPoint Presentation</vt:lpstr>
      <vt:lpstr>PowerPoint Presentation</vt:lpstr>
      <vt:lpstr>Use the fitted model to make predictions</vt:lpstr>
      <vt:lpstr>PowerPoint Presentation</vt:lpstr>
      <vt:lpstr>PowerPoint Presentation</vt:lpstr>
      <vt:lpstr>PowerPoint Presentation</vt:lpstr>
      <vt:lpstr>PowerPoint Presentation</vt:lpstr>
      <vt:lpstr>Feature Engineering</vt:lpstr>
      <vt:lpstr>PowerPoint Presentation</vt:lpstr>
      <vt:lpstr>What exactly?</vt:lpstr>
      <vt:lpstr>PowerPoint Presentation</vt:lpstr>
      <vt:lpstr>Feature Functions</vt:lpstr>
      <vt:lpstr>PowerPoint Presentation</vt:lpstr>
      <vt:lpstr>PowerPoint Presentation</vt:lpstr>
      <vt:lpstr>PowerPoint Presentation</vt:lpstr>
      <vt:lpstr>Formally. . . </vt:lpstr>
      <vt:lpstr>One Hot Encoding</vt:lpstr>
      <vt:lpstr>PowerPoint Presentation</vt:lpstr>
      <vt:lpstr>PowerPoint Presentation</vt:lpstr>
      <vt:lpstr>PowerPoint Presentation</vt:lpstr>
      <vt:lpstr>PowerPoint Presentation</vt:lpstr>
      <vt:lpstr>PowerPoint Presentation</vt:lpstr>
      <vt:lpstr>Code</vt:lpstr>
      <vt:lpstr>PowerPoint Presentation</vt:lpstr>
      <vt:lpstr>Polynomial Features</vt:lpstr>
      <vt:lpstr>PowerPoint Presentation</vt:lpstr>
      <vt:lpstr>PowerPoint Presentation</vt:lpstr>
      <vt:lpstr>PowerPoint Presentation</vt:lpstr>
      <vt:lpstr>PowerPoint Presentation</vt:lpstr>
      <vt:lpstr>PowerPoint Presentation</vt:lpstr>
      <vt:lpstr>Code</vt:lpstr>
      <vt:lpstr>MSE of model with (hp^2) feature: 18.984768907617216</vt:lpstr>
      <vt:lpstr>Complexity and Overfitting</vt:lpstr>
      <vt:lpstr>PowerPoint Presentation</vt:lpstr>
      <vt:lpstr>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Takeaway</vt:lpstr>
      <vt:lpstr>Cross Validation and Regularization</vt:lpstr>
      <vt:lpstr>PowerPoint Presentation</vt:lpstr>
      <vt:lpstr>Training, Test, and Validation Sets</vt:lpstr>
      <vt:lpstr>PowerPoint Presentation</vt:lpstr>
      <vt:lpstr>Test Sets</vt:lpstr>
      <vt:lpstr>PowerPoint Presentation</vt:lpstr>
      <vt:lpstr>Important</vt:lpstr>
      <vt:lpstr>PowerPoint Presentation</vt:lpstr>
      <vt:lpstr>Back to sklearn</vt:lpstr>
      <vt:lpstr>Code</vt:lpstr>
      <vt:lpstr>PowerPoint Presentation</vt:lpstr>
      <vt:lpstr>PowerPoint Presentation</vt:lpstr>
      <vt:lpstr>PowerPoint Presentation</vt:lpstr>
      <vt:lpstr>PowerPoint Presentation</vt:lpstr>
      <vt:lpstr>PowerPoint Presentation</vt:lpstr>
      <vt:lpstr>Validation 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Bias-Variance Trade-off</vt:lpstr>
      <vt:lpstr>The Goal</vt:lpstr>
      <vt:lpstr>Cross-Validation</vt:lpstr>
      <vt:lpstr>PowerPoint Presentation</vt:lpstr>
      <vt:lpstr>PowerPoint Presentation</vt:lpstr>
      <vt:lpstr>PowerPoint Presentation</vt:lpstr>
      <vt:lpstr>PowerPoint Presentation</vt:lpstr>
      <vt:lpstr>Model Selection Workflow</vt:lpstr>
      <vt:lpstr>PowerPoint Presentation</vt:lpstr>
      <vt:lpstr>Logistic Regression</vt:lpstr>
      <vt:lpstr>Examples</vt:lpstr>
      <vt:lpstr>Classification</vt:lpstr>
      <vt:lpstr>PowerPoint Presentation</vt:lpstr>
      <vt:lpstr>PowerPoint Presentation</vt:lpstr>
      <vt:lpstr>Workflow</vt:lpstr>
      <vt:lpstr>PowerPoint Presentation</vt:lpstr>
      <vt:lpstr>PowerPoint Presentation</vt:lpstr>
      <vt:lpstr>Sigmoid or Logistic Function</vt:lpstr>
      <vt:lpstr>Graph of sigmoid function</vt:lpstr>
      <vt:lpstr>Code</vt:lpstr>
      <vt:lpstr>Function</vt:lpstr>
      <vt:lpstr>PowerPoint Presentation</vt:lpstr>
      <vt:lpstr>Plot sigmoid activation</vt:lpstr>
      <vt:lpstr>Graph</vt:lpstr>
      <vt:lpstr>Use cases for binomial logistic regression</vt:lpstr>
      <vt:lpstr>PowerPoint Presentation</vt:lpstr>
      <vt:lpstr>The Logistic Regression</vt:lpstr>
      <vt:lpstr>PowerPoint Presentation</vt:lpstr>
      <vt:lpstr>Deriving the concept of log odds</vt:lpstr>
      <vt:lpstr>PowerPoint Presentation</vt:lpstr>
      <vt:lpstr>PowerPoint Presentation</vt:lpstr>
      <vt:lpstr>PowerPoint Presentation</vt:lpstr>
      <vt:lpstr>PowerPoint Presentation</vt:lpstr>
      <vt:lpstr>Multivariate Binomial Logistic </vt:lpstr>
      <vt:lpstr>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Splitting the Data</vt:lpstr>
      <vt:lpstr>PowerPoint Presentation</vt:lpstr>
      <vt:lpstr>PowerPoint Presentation</vt:lpstr>
      <vt:lpstr>Determining Model Accuracy</vt:lpstr>
      <vt:lpstr>Confusion Matrix</vt:lpstr>
      <vt:lpstr>PowerPoint Presentation</vt:lpstr>
      <vt:lpstr>PowerPoint Presentation</vt:lpstr>
      <vt:lpstr>PowerPoint Presentation</vt:lpstr>
      <vt:lpstr>Model Criteria</vt:lpstr>
      <vt:lpstr>PowerPoint Presentation</vt:lpstr>
      <vt:lpstr>PowerPoint Presentation</vt:lpstr>
      <vt:lpstr>Accuracy Score</vt:lpstr>
      <vt:lpstr>PowerPoint Presentation</vt:lpstr>
      <vt:lpstr>PowerPoint Presentation</vt:lpstr>
      <vt:lpstr>PowerPoint Presentation</vt:lpstr>
      <vt:lpstr>PowerPoint Presentation</vt:lpstr>
      <vt:lpstr>PowerPoint Presentation</vt:lpstr>
      <vt:lpstr>PowerPoint Presentation</vt:lpstr>
      <vt:lpstr>Quick Summary of the Logistic Regression Process</vt:lpstr>
      <vt:lpstr>Regularization</vt:lpstr>
      <vt:lpstr>PowerPoint Presentation</vt:lpstr>
      <vt:lpstr>Regularization defined</vt:lpstr>
      <vt:lpstr>Approach</vt:lpstr>
      <vt:lpstr>PowerPoint Presentation</vt:lpstr>
      <vt:lpstr>Underfitting and Overfitting (Again)</vt:lpstr>
      <vt:lpstr>Underfitting</vt:lpstr>
      <vt:lpstr>Summary . . . underfitting</vt:lpstr>
      <vt:lpstr>Overfitting</vt:lpstr>
      <vt:lpstr>Summary. . .overfitting</vt:lpstr>
      <vt:lpstr>(small) Math. . .  </vt:lpstr>
      <vt:lpstr>PowerPoint Presentation</vt:lpstr>
      <vt:lpstr>Summary</vt:lpstr>
      <vt:lpstr>L1 (Lasso) Regularization</vt:lpstr>
      <vt:lpstr>PowerPoint Presentation</vt:lpstr>
      <vt:lpstr>Code</vt:lpstr>
      <vt:lpstr>PowerPoint Presentation</vt:lpstr>
      <vt:lpstr>PowerPoint Presentation</vt:lpstr>
      <vt:lpstr>PowerPoint Presentation</vt:lpstr>
      <vt:lpstr>PowerPoint Presentation</vt:lpstr>
      <vt:lpstr>Lasso Model</vt:lpstr>
      <vt:lpstr>Note</vt:lpstr>
      <vt:lpstr>Scaling Features for Regularization</vt:lpstr>
      <vt:lpstr>PowerPoint Presentation</vt:lpstr>
      <vt:lpstr>PowerPoint Presentation</vt:lpstr>
      <vt:lpstr>PowerPoint Presentation</vt:lpstr>
      <vt:lpstr>Scaling</vt:lpstr>
      <vt:lpstr>L2 (Ridge) Regularization</vt:lpstr>
      <vt:lpstr>PowerPoint Presentation</vt:lpstr>
      <vt:lpstr>Code</vt:lpstr>
      <vt:lpstr>PowerPoint Presentation</vt:lpstr>
      <vt:lpstr>Extended Example</vt:lpstr>
      <vt:lpstr>PowerPoint Presentation</vt:lpstr>
      <vt:lpstr>PowerPoint Presentation</vt:lpstr>
      <vt:lpstr>Let’s get the features X and response y</vt:lpstr>
      <vt:lpstr>Ridge regression</vt:lpstr>
      <vt:lpstr>PowerPoint Presentation</vt:lpstr>
      <vt:lpstr>PowerPoint Presentation</vt:lpstr>
      <vt:lpstr>Notes on graph</vt:lpstr>
      <vt:lpstr>Analysis. . . </vt:lpstr>
      <vt:lpstr>PowerPoint Presentation</vt:lpstr>
      <vt:lpstr>Plot</vt:lpstr>
      <vt:lpstr>Plot</vt:lpstr>
      <vt:lpstr>Interpretation of Graph</vt:lpstr>
      <vt:lpstr>Finding the minimum MSE</vt:lpstr>
      <vt:lpstr>Code</vt:lpstr>
      <vt:lpstr>PowerPoint Presentation</vt:lpstr>
      <vt:lpstr>PowerPoint Presentation</vt:lpstr>
      <vt:lpstr>PowerPoint Presentation</vt:lpstr>
      <vt:lpstr>PowerPoint Presentation</vt:lpstr>
      <vt:lpstr>Training Model</vt:lpstr>
      <vt:lpstr>Test</vt:lpstr>
      <vt:lpstr>LASSO regression</vt:lpstr>
      <vt:lpstr>Data</vt:lpstr>
      <vt:lpstr>PowerPoint Presentation</vt:lpstr>
      <vt:lpstr>Missing values</vt:lpstr>
      <vt:lpstr>Create labels and features</vt:lpstr>
      <vt:lpstr>PowerPoint Presentation</vt:lpstr>
      <vt:lpstr>PowerPoint Presentation</vt:lpstr>
      <vt:lpstr>PowerPoint Presentation</vt:lpstr>
      <vt:lpstr>PowerPoint Presentation</vt:lpstr>
      <vt:lpstr>Split data</vt:lpstr>
      <vt:lpstr>PowerPoint Presentation</vt:lpstr>
      <vt:lpstr>Standardization</vt:lpstr>
      <vt:lpstr>Lasso regression</vt:lpstr>
      <vt:lpstr>Model evaluation</vt:lpstr>
      <vt:lpstr>MSE for the training and test set</vt:lpstr>
      <vt:lpstr>PowerPoint Presentation</vt:lpstr>
      <vt:lpstr>Role of alpha</vt:lpstr>
      <vt:lpstr>PowerPoint Presentation</vt:lpstr>
      <vt:lpstr>PowerPoint Presentation</vt:lpstr>
      <vt:lpstr>PowerPoint Presentation</vt:lpstr>
      <vt:lpstr>PowerPoint Presentation</vt:lpstr>
      <vt:lpstr>Lasso with optimal α </vt:lpstr>
      <vt:lpstr>k-fold CV</vt:lpstr>
      <vt:lpstr>PowerPoint Presentation</vt:lpstr>
      <vt:lpstr>Best model</vt:lpstr>
      <vt:lpstr>Model evaluation</vt:lpstr>
      <vt:lpstr>PowerPoint Presentation</vt:lpstr>
      <vt:lpstr>PowerPoint Presentation</vt:lpstr>
      <vt:lpstr>PowerPoint Presentation</vt:lpstr>
      <vt:lpstr>Multi-class Classification</vt:lpstr>
      <vt:lpstr>Decision Trees</vt:lpstr>
      <vt:lpstr>PowerPoint Presentation</vt:lpstr>
      <vt:lpstr>PowerPoint Presentation</vt:lpstr>
      <vt:lpstr>Formally. . . </vt:lpstr>
      <vt:lpstr>Structure</vt:lpstr>
      <vt:lpstr>How it works. . . </vt:lpstr>
      <vt:lpstr>PowerPoint Presentation</vt:lpstr>
      <vt:lpstr>Types of Decision Trees </vt:lpstr>
      <vt:lpstr>PowerPoint Presentation</vt:lpstr>
      <vt:lpstr>PowerPoint Presentation</vt:lpstr>
      <vt:lpstr>Assumptions for Classification</vt:lpstr>
      <vt:lpstr>Attribute selection measures </vt:lpstr>
      <vt:lpstr>PowerPoint Presentation</vt:lpstr>
      <vt:lpstr> Information gain</vt:lpstr>
      <vt:lpstr>Entropy</vt:lpstr>
      <vt:lpstr>PowerPoint Presentation</vt:lpstr>
      <vt:lpstr>Gini index</vt:lpstr>
      <vt:lpstr>Overfitting in Decision Tree algorithm </vt:lpstr>
      <vt:lpstr>Avoiding overfitting</vt:lpstr>
      <vt:lpstr>Code</vt:lpstr>
      <vt:lpstr>PowerPoint Presentation</vt:lpstr>
      <vt:lpstr>Rename column names</vt:lpstr>
      <vt:lpstr>PowerPoint Presentation</vt:lpstr>
      <vt:lpstr>PowerPoint Presentation</vt:lpstr>
      <vt:lpstr>PowerPoint Presentation</vt:lpstr>
      <vt:lpstr>Summary of variables</vt:lpstr>
      <vt:lpstr>Explore class variable</vt:lpstr>
      <vt:lpstr>Missing values</vt:lpstr>
      <vt:lpstr>Feature vector and target variable</vt:lpstr>
      <vt:lpstr>Split data</vt:lpstr>
      <vt:lpstr>Feature Engineering</vt:lpstr>
      <vt:lpstr>PowerPoint Presentation</vt:lpstr>
      <vt:lpstr>PowerPoint Presentation</vt:lpstr>
      <vt:lpstr>Import Decision Tree Classifier (gini index) </vt:lpstr>
      <vt:lpstr>Import Decision Tree Classifier (gini index)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Carl</dc:creator>
  <cp:lastModifiedBy>Carl</cp:lastModifiedBy>
  <cp:revision>638</cp:revision>
  <dcterms:created xsi:type="dcterms:W3CDTF">2024-09-26T12:06:02Z</dcterms:created>
  <dcterms:modified xsi:type="dcterms:W3CDTF">2025-10-25T13:18:10Z</dcterms:modified>
</cp:coreProperties>
</file>